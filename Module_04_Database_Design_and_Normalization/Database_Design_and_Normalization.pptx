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306"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2301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Module 4. Modules 1 to 3 used the ICICI Bank schema as given. This module explains why it looks the way it does.</a:t>
            </a:r>
          </a:p>
          <a:p>
            <a:r>
              <a:t>Six topics: keys, referential integrity, ER modelling in crow's foot notation, many-to-many relationships, the normal forms, and deliberate denormalization.</a:t>
            </a:r>
          </a:p>
          <a:p>
            <a:r>
              <a:t>Everything today is anchored to one real problem: a spreadsheet that was loaded into the database as one wide table.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ticket aloud. Two audit findings.</a:t>
            </a:r>
          </a:p>
          <a:p>
            <a:r>
              <a:t>[click] Finding 1: the same branch is spelled several different ways, so a report grouped by branch name splits one branch into four.</a:t>
            </a:r>
          </a:p>
          <a:p>
            <a:r>
              <a:t>[click] Finding 2: closing an account deleted the customer's phone number. Nobody ran a DELETE on the customer. The design did it.</a:t>
            </a:r>
          </a:p>
          <a:p>
            <a:r>
              <a:t>[click] The goal is not to fix the data once. It's to change the design so that neither problem can happen again. By the end of the module you will name the exact rule each finding broke.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roadmap maps one-to-one onto the module's six learning outcomes.</a:t>
            </a:r>
          </a:p>
          <a:p>
            <a:r>
              <a:t>[click] First three: keys, integrity and the ER model. This is the design vocabulary.</a:t>
            </a:r>
          </a:p>
          <a:p>
            <a:r>
              <a:t>[click] Last three: resolving many-to-many, normalization, and deliberate denormalization. This is where we fix the spreadsheet.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table you will fix in the lab: branch_customer_flat, 30 rows, all synthetic.</a:t>
            </a:r>
          </a:p>
          <a:p>
            <a:r>
              <a:t>[click] Five of the rows. Look at branch_name for BR03: four spellings, including one with a trailing space. That is audit finding 1.</a:t>
            </a:r>
          </a:p>
          <a:p>
            <a:r>
              <a:t>[click] acct_no_1 and acct_no_2: a repeating group. The spreadsheet had room for two accounts, so the table does too.</a:t>
            </a:r>
          </a:p>
          <a:p>
            <a:r>
              <a:t>[click] products holds a comma-separated list, which is a many-to-many relationship that was never resolved.</a:t>
            </a:r>
          </a:p>
          <a:p>
            <a:r>
              <a:t>Keep this slide in mind. Every section of the module fixes one of these problems.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01: keys. A key is a set of columns that identifies a row, or points to one. There are seven names to learn, but they're really four ideas: unique, minimal, chosen, and pointing elsewhere.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diagram from the outside in.</a:t>
            </a:r>
          </a:p>
          <a:p>
            <a:r>
              <a:t>[click] Super keys: any set of columns that is unique. (account_id, balance) is unique, so it's a super key, but balance adds nothing.</a:t>
            </a:r>
          </a:p>
          <a:p>
            <a:r>
              <a:t>[click] Candidate keys: the minimal super keys, where removing any column loses uniqueness. account has two: account_id and account_number.</a:t>
            </a:r>
          </a:p>
          <a:p>
            <a:r>
              <a:t>[click] We pick one as the primary key, account_id. The others become alternate keys: still unique, enforced with UNIQUE.</a:t>
            </a:r>
          </a:p>
          <a:p>
            <a:r>
              <a:t>[click] Composite describes the shape: a key with more than one column.</a:t>
            </a:r>
          </a:p>
          <a:p>
            <a:r>
              <a:t>[click] Surrogate describes the origin: generated by the system, with no business meaning.</a:t>
            </a:r>
          </a:p>
          <a:p>
            <a:r>
              <a:t>[click] Foreign describes the direction: it points at a key in another table.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real account table from our schema.</a:t>
            </a:r>
          </a:p>
          <a:p>
            <a:r>
              <a:t>[click] account_id is the primary key: the row's identity.</a:t>
            </a:r>
          </a:p>
          <a:p>
            <a:r>
              <a:t>[click] account_number is an alternate key. It's unique too, and the schema declares it NOT NULL UNIQUE.</a:t>
            </a:r>
          </a:p>
          <a:p>
            <a:r>
              <a:t>[click] customer_id is a foreign key. Notice 1005 appears twice, because a foreign key doesn't have to be unique. Karthik has two accounts.</a:t>
            </a:r>
          </a:p>
          <a:p>
            <a:r>
              <a:t>[click] (account_id, balance) is a super key but not a candidate key, because it isn't minimal.</a:t>
            </a:r>
          </a:p>
          <a:p>
            <a:r>
              <a:t>[click] The test for a candidate key: remove any column and check whether it's still unique.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loan's instalment schedule.</a:t>
            </a:r>
          </a:p>
          <a:p>
            <a:r>
              <a:t>[click] Neither column works on its own.</a:t>
            </a:r>
          </a:p>
          <a:p>
            <a:r>
              <a:t>[click] loan_id repeats, once per instalment.</a:t>
            </a:r>
          </a:p>
          <a:p>
            <a:r>
              <a:t>[click] installment_no repeats, since every loan has an instalment 1.</a:t>
            </a:r>
          </a:p>
          <a:p>
            <a:r>
              <a:t>[click] Together they are unique. That's a composite key.</a:t>
            </a:r>
          </a:p>
          <a:p>
            <a:r>
              <a:t>[click] The declaration lists both columns in one PRIMARY KEY.</a:t>
            </a:r>
          </a:p>
          <a:p>
            <a:r>
              <a:t>[click] Instalment schedules are weak entities: they can't exist without their loan and they borrow its key. Remember this for the cascading rules later.</a:t>
            </a:r>
          </a:p>
          <a:p>
            <a:r>
              <a:t>Note for trainers: the lab's loan_payment table uses a surrogate payment_id. The course material uses (loan_id, installment_no) to teach the concept.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tests for a primary key, in the order they're most often failed.</a:t>
            </a:r>
          </a:p>
          <a:p>
            <a:r>
              <a:t>[click x5] Stable, unique, not null, minimal, meaningless. Stable is first because it's the one people miss: a value can be unique today and still change tomorrow.</a:t>
            </a:r>
          </a:p>
          <a:p>
            <a:r>
              <a:t>[click] Apply the stability test to the ways we could identify a customer.</a:t>
            </a:r>
          </a:p>
          <a:p>
            <a:r>
              <a:t>[click] Phone, email and name all change. The PAN number can be corrected or re-issued. Only a system-generated customer_id is stable by construction.</a:t>
            </a:r>
          </a:p>
          <a:p>
            <a:r>
              <a:t>[click] Why it matters: a primary key gets copied into every foreign key, so changing it means updating every child row.</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ways to get an identity.</a:t>
            </a:r>
          </a:p>
          <a:p>
            <a:r>
              <a:t>[click] Surrogate on the left, natural on the right.</a:t>
            </a:r>
          </a:p>
          <a:p>
            <a:r>
              <a:t>[click x5] Go row by row: example, meaning, stability, size and readability. The natural key wins only on readability.</a:t>
            </a:r>
          </a:p>
          <a:p>
            <a:r>
              <a:t>[click] You don't have to choose. Use the surrogate as the primary key and still enforce the natural key's uniqueness. The next slide shows how.</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TASK: a stable identity plus a guaranteed-unique PAN.</a:t>
            </a:r>
          </a:p>
          <a:p>
            <a:r>
              <a:t>[click] customer_id is the primary key. pan_number is NOT NULL UNIQUE, which makes it an alternate key enforced by the engine.</a:t>
            </a:r>
          </a:p>
          <a:p>
            <a:r>
              <a:t>[click x3] Three guarantees: the identity never changes, a duplicate PAN is rejected, and foreign keys stay small integers.</a:t>
            </a:r>
          </a:p>
          <a:p>
            <a:r>
              <a:t>[click] This is the pattern used throughout the ICICI Bank schema. Look at account: account_id is the PK, and account_number is NOT NULL UNIQUE.</a:t>
            </a:r>
          </a:p>
          <a:p>
            <a:r>
              <a:t>Trainer note: the lab schema enforces email UNIQUE on customer. pan_number is the course material's illustration.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[click] The parent: customer, with customer_id as its primary key.</a:t>
            </a:r>
          </a:p>
          <a:p>
            <a:r>
              <a:t>[click] The child: account.</a:t>
            </a:r>
          </a:p>
          <a:p>
            <a:r>
              <a:t>[click] account.customer_id must match an existing customer_id. That's the foreign key, drawn as an arrow from child to parent.</a:t>
            </a:r>
          </a:p>
          <a:p>
            <a:r>
              <a:t>[click] The declaration: FOREIGN KEY … REFERENCES. It gets a name so error messages tell you which rule was broken.</a:t>
            </a:r>
          </a:p>
          <a:p>
            <a:r>
              <a:t>[click] Which side does the FK go on? The many side. A customer can't hold a list of account ids in one column, which is exactly the mistake the flat table made with products.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02: referential integrity. Declaring a foreign key is a promise that the database will keep for you, on every statement, from every application.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[click] Two tables. Each account points at a customer.</a:t>
            </a:r>
          </a:p>
          <a:p>
            <a:r>
              <a:t>[click] Three accounts find their parent.</a:t>
            </a:r>
          </a:p>
          <a:p>
            <a:r>
              <a:t>[click] Account 9040 points at customer 1099, who doesn't exist. That's an orphan row.</a:t>
            </a:r>
          </a:p>
          <a:p>
            <a:r>
              <a:t>[click] Orphans are dangerous because they're invisible. Every query that INNER JOINs account to customer silently drops 9040, so the branch deposit total is 50,000 short and nobody notices.</a:t>
            </a:r>
          </a:p>
          <a:p>
            <a:r>
              <a:t>[click] With a foreign key declared, the engine checks at three moments: inserting a child, changing a child's FK, and deleting or re-keying the parent.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TASK: insert an account for customer 1099.</a:t>
            </a:r>
          </a:p>
          <a:p>
            <a:r>
              <a:t>[click] An ordinary INSERT. Nothing looks wrong.</a:t>
            </a:r>
          </a:p>
          <a:p>
            <a:r>
              <a:t>[click] The engine rejects it and names the constraint. That's why we name constraints: fk_account_customer_id tells you exactly what was violated.</a:t>
            </a:r>
          </a:p>
          <a:p>
            <a:r>
              <a:t>[click] This is Codd's rule from Module 1: integrity rules belong in the database, not in the application.</a:t>
            </a:r>
          </a:p>
          <a:p>
            <a:r>
              <a:t>Lab tie-in: you'll run this exact statement in the Module 4 lab and see the same error.</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five referential actions.</a:t>
            </a:r>
          </a:p>
          <a:p>
            <a:r>
              <a:t>[click] Two situations: deleting the parent, and changing its key.</a:t>
            </a:r>
          </a:p>
          <a:p>
            <a:r>
              <a:t>[click] NO ACTION rejects the change, checked at the end of the statement.</a:t>
            </a:r>
          </a:p>
          <a:p>
            <a:r>
              <a:t>[click] RESTRICT also rejects, but immediately.</a:t>
            </a:r>
          </a:p>
          <a:p>
            <a:r>
              <a:t>[click] CASCADE follows the parent: delete the parent and the children go too. It's shown in red because it's the one that can remove a lot of data with one statement.</a:t>
            </a:r>
          </a:p>
          <a:p>
            <a:r>
              <a:t>[click] SET NULL keeps the children and cuts the link. The FK column must be nullable.</a:t>
            </a:r>
          </a:p>
          <a:p>
            <a:r>
              <a:t>[click] SET DEFAULT is the same idea with a default value. It's rarely used.</a:t>
            </a:r>
          </a:p>
          <a:p>
            <a:r>
              <a:t>[click] NO ACTION vs RESTRICT only matters with deferred constraints or triggers. For everyday work, treat them as the same.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statement: delete loan 5003. Watch what each rule does to the instalment schedule.</a:t>
            </a:r>
          </a:p>
          <a:p>
            <a:r>
              <a:t>[click] RESTRICT: the delete is refused while children exist. You must deal with the schedule first, deliberately.</a:t>
            </a:r>
          </a:p>
          <a:p>
            <a:r>
              <a:t>[click] CASCADE: the loan and all three instalments disappear. For a schedule that's often correct, because instalments mean nothing without their loan.</a:t>
            </a:r>
          </a:p>
          <a:p>
            <a:r>
              <a:t>[click] SET NULL: the instalments survive but point at nothing. For loan_payment that's nonsense, and it would fail anyway because loan_id is NOT NULL. SET NULL suits relationships that can be optional, like employee.manager_id.</a:t>
            </a:r>
          </a:p>
          <a:p>
            <a:r>
              <a:t>[click] The rule of thumb for banking: RESTRICT by default. CASCADE is an exception you have to justify.</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real foreign keys from our schema, and the right rule for each.</a:t>
            </a:r>
          </a:p>
          <a:p>
            <a:r>
              <a:t>[click] account → customer: RESTRICT. Closing a customer must be a deliberate, multi-step process.</a:t>
            </a:r>
          </a:p>
          <a:p>
            <a:r>
              <a:t>[click] account_txn → account: RESTRICT. Transactions are legal evidence and you keep them for years.</a:t>
            </a:r>
          </a:p>
          <a:p>
            <a:r>
              <a:t>[click] loan_payment → loan: CASCADE. It's a weak entity, as we saw with composite keys.</a:t>
            </a:r>
          </a:p>
          <a:p>
            <a:r>
              <a:t>[click] beneficiary → customer: CASCADE. A payee list is a convenience, not a record.</a:t>
            </a:r>
          </a:p>
          <a:p>
            <a:r>
              <a:t>[click] employee.manager_id: SET NULL. When a manager leaves, the reports stay and the link is cut.</a:t>
            </a:r>
          </a:p>
          <a:p>
            <a:r>
              <a:t>[click] One question decides it: would anyone ever need the child row without its parent? Ask the room for another example, such as card → account.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three decisions written as DDL.</a:t>
            </a:r>
          </a:p>
          <a:p>
            <a:r>
              <a:t>[click] account: ON DELETE RESTRICT. REFERENCES customer with no column list means the parent's primary key.</a:t>
            </a:r>
          </a:p>
          <a:p>
            <a:r>
              <a:t>[click] loan_payment: ON DELETE CASCADE.</a:t>
            </a:r>
          </a:p>
          <a:p>
            <a:r>
              <a:t>[click] employee: ON DELETE SET NULL. It references its own table, so this is the self-join relationship from Module 3.</a:t>
            </a:r>
          </a:p>
          <a:p>
            <a:r>
              <a:t>[click] If you omit ON DELETE, you get NO ACTION. That's safe, but you should still write the rule so a reviewer can see it was a decision.</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03: entity-relationship modelling. The ER model is the blueprint: cheap to change on a whiteboard, expensive to change once tables have data in them.</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building blocks.</a:t>
            </a:r>
          </a:p>
          <a:p>
            <a:r>
              <a:t>[click] An entity becomes a table.</a:t>
            </a:r>
          </a:p>
          <a:p>
            <a:r>
              <a:t>[click] An attribute becomes a column.</a:t>
            </a:r>
          </a:p>
          <a:p>
            <a:r>
              <a:t>[click] A relationship becomes a foreign key. If it's many-to-many, it becomes a whole table, which is Section 04.</a:t>
            </a:r>
          </a:p>
          <a:p>
            <a:r>
              <a:t>[click] A practical trick for reading a requirement: underline the nouns and circle the verbs.</a:t>
            </a:r>
          </a:p>
          <a:p>
            <a:r>
              <a:t>[click] One sentence gives three entities and two relationships. Try it with the ticket text: "the new credit card system". Card is a new entity.</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four line-end symbols.</a:t>
            </a:r>
          </a:p>
          <a:p>
            <a:r>
              <a:t>[click] Two bars: exactly one, mandatory.</a:t>
            </a:r>
          </a:p>
          <a:p>
            <a:r>
              <a:t>[click] Circle and bar: zero or one, optional.</a:t>
            </a:r>
          </a:p>
          <a:p>
            <a:r>
              <a:t>[click] Bar and crow's foot: one or many.</a:t>
            </a:r>
          </a:p>
          <a:p>
            <a:r>
              <a:t>[click] Circle and crow's foot: zero or many.</a:t>
            </a:r>
          </a:p>
          <a:p>
            <a:r>
              <a:t>[click] How to read them: the mark nearest the table is the maximum and the mark further out is the minimum. So o{ means minimum zero, maximum many.</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[click] One relationship, drawn in crow's foot.</a:t>
            </a:r>
          </a:p>
          <a:p>
            <a:r>
              <a:t>[click] Reading left to right: a customer holds zero or many accounts. Use the symbol at the account end.</a:t>
            </a:r>
          </a:p>
          <a:p>
            <a:r>
              <a:t>[click] Reading right to left: an account belongs to exactly one customer. Use the symbol at the customer end.</a:t>
            </a:r>
          </a:p>
          <a:p>
            <a:r>
              <a:t>[click] Optionality becomes nullability. An account must have a customer, so customer_id is NOT NULL. An employee may have no manager, so manager_id allows NULL. Your model answers the NULL question for every FK column before you write any DDL.</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Cardinality answers "how many on each side".</a:t>
            </a:r>
          </a:p>
          <a:p>
            <a:r>
              <a:t>[click] One to one: an account and its passbook. Implement it with an FK plus UNIQUE, or just merge the two tables.</a:t>
            </a:r>
          </a:p>
          <a:p>
            <a:r>
              <a:t>[click] One to many is the everyday case. The FK goes on the many side.</a:t>
            </a:r>
          </a:p>
          <a:p>
            <a:r>
              <a:t>[click] Many to many can't be stored with a single FK. It needs its own table, and that's Section 04.</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whole ICICI Bank schema as an ER model. Build it up click by click.</a:t>
            </a:r>
          </a:p>
          <a:p>
            <a:r>
              <a:t>[click] The spine: branch has customers, and a customer holds accounts.</a:t>
            </a:r>
          </a:p>
          <a:p>
            <a:r>
              <a:t>[click] An account has transactions and cards.</a:t>
            </a:r>
          </a:p>
          <a:p>
            <a:r>
              <a:t>[click] A customer also has loans, beneficiaries and fixed deposits. A loan has its payment schedule, and that line is mandatory on the many side: |{.</a:t>
            </a:r>
          </a:p>
          <a:p>
            <a:r>
              <a:t>[click] A branch employs employees, and employees manage employees. That's the self-referencing line, and it's optional.</a:t>
            </a:r>
          </a:p>
          <a:p>
            <a:r>
              <a:t>[click] Ask the room: which Module 3 query walked the longest path? The branch performance pack went branch → customer → account → account_txn.</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mechanical recipe from model to DDL.</a:t>
            </a:r>
          </a:p>
          <a:p>
            <a:r>
              <a:t>[click x5] Steps 1 to 5 follow directly from the diagram.</a:t>
            </a:r>
          </a:p>
          <a:p>
            <a:r>
              <a:t>[click] Step 6: a cascading rule on every FK, which we covered in Section 02.</a:t>
            </a:r>
          </a:p>
          <a:p>
            <a:r>
              <a:t>[click] Step 7: CHECK constraints for single-row rules, for example balance &gt;= 0 or kyc_status IN (…). The schema has plenty; look at ck_account_1 to ck_account_3.</a:t>
            </a:r>
          </a:p>
          <a:p>
            <a:r>
              <a:t>[click] These two steps get skipped when deadlines are tight, and they're the first two things an auditor checks.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TASK: turn one relationship into DDL.</a:t>
            </a:r>
          </a:p>
          <a:p>
            <a:r>
              <a:t>[click] The model.</a:t>
            </a:r>
          </a:p>
          <a:p>
            <a:r>
              <a:t>[click] The table. Point at each line as you map it.</a:t>
            </a:r>
          </a:p>
          <a:p>
            <a:r>
              <a:t>[click] The || on the customer side means an account always has a customer, so customer_id is NOT NULL.</a:t>
            </a:r>
          </a:p>
          <a:p>
            <a:r>
              <a:t>[click] The o{ on the account side means account is the many side, so it holds the FK.</a:t>
            </a:r>
          </a:p>
          <a:p>
            <a:r>
              <a:t>[click] account is a financial record, so ON DELETE RESTRICT.</a:t>
            </a:r>
          </a:p>
          <a:p>
            <a:r>
              <a:t>Every line of this DDL was decided on the whiteboard first.</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04: many-to-many. The flat table's products column is a many-to-many relationship that was never resolved. Here's how to resolve it properly.</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[click] The model: many on both sides.</a:t>
            </a:r>
          </a:p>
          <a:p>
            <a:r>
              <a:t>[click] Attempt 1: put customer_id in product. Now FD appears once per customer who holds it, so product_code is no longer unique, and every fact about FD, like its name and rate, repeats.</a:t>
            </a:r>
          </a:p>
          <a:p>
            <a:r>
              <a:t>[click] Attempt 2: put a list in customer. That's exactly the flat table's products column. You can't index it, join it or record when the customer enrolled.</a:t>
            </a:r>
          </a:p>
          <a:p>
            <a:r>
              <a:t>Neither table can hold the FK, so the relationship needs its own table.</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[click] customer on one side.</a:t>
            </a:r>
          </a:p>
          <a:p>
            <a:r>
              <a:t>[click] The junction table in the middle. Its primary key is the pair of foreign keys.</a:t>
            </a:r>
          </a:p>
          <a:p>
            <a:r>
              <a:t>[click] Two ordinary one-to-many lines. The many-to-many has become two one-to-manys.</a:t>
            </a:r>
          </a:p>
          <a:p>
            <a:r>
              <a:t>[click] Rohan's three products from the flat table are now three rows. Rahul's card enrolment can be CLOSED while his loan stays ACTIVE.</a:t>
            </a:r>
          </a:p>
          <a:p>
            <a:r>
              <a:t>[click] The composite PK stops duplicate enrolments with no extra code.</a:t>
            </a:r>
          </a:p>
          <a:p>
            <a:r>
              <a:t>[click] The junction table can carry its own attributes, such as enrolled_on and status. They belong to the relationship, not to the customer or the product.</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TASK: the DDL for the junction table. It's straight from the course material, so learners will type it in the lab.</a:t>
            </a:r>
          </a:p>
          <a:p>
            <a:r>
              <a:t>[click] Two FK columns, two relationship attributes, a composite primary key and two named foreign keys.</a:t>
            </a:r>
          </a:p>
          <a:p>
            <a:r>
              <a:t>[click] Try to enrol 1003 in FD a second time: the primary key rejects it. That's the business rule "one enrolment per product", enforced by the key alone.</a:t>
            </a:r>
          </a:p>
          <a:p>
            <a:r>
              <a:t>[click] Discussion: which cascading rule for each FK? Deleting a product that customers hold should fail, so RESTRICT from product.</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TASK: customers with their product names. This is the multi-table join pattern from Module 3.</a:t>
            </a:r>
          </a:p>
          <a:p>
            <a:r>
              <a:t>[click] Two joins, one for each one-to-many relationship. The junction table sits in the middle of the FROM clause, just as it sits in the middle of the diagram.</a:t>
            </a:r>
          </a:p>
          <a:p>
            <a:r>
              <a:t>[click] Five rows, one per enrolment, each with a date.</a:t>
            </a:r>
          </a:p>
          <a:p>
            <a:r>
              <a:t>[click] Compare with the flat table: LIKE '%LOAN%' can't use an index, would also match a product called HOMELOAN, and has no date at all.</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F447A-A571-2E00-FD48-F49A89E2F8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CF6E15-0531-46D5-6293-BD51A9A8721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CD4B3C9-7E30-634D-5BCC-5F91889B699E}"/>
              </a:ext>
            </a:extLst>
          </p:cNvPr>
          <p:cNvSpPr>
            <a:spLocks noGrp="1"/>
          </p:cNvSpPr>
          <p:nvPr>
            <p:ph type="body" sz="quarter" idx="3"/>
          </p:nvPr>
        </p:nvSpPr>
        <p:spPr/>
        <p:txBody>
          <a:bodyPr/>
          <a:lstStyle/>
          <a:p>
            <a:r>
              <a:t>Section 05: normalization. It's a step-by-step procedure, and each step removes one specific kind of redundancy. We'll walk the flat table through all four forms.</a:t>
            </a:r>
          </a:p>
        </p:txBody>
      </p:sp>
      <p:sp>
        <p:nvSpPr>
          <p:cNvPr id="4" name="Slide Number Placeholder 3">
            <a:extLst>
              <a:ext uri="{FF2B5EF4-FFF2-40B4-BE49-F238E27FC236}">
                <a16:creationId xmlns:a16="http://schemas.microsoft.com/office/drawing/2014/main" id="{A220133F-9202-CE86-AAB2-63B583ABFE41}"/>
              </a:ext>
            </a:extLst>
          </p:cNvPr>
          <p:cNvSpPr>
            <a:spLocks noGrp="1"/>
          </p:cNvSpPr>
          <p:nvPr>
            <p:ph type="sldNum" sz="quarter" idx="5"/>
          </p:nvPr>
        </p:nvSpPr>
        <p:spPr/>
      </p:sp>
    </p:spTree>
    <p:extLst>
      <p:ext uri="{BB962C8B-B14F-4D97-AF65-F5344CB8AC3E}">
        <p14:creationId xmlns:p14="http://schemas.microsoft.com/office/powerpoint/2010/main" val="13444770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05: normalization. It's a step-by-step procedure, and each step removes one specific kind of redundancy. We'll walk the flat table through all four forms.</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anomalies. These are the symptoms normalization cures.</a:t>
            </a:r>
          </a:p>
          <a:p>
            <a:r>
              <a:t>[click] Insert anomaly: the flat table's only key is cust_id, so a branch can't exist without a customer.</a:t>
            </a:r>
          </a:p>
          <a:p>
            <a:r>
              <a:t>[click] Update anomaly: the same fact is stored many times, so an update has to find every copy. That's finding 1.</a:t>
            </a:r>
          </a:p>
          <a:p>
            <a:r>
              <a:t>[click] Delete anomaly: two facts share one row, so deleting one deletes both. That's finding 2.</a:t>
            </a:r>
          </a:p>
          <a:p>
            <a:r>
              <a:t>[click] No constraint fixes finding 2: there's no parent-child relationship to RESTRICT, because the two entities were merged into one row. Only decomposition fixes it.</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Functional dependency is the tool behind every normal form.</a:t>
            </a:r>
          </a:p>
          <a:p>
            <a:r>
              <a:t>[click x3] Given a customer_id, there's exactly one first name. Given a branch_code, exactly one branch name. Given an account number, exactly one type and balance.</a:t>
            </a:r>
          </a:p>
          <a:p>
            <a:r>
              <a:t>[click] The determinant is the left side. The question is always: is the determinant the key of the table this column lives in?</a:t>
            </a:r>
          </a:p>
          <a:p>
            <a:r>
              <a:t>[click] The one sentence to memorise: the key, the whole key, and nothing but the key. Each clause is one normal form.</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First normal form: atomic values, no repeating groups, and a way to identify every row.</a:t>
            </a:r>
          </a:p>
          <a:p>
            <a:r>
              <a:t>[click] The flat table fails twice.</a:t>
            </a:r>
          </a:p>
          <a:p>
            <a:r>
              <a:t>[click] The repeating group: the spreadsheet had two account columns, so the schema has two. A customer with three accounts means a schema change.</a:t>
            </a:r>
          </a:p>
          <a:p>
            <a:r>
              <a:t>[click] The non-atomic list: one cell with three facts in it.</a:t>
            </a:r>
          </a:p>
          <a:p>
            <a:r>
              <a:t>[click] Ask the room how they'd count loan holders. Any answer with LIKE is a guess.</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[click] Before: one wide row for Karthik.</a:t>
            </a:r>
          </a:p>
          <a:p>
            <a:r>
              <a:t>[click] After, the customer facts stay in customer.</a:t>
            </a:r>
          </a:p>
          <a:p>
            <a:r>
              <a:t>[click] Accounts become rows in their own table. A third account is just an INSERT.</a:t>
            </a:r>
          </a:p>
          <a:p>
            <a:r>
              <a:t>[click] Products become rows too, which is the junction table from Section 04.</a:t>
            </a:r>
          </a:p>
          <a:p>
            <a:r>
              <a:t>[click] The pattern of 1NF: columns that repeat become rows.</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Second normal form only applies when the primary key has more than one column.</a:t>
            </a:r>
          </a:p>
          <a:p>
            <a:r>
              <a:t>[click] A transaction table keyed on (account_id, txn_id). account_type and balance repeat on every transaction of the account.</a:t>
            </a:r>
          </a:p>
          <a:p>
            <a:r>
              <a:t>[click] amount depends on the whole key, which is fine.</a:t>
            </a:r>
          </a:p>
          <a:p>
            <a:r>
              <a:t>[click] account_type depends only on account_id, which is half the key. That's a partial dependency.</a:t>
            </a:r>
          </a:p>
          <a:p>
            <a:r>
              <a:t>[click] The fix: move the partially dependent columns to a table keyed on that part. That's account, and the transaction table keeps only its own facts. This is exactly our schema.</a:t>
            </a:r>
          </a:p>
          <a:p>
            <a:r>
              <a:t>[click] A useful shortcut: single-column keys can't have partial dependencies. One more reason surrogate keys make design easier.</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Third normal form: nothing but the key.</a:t>
            </a:r>
          </a:p>
          <a:p>
            <a:r>
              <a:t>[click] The BR03 rows from the flat table: four spellings of one branch. That's audit finding 1.</a:t>
            </a:r>
          </a:p>
          <a:p>
            <a:r>
              <a:t>[click] Follow the dependencies: customer_id determines branch_code…</a:t>
            </a:r>
          </a:p>
          <a:p>
            <a:r>
              <a:t>[click] …and branch_code determines branch_name. branch_name depends on the key only through another column. That's a transitive dependency.</a:t>
            </a:r>
          </a:p>
          <a:p>
            <a:r>
              <a:t>[click] The fix: branch facts go into branch, and customer keeps just the foreign key. In our schema that column is home_branch_id.</a:t>
            </a:r>
          </a:p>
          <a:p>
            <a:r>
              <a:t>[click] Now there's only one place the name exists, so four spellings are impossible. This is the schema you've used since Module 1.</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Boyce-Codd normal form is a stricter 3NF: every determinant must be a candidate key.</a:t>
            </a:r>
          </a:p>
          <a:p>
            <a:r>
              <a:t>[click] Which relationship manager covers which product at which branch.</a:t>
            </a:r>
          </a:p>
          <a:p>
            <a:r>
              <a:t>[click] The business rule that causes trouble: each RM handles exactly one product.</a:t>
            </a:r>
          </a:p>
          <a:p>
            <a:r>
              <a:t>[click] (branch_id, product_code) determines rm_id. That's a candidate key, so it's fine.</a:t>
            </a:r>
          </a:p>
          <a:p>
            <a:r>
              <a:t>[click] But rm_id determines product_code, and rm_id isn't a candidate key. RM 701's product HOME is repeated for every branch he covers.</a:t>
            </a:r>
          </a:p>
          <a:p>
            <a:r>
              <a:t>[click] The fix splits the table: which product each RM handles, and which RM covers which branch.</a:t>
            </a:r>
          </a:p>
          <a:p>
            <a:r>
              <a:t>[click] You'll rarely meet this. When 3NF and BCNF differ, it's almost always this shape.</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whole staircase in one picture.</a:t>
            </a:r>
          </a:p>
          <a:p>
            <a:r>
              <a:t>[click] 1NF: atomic values, so we can query each fact.</a:t>
            </a:r>
          </a:p>
          <a:p>
            <a:r>
              <a:t>[click] 2NF: no partial dependencies, so parent facts aren't repeated on child rows.</a:t>
            </a:r>
          </a:p>
          <a:p>
            <a:r>
              <a:t>[click] 3NF: no transitive dependencies. This removes the update anomaly behind finding 1.</a:t>
            </a:r>
          </a:p>
          <a:p>
            <a:r>
              <a:t>[click] BCNF: every determinant is a candidate key.</a:t>
            </a:r>
          </a:p>
          <a:p>
            <a:r>
              <a:t>4NF, 5NF and 6NF exist, but for an OLTP bank the extra joins usually cost more than the anomalies they prevent. Stop at 3NF or BCNF.</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06: denormalization. Once you know the rules, you can break them on purpose. That's what separates it from never having normalized in the first place.</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[click] The trade-off: normalized designs make writes safe, and denormalized designs make reads fast.</a:t>
            </a:r>
          </a:p>
          <a:p>
            <a:r>
              <a:t>[click] Denormalization is a legitimate engineering decision, but only with three conditions.</a:t>
            </a:r>
          </a:p>
          <a:p>
            <a:r>
              <a:t>[click] You can name the query that needs it.</a:t>
            </a:r>
          </a:p>
          <a:p>
            <a:r>
              <a:t>[click] You've measured the problem.</a:t>
            </a:r>
          </a:p>
          <a:p>
            <a:r>
              <a:t>[click] You have a control that keeps the copy correct.</a:t>
            </a:r>
          </a:p>
          <a:p>
            <a:r>
              <a:t>[click] If the third is missing, the copy will drift, and in a bank that eventually reaches a customer's statement.</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bank already denormalizes, deliberately.</a:t>
            </a:r>
          </a:p>
          <a:p>
            <a:r>
              <a:t>[click] The normalized answer: sum every transaction. It's correct, but on an account with twenty years of history it's far too slow for a balance enquiry.</a:t>
            </a:r>
          </a:p>
          <a:p>
            <a:r>
              <a:t>[click] So the balance is stored and updated in the same transaction as the posting. Either both happen or neither does. Module 6 covers transactions properly.</a:t>
            </a:r>
          </a:p>
          <a:p>
            <a:r>
              <a:t>[click] The weakness: atomicity covers crashes, not bugs. A new code path that forgets the UPDATE breaks the balance silently. That's why the next slide exists.</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ways to keep a copy correct.</a:t>
            </a:r>
          </a:p>
          <a:p>
            <a:r>
              <a:t>[click] Same transaction: what the bank does for balance.</a:t>
            </a:r>
          </a:p>
          <a:p>
            <a:r>
              <a:t>[click] Trigger: the database maintains the copy itself. Covered in Module 10.</a:t>
            </a:r>
          </a:p>
          <a:p>
            <a:r>
              <a:t>[click] Scheduled recomputation: rebuild summaries overnight.</a:t>
            </a:r>
          </a:p>
          <a:p>
            <a:r>
              <a:t>[click] Reconciliation is highlighted because it's the only technique that proves the other three worked. Every denormalization needs one.</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TASK: prove the stored balance is still true.</a:t>
            </a:r>
          </a:p>
          <a:p>
            <a:r>
              <a:t>[click] Walk the query. The LEFT JOIN keeps accounts that have no transactions. The CASE turns debits negative. COALESCE turns "no transactions" into 0. HAVING keeps only the disagreements.</a:t>
            </a:r>
          </a:p>
          <a:p>
            <a:r>
              <a:t>[click] Zero rows is the healthy answer. Any row is an incident to investigate.</a:t>
            </a:r>
          </a:p>
          <a:p>
            <a:r>
              <a:t>[click] This query is Module 3's greatest hits: LEFT JOIN, GROUP BY, HAVING and conditional aggregation.</a:t>
            </a:r>
          </a:p>
          <a:p>
            <a:r>
              <a:t>Trainer note: on the synthetic lab data, balances are opening balances, so expect some rows. That's a good discussion point about what a reconciliation assumes.</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Normalized versus denormalized isn't a debate. The bank runs both.</a:t>
            </a:r>
          </a:p>
          <a:p>
            <a:r>
              <a:t>[click] OLTP on the left, the reporting warehouse on the right.</a:t>
            </a:r>
          </a:p>
          <a:p>
            <a:r>
              <a:t>[click x5] Target, optimized for, redundancy, update rhythm, and who guarantees correctness: the constraints on the left, the ETL job on the right.</a:t>
            </a:r>
          </a:p>
          <a:p>
            <a:r>
              <a:t>[click] The star schema, with fact tables and dimension tables, is the warehouse design you'll build in Module 10.</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 to the ticket.</a:t>
            </a:r>
          </a:p>
          <a:p>
            <a:r>
              <a:t>[click] Finding 1 was a transitive dependency, fixed by 3NF.</a:t>
            </a:r>
          </a:p>
          <a:p>
            <a:r>
              <a:t>[click] Finding 2 was two entities in one row, fixed by decomposition. RESTRICT then stops the same loss happening through a foreign key.</a:t>
            </a:r>
          </a:p>
          <a:p>
            <a:r>
              <a:t>[click] The design that closes the ticket is the schema you've been querying all along. Now you know why every table in it exists.</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Six takeaways, one per learning outcome.</a:t>
            </a:r>
          </a:p>
          <a:p>
            <a:r>
              <a:t>[click x6] Read them one at a time and ask a learner to give the ICICI Bank example for each.</a:t>
            </a:r>
          </a:p>
          <a:p>
            <a:r>
              <a:t>[click] Next: a normalized schema needs joins, and Module 5 makes them fast with indexes.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a0f_k1"/>
          <p:cNvSpPr txBox="1"/>
          <p:nvPr/>
        </p:nvSpPr>
        <p:spPr>
          <a:xfrm>
            <a:off x="548640" y="914400"/>
            <a:ext cx="5486400" cy="320040"/>
          </a:xfrm>
          <a:prstGeom prst="rect">
            <a:avLst/>
          </a:prstGeom>
          <a:noFill/>
          <a:ln/>
        </p:spPr>
        <p:txBody>
          <a:bodyPr wrap="square" lIns="0" tIns="0" rIns="0" bIns="0" rtlCol="0" anchor="ctr"/>
          <a:lstStyle/>
          <a:p>
            <a:pPr marL="0" indent="0">
              <a:buNone/>
            </a:pPr>
            <a:r>
              <a:rPr lang="en-US" sz="1200" b="1" kern="0" spc="300" dirty="0">
                <a:solidFill>
                  <a:srgbClr val="A78BFA"/>
                </a:solidFill>
                <a:latin typeface="Calibri" pitchFamily="34" charset="0"/>
                <a:ea typeface="Calibri" pitchFamily="34" charset="-122"/>
                <a:cs typeface="Calibri" pitchFamily="34" charset="-120"/>
              </a:rPr>
              <a:t>MODULE 04 · DATABASE DESIGN &amp; NORMALIZATION</a:t>
            </a:r>
            <a:endParaRPr lang="en-US" sz="1200" dirty="0"/>
          </a:p>
        </p:txBody>
      </p:sp>
      <p:sp>
        <p:nvSpPr>
          <p:cNvPr id="3" name="a0ud200_t2"/>
          <p:cNvSpPr txBox="1"/>
          <p:nvPr/>
        </p:nvSpPr>
        <p:spPr>
          <a:xfrm>
            <a:off x="548640" y="1280160"/>
            <a:ext cx="4937760" cy="914400"/>
          </a:xfrm>
          <a:prstGeom prst="rect">
            <a:avLst/>
          </a:prstGeom>
          <a:noFill/>
          <a:ln/>
        </p:spPr>
        <p:txBody>
          <a:bodyPr wrap="square" lIns="0" tIns="0" rIns="0" bIns="0" rtlCol="0" anchor="ctr"/>
          <a:lstStyle/>
          <a:p>
            <a:pPr marL="0" indent="0">
              <a:buNone/>
            </a:pPr>
            <a:r>
              <a:rPr lang="en-US" sz="5400" b="1" dirty="0">
                <a:solidFill>
                  <a:srgbClr val="FFFFFF"/>
                </a:solidFill>
                <a:latin typeface="Calibri" pitchFamily="34" charset="0"/>
                <a:ea typeface="Calibri" pitchFamily="34" charset="-122"/>
                <a:cs typeface="Calibri" pitchFamily="34" charset="-120"/>
              </a:rPr>
              <a:t>Database Design</a:t>
            </a:r>
            <a:endParaRPr lang="en-US" sz="5400" dirty="0"/>
          </a:p>
        </p:txBody>
      </p:sp>
      <p:sp>
        <p:nvSpPr>
          <p:cNvPr id="4" name="a0fd500_s3"/>
          <p:cNvSpPr txBox="1"/>
          <p:nvPr/>
        </p:nvSpPr>
        <p:spPr>
          <a:xfrm>
            <a:off x="548640" y="2194560"/>
            <a:ext cx="4572000" cy="731520"/>
          </a:xfrm>
          <a:prstGeom prst="rect">
            <a:avLst/>
          </a:prstGeom>
          <a:noFill/>
          <a:ln/>
        </p:spPr>
        <p:txBody>
          <a:bodyPr wrap="square" lIns="0" tIns="0" rIns="0" bIns="0" rtlCol="0" anchor="t"/>
          <a:lstStyle/>
          <a:p>
            <a:pPr marL="0" indent="0">
              <a:buNone/>
            </a:pPr>
            <a:r>
              <a:rPr lang="en-US" sz="1800" dirty="0">
                <a:solidFill>
                  <a:srgbClr val="CBD5E1"/>
                </a:solidFill>
                <a:latin typeface="Calibri" pitchFamily="34" charset="0"/>
                <a:ea typeface="Calibri" pitchFamily="34" charset="-122"/>
                <a:cs typeface="Calibri" pitchFamily="34" charset="-120"/>
              </a:rPr>
              <a:t>Keys, integrity, ER models and normal forms — visually explained</a:t>
            </a:r>
            <a:endParaRPr lang="en-US" sz="1800" dirty="0"/>
          </a:p>
        </p:txBody>
      </p:sp>
      <p:sp>
        <p:nvSpPr>
          <p:cNvPr id="5" name="a0ud800_chip4"/>
          <p:cNvSpPr txBox="1"/>
          <p:nvPr/>
        </p:nvSpPr>
        <p:spPr>
          <a:xfrm>
            <a:off x="548640" y="3154680"/>
            <a:ext cx="1371600" cy="329184"/>
          </a:xfrm>
          <a:prstGeom prst="roundRect">
            <a:avLst>
              <a:gd name="adj" fmla="val 50000"/>
            </a:avLst>
          </a:prstGeom>
          <a:solidFill>
            <a:srgbClr val="1E293B"/>
          </a:solidFill>
          <a:ln w="12700">
            <a:solidFill>
              <a:srgbClr val="475569"/>
            </a:solidFill>
            <a:prstDash val="solid"/>
          </a:ln>
        </p:spPr>
        <p:txBody>
          <a:bodyPr wrap="square" lIns="0" tIns="0" rIns="0" bIns="0" rtlCol="0" anchor="ctr"/>
          <a:lstStyle/>
          <a:p>
            <a:pPr marL="0" indent="0" algn="ctr">
              <a:buNone/>
            </a:pPr>
            <a:r>
              <a:rPr lang="en-US" sz="1100" b="1" dirty="0">
                <a:solidFill>
                  <a:srgbClr val="E2E8F0"/>
                </a:solidFill>
                <a:latin typeface="Courier New" pitchFamily="34" charset="0"/>
                <a:ea typeface="Courier New" pitchFamily="34" charset="-122"/>
                <a:cs typeface="Courier New" pitchFamily="34" charset="-120"/>
              </a:rPr>
              <a:t>KEYS</a:t>
            </a:r>
            <a:endParaRPr lang="en-US" sz="1100" dirty="0"/>
          </a:p>
        </p:txBody>
      </p:sp>
      <p:sp>
        <p:nvSpPr>
          <p:cNvPr id="6" name="a0ud920_chip5"/>
          <p:cNvSpPr txBox="1"/>
          <p:nvPr/>
        </p:nvSpPr>
        <p:spPr>
          <a:xfrm>
            <a:off x="2057400" y="3154680"/>
            <a:ext cx="1371600" cy="329184"/>
          </a:xfrm>
          <a:prstGeom prst="roundRect">
            <a:avLst>
              <a:gd name="adj" fmla="val 50000"/>
            </a:avLst>
          </a:prstGeom>
          <a:solidFill>
            <a:srgbClr val="1E293B"/>
          </a:solidFill>
          <a:ln w="12700">
            <a:solidFill>
              <a:srgbClr val="475569"/>
            </a:solidFill>
            <a:prstDash val="solid"/>
          </a:ln>
        </p:spPr>
        <p:txBody>
          <a:bodyPr wrap="square" lIns="0" tIns="0" rIns="0" bIns="0" rtlCol="0" anchor="ctr"/>
          <a:lstStyle/>
          <a:p>
            <a:pPr marL="0" indent="0" algn="ctr">
              <a:buNone/>
            </a:pPr>
            <a:r>
              <a:rPr lang="en-US" sz="1100" b="1" dirty="0">
                <a:solidFill>
                  <a:srgbClr val="E2E8F0"/>
                </a:solidFill>
                <a:latin typeface="Courier New" pitchFamily="34" charset="0"/>
                <a:ea typeface="Courier New" pitchFamily="34" charset="-122"/>
                <a:cs typeface="Courier New" pitchFamily="34" charset="-120"/>
              </a:rPr>
              <a:t>INTEGRITY</a:t>
            </a:r>
            <a:endParaRPr lang="en-US" sz="1100" dirty="0"/>
          </a:p>
        </p:txBody>
      </p:sp>
      <p:sp>
        <p:nvSpPr>
          <p:cNvPr id="7" name="a0ud1040_chip6"/>
          <p:cNvSpPr txBox="1"/>
          <p:nvPr/>
        </p:nvSpPr>
        <p:spPr>
          <a:xfrm>
            <a:off x="3566160" y="3154680"/>
            <a:ext cx="1371600" cy="329184"/>
          </a:xfrm>
          <a:prstGeom prst="roundRect">
            <a:avLst>
              <a:gd name="adj" fmla="val 50000"/>
            </a:avLst>
          </a:prstGeom>
          <a:solidFill>
            <a:srgbClr val="1E293B"/>
          </a:solidFill>
          <a:ln w="12700">
            <a:solidFill>
              <a:srgbClr val="475569"/>
            </a:solidFill>
            <a:prstDash val="solid"/>
          </a:ln>
        </p:spPr>
        <p:txBody>
          <a:bodyPr wrap="square" lIns="0" tIns="0" rIns="0" bIns="0" rtlCol="0" anchor="ctr"/>
          <a:lstStyle/>
          <a:p>
            <a:pPr marL="0" indent="0" algn="ctr">
              <a:buNone/>
            </a:pPr>
            <a:r>
              <a:rPr lang="en-US" sz="1100" b="1" dirty="0">
                <a:solidFill>
                  <a:srgbClr val="E2E8F0"/>
                </a:solidFill>
                <a:latin typeface="Courier New" pitchFamily="34" charset="0"/>
                <a:ea typeface="Courier New" pitchFamily="34" charset="-122"/>
                <a:cs typeface="Courier New" pitchFamily="34" charset="-120"/>
              </a:rPr>
              <a:t>ER MODEL</a:t>
            </a:r>
            <a:endParaRPr lang="en-US" sz="1100" dirty="0"/>
          </a:p>
        </p:txBody>
      </p:sp>
      <p:sp>
        <p:nvSpPr>
          <p:cNvPr id="8" name="a0ud1160_chip7"/>
          <p:cNvSpPr txBox="1"/>
          <p:nvPr/>
        </p:nvSpPr>
        <p:spPr>
          <a:xfrm>
            <a:off x="548640" y="3593592"/>
            <a:ext cx="1371600" cy="329184"/>
          </a:xfrm>
          <a:prstGeom prst="roundRect">
            <a:avLst>
              <a:gd name="adj" fmla="val 50000"/>
            </a:avLst>
          </a:prstGeom>
          <a:solidFill>
            <a:srgbClr val="1E293B"/>
          </a:solidFill>
          <a:ln w="12700">
            <a:solidFill>
              <a:srgbClr val="475569"/>
            </a:solidFill>
            <a:prstDash val="solid"/>
          </a:ln>
        </p:spPr>
        <p:txBody>
          <a:bodyPr wrap="square" lIns="0" tIns="0" rIns="0" bIns="0" rtlCol="0" anchor="ctr"/>
          <a:lstStyle/>
          <a:p>
            <a:pPr marL="0" indent="0" algn="ctr">
              <a:buNone/>
            </a:pPr>
            <a:r>
              <a:rPr lang="en-US" sz="1100" b="1" dirty="0">
                <a:solidFill>
                  <a:srgbClr val="E2E8F0"/>
                </a:solidFill>
                <a:latin typeface="Courier New" pitchFamily="34" charset="0"/>
                <a:ea typeface="Courier New" pitchFamily="34" charset="-122"/>
                <a:cs typeface="Courier New" pitchFamily="34" charset="-120"/>
              </a:rPr>
              <a:t>M:N</a:t>
            </a:r>
            <a:endParaRPr lang="en-US" sz="1100" dirty="0"/>
          </a:p>
        </p:txBody>
      </p:sp>
      <p:sp>
        <p:nvSpPr>
          <p:cNvPr id="9" name="a0ud1280_chip8"/>
          <p:cNvSpPr txBox="1"/>
          <p:nvPr/>
        </p:nvSpPr>
        <p:spPr>
          <a:xfrm>
            <a:off x="2057400" y="3593592"/>
            <a:ext cx="1371600" cy="329184"/>
          </a:xfrm>
          <a:prstGeom prst="roundRect">
            <a:avLst>
              <a:gd name="adj" fmla="val 50000"/>
            </a:avLst>
          </a:prstGeom>
          <a:solidFill>
            <a:srgbClr val="1E293B"/>
          </a:solidFill>
          <a:ln w="12700">
            <a:solidFill>
              <a:srgbClr val="475569"/>
            </a:solidFill>
            <a:prstDash val="solid"/>
          </a:ln>
        </p:spPr>
        <p:txBody>
          <a:bodyPr wrap="square" lIns="0" tIns="0" rIns="0" bIns="0" rtlCol="0" anchor="ctr"/>
          <a:lstStyle/>
          <a:p>
            <a:pPr marL="0" indent="0" algn="ctr">
              <a:buNone/>
            </a:pPr>
            <a:r>
              <a:rPr lang="en-US" sz="1100" b="1" dirty="0">
                <a:solidFill>
                  <a:srgbClr val="E2E8F0"/>
                </a:solidFill>
                <a:latin typeface="Courier New" pitchFamily="34" charset="0"/>
                <a:ea typeface="Courier New" pitchFamily="34" charset="-122"/>
                <a:cs typeface="Courier New" pitchFamily="34" charset="-120"/>
              </a:rPr>
              <a:t>NORMAL FORMS</a:t>
            </a:r>
            <a:endParaRPr lang="en-US" sz="1100" dirty="0"/>
          </a:p>
        </p:txBody>
      </p:sp>
      <p:sp>
        <p:nvSpPr>
          <p:cNvPr id="10" name="a0ud1400_chip9"/>
          <p:cNvSpPr txBox="1"/>
          <p:nvPr/>
        </p:nvSpPr>
        <p:spPr>
          <a:xfrm>
            <a:off x="3566160" y="3593592"/>
            <a:ext cx="1371600" cy="329184"/>
          </a:xfrm>
          <a:prstGeom prst="roundRect">
            <a:avLst>
              <a:gd name="adj" fmla="val 50000"/>
            </a:avLst>
          </a:prstGeom>
          <a:solidFill>
            <a:srgbClr val="1E293B"/>
          </a:solidFill>
          <a:ln w="12700">
            <a:solidFill>
              <a:srgbClr val="475569"/>
            </a:solidFill>
            <a:prstDash val="solid"/>
          </a:ln>
        </p:spPr>
        <p:txBody>
          <a:bodyPr wrap="square" lIns="0" tIns="0" rIns="0" bIns="0" rtlCol="0" anchor="ctr"/>
          <a:lstStyle/>
          <a:p>
            <a:pPr marL="0" indent="0" algn="ctr">
              <a:buNone/>
            </a:pPr>
            <a:r>
              <a:rPr lang="en-US" sz="1100" b="1" dirty="0">
                <a:solidFill>
                  <a:srgbClr val="E2E8F0"/>
                </a:solidFill>
                <a:latin typeface="Courier New" pitchFamily="34" charset="0"/>
                <a:ea typeface="Courier New" pitchFamily="34" charset="-122"/>
                <a:cs typeface="Courier New" pitchFamily="34" charset="-120"/>
              </a:rPr>
              <a:t>DENORMALIZE</a:t>
            </a:r>
            <a:endParaRPr lang="en-US" sz="1100" dirty="0"/>
          </a:p>
        </p:txBody>
      </p:sp>
      <p:sp>
        <p:nvSpPr>
          <p:cNvPr id="11" name="a0fd300_v10"/>
          <p:cNvSpPr/>
          <p:nvPr/>
        </p:nvSpPr>
        <p:spPr>
          <a:xfrm>
            <a:off x="5577840" y="1335024"/>
            <a:ext cx="1097280" cy="548640"/>
          </a:xfrm>
          <a:prstGeom prst="roundRect">
            <a:avLst>
              <a:gd name="adj" fmla="val 16000"/>
            </a:avLst>
          </a:prstGeom>
          <a:solidFill>
            <a:srgbClr val="14B8A6"/>
          </a:solidFill>
          <a:ln>
            <a:noFill/>
          </a:ln>
        </p:spPr>
      </p:sp>
      <p:sp>
        <p:nvSpPr>
          <p:cNvPr id="12" name="a0fd300_v11"/>
          <p:cNvSpPr/>
          <p:nvPr/>
        </p:nvSpPr>
        <p:spPr>
          <a:xfrm>
            <a:off x="7406640" y="1335024"/>
            <a:ext cx="1097280" cy="548640"/>
          </a:xfrm>
          <a:prstGeom prst="roundRect">
            <a:avLst>
              <a:gd name="adj" fmla="val 16000"/>
            </a:avLst>
          </a:prstGeom>
          <a:solidFill>
            <a:srgbClr val="F59E0B"/>
          </a:solidFill>
          <a:ln>
            <a:noFill/>
          </a:ln>
        </p:spPr>
      </p:sp>
      <p:sp>
        <p:nvSpPr>
          <p:cNvPr id="13" name="a0fd300_v12"/>
          <p:cNvSpPr/>
          <p:nvPr/>
        </p:nvSpPr>
        <p:spPr>
          <a:xfrm>
            <a:off x="6492240" y="2468880"/>
            <a:ext cx="1097280" cy="548640"/>
          </a:xfrm>
          <a:prstGeom prst="roundRect">
            <a:avLst>
              <a:gd name="adj" fmla="val 16000"/>
            </a:avLst>
          </a:prstGeom>
          <a:solidFill>
            <a:srgbClr val="8B5CF6"/>
          </a:solidFill>
          <a:ln>
            <a:noFill/>
          </a:ln>
        </p:spPr>
      </p:sp>
      <p:sp>
        <p:nvSpPr>
          <p:cNvPr id="14" name="a0fd300_v13"/>
          <p:cNvSpPr/>
          <p:nvPr/>
        </p:nvSpPr>
        <p:spPr>
          <a:xfrm>
            <a:off x="6675120" y="1581912"/>
            <a:ext cx="731520" cy="54864"/>
          </a:xfrm>
          <a:prstGeom prst="rect">
            <a:avLst/>
          </a:prstGeom>
          <a:solidFill>
            <a:srgbClr val="94A3B8"/>
          </a:solidFill>
          <a:ln>
            <a:noFill/>
          </a:ln>
        </p:spPr>
      </p:sp>
      <p:sp>
        <p:nvSpPr>
          <p:cNvPr id="15" name="a0fd300_v14"/>
          <p:cNvSpPr/>
          <p:nvPr/>
        </p:nvSpPr>
        <p:spPr>
          <a:xfrm>
            <a:off x="6099048" y="1883664"/>
            <a:ext cx="54864" cy="859536"/>
          </a:xfrm>
          <a:prstGeom prst="rect">
            <a:avLst/>
          </a:prstGeom>
          <a:solidFill>
            <a:srgbClr val="94A3B8"/>
          </a:solidFill>
          <a:ln>
            <a:noFill/>
          </a:ln>
        </p:spPr>
      </p:sp>
      <p:sp>
        <p:nvSpPr>
          <p:cNvPr id="16" name="a0fd300_v15"/>
          <p:cNvSpPr/>
          <p:nvPr/>
        </p:nvSpPr>
        <p:spPr>
          <a:xfrm>
            <a:off x="6099048" y="2715768"/>
            <a:ext cx="402336" cy="54864"/>
          </a:xfrm>
          <a:prstGeom prst="rect">
            <a:avLst/>
          </a:prstGeom>
          <a:solidFill>
            <a:srgbClr val="94A3B8"/>
          </a:solidFill>
          <a:ln>
            <a:noFill/>
          </a:ln>
        </p:spPr>
      </p:sp>
      <p:sp>
        <p:nvSpPr>
          <p:cNvPr id="17" name="a0fd300_v16"/>
          <p:cNvSpPr/>
          <p:nvPr/>
        </p:nvSpPr>
        <p:spPr>
          <a:xfrm>
            <a:off x="7927848" y="1883664"/>
            <a:ext cx="54864" cy="859536"/>
          </a:xfrm>
          <a:prstGeom prst="rect">
            <a:avLst/>
          </a:prstGeom>
          <a:solidFill>
            <a:srgbClr val="94A3B8"/>
          </a:solidFill>
          <a:ln>
            <a:noFill/>
          </a:ln>
        </p:spPr>
      </p:sp>
      <p:sp>
        <p:nvSpPr>
          <p:cNvPr id="18" name="a0fd300_v17"/>
          <p:cNvSpPr/>
          <p:nvPr/>
        </p:nvSpPr>
        <p:spPr>
          <a:xfrm>
            <a:off x="7589520" y="2715768"/>
            <a:ext cx="393192" cy="54864"/>
          </a:xfrm>
          <a:prstGeom prst="rect">
            <a:avLst/>
          </a:prstGeom>
          <a:solidFill>
            <a:srgbClr val="94A3B8"/>
          </a:solidFill>
          <a:ln>
            <a:noFill/>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 presetClass="entr" presetSubtype="4" fill="hold" grpId="0" nodeType="withEffect">
                                  <p:stCondLst>
                                    <p:cond delay="20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fill="hold"/>
                                        <p:tgtEl>
                                          <p:spTgt spid="3"/>
                                        </p:tgtEl>
                                        <p:attrNameLst>
                                          <p:attrName>ppt_x</p:attrName>
                                        </p:attrNameLst>
                                      </p:cBhvr>
                                      <p:tavLst>
                                        <p:tav tm="0">
                                          <p:val>
                                            <p:strVal val="#ppt_x"/>
                                          </p:val>
                                        </p:tav>
                                        <p:tav tm="100000">
                                          <p:val>
                                            <p:strVal val="#ppt_x"/>
                                          </p:val>
                                        </p:tav>
                                      </p:tavLst>
                                    </p:anim>
                                    <p:anim calcmode="lin" valueType="num">
                                      <p:cBhvr additive="base">
                                        <p:cTn id="11" dur="500" fill="hold"/>
                                        <p:tgtEl>
                                          <p:spTgt spid="3"/>
                                        </p:tgtEl>
                                        <p:attrNameLst>
                                          <p:attrName>ppt_y</p:attrName>
                                        </p:attrNameLst>
                                      </p:cBhvr>
                                      <p:tavLst>
                                        <p:tav tm="0">
                                          <p:val>
                                            <p:strVal val="#ppt_y+0.1"/>
                                          </p:val>
                                        </p:tav>
                                        <p:tav tm="100000">
                                          <p:val>
                                            <p:strVal val="#ppt_y"/>
                                          </p:val>
                                        </p:tav>
                                      </p:tavLst>
                                    </p:anim>
                                    <p:animEffect transition="in" filter="fade">
                                      <p:cBhvr>
                                        <p:cTn id="12" dur="500"/>
                                        <p:tgtEl>
                                          <p:spTgt spid="3"/>
                                        </p:tgtEl>
                                      </p:cBhvr>
                                    </p:animEffect>
                                  </p:childTnLst>
                                </p:cTn>
                              </p:par>
                              <p:par>
                                <p:cTn id="13" presetID="10" presetClass="entr" presetSubtype="0" fill="hold" grpId="0" nodeType="withEffect">
                                  <p:stCondLst>
                                    <p:cond delay="5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2" presetClass="entr" presetSubtype="4" fill="hold" grpId="0" nodeType="withEffect">
                                  <p:stCondLst>
                                    <p:cond delay="80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ppt_y+0.1"/>
                                          </p:val>
                                        </p:tav>
                                        <p:tav tm="100000">
                                          <p:val>
                                            <p:strVal val="#ppt_y"/>
                                          </p:val>
                                        </p:tav>
                                      </p:tavLst>
                                    </p:anim>
                                    <p:animEffect transition="in" filter="fade">
                                      <p:cBhvr>
                                        <p:cTn id="20" dur="500"/>
                                        <p:tgtEl>
                                          <p:spTgt spid="5"/>
                                        </p:tgtEl>
                                      </p:cBhvr>
                                    </p:animEffect>
                                  </p:childTnLst>
                                </p:cTn>
                              </p:par>
                              <p:par>
                                <p:cTn id="21" presetID="2" presetClass="entr" presetSubtype="4" fill="hold" grpId="0" nodeType="withEffect">
                                  <p:stCondLst>
                                    <p:cond delay="92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ppt_y+0.1"/>
                                          </p:val>
                                        </p:tav>
                                        <p:tav tm="100000">
                                          <p:val>
                                            <p:strVal val="#ppt_y"/>
                                          </p:val>
                                        </p:tav>
                                      </p:tavLst>
                                    </p:anim>
                                    <p:animEffect transition="in" filter="fade">
                                      <p:cBhvr>
                                        <p:cTn id="25" dur="500"/>
                                        <p:tgtEl>
                                          <p:spTgt spid="6"/>
                                        </p:tgtEl>
                                      </p:cBhvr>
                                    </p:animEffect>
                                  </p:childTnLst>
                                </p:cTn>
                              </p:par>
                              <p:par>
                                <p:cTn id="26" presetID="2" presetClass="entr" presetSubtype="4" fill="hold" grpId="0" nodeType="withEffect">
                                  <p:stCondLst>
                                    <p:cond delay="104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ppt_x"/>
                                          </p:val>
                                        </p:tav>
                                        <p:tav tm="100000">
                                          <p:val>
                                            <p:strVal val="#ppt_x"/>
                                          </p:val>
                                        </p:tav>
                                      </p:tavLst>
                                    </p:anim>
                                    <p:anim calcmode="lin" valueType="num">
                                      <p:cBhvr additive="base">
                                        <p:cTn id="29" dur="500" fill="hold"/>
                                        <p:tgtEl>
                                          <p:spTgt spid="7"/>
                                        </p:tgtEl>
                                        <p:attrNameLst>
                                          <p:attrName>ppt_y</p:attrName>
                                        </p:attrNameLst>
                                      </p:cBhvr>
                                      <p:tavLst>
                                        <p:tav tm="0">
                                          <p:val>
                                            <p:strVal val="#ppt_y+0.1"/>
                                          </p:val>
                                        </p:tav>
                                        <p:tav tm="100000">
                                          <p:val>
                                            <p:strVal val="#ppt_y"/>
                                          </p:val>
                                        </p:tav>
                                      </p:tavLst>
                                    </p:anim>
                                    <p:animEffect transition="in" filter="fade">
                                      <p:cBhvr>
                                        <p:cTn id="30" dur="500"/>
                                        <p:tgtEl>
                                          <p:spTgt spid="7"/>
                                        </p:tgtEl>
                                      </p:cBhvr>
                                    </p:animEffect>
                                  </p:childTnLst>
                                </p:cTn>
                              </p:par>
                              <p:par>
                                <p:cTn id="31" presetID="2" presetClass="entr" presetSubtype="4" fill="hold" grpId="0" nodeType="withEffect">
                                  <p:stCondLst>
                                    <p:cond delay="116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ppt_x</p:attrName>
                                        </p:attrNameLst>
                                      </p:cBhvr>
                                      <p:tavLst>
                                        <p:tav tm="0">
                                          <p:val>
                                            <p:strVal val="#ppt_x"/>
                                          </p:val>
                                        </p:tav>
                                        <p:tav tm="100000">
                                          <p:val>
                                            <p:strVal val="#ppt_x"/>
                                          </p:val>
                                        </p:tav>
                                      </p:tavLst>
                                    </p:anim>
                                    <p:anim calcmode="lin" valueType="num">
                                      <p:cBhvr additive="base">
                                        <p:cTn id="34" dur="500" fill="hold"/>
                                        <p:tgtEl>
                                          <p:spTgt spid="8"/>
                                        </p:tgtEl>
                                        <p:attrNameLst>
                                          <p:attrName>ppt_y</p:attrName>
                                        </p:attrNameLst>
                                      </p:cBhvr>
                                      <p:tavLst>
                                        <p:tav tm="0">
                                          <p:val>
                                            <p:strVal val="#ppt_y+0.1"/>
                                          </p:val>
                                        </p:tav>
                                        <p:tav tm="100000">
                                          <p:val>
                                            <p:strVal val="#ppt_y"/>
                                          </p:val>
                                        </p:tav>
                                      </p:tavLst>
                                    </p:anim>
                                    <p:animEffect transition="in" filter="fade">
                                      <p:cBhvr>
                                        <p:cTn id="35" dur="500"/>
                                        <p:tgtEl>
                                          <p:spTgt spid="8"/>
                                        </p:tgtEl>
                                      </p:cBhvr>
                                    </p:animEffect>
                                  </p:childTnLst>
                                </p:cTn>
                              </p:par>
                              <p:par>
                                <p:cTn id="36" presetID="2" presetClass="entr" presetSubtype="4" fill="hold" grpId="0" nodeType="withEffect">
                                  <p:stCondLst>
                                    <p:cond delay="1280"/>
                                  </p:stCondLst>
                                  <p:childTnLst>
                                    <p:set>
                                      <p:cBhvr>
                                        <p:cTn id="37" dur="1" fill="hold">
                                          <p:stCondLst>
                                            <p:cond delay="0"/>
                                          </p:stCondLst>
                                        </p:cTn>
                                        <p:tgtEl>
                                          <p:spTgt spid="9"/>
                                        </p:tgtEl>
                                        <p:attrNameLst>
                                          <p:attrName>style.visibility</p:attrName>
                                        </p:attrNameLst>
                                      </p:cBhvr>
                                      <p:to>
                                        <p:strVal val="visible"/>
                                      </p:to>
                                    </p:set>
                                    <p:anim calcmode="lin" valueType="num">
                                      <p:cBhvr additive="base">
                                        <p:cTn id="38" dur="500" fill="hold"/>
                                        <p:tgtEl>
                                          <p:spTgt spid="9"/>
                                        </p:tgtEl>
                                        <p:attrNameLst>
                                          <p:attrName>ppt_x</p:attrName>
                                        </p:attrNameLst>
                                      </p:cBhvr>
                                      <p:tavLst>
                                        <p:tav tm="0">
                                          <p:val>
                                            <p:strVal val="#ppt_x"/>
                                          </p:val>
                                        </p:tav>
                                        <p:tav tm="100000">
                                          <p:val>
                                            <p:strVal val="#ppt_x"/>
                                          </p:val>
                                        </p:tav>
                                      </p:tavLst>
                                    </p:anim>
                                    <p:anim calcmode="lin" valueType="num">
                                      <p:cBhvr additive="base">
                                        <p:cTn id="39" dur="500" fill="hold"/>
                                        <p:tgtEl>
                                          <p:spTgt spid="9"/>
                                        </p:tgtEl>
                                        <p:attrNameLst>
                                          <p:attrName>ppt_y</p:attrName>
                                        </p:attrNameLst>
                                      </p:cBhvr>
                                      <p:tavLst>
                                        <p:tav tm="0">
                                          <p:val>
                                            <p:strVal val="#ppt_y+0.1"/>
                                          </p:val>
                                        </p:tav>
                                        <p:tav tm="100000">
                                          <p:val>
                                            <p:strVal val="#ppt_y"/>
                                          </p:val>
                                        </p:tav>
                                      </p:tavLst>
                                    </p:anim>
                                    <p:animEffect transition="in" filter="fade">
                                      <p:cBhvr>
                                        <p:cTn id="40" dur="500"/>
                                        <p:tgtEl>
                                          <p:spTgt spid="9"/>
                                        </p:tgtEl>
                                      </p:cBhvr>
                                    </p:animEffect>
                                  </p:childTnLst>
                                </p:cTn>
                              </p:par>
                              <p:par>
                                <p:cTn id="41" presetID="2" presetClass="entr" presetSubtype="4" fill="hold" grpId="0" nodeType="withEffect">
                                  <p:stCondLst>
                                    <p:cond delay="1400"/>
                                  </p:stCondLst>
                                  <p:childTnLst>
                                    <p:set>
                                      <p:cBhvr>
                                        <p:cTn id="42" dur="1" fill="hold">
                                          <p:stCondLst>
                                            <p:cond delay="0"/>
                                          </p:stCondLst>
                                        </p:cTn>
                                        <p:tgtEl>
                                          <p:spTgt spid="10"/>
                                        </p:tgtEl>
                                        <p:attrNameLst>
                                          <p:attrName>style.visibility</p:attrName>
                                        </p:attrNameLst>
                                      </p:cBhvr>
                                      <p:to>
                                        <p:strVal val="visible"/>
                                      </p:to>
                                    </p:set>
                                    <p:anim calcmode="lin" valueType="num">
                                      <p:cBhvr additive="base">
                                        <p:cTn id="43" dur="500" fill="hold"/>
                                        <p:tgtEl>
                                          <p:spTgt spid="10"/>
                                        </p:tgtEl>
                                        <p:attrNameLst>
                                          <p:attrName>ppt_x</p:attrName>
                                        </p:attrNameLst>
                                      </p:cBhvr>
                                      <p:tavLst>
                                        <p:tav tm="0">
                                          <p:val>
                                            <p:strVal val="#ppt_x"/>
                                          </p:val>
                                        </p:tav>
                                        <p:tav tm="100000">
                                          <p:val>
                                            <p:strVal val="#ppt_x"/>
                                          </p:val>
                                        </p:tav>
                                      </p:tavLst>
                                    </p:anim>
                                    <p:anim calcmode="lin" valueType="num">
                                      <p:cBhvr additive="base">
                                        <p:cTn id="44" dur="500" fill="hold"/>
                                        <p:tgtEl>
                                          <p:spTgt spid="10"/>
                                        </p:tgtEl>
                                        <p:attrNameLst>
                                          <p:attrName>ppt_y</p:attrName>
                                        </p:attrNameLst>
                                      </p:cBhvr>
                                      <p:tavLst>
                                        <p:tav tm="0">
                                          <p:val>
                                            <p:strVal val="#ppt_y+0.1"/>
                                          </p:val>
                                        </p:tav>
                                        <p:tav tm="100000">
                                          <p:val>
                                            <p:strVal val="#ppt_y"/>
                                          </p:val>
                                        </p:tav>
                                      </p:tavLst>
                                    </p:anim>
                                    <p:animEffect transition="in" filter="fade">
                                      <p:cBhvr>
                                        <p:cTn id="45" dur="500"/>
                                        <p:tgtEl>
                                          <p:spTgt spid="10"/>
                                        </p:tgtEl>
                                      </p:cBhvr>
                                    </p:animEffect>
                                  </p:childTnLst>
                                </p:cTn>
                              </p:par>
                              <p:par>
                                <p:cTn id="46" presetID="10" presetClass="entr" presetSubtype="0" fill="hold" grpId="0" nodeType="withEffect">
                                  <p:stCondLst>
                                    <p:cond delay="30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500"/>
                                        <p:tgtEl>
                                          <p:spTgt spid="11"/>
                                        </p:tgtEl>
                                      </p:cBhvr>
                                    </p:animEffect>
                                  </p:childTnLst>
                                </p:cTn>
                              </p:par>
                              <p:par>
                                <p:cTn id="49" presetID="10" presetClass="entr" presetSubtype="0" fill="hold" grpId="0" nodeType="withEffect">
                                  <p:stCondLst>
                                    <p:cond delay="30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500"/>
                                        <p:tgtEl>
                                          <p:spTgt spid="12"/>
                                        </p:tgtEl>
                                      </p:cBhvr>
                                    </p:animEffect>
                                  </p:childTnLst>
                                </p:cTn>
                              </p:par>
                              <p:par>
                                <p:cTn id="52" presetID="10" presetClass="entr" presetSubtype="0" fill="hold" grpId="0" nodeType="withEffect">
                                  <p:stCondLst>
                                    <p:cond delay="30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500"/>
                                        <p:tgtEl>
                                          <p:spTgt spid="13"/>
                                        </p:tgtEl>
                                      </p:cBhvr>
                                    </p:animEffect>
                                  </p:childTnLst>
                                </p:cTn>
                              </p:par>
                              <p:par>
                                <p:cTn id="55" presetID="10" presetClass="entr" presetSubtype="0" fill="hold" grpId="0" nodeType="withEffect">
                                  <p:stCondLst>
                                    <p:cond delay="30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00"/>
                                        <p:tgtEl>
                                          <p:spTgt spid="14"/>
                                        </p:tgtEl>
                                      </p:cBhvr>
                                    </p:animEffect>
                                  </p:childTnLst>
                                </p:cTn>
                              </p:par>
                              <p:par>
                                <p:cTn id="58" presetID="10" presetClass="entr" presetSubtype="0" fill="hold" grpId="0" nodeType="withEffect">
                                  <p:stCondLst>
                                    <p:cond delay="30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30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par>
                                <p:cTn id="64" presetID="10" presetClass="entr" presetSubtype="0" fill="hold" grpId="0" nodeType="withEffect">
                                  <p:stCondLst>
                                    <p:cond delay="30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500"/>
                                        <p:tgtEl>
                                          <p:spTgt spid="17"/>
                                        </p:tgtEl>
                                      </p:cBhvr>
                                    </p:animEffect>
                                  </p:childTnLst>
                                </p:cTn>
                              </p:par>
                              <p:par>
                                <p:cTn id="67" presetID="10" presetClass="entr" presetSubtype="0" fill="hold" grpId="0" nodeType="withEffect">
                                  <p:stCondLst>
                                    <p:cond delay="300"/>
                                  </p:stCondLst>
                                  <p:childTnLst>
                                    <p:set>
                                      <p:cBhvr>
                                        <p:cTn id="68" dur="1" fill="hold">
                                          <p:stCondLst>
                                            <p:cond delay="0"/>
                                          </p:stCondLst>
                                        </p:cTn>
                                        <p:tgtEl>
                                          <p:spTgt spid="18"/>
                                        </p:tgtEl>
                                        <p:attrNameLst>
                                          <p:attrName>style.visibility</p:attrName>
                                        </p:attrNameLst>
                                      </p:cBhvr>
                                      <p:to>
                                        <p:strVal val="visible"/>
                                      </p:to>
                                    </p:set>
                                    <p:animEffect transition="in" filter="fade">
                                      <p:cBhvr>
                                        <p:cTn id="6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1"/>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The Business Problem</a:t>
            </a:r>
            <a:endParaRPr lang="en-US" sz="2800" dirty="0"/>
          </a:p>
        </p:txBody>
      </p:sp>
      <p:sp>
        <p:nvSpPr>
          <p:cNvPr id="3" name="Text 2"/>
          <p:cNvSpPr txBox="1"/>
          <p:nvPr/>
        </p:nvSpPr>
        <p:spPr>
          <a:xfrm>
            <a:off x="457200" y="749808"/>
            <a:ext cx="8229600" cy="320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Ticket ICICI-4577 — retire the branch customer master spreadsheet</a:t>
            </a:r>
            <a:endParaRPr lang="en-US" sz="1300" dirty="0"/>
          </a:p>
        </p:txBody>
      </p:sp>
      <p:sp>
        <p:nvSpPr>
          <p:cNvPr id="4" name="a1u_c3"/>
          <p:cNvSpPr/>
          <p:nvPr/>
        </p:nvSpPr>
        <p:spPr>
          <a:xfrm>
            <a:off x="457200" y="1234440"/>
            <a:ext cx="4023360" cy="2148840"/>
          </a:xfrm>
          <a:prstGeom prst="roundRect">
            <a:avLst>
              <a:gd name="adj" fmla="val 6000"/>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sp>
        <p:nvSpPr>
          <p:cNvPr id="5" name="a1u_tk4"/>
          <p:cNvSpPr txBox="1"/>
          <p:nvPr/>
        </p:nvSpPr>
        <p:spPr>
          <a:xfrm>
            <a:off x="640080" y="1325880"/>
            <a:ext cx="3657600" cy="320040"/>
          </a:xfrm>
          <a:prstGeom prst="rect">
            <a:avLst/>
          </a:prstGeom>
          <a:noFill/>
          <a:ln/>
        </p:spPr>
        <p:txBody>
          <a:bodyPr wrap="square" lIns="0" tIns="0" rIns="0" bIns="0" rtlCol="0" anchor="ctr"/>
          <a:lstStyle/>
          <a:p>
            <a:pPr marL="0" indent="0">
              <a:buNone/>
            </a:pPr>
            <a:r>
              <a:rPr lang="en-US" sz="1100" b="1" kern="0" spc="150" dirty="0">
                <a:solidFill>
                  <a:srgbClr val="6D28D9"/>
                </a:solidFill>
                <a:latin typeface="Calibri" pitchFamily="34" charset="0"/>
                <a:ea typeface="Calibri" pitchFamily="34" charset="-122"/>
                <a:cs typeface="Calibri" pitchFamily="34" charset="-120"/>
              </a:rPr>
              <a:t>TICKET ICICI-4577</a:t>
            </a:r>
            <a:endParaRPr lang="en-US" sz="1100" dirty="0"/>
          </a:p>
        </p:txBody>
      </p:sp>
      <p:sp>
        <p:nvSpPr>
          <p:cNvPr id="6" name="a1u_q5"/>
          <p:cNvSpPr txBox="1"/>
          <p:nvPr/>
        </p:nvSpPr>
        <p:spPr>
          <a:xfrm>
            <a:off x="640080" y="1691640"/>
            <a:ext cx="3657600" cy="1645920"/>
          </a:xfrm>
          <a:prstGeom prst="rect">
            <a:avLst/>
          </a:prstGeom>
          <a:noFill/>
          <a:ln/>
        </p:spPr>
        <p:txBody>
          <a:bodyPr wrap="square" lIns="0" tIns="0" rIns="0" bIns="0" rtlCol="0" anchor="t"/>
          <a:lstStyle/>
          <a:p>
            <a:pPr marL="0" indent="0">
              <a:buNone/>
            </a:pPr>
            <a:r>
              <a:rPr lang="en-US" sz="1250" i="1" dirty="0">
                <a:solidFill>
                  <a:srgbClr val="334155"/>
                </a:solidFill>
                <a:latin typeface="Calibri" pitchFamily="34" charset="0"/>
                <a:ea typeface="Calibri" pitchFamily="34" charset="-122"/>
                <a:cs typeface="Calibri" pitchFamily="34" charset="-120"/>
              </a:rPr>
              <a:t>Every branch maintains CUSTOMER_MASTER.xls. It has been loaded into the database as one wide table, and three reports now read it. </a:t>
            </a:r>
            <a:r>
              <a:rPr lang="en-US" sz="1250" b="1" i="1" dirty="0">
                <a:solidFill>
                  <a:srgbClr val="0F172A"/>
                </a:solidFill>
                <a:latin typeface="Calibri" pitchFamily="34" charset="0"/>
                <a:ea typeface="Calibri" pitchFamily="34" charset="-122"/>
                <a:cs typeface="Calibri" pitchFamily="34" charset="-120"/>
              </a:rPr>
              <a:t>Fix the design, and produce a proper ER model so this cannot happen again with the new credit card system.</a:t>
            </a:r>
            <a:endParaRPr lang="en-US" sz="1250" dirty="0"/>
          </a:p>
        </p:txBody>
      </p:sp>
      <p:sp>
        <p:nvSpPr>
          <p:cNvPr id="7" name="a2u_f6"/>
          <p:cNvSpPr/>
          <p:nvPr/>
        </p:nvSpPr>
        <p:spPr>
          <a:xfrm>
            <a:off x="4663440" y="1234440"/>
            <a:ext cx="4023360" cy="960120"/>
          </a:xfrm>
          <a:prstGeom prst="roundRect">
            <a:avLst>
              <a:gd name="adj" fmla="val 6000"/>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sp>
        <p:nvSpPr>
          <p:cNvPr id="8" name="a2u_n7"/>
          <p:cNvSpPr txBox="1"/>
          <p:nvPr/>
        </p:nvSpPr>
        <p:spPr>
          <a:xfrm>
            <a:off x="4846320" y="1490472"/>
            <a:ext cx="420624" cy="420624"/>
          </a:xfrm>
          <a:prstGeom prst="ellipse">
            <a:avLst/>
          </a:prstGeom>
          <a:solidFill>
            <a:srgbClr val="DC2626"/>
          </a:solidFill>
          <a:ln w="12700">
            <a:solidFill>
              <a:srgbClr val="DC2626"/>
            </a:solidFill>
            <a:prstDash val="solid"/>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a2u_h8"/>
          <p:cNvSpPr txBox="1"/>
          <p:nvPr/>
        </p:nvSpPr>
        <p:spPr>
          <a:xfrm>
            <a:off x="5440680" y="1362456"/>
            <a:ext cx="3108960" cy="320040"/>
          </a:xfrm>
          <a:prstGeom prst="rect">
            <a:avLst/>
          </a:prstGeom>
          <a:noFill/>
          <a:ln/>
        </p:spPr>
        <p:txBody>
          <a:bodyPr wrap="square" lIns="0" tIns="0" rIns="0" bIns="0" rtlCol="0" anchor="ctr"/>
          <a:lstStyle/>
          <a:p>
            <a:pPr marL="0" indent="0">
              <a:buNone/>
            </a:pPr>
            <a:r>
              <a:rPr lang="en-US" sz="1250" b="1" dirty="0">
                <a:solidFill>
                  <a:srgbClr val="0F172A"/>
                </a:solidFill>
                <a:latin typeface="Calibri" pitchFamily="34" charset="0"/>
                <a:ea typeface="Calibri" pitchFamily="34" charset="-122"/>
                <a:cs typeface="Calibri" pitchFamily="34" charset="-120"/>
              </a:rPr>
              <a:t>Audit finding: One branch, several spellings</a:t>
            </a:r>
            <a:endParaRPr lang="en-US" sz="1250" dirty="0"/>
          </a:p>
        </p:txBody>
      </p:sp>
      <p:sp>
        <p:nvSpPr>
          <p:cNvPr id="10" name="a2u_d9"/>
          <p:cNvSpPr txBox="1"/>
          <p:nvPr/>
        </p:nvSpPr>
        <p:spPr>
          <a:xfrm>
            <a:off x="5440680" y="1691640"/>
            <a:ext cx="3108960" cy="41148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BR03 appears as Koramangala, Koramangla, Kormangala …</a:t>
            </a:r>
            <a:endParaRPr lang="en-US" sz="1100" dirty="0"/>
          </a:p>
        </p:txBody>
      </p:sp>
      <p:sp>
        <p:nvSpPr>
          <p:cNvPr id="11" name="a3u_f10"/>
          <p:cNvSpPr/>
          <p:nvPr/>
        </p:nvSpPr>
        <p:spPr>
          <a:xfrm>
            <a:off x="4663440" y="2331720"/>
            <a:ext cx="4023360" cy="960120"/>
          </a:xfrm>
          <a:prstGeom prst="roundRect">
            <a:avLst>
              <a:gd name="adj" fmla="val 6000"/>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sp>
        <p:nvSpPr>
          <p:cNvPr id="12" name="a3u_n11"/>
          <p:cNvSpPr txBox="1"/>
          <p:nvPr/>
        </p:nvSpPr>
        <p:spPr>
          <a:xfrm>
            <a:off x="4846320" y="2587752"/>
            <a:ext cx="420624" cy="420624"/>
          </a:xfrm>
          <a:prstGeom prst="ellipse">
            <a:avLst/>
          </a:prstGeom>
          <a:solidFill>
            <a:srgbClr val="DC2626"/>
          </a:solidFill>
          <a:ln w="12700">
            <a:solidFill>
              <a:srgbClr val="DC2626"/>
            </a:solidFill>
            <a:prstDash val="solid"/>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a3u_h12"/>
          <p:cNvSpPr txBox="1"/>
          <p:nvPr/>
        </p:nvSpPr>
        <p:spPr>
          <a:xfrm>
            <a:off x="5440680" y="2459736"/>
            <a:ext cx="3108960" cy="320040"/>
          </a:xfrm>
          <a:prstGeom prst="rect">
            <a:avLst/>
          </a:prstGeom>
          <a:noFill/>
          <a:ln/>
        </p:spPr>
        <p:txBody>
          <a:bodyPr wrap="square" lIns="0" tIns="0" rIns="0" bIns="0" rtlCol="0" anchor="ctr"/>
          <a:lstStyle/>
          <a:p>
            <a:pPr marL="0" indent="0">
              <a:buNone/>
            </a:pPr>
            <a:r>
              <a:rPr lang="en-US" sz="1250" b="1" dirty="0">
                <a:solidFill>
                  <a:srgbClr val="0F172A"/>
                </a:solidFill>
                <a:latin typeface="Calibri" pitchFamily="34" charset="0"/>
                <a:ea typeface="Calibri" pitchFamily="34" charset="-122"/>
                <a:cs typeface="Calibri" pitchFamily="34" charset="-120"/>
              </a:rPr>
              <a:t>Audit finding: Closing an account deleted a phone number</a:t>
            </a:r>
            <a:endParaRPr lang="en-US" sz="1250" dirty="0"/>
          </a:p>
        </p:txBody>
      </p:sp>
      <p:sp>
        <p:nvSpPr>
          <p:cNvPr id="14" name="a3u_d13"/>
          <p:cNvSpPr txBox="1"/>
          <p:nvPr/>
        </p:nvSpPr>
        <p:spPr>
          <a:xfrm>
            <a:off x="5440680" y="2788920"/>
            <a:ext cx="3108960" cy="41148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The customer vanished together with the account row.</a:t>
            </a:r>
            <a:endParaRPr lang="en-US" sz="1100" dirty="0"/>
          </a:p>
        </p:txBody>
      </p:sp>
      <p:sp>
        <p:nvSpPr>
          <p:cNvPr id="15" name="a4u_tb14"/>
          <p:cNvSpPr/>
          <p:nvPr/>
        </p:nvSpPr>
        <p:spPr>
          <a:xfrm>
            <a:off x="457200" y="3611880"/>
            <a:ext cx="8229600" cy="960120"/>
          </a:xfrm>
          <a:prstGeom prst="roundRect">
            <a:avLst>
              <a:gd name="adj" fmla="val 5926"/>
            </a:avLst>
          </a:prstGeom>
          <a:solidFill>
            <a:srgbClr val="6D28D9"/>
          </a:solidFill>
          <a:ln w="12700">
            <a:solidFill>
              <a:srgbClr val="6D28D9"/>
            </a:solidFill>
            <a:prstDash val="solid"/>
          </a:ln>
        </p:spPr>
      </p:sp>
      <p:sp>
        <p:nvSpPr>
          <p:cNvPr id="16" name="a4u_tt15"/>
          <p:cNvSpPr txBox="1"/>
          <p:nvPr/>
        </p:nvSpPr>
        <p:spPr>
          <a:xfrm>
            <a:off x="640080" y="3611880"/>
            <a:ext cx="7909560" cy="9601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Goal: a design in which both findings are impossible — not a one-off clean-up that decays again next month.</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ppt_y+0.1"/>
                                          </p:val>
                                        </p:tav>
                                        <p:tav tm="100000">
                                          <p:val>
                                            <p:strVal val="#ppt_y"/>
                                          </p:val>
                                        </p:tav>
                                      </p:tavLst>
                                    </p:anim>
                                    <p:animEffect transition="in" filter="fade">
                                      <p:cBhvr>
                                        <p:cTn id="9" dur="500"/>
                                        <p:tgtEl>
                                          <p:spTgt spid="4"/>
                                        </p:tgtEl>
                                      </p:cBhvr>
                                    </p:animEffect>
                                  </p:childTnLst>
                                </p:cTn>
                              </p:par>
                              <p:par>
                                <p:cTn id="10" presetID="2" presetClass="entr" presetSubtype="4"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ppt_y+0.1"/>
                                          </p:val>
                                        </p:tav>
                                        <p:tav tm="100000">
                                          <p:val>
                                            <p:strVal val="#ppt_y"/>
                                          </p:val>
                                        </p:tav>
                                      </p:tavLst>
                                    </p:anim>
                                    <p:animEffect transition="in" filter="fade">
                                      <p:cBhvr>
                                        <p:cTn id="14" dur="500"/>
                                        <p:tgtEl>
                                          <p:spTgt spid="5"/>
                                        </p:tgtEl>
                                      </p:cBhvr>
                                    </p:animEffect>
                                  </p:childTnLst>
                                </p:cTn>
                              </p:par>
                              <p:par>
                                <p:cTn id="15" presetID="2" presetClass="entr" presetSubtype="4"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ppt_y+0.1"/>
                                          </p:val>
                                        </p:tav>
                                        <p:tav tm="100000">
                                          <p:val>
                                            <p:strVal val="#ppt_y"/>
                                          </p:val>
                                        </p:tav>
                                      </p:tavLst>
                                    </p:anim>
                                    <p:animEffect transition="in" filter="fade">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ppt_x</p:attrName>
                                        </p:attrNameLst>
                                      </p:cBhvr>
                                      <p:tavLst>
                                        <p:tav tm="0">
                                          <p:val>
                                            <p:strVal val="#ppt_x"/>
                                          </p:val>
                                        </p:tav>
                                        <p:tav tm="100000">
                                          <p:val>
                                            <p:strVal val="#ppt_x"/>
                                          </p:val>
                                        </p:tav>
                                      </p:tavLst>
                                    </p:anim>
                                    <p:anim calcmode="lin" valueType="num">
                                      <p:cBhvr additive="base">
                                        <p:cTn id="25" dur="500" fill="hold"/>
                                        <p:tgtEl>
                                          <p:spTgt spid="7"/>
                                        </p:tgtEl>
                                        <p:attrNameLst>
                                          <p:attrName>ppt_y</p:attrName>
                                        </p:attrNameLst>
                                      </p:cBhvr>
                                      <p:tavLst>
                                        <p:tav tm="0">
                                          <p:val>
                                            <p:strVal val="#ppt_y+0.1"/>
                                          </p:val>
                                        </p:tav>
                                        <p:tav tm="100000">
                                          <p:val>
                                            <p:strVal val="#ppt_y"/>
                                          </p:val>
                                        </p:tav>
                                      </p:tavLst>
                                    </p:anim>
                                    <p:animEffect transition="in" filter="fade">
                                      <p:cBhvr>
                                        <p:cTn id="26" dur="500"/>
                                        <p:tgtEl>
                                          <p:spTgt spid="7"/>
                                        </p:tgtEl>
                                      </p:cBhvr>
                                    </p:animEffect>
                                  </p:childTnLst>
                                </p:cTn>
                              </p:par>
                              <p:par>
                                <p:cTn id="27" presetID="2" presetClass="entr" presetSubtype="4"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ppt_x"/>
                                          </p:val>
                                        </p:tav>
                                        <p:tav tm="100000">
                                          <p:val>
                                            <p:strVal val="#ppt_x"/>
                                          </p:val>
                                        </p:tav>
                                      </p:tavLst>
                                    </p:anim>
                                    <p:anim calcmode="lin" valueType="num">
                                      <p:cBhvr additive="base">
                                        <p:cTn id="30" dur="500" fill="hold"/>
                                        <p:tgtEl>
                                          <p:spTgt spid="8"/>
                                        </p:tgtEl>
                                        <p:attrNameLst>
                                          <p:attrName>ppt_y</p:attrName>
                                        </p:attrNameLst>
                                      </p:cBhvr>
                                      <p:tavLst>
                                        <p:tav tm="0">
                                          <p:val>
                                            <p:strVal val="#ppt_y+0.1"/>
                                          </p:val>
                                        </p:tav>
                                        <p:tav tm="100000">
                                          <p:val>
                                            <p:strVal val="#ppt_y"/>
                                          </p:val>
                                        </p:tav>
                                      </p:tavLst>
                                    </p:anim>
                                    <p:animEffect transition="in" filter="fade">
                                      <p:cBhvr>
                                        <p:cTn id="31" dur="500"/>
                                        <p:tgtEl>
                                          <p:spTgt spid="8"/>
                                        </p:tgtEl>
                                      </p:cBhvr>
                                    </p:animEffect>
                                  </p:childTnLst>
                                </p:cTn>
                              </p:par>
                              <p:par>
                                <p:cTn id="32" presetID="2" presetClass="entr" presetSubtype="4"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500" fill="hold"/>
                                        <p:tgtEl>
                                          <p:spTgt spid="9"/>
                                        </p:tgtEl>
                                        <p:attrNameLst>
                                          <p:attrName>ppt_x</p:attrName>
                                        </p:attrNameLst>
                                      </p:cBhvr>
                                      <p:tavLst>
                                        <p:tav tm="0">
                                          <p:val>
                                            <p:strVal val="#ppt_x"/>
                                          </p:val>
                                        </p:tav>
                                        <p:tav tm="100000">
                                          <p:val>
                                            <p:strVal val="#ppt_x"/>
                                          </p:val>
                                        </p:tav>
                                      </p:tavLst>
                                    </p:anim>
                                    <p:anim calcmode="lin" valueType="num">
                                      <p:cBhvr additive="base">
                                        <p:cTn id="35" dur="500" fill="hold"/>
                                        <p:tgtEl>
                                          <p:spTgt spid="9"/>
                                        </p:tgtEl>
                                        <p:attrNameLst>
                                          <p:attrName>ppt_y</p:attrName>
                                        </p:attrNameLst>
                                      </p:cBhvr>
                                      <p:tavLst>
                                        <p:tav tm="0">
                                          <p:val>
                                            <p:strVal val="#ppt_y+0.1"/>
                                          </p:val>
                                        </p:tav>
                                        <p:tav tm="100000">
                                          <p:val>
                                            <p:strVal val="#ppt_y"/>
                                          </p:val>
                                        </p:tav>
                                      </p:tavLst>
                                    </p:anim>
                                    <p:animEffect transition="in" filter="fade">
                                      <p:cBhvr>
                                        <p:cTn id="36" dur="500"/>
                                        <p:tgtEl>
                                          <p:spTgt spid="9"/>
                                        </p:tgtEl>
                                      </p:cBhvr>
                                    </p:animEffect>
                                  </p:childTnLst>
                                </p:cTn>
                              </p:par>
                              <p:par>
                                <p:cTn id="37" presetID="2" presetClass="entr" presetSubtype="4"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500" fill="hold"/>
                                        <p:tgtEl>
                                          <p:spTgt spid="10"/>
                                        </p:tgtEl>
                                        <p:attrNameLst>
                                          <p:attrName>ppt_x</p:attrName>
                                        </p:attrNameLst>
                                      </p:cBhvr>
                                      <p:tavLst>
                                        <p:tav tm="0">
                                          <p:val>
                                            <p:strVal val="#ppt_x"/>
                                          </p:val>
                                        </p:tav>
                                        <p:tav tm="100000">
                                          <p:val>
                                            <p:strVal val="#ppt_x"/>
                                          </p:val>
                                        </p:tav>
                                      </p:tavLst>
                                    </p:anim>
                                    <p:anim calcmode="lin" valueType="num">
                                      <p:cBhvr additive="base">
                                        <p:cTn id="40" dur="500" fill="hold"/>
                                        <p:tgtEl>
                                          <p:spTgt spid="10"/>
                                        </p:tgtEl>
                                        <p:attrNameLst>
                                          <p:attrName>ppt_y</p:attrName>
                                        </p:attrNameLst>
                                      </p:cBhvr>
                                      <p:tavLst>
                                        <p:tav tm="0">
                                          <p:val>
                                            <p:strVal val="#ppt_y+0.1"/>
                                          </p:val>
                                        </p:tav>
                                        <p:tav tm="100000">
                                          <p:val>
                                            <p:strVal val="#ppt_y"/>
                                          </p:val>
                                        </p:tav>
                                      </p:tavLst>
                                    </p:anim>
                                    <p:animEffect transition="in" filter="fade">
                                      <p:cBhvr>
                                        <p:cTn id="41" dur="500"/>
                                        <p:tgtEl>
                                          <p:spTgt spid="10"/>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11"/>
                                        </p:tgtEl>
                                        <p:attrNameLst>
                                          <p:attrName>style.visibility</p:attrName>
                                        </p:attrNameLst>
                                      </p:cBhvr>
                                      <p:to>
                                        <p:strVal val="visible"/>
                                      </p:to>
                                    </p:set>
                                    <p:anim calcmode="lin" valueType="num">
                                      <p:cBhvr additive="base">
                                        <p:cTn id="46" dur="500" fill="hold"/>
                                        <p:tgtEl>
                                          <p:spTgt spid="11"/>
                                        </p:tgtEl>
                                        <p:attrNameLst>
                                          <p:attrName>ppt_x</p:attrName>
                                        </p:attrNameLst>
                                      </p:cBhvr>
                                      <p:tavLst>
                                        <p:tav tm="0">
                                          <p:val>
                                            <p:strVal val="#ppt_x"/>
                                          </p:val>
                                        </p:tav>
                                        <p:tav tm="100000">
                                          <p:val>
                                            <p:strVal val="#ppt_x"/>
                                          </p:val>
                                        </p:tav>
                                      </p:tavLst>
                                    </p:anim>
                                    <p:anim calcmode="lin" valueType="num">
                                      <p:cBhvr additive="base">
                                        <p:cTn id="47" dur="500" fill="hold"/>
                                        <p:tgtEl>
                                          <p:spTgt spid="11"/>
                                        </p:tgtEl>
                                        <p:attrNameLst>
                                          <p:attrName>ppt_y</p:attrName>
                                        </p:attrNameLst>
                                      </p:cBhvr>
                                      <p:tavLst>
                                        <p:tav tm="0">
                                          <p:val>
                                            <p:strVal val="#ppt_y+0.1"/>
                                          </p:val>
                                        </p:tav>
                                        <p:tav tm="100000">
                                          <p:val>
                                            <p:strVal val="#ppt_y"/>
                                          </p:val>
                                        </p:tav>
                                      </p:tavLst>
                                    </p:anim>
                                    <p:animEffect transition="in" filter="fade">
                                      <p:cBhvr>
                                        <p:cTn id="48" dur="500"/>
                                        <p:tgtEl>
                                          <p:spTgt spid="11"/>
                                        </p:tgtEl>
                                      </p:cBhvr>
                                    </p:animEffect>
                                  </p:childTnLst>
                                </p:cTn>
                              </p:par>
                              <p:par>
                                <p:cTn id="49" presetID="2" presetClass="entr" presetSubtype="4"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anim calcmode="lin" valueType="num">
                                      <p:cBhvr additive="base">
                                        <p:cTn id="51" dur="500" fill="hold"/>
                                        <p:tgtEl>
                                          <p:spTgt spid="12"/>
                                        </p:tgtEl>
                                        <p:attrNameLst>
                                          <p:attrName>ppt_x</p:attrName>
                                        </p:attrNameLst>
                                      </p:cBhvr>
                                      <p:tavLst>
                                        <p:tav tm="0">
                                          <p:val>
                                            <p:strVal val="#ppt_x"/>
                                          </p:val>
                                        </p:tav>
                                        <p:tav tm="100000">
                                          <p:val>
                                            <p:strVal val="#ppt_x"/>
                                          </p:val>
                                        </p:tav>
                                      </p:tavLst>
                                    </p:anim>
                                    <p:anim calcmode="lin" valueType="num">
                                      <p:cBhvr additive="base">
                                        <p:cTn id="52" dur="500" fill="hold"/>
                                        <p:tgtEl>
                                          <p:spTgt spid="12"/>
                                        </p:tgtEl>
                                        <p:attrNameLst>
                                          <p:attrName>ppt_y</p:attrName>
                                        </p:attrNameLst>
                                      </p:cBhvr>
                                      <p:tavLst>
                                        <p:tav tm="0">
                                          <p:val>
                                            <p:strVal val="#ppt_y+0.1"/>
                                          </p:val>
                                        </p:tav>
                                        <p:tav tm="100000">
                                          <p:val>
                                            <p:strVal val="#ppt_y"/>
                                          </p:val>
                                        </p:tav>
                                      </p:tavLst>
                                    </p:anim>
                                    <p:animEffect transition="in" filter="fade">
                                      <p:cBhvr>
                                        <p:cTn id="53" dur="500"/>
                                        <p:tgtEl>
                                          <p:spTgt spid="12"/>
                                        </p:tgtEl>
                                      </p:cBhvr>
                                    </p:animEffect>
                                  </p:childTnLst>
                                </p:cTn>
                              </p:par>
                              <p:par>
                                <p:cTn id="54" presetID="2" presetClass="entr" presetSubtype="4" fill="hold" grpId="0" nodeType="withEffect">
                                  <p:stCondLst>
                                    <p:cond delay="0"/>
                                  </p:stCondLst>
                                  <p:childTnLst>
                                    <p:set>
                                      <p:cBhvr>
                                        <p:cTn id="55" dur="1" fill="hold">
                                          <p:stCondLst>
                                            <p:cond delay="0"/>
                                          </p:stCondLst>
                                        </p:cTn>
                                        <p:tgtEl>
                                          <p:spTgt spid="13"/>
                                        </p:tgtEl>
                                        <p:attrNameLst>
                                          <p:attrName>style.visibility</p:attrName>
                                        </p:attrNameLst>
                                      </p:cBhvr>
                                      <p:to>
                                        <p:strVal val="visible"/>
                                      </p:to>
                                    </p:set>
                                    <p:anim calcmode="lin" valueType="num">
                                      <p:cBhvr additive="base">
                                        <p:cTn id="56" dur="500" fill="hold"/>
                                        <p:tgtEl>
                                          <p:spTgt spid="13"/>
                                        </p:tgtEl>
                                        <p:attrNameLst>
                                          <p:attrName>ppt_x</p:attrName>
                                        </p:attrNameLst>
                                      </p:cBhvr>
                                      <p:tavLst>
                                        <p:tav tm="0">
                                          <p:val>
                                            <p:strVal val="#ppt_x"/>
                                          </p:val>
                                        </p:tav>
                                        <p:tav tm="100000">
                                          <p:val>
                                            <p:strVal val="#ppt_x"/>
                                          </p:val>
                                        </p:tav>
                                      </p:tavLst>
                                    </p:anim>
                                    <p:anim calcmode="lin" valueType="num">
                                      <p:cBhvr additive="base">
                                        <p:cTn id="57" dur="500" fill="hold"/>
                                        <p:tgtEl>
                                          <p:spTgt spid="13"/>
                                        </p:tgtEl>
                                        <p:attrNameLst>
                                          <p:attrName>ppt_y</p:attrName>
                                        </p:attrNameLst>
                                      </p:cBhvr>
                                      <p:tavLst>
                                        <p:tav tm="0">
                                          <p:val>
                                            <p:strVal val="#ppt_y+0.1"/>
                                          </p:val>
                                        </p:tav>
                                        <p:tav tm="100000">
                                          <p:val>
                                            <p:strVal val="#ppt_y"/>
                                          </p:val>
                                        </p:tav>
                                      </p:tavLst>
                                    </p:anim>
                                    <p:animEffect transition="in" filter="fade">
                                      <p:cBhvr>
                                        <p:cTn id="58" dur="500"/>
                                        <p:tgtEl>
                                          <p:spTgt spid="13"/>
                                        </p:tgtEl>
                                      </p:cBhvr>
                                    </p:animEffect>
                                  </p:childTnLst>
                                </p:cTn>
                              </p:par>
                              <p:par>
                                <p:cTn id="59" presetID="2" presetClass="entr" presetSubtype="4"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 calcmode="lin" valueType="num">
                                      <p:cBhvr additive="base">
                                        <p:cTn id="61" dur="500" fill="hold"/>
                                        <p:tgtEl>
                                          <p:spTgt spid="14"/>
                                        </p:tgtEl>
                                        <p:attrNameLst>
                                          <p:attrName>ppt_x</p:attrName>
                                        </p:attrNameLst>
                                      </p:cBhvr>
                                      <p:tavLst>
                                        <p:tav tm="0">
                                          <p:val>
                                            <p:strVal val="#ppt_x"/>
                                          </p:val>
                                        </p:tav>
                                        <p:tav tm="100000">
                                          <p:val>
                                            <p:strVal val="#ppt_x"/>
                                          </p:val>
                                        </p:tav>
                                      </p:tavLst>
                                    </p:anim>
                                    <p:anim calcmode="lin" valueType="num">
                                      <p:cBhvr additive="base">
                                        <p:cTn id="62" dur="500" fill="hold"/>
                                        <p:tgtEl>
                                          <p:spTgt spid="14"/>
                                        </p:tgtEl>
                                        <p:attrNameLst>
                                          <p:attrName>ppt_y</p:attrName>
                                        </p:attrNameLst>
                                      </p:cBhvr>
                                      <p:tavLst>
                                        <p:tav tm="0">
                                          <p:val>
                                            <p:strVal val="#ppt_y+0.1"/>
                                          </p:val>
                                        </p:tav>
                                        <p:tav tm="100000">
                                          <p:val>
                                            <p:strVal val="#ppt_y"/>
                                          </p:val>
                                        </p:tav>
                                      </p:tavLst>
                                    </p:anim>
                                    <p:animEffect transition="in" filter="fade">
                                      <p:cBhvr>
                                        <p:cTn id="63" dur="500"/>
                                        <p:tgtEl>
                                          <p:spTgt spid="14"/>
                                        </p:tgtEl>
                                      </p:cBhvr>
                                    </p:animEffect>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grpId="0" nodeType="clickEffect">
                                  <p:stCondLst>
                                    <p:cond delay="0"/>
                                  </p:stCondLst>
                                  <p:childTnLst>
                                    <p:set>
                                      <p:cBhvr>
                                        <p:cTn id="67" dur="1" fill="hold">
                                          <p:stCondLst>
                                            <p:cond delay="0"/>
                                          </p:stCondLst>
                                        </p:cTn>
                                        <p:tgtEl>
                                          <p:spTgt spid="15"/>
                                        </p:tgtEl>
                                        <p:attrNameLst>
                                          <p:attrName>style.visibility</p:attrName>
                                        </p:attrNameLst>
                                      </p:cBhvr>
                                      <p:to>
                                        <p:strVal val="visible"/>
                                      </p:to>
                                    </p:set>
                                    <p:anim calcmode="lin" valueType="num">
                                      <p:cBhvr additive="base">
                                        <p:cTn id="68" dur="500" fill="hold"/>
                                        <p:tgtEl>
                                          <p:spTgt spid="15"/>
                                        </p:tgtEl>
                                        <p:attrNameLst>
                                          <p:attrName>ppt_x</p:attrName>
                                        </p:attrNameLst>
                                      </p:cBhvr>
                                      <p:tavLst>
                                        <p:tav tm="0">
                                          <p:val>
                                            <p:strVal val="#ppt_x"/>
                                          </p:val>
                                        </p:tav>
                                        <p:tav tm="100000">
                                          <p:val>
                                            <p:strVal val="#ppt_x"/>
                                          </p:val>
                                        </p:tav>
                                      </p:tavLst>
                                    </p:anim>
                                    <p:anim calcmode="lin" valueType="num">
                                      <p:cBhvr additive="base">
                                        <p:cTn id="69" dur="500" fill="hold"/>
                                        <p:tgtEl>
                                          <p:spTgt spid="15"/>
                                        </p:tgtEl>
                                        <p:attrNameLst>
                                          <p:attrName>ppt_y</p:attrName>
                                        </p:attrNameLst>
                                      </p:cBhvr>
                                      <p:tavLst>
                                        <p:tav tm="0">
                                          <p:val>
                                            <p:strVal val="#ppt_y+0.1"/>
                                          </p:val>
                                        </p:tav>
                                        <p:tav tm="100000">
                                          <p:val>
                                            <p:strVal val="#ppt_y"/>
                                          </p:val>
                                        </p:tav>
                                      </p:tavLst>
                                    </p:anim>
                                    <p:animEffect transition="in" filter="fade">
                                      <p:cBhvr>
                                        <p:cTn id="70" dur="500"/>
                                        <p:tgtEl>
                                          <p:spTgt spid="15"/>
                                        </p:tgtEl>
                                      </p:cBhvr>
                                    </p:animEffect>
                                  </p:childTnLst>
                                </p:cTn>
                              </p:par>
                              <p:par>
                                <p:cTn id="71" presetID="2" presetClass="entr" presetSubtype="4" fill="hold" grpId="0" nodeType="withEffect">
                                  <p:stCondLst>
                                    <p:cond delay="0"/>
                                  </p:stCondLst>
                                  <p:childTnLst>
                                    <p:set>
                                      <p:cBhvr>
                                        <p:cTn id="72" dur="1" fill="hold">
                                          <p:stCondLst>
                                            <p:cond delay="0"/>
                                          </p:stCondLst>
                                        </p:cTn>
                                        <p:tgtEl>
                                          <p:spTgt spid="16"/>
                                        </p:tgtEl>
                                        <p:attrNameLst>
                                          <p:attrName>style.visibility</p:attrName>
                                        </p:attrNameLst>
                                      </p:cBhvr>
                                      <p:to>
                                        <p:strVal val="visible"/>
                                      </p:to>
                                    </p:set>
                                    <p:anim calcmode="lin" valueType="num">
                                      <p:cBhvr additive="base">
                                        <p:cTn id="73" dur="500" fill="hold"/>
                                        <p:tgtEl>
                                          <p:spTgt spid="16"/>
                                        </p:tgtEl>
                                        <p:attrNameLst>
                                          <p:attrName>ppt_x</p:attrName>
                                        </p:attrNameLst>
                                      </p:cBhvr>
                                      <p:tavLst>
                                        <p:tav tm="0">
                                          <p:val>
                                            <p:strVal val="#ppt_x"/>
                                          </p:val>
                                        </p:tav>
                                        <p:tav tm="100000">
                                          <p:val>
                                            <p:strVal val="#ppt_x"/>
                                          </p:val>
                                        </p:tav>
                                      </p:tavLst>
                                    </p:anim>
                                    <p:anim calcmode="lin" valueType="num">
                                      <p:cBhvr additive="base">
                                        <p:cTn id="74" dur="500" fill="hold"/>
                                        <p:tgtEl>
                                          <p:spTgt spid="16"/>
                                        </p:tgtEl>
                                        <p:attrNameLst>
                                          <p:attrName>ppt_y</p:attrName>
                                        </p:attrNameLst>
                                      </p:cBhvr>
                                      <p:tavLst>
                                        <p:tav tm="0">
                                          <p:val>
                                            <p:strVal val="#ppt_y+0.1"/>
                                          </p:val>
                                        </p:tav>
                                        <p:tav tm="100000">
                                          <p:val>
                                            <p:strVal val="#ppt_y"/>
                                          </p:val>
                                        </p:tav>
                                      </p:tavLst>
                                    </p:anim>
                                    <p:animEffect transition="in" filter="fade">
                                      <p:cBhvr>
                                        <p:cTn id="7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1"/>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What We Will Cover</a:t>
            </a:r>
            <a:endParaRPr lang="en-US" sz="2800" dirty="0"/>
          </a:p>
        </p:txBody>
      </p:sp>
      <p:sp>
        <p:nvSpPr>
          <p:cNvPr id="3" name="Text 2"/>
          <p:cNvSpPr txBox="1"/>
          <p:nvPr/>
        </p:nvSpPr>
        <p:spPr>
          <a:xfrm>
            <a:off x="457200" y="749808"/>
            <a:ext cx="8229600" cy="320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Six steps from a broken spreadsheet to a design you can defend in an audit</a:t>
            </a:r>
            <a:endParaRPr lang="en-US" sz="1300" dirty="0"/>
          </a:p>
        </p:txBody>
      </p:sp>
      <p:sp>
        <p:nvSpPr>
          <p:cNvPr id="4" name="a1u_c3"/>
          <p:cNvSpPr/>
          <p:nvPr/>
        </p:nvSpPr>
        <p:spPr>
          <a:xfrm>
            <a:off x="457200" y="1234440"/>
            <a:ext cx="2606040" cy="1508760"/>
          </a:xfrm>
          <a:prstGeom prst="roundRect">
            <a:avLst>
              <a:gd name="adj" fmla="val 6000"/>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sp>
        <p:nvSpPr>
          <p:cNvPr id="5" name="a1u_n4"/>
          <p:cNvSpPr txBox="1"/>
          <p:nvPr/>
        </p:nvSpPr>
        <p:spPr>
          <a:xfrm>
            <a:off x="640080" y="1371600"/>
            <a:ext cx="914400" cy="457200"/>
          </a:xfrm>
          <a:prstGeom prst="rect">
            <a:avLst/>
          </a:prstGeom>
          <a:noFill/>
          <a:ln/>
        </p:spPr>
        <p:txBody>
          <a:bodyPr wrap="square" lIns="0" tIns="0" rIns="0" bIns="0" rtlCol="0" anchor="ctr"/>
          <a:lstStyle/>
          <a:p>
            <a:pPr marL="0" indent="0">
              <a:buNone/>
            </a:pPr>
            <a:r>
              <a:rPr lang="en-US" sz="2400" b="1" dirty="0">
                <a:solidFill>
                  <a:srgbClr val="8B5CF6"/>
                </a:solidFill>
                <a:latin typeface="Calibri" pitchFamily="34" charset="0"/>
                <a:ea typeface="Calibri" pitchFamily="34" charset="-122"/>
                <a:cs typeface="Calibri" pitchFamily="34" charset="-120"/>
              </a:rPr>
              <a:t>01</a:t>
            </a:r>
            <a:endParaRPr lang="en-US" sz="2400" dirty="0"/>
          </a:p>
        </p:txBody>
      </p:sp>
      <p:sp>
        <p:nvSpPr>
          <p:cNvPr id="6" name="a1u_t5"/>
          <p:cNvSpPr txBox="1"/>
          <p:nvPr/>
        </p:nvSpPr>
        <p:spPr>
          <a:xfrm>
            <a:off x="640080" y="1856232"/>
            <a:ext cx="2286000" cy="27432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KEYS</a:t>
            </a:r>
            <a:endParaRPr lang="en-US" sz="1300" dirty="0"/>
          </a:p>
        </p:txBody>
      </p:sp>
      <p:sp>
        <p:nvSpPr>
          <p:cNvPr id="7" name="a1u_d6"/>
          <p:cNvSpPr txBox="1"/>
          <p:nvPr/>
        </p:nvSpPr>
        <p:spPr>
          <a:xfrm>
            <a:off x="640080" y="2148840"/>
            <a:ext cx="2286000" cy="50292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Super, candidate, primary, alternate, composite, surrogate, foreign</a:t>
            </a:r>
            <a:endParaRPr lang="en-US" sz="1100" dirty="0"/>
          </a:p>
        </p:txBody>
      </p:sp>
      <p:sp>
        <p:nvSpPr>
          <p:cNvPr id="8" name="a1u_c7"/>
          <p:cNvSpPr/>
          <p:nvPr/>
        </p:nvSpPr>
        <p:spPr>
          <a:xfrm>
            <a:off x="3268980" y="1234440"/>
            <a:ext cx="2606040" cy="1508760"/>
          </a:xfrm>
          <a:prstGeom prst="roundRect">
            <a:avLst>
              <a:gd name="adj" fmla="val 6000"/>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sp>
        <p:nvSpPr>
          <p:cNvPr id="9" name="a1u_n8"/>
          <p:cNvSpPr txBox="1"/>
          <p:nvPr/>
        </p:nvSpPr>
        <p:spPr>
          <a:xfrm>
            <a:off x="3451860" y="1371600"/>
            <a:ext cx="914400" cy="457200"/>
          </a:xfrm>
          <a:prstGeom prst="rect">
            <a:avLst/>
          </a:prstGeom>
          <a:noFill/>
          <a:ln/>
        </p:spPr>
        <p:txBody>
          <a:bodyPr wrap="square" lIns="0" tIns="0" rIns="0" bIns="0" rtlCol="0" anchor="ctr"/>
          <a:lstStyle/>
          <a:p>
            <a:pPr marL="0" indent="0">
              <a:buNone/>
            </a:pPr>
            <a:r>
              <a:rPr lang="en-US" sz="2400" b="1" dirty="0">
                <a:solidFill>
                  <a:srgbClr val="8B5CF6"/>
                </a:solidFill>
                <a:latin typeface="Calibri" pitchFamily="34" charset="0"/>
                <a:ea typeface="Calibri" pitchFamily="34" charset="-122"/>
                <a:cs typeface="Calibri" pitchFamily="34" charset="-120"/>
              </a:rPr>
              <a:t>02</a:t>
            </a:r>
            <a:endParaRPr lang="en-US" sz="2400" dirty="0"/>
          </a:p>
        </p:txBody>
      </p:sp>
      <p:sp>
        <p:nvSpPr>
          <p:cNvPr id="10" name="a1u_t9"/>
          <p:cNvSpPr txBox="1"/>
          <p:nvPr/>
        </p:nvSpPr>
        <p:spPr>
          <a:xfrm>
            <a:off x="3451860" y="1856232"/>
            <a:ext cx="2286000" cy="27432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INTEGRITY</a:t>
            </a:r>
            <a:endParaRPr lang="en-US" sz="1300" dirty="0"/>
          </a:p>
        </p:txBody>
      </p:sp>
      <p:sp>
        <p:nvSpPr>
          <p:cNvPr id="11" name="a1u_d10"/>
          <p:cNvSpPr txBox="1"/>
          <p:nvPr/>
        </p:nvSpPr>
        <p:spPr>
          <a:xfrm>
            <a:off x="3451860" y="2148840"/>
            <a:ext cx="2286000" cy="50292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Referential integrity and the right cascading rule</a:t>
            </a:r>
            <a:endParaRPr lang="en-US" sz="1100" dirty="0"/>
          </a:p>
        </p:txBody>
      </p:sp>
      <p:sp>
        <p:nvSpPr>
          <p:cNvPr id="12" name="a1u_c11"/>
          <p:cNvSpPr/>
          <p:nvPr/>
        </p:nvSpPr>
        <p:spPr>
          <a:xfrm>
            <a:off x="6080760" y="1234440"/>
            <a:ext cx="2606040" cy="1508760"/>
          </a:xfrm>
          <a:prstGeom prst="roundRect">
            <a:avLst>
              <a:gd name="adj" fmla="val 6000"/>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sp>
        <p:nvSpPr>
          <p:cNvPr id="13" name="a1u_n12"/>
          <p:cNvSpPr txBox="1"/>
          <p:nvPr/>
        </p:nvSpPr>
        <p:spPr>
          <a:xfrm>
            <a:off x="6263640" y="1371600"/>
            <a:ext cx="914400" cy="457200"/>
          </a:xfrm>
          <a:prstGeom prst="rect">
            <a:avLst/>
          </a:prstGeom>
          <a:noFill/>
          <a:ln/>
        </p:spPr>
        <p:txBody>
          <a:bodyPr wrap="square" lIns="0" tIns="0" rIns="0" bIns="0" rtlCol="0" anchor="ctr"/>
          <a:lstStyle/>
          <a:p>
            <a:pPr marL="0" indent="0">
              <a:buNone/>
            </a:pPr>
            <a:r>
              <a:rPr lang="en-US" sz="2400" b="1" dirty="0">
                <a:solidFill>
                  <a:srgbClr val="8B5CF6"/>
                </a:solidFill>
                <a:latin typeface="Calibri" pitchFamily="34" charset="0"/>
                <a:ea typeface="Calibri" pitchFamily="34" charset="-122"/>
                <a:cs typeface="Calibri" pitchFamily="34" charset="-120"/>
              </a:rPr>
              <a:t>03</a:t>
            </a:r>
            <a:endParaRPr lang="en-US" sz="2400" dirty="0"/>
          </a:p>
        </p:txBody>
      </p:sp>
      <p:sp>
        <p:nvSpPr>
          <p:cNvPr id="14" name="a1u_t13"/>
          <p:cNvSpPr txBox="1"/>
          <p:nvPr/>
        </p:nvSpPr>
        <p:spPr>
          <a:xfrm>
            <a:off x="6263640" y="1856232"/>
            <a:ext cx="2286000" cy="27432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ER MODEL</a:t>
            </a:r>
            <a:endParaRPr lang="en-US" sz="1300" dirty="0"/>
          </a:p>
        </p:txBody>
      </p:sp>
      <p:sp>
        <p:nvSpPr>
          <p:cNvPr id="15" name="a1u_d14"/>
          <p:cNvSpPr txBox="1"/>
          <p:nvPr/>
        </p:nvSpPr>
        <p:spPr>
          <a:xfrm>
            <a:off x="6263640" y="2148840"/>
            <a:ext cx="2286000" cy="50292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Crow's foot notation, then the physical schema</a:t>
            </a:r>
            <a:endParaRPr lang="en-US" sz="1100" dirty="0"/>
          </a:p>
        </p:txBody>
      </p:sp>
      <p:sp>
        <p:nvSpPr>
          <p:cNvPr id="16" name="a2u_c15"/>
          <p:cNvSpPr/>
          <p:nvPr/>
        </p:nvSpPr>
        <p:spPr>
          <a:xfrm>
            <a:off x="457200" y="2926080"/>
            <a:ext cx="2606040" cy="1508760"/>
          </a:xfrm>
          <a:prstGeom prst="roundRect">
            <a:avLst>
              <a:gd name="adj" fmla="val 6000"/>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sp>
        <p:nvSpPr>
          <p:cNvPr id="17" name="a2u_n16"/>
          <p:cNvSpPr txBox="1"/>
          <p:nvPr/>
        </p:nvSpPr>
        <p:spPr>
          <a:xfrm>
            <a:off x="640080" y="3063240"/>
            <a:ext cx="914400" cy="457200"/>
          </a:xfrm>
          <a:prstGeom prst="rect">
            <a:avLst/>
          </a:prstGeom>
          <a:noFill/>
          <a:ln/>
        </p:spPr>
        <p:txBody>
          <a:bodyPr wrap="square" lIns="0" tIns="0" rIns="0" bIns="0" rtlCol="0" anchor="ctr"/>
          <a:lstStyle/>
          <a:p>
            <a:pPr marL="0" indent="0">
              <a:buNone/>
            </a:pPr>
            <a:r>
              <a:rPr lang="en-US" sz="2400" b="1" dirty="0">
                <a:solidFill>
                  <a:srgbClr val="8B5CF6"/>
                </a:solidFill>
                <a:latin typeface="Calibri" pitchFamily="34" charset="0"/>
                <a:ea typeface="Calibri" pitchFamily="34" charset="-122"/>
                <a:cs typeface="Calibri" pitchFamily="34" charset="-120"/>
              </a:rPr>
              <a:t>04</a:t>
            </a:r>
            <a:endParaRPr lang="en-US" sz="2400" dirty="0"/>
          </a:p>
        </p:txBody>
      </p:sp>
      <p:sp>
        <p:nvSpPr>
          <p:cNvPr id="18" name="a2u_t17"/>
          <p:cNvSpPr txBox="1"/>
          <p:nvPr/>
        </p:nvSpPr>
        <p:spPr>
          <a:xfrm>
            <a:off x="640080" y="3547872"/>
            <a:ext cx="2286000" cy="27432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MANY-TO-MANY</a:t>
            </a:r>
            <a:endParaRPr lang="en-US" sz="1300" dirty="0"/>
          </a:p>
        </p:txBody>
      </p:sp>
      <p:sp>
        <p:nvSpPr>
          <p:cNvPr id="19" name="a2u_d18"/>
          <p:cNvSpPr txBox="1"/>
          <p:nvPr/>
        </p:nvSpPr>
        <p:spPr>
          <a:xfrm>
            <a:off x="640080" y="3840480"/>
            <a:ext cx="2286000" cy="50292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Resolve it with a junction table</a:t>
            </a:r>
            <a:endParaRPr lang="en-US" sz="1100" dirty="0"/>
          </a:p>
        </p:txBody>
      </p:sp>
      <p:sp>
        <p:nvSpPr>
          <p:cNvPr id="20" name="a2u_c19"/>
          <p:cNvSpPr/>
          <p:nvPr/>
        </p:nvSpPr>
        <p:spPr>
          <a:xfrm>
            <a:off x="3268980" y="2926080"/>
            <a:ext cx="2606040" cy="1508760"/>
          </a:xfrm>
          <a:prstGeom prst="roundRect">
            <a:avLst>
              <a:gd name="adj" fmla="val 6000"/>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sp>
        <p:nvSpPr>
          <p:cNvPr id="21" name="a2u_n20"/>
          <p:cNvSpPr txBox="1"/>
          <p:nvPr/>
        </p:nvSpPr>
        <p:spPr>
          <a:xfrm>
            <a:off x="3451860" y="3063240"/>
            <a:ext cx="914400" cy="457200"/>
          </a:xfrm>
          <a:prstGeom prst="rect">
            <a:avLst/>
          </a:prstGeom>
          <a:noFill/>
          <a:ln/>
        </p:spPr>
        <p:txBody>
          <a:bodyPr wrap="square" lIns="0" tIns="0" rIns="0" bIns="0" rtlCol="0" anchor="ctr"/>
          <a:lstStyle/>
          <a:p>
            <a:pPr marL="0" indent="0">
              <a:buNone/>
            </a:pPr>
            <a:r>
              <a:rPr lang="en-US" sz="2400" b="1" dirty="0">
                <a:solidFill>
                  <a:srgbClr val="8B5CF6"/>
                </a:solidFill>
                <a:latin typeface="Calibri" pitchFamily="34" charset="0"/>
                <a:ea typeface="Calibri" pitchFamily="34" charset="-122"/>
                <a:cs typeface="Calibri" pitchFamily="34" charset="-120"/>
              </a:rPr>
              <a:t>05</a:t>
            </a:r>
            <a:endParaRPr lang="en-US" sz="2400" dirty="0"/>
          </a:p>
        </p:txBody>
      </p:sp>
      <p:sp>
        <p:nvSpPr>
          <p:cNvPr id="22" name="a2u_t21"/>
          <p:cNvSpPr txBox="1"/>
          <p:nvPr/>
        </p:nvSpPr>
        <p:spPr>
          <a:xfrm>
            <a:off x="3451860" y="3547872"/>
            <a:ext cx="2286000" cy="27432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NORMAL FORMS</a:t>
            </a:r>
            <a:endParaRPr lang="en-US" sz="1300" dirty="0"/>
          </a:p>
        </p:txBody>
      </p:sp>
      <p:sp>
        <p:nvSpPr>
          <p:cNvPr id="23" name="a2u_d22"/>
          <p:cNvSpPr txBox="1"/>
          <p:nvPr/>
        </p:nvSpPr>
        <p:spPr>
          <a:xfrm>
            <a:off x="3451860" y="3840480"/>
            <a:ext cx="2286000" cy="50292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1NF → 2NF → 3NF → BCNF, and the anomaly each removes</a:t>
            </a:r>
            <a:endParaRPr lang="en-US" sz="1100" dirty="0"/>
          </a:p>
        </p:txBody>
      </p:sp>
      <p:sp>
        <p:nvSpPr>
          <p:cNvPr id="24" name="a2u_c23"/>
          <p:cNvSpPr/>
          <p:nvPr/>
        </p:nvSpPr>
        <p:spPr>
          <a:xfrm>
            <a:off x="6080760" y="2926080"/>
            <a:ext cx="2606040" cy="1508760"/>
          </a:xfrm>
          <a:prstGeom prst="roundRect">
            <a:avLst>
              <a:gd name="adj" fmla="val 6000"/>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sp>
        <p:nvSpPr>
          <p:cNvPr id="25" name="a2u_n24"/>
          <p:cNvSpPr txBox="1"/>
          <p:nvPr/>
        </p:nvSpPr>
        <p:spPr>
          <a:xfrm>
            <a:off x="6263640" y="3063240"/>
            <a:ext cx="914400" cy="457200"/>
          </a:xfrm>
          <a:prstGeom prst="rect">
            <a:avLst/>
          </a:prstGeom>
          <a:noFill/>
          <a:ln/>
        </p:spPr>
        <p:txBody>
          <a:bodyPr wrap="square" lIns="0" tIns="0" rIns="0" bIns="0" rtlCol="0" anchor="ctr"/>
          <a:lstStyle/>
          <a:p>
            <a:pPr marL="0" indent="0">
              <a:buNone/>
            </a:pPr>
            <a:r>
              <a:rPr lang="en-US" sz="2400" b="1" dirty="0">
                <a:solidFill>
                  <a:srgbClr val="8B5CF6"/>
                </a:solidFill>
                <a:latin typeface="Calibri" pitchFamily="34" charset="0"/>
                <a:ea typeface="Calibri" pitchFamily="34" charset="-122"/>
                <a:cs typeface="Calibri" pitchFamily="34" charset="-120"/>
              </a:rPr>
              <a:t>06</a:t>
            </a:r>
            <a:endParaRPr lang="en-US" sz="2400" dirty="0"/>
          </a:p>
        </p:txBody>
      </p:sp>
      <p:sp>
        <p:nvSpPr>
          <p:cNvPr id="26" name="a2u_t25"/>
          <p:cNvSpPr txBox="1"/>
          <p:nvPr/>
        </p:nvSpPr>
        <p:spPr>
          <a:xfrm>
            <a:off x="6263640" y="3547872"/>
            <a:ext cx="2286000" cy="27432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DENORMALIZE</a:t>
            </a:r>
            <a:endParaRPr lang="en-US" sz="1300" dirty="0"/>
          </a:p>
        </p:txBody>
      </p:sp>
      <p:sp>
        <p:nvSpPr>
          <p:cNvPr id="27" name="a2u_d26"/>
          <p:cNvSpPr txBox="1"/>
          <p:nvPr/>
        </p:nvSpPr>
        <p:spPr>
          <a:xfrm>
            <a:off x="6263640" y="3840480"/>
            <a:ext cx="2286000" cy="50292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When to break the rules, and how to stay correct</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ppt_y+0.1"/>
                                          </p:val>
                                        </p:tav>
                                        <p:tav tm="100000">
                                          <p:val>
                                            <p:strVal val="#ppt_y"/>
                                          </p:val>
                                        </p:tav>
                                      </p:tavLst>
                                    </p:anim>
                                    <p:animEffect transition="in" filter="fade">
                                      <p:cBhvr>
                                        <p:cTn id="9" dur="500"/>
                                        <p:tgtEl>
                                          <p:spTgt spid="4"/>
                                        </p:tgtEl>
                                      </p:cBhvr>
                                    </p:animEffect>
                                  </p:childTnLst>
                                </p:cTn>
                              </p:par>
                              <p:par>
                                <p:cTn id="10" presetID="2" presetClass="entr" presetSubtype="4"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ppt_y+0.1"/>
                                          </p:val>
                                        </p:tav>
                                        <p:tav tm="100000">
                                          <p:val>
                                            <p:strVal val="#ppt_y"/>
                                          </p:val>
                                        </p:tav>
                                      </p:tavLst>
                                    </p:anim>
                                    <p:animEffect transition="in" filter="fade">
                                      <p:cBhvr>
                                        <p:cTn id="14" dur="500"/>
                                        <p:tgtEl>
                                          <p:spTgt spid="5"/>
                                        </p:tgtEl>
                                      </p:cBhvr>
                                    </p:animEffect>
                                  </p:childTnLst>
                                </p:cTn>
                              </p:par>
                              <p:par>
                                <p:cTn id="15" presetID="2" presetClass="entr" presetSubtype="4"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ppt_y+0.1"/>
                                          </p:val>
                                        </p:tav>
                                        <p:tav tm="100000">
                                          <p:val>
                                            <p:strVal val="#ppt_y"/>
                                          </p:val>
                                        </p:tav>
                                      </p:tavLst>
                                    </p:anim>
                                    <p:animEffect transition="in" filter="fade">
                                      <p:cBhvr>
                                        <p:cTn id="19" dur="500"/>
                                        <p:tgtEl>
                                          <p:spTgt spid="6"/>
                                        </p:tgtEl>
                                      </p:cBhvr>
                                    </p:animEffect>
                                  </p:childTnLst>
                                </p:cTn>
                              </p:par>
                              <p:par>
                                <p:cTn id="20" presetID="2" presetClass="entr" presetSubtype="4"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ppt_y+0.1"/>
                                          </p:val>
                                        </p:tav>
                                        <p:tav tm="100000">
                                          <p:val>
                                            <p:strVal val="#ppt_y"/>
                                          </p:val>
                                        </p:tav>
                                      </p:tavLst>
                                    </p:anim>
                                    <p:animEffect transition="in" filter="fade">
                                      <p:cBhvr>
                                        <p:cTn id="24" dur="500"/>
                                        <p:tgtEl>
                                          <p:spTgt spid="7"/>
                                        </p:tgtEl>
                                      </p:cBhvr>
                                    </p:animEffect>
                                  </p:childTnLst>
                                </p:cTn>
                              </p:par>
                              <p:par>
                                <p:cTn id="25" presetID="2" presetClass="entr" presetSubtype="4"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ppt_y+0.1"/>
                                          </p:val>
                                        </p:tav>
                                        <p:tav tm="100000">
                                          <p:val>
                                            <p:strVal val="#ppt_y"/>
                                          </p:val>
                                        </p:tav>
                                      </p:tavLst>
                                    </p:anim>
                                    <p:animEffect transition="in" filter="fade">
                                      <p:cBhvr>
                                        <p:cTn id="29" dur="500"/>
                                        <p:tgtEl>
                                          <p:spTgt spid="8"/>
                                        </p:tgtEl>
                                      </p:cBhvr>
                                    </p:animEffect>
                                  </p:childTnLst>
                                </p:cTn>
                              </p:par>
                              <p:par>
                                <p:cTn id="30" presetID="2" presetClass="entr" presetSubtype="4"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00" fill="hold"/>
                                        <p:tgtEl>
                                          <p:spTgt spid="9"/>
                                        </p:tgtEl>
                                        <p:attrNameLst>
                                          <p:attrName>ppt_x</p:attrName>
                                        </p:attrNameLst>
                                      </p:cBhvr>
                                      <p:tavLst>
                                        <p:tav tm="0">
                                          <p:val>
                                            <p:strVal val="#ppt_x"/>
                                          </p:val>
                                        </p:tav>
                                        <p:tav tm="100000">
                                          <p:val>
                                            <p:strVal val="#ppt_x"/>
                                          </p:val>
                                        </p:tav>
                                      </p:tavLst>
                                    </p:anim>
                                    <p:anim calcmode="lin" valueType="num">
                                      <p:cBhvr additive="base">
                                        <p:cTn id="33" dur="500" fill="hold"/>
                                        <p:tgtEl>
                                          <p:spTgt spid="9"/>
                                        </p:tgtEl>
                                        <p:attrNameLst>
                                          <p:attrName>ppt_y</p:attrName>
                                        </p:attrNameLst>
                                      </p:cBhvr>
                                      <p:tavLst>
                                        <p:tav tm="0">
                                          <p:val>
                                            <p:strVal val="#ppt_y+0.1"/>
                                          </p:val>
                                        </p:tav>
                                        <p:tav tm="100000">
                                          <p:val>
                                            <p:strVal val="#ppt_y"/>
                                          </p:val>
                                        </p:tav>
                                      </p:tavLst>
                                    </p:anim>
                                    <p:animEffect transition="in" filter="fade">
                                      <p:cBhvr>
                                        <p:cTn id="34" dur="500"/>
                                        <p:tgtEl>
                                          <p:spTgt spid="9"/>
                                        </p:tgtEl>
                                      </p:cBhvr>
                                    </p:animEffect>
                                  </p:childTnLst>
                                </p:cTn>
                              </p:par>
                              <p:par>
                                <p:cTn id="35" presetID="2" presetClass="entr" presetSubtype="4"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ppt_x"/>
                                          </p:val>
                                        </p:tav>
                                        <p:tav tm="100000">
                                          <p:val>
                                            <p:strVal val="#ppt_x"/>
                                          </p:val>
                                        </p:tav>
                                      </p:tavLst>
                                    </p:anim>
                                    <p:anim calcmode="lin" valueType="num">
                                      <p:cBhvr additive="base">
                                        <p:cTn id="38" dur="500" fill="hold"/>
                                        <p:tgtEl>
                                          <p:spTgt spid="10"/>
                                        </p:tgtEl>
                                        <p:attrNameLst>
                                          <p:attrName>ppt_y</p:attrName>
                                        </p:attrNameLst>
                                      </p:cBhvr>
                                      <p:tavLst>
                                        <p:tav tm="0">
                                          <p:val>
                                            <p:strVal val="#ppt_y+0.1"/>
                                          </p:val>
                                        </p:tav>
                                        <p:tav tm="100000">
                                          <p:val>
                                            <p:strVal val="#ppt_y"/>
                                          </p:val>
                                        </p:tav>
                                      </p:tavLst>
                                    </p:anim>
                                    <p:animEffect transition="in" filter="fade">
                                      <p:cBhvr>
                                        <p:cTn id="39" dur="500"/>
                                        <p:tgtEl>
                                          <p:spTgt spid="10"/>
                                        </p:tgtEl>
                                      </p:cBhvr>
                                    </p:animEffect>
                                  </p:childTnLst>
                                </p:cTn>
                              </p:par>
                              <p:par>
                                <p:cTn id="40" presetID="2" presetClass="entr" presetSubtype="4"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additive="base">
                                        <p:cTn id="42" dur="500" fill="hold"/>
                                        <p:tgtEl>
                                          <p:spTgt spid="11"/>
                                        </p:tgtEl>
                                        <p:attrNameLst>
                                          <p:attrName>ppt_x</p:attrName>
                                        </p:attrNameLst>
                                      </p:cBhvr>
                                      <p:tavLst>
                                        <p:tav tm="0">
                                          <p:val>
                                            <p:strVal val="#ppt_x"/>
                                          </p:val>
                                        </p:tav>
                                        <p:tav tm="100000">
                                          <p:val>
                                            <p:strVal val="#ppt_x"/>
                                          </p:val>
                                        </p:tav>
                                      </p:tavLst>
                                    </p:anim>
                                    <p:anim calcmode="lin" valueType="num">
                                      <p:cBhvr additive="base">
                                        <p:cTn id="43" dur="500" fill="hold"/>
                                        <p:tgtEl>
                                          <p:spTgt spid="11"/>
                                        </p:tgtEl>
                                        <p:attrNameLst>
                                          <p:attrName>ppt_y</p:attrName>
                                        </p:attrNameLst>
                                      </p:cBhvr>
                                      <p:tavLst>
                                        <p:tav tm="0">
                                          <p:val>
                                            <p:strVal val="#ppt_y+0.1"/>
                                          </p:val>
                                        </p:tav>
                                        <p:tav tm="100000">
                                          <p:val>
                                            <p:strVal val="#ppt_y"/>
                                          </p:val>
                                        </p:tav>
                                      </p:tavLst>
                                    </p:anim>
                                    <p:animEffect transition="in" filter="fade">
                                      <p:cBhvr>
                                        <p:cTn id="44" dur="500"/>
                                        <p:tgtEl>
                                          <p:spTgt spid="11"/>
                                        </p:tgtEl>
                                      </p:cBhvr>
                                    </p:animEffect>
                                  </p:childTnLst>
                                </p:cTn>
                              </p:par>
                              <p:par>
                                <p:cTn id="45" presetID="2" presetClass="entr" presetSubtype="4"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500" fill="hold"/>
                                        <p:tgtEl>
                                          <p:spTgt spid="12"/>
                                        </p:tgtEl>
                                        <p:attrNameLst>
                                          <p:attrName>ppt_x</p:attrName>
                                        </p:attrNameLst>
                                      </p:cBhvr>
                                      <p:tavLst>
                                        <p:tav tm="0">
                                          <p:val>
                                            <p:strVal val="#ppt_x"/>
                                          </p:val>
                                        </p:tav>
                                        <p:tav tm="100000">
                                          <p:val>
                                            <p:strVal val="#ppt_x"/>
                                          </p:val>
                                        </p:tav>
                                      </p:tavLst>
                                    </p:anim>
                                    <p:anim calcmode="lin" valueType="num">
                                      <p:cBhvr additive="base">
                                        <p:cTn id="48" dur="500" fill="hold"/>
                                        <p:tgtEl>
                                          <p:spTgt spid="12"/>
                                        </p:tgtEl>
                                        <p:attrNameLst>
                                          <p:attrName>ppt_y</p:attrName>
                                        </p:attrNameLst>
                                      </p:cBhvr>
                                      <p:tavLst>
                                        <p:tav tm="0">
                                          <p:val>
                                            <p:strVal val="#ppt_y+0.1"/>
                                          </p:val>
                                        </p:tav>
                                        <p:tav tm="100000">
                                          <p:val>
                                            <p:strVal val="#ppt_y"/>
                                          </p:val>
                                        </p:tav>
                                      </p:tavLst>
                                    </p:anim>
                                    <p:animEffect transition="in" filter="fade">
                                      <p:cBhvr>
                                        <p:cTn id="49" dur="500"/>
                                        <p:tgtEl>
                                          <p:spTgt spid="12"/>
                                        </p:tgtEl>
                                      </p:cBhvr>
                                    </p:animEffect>
                                  </p:childTnLst>
                                </p:cTn>
                              </p:par>
                              <p:par>
                                <p:cTn id="50" presetID="2" presetClass="entr" presetSubtype="4" fill="hold" grpId="0" nodeType="withEffect">
                                  <p:stCondLst>
                                    <p:cond delay="0"/>
                                  </p:stCondLst>
                                  <p:childTnLst>
                                    <p:set>
                                      <p:cBhvr>
                                        <p:cTn id="51" dur="1" fill="hold">
                                          <p:stCondLst>
                                            <p:cond delay="0"/>
                                          </p:stCondLst>
                                        </p:cTn>
                                        <p:tgtEl>
                                          <p:spTgt spid="13"/>
                                        </p:tgtEl>
                                        <p:attrNameLst>
                                          <p:attrName>style.visibility</p:attrName>
                                        </p:attrNameLst>
                                      </p:cBhvr>
                                      <p:to>
                                        <p:strVal val="visible"/>
                                      </p:to>
                                    </p:set>
                                    <p:anim calcmode="lin" valueType="num">
                                      <p:cBhvr additive="base">
                                        <p:cTn id="52" dur="500" fill="hold"/>
                                        <p:tgtEl>
                                          <p:spTgt spid="13"/>
                                        </p:tgtEl>
                                        <p:attrNameLst>
                                          <p:attrName>ppt_x</p:attrName>
                                        </p:attrNameLst>
                                      </p:cBhvr>
                                      <p:tavLst>
                                        <p:tav tm="0">
                                          <p:val>
                                            <p:strVal val="#ppt_x"/>
                                          </p:val>
                                        </p:tav>
                                        <p:tav tm="100000">
                                          <p:val>
                                            <p:strVal val="#ppt_x"/>
                                          </p:val>
                                        </p:tav>
                                      </p:tavLst>
                                    </p:anim>
                                    <p:anim calcmode="lin" valueType="num">
                                      <p:cBhvr additive="base">
                                        <p:cTn id="53" dur="500" fill="hold"/>
                                        <p:tgtEl>
                                          <p:spTgt spid="13"/>
                                        </p:tgtEl>
                                        <p:attrNameLst>
                                          <p:attrName>ppt_y</p:attrName>
                                        </p:attrNameLst>
                                      </p:cBhvr>
                                      <p:tavLst>
                                        <p:tav tm="0">
                                          <p:val>
                                            <p:strVal val="#ppt_y+0.1"/>
                                          </p:val>
                                        </p:tav>
                                        <p:tav tm="100000">
                                          <p:val>
                                            <p:strVal val="#ppt_y"/>
                                          </p:val>
                                        </p:tav>
                                      </p:tavLst>
                                    </p:anim>
                                    <p:animEffect transition="in" filter="fade">
                                      <p:cBhvr>
                                        <p:cTn id="54" dur="500"/>
                                        <p:tgtEl>
                                          <p:spTgt spid="13"/>
                                        </p:tgtEl>
                                      </p:cBhvr>
                                    </p:animEffect>
                                  </p:childTnLst>
                                </p:cTn>
                              </p:par>
                              <p:par>
                                <p:cTn id="55" presetID="2" presetClass="entr" presetSubtype="4" fill="hold" grpId="0" nodeType="withEffect">
                                  <p:stCondLst>
                                    <p:cond delay="0"/>
                                  </p:stCondLst>
                                  <p:childTnLst>
                                    <p:set>
                                      <p:cBhvr>
                                        <p:cTn id="56" dur="1" fill="hold">
                                          <p:stCondLst>
                                            <p:cond delay="0"/>
                                          </p:stCondLst>
                                        </p:cTn>
                                        <p:tgtEl>
                                          <p:spTgt spid="14"/>
                                        </p:tgtEl>
                                        <p:attrNameLst>
                                          <p:attrName>style.visibility</p:attrName>
                                        </p:attrNameLst>
                                      </p:cBhvr>
                                      <p:to>
                                        <p:strVal val="visible"/>
                                      </p:to>
                                    </p:set>
                                    <p:anim calcmode="lin" valueType="num">
                                      <p:cBhvr additive="base">
                                        <p:cTn id="57" dur="500" fill="hold"/>
                                        <p:tgtEl>
                                          <p:spTgt spid="14"/>
                                        </p:tgtEl>
                                        <p:attrNameLst>
                                          <p:attrName>ppt_x</p:attrName>
                                        </p:attrNameLst>
                                      </p:cBhvr>
                                      <p:tavLst>
                                        <p:tav tm="0">
                                          <p:val>
                                            <p:strVal val="#ppt_x"/>
                                          </p:val>
                                        </p:tav>
                                        <p:tav tm="100000">
                                          <p:val>
                                            <p:strVal val="#ppt_x"/>
                                          </p:val>
                                        </p:tav>
                                      </p:tavLst>
                                    </p:anim>
                                    <p:anim calcmode="lin" valueType="num">
                                      <p:cBhvr additive="base">
                                        <p:cTn id="58" dur="500" fill="hold"/>
                                        <p:tgtEl>
                                          <p:spTgt spid="14"/>
                                        </p:tgtEl>
                                        <p:attrNameLst>
                                          <p:attrName>ppt_y</p:attrName>
                                        </p:attrNameLst>
                                      </p:cBhvr>
                                      <p:tavLst>
                                        <p:tav tm="0">
                                          <p:val>
                                            <p:strVal val="#ppt_y+0.1"/>
                                          </p:val>
                                        </p:tav>
                                        <p:tav tm="100000">
                                          <p:val>
                                            <p:strVal val="#ppt_y"/>
                                          </p:val>
                                        </p:tav>
                                      </p:tavLst>
                                    </p:anim>
                                    <p:animEffect transition="in" filter="fade">
                                      <p:cBhvr>
                                        <p:cTn id="59" dur="500"/>
                                        <p:tgtEl>
                                          <p:spTgt spid="14"/>
                                        </p:tgtEl>
                                      </p:cBhvr>
                                    </p:animEffect>
                                  </p:childTnLst>
                                </p:cTn>
                              </p:par>
                              <p:par>
                                <p:cTn id="60" presetID="2" presetClass="entr" presetSubtype="4" fill="hold" grpId="0" nodeType="withEffect">
                                  <p:stCondLst>
                                    <p:cond delay="0"/>
                                  </p:stCondLst>
                                  <p:childTnLst>
                                    <p:set>
                                      <p:cBhvr>
                                        <p:cTn id="61" dur="1" fill="hold">
                                          <p:stCondLst>
                                            <p:cond delay="0"/>
                                          </p:stCondLst>
                                        </p:cTn>
                                        <p:tgtEl>
                                          <p:spTgt spid="15"/>
                                        </p:tgtEl>
                                        <p:attrNameLst>
                                          <p:attrName>style.visibility</p:attrName>
                                        </p:attrNameLst>
                                      </p:cBhvr>
                                      <p:to>
                                        <p:strVal val="visible"/>
                                      </p:to>
                                    </p:set>
                                    <p:anim calcmode="lin" valueType="num">
                                      <p:cBhvr additive="base">
                                        <p:cTn id="62" dur="500" fill="hold"/>
                                        <p:tgtEl>
                                          <p:spTgt spid="15"/>
                                        </p:tgtEl>
                                        <p:attrNameLst>
                                          <p:attrName>ppt_x</p:attrName>
                                        </p:attrNameLst>
                                      </p:cBhvr>
                                      <p:tavLst>
                                        <p:tav tm="0">
                                          <p:val>
                                            <p:strVal val="#ppt_x"/>
                                          </p:val>
                                        </p:tav>
                                        <p:tav tm="100000">
                                          <p:val>
                                            <p:strVal val="#ppt_x"/>
                                          </p:val>
                                        </p:tav>
                                      </p:tavLst>
                                    </p:anim>
                                    <p:anim calcmode="lin" valueType="num">
                                      <p:cBhvr additive="base">
                                        <p:cTn id="63" dur="500" fill="hold"/>
                                        <p:tgtEl>
                                          <p:spTgt spid="15"/>
                                        </p:tgtEl>
                                        <p:attrNameLst>
                                          <p:attrName>ppt_y</p:attrName>
                                        </p:attrNameLst>
                                      </p:cBhvr>
                                      <p:tavLst>
                                        <p:tav tm="0">
                                          <p:val>
                                            <p:strVal val="#ppt_y+0.1"/>
                                          </p:val>
                                        </p:tav>
                                        <p:tav tm="100000">
                                          <p:val>
                                            <p:strVal val="#ppt_y"/>
                                          </p:val>
                                        </p:tav>
                                      </p:tavLst>
                                    </p:anim>
                                    <p:animEffect transition="in" filter="fade">
                                      <p:cBhvr>
                                        <p:cTn id="64" dur="500"/>
                                        <p:tgtEl>
                                          <p:spTgt spid="15"/>
                                        </p:tgtEl>
                                      </p:cBhvr>
                                    </p:animEffect>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16"/>
                                        </p:tgtEl>
                                        <p:attrNameLst>
                                          <p:attrName>style.visibility</p:attrName>
                                        </p:attrNameLst>
                                      </p:cBhvr>
                                      <p:to>
                                        <p:strVal val="visible"/>
                                      </p:to>
                                    </p:set>
                                    <p:anim calcmode="lin" valueType="num">
                                      <p:cBhvr additive="base">
                                        <p:cTn id="69" dur="500" fill="hold"/>
                                        <p:tgtEl>
                                          <p:spTgt spid="16"/>
                                        </p:tgtEl>
                                        <p:attrNameLst>
                                          <p:attrName>ppt_x</p:attrName>
                                        </p:attrNameLst>
                                      </p:cBhvr>
                                      <p:tavLst>
                                        <p:tav tm="0">
                                          <p:val>
                                            <p:strVal val="#ppt_x"/>
                                          </p:val>
                                        </p:tav>
                                        <p:tav tm="100000">
                                          <p:val>
                                            <p:strVal val="#ppt_x"/>
                                          </p:val>
                                        </p:tav>
                                      </p:tavLst>
                                    </p:anim>
                                    <p:anim calcmode="lin" valueType="num">
                                      <p:cBhvr additive="base">
                                        <p:cTn id="70" dur="500" fill="hold"/>
                                        <p:tgtEl>
                                          <p:spTgt spid="16"/>
                                        </p:tgtEl>
                                        <p:attrNameLst>
                                          <p:attrName>ppt_y</p:attrName>
                                        </p:attrNameLst>
                                      </p:cBhvr>
                                      <p:tavLst>
                                        <p:tav tm="0">
                                          <p:val>
                                            <p:strVal val="#ppt_y+0.1"/>
                                          </p:val>
                                        </p:tav>
                                        <p:tav tm="100000">
                                          <p:val>
                                            <p:strVal val="#ppt_y"/>
                                          </p:val>
                                        </p:tav>
                                      </p:tavLst>
                                    </p:anim>
                                    <p:animEffect transition="in" filter="fade">
                                      <p:cBhvr>
                                        <p:cTn id="71" dur="500"/>
                                        <p:tgtEl>
                                          <p:spTgt spid="16"/>
                                        </p:tgtEl>
                                      </p:cBhvr>
                                    </p:animEffect>
                                  </p:childTnLst>
                                </p:cTn>
                              </p:par>
                              <p:par>
                                <p:cTn id="72" presetID="2" presetClass="entr" presetSubtype="4" fill="hold" grpId="0" nodeType="withEffect">
                                  <p:stCondLst>
                                    <p:cond delay="0"/>
                                  </p:stCondLst>
                                  <p:childTnLst>
                                    <p:set>
                                      <p:cBhvr>
                                        <p:cTn id="73" dur="1" fill="hold">
                                          <p:stCondLst>
                                            <p:cond delay="0"/>
                                          </p:stCondLst>
                                        </p:cTn>
                                        <p:tgtEl>
                                          <p:spTgt spid="17"/>
                                        </p:tgtEl>
                                        <p:attrNameLst>
                                          <p:attrName>style.visibility</p:attrName>
                                        </p:attrNameLst>
                                      </p:cBhvr>
                                      <p:to>
                                        <p:strVal val="visible"/>
                                      </p:to>
                                    </p:set>
                                    <p:anim calcmode="lin" valueType="num">
                                      <p:cBhvr additive="base">
                                        <p:cTn id="74" dur="500" fill="hold"/>
                                        <p:tgtEl>
                                          <p:spTgt spid="17"/>
                                        </p:tgtEl>
                                        <p:attrNameLst>
                                          <p:attrName>ppt_x</p:attrName>
                                        </p:attrNameLst>
                                      </p:cBhvr>
                                      <p:tavLst>
                                        <p:tav tm="0">
                                          <p:val>
                                            <p:strVal val="#ppt_x"/>
                                          </p:val>
                                        </p:tav>
                                        <p:tav tm="100000">
                                          <p:val>
                                            <p:strVal val="#ppt_x"/>
                                          </p:val>
                                        </p:tav>
                                      </p:tavLst>
                                    </p:anim>
                                    <p:anim calcmode="lin" valueType="num">
                                      <p:cBhvr additive="base">
                                        <p:cTn id="75" dur="500" fill="hold"/>
                                        <p:tgtEl>
                                          <p:spTgt spid="17"/>
                                        </p:tgtEl>
                                        <p:attrNameLst>
                                          <p:attrName>ppt_y</p:attrName>
                                        </p:attrNameLst>
                                      </p:cBhvr>
                                      <p:tavLst>
                                        <p:tav tm="0">
                                          <p:val>
                                            <p:strVal val="#ppt_y+0.1"/>
                                          </p:val>
                                        </p:tav>
                                        <p:tav tm="100000">
                                          <p:val>
                                            <p:strVal val="#ppt_y"/>
                                          </p:val>
                                        </p:tav>
                                      </p:tavLst>
                                    </p:anim>
                                    <p:animEffect transition="in" filter="fade">
                                      <p:cBhvr>
                                        <p:cTn id="76" dur="500"/>
                                        <p:tgtEl>
                                          <p:spTgt spid="17"/>
                                        </p:tgtEl>
                                      </p:cBhvr>
                                    </p:animEffect>
                                  </p:childTnLst>
                                </p:cTn>
                              </p:par>
                              <p:par>
                                <p:cTn id="77" presetID="2" presetClass="entr" presetSubtype="4" fill="hold" grpId="0" nodeType="withEffect">
                                  <p:stCondLst>
                                    <p:cond delay="0"/>
                                  </p:stCondLst>
                                  <p:childTnLst>
                                    <p:set>
                                      <p:cBhvr>
                                        <p:cTn id="78" dur="1" fill="hold">
                                          <p:stCondLst>
                                            <p:cond delay="0"/>
                                          </p:stCondLst>
                                        </p:cTn>
                                        <p:tgtEl>
                                          <p:spTgt spid="18"/>
                                        </p:tgtEl>
                                        <p:attrNameLst>
                                          <p:attrName>style.visibility</p:attrName>
                                        </p:attrNameLst>
                                      </p:cBhvr>
                                      <p:to>
                                        <p:strVal val="visible"/>
                                      </p:to>
                                    </p:set>
                                    <p:anim calcmode="lin" valueType="num">
                                      <p:cBhvr additive="base">
                                        <p:cTn id="79" dur="500" fill="hold"/>
                                        <p:tgtEl>
                                          <p:spTgt spid="18"/>
                                        </p:tgtEl>
                                        <p:attrNameLst>
                                          <p:attrName>ppt_x</p:attrName>
                                        </p:attrNameLst>
                                      </p:cBhvr>
                                      <p:tavLst>
                                        <p:tav tm="0">
                                          <p:val>
                                            <p:strVal val="#ppt_x"/>
                                          </p:val>
                                        </p:tav>
                                        <p:tav tm="100000">
                                          <p:val>
                                            <p:strVal val="#ppt_x"/>
                                          </p:val>
                                        </p:tav>
                                      </p:tavLst>
                                    </p:anim>
                                    <p:anim calcmode="lin" valueType="num">
                                      <p:cBhvr additive="base">
                                        <p:cTn id="80" dur="500" fill="hold"/>
                                        <p:tgtEl>
                                          <p:spTgt spid="18"/>
                                        </p:tgtEl>
                                        <p:attrNameLst>
                                          <p:attrName>ppt_y</p:attrName>
                                        </p:attrNameLst>
                                      </p:cBhvr>
                                      <p:tavLst>
                                        <p:tav tm="0">
                                          <p:val>
                                            <p:strVal val="#ppt_y+0.1"/>
                                          </p:val>
                                        </p:tav>
                                        <p:tav tm="100000">
                                          <p:val>
                                            <p:strVal val="#ppt_y"/>
                                          </p:val>
                                        </p:tav>
                                      </p:tavLst>
                                    </p:anim>
                                    <p:animEffect transition="in" filter="fade">
                                      <p:cBhvr>
                                        <p:cTn id="81" dur="500"/>
                                        <p:tgtEl>
                                          <p:spTgt spid="18"/>
                                        </p:tgtEl>
                                      </p:cBhvr>
                                    </p:animEffect>
                                  </p:childTnLst>
                                </p:cTn>
                              </p:par>
                              <p:par>
                                <p:cTn id="82" presetID="2" presetClass="entr" presetSubtype="4" fill="hold" grpId="0" nodeType="withEffect">
                                  <p:stCondLst>
                                    <p:cond delay="0"/>
                                  </p:stCondLst>
                                  <p:childTnLst>
                                    <p:set>
                                      <p:cBhvr>
                                        <p:cTn id="83" dur="1" fill="hold">
                                          <p:stCondLst>
                                            <p:cond delay="0"/>
                                          </p:stCondLst>
                                        </p:cTn>
                                        <p:tgtEl>
                                          <p:spTgt spid="19"/>
                                        </p:tgtEl>
                                        <p:attrNameLst>
                                          <p:attrName>style.visibility</p:attrName>
                                        </p:attrNameLst>
                                      </p:cBhvr>
                                      <p:to>
                                        <p:strVal val="visible"/>
                                      </p:to>
                                    </p:set>
                                    <p:anim calcmode="lin" valueType="num">
                                      <p:cBhvr additive="base">
                                        <p:cTn id="84" dur="500" fill="hold"/>
                                        <p:tgtEl>
                                          <p:spTgt spid="19"/>
                                        </p:tgtEl>
                                        <p:attrNameLst>
                                          <p:attrName>ppt_x</p:attrName>
                                        </p:attrNameLst>
                                      </p:cBhvr>
                                      <p:tavLst>
                                        <p:tav tm="0">
                                          <p:val>
                                            <p:strVal val="#ppt_x"/>
                                          </p:val>
                                        </p:tav>
                                        <p:tav tm="100000">
                                          <p:val>
                                            <p:strVal val="#ppt_x"/>
                                          </p:val>
                                        </p:tav>
                                      </p:tavLst>
                                    </p:anim>
                                    <p:anim calcmode="lin" valueType="num">
                                      <p:cBhvr additive="base">
                                        <p:cTn id="85" dur="500" fill="hold"/>
                                        <p:tgtEl>
                                          <p:spTgt spid="19"/>
                                        </p:tgtEl>
                                        <p:attrNameLst>
                                          <p:attrName>ppt_y</p:attrName>
                                        </p:attrNameLst>
                                      </p:cBhvr>
                                      <p:tavLst>
                                        <p:tav tm="0">
                                          <p:val>
                                            <p:strVal val="#ppt_y+0.1"/>
                                          </p:val>
                                        </p:tav>
                                        <p:tav tm="100000">
                                          <p:val>
                                            <p:strVal val="#ppt_y"/>
                                          </p:val>
                                        </p:tav>
                                      </p:tavLst>
                                    </p:anim>
                                    <p:animEffect transition="in" filter="fade">
                                      <p:cBhvr>
                                        <p:cTn id="86" dur="500"/>
                                        <p:tgtEl>
                                          <p:spTgt spid="19"/>
                                        </p:tgtEl>
                                      </p:cBhvr>
                                    </p:animEffect>
                                  </p:childTnLst>
                                </p:cTn>
                              </p:par>
                              <p:par>
                                <p:cTn id="87" presetID="2" presetClass="entr" presetSubtype="4" fill="hold" grpId="0" nodeType="withEffect">
                                  <p:stCondLst>
                                    <p:cond delay="0"/>
                                  </p:stCondLst>
                                  <p:childTnLst>
                                    <p:set>
                                      <p:cBhvr>
                                        <p:cTn id="88" dur="1" fill="hold">
                                          <p:stCondLst>
                                            <p:cond delay="0"/>
                                          </p:stCondLst>
                                        </p:cTn>
                                        <p:tgtEl>
                                          <p:spTgt spid="20"/>
                                        </p:tgtEl>
                                        <p:attrNameLst>
                                          <p:attrName>style.visibility</p:attrName>
                                        </p:attrNameLst>
                                      </p:cBhvr>
                                      <p:to>
                                        <p:strVal val="visible"/>
                                      </p:to>
                                    </p:set>
                                    <p:anim calcmode="lin" valueType="num">
                                      <p:cBhvr additive="base">
                                        <p:cTn id="89" dur="500" fill="hold"/>
                                        <p:tgtEl>
                                          <p:spTgt spid="20"/>
                                        </p:tgtEl>
                                        <p:attrNameLst>
                                          <p:attrName>ppt_x</p:attrName>
                                        </p:attrNameLst>
                                      </p:cBhvr>
                                      <p:tavLst>
                                        <p:tav tm="0">
                                          <p:val>
                                            <p:strVal val="#ppt_x"/>
                                          </p:val>
                                        </p:tav>
                                        <p:tav tm="100000">
                                          <p:val>
                                            <p:strVal val="#ppt_x"/>
                                          </p:val>
                                        </p:tav>
                                      </p:tavLst>
                                    </p:anim>
                                    <p:anim calcmode="lin" valueType="num">
                                      <p:cBhvr additive="base">
                                        <p:cTn id="90" dur="500" fill="hold"/>
                                        <p:tgtEl>
                                          <p:spTgt spid="20"/>
                                        </p:tgtEl>
                                        <p:attrNameLst>
                                          <p:attrName>ppt_y</p:attrName>
                                        </p:attrNameLst>
                                      </p:cBhvr>
                                      <p:tavLst>
                                        <p:tav tm="0">
                                          <p:val>
                                            <p:strVal val="#ppt_y+0.1"/>
                                          </p:val>
                                        </p:tav>
                                        <p:tav tm="100000">
                                          <p:val>
                                            <p:strVal val="#ppt_y"/>
                                          </p:val>
                                        </p:tav>
                                      </p:tavLst>
                                    </p:anim>
                                    <p:animEffect transition="in" filter="fade">
                                      <p:cBhvr>
                                        <p:cTn id="91" dur="500"/>
                                        <p:tgtEl>
                                          <p:spTgt spid="20"/>
                                        </p:tgtEl>
                                      </p:cBhvr>
                                    </p:animEffect>
                                  </p:childTnLst>
                                </p:cTn>
                              </p:par>
                              <p:par>
                                <p:cTn id="92" presetID="2" presetClass="entr" presetSubtype="4" fill="hold" grpId="0" nodeType="withEffect">
                                  <p:stCondLst>
                                    <p:cond delay="0"/>
                                  </p:stCondLst>
                                  <p:childTnLst>
                                    <p:set>
                                      <p:cBhvr>
                                        <p:cTn id="93" dur="1" fill="hold">
                                          <p:stCondLst>
                                            <p:cond delay="0"/>
                                          </p:stCondLst>
                                        </p:cTn>
                                        <p:tgtEl>
                                          <p:spTgt spid="21"/>
                                        </p:tgtEl>
                                        <p:attrNameLst>
                                          <p:attrName>style.visibility</p:attrName>
                                        </p:attrNameLst>
                                      </p:cBhvr>
                                      <p:to>
                                        <p:strVal val="visible"/>
                                      </p:to>
                                    </p:set>
                                    <p:anim calcmode="lin" valueType="num">
                                      <p:cBhvr additive="base">
                                        <p:cTn id="94" dur="500" fill="hold"/>
                                        <p:tgtEl>
                                          <p:spTgt spid="21"/>
                                        </p:tgtEl>
                                        <p:attrNameLst>
                                          <p:attrName>ppt_x</p:attrName>
                                        </p:attrNameLst>
                                      </p:cBhvr>
                                      <p:tavLst>
                                        <p:tav tm="0">
                                          <p:val>
                                            <p:strVal val="#ppt_x"/>
                                          </p:val>
                                        </p:tav>
                                        <p:tav tm="100000">
                                          <p:val>
                                            <p:strVal val="#ppt_x"/>
                                          </p:val>
                                        </p:tav>
                                      </p:tavLst>
                                    </p:anim>
                                    <p:anim calcmode="lin" valueType="num">
                                      <p:cBhvr additive="base">
                                        <p:cTn id="95" dur="500" fill="hold"/>
                                        <p:tgtEl>
                                          <p:spTgt spid="21"/>
                                        </p:tgtEl>
                                        <p:attrNameLst>
                                          <p:attrName>ppt_y</p:attrName>
                                        </p:attrNameLst>
                                      </p:cBhvr>
                                      <p:tavLst>
                                        <p:tav tm="0">
                                          <p:val>
                                            <p:strVal val="#ppt_y+0.1"/>
                                          </p:val>
                                        </p:tav>
                                        <p:tav tm="100000">
                                          <p:val>
                                            <p:strVal val="#ppt_y"/>
                                          </p:val>
                                        </p:tav>
                                      </p:tavLst>
                                    </p:anim>
                                    <p:animEffect transition="in" filter="fade">
                                      <p:cBhvr>
                                        <p:cTn id="96" dur="500"/>
                                        <p:tgtEl>
                                          <p:spTgt spid="21"/>
                                        </p:tgtEl>
                                      </p:cBhvr>
                                    </p:animEffect>
                                  </p:childTnLst>
                                </p:cTn>
                              </p:par>
                              <p:par>
                                <p:cTn id="97" presetID="2" presetClass="entr" presetSubtype="4" fill="hold" grpId="0" nodeType="withEffect">
                                  <p:stCondLst>
                                    <p:cond delay="0"/>
                                  </p:stCondLst>
                                  <p:childTnLst>
                                    <p:set>
                                      <p:cBhvr>
                                        <p:cTn id="98" dur="1" fill="hold">
                                          <p:stCondLst>
                                            <p:cond delay="0"/>
                                          </p:stCondLst>
                                        </p:cTn>
                                        <p:tgtEl>
                                          <p:spTgt spid="22"/>
                                        </p:tgtEl>
                                        <p:attrNameLst>
                                          <p:attrName>style.visibility</p:attrName>
                                        </p:attrNameLst>
                                      </p:cBhvr>
                                      <p:to>
                                        <p:strVal val="visible"/>
                                      </p:to>
                                    </p:set>
                                    <p:anim calcmode="lin" valueType="num">
                                      <p:cBhvr additive="base">
                                        <p:cTn id="99" dur="500" fill="hold"/>
                                        <p:tgtEl>
                                          <p:spTgt spid="22"/>
                                        </p:tgtEl>
                                        <p:attrNameLst>
                                          <p:attrName>ppt_x</p:attrName>
                                        </p:attrNameLst>
                                      </p:cBhvr>
                                      <p:tavLst>
                                        <p:tav tm="0">
                                          <p:val>
                                            <p:strVal val="#ppt_x"/>
                                          </p:val>
                                        </p:tav>
                                        <p:tav tm="100000">
                                          <p:val>
                                            <p:strVal val="#ppt_x"/>
                                          </p:val>
                                        </p:tav>
                                      </p:tavLst>
                                    </p:anim>
                                    <p:anim calcmode="lin" valueType="num">
                                      <p:cBhvr additive="base">
                                        <p:cTn id="100" dur="500" fill="hold"/>
                                        <p:tgtEl>
                                          <p:spTgt spid="22"/>
                                        </p:tgtEl>
                                        <p:attrNameLst>
                                          <p:attrName>ppt_y</p:attrName>
                                        </p:attrNameLst>
                                      </p:cBhvr>
                                      <p:tavLst>
                                        <p:tav tm="0">
                                          <p:val>
                                            <p:strVal val="#ppt_y+0.1"/>
                                          </p:val>
                                        </p:tav>
                                        <p:tav tm="100000">
                                          <p:val>
                                            <p:strVal val="#ppt_y"/>
                                          </p:val>
                                        </p:tav>
                                      </p:tavLst>
                                    </p:anim>
                                    <p:animEffect transition="in" filter="fade">
                                      <p:cBhvr>
                                        <p:cTn id="101" dur="500"/>
                                        <p:tgtEl>
                                          <p:spTgt spid="22"/>
                                        </p:tgtEl>
                                      </p:cBhvr>
                                    </p:animEffect>
                                  </p:childTnLst>
                                </p:cTn>
                              </p:par>
                              <p:par>
                                <p:cTn id="102" presetID="2" presetClass="entr" presetSubtype="4" fill="hold" grpId="0" nodeType="withEffect">
                                  <p:stCondLst>
                                    <p:cond delay="0"/>
                                  </p:stCondLst>
                                  <p:childTnLst>
                                    <p:set>
                                      <p:cBhvr>
                                        <p:cTn id="103" dur="1" fill="hold">
                                          <p:stCondLst>
                                            <p:cond delay="0"/>
                                          </p:stCondLst>
                                        </p:cTn>
                                        <p:tgtEl>
                                          <p:spTgt spid="23"/>
                                        </p:tgtEl>
                                        <p:attrNameLst>
                                          <p:attrName>style.visibility</p:attrName>
                                        </p:attrNameLst>
                                      </p:cBhvr>
                                      <p:to>
                                        <p:strVal val="visible"/>
                                      </p:to>
                                    </p:set>
                                    <p:anim calcmode="lin" valueType="num">
                                      <p:cBhvr additive="base">
                                        <p:cTn id="104" dur="500" fill="hold"/>
                                        <p:tgtEl>
                                          <p:spTgt spid="23"/>
                                        </p:tgtEl>
                                        <p:attrNameLst>
                                          <p:attrName>ppt_x</p:attrName>
                                        </p:attrNameLst>
                                      </p:cBhvr>
                                      <p:tavLst>
                                        <p:tav tm="0">
                                          <p:val>
                                            <p:strVal val="#ppt_x"/>
                                          </p:val>
                                        </p:tav>
                                        <p:tav tm="100000">
                                          <p:val>
                                            <p:strVal val="#ppt_x"/>
                                          </p:val>
                                        </p:tav>
                                      </p:tavLst>
                                    </p:anim>
                                    <p:anim calcmode="lin" valueType="num">
                                      <p:cBhvr additive="base">
                                        <p:cTn id="105" dur="500" fill="hold"/>
                                        <p:tgtEl>
                                          <p:spTgt spid="23"/>
                                        </p:tgtEl>
                                        <p:attrNameLst>
                                          <p:attrName>ppt_y</p:attrName>
                                        </p:attrNameLst>
                                      </p:cBhvr>
                                      <p:tavLst>
                                        <p:tav tm="0">
                                          <p:val>
                                            <p:strVal val="#ppt_y+0.1"/>
                                          </p:val>
                                        </p:tav>
                                        <p:tav tm="100000">
                                          <p:val>
                                            <p:strVal val="#ppt_y"/>
                                          </p:val>
                                        </p:tav>
                                      </p:tavLst>
                                    </p:anim>
                                    <p:animEffect transition="in" filter="fade">
                                      <p:cBhvr>
                                        <p:cTn id="106" dur="500"/>
                                        <p:tgtEl>
                                          <p:spTgt spid="23"/>
                                        </p:tgtEl>
                                      </p:cBhvr>
                                    </p:animEffect>
                                  </p:childTnLst>
                                </p:cTn>
                              </p:par>
                              <p:par>
                                <p:cTn id="107" presetID="2" presetClass="entr" presetSubtype="4" fill="hold" grpId="0" nodeType="withEffect">
                                  <p:stCondLst>
                                    <p:cond delay="0"/>
                                  </p:stCondLst>
                                  <p:childTnLst>
                                    <p:set>
                                      <p:cBhvr>
                                        <p:cTn id="108" dur="1" fill="hold">
                                          <p:stCondLst>
                                            <p:cond delay="0"/>
                                          </p:stCondLst>
                                        </p:cTn>
                                        <p:tgtEl>
                                          <p:spTgt spid="24"/>
                                        </p:tgtEl>
                                        <p:attrNameLst>
                                          <p:attrName>style.visibility</p:attrName>
                                        </p:attrNameLst>
                                      </p:cBhvr>
                                      <p:to>
                                        <p:strVal val="visible"/>
                                      </p:to>
                                    </p:set>
                                    <p:anim calcmode="lin" valueType="num">
                                      <p:cBhvr additive="base">
                                        <p:cTn id="109" dur="500" fill="hold"/>
                                        <p:tgtEl>
                                          <p:spTgt spid="24"/>
                                        </p:tgtEl>
                                        <p:attrNameLst>
                                          <p:attrName>ppt_x</p:attrName>
                                        </p:attrNameLst>
                                      </p:cBhvr>
                                      <p:tavLst>
                                        <p:tav tm="0">
                                          <p:val>
                                            <p:strVal val="#ppt_x"/>
                                          </p:val>
                                        </p:tav>
                                        <p:tav tm="100000">
                                          <p:val>
                                            <p:strVal val="#ppt_x"/>
                                          </p:val>
                                        </p:tav>
                                      </p:tavLst>
                                    </p:anim>
                                    <p:anim calcmode="lin" valueType="num">
                                      <p:cBhvr additive="base">
                                        <p:cTn id="110" dur="500" fill="hold"/>
                                        <p:tgtEl>
                                          <p:spTgt spid="24"/>
                                        </p:tgtEl>
                                        <p:attrNameLst>
                                          <p:attrName>ppt_y</p:attrName>
                                        </p:attrNameLst>
                                      </p:cBhvr>
                                      <p:tavLst>
                                        <p:tav tm="0">
                                          <p:val>
                                            <p:strVal val="#ppt_y+0.1"/>
                                          </p:val>
                                        </p:tav>
                                        <p:tav tm="100000">
                                          <p:val>
                                            <p:strVal val="#ppt_y"/>
                                          </p:val>
                                        </p:tav>
                                      </p:tavLst>
                                    </p:anim>
                                    <p:animEffect transition="in" filter="fade">
                                      <p:cBhvr>
                                        <p:cTn id="111" dur="500"/>
                                        <p:tgtEl>
                                          <p:spTgt spid="24"/>
                                        </p:tgtEl>
                                      </p:cBhvr>
                                    </p:animEffect>
                                  </p:childTnLst>
                                </p:cTn>
                              </p:par>
                              <p:par>
                                <p:cTn id="112" presetID="2" presetClass="entr" presetSubtype="4" fill="hold" grpId="0" nodeType="withEffect">
                                  <p:stCondLst>
                                    <p:cond delay="0"/>
                                  </p:stCondLst>
                                  <p:childTnLst>
                                    <p:set>
                                      <p:cBhvr>
                                        <p:cTn id="113" dur="1" fill="hold">
                                          <p:stCondLst>
                                            <p:cond delay="0"/>
                                          </p:stCondLst>
                                        </p:cTn>
                                        <p:tgtEl>
                                          <p:spTgt spid="25"/>
                                        </p:tgtEl>
                                        <p:attrNameLst>
                                          <p:attrName>style.visibility</p:attrName>
                                        </p:attrNameLst>
                                      </p:cBhvr>
                                      <p:to>
                                        <p:strVal val="visible"/>
                                      </p:to>
                                    </p:set>
                                    <p:anim calcmode="lin" valueType="num">
                                      <p:cBhvr additive="base">
                                        <p:cTn id="114" dur="500" fill="hold"/>
                                        <p:tgtEl>
                                          <p:spTgt spid="25"/>
                                        </p:tgtEl>
                                        <p:attrNameLst>
                                          <p:attrName>ppt_x</p:attrName>
                                        </p:attrNameLst>
                                      </p:cBhvr>
                                      <p:tavLst>
                                        <p:tav tm="0">
                                          <p:val>
                                            <p:strVal val="#ppt_x"/>
                                          </p:val>
                                        </p:tav>
                                        <p:tav tm="100000">
                                          <p:val>
                                            <p:strVal val="#ppt_x"/>
                                          </p:val>
                                        </p:tav>
                                      </p:tavLst>
                                    </p:anim>
                                    <p:anim calcmode="lin" valueType="num">
                                      <p:cBhvr additive="base">
                                        <p:cTn id="115" dur="500" fill="hold"/>
                                        <p:tgtEl>
                                          <p:spTgt spid="25"/>
                                        </p:tgtEl>
                                        <p:attrNameLst>
                                          <p:attrName>ppt_y</p:attrName>
                                        </p:attrNameLst>
                                      </p:cBhvr>
                                      <p:tavLst>
                                        <p:tav tm="0">
                                          <p:val>
                                            <p:strVal val="#ppt_y+0.1"/>
                                          </p:val>
                                        </p:tav>
                                        <p:tav tm="100000">
                                          <p:val>
                                            <p:strVal val="#ppt_y"/>
                                          </p:val>
                                        </p:tav>
                                      </p:tavLst>
                                    </p:anim>
                                    <p:animEffect transition="in" filter="fade">
                                      <p:cBhvr>
                                        <p:cTn id="116" dur="500"/>
                                        <p:tgtEl>
                                          <p:spTgt spid="25"/>
                                        </p:tgtEl>
                                      </p:cBhvr>
                                    </p:animEffect>
                                  </p:childTnLst>
                                </p:cTn>
                              </p:par>
                              <p:par>
                                <p:cTn id="117" presetID="2" presetClass="entr" presetSubtype="4" fill="hold" grpId="0" nodeType="withEffect">
                                  <p:stCondLst>
                                    <p:cond delay="0"/>
                                  </p:stCondLst>
                                  <p:childTnLst>
                                    <p:set>
                                      <p:cBhvr>
                                        <p:cTn id="118" dur="1" fill="hold">
                                          <p:stCondLst>
                                            <p:cond delay="0"/>
                                          </p:stCondLst>
                                        </p:cTn>
                                        <p:tgtEl>
                                          <p:spTgt spid="26"/>
                                        </p:tgtEl>
                                        <p:attrNameLst>
                                          <p:attrName>style.visibility</p:attrName>
                                        </p:attrNameLst>
                                      </p:cBhvr>
                                      <p:to>
                                        <p:strVal val="visible"/>
                                      </p:to>
                                    </p:set>
                                    <p:anim calcmode="lin" valueType="num">
                                      <p:cBhvr additive="base">
                                        <p:cTn id="119" dur="500" fill="hold"/>
                                        <p:tgtEl>
                                          <p:spTgt spid="26"/>
                                        </p:tgtEl>
                                        <p:attrNameLst>
                                          <p:attrName>ppt_x</p:attrName>
                                        </p:attrNameLst>
                                      </p:cBhvr>
                                      <p:tavLst>
                                        <p:tav tm="0">
                                          <p:val>
                                            <p:strVal val="#ppt_x"/>
                                          </p:val>
                                        </p:tav>
                                        <p:tav tm="100000">
                                          <p:val>
                                            <p:strVal val="#ppt_x"/>
                                          </p:val>
                                        </p:tav>
                                      </p:tavLst>
                                    </p:anim>
                                    <p:anim calcmode="lin" valueType="num">
                                      <p:cBhvr additive="base">
                                        <p:cTn id="120" dur="500" fill="hold"/>
                                        <p:tgtEl>
                                          <p:spTgt spid="26"/>
                                        </p:tgtEl>
                                        <p:attrNameLst>
                                          <p:attrName>ppt_y</p:attrName>
                                        </p:attrNameLst>
                                      </p:cBhvr>
                                      <p:tavLst>
                                        <p:tav tm="0">
                                          <p:val>
                                            <p:strVal val="#ppt_y+0.1"/>
                                          </p:val>
                                        </p:tav>
                                        <p:tav tm="100000">
                                          <p:val>
                                            <p:strVal val="#ppt_y"/>
                                          </p:val>
                                        </p:tav>
                                      </p:tavLst>
                                    </p:anim>
                                    <p:animEffect transition="in" filter="fade">
                                      <p:cBhvr>
                                        <p:cTn id="121" dur="500"/>
                                        <p:tgtEl>
                                          <p:spTgt spid="26"/>
                                        </p:tgtEl>
                                      </p:cBhvr>
                                    </p:animEffect>
                                  </p:childTnLst>
                                </p:cTn>
                              </p:par>
                              <p:par>
                                <p:cTn id="122" presetID="2" presetClass="entr" presetSubtype="4" fill="hold" grpId="0" nodeType="withEffect">
                                  <p:stCondLst>
                                    <p:cond delay="0"/>
                                  </p:stCondLst>
                                  <p:childTnLst>
                                    <p:set>
                                      <p:cBhvr>
                                        <p:cTn id="123" dur="1" fill="hold">
                                          <p:stCondLst>
                                            <p:cond delay="0"/>
                                          </p:stCondLst>
                                        </p:cTn>
                                        <p:tgtEl>
                                          <p:spTgt spid="27"/>
                                        </p:tgtEl>
                                        <p:attrNameLst>
                                          <p:attrName>style.visibility</p:attrName>
                                        </p:attrNameLst>
                                      </p:cBhvr>
                                      <p:to>
                                        <p:strVal val="visible"/>
                                      </p:to>
                                    </p:set>
                                    <p:anim calcmode="lin" valueType="num">
                                      <p:cBhvr additive="base">
                                        <p:cTn id="124" dur="500" fill="hold"/>
                                        <p:tgtEl>
                                          <p:spTgt spid="27"/>
                                        </p:tgtEl>
                                        <p:attrNameLst>
                                          <p:attrName>ppt_x</p:attrName>
                                        </p:attrNameLst>
                                      </p:cBhvr>
                                      <p:tavLst>
                                        <p:tav tm="0">
                                          <p:val>
                                            <p:strVal val="#ppt_x"/>
                                          </p:val>
                                        </p:tav>
                                        <p:tav tm="100000">
                                          <p:val>
                                            <p:strVal val="#ppt_x"/>
                                          </p:val>
                                        </p:tav>
                                      </p:tavLst>
                                    </p:anim>
                                    <p:anim calcmode="lin" valueType="num">
                                      <p:cBhvr additive="base">
                                        <p:cTn id="125" dur="500" fill="hold"/>
                                        <p:tgtEl>
                                          <p:spTgt spid="27"/>
                                        </p:tgtEl>
                                        <p:attrNameLst>
                                          <p:attrName>ppt_y</p:attrName>
                                        </p:attrNameLst>
                                      </p:cBhvr>
                                      <p:tavLst>
                                        <p:tav tm="0">
                                          <p:val>
                                            <p:strVal val="#ppt_y+0.1"/>
                                          </p:val>
                                        </p:tav>
                                        <p:tav tm="100000">
                                          <p:val>
                                            <p:strVal val="#ppt_y"/>
                                          </p:val>
                                        </p:tav>
                                      </p:tavLst>
                                    </p:anim>
                                    <p:animEffect transition="in" filter="fade">
                                      <p:cBhvr>
                                        <p:cTn id="126"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1"/>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Meet the Flat Table</a:t>
            </a:r>
            <a:endParaRPr lang="en-US" sz="2800" dirty="0"/>
          </a:p>
        </p:txBody>
      </p:sp>
      <p:sp>
        <p:nvSpPr>
          <p:cNvPr id="3" name="Text 2"/>
          <p:cNvSpPr txBox="1"/>
          <p:nvPr/>
        </p:nvSpPr>
        <p:spPr>
          <a:xfrm>
            <a:off x="457200" y="749808"/>
            <a:ext cx="8229600" cy="320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branch_customer_flat — loaded straight from the spreadsheet (5 of its 30 rows)</a:t>
            </a:r>
            <a:endParaRPr lang="en-US" sz="1300" dirty="0"/>
          </a:p>
        </p:txBody>
      </p:sp>
      <p:sp>
        <p:nvSpPr>
          <p:cNvPr id="4" name="a1f_cell3"/>
          <p:cNvSpPr txBox="1"/>
          <p:nvPr/>
        </p:nvSpPr>
        <p:spPr>
          <a:xfrm>
            <a:off x="457200" y="1234440"/>
            <a:ext cx="640080" cy="265176"/>
          </a:xfrm>
          <a:prstGeom prst="rect">
            <a:avLst/>
          </a:prstGeom>
          <a:solidFill>
            <a:srgbClr val="475569"/>
          </a:solidFill>
          <a:ln w="9525">
            <a:solidFill>
              <a:srgbClr val="47556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cust_id</a:t>
            </a:r>
            <a:endParaRPr lang="en-US" sz="1100" dirty="0"/>
          </a:p>
        </p:txBody>
      </p:sp>
      <p:sp>
        <p:nvSpPr>
          <p:cNvPr id="5" name="a1wd200_cell4"/>
          <p:cNvSpPr txBox="1"/>
          <p:nvPr/>
        </p:nvSpPr>
        <p:spPr>
          <a:xfrm>
            <a:off x="457200" y="1499616"/>
            <a:ext cx="640080" cy="265176"/>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1003</a:t>
            </a:r>
            <a:endParaRPr lang="en-US" sz="1100" dirty="0"/>
          </a:p>
        </p:txBody>
      </p:sp>
      <p:sp>
        <p:nvSpPr>
          <p:cNvPr id="6" name="a1wd400_cell5"/>
          <p:cNvSpPr txBox="1"/>
          <p:nvPr/>
        </p:nvSpPr>
        <p:spPr>
          <a:xfrm>
            <a:off x="457200" y="1764792"/>
            <a:ext cx="640080" cy="265176"/>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1005</a:t>
            </a:r>
            <a:endParaRPr lang="en-US" sz="1100" dirty="0"/>
          </a:p>
        </p:txBody>
      </p:sp>
      <p:sp>
        <p:nvSpPr>
          <p:cNvPr id="7" name="a1wd600_cell6"/>
          <p:cNvSpPr txBox="1"/>
          <p:nvPr/>
        </p:nvSpPr>
        <p:spPr>
          <a:xfrm>
            <a:off x="457200" y="2029968"/>
            <a:ext cx="640080" cy="265176"/>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1011</a:t>
            </a:r>
            <a:endParaRPr lang="en-US" sz="1100" dirty="0"/>
          </a:p>
        </p:txBody>
      </p:sp>
      <p:sp>
        <p:nvSpPr>
          <p:cNvPr id="8" name="a1wd800_cell7"/>
          <p:cNvSpPr txBox="1"/>
          <p:nvPr/>
        </p:nvSpPr>
        <p:spPr>
          <a:xfrm>
            <a:off x="457200" y="2295144"/>
            <a:ext cx="640080" cy="265176"/>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1019</a:t>
            </a:r>
            <a:endParaRPr lang="en-US" sz="1100" dirty="0"/>
          </a:p>
        </p:txBody>
      </p:sp>
      <p:sp>
        <p:nvSpPr>
          <p:cNvPr id="9" name="a1wd1000_cell8"/>
          <p:cNvSpPr txBox="1"/>
          <p:nvPr/>
        </p:nvSpPr>
        <p:spPr>
          <a:xfrm>
            <a:off x="457200" y="2560320"/>
            <a:ext cx="640080" cy="265176"/>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1027</a:t>
            </a:r>
            <a:endParaRPr lang="en-US" sz="1100" dirty="0"/>
          </a:p>
        </p:txBody>
      </p:sp>
      <p:sp>
        <p:nvSpPr>
          <p:cNvPr id="10" name="a1f_cell9"/>
          <p:cNvSpPr txBox="1"/>
          <p:nvPr/>
        </p:nvSpPr>
        <p:spPr>
          <a:xfrm>
            <a:off x="1097280" y="1234440"/>
            <a:ext cx="1188720" cy="265176"/>
          </a:xfrm>
          <a:prstGeom prst="rect">
            <a:avLst/>
          </a:prstGeom>
          <a:solidFill>
            <a:srgbClr val="475569"/>
          </a:solidFill>
          <a:ln w="9525">
            <a:solidFill>
              <a:srgbClr val="47556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cust_name</a:t>
            </a:r>
            <a:endParaRPr lang="en-US" sz="1100" dirty="0"/>
          </a:p>
        </p:txBody>
      </p:sp>
      <p:sp>
        <p:nvSpPr>
          <p:cNvPr id="11" name="a1wd200_cell10"/>
          <p:cNvSpPr txBox="1"/>
          <p:nvPr/>
        </p:nvSpPr>
        <p:spPr>
          <a:xfrm>
            <a:off x="1097280" y="1499616"/>
            <a:ext cx="1188720" cy="265176"/>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Rohan Iyer</a:t>
            </a:r>
            <a:endParaRPr lang="en-US" sz="1100" dirty="0"/>
          </a:p>
        </p:txBody>
      </p:sp>
      <p:sp>
        <p:nvSpPr>
          <p:cNvPr id="12" name="a1wd400_cell11"/>
          <p:cNvSpPr txBox="1"/>
          <p:nvPr/>
        </p:nvSpPr>
        <p:spPr>
          <a:xfrm>
            <a:off x="1097280" y="1764792"/>
            <a:ext cx="1188720" cy="265176"/>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Karthik Gupta</a:t>
            </a:r>
            <a:endParaRPr lang="en-US" sz="1100" dirty="0"/>
          </a:p>
        </p:txBody>
      </p:sp>
      <p:sp>
        <p:nvSpPr>
          <p:cNvPr id="13" name="a1wd600_cell12"/>
          <p:cNvSpPr txBox="1"/>
          <p:nvPr/>
        </p:nvSpPr>
        <p:spPr>
          <a:xfrm>
            <a:off x="1097280" y="2029968"/>
            <a:ext cx="1188720" cy="265176"/>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Rahul Khan</a:t>
            </a:r>
            <a:endParaRPr lang="en-US" sz="1100" dirty="0"/>
          </a:p>
        </p:txBody>
      </p:sp>
      <p:sp>
        <p:nvSpPr>
          <p:cNvPr id="14" name="a1wd800_cell13"/>
          <p:cNvSpPr txBox="1"/>
          <p:nvPr/>
        </p:nvSpPr>
        <p:spPr>
          <a:xfrm>
            <a:off x="1097280" y="2295144"/>
            <a:ext cx="1188720" cy="265176"/>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Manish Chopra</a:t>
            </a:r>
            <a:endParaRPr lang="en-US" sz="1100" dirty="0"/>
          </a:p>
        </p:txBody>
      </p:sp>
      <p:sp>
        <p:nvSpPr>
          <p:cNvPr id="15" name="a1wd1000_cell14"/>
          <p:cNvSpPr txBox="1"/>
          <p:nvPr/>
        </p:nvSpPr>
        <p:spPr>
          <a:xfrm>
            <a:off x="1097280" y="2560320"/>
            <a:ext cx="1188720" cy="265176"/>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Gaurav Patel</a:t>
            </a:r>
            <a:endParaRPr lang="en-US" sz="1100" dirty="0"/>
          </a:p>
        </p:txBody>
      </p:sp>
      <p:sp>
        <p:nvSpPr>
          <p:cNvPr id="16" name="a1f_cell15"/>
          <p:cNvSpPr txBox="1"/>
          <p:nvPr/>
        </p:nvSpPr>
        <p:spPr>
          <a:xfrm>
            <a:off x="2286000" y="1234440"/>
            <a:ext cx="914400" cy="265176"/>
          </a:xfrm>
          <a:prstGeom prst="rect">
            <a:avLst/>
          </a:prstGeom>
          <a:solidFill>
            <a:srgbClr val="475569"/>
          </a:solidFill>
          <a:ln w="9525">
            <a:solidFill>
              <a:srgbClr val="47556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branch_code</a:t>
            </a:r>
            <a:endParaRPr lang="en-US" sz="1100" dirty="0"/>
          </a:p>
        </p:txBody>
      </p:sp>
      <p:sp>
        <p:nvSpPr>
          <p:cNvPr id="17" name="a1wd200_cell16"/>
          <p:cNvSpPr txBox="1"/>
          <p:nvPr/>
        </p:nvSpPr>
        <p:spPr>
          <a:xfrm>
            <a:off x="2286000" y="1499616"/>
            <a:ext cx="914400" cy="265176"/>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BR03</a:t>
            </a:r>
            <a:endParaRPr lang="en-US" sz="1100" dirty="0"/>
          </a:p>
        </p:txBody>
      </p:sp>
      <p:sp>
        <p:nvSpPr>
          <p:cNvPr id="18" name="a1wd400_cell17"/>
          <p:cNvSpPr txBox="1"/>
          <p:nvPr/>
        </p:nvSpPr>
        <p:spPr>
          <a:xfrm>
            <a:off x="2286000" y="1764792"/>
            <a:ext cx="914400" cy="265176"/>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BR05</a:t>
            </a:r>
            <a:endParaRPr lang="en-US" sz="1100" dirty="0"/>
          </a:p>
        </p:txBody>
      </p:sp>
      <p:sp>
        <p:nvSpPr>
          <p:cNvPr id="19" name="a1wd600_cell18"/>
          <p:cNvSpPr txBox="1"/>
          <p:nvPr/>
        </p:nvSpPr>
        <p:spPr>
          <a:xfrm>
            <a:off x="2286000" y="2029968"/>
            <a:ext cx="914400" cy="265176"/>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BR03</a:t>
            </a:r>
            <a:endParaRPr lang="en-US" sz="1100" dirty="0"/>
          </a:p>
        </p:txBody>
      </p:sp>
      <p:sp>
        <p:nvSpPr>
          <p:cNvPr id="20" name="a1wd800_cell19"/>
          <p:cNvSpPr txBox="1"/>
          <p:nvPr/>
        </p:nvSpPr>
        <p:spPr>
          <a:xfrm>
            <a:off x="2286000" y="2295144"/>
            <a:ext cx="914400" cy="265176"/>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BR03</a:t>
            </a:r>
            <a:endParaRPr lang="en-US" sz="1100" dirty="0"/>
          </a:p>
        </p:txBody>
      </p:sp>
      <p:sp>
        <p:nvSpPr>
          <p:cNvPr id="21" name="a1wd1000_cell20"/>
          <p:cNvSpPr txBox="1"/>
          <p:nvPr/>
        </p:nvSpPr>
        <p:spPr>
          <a:xfrm>
            <a:off x="2286000" y="2560320"/>
            <a:ext cx="914400" cy="265176"/>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BR03</a:t>
            </a:r>
            <a:endParaRPr lang="en-US" sz="1100" dirty="0"/>
          </a:p>
        </p:txBody>
      </p:sp>
      <p:sp>
        <p:nvSpPr>
          <p:cNvPr id="22" name="a1f_cell21"/>
          <p:cNvSpPr txBox="1"/>
          <p:nvPr/>
        </p:nvSpPr>
        <p:spPr>
          <a:xfrm>
            <a:off x="3200400" y="1234440"/>
            <a:ext cx="1371600" cy="265176"/>
          </a:xfrm>
          <a:prstGeom prst="rect">
            <a:avLst/>
          </a:prstGeom>
          <a:solidFill>
            <a:srgbClr val="475569"/>
          </a:solidFill>
          <a:ln w="9525">
            <a:solidFill>
              <a:srgbClr val="47556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branch_name</a:t>
            </a:r>
            <a:endParaRPr lang="en-US" sz="1100" dirty="0"/>
          </a:p>
        </p:txBody>
      </p:sp>
      <p:sp>
        <p:nvSpPr>
          <p:cNvPr id="23" name="a1wd200_cell22"/>
          <p:cNvSpPr txBox="1"/>
          <p:nvPr/>
        </p:nvSpPr>
        <p:spPr>
          <a:xfrm>
            <a:off x="3200400" y="1499616"/>
            <a:ext cx="1371600" cy="265176"/>
          </a:xfrm>
          <a:prstGeom prst="rect">
            <a:avLst/>
          </a:prstGeom>
          <a:solidFill>
            <a:srgbClr val="FEE2E2"/>
          </a:solidFill>
          <a:ln w="9525">
            <a:solidFill>
              <a:srgbClr val="CBD5E1"/>
            </a:solidFill>
            <a:prstDash val="solid"/>
          </a:ln>
        </p:spPr>
        <p:txBody>
          <a:bodyPr wrap="square" lIns="0" tIns="0" rIns="0" bIns="0" rtlCol="0" anchor="ctr"/>
          <a:lstStyle/>
          <a:p>
            <a:pPr marL="0" indent="0" algn="ctr">
              <a:buNone/>
            </a:pPr>
            <a:r>
              <a:rPr lang="en-US" sz="1100" b="1" dirty="0">
                <a:solidFill>
                  <a:srgbClr val="DC2626"/>
                </a:solidFill>
                <a:latin typeface="Calibri" pitchFamily="34" charset="0"/>
                <a:ea typeface="Calibri" pitchFamily="34" charset="-122"/>
                <a:cs typeface="Calibri" pitchFamily="34" charset="-120"/>
              </a:rPr>
              <a:t>Koramangala</a:t>
            </a:r>
            <a:endParaRPr lang="en-US" sz="1100" dirty="0"/>
          </a:p>
        </p:txBody>
      </p:sp>
      <p:sp>
        <p:nvSpPr>
          <p:cNvPr id="24" name="a1wd400_cell23"/>
          <p:cNvSpPr txBox="1"/>
          <p:nvPr/>
        </p:nvSpPr>
        <p:spPr>
          <a:xfrm>
            <a:off x="3200400" y="1764792"/>
            <a:ext cx="1371600" cy="265176"/>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T Nagar Chennai</a:t>
            </a:r>
            <a:endParaRPr lang="en-US" sz="1100" dirty="0"/>
          </a:p>
        </p:txBody>
      </p:sp>
      <p:sp>
        <p:nvSpPr>
          <p:cNvPr id="25" name="a1wd600_cell24"/>
          <p:cNvSpPr txBox="1"/>
          <p:nvPr/>
        </p:nvSpPr>
        <p:spPr>
          <a:xfrm>
            <a:off x="3200400" y="2029968"/>
            <a:ext cx="1371600" cy="265176"/>
          </a:xfrm>
          <a:prstGeom prst="rect">
            <a:avLst/>
          </a:prstGeom>
          <a:solidFill>
            <a:srgbClr val="FEE2E2"/>
          </a:solidFill>
          <a:ln w="9525">
            <a:solidFill>
              <a:srgbClr val="CBD5E1"/>
            </a:solidFill>
            <a:prstDash val="solid"/>
          </a:ln>
        </p:spPr>
        <p:txBody>
          <a:bodyPr wrap="square" lIns="0" tIns="0" rIns="0" bIns="0" rtlCol="0" anchor="ctr"/>
          <a:lstStyle/>
          <a:p>
            <a:pPr marL="0" indent="0" algn="ctr">
              <a:buNone/>
            </a:pPr>
            <a:r>
              <a:rPr lang="en-US" sz="1100" b="1" dirty="0">
                <a:solidFill>
                  <a:srgbClr val="DC2626"/>
                </a:solidFill>
                <a:latin typeface="Calibri" pitchFamily="34" charset="0"/>
                <a:ea typeface="Calibri" pitchFamily="34" charset="-122"/>
                <a:cs typeface="Calibri" pitchFamily="34" charset="-120"/>
              </a:rPr>
              <a:t>Koramangla</a:t>
            </a:r>
            <a:endParaRPr lang="en-US" sz="1100" dirty="0"/>
          </a:p>
        </p:txBody>
      </p:sp>
      <p:sp>
        <p:nvSpPr>
          <p:cNvPr id="26" name="a1wd800_cell25"/>
          <p:cNvSpPr txBox="1"/>
          <p:nvPr/>
        </p:nvSpPr>
        <p:spPr>
          <a:xfrm>
            <a:off x="3200400" y="2295144"/>
            <a:ext cx="1371600" cy="265176"/>
          </a:xfrm>
          <a:prstGeom prst="rect">
            <a:avLst/>
          </a:prstGeom>
          <a:solidFill>
            <a:srgbClr val="FEE2E2"/>
          </a:solidFill>
          <a:ln w="9525">
            <a:solidFill>
              <a:srgbClr val="CBD5E1"/>
            </a:solidFill>
            <a:prstDash val="solid"/>
          </a:ln>
        </p:spPr>
        <p:txBody>
          <a:bodyPr wrap="square" lIns="0" tIns="0" rIns="0" bIns="0" rtlCol="0" anchor="ctr"/>
          <a:lstStyle/>
          <a:p>
            <a:pPr marL="0" indent="0" algn="ctr">
              <a:buNone/>
            </a:pPr>
            <a:r>
              <a:rPr lang="en-US" sz="1100" b="1" dirty="0">
                <a:solidFill>
                  <a:srgbClr val="DC2626"/>
                </a:solidFill>
                <a:latin typeface="Calibri" pitchFamily="34" charset="0"/>
                <a:ea typeface="Calibri" pitchFamily="34" charset="-122"/>
                <a:cs typeface="Calibri" pitchFamily="34" charset="-120"/>
              </a:rPr>
              <a:t>Kormangala</a:t>
            </a:r>
            <a:endParaRPr lang="en-US" sz="1100" dirty="0"/>
          </a:p>
        </p:txBody>
      </p:sp>
      <p:sp>
        <p:nvSpPr>
          <p:cNvPr id="27" name="a1wd1000_cell26"/>
          <p:cNvSpPr txBox="1"/>
          <p:nvPr/>
        </p:nvSpPr>
        <p:spPr>
          <a:xfrm>
            <a:off x="3200400" y="2560320"/>
            <a:ext cx="1371600" cy="265176"/>
          </a:xfrm>
          <a:prstGeom prst="rect">
            <a:avLst/>
          </a:prstGeom>
          <a:solidFill>
            <a:srgbClr val="FEE2E2"/>
          </a:solidFill>
          <a:ln w="9525">
            <a:solidFill>
              <a:srgbClr val="CBD5E1"/>
            </a:solidFill>
            <a:prstDash val="solid"/>
          </a:ln>
        </p:spPr>
        <p:txBody>
          <a:bodyPr wrap="square" lIns="0" tIns="0" rIns="0" bIns="0" rtlCol="0" anchor="ctr"/>
          <a:lstStyle/>
          <a:p>
            <a:pPr marL="0" indent="0" algn="ctr">
              <a:buNone/>
            </a:pPr>
            <a:r>
              <a:rPr lang="en-US" sz="1100" b="1" dirty="0">
                <a:solidFill>
                  <a:srgbClr val="DC2626"/>
                </a:solidFill>
                <a:latin typeface="Calibri" pitchFamily="34" charset="0"/>
                <a:ea typeface="Calibri" pitchFamily="34" charset="-122"/>
                <a:cs typeface="Calibri" pitchFamily="34" charset="-120"/>
              </a:rPr>
              <a:t>'Koramangala '</a:t>
            </a:r>
            <a:endParaRPr lang="en-US" sz="1100" dirty="0"/>
          </a:p>
        </p:txBody>
      </p:sp>
      <p:sp>
        <p:nvSpPr>
          <p:cNvPr id="28" name="a1f_cell27"/>
          <p:cNvSpPr txBox="1"/>
          <p:nvPr/>
        </p:nvSpPr>
        <p:spPr>
          <a:xfrm>
            <a:off x="4572000" y="1234440"/>
            <a:ext cx="914400" cy="265176"/>
          </a:xfrm>
          <a:prstGeom prst="rect">
            <a:avLst/>
          </a:prstGeom>
          <a:solidFill>
            <a:srgbClr val="475569"/>
          </a:solidFill>
          <a:ln w="9525">
            <a:solidFill>
              <a:srgbClr val="47556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acct_no_1</a:t>
            </a:r>
            <a:endParaRPr lang="en-US" sz="1100" dirty="0"/>
          </a:p>
        </p:txBody>
      </p:sp>
      <p:sp>
        <p:nvSpPr>
          <p:cNvPr id="29" name="a1wd200_cell28"/>
          <p:cNvSpPr txBox="1"/>
          <p:nvPr/>
        </p:nvSpPr>
        <p:spPr>
          <a:xfrm>
            <a:off x="4572000" y="1499616"/>
            <a:ext cx="914400" cy="265176"/>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…9003</a:t>
            </a:r>
            <a:endParaRPr lang="en-US" sz="1100" dirty="0"/>
          </a:p>
        </p:txBody>
      </p:sp>
      <p:sp>
        <p:nvSpPr>
          <p:cNvPr id="30" name="a1wd400_cell29"/>
          <p:cNvSpPr txBox="1"/>
          <p:nvPr/>
        </p:nvSpPr>
        <p:spPr>
          <a:xfrm>
            <a:off x="4572000" y="1764792"/>
            <a:ext cx="914400" cy="265176"/>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…9005</a:t>
            </a:r>
            <a:endParaRPr lang="en-US" sz="1100" dirty="0"/>
          </a:p>
        </p:txBody>
      </p:sp>
      <p:sp>
        <p:nvSpPr>
          <p:cNvPr id="31" name="a1wd600_cell30"/>
          <p:cNvSpPr txBox="1"/>
          <p:nvPr/>
        </p:nvSpPr>
        <p:spPr>
          <a:xfrm>
            <a:off x="4572000" y="2029968"/>
            <a:ext cx="914400" cy="265176"/>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…9013</a:t>
            </a:r>
            <a:endParaRPr lang="en-US" sz="1100" dirty="0"/>
          </a:p>
        </p:txBody>
      </p:sp>
      <p:sp>
        <p:nvSpPr>
          <p:cNvPr id="32" name="a1wd800_cell31"/>
          <p:cNvSpPr txBox="1"/>
          <p:nvPr/>
        </p:nvSpPr>
        <p:spPr>
          <a:xfrm>
            <a:off x="4572000" y="2295144"/>
            <a:ext cx="914400" cy="265176"/>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…9022</a:t>
            </a:r>
            <a:endParaRPr lang="en-US" sz="1100" dirty="0"/>
          </a:p>
        </p:txBody>
      </p:sp>
      <p:sp>
        <p:nvSpPr>
          <p:cNvPr id="33" name="a1wd1000_cell32"/>
          <p:cNvSpPr txBox="1"/>
          <p:nvPr/>
        </p:nvSpPr>
        <p:spPr>
          <a:xfrm>
            <a:off x="4572000" y="2560320"/>
            <a:ext cx="914400" cy="265176"/>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…9032</a:t>
            </a:r>
            <a:endParaRPr lang="en-US" sz="1100" dirty="0"/>
          </a:p>
        </p:txBody>
      </p:sp>
      <p:sp>
        <p:nvSpPr>
          <p:cNvPr id="34" name="a1f_cell33"/>
          <p:cNvSpPr txBox="1"/>
          <p:nvPr/>
        </p:nvSpPr>
        <p:spPr>
          <a:xfrm>
            <a:off x="5486400" y="1234440"/>
            <a:ext cx="914400" cy="265176"/>
          </a:xfrm>
          <a:prstGeom prst="rect">
            <a:avLst/>
          </a:prstGeom>
          <a:solidFill>
            <a:srgbClr val="475569"/>
          </a:solidFill>
          <a:ln w="9525">
            <a:solidFill>
              <a:srgbClr val="47556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acct_no_2</a:t>
            </a:r>
            <a:endParaRPr lang="en-US" sz="1100" dirty="0"/>
          </a:p>
        </p:txBody>
      </p:sp>
      <p:sp>
        <p:nvSpPr>
          <p:cNvPr id="35" name="a1wd200_cell34"/>
          <p:cNvSpPr txBox="1"/>
          <p:nvPr/>
        </p:nvSpPr>
        <p:spPr>
          <a:xfrm>
            <a:off x="5486400" y="1499616"/>
            <a:ext cx="914400" cy="265176"/>
          </a:xfrm>
          <a:prstGeom prst="rect">
            <a:avLst/>
          </a:prstGeom>
          <a:solidFill>
            <a:srgbClr val="FFEDD5"/>
          </a:solidFill>
          <a:ln w="9525">
            <a:solidFill>
              <a:srgbClr val="CBD5E1"/>
            </a:solidFill>
            <a:prstDash val="solid"/>
          </a:ln>
        </p:spPr>
        <p:txBody>
          <a:bodyPr wrap="square" lIns="0" tIns="0" rIns="0" bIns="0" rtlCol="0" anchor="ctr"/>
          <a:lstStyle/>
          <a:p>
            <a:pPr marL="0" indent="0" algn="ctr">
              <a:buNone/>
            </a:pPr>
            <a:r>
              <a:rPr lang="en-US" sz="1100" i="1" dirty="0">
                <a:solidFill>
                  <a:srgbClr val="94A3B8"/>
                </a:solidFill>
                <a:latin typeface="Calibri" pitchFamily="34" charset="0"/>
                <a:ea typeface="Calibri" pitchFamily="34" charset="-122"/>
                <a:cs typeface="Calibri" pitchFamily="34" charset="-120"/>
              </a:rPr>
              <a:t>NULL</a:t>
            </a:r>
            <a:endParaRPr lang="en-US" sz="1100" dirty="0"/>
          </a:p>
        </p:txBody>
      </p:sp>
      <p:sp>
        <p:nvSpPr>
          <p:cNvPr id="36" name="a1wd400_cell35"/>
          <p:cNvSpPr txBox="1"/>
          <p:nvPr/>
        </p:nvSpPr>
        <p:spPr>
          <a:xfrm>
            <a:off x="5486400" y="1764792"/>
            <a:ext cx="914400" cy="265176"/>
          </a:xfrm>
          <a:prstGeom prst="rect">
            <a:avLst/>
          </a:prstGeom>
          <a:solidFill>
            <a:srgbClr val="FFEDD5"/>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…9006</a:t>
            </a:r>
            <a:endParaRPr lang="en-US" sz="1100" dirty="0"/>
          </a:p>
        </p:txBody>
      </p:sp>
      <p:sp>
        <p:nvSpPr>
          <p:cNvPr id="37" name="a1wd600_cell36"/>
          <p:cNvSpPr txBox="1"/>
          <p:nvPr/>
        </p:nvSpPr>
        <p:spPr>
          <a:xfrm>
            <a:off x="5486400" y="2029968"/>
            <a:ext cx="914400" cy="265176"/>
          </a:xfrm>
          <a:prstGeom prst="rect">
            <a:avLst/>
          </a:prstGeom>
          <a:solidFill>
            <a:srgbClr val="FFEDD5"/>
          </a:solidFill>
          <a:ln w="9525">
            <a:solidFill>
              <a:srgbClr val="CBD5E1"/>
            </a:solidFill>
            <a:prstDash val="solid"/>
          </a:ln>
        </p:spPr>
        <p:txBody>
          <a:bodyPr wrap="square" lIns="0" tIns="0" rIns="0" bIns="0" rtlCol="0" anchor="ctr"/>
          <a:lstStyle/>
          <a:p>
            <a:pPr marL="0" indent="0" algn="ctr">
              <a:buNone/>
            </a:pPr>
            <a:r>
              <a:rPr lang="en-US" sz="1100" i="1" dirty="0">
                <a:solidFill>
                  <a:srgbClr val="94A3B8"/>
                </a:solidFill>
                <a:latin typeface="Calibri" pitchFamily="34" charset="0"/>
                <a:ea typeface="Calibri" pitchFamily="34" charset="-122"/>
                <a:cs typeface="Calibri" pitchFamily="34" charset="-120"/>
              </a:rPr>
              <a:t>NULL</a:t>
            </a:r>
            <a:endParaRPr lang="en-US" sz="1100" dirty="0"/>
          </a:p>
        </p:txBody>
      </p:sp>
      <p:sp>
        <p:nvSpPr>
          <p:cNvPr id="38" name="a1wd800_cell37"/>
          <p:cNvSpPr txBox="1"/>
          <p:nvPr/>
        </p:nvSpPr>
        <p:spPr>
          <a:xfrm>
            <a:off x="5486400" y="2295144"/>
            <a:ext cx="914400" cy="265176"/>
          </a:xfrm>
          <a:prstGeom prst="rect">
            <a:avLst/>
          </a:prstGeom>
          <a:solidFill>
            <a:srgbClr val="FFEDD5"/>
          </a:solidFill>
          <a:ln w="9525">
            <a:solidFill>
              <a:srgbClr val="CBD5E1"/>
            </a:solidFill>
            <a:prstDash val="solid"/>
          </a:ln>
        </p:spPr>
        <p:txBody>
          <a:bodyPr wrap="square" lIns="0" tIns="0" rIns="0" bIns="0" rtlCol="0" anchor="ctr"/>
          <a:lstStyle/>
          <a:p>
            <a:pPr marL="0" indent="0" algn="ctr">
              <a:buNone/>
            </a:pPr>
            <a:r>
              <a:rPr lang="en-US" sz="1100" i="1" dirty="0">
                <a:solidFill>
                  <a:srgbClr val="94A3B8"/>
                </a:solidFill>
                <a:latin typeface="Calibri" pitchFamily="34" charset="0"/>
                <a:ea typeface="Calibri" pitchFamily="34" charset="-122"/>
                <a:cs typeface="Calibri" pitchFamily="34" charset="-120"/>
              </a:rPr>
              <a:t>NULL</a:t>
            </a:r>
            <a:endParaRPr lang="en-US" sz="1100" dirty="0"/>
          </a:p>
        </p:txBody>
      </p:sp>
      <p:sp>
        <p:nvSpPr>
          <p:cNvPr id="39" name="a1wd1000_cell38"/>
          <p:cNvSpPr txBox="1"/>
          <p:nvPr/>
        </p:nvSpPr>
        <p:spPr>
          <a:xfrm>
            <a:off x="5486400" y="2560320"/>
            <a:ext cx="914400" cy="265176"/>
          </a:xfrm>
          <a:prstGeom prst="rect">
            <a:avLst/>
          </a:prstGeom>
          <a:solidFill>
            <a:srgbClr val="FFEDD5"/>
          </a:solidFill>
          <a:ln w="9525">
            <a:solidFill>
              <a:srgbClr val="CBD5E1"/>
            </a:solidFill>
            <a:prstDash val="solid"/>
          </a:ln>
        </p:spPr>
        <p:txBody>
          <a:bodyPr wrap="square" lIns="0" tIns="0" rIns="0" bIns="0" rtlCol="0" anchor="ctr"/>
          <a:lstStyle/>
          <a:p>
            <a:pPr marL="0" indent="0" algn="ctr">
              <a:buNone/>
            </a:pPr>
            <a:r>
              <a:rPr lang="en-US" sz="1100" i="1" dirty="0">
                <a:solidFill>
                  <a:srgbClr val="94A3B8"/>
                </a:solidFill>
                <a:latin typeface="Calibri" pitchFamily="34" charset="0"/>
                <a:ea typeface="Calibri" pitchFamily="34" charset="-122"/>
                <a:cs typeface="Calibri" pitchFamily="34" charset="-120"/>
              </a:rPr>
              <a:t>NULL</a:t>
            </a:r>
            <a:endParaRPr lang="en-US" sz="1100" dirty="0"/>
          </a:p>
        </p:txBody>
      </p:sp>
      <p:sp>
        <p:nvSpPr>
          <p:cNvPr id="40" name="a1f_cell39"/>
          <p:cNvSpPr txBox="1"/>
          <p:nvPr/>
        </p:nvSpPr>
        <p:spPr>
          <a:xfrm>
            <a:off x="6400800" y="1234440"/>
            <a:ext cx="1371600" cy="265176"/>
          </a:xfrm>
          <a:prstGeom prst="rect">
            <a:avLst/>
          </a:prstGeom>
          <a:solidFill>
            <a:srgbClr val="475569"/>
          </a:solidFill>
          <a:ln w="9525">
            <a:solidFill>
              <a:srgbClr val="47556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products</a:t>
            </a:r>
            <a:endParaRPr lang="en-US" sz="1100" dirty="0"/>
          </a:p>
        </p:txBody>
      </p:sp>
      <p:sp>
        <p:nvSpPr>
          <p:cNvPr id="41" name="a1wd200_cell40"/>
          <p:cNvSpPr txBox="1"/>
          <p:nvPr/>
        </p:nvSpPr>
        <p:spPr>
          <a:xfrm>
            <a:off x="6400800" y="1499616"/>
            <a:ext cx="1371600" cy="265176"/>
          </a:xfrm>
          <a:prstGeom prst="rect">
            <a:avLst/>
          </a:prstGeom>
          <a:solidFill>
            <a:srgbClr val="EDE9FE"/>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FD,LOAN,CARD</a:t>
            </a:r>
            <a:endParaRPr lang="en-US" sz="1100" dirty="0"/>
          </a:p>
        </p:txBody>
      </p:sp>
      <p:sp>
        <p:nvSpPr>
          <p:cNvPr id="42" name="a1wd400_cell41"/>
          <p:cNvSpPr txBox="1"/>
          <p:nvPr/>
        </p:nvSpPr>
        <p:spPr>
          <a:xfrm>
            <a:off x="6400800" y="1764792"/>
            <a:ext cx="1371600" cy="265176"/>
          </a:xfrm>
          <a:prstGeom prst="rect">
            <a:avLst/>
          </a:prstGeom>
          <a:solidFill>
            <a:srgbClr val="EDE9FE"/>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FD,LOAN,CARD</a:t>
            </a:r>
            <a:endParaRPr lang="en-US" sz="1100" dirty="0"/>
          </a:p>
        </p:txBody>
      </p:sp>
      <p:sp>
        <p:nvSpPr>
          <p:cNvPr id="43" name="a1wd600_cell42"/>
          <p:cNvSpPr txBox="1"/>
          <p:nvPr/>
        </p:nvSpPr>
        <p:spPr>
          <a:xfrm>
            <a:off x="6400800" y="2029968"/>
            <a:ext cx="1371600" cy="265176"/>
          </a:xfrm>
          <a:prstGeom prst="rect">
            <a:avLst/>
          </a:prstGeom>
          <a:solidFill>
            <a:srgbClr val="EDE9FE"/>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LOAN,CARD</a:t>
            </a:r>
            <a:endParaRPr lang="en-US" sz="1100" dirty="0"/>
          </a:p>
        </p:txBody>
      </p:sp>
      <p:sp>
        <p:nvSpPr>
          <p:cNvPr id="44" name="a1wd800_cell43"/>
          <p:cNvSpPr txBox="1"/>
          <p:nvPr/>
        </p:nvSpPr>
        <p:spPr>
          <a:xfrm>
            <a:off x="6400800" y="2295144"/>
            <a:ext cx="1371600" cy="265176"/>
          </a:xfrm>
          <a:prstGeom prst="rect">
            <a:avLst/>
          </a:prstGeom>
          <a:solidFill>
            <a:srgbClr val="EDE9FE"/>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LOAN,CARD</a:t>
            </a:r>
            <a:endParaRPr lang="en-US" sz="1100" dirty="0"/>
          </a:p>
        </p:txBody>
      </p:sp>
      <p:sp>
        <p:nvSpPr>
          <p:cNvPr id="45" name="a1wd1000_cell44"/>
          <p:cNvSpPr txBox="1"/>
          <p:nvPr/>
        </p:nvSpPr>
        <p:spPr>
          <a:xfrm>
            <a:off x="6400800" y="2560320"/>
            <a:ext cx="1371600" cy="265176"/>
          </a:xfrm>
          <a:prstGeom prst="rect">
            <a:avLst/>
          </a:prstGeom>
          <a:solidFill>
            <a:srgbClr val="EDE9FE"/>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CARD</a:t>
            </a:r>
            <a:endParaRPr lang="en-US" sz="1100" dirty="0"/>
          </a:p>
        </p:txBody>
      </p:sp>
      <p:sp>
        <p:nvSpPr>
          <p:cNvPr id="46" name="a2u_c45"/>
          <p:cNvSpPr/>
          <p:nvPr/>
        </p:nvSpPr>
        <p:spPr>
          <a:xfrm>
            <a:off x="457200" y="3108960"/>
            <a:ext cx="2606040" cy="1234440"/>
          </a:xfrm>
          <a:prstGeom prst="roundRect">
            <a:avLst>
              <a:gd name="adj" fmla="val 8000"/>
            </a:avLst>
          </a:prstGeom>
          <a:solidFill>
            <a:srgbClr val="FEE2E2"/>
          </a:solidFill>
          <a:ln w="12700">
            <a:solidFill>
              <a:srgbClr val="FEE2E2"/>
            </a:solidFill>
            <a:prstDash val="solid"/>
          </a:ln>
        </p:spPr>
      </p:sp>
      <p:sp>
        <p:nvSpPr>
          <p:cNvPr id="47" name="a2u_h46"/>
          <p:cNvSpPr txBox="1"/>
          <p:nvPr/>
        </p:nvSpPr>
        <p:spPr>
          <a:xfrm>
            <a:off x="640080" y="3200400"/>
            <a:ext cx="2286000" cy="320040"/>
          </a:xfrm>
          <a:prstGeom prst="rect">
            <a:avLst/>
          </a:prstGeom>
          <a:noFill/>
          <a:ln/>
        </p:spPr>
        <p:txBody>
          <a:bodyPr wrap="square" lIns="0" tIns="0" rIns="0" bIns="0" rtlCol="0" anchor="ctr"/>
          <a:lstStyle/>
          <a:p>
            <a:pPr marL="0" indent="0">
              <a:buNone/>
            </a:pPr>
            <a:r>
              <a:rPr lang="en-US" sz="1300" b="1" dirty="0">
                <a:solidFill>
                  <a:srgbClr val="DC2626"/>
                </a:solidFill>
                <a:latin typeface="Calibri" pitchFamily="34" charset="0"/>
                <a:ea typeface="Calibri" pitchFamily="34" charset="-122"/>
                <a:cs typeface="Calibri" pitchFamily="34" charset="-120"/>
              </a:rPr>
              <a:t>One branch, four spellings</a:t>
            </a:r>
            <a:endParaRPr lang="en-US" sz="1300" dirty="0"/>
          </a:p>
        </p:txBody>
      </p:sp>
      <p:sp>
        <p:nvSpPr>
          <p:cNvPr id="48" name="a2u_d47"/>
          <p:cNvSpPr txBox="1"/>
          <p:nvPr/>
        </p:nvSpPr>
        <p:spPr>
          <a:xfrm>
            <a:off x="640080" y="3547872"/>
            <a:ext cx="2286000" cy="731520"/>
          </a:xfrm>
          <a:prstGeom prst="rect">
            <a:avLst/>
          </a:prstGeom>
          <a:noFill/>
          <a:ln/>
        </p:spPr>
        <p:txBody>
          <a:bodyPr wrap="square" lIns="0" tIns="0" rIns="0" bIns="0" rtlCol="0" anchor="t"/>
          <a:lstStyle/>
          <a:p>
            <a:pPr marL="0" indent="0">
              <a:buNone/>
            </a:pPr>
            <a:r>
              <a:rPr lang="en-US" sz="1150" dirty="0">
                <a:solidFill>
                  <a:srgbClr val="334155"/>
                </a:solidFill>
                <a:latin typeface="Calibri" pitchFamily="34" charset="0"/>
                <a:ea typeface="Calibri" pitchFamily="34" charset="-122"/>
                <a:cs typeface="Calibri" pitchFamily="34" charset="-120"/>
              </a:rPr>
              <a:t>branch_name is typed on every customer row</a:t>
            </a:r>
            <a:endParaRPr lang="en-US" sz="1150" dirty="0"/>
          </a:p>
        </p:txBody>
      </p:sp>
      <p:sp>
        <p:nvSpPr>
          <p:cNvPr id="49" name="a3u_c48"/>
          <p:cNvSpPr/>
          <p:nvPr/>
        </p:nvSpPr>
        <p:spPr>
          <a:xfrm>
            <a:off x="3268980" y="3108960"/>
            <a:ext cx="2606040" cy="1234440"/>
          </a:xfrm>
          <a:prstGeom prst="roundRect">
            <a:avLst>
              <a:gd name="adj" fmla="val 8000"/>
            </a:avLst>
          </a:prstGeom>
          <a:solidFill>
            <a:srgbClr val="FFEDD5"/>
          </a:solidFill>
          <a:ln w="12700">
            <a:solidFill>
              <a:srgbClr val="FFEDD5"/>
            </a:solidFill>
            <a:prstDash val="solid"/>
          </a:ln>
        </p:spPr>
      </p:sp>
      <p:sp>
        <p:nvSpPr>
          <p:cNvPr id="50" name="a3u_h49"/>
          <p:cNvSpPr txBox="1"/>
          <p:nvPr/>
        </p:nvSpPr>
        <p:spPr>
          <a:xfrm>
            <a:off x="3451860" y="3200400"/>
            <a:ext cx="2286000" cy="320040"/>
          </a:xfrm>
          <a:prstGeom prst="rect">
            <a:avLst/>
          </a:prstGeom>
          <a:noFill/>
          <a:ln/>
        </p:spPr>
        <p:txBody>
          <a:bodyPr wrap="square" lIns="0" tIns="0" rIns="0" bIns="0" rtlCol="0" anchor="ctr"/>
          <a:lstStyle/>
          <a:p>
            <a:pPr marL="0" indent="0">
              <a:buNone/>
            </a:pPr>
            <a:r>
              <a:rPr lang="en-US" sz="1300" b="1" dirty="0">
                <a:solidFill>
                  <a:srgbClr val="B45309"/>
                </a:solidFill>
                <a:latin typeface="Calibri" pitchFamily="34" charset="0"/>
                <a:ea typeface="Calibri" pitchFamily="34" charset="-122"/>
                <a:cs typeface="Calibri" pitchFamily="34" charset="-120"/>
              </a:rPr>
              <a:t>A repeating group</a:t>
            </a:r>
            <a:endParaRPr lang="en-US" sz="1300" dirty="0"/>
          </a:p>
        </p:txBody>
      </p:sp>
      <p:sp>
        <p:nvSpPr>
          <p:cNvPr id="51" name="a3u_d50"/>
          <p:cNvSpPr txBox="1"/>
          <p:nvPr/>
        </p:nvSpPr>
        <p:spPr>
          <a:xfrm>
            <a:off x="3451860" y="3547872"/>
            <a:ext cx="2286000" cy="731520"/>
          </a:xfrm>
          <a:prstGeom prst="rect">
            <a:avLst/>
          </a:prstGeom>
          <a:noFill/>
          <a:ln/>
        </p:spPr>
        <p:txBody>
          <a:bodyPr wrap="square" lIns="0" tIns="0" rIns="0" bIns="0" rtlCol="0" anchor="t"/>
          <a:lstStyle/>
          <a:p>
            <a:pPr marL="0" indent="0">
              <a:buNone/>
            </a:pPr>
            <a:r>
              <a:rPr lang="en-US" sz="1150" dirty="0">
                <a:solidFill>
                  <a:srgbClr val="334155"/>
                </a:solidFill>
                <a:latin typeface="Calibri" pitchFamily="34" charset="0"/>
                <a:ea typeface="Calibri" pitchFamily="34" charset="-122"/>
                <a:cs typeface="Calibri" pitchFamily="34" charset="-120"/>
              </a:rPr>
              <a:t>acct_no_1, acct_no_2 … a third account needs ALTER TABLE</a:t>
            </a:r>
            <a:endParaRPr lang="en-US" sz="1150" dirty="0"/>
          </a:p>
        </p:txBody>
      </p:sp>
      <p:sp>
        <p:nvSpPr>
          <p:cNvPr id="52" name="a4u_c51"/>
          <p:cNvSpPr/>
          <p:nvPr/>
        </p:nvSpPr>
        <p:spPr>
          <a:xfrm>
            <a:off x="6080760" y="3108960"/>
            <a:ext cx="2606040" cy="1234440"/>
          </a:xfrm>
          <a:prstGeom prst="roundRect">
            <a:avLst>
              <a:gd name="adj" fmla="val 8000"/>
            </a:avLst>
          </a:prstGeom>
          <a:solidFill>
            <a:srgbClr val="EDE9FE"/>
          </a:solidFill>
          <a:ln w="12700">
            <a:solidFill>
              <a:srgbClr val="EDE9FE"/>
            </a:solidFill>
            <a:prstDash val="solid"/>
          </a:ln>
        </p:spPr>
      </p:sp>
      <p:sp>
        <p:nvSpPr>
          <p:cNvPr id="53" name="a4u_h52"/>
          <p:cNvSpPr txBox="1"/>
          <p:nvPr/>
        </p:nvSpPr>
        <p:spPr>
          <a:xfrm>
            <a:off x="6263640" y="3200400"/>
            <a:ext cx="2286000" cy="320040"/>
          </a:xfrm>
          <a:prstGeom prst="rect">
            <a:avLst/>
          </a:prstGeom>
          <a:noFill/>
          <a:ln/>
        </p:spPr>
        <p:txBody>
          <a:bodyPr wrap="square" lIns="0" tIns="0" rIns="0" bIns="0" rtlCol="0" anchor="ctr"/>
          <a:lstStyle/>
          <a:p>
            <a:pPr marL="0" indent="0">
              <a:buNone/>
            </a:pPr>
            <a:r>
              <a:rPr lang="en-US" sz="1300" b="1" dirty="0">
                <a:solidFill>
                  <a:srgbClr val="6D28D9"/>
                </a:solidFill>
                <a:latin typeface="Calibri" pitchFamily="34" charset="0"/>
                <a:ea typeface="Calibri" pitchFamily="34" charset="-122"/>
                <a:cs typeface="Calibri" pitchFamily="34" charset="-120"/>
              </a:rPr>
              <a:t>A list in one cell</a:t>
            </a:r>
            <a:endParaRPr lang="en-US" sz="1300" dirty="0"/>
          </a:p>
        </p:txBody>
      </p:sp>
      <p:sp>
        <p:nvSpPr>
          <p:cNvPr id="54" name="a4u_d53"/>
          <p:cNvSpPr txBox="1"/>
          <p:nvPr/>
        </p:nvSpPr>
        <p:spPr>
          <a:xfrm>
            <a:off x="6263640" y="3547872"/>
            <a:ext cx="2286000" cy="731520"/>
          </a:xfrm>
          <a:prstGeom prst="rect">
            <a:avLst/>
          </a:prstGeom>
          <a:noFill/>
          <a:ln/>
        </p:spPr>
        <p:txBody>
          <a:bodyPr wrap="square" lIns="0" tIns="0" rIns="0" bIns="0" rtlCol="0" anchor="t"/>
          <a:lstStyle/>
          <a:p>
            <a:pPr marL="0" indent="0">
              <a:buNone/>
            </a:pPr>
            <a:r>
              <a:rPr lang="en-US" sz="1150" dirty="0">
                <a:solidFill>
                  <a:srgbClr val="334155"/>
                </a:solidFill>
                <a:latin typeface="Calibri" pitchFamily="34" charset="0"/>
                <a:ea typeface="Calibri" pitchFamily="34" charset="-122"/>
                <a:cs typeface="Calibri" pitchFamily="34" charset="-120"/>
              </a:rPr>
              <a:t>'FD,LOAN,CARD' can't be indexed, joined or dated</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22" presetClass="entr" presetSubtype="8" fill="hold" grpId="0" nodeType="withEffect">
                                  <p:stCondLst>
                                    <p:cond delay="20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par>
                                <p:cTn id="11" presetID="22" presetClass="entr" presetSubtype="8" fill="hold" grpId="0" nodeType="withEffect">
                                  <p:stCondLst>
                                    <p:cond delay="40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par>
                                <p:cTn id="14" presetID="22" presetClass="entr" presetSubtype="8" fill="hold" grpId="0" nodeType="withEffect">
                                  <p:stCondLst>
                                    <p:cond delay="60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par>
                                <p:cTn id="17" presetID="22" presetClass="entr" presetSubtype="8" fill="hold" grpId="0" nodeType="withEffect">
                                  <p:stCondLst>
                                    <p:cond delay="80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par>
                                <p:cTn id="20" presetID="22" presetClass="entr" presetSubtype="8" fill="hold" grpId="0" nodeType="withEffect">
                                  <p:stCondLst>
                                    <p:cond delay="100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22" presetClass="entr" presetSubtype="8" fill="hold" grpId="0" nodeType="withEffect">
                                  <p:stCondLst>
                                    <p:cond delay="20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500"/>
                                        <p:tgtEl>
                                          <p:spTgt spid="11"/>
                                        </p:tgtEl>
                                      </p:cBhvr>
                                    </p:animEffect>
                                  </p:childTnLst>
                                </p:cTn>
                              </p:par>
                              <p:par>
                                <p:cTn id="29" presetID="22" presetClass="entr" presetSubtype="8" fill="hold" grpId="0" nodeType="withEffect">
                                  <p:stCondLst>
                                    <p:cond delay="40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500"/>
                                        <p:tgtEl>
                                          <p:spTgt spid="12"/>
                                        </p:tgtEl>
                                      </p:cBhvr>
                                    </p:animEffect>
                                  </p:childTnLst>
                                </p:cTn>
                              </p:par>
                              <p:par>
                                <p:cTn id="32" presetID="22" presetClass="entr" presetSubtype="8" fill="hold" grpId="0" nodeType="withEffect">
                                  <p:stCondLst>
                                    <p:cond delay="600"/>
                                  </p:stCondLst>
                                  <p:childTnLst>
                                    <p:set>
                                      <p:cBhvr>
                                        <p:cTn id="33" dur="1" fill="hold">
                                          <p:stCondLst>
                                            <p:cond delay="0"/>
                                          </p:stCondLst>
                                        </p:cTn>
                                        <p:tgtEl>
                                          <p:spTgt spid="13"/>
                                        </p:tgtEl>
                                        <p:attrNameLst>
                                          <p:attrName>style.visibility</p:attrName>
                                        </p:attrNameLst>
                                      </p:cBhvr>
                                      <p:to>
                                        <p:strVal val="visible"/>
                                      </p:to>
                                    </p:set>
                                    <p:animEffect transition="in" filter="wipe(left)">
                                      <p:cBhvr>
                                        <p:cTn id="34" dur="500"/>
                                        <p:tgtEl>
                                          <p:spTgt spid="13"/>
                                        </p:tgtEl>
                                      </p:cBhvr>
                                    </p:animEffect>
                                  </p:childTnLst>
                                </p:cTn>
                              </p:par>
                              <p:par>
                                <p:cTn id="35" presetID="22" presetClass="entr" presetSubtype="8" fill="hold" grpId="0" nodeType="withEffect">
                                  <p:stCondLst>
                                    <p:cond delay="800"/>
                                  </p:stCondLst>
                                  <p:childTnLst>
                                    <p:set>
                                      <p:cBhvr>
                                        <p:cTn id="36" dur="1" fill="hold">
                                          <p:stCondLst>
                                            <p:cond delay="0"/>
                                          </p:stCondLst>
                                        </p:cTn>
                                        <p:tgtEl>
                                          <p:spTgt spid="14"/>
                                        </p:tgtEl>
                                        <p:attrNameLst>
                                          <p:attrName>style.visibility</p:attrName>
                                        </p:attrNameLst>
                                      </p:cBhvr>
                                      <p:to>
                                        <p:strVal val="visible"/>
                                      </p:to>
                                    </p:set>
                                    <p:animEffect transition="in" filter="wipe(left)">
                                      <p:cBhvr>
                                        <p:cTn id="37" dur="500"/>
                                        <p:tgtEl>
                                          <p:spTgt spid="14"/>
                                        </p:tgtEl>
                                      </p:cBhvr>
                                    </p:animEffect>
                                  </p:childTnLst>
                                </p:cTn>
                              </p:par>
                              <p:par>
                                <p:cTn id="38" presetID="22" presetClass="entr" presetSubtype="8" fill="hold" grpId="0" nodeType="withEffect">
                                  <p:stCondLst>
                                    <p:cond delay="1000"/>
                                  </p:stCondLst>
                                  <p:childTnLst>
                                    <p:set>
                                      <p:cBhvr>
                                        <p:cTn id="39" dur="1" fill="hold">
                                          <p:stCondLst>
                                            <p:cond delay="0"/>
                                          </p:stCondLst>
                                        </p:cTn>
                                        <p:tgtEl>
                                          <p:spTgt spid="15"/>
                                        </p:tgtEl>
                                        <p:attrNameLst>
                                          <p:attrName>style.visibility</p:attrName>
                                        </p:attrNameLst>
                                      </p:cBhvr>
                                      <p:to>
                                        <p:strVal val="visible"/>
                                      </p:to>
                                    </p:set>
                                    <p:animEffect transition="in" filter="wipe(left)">
                                      <p:cBhvr>
                                        <p:cTn id="40" dur="5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22" presetClass="entr" presetSubtype="8" fill="hold" grpId="0" nodeType="withEffect">
                                  <p:stCondLst>
                                    <p:cond delay="200"/>
                                  </p:stCondLst>
                                  <p:childTnLst>
                                    <p:set>
                                      <p:cBhvr>
                                        <p:cTn id="45" dur="1" fill="hold">
                                          <p:stCondLst>
                                            <p:cond delay="0"/>
                                          </p:stCondLst>
                                        </p:cTn>
                                        <p:tgtEl>
                                          <p:spTgt spid="17"/>
                                        </p:tgtEl>
                                        <p:attrNameLst>
                                          <p:attrName>style.visibility</p:attrName>
                                        </p:attrNameLst>
                                      </p:cBhvr>
                                      <p:to>
                                        <p:strVal val="visible"/>
                                      </p:to>
                                    </p:set>
                                    <p:animEffect transition="in" filter="wipe(left)">
                                      <p:cBhvr>
                                        <p:cTn id="46" dur="500"/>
                                        <p:tgtEl>
                                          <p:spTgt spid="17"/>
                                        </p:tgtEl>
                                      </p:cBhvr>
                                    </p:animEffect>
                                  </p:childTnLst>
                                </p:cTn>
                              </p:par>
                              <p:par>
                                <p:cTn id="47" presetID="22" presetClass="entr" presetSubtype="8" fill="hold" grpId="0" nodeType="withEffect">
                                  <p:stCondLst>
                                    <p:cond delay="400"/>
                                  </p:stCondLst>
                                  <p:childTnLst>
                                    <p:set>
                                      <p:cBhvr>
                                        <p:cTn id="48" dur="1" fill="hold">
                                          <p:stCondLst>
                                            <p:cond delay="0"/>
                                          </p:stCondLst>
                                        </p:cTn>
                                        <p:tgtEl>
                                          <p:spTgt spid="18"/>
                                        </p:tgtEl>
                                        <p:attrNameLst>
                                          <p:attrName>style.visibility</p:attrName>
                                        </p:attrNameLst>
                                      </p:cBhvr>
                                      <p:to>
                                        <p:strVal val="visible"/>
                                      </p:to>
                                    </p:set>
                                    <p:animEffect transition="in" filter="wipe(left)">
                                      <p:cBhvr>
                                        <p:cTn id="49" dur="500"/>
                                        <p:tgtEl>
                                          <p:spTgt spid="18"/>
                                        </p:tgtEl>
                                      </p:cBhvr>
                                    </p:animEffect>
                                  </p:childTnLst>
                                </p:cTn>
                              </p:par>
                              <p:par>
                                <p:cTn id="50" presetID="22" presetClass="entr" presetSubtype="8" fill="hold" grpId="0" nodeType="withEffect">
                                  <p:stCondLst>
                                    <p:cond delay="600"/>
                                  </p:stCondLst>
                                  <p:childTnLst>
                                    <p:set>
                                      <p:cBhvr>
                                        <p:cTn id="51" dur="1" fill="hold">
                                          <p:stCondLst>
                                            <p:cond delay="0"/>
                                          </p:stCondLst>
                                        </p:cTn>
                                        <p:tgtEl>
                                          <p:spTgt spid="19"/>
                                        </p:tgtEl>
                                        <p:attrNameLst>
                                          <p:attrName>style.visibility</p:attrName>
                                        </p:attrNameLst>
                                      </p:cBhvr>
                                      <p:to>
                                        <p:strVal val="visible"/>
                                      </p:to>
                                    </p:set>
                                    <p:animEffect transition="in" filter="wipe(left)">
                                      <p:cBhvr>
                                        <p:cTn id="52" dur="500"/>
                                        <p:tgtEl>
                                          <p:spTgt spid="19"/>
                                        </p:tgtEl>
                                      </p:cBhvr>
                                    </p:animEffect>
                                  </p:childTnLst>
                                </p:cTn>
                              </p:par>
                              <p:par>
                                <p:cTn id="53" presetID="22" presetClass="entr" presetSubtype="8" fill="hold" grpId="0" nodeType="withEffect">
                                  <p:stCondLst>
                                    <p:cond delay="800"/>
                                  </p:stCondLst>
                                  <p:childTnLst>
                                    <p:set>
                                      <p:cBhvr>
                                        <p:cTn id="54" dur="1" fill="hold">
                                          <p:stCondLst>
                                            <p:cond delay="0"/>
                                          </p:stCondLst>
                                        </p:cTn>
                                        <p:tgtEl>
                                          <p:spTgt spid="20"/>
                                        </p:tgtEl>
                                        <p:attrNameLst>
                                          <p:attrName>style.visibility</p:attrName>
                                        </p:attrNameLst>
                                      </p:cBhvr>
                                      <p:to>
                                        <p:strVal val="visible"/>
                                      </p:to>
                                    </p:set>
                                    <p:animEffect transition="in" filter="wipe(left)">
                                      <p:cBhvr>
                                        <p:cTn id="55" dur="500"/>
                                        <p:tgtEl>
                                          <p:spTgt spid="20"/>
                                        </p:tgtEl>
                                      </p:cBhvr>
                                    </p:animEffect>
                                  </p:childTnLst>
                                </p:cTn>
                              </p:par>
                              <p:par>
                                <p:cTn id="56" presetID="22" presetClass="entr" presetSubtype="8" fill="hold" grpId="0" nodeType="withEffect">
                                  <p:stCondLst>
                                    <p:cond delay="1000"/>
                                  </p:stCondLst>
                                  <p:childTnLst>
                                    <p:set>
                                      <p:cBhvr>
                                        <p:cTn id="57" dur="1" fill="hold">
                                          <p:stCondLst>
                                            <p:cond delay="0"/>
                                          </p:stCondLst>
                                        </p:cTn>
                                        <p:tgtEl>
                                          <p:spTgt spid="21"/>
                                        </p:tgtEl>
                                        <p:attrNameLst>
                                          <p:attrName>style.visibility</p:attrName>
                                        </p:attrNameLst>
                                      </p:cBhvr>
                                      <p:to>
                                        <p:strVal val="visible"/>
                                      </p:to>
                                    </p:set>
                                    <p:animEffect transition="in" filter="wipe(left)">
                                      <p:cBhvr>
                                        <p:cTn id="58" dur="500"/>
                                        <p:tgtEl>
                                          <p:spTgt spid="2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500"/>
                                        <p:tgtEl>
                                          <p:spTgt spid="22"/>
                                        </p:tgtEl>
                                      </p:cBhvr>
                                    </p:animEffect>
                                  </p:childTnLst>
                                </p:cTn>
                              </p:par>
                              <p:par>
                                <p:cTn id="62" presetID="22" presetClass="entr" presetSubtype="8" fill="hold" grpId="0" nodeType="withEffect">
                                  <p:stCondLst>
                                    <p:cond delay="200"/>
                                  </p:stCondLst>
                                  <p:childTnLst>
                                    <p:set>
                                      <p:cBhvr>
                                        <p:cTn id="63" dur="1" fill="hold">
                                          <p:stCondLst>
                                            <p:cond delay="0"/>
                                          </p:stCondLst>
                                        </p:cTn>
                                        <p:tgtEl>
                                          <p:spTgt spid="23"/>
                                        </p:tgtEl>
                                        <p:attrNameLst>
                                          <p:attrName>style.visibility</p:attrName>
                                        </p:attrNameLst>
                                      </p:cBhvr>
                                      <p:to>
                                        <p:strVal val="visible"/>
                                      </p:to>
                                    </p:set>
                                    <p:animEffect transition="in" filter="wipe(left)">
                                      <p:cBhvr>
                                        <p:cTn id="64" dur="500"/>
                                        <p:tgtEl>
                                          <p:spTgt spid="23"/>
                                        </p:tgtEl>
                                      </p:cBhvr>
                                    </p:animEffect>
                                  </p:childTnLst>
                                </p:cTn>
                              </p:par>
                              <p:par>
                                <p:cTn id="65" presetID="22" presetClass="entr" presetSubtype="8" fill="hold" grpId="0" nodeType="withEffect">
                                  <p:stCondLst>
                                    <p:cond delay="400"/>
                                  </p:stCondLst>
                                  <p:childTnLst>
                                    <p:set>
                                      <p:cBhvr>
                                        <p:cTn id="66" dur="1" fill="hold">
                                          <p:stCondLst>
                                            <p:cond delay="0"/>
                                          </p:stCondLst>
                                        </p:cTn>
                                        <p:tgtEl>
                                          <p:spTgt spid="24"/>
                                        </p:tgtEl>
                                        <p:attrNameLst>
                                          <p:attrName>style.visibility</p:attrName>
                                        </p:attrNameLst>
                                      </p:cBhvr>
                                      <p:to>
                                        <p:strVal val="visible"/>
                                      </p:to>
                                    </p:set>
                                    <p:animEffect transition="in" filter="wipe(left)">
                                      <p:cBhvr>
                                        <p:cTn id="67" dur="500"/>
                                        <p:tgtEl>
                                          <p:spTgt spid="24"/>
                                        </p:tgtEl>
                                      </p:cBhvr>
                                    </p:animEffect>
                                  </p:childTnLst>
                                </p:cTn>
                              </p:par>
                              <p:par>
                                <p:cTn id="68" presetID="22" presetClass="entr" presetSubtype="8" fill="hold" grpId="0" nodeType="withEffect">
                                  <p:stCondLst>
                                    <p:cond delay="600"/>
                                  </p:stCondLst>
                                  <p:childTnLst>
                                    <p:set>
                                      <p:cBhvr>
                                        <p:cTn id="69" dur="1" fill="hold">
                                          <p:stCondLst>
                                            <p:cond delay="0"/>
                                          </p:stCondLst>
                                        </p:cTn>
                                        <p:tgtEl>
                                          <p:spTgt spid="25"/>
                                        </p:tgtEl>
                                        <p:attrNameLst>
                                          <p:attrName>style.visibility</p:attrName>
                                        </p:attrNameLst>
                                      </p:cBhvr>
                                      <p:to>
                                        <p:strVal val="visible"/>
                                      </p:to>
                                    </p:set>
                                    <p:animEffect transition="in" filter="wipe(left)">
                                      <p:cBhvr>
                                        <p:cTn id="70" dur="500"/>
                                        <p:tgtEl>
                                          <p:spTgt spid="25"/>
                                        </p:tgtEl>
                                      </p:cBhvr>
                                    </p:animEffect>
                                  </p:childTnLst>
                                </p:cTn>
                              </p:par>
                              <p:par>
                                <p:cTn id="71" presetID="22" presetClass="entr" presetSubtype="8" fill="hold" grpId="0" nodeType="withEffect">
                                  <p:stCondLst>
                                    <p:cond delay="800"/>
                                  </p:stCondLst>
                                  <p:childTnLst>
                                    <p:set>
                                      <p:cBhvr>
                                        <p:cTn id="72" dur="1" fill="hold">
                                          <p:stCondLst>
                                            <p:cond delay="0"/>
                                          </p:stCondLst>
                                        </p:cTn>
                                        <p:tgtEl>
                                          <p:spTgt spid="26"/>
                                        </p:tgtEl>
                                        <p:attrNameLst>
                                          <p:attrName>style.visibility</p:attrName>
                                        </p:attrNameLst>
                                      </p:cBhvr>
                                      <p:to>
                                        <p:strVal val="visible"/>
                                      </p:to>
                                    </p:set>
                                    <p:animEffect transition="in" filter="wipe(left)">
                                      <p:cBhvr>
                                        <p:cTn id="73" dur="500"/>
                                        <p:tgtEl>
                                          <p:spTgt spid="26"/>
                                        </p:tgtEl>
                                      </p:cBhvr>
                                    </p:animEffect>
                                  </p:childTnLst>
                                </p:cTn>
                              </p:par>
                              <p:par>
                                <p:cTn id="74" presetID="22" presetClass="entr" presetSubtype="8" fill="hold" grpId="0" nodeType="withEffect">
                                  <p:stCondLst>
                                    <p:cond delay="1000"/>
                                  </p:stCondLst>
                                  <p:childTnLst>
                                    <p:set>
                                      <p:cBhvr>
                                        <p:cTn id="75" dur="1" fill="hold">
                                          <p:stCondLst>
                                            <p:cond delay="0"/>
                                          </p:stCondLst>
                                        </p:cTn>
                                        <p:tgtEl>
                                          <p:spTgt spid="27"/>
                                        </p:tgtEl>
                                        <p:attrNameLst>
                                          <p:attrName>style.visibility</p:attrName>
                                        </p:attrNameLst>
                                      </p:cBhvr>
                                      <p:to>
                                        <p:strVal val="visible"/>
                                      </p:to>
                                    </p:set>
                                    <p:animEffect transition="in" filter="wipe(left)">
                                      <p:cBhvr>
                                        <p:cTn id="76" dur="500"/>
                                        <p:tgtEl>
                                          <p:spTgt spid="2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500"/>
                                        <p:tgtEl>
                                          <p:spTgt spid="28"/>
                                        </p:tgtEl>
                                      </p:cBhvr>
                                    </p:animEffect>
                                  </p:childTnLst>
                                </p:cTn>
                              </p:par>
                              <p:par>
                                <p:cTn id="80" presetID="22" presetClass="entr" presetSubtype="8" fill="hold" grpId="0" nodeType="withEffect">
                                  <p:stCondLst>
                                    <p:cond delay="200"/>
                                  </p:stCondLst>
                                  <p:childTnLst>
                                    <p:set>
                                      <p:cBhvr>
                                        <p:cTn id="81" dur="1" fill="hold">
                                          <p:stCondLst>
                                            <p:cond delay="0"/>
                                          </p:stCondLst>
                                        </p:cTn>
                                        <p:tgtEl>
                                          <p:spTgt spid="29"/>
                                        </p:tgtEl>
                                        <p:attrNameLst>
                                          <p:attrName>style.visibility</p:attrName>
                                        </p:attrNameLst>
                                      </p:cBhvr>
                                      <p:to>
                                        <p:strVal val="visible"/>
                                      </p:to>
                                    </p:set>
                                    <p:animEffect transition="in" filter="wipe(left)">
                                      <p:cBhvr>
                                        <p:cTn id="82" dur="500"/>
                                        <p:tgtEl>
                                          <p:spTgt spid="29"/>
                                        </p:tgtEl>
                                      </p:cBhvr>
                                    </p:animEffect>
                                  </p:childTnLst>
                                </p:cTn>
                              </p:par>
                              <p:par>
                                <p:cTn id="83" presetID="22" presetClass="entr" presetSubtype="8" fill="hold" grpId="0" nodeType="withEffect">
                                  <p:stCondLst>
                                    <p:cond delay="400"/>
                                  </p:stCondLst>
                                  <p:childTnLst>
                                    <p:set>
                                      <p:cBhvr>
                                        <p:cTn id="84" dur="1" fill="hold">
                                          <p:stCondLst>
                                            <p:cond delay="0"/>
                                          </p:stCondLst>
                                        </p:cTn>
                                        <p:tgtEl>
                                          <p:spTgt spid="30"/>
                                        </p:tgtEl>
                                        <p:attrNameLst>
                                          <p:attrName>style.visibility</p:attrName>
                                        </p:attrNameLst>
                                      </p:cBhvr>
                                      <p:to>
                                        <p:strVal val="visible"/>
                                      </p:to>
                                    </p:set>
                                    <p:animEffect transition="in" filter="wipe(left)">
                                      <p:cBhvr>
                                        <p:cTn id="85" dur="500"/>
                                        <p:tgtEl>
                                          <p:spTgt spid="30"/>
                                        </p:tgtEl>
                                      </p:cBhvr>
                                    </p:animEffect>
                                  </p:childTnLst>
                                </p:cTn>
                              </p:par>
                              <p:par>
                                <p:cTn id="86" presetID="22" presetClass="entr" presetSubtype="8" fill="hold" grpId="0" nodeType="withEffect">
                                  <p:stCondLst>
                                    <p:cond delay="600"/>
                                  </p:stCondLst>
                                  <p:childTnLst>
                                    <p:set>
                                      <p:cBhvr>
                                        <p:cTn id="87" dur="1" fill="hold">
                                          <p:stCondLst>
                                            <p:cond delay="0"/>
                                          </p:stCondLst>
                                        </p:cTn>
                                        <p:tgtEl>
                                          <p:spTgt spid="31"/>
                                        </p:tgtEl>
                                        <p:attrNameLst>
                                          <p:attrName>style.visibility</p:attrName>
                                        </p:attrNameLst>
                                      </p:cBhvr>
                                      <p:to>
                                        <p:strVal val="visible"/>
                                      </p:to>
                                    </p:set>
                                    <p:animEffect transition="in" filter="wipe(left)">
                                      <p:cBhvr>
                                        <p:cTn id="88" dur="500"/>
                                        <p:tgtEl>
                                          <p:spTgt spid="31"/>
                                        </p:tgtEl>
                                      </p:cBhvr>
                                    </p:animEffect>
                                  </p:childTnLst>
                                </p:cTn>
                              </p:par>
                              <p:par>
                                <p:cTn id="89" presetID="22" presetClass="entr" presetSubtype="8" fill="hold" grpId="0" nodeType="withEffect">
                                  <p:stCondLst>
                                    <p:cond delay="800"/>
                                  </p:stCondLst>
                                  <p:childTnLst>
                                    <p:set>
                                      <p:cBhvr>
                                        <p:cTn id="90" dur="1" fill="hold">
                                          <p:stCondLst>
                                            <p:cond delay="0"/>
                                          </p:stCondLst>
                                        </p:cTn>
                                        <p:tgtEl>
                                          <p:spTgt spid="32"/>
                                        </p:tgtEl>
                                        <p:attrNameLst>
                                          <p:attrName>style.visibility</p:attrName>
                                        </p:attrNameLst>
                                      </p:cBhvr>
                                      <p:to>
                                        <p:strVal val="visible"/>
                                      </p:to>
                                    </p:set>
                                    <p:animEffect transition="in" filter="wipe(left)">
                                      <p:cBhvr>
                                        <p:cTn id="91" dur="500"/>
                                        <p:tgtEl>
                                          <p:spTgt spid="32"/>
                                        </p:tgtEl>
                                      </p:cBhvr>
                                    </p:animEffect>
                                  </p:childTnLst>
                                </p:cTn>
                              </p:par>
                              <p:par>
                                <p:cTn id="92" presetID="22" presetClass="entr" presetSubtype="8" fill="hold" grpId="0" nodeType="withEffect">
                                  <p:stCondLst>
                                    <p:cond delay="1000"/>
                                  </p:stCondLst>
                                  <p:childTnLst>
                                    <p:set>
                                      <p:cBhvr>
                                        <p:cTn id="93" dur="1" fill="hold">
                                          <p:stCondLst>
                                            <p:cond delay="0"/>
                                          </p:stCondLst>
                                        </p:cTn>
                                        <p:tgtEl>
                                          <p:spTgt spid="33"/>
                                        </p:tgtEl>
                                        <p:attrNameLst>
                                          <p:attrName>style.visibility</p:attrName>
                                        </p:attrNameLst>
                                      </p:cBhvr>
                                      <p:to>
                                        <p:strVal val="visible"/>
                                      </p:to>
                                    </p:set>
                                    <p:animEffect transition="in" filter="wipe(left)">
                                      <p:cBhvr>
                                        <p:cTn id="94" dur="500"/>
                                        <p:tgtEl>
                                          <p:spTgt spid="33"/>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500"/>
                                        <p:tgtEl>
                                          <p:spTgt spid="34"/>
                                        </p:tgtEl>
                                      </p:cBhvr>
                                    </p:animEffect>
                                  </p:childTnLst>
                                </p:cTn>
                              </p:par>
                              <p:par>
                                <p:cTn id="98" presetID="22" presetClass="entr" presetSubtype="8" fill="hold" grpId="0" nodeType="withEffect">
                                  <p:stCondLst>
                                    <p:cond delay="200"/>
                                  </p:stCondLst>
                                  <p:childTnLst>
                                    <p:set>
                                      <p:cBhvr>
                                        <p:cTn id="99" dur="1" fill="hold">
                                          <p:stCondLst>
                                            <p:cond delay="0"/>
                                          </p:stCondLst>
                                        </p:cTn>
                                        <p:tgtEl>
                                          <p:spTgt spid="35"/>
                                        </p:tgtEl>
                                        <p:attrNameLst>
                                          <p:attrName>style.visibility</p:attrName>
                                        </p:attrNameLst>
                                      </p:cBhvr>
                                      <p:to>
                                        <p:strVal val="visible"/>
                                      </p:to>
                                    </p:set>
                                    <p:animEffect transition="in" filter="wipe(left)">
                                      <p:cBhvr>
                                        <p:cTn id="100" dur="500"/>
                                        <p:tgtEl>
                                          <p:spTgt spid="35"/>
                                        </p:tgtEl>
                                      </p:cBhvr>
                                    </p:animEffect>
                                  </p:childTnLst>
                                </p:cTn>
                              </p:par>
                              <p:par>
                                <p:cTn id="101" presetID="22" presetClass="entr" presetSubtype="8" fill="hold" grpId="0" nodeType="withEffect">
                                  <p:stCondLst>
                                    <p:cond delay="400"/>
                                  </p:stCondLst>
                                  <p:childTnLst>
                                    <p:set>
                                      <p:cBhvr>
                                        <p:cTn id="102" dur="1" fill="hold">
                                          <p:stCondLst>
                                            <p:cond delay="0"/>
                                          </p:stCondLst>
                                        </p:cTn>
                                        <p:tgtEl>
                                          <p:spTgt spid="36"/>
                                        </p:tgtEl>
                                        <p:attrNameLst>
                                          <p:attrName>style.visibility</p:attrName>
                                        </p:attrNameLst>
                                      </p:cBhvr>
                                      <p:to>
                                        <p:strVal val="visible"/>
                                      </p:to>
                                    </p:set>
                                    <p:animEffect transition="in" filter="wipe(left)">
                                      <p:cBhvr>
                                        <p:cTn id="103" dur="500"/>
                                        <p:tgtEl>
                                          <p:spTgt spid="36"/>
                                        </p:tgtEl>
                                      </p:cBhvr>
                                    </p:animEffect>
                                  </p:childTnLst>
                                </p:cTn>
                              </p:par>
                              <p:par>
                                <p:cTn id="104" presetID="22" presetClass="entr" presetSubtype="8" fill="hold" grpId="0" nodeType="withEffect">
                                  <p:stCondLst>
                                    <p:cond delay="600"/>
                                  </p:stCondLst>
                                  <p:childTnLst>
                                    <p:set>
                                      <p:cBhvr>
                                        <p:cTn id="105" dur="1" fill="hold">
                                          <p:stCondLst>
                                            <p:cond delay="0"/>
                                          </p:stCondLst>
                                        </p:cTn>
                                        <p:tgtEl>
                                          <p:spTgt spid="37"/>
                                        </p:tgtEl>
                                        <p:attrNameLst>
                                          <p:attrName>style.visibility</p:attrName>
                                        </p:attrNameLst>
                                      </p:cBhvr>
                                      <p:to>
                                        <p:strVal val="visible"/>
                                      </p:to>
                                    </p:set>
                                    <p:animEffect transition="in" filter="wipe(left)">
                                      <p:cBhvr>
                                        <p:cTn id="106" dur="500"/>
                                        <p:tgtEl>
                                          <p:spTgt spid="37"/>
                                        </p:tgtEl>
                                      </p:cBhvr>
                                    </p:animEffect>
                                  </p:childTnLst>
                                </p:cTn>
                              </p:par>
                              <p:par>
                                <p:cTn id="107" presetID="22" presetClass="entr" presetSubtype="8" fill="hold" grpId="0" nodeType="withEffect">
                                  <p:stCondLst>
                                    <p:cond delay="800"/>
                                  </p:stCondLst>
                                  <p:childTnLst>
                                    <p:set>
                                      <p:cBhvr>
                                        <p:cTn id="108" dur="1" fill="hold">
                                          <p:stCondLst>
                                            <p:cond delay="0"/>
                                          </p:stCondLst>
                                        </p:cTn>
                                        <p:tgtEl>
                                          <p:spTgt spid="38"/>
                                        </p:tgtEl>
                                        <p:attrNameLst>
                                          <p:attrName>style.visibility</p:attrName>
                                        </p:attrNameLst>
                                      </p:cBhvr>
                                      <p:to>
                                        <p:strVal val="visible"/>
                                      </p:to>
                                    </p:set>
                                    <p:animEffect transition="in" filter="wipe(left)">
                                      <p:cBhvr>
                                        <p:cTn id="109" dur="500"/>
                                        <p:tgtEl>
                                          <p:spTgt spid="38"/>
                                        </p:tgtEl>
                                      </p:cBhvr>
                                    </p:animEffect>
                                  </p:childTnLst>
                                </p:cTn>
                              </p:par>
                              <p:par>
                                <p:cTn id="110" presetID="22" presetClass="entr" presetSubtype="8" fill="hold" grpId="0" nodeType="withEffect">
                                  <p:stCondLst>
                                    <p:cond delay="1000"/>
                                  </p:stCondLst>
                                  <p:childTnLst>
                                    <p:set>
                                      <p:cBhvr>
                                        <p:cTn id="111" dur="1" fill="hold">
                                          <p:stCondLst>
                                            <p:cond delay="0"/>
                                          </p:stCondLst>
                                        </p:cTn>
                                        <p:tgtEl>
                                          <p:spTgt spid="39"/>
                                        </p:tgtEl>
                                        <p:attrNameLst>
                                          <p:attrName>style.visibility</p:attrName>
                                        </p:attrNameLst>
                                      </p:cBhvr>
                                      <p:to>
                                        <p:strVal val="visible"/>
                                      </p:to>
                                    </p:set>
                                    <p:animEffect transition="in" filter="wipe(left)">
                                      <p:cBhvr>
                                        <p:cTn id="112" dur="500"/>
                                        <p:tgtEl>
                                          <p:spTgt spid="39"/>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40"/>
                                        </p:tgtEl>
                                        <p:attrNameLst>
                                          <p:attrName>style.visibility</p:attrName>
                                        </p:attrNameLst>
                                      </p:cBhvr>
                                      <p:to>
                                        <p:strVal val="visible"/>
                                      </p:to>
                                    </p:set>
                                    <p:animEffect transition="in" filter="fade">
                                      <p:cBhvr>
                                        <p:cTn id="115" dur="500"/>
                                        <p:tgtEl>
                                          <p:spTgt spid="40"/>
                                        </p:tgtEl>
                                      </p:cBhvr>
                                    </p:animEffect>
                                  </p:childTnLst>
                                </p:cTn>
                              </p:par>
                              <p:par>
                                <p:cTn id="116" presetID="22" presetClass="entr" presetSubtype="8" fill="hold" grpId="0" nodeType="withEffect">
                                  <p:stCondLst>
                                    <p:cond delay="200"/>
                                  </p:stCondLst>
                                  <p:childTnLst>
                                    <p:set>
                                      <p:cBhvr>
                                        <p:cTn id="117" dur="1" fill="hold">
                                          <p:stCondLst>
                                            <p:cond delay="0"/>
                                          </p:stCondLst>
                                        </p:cTn>
                                        <p:tgtEl>
                                          <p:spTgt spid="41"/>
                                        </p:tgtEl>
                                        <p:attrNameLst>
                                          <p:attrName>style.visibility</p:attrName>
                                        </p:attrNameLst>
                                      </p:cBhvr>
                                      <p:to>
                                        <p:strVal val="visible"/>
                                      </p:to>
                                    </p:set>
                                    <p:animEffect transition="in" filter="wipe(left)">
                                      <p:cBhvr>
                                        <p:cTn id="118" dur="500"/>
                                        <p:tgtEl>
                                          <p:spTgt spid="41"/>
                                        </p:tgtEl>
                                      </p:cBhvr>
                                    </p:animEffect>
                                  </p:childTnLst>
                                </p:cTn>
                              </p:par>
                              <p:par>
                                <p:cTn id="119" presetID="22" presetClass="entr" presetSubtype="8" fill="hold" grpId="0" nodeType="withEffect">
                                  <p:stCondLst>
                                    <p:cond delay="400"/>
                                  </p:stCondLst>
                                  <p:childTnLst>
                                    <p:set>
                                      <p:cBhvr>
                                        <p:cTn id="120" dur="1" fill="hold">
                                          <p:stCondLst>
                                            <p:cond delay="0"/>
                                          </p:stCondLst>
                                        </p:cTn>
                                        <p:tgtEl>
                                          <p:spTgt spid="42"/>
                                        </p:tgtEl>
                                        <p:attrNameLst>
                                          <p:attrName>style.visibility</p:attrName>
                                        </p:attrNameLst>
                                      </p:cBhvr>
                                      <p:to>
                                        <p:strVal val="visible"/>
                                      </p:to>
                                    </p:set>
                                    <p:animEffect transition="in" filter="wipe(left)">
                                      <p:cBhvr>
                                        <p:cTn id="121" dur="500"/>
                                        <p:tgtEl>
                                          <p:spTgt spid="42"/>
                                        </p:tgtEl>
                                      </p:cBhvr>
                                    </p:animEffect>
                                  </p:childTnLst>
                                </p:cTn>
                              </p:par>
                              <p:par>
                                <p:cTn id="122" presetID="22" presetClass="entr" presetSubtype="8" fill="hold" grpId="0" nodeType="withEffect">
                                  <p:stCondLst>
                                    <p:cond delay="600"/>
                                  </p:stCondLst>
                                  <p:childTnLst>
                                    <p:set>
                                      <p:cBhvr>
                                        <p:cTn id="123" dur="1" fill="hold">
                                          <p:stCondLst>
                                            <p:cond delay="0"/>
                                          </p:stCondLst>
                                        </p:cTn>
                                        <p:tgtEl>
                                          <p:spTgt spid="43"/>
                                        </p:tgtEl>
                                        <p:attrNameLst>
                                          <p:attrName>style.visibility</p:attrName>
                                        </p:attrNameLst>
                                      </p:cBhvr>
                                      <p:to>
                                        <p:strVal val="visible"/>
                                      </p:to>
                                    </p:set>
                                    <p:animEffect transition="in" filter="wipe(left)">
                                      <p:cBhvr>
                                        <p:cTn id="124" dur="500"/>
                                        <p:tgtEl>
                                          <p:spTgt spid="43"/>
                                        </p:tgtEl>
                                      </p:cBhvr>
                                    </p:animEffect>
                                  </p:childTnLst>
                                </p:cTn>
                              </p:par>
                              <p:par>
                                <p:cTn id="125" presetID="22" presetClass="entr" presetSubtype="8" fill="hold" grpId="0" nodeType="withEffect">
                                  <p:stCondLst>
                                    <p:cond delay="800"/>
                                  </p:stCondLst>
                                  <p:childTnLst>
                                    <p:set>
                                      <p:cBhvr>
                                        <p:cTn id="126" dur="1" fill="hold">
                                          <p:stCondLst>
                                            <p:cond delay="0"/>
                                          </p:stCondLst>
                                        </p:cTn>
                                        <p:tgtEl>
                                          <p:spTgt spid="44"/>
                                        </p:tgtEl>
                                        <p:attrNameLst>
                                          <p:attrName>style.visibility</p:attrName>
                                        </p:attrNameLst>
                                      </p:cBhvr>
                                      <p:to>
                                        <p:strVal val="visible"/>
                                      </p:to>
                                    </p:set>
                                    <p:animEffect transition="in" filter="wipe(left)">
                                      <p:cBhvr>
                                        <p:cTn id="127" dur="500"/>
                                        <p:tgtEl>
                                          <p:spTgt spid="44"/>
                                        </p:tgtEl>
                                      </p:cBhvr>
                                    </p:animEffect>
                                  </p:childTnLst>
                                </p:cTn>
                              </p:par>
                              <p:par>
                                <p:cTn id="128" presetID="22" presetClass="entr" presetSubtype="8" fill="hold" grpId="0" nodeType="withEffect">
                                  <p:stCondLst>
                                    <p:cond delay="1000"/>
                                  </p:stCondLst>
                                  <p:childTnLst>
                                    <p:set>
                                      <p:cBhvr>
                                        <p:cTn id="129" dur="1" fill="hold">
                                          <p:stCondLst>
                                            <p:cond delay="0"/>
                                          </p:stCondLst>
                                        </p:cTn>
                                        <p:tgtEl>
                                          <p:spTgt spid="45"/>
                                        </p:tgtEl>
                                        <p:attrNameLst>
                                          <p:attrName>style.visibility</p:attrName>
                                        </p:attrNameLst>
                                      </p:cBhvr>
                                      <p:to>
                                        <p:strVal val="visible"/>
                                      </p:to>
                                    </p:set>
                                    <p:animEffect transition="in" filter="wipe(left)">
                                      <p:cBhvr>
                                        <p:cTn id="130" dur="500"/>
                                        <p:tgtEl>
                                          <p:spTgt spid="45"/>
                                        </p:tgtEl>
                                      </p:cBhvr>
                                    </p:animEffect>
                                  </p:childTnLst>
                                </p:cTn>
                              </p:par>
                            </p:childTnLst>
                          </p:cTn>
                        </p:par>
                      </p:childTnLst>
                    </p:cTn>
                  </p:par>
                  <p:par>
                    <p:cTn id="131" fill="hold">
                      <p:stCondLst>
                        <p:cond delay="indefinite"/>
                      </p:stCondLst>
                      <p:childTnLst>
                        <p:par>
                          <p:cTn id="132" fill="hold">
                            <p:stCondLst>
                              <p:cond delay="0"/>
                            </p:stCondLst>
                            <p:childTnLst>
                              <p:par>
                                <p:cTn id="133" presetID="2" presetClass="entr" presetSubtype="4" fill="hold" grpId="0" nodeType="clickEffect">
                                  <p:stCondLst>
                                    <p:cond delay="0"/>
                                  </p:stCondLst>
                                  <p:childTnLst>
                                    <p:set>
                                      <p:cBhvr>
                                        <p:cTn id="134" dur="1" fill="hold">
                                          <p:stCondLst>
                                            <p:cond delay="0"/>
                                          </p:stCondLst>
                                        </p:cTn>
                                        <p:tgtEl>
                                          <p:spTgt spid="46"/>
                                        </p:tgtEl>
                                        <p:attrNameLst>
                                          <p:attrName>style.visibility</p:attrName>
                                        </p:attrNameLst>
                                      </p:cBhvr>
                                      <p:to>
                                        <p:strVal val="visible"/>
                                      </p:to>
                                    </p:set>
                                    <p:anim calcmode="lin" valueType="num">
                                      <p:cBhvr additive="base">
                                        <p:cTn id="135" dur="500" fill="hold"/>
                                        <p:tgtEl>
                                          <p:spTgt spid="46"/>
                                        </p:tgtEl>
                                        <p:attrNameLst>
                                          <p:attrName>ppt_x</p:attrName>
                                        </p:attrNameLst>
                                      </p:cBhvr>
                                      <p:tavLst>
                                        <p:tav tm="0">
                                          <p:val>
                                            <p:strVal val="#ppt_x"/>
                                          </p:val>
                                        </p:tav>
                                        <p:tav tm="100000">
                                          <p:val>
                                            <p:strVal val="#ppt_x"/>
                                          </p:val>
                                        </p:tav>
                                      </p:tavLst>
                                    </p:anim>
                                    <p:anim calcmode="lin" valueType="num">
                                      <p:cBhvr additive="base">
                                        <p:cTn id="136" dur="500" fill="hold"/>
                                        <p:tgtEl>
                                          <p:spTgt spid="46"/>
                                        </p:tgtEl>
                                        <p:attrNameLst>
                                          <p:attrName>ppt_y</p:attrName>
                                        </p:attrNameLst>
                                      </p:cBhvr>
                                      <p:tavLst>
                                        <p:tav tm="0">
                                          <p:val>
                                            <p:strVal val="#ppt_y+0.1"/>
                                          </p:val>
                                        </p:tav>
                                        <p:tav tm="100000">
                                          <p:val>
                                            <p:strVal val="#ppt_y"/>
                                          </p:val>
                                        </p:tav>
                                      </p:tavLst>
                                    </p:anim>
                                    <p:animEffect transition="in" filter="fade">
                                      <p:cBhvr>
                                        <p:cTn id="137" dur="500"/>
                                        <p:tgtEl>
                                          <p:spTgt spid="46"/>
                                        </p:tgtEl>
                                      </p:cBhvr>
                                    </p:animEffect>
                                  </p:childTnLst>
                                </p:cTn>
                              </p:par>
                              <p:par>
                                <p:cTn id="138" presetID="2" presetClass="entr" presetSubtype="4" fill="hold" grpId="0" nodeType="withEffect">
                                  <p:stCondLst>
                                    <p:cond delay="0"/>
                                  </p:stCondLst>
                                  <p:childTnLst>
                                    <p:set>
                                      <p:cBhvr>
                                        <p:cTn id="139" dur="1" fill="hold">
                                          <p:stCondLst>
                                            <p:cond delay="0"/>
                                          </p:stCondLst>
                                        </p:cTn>
                                        <p:tgtEl>
                                          <p:spTgt spid="47"/>
                                        </p:tgtEl>
                                        <p:attrNameLst>
                                          <p:attrName>style.visibility</p:attrName>
                                        </p:attrNameLst>
                                      </p:cBhvr>
                                      <p:to>
                                        <p:strVal val="visible"/>
                                      </p:to>
                                    </p:set>
                                    <p:anim calcmode="lin" valueType="num">
                                      <p:cBhvr additive="base">
                                        <p:cTn id="140" dur="500" fill="hold"/>
                                        <p:tgtEl>
                                          <p:spTgt spid="47"/>
                                        </p:tgtEl>
                                        <p:attrNameLst>
                                          <p:attrName>ppt_x</p:attrName>
                                        </p:attrNameLst>
                                      </p:cBhvr>
                                      <p:tavLst>
                                        <p:tav tm="0">
                                          <p:val>
                                            <p:strVal val="#ppt_x"/>
                                          </p:val>
                                        </p:tav>
                                        <p:tav tm="100000">
                                          <p:val>
                                            <p:strVal val="#ppt_x"/>
                                          </p:val>
                                        </p:tav>
                                      </p:tavLst>
                                    </p:anim>
                                    <p:anim calcmode="lin" valueType="num">
                                      <p:cBhvr additive="base">
                                        <p:cTn id="141" dur="500" fill="hold"/>
                                        <p:tgtEl>
                                          <p:spTgt spid="47"/>
                                        </p:tgtEl>
                                        <p:attrNameLst>
                                          <p:attrName>ppt_y</p:attrName>
                                        </p:attrNameLst>
                                      </p:cBhvr>
                                      <p:tavLst>
                                        <p:tav tm="0">
                                          <p:val>
                                            <p:strVal val="#ppt_y+0.1"/>
                                          </p:val>
                                        </p:tav>
                                        <p:tav tm="100000">
                                          <p:val>
                                            <p:strVal val="#ppt_y"/>
                                          </p:val>
                                        </p:tav>
                                      </p:tavLst>
                                    </p:anim>
                                    <p:animEffect transition="in" filter="fade">
                                      <p:cBhvr>
                                        <p:cTn id="142" dur="500"/>
                                        <p:tgtEl>
                                          <p:spTgt spid="47"/>
                                        </p:tgtEl>
                                      </p:cBhvr>
                                    </p:animEffect>
                                  </p:childTnLst>
                                </p:cTn>
                              </p:par>
                              <p:par>
                                <p:cTn id="143" presetID="2" presetClass="entr" presetSubtype="4" fill="hold" grpId="0" nodeType="withEffect">
                                  <p:stCondLst>
                                    <p:cond delay="0"/>
                                  </p:stCondLst>
                                  <p:childTnLst>
                                    <p:set>
                                      <p:cBhvr>
                                        <p:cTn id="144" dur="1" fill="hold">
                                          <p:stCondLst>
                                            <p:cond delay="0"/>
                                          </p:stCondLst>
                                        </p:cTn>
                                        <p:tgtEl>
                                          <p:spTgt spid="48"/>
                                        </p:tgtEl>
                                        <p:attrNameLst>
                                          <p:attrName>style.visibility</p:attrName>
                                        </p:attrNameLst>
                                      </p:cBhvr>
                                      <p:to>
                                        <p:strVal val="visible"/>
                                      </p:to>
                                    </p:set>
                                    <p:anim calcmode="lin" valueType="num">
                                      <p:cBhvr additive="base">
                                        <p:cTn id="145" dur="500" fill="hold"/>
                                        <p:tgtEl>
                                          <p:spTgt spid="48"/>
                                        </p:tgtEl>
                                        <p:attrNameLst>
                                          <p:attrName>ppt_x</p:attrName>
                                        </p:attrNameLst>
                                      </p:cBhvr>
                                      <p:tavLst>
                                        <p:tav tm="0">
                                          <p:val>
                                            <p:strVal val="#ppt_x"/>
                                          </p:val>
                                        </p:tav>
                                        <p:tav tm="100000">
                                          <p:val>
                                            <p:strVal val="#ppt_x"/>
                                          </p:val>
                                        </p:tav>
                                      </p:tavLst>
                                    </p:anim>
                                    <p:anim calcmode="lin" valueType="num">
                                      <p:cBhvr additive="base">
                                        <p:cTn id="146" dur="500" fill="hold"/>
                                        <p:tgtEl>
                                          <p:spTgt spid="48"/>
                                        </p:tgtEl>
                                        <p:attrNameLst>
                                          <p:attrName>ppt_y</p:attrName>
                                        </p:attrNameLst>
                                      </p:cBhvr>
                                      <p:tavLst>
                                        <p:tav tm="0">
                                          <p:val>
                                            <p:strVal val="#ppt_y+0.1"/>
                                          </p:val>
                                        </p:tav>
                                        <p:tav tm="100000">
                                          <p:val>
                                            <p:strVal val="#ppt_y"/>
                                          </p:val>
                                        </p:tav>
                                      </p:tavLst>
                                    </p:anim>
                                    <p:animEffect transition="in" filter="fade">
                                      <p:cBhvr>
                                        <p:cTn id="147" dur="500"/>
                                        <p:tgtEl>
                                          <p:spTgt spid="48"/>
                                        </p:tgtEl>
                                      </p:cBhvr>
                                    </p:animEffect>
                                  </p:childTnLst>
                                </p:cTn>
                              </p:par>
                            </p:childTnLst>
                          </p:cTn>
                        </p:par>
                      </p:childTnLst>
                    </p:cTn>
                  </p:par>
                  <p:par>
                    <p:cTn id="148" fill="hold">
                      <p:stCondLst>
                        <p:cond delay="indefinite"/>
                      </p:stCondLst>
                      <p:childTnLst>
                        <p:par>
                          <p:cTn id="149" fill="hold">
                            <p:stCondLst>
                              <p:cond delay="0"/>
                            </p:stCondLst>
                            <p:childTnLst>
                              <p:par>
                                <p:cTn id="150" presetID="2" presetClass="entr" presetSubtype="4" fill="hold" grpId="0" nodeType="clickEffect">
                                  <p:stCondLst>
                                    <p:cond delay="0"/>
                                  </p:stCondLst>
                                  <p:childTnLst>
                                    <p:set>
                                      <p:cBhvr>
                                        <p:cTn id="151" dur="1" fill="hold">
                                          <p:stCondLst>
                                            <p:cond delay="0"/>
                                          </p:stCondLst>
                                        </p:cTn>
                                        <p:tgtEl>
                                          <p:spTgt spid="49"/>
                                        </p:tgtEl>
                                        <p:attrNameLst>
                                          <p:attrName>style.visibility</p:attrName>
                                        </p:attrNameLst>
                                      </p:cBhvr>
                                      <p:to>
                                        <p:strVal val="visible"/>
                                      </p:to>
                                    </p:set>
                                    <p:anim calcmode="lin" valueType="num">
                                      <p:cBhvr additive="base">
                                        <p:cTn id="152" dur="500" fill="hold"/>
                                        <p:tgtEl>
                                          <p:spTgt spid="49"/>
                                        </p:tgtEl>
                                        <p:attrNameLst>
                                          <p:attrName>ppt_x</p:attrName>
                                        </p:attrNameLst>
                                      </p:cBhvr>
                                      <p:tavLst>
                                        <p:tav tm="0">
                                          <p:val>
                                            <p:strVal val="#ppt_x"/>
                                          </p:val>
                                        </p:tav>
                                        <p:tav tm="100000">
                                          <p:val>
                                            <p:strVal val="#ppt_x"/>
                                          </p:val>
                                        </p:tav>
                                      </p:tavLst>
                                    </p:anim>
                                    <p:anim calcmode="lin" valueType="num">
                                      <p:cBhvr additive="base">
                                        <p:cTn id="153" dur="500" fill="hold"/>
                                        <p:tgtEl>
                                          <p:spTgt spid="49"/>
                                        </p:tgtEl>
                                        <p:attrNameLst>
                                          <p:attrName>ppt_y</p:attrName>
                                        </p:attrNameLst>
                                      </p:cBhvr>
                                      <p:tavLst>
                                        <p:tav tm="0">
                                          <p:val>
                                            <p:strVal val="#ppt_y+0.1"/>
                                          </p:val>
                                        </p:tav>
                                        <p:tav tm="100000">
                                          <p:val>
                                            <p:strVal val="#ppt_y"/>
                                          </p:val>
                                        </p:tav>
                                      </p:tavLst>
                                    </p:anim>
                                    <p:animEffect transition="in" filter="fade">
                                      <p:cBhvr>
                                        <p:cTn id="154" dur="500"/>
                                        <p:tgtEl>
                                          <p:spTgt spid="49"/>
                                        </p:tgtEl>
                                      </p:cBhvr>
                                    </p:animEffect>
                                  </p:childTnLst>
                                </p:cTn>
                              </p:par>
                              <p:par>
                                <p:cTn id="155" presetID="2" presetClass="entr" presetSubtype="4" fill="hold" grpId="0" nodeType="withEffect">
                                  <p:stCondLst>
                                    <p:cond delay="0"/>
                                  </p:stCondLst>
                                  <p:childTnLst>
                                    <p:set>
                                      <p:cBhvr>
                                        <p:cTn id="156" dur="1" fill="hold">
                                          <p:stCondLst>
                                            <p:cond delay="0"/>
                                          </p:stCondLst>
                                        </p:cTn>
                                        <p:tgtEl>
                                          <p:spTgt spid="50"/>
                                        </p:tgtEl>
                                        <p:attrNameLst>
                                          <p:attrName>style.visibility</p:attrName>
                                        </p:attrNameLst>
                                      </p:cBhvr>
                                      <p:to>
                                        <p:strVal val="visible"/>
                                      </p:to>
                                    </p:set>
                                    <p:anim calcmode="lin" valueType="num">
                                      <p:cBhvr additive="base">
                                        <p:cTn id="157" dur="500" fill="hold"/>
                                        <p:tgtEl>
                                          <p:spTgt spid="50"/>
                                        </p:tgtEl>
                                        <p:attrNameLst>
                                          <p:attrName>ppt_x</p:attrName>
                                        </p:attrNameLst>
                                      </p:cBhvr>
                                      <p:tavLst>
                                        <p:tav tm="0">
                                          <p:val>
                                            <p:strVal val="#ppt_x"/>
                                          </p:val>
                                        </p:tav>
                                        <p:tav tm="100000">
                                          <p:val>
                                            <p:strVal val="#ppt_x"/>
                                          </p:val>
                                        </p:tav>
                                      </p:tavLst>
                                    </p:anim>
                                    <p:anim calcmode="lin" valueType="num">
                                      <p:cBhvr additive="base">
                                        <p:cTn id="158" dur="500" fill="hold"/>
                                        <p:tgtEl>
                                          <p:spTgt spid="50"/>
                                        </p:tgtEl>
                                        <p:attrNameLst>
                                          <p:attrName>ppt_y</p:attrName>
                                        </p:attrNameLst>
                                      </p:cBhvr>
                                      <p:tavLst>
                                        <p:tav tm="0">
                                          <p:val>
                                            <p:strVal val="#ppt_y+0.1"/>
                                          </p:val>
                                        </p:tav>
                                        <p:tav tm="100000">
                                          <p:val>
                                            <p:strVal val="#ppt_y"/>
                                          </p:val>
                                        </p:tav>
                                      </p:tavLst>
                                    </p:anim>
                                    <p:animEffect transition="in" filter="fade">
                                      <p:cBhvr>
                                        <p:cTn id="159" dur="500"/>
                                        <p:tgtEl>
                                          <p:spTgt spid="50"/>
                                        </p:tgtEl>
                                      </p:cBhvr>
                                    </p:animEffect>
                                  </p:childTnLst>
                                </p:cTn>
                              </p:par>
                              <p:par>
                                <p:cTn id="160" presetID="2" presetClass="entr" presetSubtype="4" fill="hold" grpId="0" nodeType="withEffect">
                                  <p:stCondLst>
                                    <p:cond delay="0"/>
                                  </p:stCondLst>
                                  <p:childTnLst>
                                    <p:set>
                                      <p:cBhvr>
                                        <p:cTn id="161" dur="1" fill="hold">
                                          <p:stCondLst>
                                            <p:cond delay="0"/>
                                          </p:stCondLst>
                                        </p:cTn>
                                        <p:tgtEl>
                                          <p:spTgt spid="51"/>
                                        </p:tgtEl>
                                        <p:attrNameLst>
                                          <p:attrName>style.visibility</p:attrName>
                                        </p:attrNameLst>
                                      </p:cBhvr>
                                      <p:to>
                                        <p:strVal val="visible"/>
                                      </p:to>
                                    </p:set>
                                    <p:anim calcmode="lin" valueType="num">
                                      <p:cBhvr additive="base">
                                        <p:cTn id="162" dur="500" fill="hold"/>
                                        <p:tgtEl>
                                          <p:spTgt spid="51"/>
                                        </p:tgtEl>
                                        <p:attrNameLst>
                                          <p:attrName>ppt_x</p:attrName>
                                        </p:attrNameLst>
                                      </p:cBhvr>
                                      <p:tavLst>
                                        <p:tav tm="0">
                                          <p:val>
                                            <p:strVal val="#ppt_x"/>
                                          </p:val>
                                        </p:tav>
                                        <p:tav tm="100000">
                                          <p:val>
                                            <p:strVal val="#ppt_x"/>
                                          </p:val>
                                        </p:tav>
                                      </p:tavLst>
                                    </p:anim>
                                    <p:anim calcmode="lin" valueType="num">
                                      <p:cBhvr additive="base">
                                        <p:cTn id="163" dur="500" fill="hold"/>
                                        <p:tgtEl>
                                          <p:spTgt spid="51"/>
                                        </p:tgtEl>
                                        <p:attrNameLst>
                                          <p:attrName>ppt_y</p:attrName>
                                        </p:attrNameLst>
                                      </p:cBhvr>
                                      <p:tavLst>
                                        <p:tav tm="0">
                                          <p:val>
                                            <p:strVal val="#ppt_y+0.1"/>
                                          </p:val>
                                        </p:tav>
                                        <p:tav tm="100000">
                                          <p:val>
                                            <p:strVal val="#ppt_y"/>
                                          </p:val>
                                        </p:tav>
                                      </p:tavLst>
                                    </p:anim>
                                    <p:animEffect transition="in" filter="fade">
                                      <p:cBhvr>
                                        <p:cTn id="164" dur="500"/>
                                        <p:tgtEl>
                                          <p:spTgt spid="51"/>
                                        </p:tgtEl>
                                      </p:cBhvr>
                                    </p:animEffect>
                                  </p:childTnLst>
                                </p:cTn>
                              </p:par>
                            </p:childTnLst>
                          </p:cTn>
                        </p:par>
                      </p:childTnLst>
                    </p:cTn>
                  </p:par>
                  <p:par>
                    <p:cTn id="165" fill="hold">
                      <p:stCondLst>
                        <p:cond delay="indefinite"/>
                      </p:stCondLst>
                      <p:childTnLst>
                        <p:par>
                          <p:cTn id="166" fill="hold">
                            <p:stCondLst>
                              <p:cond delay="0"/>
                            </p:stCondLst>
                            <p:childTnLst>
                              <p:par>
                                <p:cTn id="167" presetID="2" presetClass="entr" presetSubtype="4" fill="hold" grpId="0" nodeType="clickEffect">
                                  <p:stCondLst>
                                    <p:cond delay="0"/>
                                  </p:stCondLst>
                                  <p:childTnLst>
                                    <p:set>
                                      <p:cBhvr>
                                        <p:cTn id="168" dur="1" fill="hold">
                                          <p:stCondLst>
                                            <p:cond delay="0"/>
                                          </p:stCondLst>
                                        </p:cTn>
                                        <p:tgtEl>
                                          <p:spTgt spid="52"/>
                                        </p:tgtEl>
                                        <p:attrNameLst>
                                          <p:attrName>style.visibility</p:attrName>
                                        </p:attrNameLst>
                                      </p:cBhvr>
                                      <p:to>
                                        <p:strVal val="visible"/>
                                      </p:to>
                                    </p:set>
                                    <p:anim calcmode="lin" valueType="num">
                                      <p:cBhvr additive="base">
                                        <p:cTn id="169" dur="500" fill="hold"/>
                                        <p:tgtEl>
                                          <p:spTgt spid="52"/>
                                        </p:tgtEl>
                                        <p:attrNameLst>
                                          <p:attrName>ppt_x</p:attrName>
                                        </p:attrNameLst>
                                      </p:cBhvr>
                                      <p:tavLst>
                                        <p:tav tm="0">
                                          <p:val>
                                            <p:strVal val="#ppt_x"/>
                                          </p:val>
                                        </p:tav>
                                        <p:tav tm="100000">
                                          <p:val>
                                            <p:strVal val="#ppt_x"/>
                                          </p:val>
                                        </p:tav>
                                      </p:tavLst>
                                    </p:anim>
                                    <p:anim calcmode="lin" valueType="num">
                                      <p:cBhvr additive="base">
                                        <p:cTn id="170" dur="500" fill="hold"/>
                                        <p:tgtEl>
                                          <p:spTgt spid="52"/>
                                        </p:tgtEl>
                                        <p:attrNameLst>
                                          <p:attrName>ppt_y</p:attrName>
                                        </p:attrNameLst>
                                      </p:cBhvr>
                                      <p:tavLst>
                                        <p:tav tm="0">
                                          <p:val>
                                            <p:strVal val="#ppt_y+0.1"/>
                                          </p:val>
                                        </p:tav>
                                        <p:tav tm="100000">
                                          <p:val>
                                            <p:strVal val="#ppt_y"/>
                                          </p:val>
                                        </p:tav>
                                      </p:tavLst>
                                    </p:anim>
                                    <p:animEffect transition="in" filter="fade">
                                      <p:cBhvr>
                                        <p:cTn id="171" dur="500"/>
                                        <p:tgtEl>
                                          <p:spTgt spid="52"/>
                                        </p:tgtEl>
                                      </p:cBhvr>
                                    </p:animEffect>
                                  </p:childTnLst>
                                </p:cTn>
                              </p:par>
                              <p:par>
                                <p:cTn id="172" presetID="2" presetClass="entr" presetSubtype="4" fill="hold" grpId="0" nodeType="withEffect">
                                  <p:stCondLst>
                                    <p:cond delay="0"/>
                                  </p:stCondLst>
                                  <p:childTnLst>
                                    <p:set>
                                      <p:cBhvr>
                                        <p:cTn id="173" dur="1" fill="hold">
                                          <p:stCondLst>
                                            <p:cond delay="0"/>
                                          </p:stCondLst>
                                        </p:cTn>
                                        <p:tgtEl>
                                          <p:spTgt spid="53"/>
                                        </p:tgtEl>
                                        <p:attrNameLst>
                                          <p:attrName>style.visibility</p:attrName>
                                        </p:attrNameLst>
                                      </p:cBhvr>
                                      <p:to>
                                        <p:strVal val="visible"/>
                                      </p:to>
                                    </p:set>
                                    <p:anim calcmode="lin" valueType="num">
                                      <p:cBhvr additive="base">
                                        <p:cTn id="174" dur="500" fill="hold"/>
                                        <p:tgtEl>
                                          <p:spTgt spid="53"/>
                                        </p:tgtEl>
                                        <p:attrNameLst>
                                          <p:attrName>ppt_x</p:attrName>
                                        </p:attrNameLst>
                                      </p:cBhvr>
                                      <p:tavLst>
                                        <p:tav tm="0">
                                          <p:val>
                                            <p:strVal val="#ppt_x"/>
                                          </p:val>
                                        </p:tav>
                                        <p:tav tm="100000">
                                          <p:val>
                                            <p:strVal val="#ppt_x"/>
                                          </p:val>
                                        </p:tav>
                                      </p:tavLst>
                                    </p:anim>
                                    <p:anim calcmode="lin" valueType="num">
                                      <p:cBhvr additive="base">
                                        <p:cTn id="175" dur="500" fill="hold"/>
                                        <p:tgtEl>
                                          <p:spTgt spid="53"/>
                                        </p:tgtEl>
                                        <p:attrNameLst>
                                          <p:attrName>ppt_y</p:attrName>
                                        </p:attrNameLst>
                                      </p:cBhvr>
                                      <p:tavLst>
                                        <p:tav tm="0">
                                          <p:val>
                                            <p:strVal val="#ppt_y+0.1"/>
                                          </p:val>
                                        </p:tav>
                                        <p:tav tm="100000">
                                          <p:val>
                                            <p:strVal val="#ppt_y"/>
                                          </p:val>
                                        </p:tav>
                                      </p:tavLst>
                                    </p:anim>
                                    <p:animEffect transition="in" filter="fade">
                                      <p:cBhvr>
                                        <p:cTn id="176" dur="500"/>
                                        <p:tgtEl>
                                          <p:spTgt spid="53"/>
                                        </p:tgtEl>
                                      </p:cBhvr>
                                    </p:animEffect>
                                  </p:childTnLst>
                                </p:cTn>
                              </p:par>
                              <p:par>
                                <p:cTn id="177" presetID="2" presetClass="entr" presetSubtype="4" fill="hold" grpId="0" nodeType="withEffect">
                                  <p:stCondLst>
                                    <p:cond delay="0"/>
                                  </p:stCondLst>
                                  <p:childTnLst>
                                    <p:set>
                                      <p:cBhvr>
                                        <p:cTn id="178" dur="1" fill="hold">
                                          <p:stCondLst>
                                            <p:cond delay="0"/>
                                          </p:stCondLst>
                                        </p:cTn>
                                        <p:tgtEl>
                                          <p:spTgt spid="54"/>
                                        </p:tgtEl>
                                        <p:attrNameLst>
                                          <p:attrName>style.visibility</p:attrName>
                                        </p:attrNameLst>
                                      </p:cBhvr>
                                      <p:to>
                                        <p:strVal val="visible"/>
                                      </p:to>
                                    </p:set>
                                    <p:anim calcmode="lin" valueType="num">
                                      <p:cBhvr additive="base">
                                        <p:cTn id="179" dur="500" fill="hold"/>
                                        <p:tgtEl>
                                          <p:spTgt spid="54"/>
                                        </p:tgtEl>
                                        <p:attrNameLst>
                                          <p:attrName>ppt_x</p:attrName>
                                        </p:attrNameLst>
                                      </p:cBhvr>
                                      <p:tavLst>
                                        <p:tav tm="0">
                                          <p:val>
                                            <p:strVal val="#ppt_x"/>
                                          </p:val>
                                        </p:tav>
                                        <p:tav tm="100000">
                                          <p:val>
                                            <p:strVal val="#ppt_x"/>
                                          </p:val>
                                        </p:tav>
                                      </p:tavLst>
                                    </p:anim>
                                    <p:anim calcmode="lin" valueType="num">
                                      <p:cBhvr additive="base">
                                        <p:cTn id="180" dur="500" fill="hold"/>
                                        <p:tgtEl>
                                          <p:spTgt spid="54"/>
                                        </p:tgtEl>
                                        <p:attrNameLst>
                                          <p:attrName>ppt_y</p:attrName>
                                        </p:attrNameLst>
                                      </p:cBhvr>
                                      <p:tavLst>
                                        <p:tav tm="0">
                                          <p:val>
                                            <p:strVal val="#ppt_y+0.1"/>
                                          </p:val>
                                        </p:tav>
                                        <p:tav tm="100000">
                                          <p:val>
                                            <p:strVal val="#ppt_y"/>
                                          </p:val>
                                        </p:tav>
                                      </p:tavLst>
                                    </p:anim>
                                    <p:animEffect transition="in" filter="fade">
                                      <p:cBhvr>
                                        <p:cTn id="181"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a0f_n1"/>
          <p:cNvSpPr txBox="1"/>
          <p:nvPr/>
        </p:nvSpPr>
        <p:spPr>
          <a:xfrm>
            <a:off x="548640" y="1188720"/>
            <a:ext cx="4114800" cy="822960"/>
          </a:xfrm>
          <a:prstGeom prst="rect">
            <a:avLst/>
          </a:prstGeom>
          <a:noFill/>
          <a:ln/>
        </p:spPr>
        <p:txBody>
          <a:bodyPr wrap="square" lIns="0" tIns="0" rIns="0" bIns="0" rtlCol="0" anchor="ctr"/>
          <a:lstStyle/>
          <a:p>
            <a:pPr marL="0" indent="0">
              <a:buNone/>
            </a:pPr>
            <a:r>
              <a:rPr lang="en-US" sz="6000" b="1" dirty="0">
                <a:solidFill>
                  <a:srgbClr val="A78BFA"/>
                </a:solidFill>
                <a:latin typeface="Calibri" pitchFamily="34" charset="0"/>
                <a:ea typeface="Calibri" pitchFamily="34" charset="-122"/>
                <a:cs typeface="Calibri" pitchFamily="34" charset="-120"/>
              </a:rPr>
              <a:t>01</a:t>
            </a:r>
            <a:endParaRPr lang="en-US" sz="6000" dirty="0"/>
          </a:p>
        </p:txBody>
      </p:sp>
      <p:sp>
        <p:nvSpPr>
          <p:cNvPr id="3" name="a0ud200_h2"/>
          <p:cNvSpPr txBox="1"/>
          <p:nvPr/>
        </p:nvSpPr>
        <p:spPr>
          <a:xfrm>
            <a:off x="548640" y="2011680"/>
            <a:ext cx="4572000" cy="82296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KEYS</a:t>
            </a:r>
            <a:endParaRPr lang="en-US" sz="4400" dirty="0"/>
          </a:p>
        </p:txBody>
      </p:sp>
      <p:sp>
        <p:nvSpPr>
          <p:cNvPr id="4" name="a0fd450_t3"/>
          <p:cNvSpPr txBox="1"/>
          <p:nvPr/>
        </p:nvSpPr>
        <p:spPr>
          <a:xfrm>
            <a:off x="548640" y="2834640"/>
            <a:ext cx="4389120" cy="731520"/>
          </a:xfrm>
          <a:prstGeom prst="rect">
            <a:avLst/>
          </a:prstGeom>
          <a:noFill/>
          <a:ln/>
        </p:spPr>
        <p:txBody>
          <a:bodyPr wrap="square" lIns="0" tIns="0" rIns="0" bIns="0" rtlCol="0" anchor="t"/>
          <a:lstStyle/>
          <a:p>
            <a:pPr marL="0" indent="0">
              <a:buNone/>
            </a:pPr>
            <a:r>
              <a:rPr lang="en-US" sz="1700" dirty="0">
                <a:solidFill>
                  <a:srgbClr val="CBD5E1"/>
                </a:solidFill>
                <a:latin typeface="Calibri" pitchFamily="34" charset="0"/>
                <a:ea typeface="Calibri" pitchFamily="34" charset="-122"/>
                <a:cs typeface="Calibri" pitchFamily="34" charset="-120"/>
              </a:rPr>
              <a:t>Seven kinds of key — and how to choose the one that identifies a row</a:t>
            </a:r>
            <a:endParaRPr lang="en-US" sz="1700" dirty="0"/>
          </a:p>
        </p:txBody>
      </p:sp>
      <p:sp>
        <p:nvSpPr>
          <p:cNvPr id="5" name="a0fd300_v4"/>
          <p:cNvSpPr/>
          <p:nvPr/>
        </p:nvSpPr>
        <p:spPr>
          <a:xfrm>
            <a:off x="5288459" y="1779853"/>
            <a:ext cx="1048871" cy="1048871"/>
          </a:xfrm>
          <a:prstGeom prst="donut">
            <a:avLst>
              <a:gd name="adj" fmla="val 25000"/>
            </a:avLst>
          </a:prstGeom>
          <a:solidFill>
            <a:srgbClr val="8B5CF6"/>
          </a:solidFill>
          <a:ln>
            <a:noFill/>
          </a:ln>
        </p:spPr>
      </p:sp>
      <p:sp>
        <p:nvSpPr>
          <p:cNvPr id="6" name="a0fd300_v5"/>
          <p:cNvSpPr/>
          <p:nvPr/>
        </p:nvSpPr>
        <p:spPr>
          <a:xfrm>
            <a:off x="6274398" y="2178424"/>
            <a:ext cx="1992854" cy="251729"/>
          </a:xfrm>
          <a:prstGeom prst="rect">
            <a:avLst/>
          </a:prstGeom>
          <a:solidFill>
            <a:srgbClr val="8B5CF6"/>
          </a:solidFill>
          <a:ln>
            <a:noFill/>
          </a:ln>
        </p:spPr>
      </p:sp>
      <p:sp>
        <p:nvSpPr>
          <p:cNvPr id="7" name="a0fd300_v6"/>
          <p:cNvSpPr/>
          <p:nvPr/>
        </p:nvSpPr>
        <p:spPr>
          <a:xfrm>
            <a:off x="7637929" y="2430152"/>
            <a:ext cx="209774" cy="377593"/>
          </a:xfrm>
          <a:prstGeom prst="rect">
            <a:avLst/>
          </a:prstGeom>
          <a:solidFill>
            <a:srgbClr val="8B5CF6"/>
          </a:solidFill>
          <a:ln>
            <a:noFill/>
          </a:ln>
        </p:spPr>
      </p:sp>
      <p:sp>
        <p:nvSpPr>
          <p:cNvPr id="8" name="a0fd300_v7"/>
          <p:cNvSpPr/>
          <p:nvPr/>
        </p:nvSpPr>
        <p:spPr>
          <a:xfrm>
            <a:off x="8015523" y="2430152"/>
            <a:ext cx="209774" cy="251729"/>
          </a:xfrm>
          <a:prstGeom prst="rect">
            <a:avLst/>
          </a:prstGeom>
          <a:solidFill>
            <a:srgbClr val="8B5CF6"/>
          </a:solidFill>
          <a:ln>
            <a:noFill/>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 presetClass="entr" presetSubtype="4" fill="hold" grpId="0" nodeType="withEffect">
                                  <p:stCondLst>
                                    <p:cond delay="20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fill="hold"/>
                                        <p:tgtEl>
                                          <p:spTgt spid="3"/>
                                        </p:tgtEl>
                                        <p:attrNameLst>
                                          <p:attrName>ppt_x</p:attrName>
                                        </p:attrNameLst>
                                      </p:cBhvr>
                                      <p:tavLst>
                                        <p:tav tm="0">
                                          <p:val>
                                            <p:strVal val="#ppt_x"/>
                                          </p:val>
                                        </p:tav>
                                        <p:tav tm="100000">
                                          <p:val>
                                            <p:strVal val="#ppt_x"/>
                                          </p:val>
                                        </p:tav>
                                      </p:tavLst>
                                    </p:anim>
                                    <p:anim calcmode="lin" valueType="num">
                                      <p:cBhvr additive="base">
                                        <p:cTn id="11" dur="500" fill="hold"/>
                                        <p:tgtEl>
                                          <p:spTgt spid="3"/>
                                        </p:tgtEl>
                                        <p:attrNameLst>
                                          <p:attrName>ppt_y</p:attrName>
                                        </p:attrNameLst>
                                      </p:cBhvr>
                                      <p:tavLst>
                                        <p:tav tm="0">
                                          <p:val>
                                            <p:strVal val="#ppt_y+0.1"/>
                                          </p:val>
                                        </p:tav>
                                        <p:tav tm="100000">
                                          <p:val>
                                            <p:strVal val="#ppt_y"/>
                                          </p:val>
                                        </p:tav>
                                      </p:tavLst>
                                    </p:anim>
                                    <p:animEffect transition="in" filter="fade">
                                      <p:cBhvr>
                                        <p:cTn id="12" dur="500"/>
                                        <p:tgtEl>
                                          <p:spTgt spid="3"/>
                                        </p:tgtEl>
                                      </p:cBhvr>
                                    </p:animEffect>
                                  </p:childTnLst>
                                </p:cTn>
                              </p:par>
                              <p:par>
                                <p:cTn id="13" presetID="10" presetClass="entr" presetSubtype="0" fill="hold" grpId="0" nodeType="withEffect">
                                  <p:stCondLst>
                                    <p:cond delay="45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10" presetClass="entr" presetSubtype="0" fill="hold" grpId="0" nodeType="withEffect">
                                  <p:stCondLst>
                                    <p:cond delay="3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par>
                                <p:cTn id="19" presetID="10" presetClass="entr" presetSubtype="0" fill="hold" grpId="0" nodeType="withEffect">
                                  <p:stCondLst>
                                    <p:cond delay="30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par>
                                <p:cTn id="22" presetID="10" presetClass="entr" presetSubtype="0" fill="hold" grpId="0" nodeType="withEffect">
                                  <p:stCondLst>
                                    <p:cond delay="30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par>
                                <p:cTn id="25" presetID="10" presetClass="entr" presetSubtype="0" fill="hold" grpId="0" nodeType="withEffect">
                                  <p:stCondLst>
                                    <p:cond delay="30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1"/>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The Family of Keys</a:t>
            </a:r>
            <a:endParaRPr lang="en-US" sz="2800" dirty="0"/>
          </a:p>
        </p:txBody>
      </p:sp>
      <p:sp>
        <p:nvSpPr>
          <p:cNvPr id="3" name="Text 2"/>
          <p:cNvSpPr txBox="1"/>
          <p:nvPr/>
        </p:nvSpPr>
        <p:spPr>
          <a:xfrm>
            <a:off x="457200" y="749808"/>
            <a:ext cx="8229600" cy="320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Every key is a set of columns that can identify a row — they differ in how strict they are</a:t>
            </a:r>
            <a:endParaRPr lang="en-US" sz="1300" dirty="0"/>
          </a:p>
        </p:txBody>
      </p:sp>
      <p:sp>
        <p:nvSpPr>
          <p:cNvPr id="4" name="a1f_sup3"/>
          <p:cNvSpPr/>
          <p:nvPr/>
        </p:nvSpPr>
        <p:spPr>
          <a:xfrm>
            <a:off x="457200" y="1234440"/>
            <a:ext cx="4206240" cy="3520440"/>
          </a:xfrm>
          <a:prstGeom prst="roundRect">
            <a:avLst>
              <a:gd name="adj" fmla="val 5000"/>
            </a:avLst>
          </a:prstGeom>
          <a:solidFill>
            <a:srgbClr val="F1F5F9"/>
          </a:solidFill>
          <a:ln w="12700">
            <a:solidFill>
              <a:srgbClr val="CBD5E1"/>
            </a:solidFill>
            <a:prstDash val="solid"/>
          </a:ln>
        </p:spPr>
      </p:sp>
      <p:sp>
        <p:nvSpPr>
          <p:cNvPr id="5" name="a1f_supl4"/>
          <p:cNvSpPr txBox="1"/>
          <p:nvPr/>
        </p:nvSpPr>
        <p:spPr>
          <a:xfrm>
            <a:off x="640080" y="1298448"/>
            <a:ext cx="3931920" cy="411480"/>
          </a:xfrm>
          <a:prstGeom prst="rect">
            <a:avLst/>
          </a:prstGeom>
          <a:noFill/>
          <a:ln/>
        </p:spPr>
        <p:txBody>
          <a:bodyPr wrap="square" lIns="0" tIns="0" rIns="0" bIns="0" rtlCol="0" anchor="ctr"/>
          <a:lstStyle/>
          <a:p>
            <a:pPr marL="0" indent="0">
              <a:buNone/>
            </a:pPr>
            <a:r>
              <a:rPr lang="en-US" sz="1100" b="1" kern="0" spc="100" dirty="0">
                <a:solidFill>
                  <a:srgbClr val="0F172A"/>
                </a:solidFill>
                <a:latin typeface="Calibri" pitchFamily="34" charset="0"/>
                <a:ea typeface="Calibri" pitchFamily="34" charset="-122"/>
                <a:cs typeface="Calibri" pitchFamily="34" charset="-120"/>
              </a:rPr>
              <a:t>SUPER KEYS  </a:t>
            </a:r>
            <a:r>
              <a:rPr lang="en-US" sz="1000" dirty="0">
                <a:solidFill>
                  <a:srgbClr val="64748B"/>
                </a:solidFill>
                <a:latin typeface="Calibri" pitchFamily="34" charset="0"/>
                <a:ea typeface="Calibri" pitchFamily="34" charset="-122"/>
                <a:cs typeface="Calibri" pitchFamily="34" charset="-120"/>
              </a:rPr>
              <a:t>any unique column set, e.g. (account_id, balance)</a:t>
            </a:r>
            <a:endParaRPr lang="en-US" sz="1100" dirty="0"/>
          </a:p>
        </p:txBody>
      </p:sp>
      <p:sp>
        <p:nvSpPr>
          <p:cNvPr id="6" name="a2f_cand5"/>
          <p:cNvSpPr/>
          <p:nvPr/>
        </p:nvSpPr>
        <p:spPr>
          <a:xfrm>
            <a:off x="685800" y="1783080"/>
            <a:ext cx="3749040" cy="2743200"/>
          </a:xfrm>
          <a:prstGeom prst="roundRect">
            <a:avLst>
              <a:gd name="adj" fmla="val 5000"/>
            </a:avLst>
          </a:prstGeom>
          <a:solidFill>
            <a:srgbClr val="CCFBF1"/>
          </a:solidFill>
          <a:ln w="9525">
            <a:solidFill>
              <a:srgbClr val="0F766E"/>
            </a:solidFill>
            <a:prstDash val="solid"/>
          </a:ln>
        </p:spPr>
      </p:sp>
      <p:sp>
        <p:nvSpPr>
          <p:cNvPr id="7" name="a2f_candl6"/>
          <p:cNvSpPr txBox="1"/>
          <p:nvPr/>
        </p:nvSpPr>
        <p:spPr>
          <a:xfrm>
            <a:off x="868680" y="1847088"/>
            <a:ext cx="3474720" cy="365760"/>
          </a:xfrm>
          <a:prstGeom prst="rect">
            <a:avLst/>
          </a:prstGeom>
          <a:noFill/>
          <a:ln/>
        </p:spPr>
        <p:txBody>
          <a:bodyPr wrap="square" lIns="0" tIns="0" rIns="0" bIns="0" rtlCol="0" anchor="ctr"/>
          <a:lstStyle/>
          <a:p>
            <a:pPr marL="0" indent="0">
              <a:buNone/>
            </a:pPr>
            <a:r>
              <a:rPr lang="en-US" sz="1100" b="1" kern="0" spc="100" dirty="0">
                <a:solidFill>
                  <a:srgbClr val="0F766E"/>
                </a:solidFill>
                <a:latin typeface="Calibri" pitchFamily="34" charset="0"/>
                <a:ea typeface="Calibri" pitchFamily="34" charset="-122"/>
                <a:cs typeface="Calibri" pitchFamily="34" charset="-120"/>
              </a:rPr>
              <a:t>CANDIDATE KEYS  </a:t>
            </a:r>
            <a:r>
              <a:rPr lang="en-US" sz="1000" dirty="0">
                <a:solidFill>
                  <a:srgbClr val="334155"/>
                </a:solidFill>
                <a:latin typeface="Calibri" pitchFamily="34" charset="0"/>
                <a:ea typeface="Calibri" pitchFamily="34" charset="-122"/>
                <a:cs typeface="Calibri" pitchFamily="34" charset="-120"/>
              </a:rPr>
              <a:t>the minimal super keys</a:t>
            </a:r>
            <a:endParaRPr lang="en-US" sz="1100" dirty="0"/>
          </a:p>
        </p:txBody>
      </p:sp>
      <p:sp>
        <p:nvSpPr>
          <p:cNvPr id="8" name="a3u_pk7"/>
          <p:cNvSpPr txBox="1"/>
          <p:nvPr/>
        </p:nvSpPr>
        <p:spPr>
          <a:xfrm>
            <a:off x="868680" y="2331720"/>
            <a:ext cx="1600200" cy="2011680"/>
          </a:xfrm>
          <a:prstGeom prst="roundRect">
            <a:avLst>
              <a:gd name="adj" fmla="val 8000"/>
            </a:avLst>
          </a:prstGeom>
          <a:solidFill>
            <a:srgbClr val="6D28D9"/>
          </a:solidFill>
          <a:ln w="12700">
            <a:solidFill>
              <a:srgbClr val="6D28D9"/>
            </a:solidFill>
            <a:prstDash val="solid"/>
          </a:ln>
        </p:spPr>
        <p:txBody>
          <a:bodyPr wrap="square" lIns="91440" tIns="91440" rIns="91440" bIns="91440" rtlCol="0" anchor="ctr"/>
          <a:lstStyle/>
          <a:p>
            <a:pPr marL="0" indent="0" algn="ctr">
              <a:spcAft>
                <a:spcPts val="400"/>
              </a:spcAft>
              <a:buNone/>
            </a:pPr>
            <a:r>
              <a:rPr lang="en-US" sz="1400" b="1" dirty="0">
                <a:solidFill>
                  <a:srgbClr val="FFFFFF"/>
                </a:solidFill>
                <a:latin typeface="Calibri" pitchFamily="34" charset="0"/>
                <a:ea typeface="Calibri" pitchFamily="34" charset="-122"/>
                <a:cs typeface="Calibri" pitchFamily="34" charset="-120"/>
              </a:rPr>
              <a:t>PRIMARY</a:t>
            </a:r>
            <a:endParaRPr lang="en-US" sz="1400" dirty="0"/>
          </a:p>
          <a:p>
            <a:pPr marL="0" indent="0" algn="ctr">
              <a:spcAft>
                <a:spcPts val="800"/>
              </a:spcAft>
              <a:buNone/>
            </a:pPr>
            <a:r>
              <a:rPr lang="en-US" sz="1050" dirty="0">
                <a:solidFill>
                  <a:srgbClr val="EDE9FE"/>
                </a:solidFill>
                <a:latin typeface="Calibri" pitchFamily="34" charset="0"/>
                <a:ea typeface="Calibri" pitchFamily="34" charset="-122"/>
                <a:cs typeface="Calibri" pitchFamily="34" charset="-120"/>
              </a:rPr>
              <a:t>the one chosen as the identity</a:t>
            </a:r>
            <a:endParaRPr lang="en-US" sz="1050" dirty="0"/>
          </a:p>
          <a:p>
            <a:pPr marL="0" indent="0" algn="ctr">
              <a:buNone/>
            </a:pPr>
            <a:r>
              <a:rPr lang="en-US" sz="1100" b="1" dirty="0">
                <a:solidFill>
                  <a:srgbClr val="FFFFFF"/>
                </a:solidFill>
                <a:latin typeface="Courier New" pitchFamily="34" charset="0"/>
                <a:ea typeface="Courier New" pitchFamily="34" charset="-122"/>
                <a:cs typeface="Courier New" pitchFamily="34" charset="-120"/>
              </a:rPr>
              <a:t>account_id</a:t>
            </a:r>
            <a:endParaRPr lang="en-US" sz="1100" dirty="0"/>
          </a:p>
        </p:txBody>
      </p:sp>
      <p:sp>
        <p:nvSpPr>
          <p:cNvPr id="9" name="a3u_ak8"/>
          <p:cNvSpPr txBox="1"/>
          <p:nvPr/>
        </p:nvSpPr>
        <p:spPr>
          <a:xfrm>
            <a:off x="2651760" y="2331720"/>
            <a:ext cx="1600200" cy="2011680"/>
          </a:xfrm>
          <a:prstGeom prst="roundRect">
            <a:avLst>
              <a:gd name="adj" fmla="val 8000"/>
            </a:avLst>
          </a:prstGeom>
          <a:solidFill>
            <a:srgbClr val="FFFFFF"/>
          </a:solidFill>
          <a:ln w="12700">
            <a:solidFill>
              <a:srgbClr val="0F766E"/>
            </a:solidFill>
            <a:prstDash val="solid"/>
          </a:ln>
        </p:spPr>
        <p:txBody>
          <a:bodyPr wrap="square" lIns="91440" tIns="91440" rIns="91440" bIns="91440" rtlCol="0" anchor="ctr"/>
          <a:lstStyle/>
          <a:p>
            <a:pPr marL="0" indent="0" algn="ctr">
              <a:spcAft>
                <a:spcPts val="400"/>
              </a:spcAft>
              <a:buNone/>
            </a:pPr>
            <a:r>
              <a:rPr lang="en-US" sz="1400" b="1" dirty="0">
                <a:solidFill>
                  <a:srgbClr val="0F766E"/>
                </a:solidFill>
                <a:latin typeface="Calibri" pitchFamily="34" charset="0"/>
                <a:ea typeface="Calibri" pitchFamily="34" charset="-122"/>
                <a:cs typeface="Calibri" pitchFamily="34" charset="-120"/>
              </a:rPr>
              <a:t>ALTERNATE</a:t>
            </a:r>
            <a:endParaRPr lang="en-US" sz="1400" dirty="0"/>
          </a:p>
          <a:p>
            <a:pPr marL="0" indent="0" algn="ctr">
              <a:spcAft>
                <a:spcPts val="800"/>
              </a:spcAft>
              <a:buNone/>
            </a:pPr>
            <a:r>
              <a:rPr lang="en-US" sz="1050" dirty="0">
                <a:solidFill>
                  <a:srgbClr val="334155"/>
                </a:solidFill>
                <a:latin typeface="Calibri" pitchFamily="34" charset="0"/>
                <a:ea typeface="Calibri" pitchFamily="34" charset="-122"/>
                <a:cs typeface="Calibri" pitchFamily="34" charset="-120"/>
              </a:rPr>
              <a:t>the candidates not chosen</a:t>
            </a:r>
            <a:endParaRPr lang="en-US" sz="1050" dirty="0"/>
          </a:p>
          <a:p>
            <a:pPr marL="0" indent="0" algn="ctr">
              <a:buNone/>
            </a:pPr>
            <a:r>
              <a:rPr lang="en-US" sz="1100" b="1" dirty="0">
                <a:solidFill>
                  <a:srgbClr val="0F766E"/>
                </a:solidFill>
                <a:latin typeface="Courier New" pitchFamily="34" charset="0"/>
                <a:ea typeface="Courier New" pitchFamily="34" charset="-122"/>
                <a:cs typeface="Courier New" pitchFamily="34" charset="-120"/>
              </a:rPr>
              <a:t>account_number</a:t>
            </a:r>
            <a:endParaRPr lang="en-US" sz="1100" dirty="0"/>
          </a:p>
        </p:txBody>
      </p:sp>
      <p:sp>
        <p:nvSpPr>
          <p:cNvPr id="10" name="a4u_c9"/>
          <p:cNvSpPr/>
          <p:nvPr/>
        </p:nvSpPr>
        <p:spPr>
          <a:xfrm>
            <a:off x="4937760" y="1234440"/>
            <a:ext cx="3749040" cy="1051560"/>
          </a:xfrm>
          <a:prstGeom prst="roundRect">
            <a:avLst>
              <a:gd name="adj" fmla="val 6000"/>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sp>
        <p:nvSpPr>
          <p:cNvPr id="11" name="a4u_k10"/>
          <p:cNvSpPr txBox="1"/>
          <p:nvPr/>
        </p:nvSpPr>
        <p:spPr>
          <a:xfrm>
            <a:off x="5120640" y="1371600"/>
            <a:ext cx="1188720" cy="274320"/>
          </a:xfrm>
          <a:prstGeom prst="roundRect">
            <a:avLst>
              <a:gd name="adj" fmla="val 50000"/>
            </a:avLst>
          </a:prstGeom>
          <a:solidFill>
            <a:srgbClr val="6D28D9"/>
          </a:solidFill>
          <a:ln w="12700">
            <a:solidFill>
              <a:srgbClr val="6D28D9"/>
            </a:solidFill>
            <a:prstDash val="solid"/>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COMPOSITE</a:t>
            </a:r>
            <a:endParaRPr lang="en-US" sz="1000" dirty="0"/>
          </a:p>
        </p:txBody>
      </p:sp>
      <p:sp>
        <p:nvSpPr>
          <p:cNvPr id="12" name="a4u_d11"/>
          <p:cNvSpPr txBox="1"/>
          <p:nvPr/>
        </p:nvSpPr>
        <p:spPr>
          <a:xfrm>
            <a:off x="5120640" y="1691640"/>
            <a:ext cx="3429000" cy="274320"/>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A key made of more than one column</a:t>
            </a:r>
            <a:endParaRPr lang="en-US" sz="1200" dirty="0"/>
          </a:p>
        </p:txBody>
      </p:sp>
      <p:sp>
        <p:nvSpPr>
          <p:cNvPr id="13" name="a4u_e12"/>
          <p:cNvSpPr txBox="1"/>
          <p:nvPr/>
        </p:nvSpPr>
        <p:spPr>
          <a:xfrm>
            <a:off x="5120640" y="1965960"/>
            <a:ext cx="3429000" cy="256032"/>
          </a:xfrm>
          <a:prstGeom prst="rect">
            <a:avLst/>
          </a:prstGeom>
          <a:noFill/>
          <a:ln/>
        </p:spPr>
        <p:txBody>
          <a:bodyPr wrap="square" lIns="0" tIns="0" rIns="0" bIns="0" rtlCol="0" anchor="ctr"/>
          <a:lstStyle/>
          <a:p>
            <a:pPr marL="0" indent="0">
              <a:buNone/>
            </a:pPr>
            <a:r>
              <a:rPr lang="en-US" sz="1050" dirty="0">
                <a:solidFill>
                  <a:srgbClr val="64748B"/>
                </a:solidFill>
                <a:latin typeface="Courier New" pitchFamily="34" charset="0"/>
                <a:ea typeface="Courier New" pitchFamily="34" charset="-122"/>
                <a:cs typeface="Courier New" pitchFamily="34" charset="-120"/>
              </a:rPr>
              <a:t>(customer_id, product_code)</a:t>
            </a:r>
            <a:endParaRPr lang="en-US" sz="1050" dirty="0"/>
          </a:p>
        </p:txBody>
      </p:sp>
      <p:sp>
        <p:nvSpPr>
          <p:cNvPr id="14" name="a5u_c13"/>
          <p:cNvSpPr/>
          <p:nvPr/>
        </p:nvSpPr>
        <p:spPr>
          <a:xfrm>
            <a:off x="4937760" y="2423160"/>
            <a:ext cx="3749040" cy="1051560"/>
          </a:xfrm>
          <a:prstGeom prst="roundRect">
            <a:avLst>
              <a:gd name="adj" fmla="val 6000"/>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sp>
        <p:nvSpPr>
          <p:cNvPr id="15" name="a5u_k14"/>
          <p:cNvSpPr txBox="1"/>
          <p:nvPr/>
        </p:nvSpPr>
        <p:spPr>
          <a:xfrm>
            <a:off x="5120640" y="2560320"/>
            <a:ext cx="1188720" cy="274320"/>
          </a:xfrm>
          <a:prstGeom prst="roundRect">
            <a:avLst>
              <a:gd name="adj" fmla="val 50000"/>
            </a:avLst>
          </a:prstGeom>
          <a:solidFill>
            <a:srgbClr val="0F766E"/>
          </a:solidFill>
          <a:ln w="12700">
            <a:solidFill>
              <a:srgbClr val="0F766E"/>
            </a:solidFill>
            <a:prstDash val="solid"/>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SURROGATE</a:t>
            </a:r>
            <a:endParaRPr lang="en-US" sz="1000" dirty="0"/>
          </a:p>
        </p:txBody>
      </p:sp>
      <p:sp>
        <p:nvSpPr>
          <p:cNvPr id="16" name="a5u_d15"/>
          <p:cNvSpPr txBox="1"/>
          <p:nvPr/>
        </p:nvSpPr>
        <p:spPr>
          <a:xfrm>
            <a:off x="5120640" y="2880360"/>
            <a:ext cx="3429000" cy="274320"/>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System-generated, no business meaning</a:t>
            </a:r>
            <a:endParaRPr lang="en-US" sz="1200" dirty="0"/>
          </a:p>
        </p:txBody>
      </p:sp>
      <p:sp>
        <p:nvSpPr>
          <p:cNvPr id="17" name="a5u_e16"/>
          <p:cNvSpPr txBox="1"/>
          <p:nvPr/>
        </p:nvSpPr>
        <p:spPr>
          <a:xfrm>
            <a:off x="5120640" y="3154680"/>
            <a:ext cx="3429000" cy="256032"/>
          </a:xfrm>
          <a:prstGeom prst="rect">
            <a:avLst/>
          </a:prstGeom>
          <a:noFill/>
          <a:ln/>
        </p:spPr>
        <p:txBody>
          <a:bodyPr wrap="square" lIns="0" tIns="0" rIns="0" bIns="0" rtlCol="0" anchor="ctr"/>
          <a:lstStyle/>
          <a:p>
            <a:pPr marL="0" indent="0">
              <a:buNone/>
            </a:pPr>
            <a:r>
              <a:rPr lang="en-US" sz="1050" dirty="0">
                <a:solidFill>
                  <a:srgbClr val="64748B"/>
                </a:solidFill>
                <a:latin typeface="Courier New" pitchFamily="34" charset="0"/>
                <a:ea typeface="Courier New" pitchFamily="34" charset="-122"/>
                <a:cs typeface="Courier New" pitchFamily="34" charset="-120"/>
              </a:rPr>
              <a:t>customer_id = 1001</a:t>
            </a:r>
            <a:endParaRPr lang="en-US" sz="1050" dirty="0"/>
          </a:p>
        </p:txBody>
      </p:sp>
      <p:sp>
        <p:nvSpPr>
          <p:cNvPr id="18" name="a6u_c17"/>
          <p:cNvSpPr/>
          <p:nvPr/>
        </p:nvSpPr>
        <p:spPr>
          <a:xfrm>
            <a:off x="4937760" y="3611880"/>
            <a:ext cx="3749040" cy="1051560"/>
          </a:xfrm>
          <a:prstGeom prst="roundRect">
            <a:avLst>
              <a:gd name="adj" fmla="val 6000"/>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sp>
        <p:nvSpPr>
          <p:cNvPr id="19" name="a6u_k18"/>
          <p:cNvSpPr txBox="1"/>
          <p:nvPr/>
        </p:nvSpPr>
        <p:spPr>
          <a:xfrm>
            <a:off x="5120640" y="3749040"/>
            <a:ext cx="1188720" cy="274320"/>
          </a:xfrm>
          <a:prstGeom prst="roundRect">
            <a:avLst>
              <a:gd name="adj" fmla="val 50000"/>
            </a:avLst>
          </a:prstGeom>
          <a:solidFill>
            <a:srgbClr val="B45309"/>
          </a:solidFill>
          <a:ln w="12700">
            <a:solidFill>
              <a:srgbClr val="B45309"/>
            </a:solidFill>
            <a:prstDash val="solid"/>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FOREIGN</a:t>
            </a:r>
            <a:endParaRPr lang="en-US" sz="1000" dirty="0"/>
          </a:p>
        </p:txBody>
      </p:sp>
      <p:sp>
        <p:nvSpPr>
          <p:cNvPr id="20" name="a6u_d19"/>
          <p:cNvSpPr txBox="1"/>
          <p:nvPr/>
        </p:nvSpPr>
        <p:spPr>
          <a:xfrm>
            <a:off x="5120640" y="4069080"/>
            <a:ext cx="3429000" cy="274320"/>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Points at a key in another table</a:t>
            </a:r>
            <a:endParaRPr lang="en-US" sz="1200" dirty="0"/>
          </a:p>
        </p:txBody>
      </p:sp>
      <p:sp>
        <p:nvSpPr>
          <p:cNvPr id="21" name="a6u_e20"/>
          <p:cNvSpPr txBox="1"/>
          <p:nvPr/>
        </p:nvSpPr>
        <p:spPr>
          <a:xfrm>
            <a:off x="5120640" y="4343400"/>
            <a:ext cx="3429000" cy="256032"/>
          </a:xfrm>
          <a:prstGeom prst="rect">
            <a:avLst/>
          </a:prstGeom>
          <a:noFill/>
          <a:ln/>
        </p:spPr>
        <p:txBody>
          <a:bodyPr wrap="square" lIns="0" tIns="0" rIns="0" bIns="0" rtlCol="0" anchor="ctr"/>
          <a:lstStyle/>
          <a:p>
            <a:pPr marL="0" indent="0">
              <a:buNone/>
            </a:pPr>
            <a:r>
              <a:rPr lang="en-US" sz="1050" dirty="0">
                <a:solidFill>
                  <a:srgbClr val="64748B"/>
                </a:solidFill>
                <a:latin typeface="Courier New" pitchFamily="34" charset="0"/>
                <a:ea typeface="Courier New" pitchFamily="34" charset="-122"/>
                <a:cs typeface="Courier New" pitchFamily="34" charset="-120"/>
              </a:rPr>
              <a:t>account.customer_id</a:t>
            </a:r>
            <a:endParaRPr lang="en-US" sz="10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ppt_y+0.1"/>
                                          </p:val>
                                        </p:tav>
                                        <p:tav tm="100000">
                                          <p:val>
                                            <p:strVal val="#ppt_y"/>
                                          </p:val>
                                        </p:tav>
                                      </p:tavLst>
                                    </p:anim>
                                    <p:animEffect transition="in" filter="fade">
                                      <p:cBhvr>
                                        <p:cTn id="25" dur="500"/>
                                        <p:tgtEl>
                                          <p:spTgt spid="8"/>
                                        </p:tgtEl>
                                      </p:cBhvr>
                                    </p:animEffect>
                                  </p:childTnLst>
                                </p:cTn>
                              </p:par>
                              <p:par>
                                <p:cTn id="26" presetID="2" presetClass="entr" presetSubtype="4"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additive="base">
                                        <p:cTn id="28" dur="500" fill="hold"/>
                                        <p:tgtEl>
                                          <p:spTgt spid="9"/>
                                        </p:tgtEl>
                                        <p:attrNameLst>
                                          <p:attrName>ppt_x</p:attrName>
                                        </p:attrNameLst>
                                      </p:cBhvr>
                                      <p:tavLst>
                                        <p:tav tm="0">
                                          <p:val>
                                            <p:strVal val="#ppt_x"/>
                                          </p:val>
                                        </p:tav>
                                        <p:tav tm="100000">
                                          <p:val>
                                            <p:strVal val="#ppt_x"/>
                                          </p:val>
                                        </p:tav>
                                      </p:tavLst>
                                    </p:anim>
                                    <p:anim calcmode="lin" valueType="num">
                                      <p:cBhvr additive="base">
                                        <p:cTn id="29" dur="500" fill="hold"/>
                                        <p:tgtEl>
                                          <p:spTgt spid="9"/>
                                        </p:tgtEl>
                                        <p:attrNameLst>
                                          <p:attrName>ppt_y</p:attrName>
                                        </p:attrNameLst>
                                      </p:cBhvr>
                                      <p:tavLst>
                                        <p:tav tm="0">
                                          <p:val>
                                            <p:strVal val="#ppt_y+0.1"/>
                                          </p:val>
                                        </p:tav>
                                        <p:tav tm="100000">
                                          <p:val>
                                            <p:strVal val="#ppt_y"/>
                                          </p:val>
                                        </p:tav>
                                      </p:tavLst>
                                    </p:anim>
                                    <p:animEffect transition="in" filter="fade">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ppt_x"/>
                                          </p:val>
                                        </p:tav>
                                        <p:tav tm="100000">
                                          <p:val>
                                            <p:strVal val="#ppt_x"/>
                                          </p:val>
                                        </p:tav>
                                      </p:tavLst>
                                    </p:anim>
                                    <p:anim calcmode="lin" valueType="num">
                                      <p:cBhvr additive="base">
                                        <p:cTn id="36" dur="500" fill="hold"/>
                                        <p:tgtEl>
                                          <p:spTgt spid="10"/>
                                        </p:tgtEl>
                                        <p:attrNameLst>
                                          <p:attrName>ppt_y</p:attrName>
                                        </p:attrNameLst>
                                      </p:cBhvr>
                                      <p:tavLst>
                                        <p:tav tm="0">
                                          <p:val>
                                            <p:strVal val="#ppt_y+0.1"/>
                                          </p:val>
                                        </p:tav>
                                        <p:tav tm="100000">
                                          <p:val>
                                            <p:strVal val="#ppt_y"/>
                                          </p:val>
                                        </p:tav>
                                      </p:tavLst>
                                    </p:anim>
                                    <p:animEffect transition="in" filter="fade">
                                      <p:cBhvr>
                                        <p:cTn id="37" dur="500"/>
                                        <p:tgtEl>
                                          <p:spTgt spid="10"/>
                                        </p:tgtEl>
                                      </p:cBhvr>
                                    </p:animEffect>
                                  </p:childTnLst>
                                </p:cTn>
                              </p:par>
                              <p:par>
                                <p:cTn id="38" presetID="2" presetClass="entr" presetSubtype="4" fill="hold" grpId="0" nodeType="withEffect">
                                  <p:stCondLst>
                                    <p:cond delay="0"/>
                                  </p:stCondLst>
                                  <p:childTnLst>
                                    <p:set>
                                      <p:cBhvr>
                                        <p:cTn id="39" dur="1" fill="hold">
                                          <p:stCondLst>
                                            <p:cond delay="0"/>
                                          </p:stCondLst>
                                        </p:cTn>
                                        <p:tgtEl>
                                          <p:spTgt spid="11"/>
                                        </p:tgtEl>
                                        <p:attrNameLst>
                                          <p:attrName>style.visibility</p:attrName>
                                        </p:attrNameLst>
                                      </p:cBhvr>
                                      <p:to>
                                        <p:strVal val="visible"/>
                                      </p:to>
                                    </p:set>
                                    <p:anim calcmode="lin" valueType="num">
                                      <p:cBhvr additive="base">
                                        <p:cTn id="40" dur="500" fill="hold"/>
                                        <p:tgtEl>
                                          <p:spTgt spid="11"/>
                                        </p:tgtEl>
                                        <p:attrNameLst>
                                          <p:attrName>ppt_x</p:attrName>
                                        </p:attrNameLst>
                                      </p:cBhvr>
                                      <p:tavLst>
                                        <p:tav tm="0">
                                          <p:val>
                                            <p:strVal val="#ppt_x"/>
                                          </p:val>
                                        </p:tav>
                                        <p:tav tm="100000">
                                          <p:val>
                                            <p:strVal val="#ppt_x"/>
                                          </p:val>
                                        </p:tav>
                                      </p:tavLst>
                                    </p:anim>
                                    <p:anim calcmode="lin" valueType="num">
                                      <p:cBhvr additive="base">
                                        <p:cTn id="41" dur="500" fill="hold"/>
                                        <p:tgtEl>
                                          <p:spTgt spid="11"/>
                                        </p:tgtEl>
                                        <p:attrNameLst>
                                          <p:attrName>ppt_y</p:attrName>
                                        </p:attrNameLst>
                                      </p:cBhvr>
                                      <p:tavLst>
                                        <p:tav tm="0">
                                          <p:val>
                                            <p:strVal val="#ppt_y+0.1"/>
                                          </p:val>
                                        </p:tav>
                                        <p:tav tm="100000">
                                          <p:val>
                                            <p:strVal val="#ppt_y"/>
                                          </p:val>
                                        </p:tav>
                                      </p:tavLst>
                                    </p:anim>
                                    <p:animEffect transition="in" filter="fade">
                                      <p:cBhvr>
                                        <p:cTn id="42" dur="500"/>
                                        <p:tgtEl>
                                          <p:spTgt spid="11"/>
                                        </p:tgtEl>
                                      </p:cBhvr>
                                    </p:animEffect>
                                  </p:childTnLst>
                                </p:cTn>
                              </p:par>
                              <p:par>
                                <p:cTn id="43" presetID="2" presetClass="entr" presetSubtype="4"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500" fill="hold"/>
                                        <p:tgtEl>
                                          <p:spTgt spid="12"/>
                                        </p:tgtEl>
                                        <p:attrNameLst>
                                          <p:attrName>ppt_x</p:attrName>
                                        </p:attrNameLst>
                                      </p:cBhvr>
                                      <p:tavLst>
                                        <p:tav tm="0">
                                          <p:val>
                                            <p:strVal val="#ppt_x"/>
                                          </p:val>
                                        </p:tav>
                                        <p:tav tm="100000">
                                          <p:val>
                                            <p:strVal val="#ppt_x"/>
                                          </p:val>
                                        </p:tav>
                                      </p:tavLst>
                                    </p:anim>
                                    <p:anim calcmode="lin" valueType="num">
                                      <p:cBhvr additive="base">
                                        <p:cTn id="46" dur="500" fill="hold"/>
                                        <p:tgtEl>
                                          <p:spTgt spid="12"/>
                                        </p:tgtEl>
                                        <p:attrNameLst>
                                          <p:attrName>ppt_y</p:attrName>
                                        </p:attrNameLst>
                                      </p:cBhvr>
                                      <p:tavLst>
                                        <p:tav tm="0">
                                          <p:val>
                                            <p:strVal val="#ppt_y+0.1"/>
                                          </p:val>
                                        </p:tav>
                                        <p:tav tm="100000">
                                          <p:val>
                                            <p:strVal val="#ppt_y"/>
                                          </p:val>
                                        </p:tav>
                                      </p:tavLst>
                                    </p:anim>
                                    <p:animEffect transition="in" filter="fade">
                                      <p:cBhvr>
                                        <p:cTn id="47" dur="500"/>
                                        <p:tgtEl>
                                          <p:spTgt spid="12"/>
                                        </p:tgtEl>
                                      </p:cBhvr>
                                    </p:animEffect>
                                  </p:childTnLst>
                                </p:cTn>
                              </p:par>
                              <p:par>
                                <p:cTn id="48" presetID="2" presetClass="entr" presetSubtype="4" fill="hold" grpId="0" nodeType="withEffect">
                                  <p:stCondLst>
                                    <p:cond delay="0"/>
                                  </p:stCondLst>
                                  <p:childTnLst>
                                    <p:set>
                                      <p:cBhvr>
                                        <p:cTn id="49" dur="1" fill="hold">
                                          <p:stCondLst>
                                            <p:cond delay="0"/>
                                          </p:stCondLst>
                                        </p:cTn>
                                        <p:tgtEl>
                                          <p:spTgt spid="13"/>
                                        </p:tgtEl>
                                        <p:attrNameLst>
                                          <p:attrName>style.visibility</p:attrName>
                                        </p:attrNameLst>
                                      </p:cBhvr>
                                      <p:to>
                                        <p:strVal val="visible"/>
                                      </p:to>
                                    </p:set>
                                    <p:anim calcmode="lin" valueType="num">
                                      <p:cBhvr additive="base">
                                        <p:cTn id="50" dur="500" fill="hold"/>
                                        <p:tgtEl>
                                          <p:spTgt spid="13"/>
                                        </p:tgtEl>
                                        <p:attrNameLst>
                                          <p:attrName>ppt_x</p:attrName>
                                        </p:attrNameLst>
                                      </p:cBhvr>
                                      <p:tavLst>
                                        <p:tav tm="0">
                                          <p:val>
                                            <p:strVal val="#ppt_x"/>
                                          </p:val>
                                        </p:tav>
                                        <p:tav tm="100000">
                                          <p:val>
                                            <p:strVal val="#ppt_x"/>
                                          </p:val>
                                        </p:tav>
                                      </p:tavLst>
                                    </p:anim>
                                    <p:anim calcmode="lin" valueType="num">
                                      <p:cBhvr additive="base">
                                        <p:cTn id="51" dur="500" fill="hold"/>
                                        <p:tgtEl>
                                          <p:spTgt spid="13"/>
                                        </p:tgtEl>
                                        <p:attrNameLst>
                                          <p:attrName>ppt_y</p:attrName>
                                        </p:attrNameLst>
                                      </p:cBhvr>
                                      <p:tavLst>
                                        <p:tav tm="0">
                                          <p:val>
                                            <p:strVal val="#ppt_y+0.1"/>
                                          </p:val>
                                        </p:tav>
                                        <p:tav tm="100000">
                                          <p:val>
                                            <p:strVal val="#ppt_y"/>
                                          </p:val>
                                        </p:tav>
                                      </p:tavLst>
                                    </p:anim>
                                    <p:animEffect transition="in" filter="fade">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anim calcmode="lin" valueType="num">
                                      <p:cBhvr additive="base">
                                        <p:cTn id="57" dur="500" fill="hold"/>
                                        <p:tgtEl>
                                          <p:spTgt spid="14"/>
                                        </p:tgtEl>
                                        <p:attrNameLst>
                                          <p:attrName>ppt_x</p:attrName>
                                        </p:attrNameLst>
                                      </p:cBhvr>
                                      <p:tavLst>
                                        <p:tav tm="0">
                                          <p:val>
                                            <p:strVal val="#ppt_x"/>
                                          </p:val>
                                        </p:tav>
                                        <p:tav tm="100000">
                                          <p:val>
                                            <p:strVal val="#ppt_x"/>
                                          </p:val>
                                        </p:tav>
                                      </p:tavLst>
                                    </p:anim>
                                    <p:anim calcmode="lin" valueType="num">
                                      <p:cBhvr additive="base">
                                        <p:cTn id="58" dur="500" fill="hold"/>
                                        <p:tgtEl>
                                          <p:spTgt spid="14"/>
                                        </p:tgtEl>
                                        <p:attrNameLst>
                                          <p:attrName>ppt_y</p:attrName>
                                        </p:attrNameLst>
                                      </p:cBhvr>
                                      <p:tavLst>
                                        <p:tav tm="0">
                                          <p:val>
                                            <p:strVal val="#ppt_y+0.1"/>
                                          </p:val>
                                        </p:tav>
                                        <p:tav tm="100000">
                                          <p:val>
                                            <p:strVal val="#ppt_y"/>
                                          </p:val>
                                        </p:tav>
                                      </p:tavLst>
                                    </p:anim>
                                    <p:animEffect transition="in" filter="fade">
                                      <p:cBhvr>
                                        <p:cTn id="59" dur="500"/>
                                        <p:tgtEl>
                                          <p:spTgt spid="14"/>
                                        </p:tgtEl>
                                      </p:cBhvr>
                                    </p:animEffect>
                                  </p:childTnLst>
                                </p:cTn>
                              </p:par>
                              <p:par>
                                <p:cTn id="60" presetID="2" presetClass="entr" presetSubtype="4" fill="hold" grpId="0" nodeType="withEffect">
                                  <p:stCondLst>
                                    <p:cond delay="0"/>
                                  </p:stCondLst>
                                  <p:childTnLst>
                                    <p:set>
                                      <p:cBhvr>
                                        <p:cTn id="61" dur="1" fill="hold">
                                          <p:stCondLst>
                                            <p:cond delay="0"/>
                                          </p:stCondLst>
                                        </p:cTn>
                                        <p:tgtEl>
                                          <p:spTgt spid="15"/>
                                        </p:tgtEl>
                                        <p:attrNameLst>
                                          <p:attrName>style.visibility</p:attrName>
                                        </p:attrNameLst>
                                      </p:cBhvr>
                                      <p:to>
                                        <p:strVal val="visible"/>
                                      </p:to>
                                    </p:set>
                                    <p:anim calcmode="lin" valueType="num">
                                      <p:cBhvr additive="base">
                                        <p:cTn id="62" dur="500" fill="hold"/>
                                        <p:tgtEl>
                                          <p:spTgt spid="15"/>
                                        </p:tgtEl>
                                        <p:attrNameLst>
                                          <p:attrName>ppt_x</p:attrName>
                                        </p:attrNameLst>
                                      </p:cBhvr>
                                      <p:tavLst>
                                        <p:tav tm="0">
                                          <p:val>
                                            <p:strVal val="#ppt_x"/>
                                          </p:val>
                                        </p:tav>
                                        <p:tav tm="100000">
                                          <p:val>
                                            <p:strVal val="#ppt_x"/>
                                          </p:val>
                                        </p:tav>
                                      </p:tavLst>
                                    </p:anim>
                                    <p:anim calcmode="lin" valueType="num">
                                      <p:cBhvr additive="base">
                                        <p:cTn id="63" dur="500" fill="hold"/>
                                        <p:tgtEl>
                                          <p:spTgt spid="15"/>
                                        </p:tgtEl>
                                        <p:attrNameLst>
                                          <p:attrName>ppt_y</p:attrName>
                                        </p:attrNameLst>
                                      </p:cBhvr>
                                      <p:tavLst>
                                        <p:tav tm="0">
                                          <p:val>
                                            <p:strVal val="#ppt_y+0.1"/>
                                          </p:val>
                                        </p:tav>
                                        <p:tav tm="100000">
                                          <p:val>
                                            <p:strVal val="#ppt_y"/>
                                          </p:val>
                                        </p:tav>
                                      </p:tavLst>
                                    </p:anim>
                                    <p:animEffect transition="in" filter="fade">
                                      <p:cBhvr>
                                        <p:cTn id="64" dur="500"/>
                                        <p:tgtEl>
                                          <p:spTgt spid="15"/>
                                        </p:tgtEl>
                                      </p:cBhvr>
                                    </p:animEffect>
                                  </p:childTnLst>
                                </p:cTn>
                              </p:par>
                              <p:par>
                                <p:cTn id="65" presetID="2" presetClass="entr" presetSubtype="4" fill="hold" grpId="0" nodeType="withEffect">
                                  <p:stCondLst>
                                    <p:cond delay="0"/>
                                  </p:stCondLst>
                                  <p:childTnLst>
                                    <p:set>
                                      <p:cBhvr>
                                        <p:cTn id="66" dur="1" fill="hold">
                                          <p:stCondLst>
                                            <p:cond delay="0"/>
                                          </p:stCondLst>
                                        </p:cTn>
                                        <p:tgtEl>
                                          <p:spTgt spid="16"/>
                                        </p:tgtEl>
                                        <p:attrNameLst>
                                          <p:attrName>style.visibility</p:attrName>
                                        </p:attrNameLst>
                                      </p:cBhvr>
                                      <p:to>
                                        <p:strVal val="visible"/>
                                      </p:to>
                                    </p:set>
                                    <p:anim calcmode="lin" valueType="num">
                                      <p:cBhvr additive="base">
                                        <p:cTn id="67" dur="500" fill="hold"/>
                                        <p:tgtEl>
                                          <p:spTgt spid="16"/>
                                        </p:tgtEl>
                                        <p:attrNameLst>
                                          <p:attrName>ppt_x</p:attrName>
                                        </p:attrNameLst>
                                      </p:cBhvr>
                                      <p:tavLst>
                                        <p:tav tm="0">
                                          <p:val>
                                            <p:strVal val="#ppt_x"/>
                                          </p:val>
                                        </p:tav>
                                        <p:tav tm="100000">
                                          <p:val>
                                            <p:strVal val="#ppt_x"/>
                                          </p:val>
                                        </p:tav>
                                      </p:tavLst>
                                    </p:anim>
                                    <p:anim calcmode="lin" valueType="num">
                                      <p:cBhvr additive="base">
                                        <p:cTn id="68" dur="500" fill="hold"/>
                                        <p:tgtEl>
                                          <p:spTgt spid="16"/>
                                        </p:tgtEl>
                                        <p:attrNameLst>
                                          <p:attrName>ppt_y</p:attrName>
                                        </p:attrNameLst>
                                      </p:cBhvr>
                                      <p:tavLst>
                                        <p:tav tm="0">
                                          <p:val>
                                            <p:strVal val="#ppt_y+0.1"/>
                                          </p:val>
                                        </p:tav>
                                        <p:tav tm="100000">
                                          <p:val>
                                            <p:strVal val="#ppt_y"/>
                                          </p:val>
                                        </p:tav>
                                      </p:tavLst>
                                    </p:anim>
                                    <p:animEffect transition="in" filter="fade">
                                      <p:cBhvr>
                                        <p:cTn id="69" dur="500"/>
                                        <p:tgtEl>
                                          <p:spTgt spid="16"/>
                                        </p:tgtEl>
                                      </p:cBhvr>
                                    </p:animEffect>
                                  </p:childTnLst>
                                </p:cTn>
                              </p:par>
                              <p:par>
                                <p:cTn id="70" presetID="2" presetClass="entr" presetSubtype="4" fill="hold" grpId="0" nodeType="withEffect">
                                  <p:stCondLst>
                                    <p:cond delay="0"/>
                                  </p:stCondLst>
                                  <p:childTnLst>
                                    <p:set>
                                      <p:cBhvr>
                                        <p:cTn id="71" dur="1" fill="hold">
                                          <p:stCondLst>
                                            <p:cond delay="0"/>
                                          </p:stCondLst>
                                        </p:cTn>
                                        <p:tgtEl>
                                          <p:spTgt spid="17"/>
                                        </p:tgtEl>
                                        <p:attrNameLst>
                                          <p:attrName>style.visibility</p:attrName>
                                        </p:attrNameLst>
                                      </p:cBhvr>
                                      <p:to>
                                        <p:strVal val="visible"/>
                                      </p:to>
                                    </p:set>
                                    <p:anim calcmode="lin" valueType="num">
                                      <p:cBhvr additive="base">
                                        <p:cTn id="72" dur="500" fill="hold"/>
                                        <p:tgtEl>
                                          <p:spTgt spid="17"/>
                                        </p:tgtEl>
                                        <p:attrNameLst>
                                          <p:attrName>ppt_x</p:attrName>
                                        </p:attrNameLst>
                                      </p:cBhvr>
                                      <p:tavLst>
                                        <p:tav tm="0">
                                          <p:val>
                                            <p:strVal val="#ppt_x"/>
                                          </p:val>
                                        </p:tav>
                                        <p:tav tm="100000">
                                          <p:val>
                                            <p:strVal val="#ppt_x"/>
                                          </p:val>
                                        </p:tav>
                                      </p:tavLst>
                                    </p:anim>
                                    <p:anim calcmode="lin" valueType="num">
                                      <p:cBhvr additive="base">
                                        <p:cTn id="73" dur="500" fill="hold"/>
                                        <p:tgtEl>
                                          <p:spTgt spid="17"/>
                                        </p:tgtEl>
                                        <p:attrNameLst>
                                          <p:attrName>ppt_y</p:attrName>
                                        </p:attrNameLst>
                                      </p:cBhvr>
                                      <p:tavLst>
                                        <p:tav tm="0">
                                          <p:val>
                                            <p:strVal val="#ppt_y+0.1"/>
                                          </p:val>
                                        </p:tav>
                                        <p:tav tm="100000">
                                          <p:val>
                                            <p:strVal val="#ppt_y"/>
                                          </p:val>
                                        </p:tav>
                                      </p:tavLst>
                                    </p:anim>
                                    <p:animEffect transition="in" filter="fade">
                                      <p:cBhvr>
                                        <p:cTn id="74" dur="500"/>
                                        <p:tgtEl>
                                          <p:spTgt spid="17"/>
                                        </p:tgtEl>
                                      </p:cBhvr>
                                    </p:animEffect>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18"/>
                                        </p:tgtEl>
                                        <p:attrNameLst>
                                          <p:attrName>style.visibility</p:attrName>
                                        </p:attrNameLst>
                                      </p:cBhvr>
                                      <p:to>
                                        <p:strVal val="visible"/>
                                      </p:to>
                                    </p:set>
                                    <p:anim calcmode="lin" valueType="num">
                                      <p:cBhvr additive="base">
                                        <p:cTn id="79" dur="500" fill="hold"/>
                                        <p:tgtEl>
                                          <p:spTgt spid="18"/>
                                        </p:tgtEl>
                                        <p:attrNameLst>
                                          <p:attrName>ppt_x</p:attrName>
                                        </p:attrNameLst>
                                      </p:cBhvr>
                                      <p:tavLst>
                                        <p:tav tm="0">
                                          <p:val>
                                            <p:strVal val="#ppt_x"/>
                                          </p:val>
                                        </p:tav>
                                        <p:tav tm="100000">
                                          <p:val>
                                            <p:strVal val="#ppt_x"/>
                                          </p:val>
                                        </p:tav>
                                      </p:tavLst>
                                    </p:anim>
                                    <p:anim calcmode="lin" valueType="num">
                                      <p:cBhvr additive="base">
                                        <p:cTn id="80" dur="500" fill="hold"/>
                                        <p:tgtEl>
                                          <p:spTgt spid="18"/>
                                        </p:tgtEl>
                                        <p:attrNameLst>
                                          <p:attrName>ppt_y</p:attrName>
                                        </p:attrNameLst>
                                      </p:cBhvr>
                                      <p:tavLst>
                                        <p:tav tm="0">
                                          <p:val>
                                            <p:strVal val="#ppt_y+0.1"/>
                                          </p:val>
                                        </p:tav>
                                        <p:tav tm="100000">
                                          <p:val>
                                            <p:strVal val="#ppt_y"/>
                                          </p:val>
                                        </p:tav>
                                      </p:tavLst>
                                    </p:anim>
                                    <p:animEffect transition="in" filter="fade">
                                      <p:cBhvr>
                                        <p:cTn id="81" dur="500"/>
                                        <p:tgtEl>
                                          <p:spTgt spid="18"/>
                                        </p:tgtEl>
                                      </p:cBhvr>
                                    </p:animEffect>
                                  </p:childTnLst>
                                </p:cTn>
                              </p:par>
                              <p:par>
                                <p:cTn id="82" presetID="2" presetClass="entr" presetSubtype="4" fill="hold" grpId="0" nodeType="withEffect">
                                  <p:stCondLst>
                                    <p:cond delay="0"/>
                                  </p:stCondLst>
                                  <p:childTnLst>
                                    <p:set>
                                      <p:cBhvr>
                                        <p:cTn id="83" dur="1" fill="hold">
                                          <p:stCondLst>
                                            <p:cond delay="0"/>
                                          </p:stCondLst>
                                        </p:cTn>
                                        <p:tgtEl>
                                          <p:spTgt spid="19"/>
                                        </p:tgtEl>
                                        <p:attrNameLst>
                                          <p:attrName>style.visibility</p:attrName>
                                        </p:attrNameLst>
                                      </p:cBhvr>
                                      <p:to>
                                        <p:strVal val="visible"/>
                                      </p:to>
                                    </p:set>
                                    <p:anim calcmode="lin" valueType="num">
                                      <p:cBhvr additive="base">
                                        <p:cTn id="84" dur="500" fill="hold"/>
                                        <p:tgtEl>
                                          <p:spTgt spid="19"/>
                                        </p:tgtEl>
                                        <p:attrNameLst>
                                          <p:attrName>ppt_x</p:attrName>
                                        </p:attrNameLst>
                                      </p:cBhvr>
                                      <p:tavLst>
                                        <p:tav tm="0">
                                          <p:val>
                                            <p:strVal val="#ppt_x"/>
                                          </p:val>
                                        </p:tav>
                                        <p:tav tm="100000">
                                          <p:val>
                                            <p:strVal val="#ppt_x"/>
                                          </p:val>
                                        </p:tav>
                                      </p:tavLst>
                                    </p:anim>
                                    <p:anim calcmode="lin" valueType="num">
                                      <p:cBhvr additive="base">
                                        <p:cTn id="85" dur="500" fill="hold"/>
                                        <p:tgtEl>
                                          <p:spTgt spid="19"/>
                                        </p:tgtEl>
                                        <p:attrNameLst>
                                          <p:attrName>ppt_y</p:attrName>
                                        </p:attrNameLst>
                                      </p:cBhvr>
                                      <p:tavLst>
                                        <p:tav tm="0">
                                          <p:val>
                                            <p:strVal val="#ppt_y+0.1"/>
                                          </p:val>
                                        </p:tav>
                                        <p:tav tm="100000">
                                          <p:val>
                                            <p:strVal val="#ppt_y"/>
                                          </p:val>
                                        </p:tav>
                                      </p:tavLst>
                                    </p:anim>
                                    <p:animEffect transition="in" filter="fade">
                                      <p:cBhvr>
                                        <p:cTn id="86" dur="500"/>
                                        <p:tgtEl>
                                          <p:spTgt spid="19"/>
                                        </p:tgtEl>
                                      </p:cBhvr>
                                    </p:animEffect>
                                  </p:childTnLst>
                                </p:cTn>
                              </p:par>
                              <p:par>
                                <p:cTn id="87" presetID="2" presetClass="entr" presetSubtype="4" fill="hold" grpId="0" nodeType="withEffect">
                                  <p:stCondLst>
                                    <p:cond delay="0"/>
                                  </p:stCondLst>
                                  <p:childTnLst>
                                    <p:set>
                                      <p:cBhvr>
                                        <p:cTn id="88" dur="1" fill="hold">
                                          <p:stCondLst>
                                            <p:cond delay="0"/>
                                          </p:stCondLst>
                                        </p:cTn>
                                        <p:tgtEl>
                                          <p:spTgt spid="20"/>
                                        </p:tgtEl>
                                        <p:attrNameLst>
                                          <p:attrName>style.visibility</p:attrName>
                                        </p:attrNameLst>
                                      </p:cBhvr>
                                      <p:to>
                                        <p:strVal val="visible"/>
                                      </p:to>
                                    </p:set>
                                    <p:anim calcmode="lin" valueType="num">
                                      <p:cBhvr additive="base">
                                        <p:cTn id="89" dur="500" fill="hold"/>
                                        <p:tgtEl>
                                          <p:spTgt spid="20"/>
                                        </p:tgtEl>
                                        <p:attrNameLst>
                                          <p:attrName>ppt_x</p:attrName>
                                        </p:attrNameLst>
                                      </p:cBhvr>
                                      <p:tavLst>
                                        <p:tav tm="0">
                                          <p:val>
                                            <p:strVal val="#ppt_x"/>
                                          </p:val>
                                        </p:tav>
                                        <p:tav tm="100000">
                                          <p:val>
                                            <p:strVal val="#ppt_x"/>
                                          </p:val>
                                        </p:tav>
                                      </p:tavLst>
                                    </p:anim>
                                    <p:anim calcmode="lin" valueType="num">
                                      <p:cBhvr additive="base">
                                        <p:cTn id="90" dur="500" fill="hold"/>
                                        <p:tgtEl>
                                          <p:spTgt spid="20"/>
                                        </p:tgtEl>
                                        <p:attrNameLst>
                                          <p:attrName>ppt_y</p:attrName>
                                        </p:attrNameLst>
                                      </p:cBhvr>
                                      <p:tavLst>
                                        <p:tav tm="0">
                                          <p:val>
                                            <p:strVal val="#ppt_y+0.1"/>
                                          </p:val>
                                        </p:tav>
                                        <p:tav tm="100000">
                                          <p:val>
                                            <p:strVal val="#ppt_y"/>
                                          </p:val>
                                        </p:tav>
                                      </p:tavLst>
                                    </p:anim>
                                    <p:animEffect transition="in" filter="fade">
                                      <p:cBhvr>
                                        <p:cTn id="91" dur="500"/>
                                        <p:tgtEl>
                                          <p:spTgt spid="20"/>
                                        </p:tgtEl>
                                      </p:cBhvr>
                                    </p:animEffect>
                                  </p:childTnLst>
                                </p:cTn>
                              </p:par>
                              <p:par>
                                <p:cTn id="92" presetID="2" presetClass="entr" presetSubtype="4" fill="hold" grpId="0" nodeType="withEffect">
                                  <p:stCondLst>
                                    <p:cond delay="0"/>
                                  </p:stCondLst>
                                  <p:childTnLst>
                                    <p:set>
                                      <p:cBhvr>
                                        <p:cTn id="93" dur="1" fill="hold">
                                          <p:stCondLst>
                                            <p:cond delay="0"/>
                                          </p:stCondLst>
                                        </p:cTn>
                                        <p:tgtEl>
                                          <p:spTgt spid="21"/>
                                        </p:tgtEl>
                                        <p:attrNameLst>
                                          <p:attrName>style.visibility</p:attrName>
                                        </p:attrNameLst>
                                      </p:cBhvr>
                                      <p:to>
                                        <p:strVal val="visible"/>
                                      </p:to>
                                    </p:set>
                                    <p:anim calcmode="lin" valueType="num">
                                      <p:cBhvr additive="base">
                                        <p:cTn id="94" dur="500" fill="hold"/>
                                        <p:tgtEl>
                                          <p:spTgt spid="21"/>
                                        </p:tgtEl>
                                        <p:attrNameLst>
                                          <p:attrName>ppt_x</p:attrName>
                                        </p:attrNameLst>
                                      </p:cBhvr>
                                      <p:tavLst>
                                        <p:tav tm="0">
                                          <p:val>
                                            <p:strVal val="#ppt_x"/>
                                          </p:val>
                                        </p:tav>
                                        <p:tav tm="100000">
                                          <p:val>
                                            <p:strVal val="#ppt_x"/>
                                          </p:val>
                                        </p:tav>
                                      </p:tavLst>
                                    </p:anim>
                                    <p:anim calcmode="lin" valueType="num">
                                      <p:cBhvr additive="base">
                                        <p:cTn id="95" dur="500" fill="hold"/>
                                        <p:tgtEl>
                                          <p:spTgt spid="21"/>
                                        </p:tgtEl>
                                        <p:attrNameLst>
                                          <p:attrName>ppt_y</p:attrName>
                                        </p:attrNameLst>
                                      </p:cBhvr>
                                      <p:tavLst>
                                        <p:tav tm="0">
                                          <p:val>
                                            <p:strVal val="#ppt_y+0.1"/>
                                          </p:val>
                                        </p:tav>
                                        <p:tav tm="100000">
                                          <p:val>
                                            <p:strVal val="#ppt_y"/>
                                          </p:val>
                                        </p:tav>
                                      </p:tavLst>
                                    </p:anim>
                                    <p:animEffect transition="in" filter="fade">
                                      <p:cBhvr>
                                        <p:cTn id="9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1"/>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Keys on a Real Table</a:t>
            </a:r>
            <a:endParaRPr lang="en-US" sz="2800" dirty="0"/>
          </a:p>
        </p:txBody>
      </p:sp>
      <p:sp>
        <p:nvSpPr>
          <p:cNvPr id="3" name="Text 2"/>
          <p:cNvSpPr txBox="1"/>
          <p:nvPr/>
        </p:nvSpPr>
        <p:spPr>
          <a:xfrm>
            <a:off x="457200" y="749808"/>
            <a:ext cx="8229600" cy="320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The account table from the ICICI Bank schema — one table, several keys</a:t>
            </a:r>
            <a:endParaRPr lang="en-US" sz="1300" dirty="0"/>
          </a:p>
        </p:txBody>
      </p:sp>
      <p:sp>
        <p:nvSpPr>
          <p:cNvPr id="4" name="a1f_cell3"/>
          <p:cNvSpPr txBox="1"/>
          <p:nvPr/>
        </p:nvSpPr>
        <p:spPr>
          <a:xfrm>
            <a:off x="457200" y="1600200"/>
            <a:ext cx="868680" cy="274320"/>
          </a:xfrm>
          <a:prstGeom prst="rect">
            <a:avLst/>
          </a:prstGeom>
          <a:solidFill>
            <a:srgbClr val="6D28D9"/>
          </a:solidFill>
          <a:ln w="9525">
            <a:solidFill>
              <a:srgbClr val="6D28D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account_id</a:t>
            </a:r>
            <a:endParaRPr lang="en-US" sz="1100" dirty="0"/>
          </a:p>
        </p:txBody>
      </p:sp>
      <p:sp>
        <p:nvSpPr>
          <p:cNvPr id="5" name="a1wd200_cell4"/>
          <p:cNvSpPr txBox="1"/>
          <p:nvPr/>
        </p:nvSpPr>
        <p:spPr>
          <a:xfrm>
            <a:off x="457200" y="1874520"/>
            <a:ext cx="86868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9001</a:t>
            </a:r>
            <a:endParaRPr lang="en-US" sz="1100" dirty="0"/>
          </a:p>
        </p:txBody>
      </p:sp>
      <p:sp>
        <p:nvSpPr>
          <p:cNvPr id="6" name="a1wd400_cell5"/>
          <p:cNvSpPr txBox="1"/>
          <p:nvPr/>
        </p:nvSpPr>
        <p:spPr>
          <a:xfrm>
            <a:off x="457200" y="2148840"/>
            <a:ext cx="86868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9002</a:t>
            </a:r>
            <a:endParaRPr lang="en-US" sz="1100" dirty="0"/>
          </a:p>
        </p:txBody>
      </p:sp>
      <p:sp>
        <p:nvSpPr>
          <p:cNvPr id="7" name="a1wd600_cell6"/>
          <p:cNvSpPr txBox="1"/>
          <p:nvPr/>
        </p:nvSpPr>
        <p:spPr>
          <a:xfrm>
            <a:off x="457200" y="2423160"/>
            <a:ext cx="86868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9003</a:t>
            </a:r>
            <a:endParaRPr lang="en-US" sz="1100" dirty="0"/>
          </a:p>
        </p:txBody>
      </p:sp>
      <p:sp>
        <p:nvSpPr>
          <p:cNvPr id="8" name="a1wd800_cell7"/>
          <p:cNvSpPr txBox="1"/>
          <p:nvPr/>
        </p:nvSpPr>
        <p:spPr>
          <a:xfrm>
            <a:off x="457200" y="2697480"/>
            <a:ext cx="86868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9005</a:t>
            </a:r>
            <a:endParaRPr lang="en-US" sz="1100" dirty="0"/>
          </a:p>
        </p:txBody>
      </p:sp>
      <p:sp>
        <p:nvSpPr>
          <p:cNvPr id="9" name="a1wd1000_cell8"/>
          <p:cNvSpPr txBox="1"/>
          <p:nvPr/>
        </p:nvSpPr>
        <p:spPr>
          <a:xfrm>
            <a:off x="457200" y="2971800"/>
            <a:ext cx="86868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9006</a:t>
            </a:r>
            <a:endParaRPr lang="en-US" sz="1100" dirty="0"/>
          </a:p>
        </p:txBody>
      </p:sp>
      <p:sp>
        <p:nvSpPr>
          <p:cNvPr id="10" name="a1f_cell9"/>
          <p:cNvSpPr txBox="1"/>
          <p:nvPr/>
        </p:nvSpPr>
        <p:spPr>
          <a:xfrm>
            <a:off x="1325880" y="1600200"/>
            <a:ext cx="1325880" cy="274320"/>
          </a:xfrm>
          <a:prstGeom prst="rect">
            <a:avLst/>
          </a:prstGeom>
          <a:solidFill>
            <a:srgbClr val="0F766E"/>
          </a:solidFill>
          <a:ln w="9525">
            <a:solidFill>
              <a:srgbClr val="0F766E"/>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account_number</a:t>
            </a:r>
            <a:endParaRPr lang="en-US" sz="1100" dirty="0"/>
          </a:p>
        </p:txBody>
      </p:sp>
      <p:sp>
        <p:nvSpPr>
          <p:cNvPr id="11" name="a1wd200_cell10"/>
          <p:cNvSpPr txBox="1"/>
          <p:nvPr/>
        </p:nvSpPr>
        <p:spPr>
          <a:xfrm>
            <a:off x="1325880" y="1874520"/>
            <a:ext cx="132588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ICIC0000009001</a:t>
            </a:r>
            <a:endParaRPr lang="en-US" sz="1100" dirty="0"/>
          </a:p>
        </p:txBody>
      </p:sp>
      <p:sp>
        <p:nvSpPr>
          <p:cNvPr id="12" name="a1wd400_cell11"/>
          <p:cNvSpPr txBox="1"/>
          <p:nvPr/>
        </p:nvSpPr>
        <p:spPr>
          <a:xfrm>
            <a:off x="1325880" y="2148840"/>
            <a:ext cx="132588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ICIC0000009002</a:t>
            </a:r>
            <a:endParaRPr lang="en-US" sz="1100" dirty="0"/>
          </a:p>
        </p:txBody>
      </p:sp>
      <p:sp>
        <p:nvSpPr>
          <p:cNvPr id="13" name="a1wd600_cell12"/>
          <p:cNvSpPr txBox="1"/>
          <p:nvPr/>
        </p:nvSpPr>
        <p:spPr>
          <a:xfrm>
            <a:off x="1325880" y="2423160"/>
            <a:ext cx="132588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ICIC0000009003</a:t>
            </a:r>
            <a:endParaRPr lang="en-US" sz="1100" dirty="0"/>
          </a:p>
        </p:txBody>
      </p:sp>
      <p:sp>
        <p:nvSpPr>
          <p:cNvPr id="14" name="a1wd800_cell13"/>
          <p:cNvSpPr txBox="1"/>
          <p:nvPr/>
        </p:nvSpPr>
        <p:spPr>
          <a:xfrm>
            <a:off x="1325880" y="2697480"/>
            <a:ext cx="132588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ICIC0000009005</a:t>
            </a:r>
            <a:endParaRPr lang="en-US" sz="1100" dirty="0"/>
          </a:p>
        </p:txBody>
      </p:sp>
      <p:sp>
        <p:nvSpPr>
          <p:cNvPr id="15" name="a1wd1000_cell14"/>
          <p:cNvSpPr txBox="1"/>
          <p:nvPr/>
        </p:nvSpPr>
        <p:spPr>
          <a:xfrm>
            <a:off x="1325880" y="2971800"/>
            <a:ext cx="132588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ICIC0000009006</a:t>
            </a:r>
            <a:endParaRPr lang="en-US" sz="1100" dirty="0"/>
          </a:p>
        </p:txBody>
      </p:sp>
      <p:sp>
        <p:nvSpPr>
          <p:cNvPr id="16" name="a1f_cell15"/>
          <p:cNvSpPr txBox="1"/>
          <p:nvPr/>
        </p:nvSpPr>
        <p:spPr>
          <a:xfrm>
            <a:off x="2651760" y="1600200"/>
            <a:ext cx="914400" cy="274320"/>
          </a:xfrm>
          <a:prstGeom prst="rect">
            <a:avLst/>
          </a:prstGeom>
          <a:solidFill>
            <a:srgbClr val="B45309"/>
          </a:solidFill>
          <a:ln w="9525">
            <a:solidFill>
              <a:srgbClr val="B4530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customer_id</a:t>
            </a:r>
            <a:endParaRPr lang="en-US" sz="1100" dirty="0"/>
          </a:p>
        </p:txBody>
      </p:sp>
      <p:sp>
        <p:nvSpPr>
          <p:cNvPr id="17" name="a1wd200_cell16"/>
          <p:cNvSpPr txBox="1"/>
          <p:nvPr/>
        </p:nvSpPr>
        <p:spPr>
          <a:xfrm>
            <a:off x="2651760" y="1874520"/>
            <a:ext cx="91440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1001</a:t>
            </a:r>
            <a:endParaRPr lang="en-US" sz="1100" dirty="0"/>
          </a:p>
        </p:txBody>
      </p:sp>
      <p:sp>
        <p:nvSpPr>
          <p:cNvPr id="18" name="a1wd400_cell17"/>
          <p:cNvSpPr txBox="1"/>
          <p:nvPr/>
        </p:nvSpPr>
        <p:spPr>
          <a:xfrm>
            <a:off x="2651760" y="2148840"/>
            <a:ext cx="91440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1002</a:t>
            </a:r>
            <a:endParaRPr lang="en-US" sz="1100" dirty="0"/>
          </a:p>
        </p:txBody>
      </p:sp>
      <p:sp>
        <p:nvSpPr>
          <p:cNvPr id="19" name="a1wd600_cell18"/>
          <p:cNvSpPr txBox="1"/>
          <p:nvPr/>
        </p:nvSpPr>
        <p:spPr>
          <a:xfrm>
            <a:off x="2651760" y="2423160"/>
            <a:ext cx="91440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1003</a:t>
            </a:r>
            <a:endParaRPr lang="en-US" sz="1100" dirty="0"/>
          </a:p>
        </p:txBody>
      </p:sp>
      <p:sp>
        <p:nvSpPr>
          <p:cNvPr id="20" name="a1wd800_cell19"/>
          <p:cNvSpPr txBox="1"/>
          <p:nvPr/>
        </p:nvSpPr>
        <p:spPr>
          <a:xfrm>
            <a:off x="2651760" y="2697480"/>
            <a:ext cx="914400" cy="274320"/>
          </a:xfrm>
          <a:prstGeom prst="rect">
            <a:avLst/>
          </a:prstGeom>
          <a:solidFill>
            <a:srgbClr val="FFEDD5"/>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1005</a:t>
            </a:r>
            <a:endParaRPr lang="en-US" sz="1100" dirty="0"/>
          </a:p>
        </p:txBody>
      </p:sp>
      <p:sp>
        <p:nvSpPr>
          <p:cNvPr id="21" name="a1wd1000_cell20"/>
          <p:cNvSpPr txBox="1"/>
          <p:nvPr/>
        </p:nvSpPr>
        <p:spPr>
          <a:xfrm>
            <a:off x="2651760" y="2971800"/>
            <a:ext cx="914400" cy="274320"/>
          </a:xfrm>
          <a:prstGeom prst="rect">
            <a:avLst/>
          </a:prstGeom>
          <a:solidFill>
            <a:srgbClr val="FFEDD5"/>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1005</a:t>
            </a:r>
            <a:endParaRPr lang="en-US" sz="1100" dirty="0"/>
          </a:p>
        </p:txBody>
      </p:sp>
      <p:sp>
        <p:nvSpPr>
          <p:cNvPr id="22" name="a1f_cell21"/>
          <p:cNvSpPr txBox="1"/>
          <p:nvPr/>
        </p:nvSpPr>
        <p:spPr>
          <a:xfrm>
            <a:off x="3566160" y="1600200"/>
            <a:ext cx="960120" cy="274320"/>
          </a:xfrm>
          <a:prstGeom prst="rect">
            <a:avLst/>
          </a:prstGeom>
          <a:solidFill>
            <a:srgbClr val="475569"/>
          </a:solidFill>
          <a:ln w="9525">
            <a:solidFill>
              <a:srgbClr val="47556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account_type</a:t>
            </a:r>
            <a:endParaRPr lang="en-US" sz="1100" dirty="0"/>
          </a:p>
        </p:txBody>
      </p:sp>
      <p:sp>
        <p:nvSpPr>
          <p:cNvPr id="23" name="a1wd200_cell22"/>
          <p:cNvSpPr txBox="1"/>
          <p:nvPr/>
        </p:nvSpPr>
        <p:spPr>
          <a:xfrm>
            <a:off x="3566160" y="1874520"/>
            <a:ext cx="96012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CURRENT</a:t>
            </a:r>
            <a:endParaRPr lang="en-US" sz="1100" dirty="0"/>
          </a:p>
        </p:txBody>
      </p:sp>
      <p:sp>
        <p:nvSpPr>
          <p:cNvPr id="24" name="a1wd400_cell23"/>
          <p:cNvSpPr txBox="1"/>
          <p:nvPr/>
        </p:nvSpPr>
        <p:spPr>
          <a:xfrm>
            <a:off x="3566160" y="2148840"/>
            <a:ext cx="96012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SALARY</a:t>
            </a:r>
            <a:endParaRPr lang="en-US" sz="1100" dirty="0"/>
          </a:p>
        </p:txBody>
      </p:sp>
      <p:sp>
        <p:nvSpPr>
          <p:cNvPr id="25" name="a1wd600_cell24"/>
          <p:cNvSpPr txBox="1"/>
          <p:nvPr/>
        </p:nvSpPr>
        <p:spPr>
          <a:xfrm>
            <a:off x="3566160" y="2423160"/>
            <a:ext cx="96012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SAVINGS</a:t>
            </a:r>
            <a:endParaRPr lang="en-US" sz="1100" dirty="0"/>
          </a:p>
        </p:txBody>
      </p:sp>
      <p:sp>
        <p:nvSpPr>
          <p:cNvPr id="26" name="a1wd800_cell25"/>
          <p:cNvSpPr txBox="1"/>
          <p:nvPr/>
        </p:nvSpPr>
        <p:spPr>
          <a:xfrm>
            <a:off x="3566160" y="2697480"/>
            <a:ext cx="96012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CURRENT</a:t>
            </a:r>
            <a:endParaRPr lang="en-US" sz="1100" dirty="0"/>
          </a:p>
        </p:txBody>
      </p:sp>
      <p:sp>
        <p:nvSpPr>
          <p:cNvPr id="27" name="a1wd1000_cell26"/>
          <p:cNvSpPr txBox="1"/>
          <p:nvPr/>
        </p:nvSpPr>
        <p:spPr>
          <a:xfrm>
            <a:off x="3566160" y="2971800"/>
            <a:ext cx="96012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SALARY</a:t>
            </a:r>
            <a:endParaRPr lang="en-US" sz="1100" dirty="0"/>
          </a:p>
        </p:txBody>
      </p:sp>
      <p:sp>
        <p:nvSpPr>
          <p:cNvPr id="28" name="a1f_cell27"/>
          <p:cNvSpPr txBox="1"/>
          <p:nvPr/>
        </p:nvSpPr>
        <p:spPr>
          <a:xfrm>
            <a:off x="4526280" y="1600200"/>
            <a:ext cx="960120" cy="274320"/>
          </a:xfrm>
          <a:prstGeom prst="rect">
            <a:avLst/>
          </a:prstGeom>
          <a:solidFill>
            <a:srgbClr val="475569"/>
          </a:solidFill>
          <a:ln w="9525">
            <a:solidFill>
              <a:srgbClr val="47556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balance</a:t>
            </a:r>
            <a:endParaRPr lang="en-US" sz="1100" dirty="0"/>
          </a:p>
        </p:txBody>
      </p:sp>
      <p:sp>
        <p:nvSpPr>
          <p:cNvPr id="29" name="a1wd200_cell28"/>
          <p:cNvSpPr txBox="1"/>
          <p:nvPr/>
        </p:nvSpPr>
        <p:spPr>
          <a:xfrm>
            <a:off x="4526280" y="1874520"/>
            <a:ext cx="96012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35859.46</a:t>
            </a:r>
            <a:endParaRPr lang="en-US" sz="1100" dirty="0"/>
          </a:p>
        </p:txBody>
      </p:sp>
      <p:sp>
        <p:nvSpPr>
          <p:cNvPr id="30" name="a1wd400_cell29"/>
          <p:cNvSpPr txBox="1"/>
          <p:nvPr/>
        </p:nvSpPr>
        <p:spPr>
          <a:xfrm>
            <a:off x="4526280" y="2148840"/>
            <a:ext cx="96012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43522.54</a:t>
            </a:r>
            <a:endParaRPr lang="en-US" sz="1100" dirty="0"/>
          </a:p>
        </p:txBody>
      </p:sp>
      <p:sp>
        <p:nvSpPr>
          <p:cNvPr id="31" name="a1wd600_cell30"/>
          <p:cNvSpPr txBox="1"/>
          <p:nvPr/>
        </p:nvSpPr>
        <p:spPr>
          <a:xfrm>
            <a:off x="4526280" y="2423160"/>
            <a:ext cx="96012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341244.80</a:t>
            </a:r>
            <a:endParaRPr lang="en-US" sz="1100" dirty="0"/>
          </a:p>
        </p:txBody>
      </p:sp>
      <p:sp>
        <p:nvSpPr>
          <p:cNvPr id="32" name="a1wd800_cell31"/>
          <p:cNvSpPr txBox="1"/>
          <p:nvPr/>
        </p:nvSpPr>
        <p:spPr>
          <a:xfrm>
            <a:off x="4526280" y="2697480"/>
            <a:ext cx="96012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91729.06</a:t>
            </a:r>
            <a:endParaRPr lang="en-US" sz="1100" dirty="0"/>
          </a:p>
        </p:txBody>
      </p:sp>
      <p:sp>
        <p:nvSpPr>
          <p:cNvPr id="33" name="a1wd1000_cell32"/>
          <p:cNvSpPr txBox="1"/>
          <p:nvPr/>
        </p:nvSpPr>
        <p:spPr>
          <a:xfrm>
            <a:off x="4526280" y="2971800"/>
            <a:ext cx="96012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27637.82</a:t>
            </a:r>
            <a:endParaRPr lang="en-US" sz="1100" dirty="0"/>
          </a:p>
        </p:txBody>
      </p:sp>
      <p:sp>
        <p:nvSpPr>
          <p:cNvPr id="34" name="a2u_pk33"/>
          <p:cNvSpPr txBox="1"/>
          <p:nvPr/>
        </p:nvSpPr>
        <p:spPr>
          <a:xfrm>
            <a:off x="658368" y="1261872"/>
            <a:ext cx="457200" cy="237744"/>
          </a:xfrm>
          <a:prstGeom prst="roundRect">
            <a:avLst>
              <a:gd name="adj" fmla="val 50000"/>
            </a:avLst>
          </a:prstGeom>
          <a:solidFill>
            <a:srgbClr val="6D28D9"/>
          </a:solidFill>
          <a:ln w="12700">
            <a:solidFill>
              <a:srgbClr val="6D28D9"/>
            </a:solidFill>
            <a:prstDash val="solid"/>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PK</a:t>
            </a:r>
            <a:endParaRPr lang="en-US" sz="1000" dirty="0"/>
          </a:p>
        </p:txBody>
      </p:sp>
      <p:sp>
        <p:nvSpPr>
          <p:cNvPr id="35" name="a3u_ak34"/>
          <p:cNvSpPr txBox="1"/>
          <p:nvPr/>
        </p:nvSpPr>
        <p:spPr>
          <a:xfrm>
            <a:off x="1801368" y="1261872"/>
            <a:ext cx="457200" cy="237744"/>
          </a:xfrm>
          <a:prstGeom prst="roundRect">
            <a:avLst>
              <a:gd name="adj" fmla="val 50000"/>
            </a:avLst>
          </a:prstGeom>
          <a:solidFill>
            <a:srgbClr val="0F766E"/>
          </a:solidFill>
          <a:ln w="12700">
            <a:solidFill>
              <a:srgbClr val="0F766E"/>
            </a:solidFill>
            <a:prstDash val="solid"/>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AK</a:t>
            </a:r>
            <a:endParaRPr lang="en-US" sz="1000" dirty="0"/>
          </a:p>
        </p:txBody>
      </p:sp>
      <p:sp>
        <p:nvSpPr>
          <p:cNvPr id="36" name="a4u_fk35"/>
          <p:cNvSpPr txBox="1"/>
          <p:nvPr/>
        </p:nvSpPr>
        <p:spPr>
          <a:xfrm>
            <a:off x="2880360" y="1261872"/>
            <a:ext cx="457200" cy="237744"/>
          </a:xfrm>
          <a:prstGeom prst="roundRect">
            <a:avLst>
              <a:gd name="adj" fmla="val 50000"/>
            </a:avLst>
          </a:prstGeom>
          <a:solidFill>
            <a:srgbClr val="B45309"/>
          </a:solidFill>
          <a:ln w="12700">
            <a:solidFill>
              <a:srgbClr val="B45309"/>
            </a:solidFill>
            <a:prstDash val="solid"/>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FK</a:t>
            </a:r>
            <a:endParaRPr lang="en-US" sz="1000" dirty="0"/>
          </a:p>
        </p:txBody>
      </p:sp>
      <p:sp>
        <p:nvSpPr>
          <p:cNvPr id="37" name="a2u_eh36"/>
          <p:cNvSpPr txBox="1"/>
          <p:nvPr/>
        </p:nvSpPr>
        <p:spPr>
          <a:xfrm>
            <a:off x="5897880" y="1234440"/>
            <a:ext cx="2788920" cy="274320"/>
          </a:xfrm>
          <a:prstGeom prst="rect">
            <a:avLst/>
          </a:prstGeom>
          <a:noFill/>
          <a:ln/>
        </p:spPr>
        <p:txBody>
          <a:bodyPr wrap="square" lIns="0" tIns="0" rIns="0" bIns="0" rtlCol="0" anchor="ctr"/>
          <a:lstStyle/>
          <a:p>
            <a:pPr marL="0" indent="0">
              <a:buNone/>
            </a:pPr>
            <a:r>
              <a:rPr lang="en-US" sz="1250" b="1" dirty="0">
                <a:solidFill>
                  <a:srgbClr val="6D28D9"/>
                </a:solidFill>
                <a:latin typeface="Calibri" pitchFamily="34" charset="0"/>
                <a:ea typeface="Calibri" pitchFamily="34" charset="-122"/>
                <a:cs typeface="Calibri" pitchFamily="34" charset="-120"/>
              </a:rPr>
              <a:t>PK · account_id</a:t>
            </a:r>
            <a:endParaRPr lang="en-US" sz="1250" dirty="0"/>
          </a:p>
        </p:txBody>
      </p:sp>
      <p:sp>
        <p:nvSpPr>
          <p:cNvPr id="38" name="a2u_ed37"/>
          <p:cNvSpPr txBox="1"/>
          <p:nvPr/>
        </p:nvSpPr>
        <p:spPr>
          <a:xfrm>
            <a:off x="5897880" y="1508760"/>
            <a:ext cx="2788920" cy="54864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The identity. Stable, never reused, NOT NULL.</a:t>
            </a:r>
            <a:endParaRPr lang="en-US" sz="1100" dirty="0"/>
          </a:p>
        </p:txBody>
      </p:sp>
      <p:sp>
        <p:nvSpPr>
          <p:cNvPr id="39" name="a3u_eh38"/>
          <p:cNvSpPr txBox="1"/>
          <p:nvPr/>
        </p:nvSpPr>
        <p:spPr>
          <a:xfrm>
            <a:off x="5897880" y="2103120"/>
            <a:ext cx="2788920" cy="274320"/>
          </a:xfrm>
          <a:prstGeom prst="rect">
            <a:avLst/>
          </a:prstGeom>
          <a:noFill/>
          <a:ln/>
        </p:spPr>
        <p:txBody>
          <a:bodyPr wrap="square" lIns="0" tIns="0" rIns="0" bIns="0" rtlCol="0" anchor="ctr"/>
          <a:lstStyle/>
          <a:p>
            <a:pPr marL="0" indent="0">
              <a:buNone/>
            </a:pPr>
            <a:r>
              <a:rPr lang="en-US" sz="1250" b="1" dirty="0">
                <a:solidFill>
                  <a:srgbClr val="0F766E"/>
                </a:solidFill>
                <a:latin typeface="Calibri" pitchFamily="34" charset="0"/>
                <a:ea typeface="Calibri" pitchFamily="34" charset="-122"/>
                <a:cs typeface="Calibri" pitchFamily="34" charset="-120"/>
              </a:rPr>
              <a:t>AK · account_number</a:t>
            </a:r>
            <a:endParaRPr lang="en-US" sz="1250" dirty="0"/>
          </a:p>
        </p:txBody>
      </p:sp>
      <p:sp>
        <p:nvSpPr>
          <p:cNvPr id="40" name="a3u_ed39"/>
          <p:cNvSpPr txBox="1"/>
          <p:nvPr/>
        </p:nvSpPr>
        <p:spPr>
          <a:xfrm>
            <a:off x="5897880" y="2377440"/>
            <a:ext cx="2788920" cy="54864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Also unique — enforced with a UNIQUE constraint.</a:t>
            </a:r>
            <a:endParaRPr lang="en-US" sz="1100" dirty="0"/>
          </a:p>
        </p:txBody>
      </p:sp>
      <p:sp>
        <p:nvSpPr>
          <p:cNvPr id="41" name="a4u_eh40"/>
          <p:cNvSpPr txBox="1"/>
          <p:nvPr/>
        </p:nvSpPr>
        <p:spPr>
          <a:xfrm>
            <a:off x="5897880" y="2971800"/>
            <a:ext cx="2788920" cy="274320"/>
          </a:xfrm>
          <a:prstGeom prst="rect">
            <a:avLst/>
          </a:prstGeom>
          <a:noFill/>
          <a:ln/>
        </p:spPr>
        <p:txBody>
          <a:bodyPr wrap="square" lIns="0" tIns="0" rIns="0" bIns="0" rtlCol="0" anchor="ctr"/>
          <a:lstStyle/>
          <a:p>
            <a:pPr marL="0" indent="0">
              <a:buNone/>
            </a:pPr>
            <a:r>
              <a:rPr lang="en-US" sz="1250" b="1" dirty="0">
                <a:solidFill>
                  <a:srgbClr val="B45309"/>
                </a:solidFill>
                <a:latin typeface="Calibri" pitchFamily="34" charset="0"/>
                <a:ea typeface="Calibri" pitchFamily="34" charset="-122"/>
                <a:cs typeface="Calibri" pitchFamily="34" charset="-120"/>
              </a:rPr>
              <a:t>FK · customer_id</a:t>
            </a:r>
            <a:endParaRPr lang="en-US" sz="1250" dirty="0"/>
          </a:p>
        </p:txBody>
      </p:sp>
      <p:sp>
        <p:nvSpPr>
          <p:cNvPr id="42" name="a4u_ed41"/>
          <p:cNvSpPr txBox="1"/>
          <p:nvPr/>
        </p:nvSpPr>
        <p:spPr>
          <a:xfrm>
            <a:off x="5897880" y="3246120"/>
            <a:ext cx="2788920" cy="54864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Must exist in customer. It repeats: 1005 owns two accounts.</a:t>
            </a:r>
            <a:endParaRPr lang="en-US" sz="1100" dirty="0"/>
          </a:p>
        </p:txBody>
      </p:sp>
      <p:sp>
        <p:nvSpPr>
          <p:cNvPr id="43" name="a5u_eh42"/>
          <p:cNvSpPr txBox="1"/>
          <p:nvPr/>
        </p:nvSpPr>
        <p:spPr>
          <a:xfrm>
            <a:off x="5897880" y="3840480"/>
            <a:ext cx="2788920" cy="274320"/>
          </a:xfrm>
          <a:prstGeom prst="rect">
            <a:avLst/>
          </a:prstGeom>
          <a:noFill/>
          <a:ln/>
        </p:spPr>
        <p:txBody>
          <a:bodyPr wrap="square" lIns="0" tIns="0" rIns="0" bIns="0" rtlCol="0" anchor="ctr"/>
          <a:lstStyle/>
          <a:p>
            <a:pPr marL="0" indent="0">
              <a:buNone/>
            </a:pPr>
            <a:r>
              <a:rPr lang="en-US" sz="1250" b="1" dirty="0">
                <a:solidFill>
                  <a:srgbClr val="64748B"/>
                </a:solidFill>
                <a:latin typeface="Calibri" pitchFamily="34" charset="0"/>
                <a:ea typeface="Calibri" pitchFamily="34" charset="-122"/>
                <a:cs typeface="Calibri" pitchFamily="34" charset="-120"/>
              </a:rPr>
              <a:t>Super key only</a:t>
            </a:r>
            <a:endParaRPr lang="en-US" sz="1250" dirty="0"/>
          </a:p>
        </p:txBody>
      </p:sp>
      <p:sp>
        <p:nvSpPr>
          <p:cNvPr id="44" name="a5u_ed43"/>
          <p:cNvSpPr txBox="1"/>
          <p:nvPr/>
        </p:nvSpPr>
        <p:spPr>
          <a:xfrm>
            <a:off x="5897880" y="4114800"/>
            <a:ext cx="2788920" cy="54864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(account_id, balance) is unique but not minimal — drop balance and it still is.</a:t>
            </a:r>
            <a:endParaRPr lang="en-US" sz="1100" dirty="0"/>
          </a:p>
        </p:txBody>
      </p:sp>
      <p:sp>
        <p:nvSpPr>
          <p:cNvPr id="45" name="a6u_nb44"/>
          <p:cNvSpPr/>
          <p:nvPr/>
        </p:nvSpPr>
        <p:spPr>
          <a:xfrm>
            <a:off x="457200" y="3520440"/>
            <a:ext cx="5120640" cy="868680"/>
          </a:xfrm>
          <a:prstGeom prst="roundRect">
            <a:avLst>
              <a:gd name="adj" fmla="val 9412"/>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pic>
        <p:nvPicPr>
          <p:cNvPr id="46" name="a6u_ni45" descr="image.png"/>
          <p:cNvPicPr>
            <a:picLocks noChangeAspect="1"/>
          </p:cNvPicPr>
          <p:nvPr/>
        </p:nvPicPr>
        <p:blipFill>
          <a:blip r:embed="rId3"/>
          <a:stretch>
            <a:fillRect/>
          </a:stretch>
        </p:blipFill>
        <p:spPr>
          <a:xfrm>
            <a:off x="594360" y="3794760"/>
            <a:ext cx="320040" cy="320040"/>
          </a:xfrm>
          <a:prstGeom prst="rect">
            <a:avLst/>
          </a:prstGeom>
        </p:spPr>
      </p:pic>
      <p:sp>
        <p:nvSpPr>
          <p:cNvPr id="47" name="a6u_nt46"/>
          <p:cNvSpPr txBox="1"/>
          <p:nvPr/>
        </p:nvSpPr>
        <p:spPr>
          <a:xfrm>
            <a:off x="1005840" y="3520440"/>
            <a:ext cx="4434840" cy="868680"/>
          </a:xfrm>
          <a:prstGeom prst="rect">
            <a:avLst/>
          </a:prstGeom>
          <a:noFill/>
          <a:ln/>
        </p:spPr>
        <p:txBody>
          <a:bodyPr wrap="square" lIns="0" tIns="0" rIns="0" bIns="0" rtlCol="0" anchor="ctr"/>
          <a:lstStyle/>
          <a:p>
            <a:pPr marL="0" indent="0">
              <a:buNone/>
            </a:pPr>
            <a:r>
              <a:rPr lang="en-US" sz="1200" b="1" dirty="0">
                <a:solidFill>
                  <a:srgbClr val="334155"/>
                </a:solidFill>
                <a:latin typeface="Calibri" pitchFamily="34" charset="0"/>
                <a:ea typeface="Calibri" pitchFamily="34" charset="-122"/>
                <a:cs typeface="Calibri" pitchFamily="34" charset="-120"/>
              </a:rPr>
              <a:t>Candidate key = minimal. </a:t>
            </a:r>
            <a:r>
              <a:rPr lang="en-US" sz="1200" dirty="0">
                <a:solidFill>
                  <a:srgbClr val="334155"/>
                </a:solidFill>
                <a:latin typeface="Calibri" pitchFamily="34" charset="0"/>
                <a:ea typeface="Calibri" pitchFamily="34" charset="-122"/>
                <a:cs typeface="Calibri" pitchFamily="34" charset="-120"/>
              </a:rPr>
              <a:t>Remove any column and uniqueness is lost. account_id and account_number each pass; (account_id, balance) does not.</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22" presetClass="entr" presetSubtype="8" fill="hold" grpId="0" nodeType="withEffect">
                                  <p:stCondLst>
                                    <p:cond delay="20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par>
                                <p:cTn id="11" presetID="22" presetClass="entr" presetSubtype="8" fill="hold" grpId="0" nodeType="withEffect">
                                  <p:stCondLst>
                                    <p:cond delay="40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par>
                                <p:cTn id="14" presetID="22" presetClass="entr" presetSubtype="8" fill="hold" grpId="0" nodeType="withEffect">
                                  <p:stCondLst>
                                    <p:cond delay="60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par>
                                <p:cTn id="17" presetID="22" presetClass="entr" presetSubtype="8" fill="hold" grpId="0" nodeType="withEffect">
                                  <p:stCondLst>
                                    <p:cond delay="80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par>
                                <p:cTn id="20" presetID="22" presetClass="entr" presetSubtype="8" fill="hold" grpId="0" nodeType="withEffect">
                                  <p:stCondLst>
                                    <p:cond delay="100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22" presetClass="entr" presetSubtype="8" fill="hold" grpId="0" nodeType="withEffect">
                                  <p:stCondLst>
                                    <p:cond delay="20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500"/>
                                        <p:tgtEl>
                                          <p:spTgt spid="11"/>
                                        </p:tgtEl>
                                      </p:cBhvr>
                                    </p:animEffect>
                                  </p:childTnLst>
                                </p:cTn>
                              </p:par>
                              <p:par>
                                <p:cTn id="29" presetID="22" presetClass="entr" presetSubtype="8" fill="hold" grpId="0" nodeType="withEffect">
                                  <p:stCondLst>
                                    <p:cond delay="40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500"/>
                                        <p:tgtEl>
                                          <p:spTgt spid="12"/>
                                        </p:tgtEl>
                                      </p:cBhvr>
                                    </p:animEffect>
                                  </p:childTnLst>
                                </p:cTn>
                              </p:par>
                              <p:par>
                                <p:cTn id="32" presetID="22" presetClass="entr" presetSubtype="8" fill="hold" grpId="0" nodeType="withEffect">
                                  <p:stCondLst>
                                    <p:cond delay="600"/>
                                  </p:stCondLst>
                                  <p:childTnLst>
                                    <p:set>
                                      <p:cBhvr>
                                        <p:cTn id="33" dur="1" fill="hold">
                                          <p:stCondLst>
                                            <p:cond delay="0"/>
                                          </p:stCondLst>
                                        </p:cTn>
                                        <p:tgtEl>
                                          <p:spTgt spid="13"/>
                                        </p:tgtEl>
                                        <p:attrNameLst>
                                          <p:attrName>style.visibility</p:attrName>
                                        </p:attrNameLst>
                                      </p:cBhvr>
                                      <p:to>
                                        <p:strVal val="visible"/>
                                      </p:to>
                                    </p:set>
                                    <p:animEffect transition="in" filter="wipe(left)">
                                      <p:cBhvr>
                                        <p:cTn id="34" dur="500"/>
                                        <p:tgtEl>
                                          <p:spTgt spid="13"/>
                                        </p:tgtEl>
                                      </p:cBhvr>
                                    </p:animEffect>
                                  </p:childTnLst>
                                </p:cTn>
                              </p:par>
                              <p:par>
                                <p:cTn id="35" presetID="22" presetClass="entr" presetSubtype="8" fill="hold" grpId="0" nodeType="withEffect">
                                  <p:stCondLst>
                                    <p:cond delay="800"/>
                                  </p:stCondLst>
                                  <p:childTnLst>
                                    <p:set>
                                      <p:cBhvr>
                                        <p:cTn id="36" dur="1" fill="hold">
                                          <p:stCondLst>
                                            <p:cond delay="0"/>
                                          </p:stCondLst>
                                        </p:cTn>
                                        <p:tgtEl>
                                          <p:spTgt spid="14"/>
                                        </p:tgtEl>
                                        <p:attrNameLst>
                                          <p:attrName>style.visibility</p:attrName>
                                        </p:attrNameLst>
                                      </p:cBhvr>
                                      <p:to>
                                        <p:strVal val="visible"/>
                                      </p:to>
                                    </p:set>
                                    <p:animEffect transition="in" filter="wipe(left)">
                                      <p:cBhvr>
                                        <p:cTn id="37" dur="500"/>
                                        <p:tgtEl>
                                          <p:spTgt spid="14"/>
                                        </p:tgtEl>
                                      </p:cBhvr>
                                    </p:animEffect>
                                  </p:childTnLst>
                                </p:cTn>
                              </p:par>
                              <p:par>
                                <p:cTn id="38" presetID="22" presetClass="entr" presetSubtype="8" fill="hold" grpId="0" nodeType="withEffect">
                                  <p:stCondLst>
                                    <p:cond delay="1000"/>
                                  </p:stCondLst>
                                  <p:childTnLst>
                                    <p:set>
                                      <p:cBhvr>
                                        <p:cTn id="39" dur="1" fill="hold">
                                          <p:stCondLst>
                                            <p:cond delay="0"/>
                                          </p:stCondLst>
                                        </p:cTn>
                                        <p:tgtEl>
                                          <p:spTgt spid="15"/>
                                        </p:tgtEl>
                                        <p:attrNameLst>
                                          <p:attrName>style.visibility</p:attrName>
                                        </p:attrNameLst>
                                      </p:cBhvr>
                                      <p:to>
                                        <p:strVal val="visible"/>
                                      </p:to>
                                    </p:set>
                                    <p:animEffect transition="in" filter="wipe(left)">
                                      <p:cBhvr>
                                        <p:cTn id="40" dur="5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22" presetClass="entr" presetSubtype="8" fill="hold" grpId="0" nodeType="withEffect">
                                  <p:stCondLst>
                                    <p:cond delay="200"/>
                                  </p:stCondLst>
                                  <p:childTnLst>
                                    <p:set>
                                      <p:cBhvr>
                                        <p:cTn id="45" dur="1" fill="hold">
                                          <p:stCondLst>
                                            <p:cond delay="0"/>
                                          </p:stCondLst>
                                        </p:cTn>
                                        <p:tgtEl>
                                          <p:spTgt spid="17"/>
                                        </p:tgtEl>
                                        <p:attrNameLst>
                                          <p:attrName>style.visibility</p:attrName>
                                        </p:attrNameLst>
                                      </p:cBhvr>
                                      <p:to>
                                        <p:strVal val="visible"/>
                                      </p:to>
                                    </p:set>
                                    <p:animEffect transition="in" filter="wipe(left)">
                                      <p:cBhvr>
                                        <p:cTn id="46" dur="500"/>
                                        <p:tgtEl>
                                          <p:spTgt spid="17"/>
                                        </p:tgtEl>
                                      </p:cBhvr>
                                    </p:animEffect>
                                  </p:childTnLst>
                                </p:cTn>
                              </p:par>
                              <p:par>
                                <p:cTn id="47" presetID="22" presetClass="entr" presetSubtype="8" fill="hold" grpId="0" nodeType="withEffect">
                                  <p:stCondLst>
                                    <p:cond delay="400"/>
                                  </p:stCondLst>
                                  <p:childTnLst>
                                    <p:set>
                                      <p:cBhvr>
                                        <p:cTn id="48" dur="1" fill="hold">
                                          <p:stCondLst>
                                            <p:cond delay="0"/>
                                          </p:stCondLst>
                                        </p:cTn>
                                        <p:tgtEl>
                                          <p:spTgt spid="18"/>
                                        </p:tgtEl>
                                        <p:attrNameLst>
                                          <p:attrName>style.visibility</p:attrName>
                                        </p:attrNameLst>
                                      </p:cBhvr>
                                      <p:to>
                                        <p:strVal val="visible"/>
                                      </p:to>
                                    </p:set>
                                    <p:animEffect transition="in" filter="wipe(left)">
                                      <p:cBhvr>
                                        <p:cTn id="49" dur="500"/>
                                        <p:tgtEl>
                                          <p:spTgt spid="18"/>
                                        </p:tgtEl>
                                      </p:cBhvr>
                                    </p:animEffect>
                                  </p:childTnLst>
                                </p:cTn>
                              </p:par>
                              <p:par>
                                <p:cTn id="50" presetID="22" presetClass="entr" presetSubtype="8" fill="hold" grpId="0" nodeType="withEffect">
                                  <p:stCondLst>
                                    <p:cond delay="600"/>
                                  </p:stCondLst>
                                  <p:childTnLst>
                                    <p:set>
                                      <p:cBhvr>
                                        <p:cTn id="51" dur="1" fill="hold">
                                          <p:stCondLst>
                                            <p:cond delay="0"/>
                                          </p:stCondLst>
                                        </p:cTn>
                                        <p:tgtEl>
                                          <p:spTgt spid="19"/>
                                        </p:tgtEl>
                                        <p:attrNameLst>
                                          <p:attrName>style.visibility</p:attrName>
                                        </p:attrNameLst>
                                      </p:cBhvr>
                                      <p:to>
                                        <p:strVal val="visible"/>
                                      </p:to>
                                    </p:set>
                                    <p:animEffect transition="in" filter="wipe(left)">
                                      <p:cBhvr>
                                        <p:cTn id="52" dur="500"/>
                                        <p:tgtEl>
                                          <p:spTgt spid="19"/>
                                        </p:tgtEl>
                                      </p:cBhvr>
                                    </p:animEffect>
                                  </p:childTnLst>
                                </p:cTn>
                              </p:par>
                              <p:par>
                                <p:cTn id="53" presetID="22" presetClass="entr" presetSubtype="8" fill="hold" grpId="0" nodeType="withEffect">
                                  <p:stCondLst>
                                    <p:cond delay="800"/>
                                  </p:stCondLst>
                                  <p:childTnLst>
                                    <p:set>
                                      <p:cBhvr>
                                        <p:cTn id="54" dur="1" fill="hold">
                                          <p:stCondLst>
                                            <p:cond delay="0"/>
                                          </p:stCondLst>
                                        </p:cTn>
                                        <p:tgtEl>
                                          <p:spTgt spid="20"/>
                                        </p:tgtEl>
                                        <p:attrNameLst>
                                          <p:attrName>style.visibility</p:attrName>
                                        </p:attrNameLst>
                                      </p:cBhvr>
                                      <p:to>
                                        <p:strVal val="visible"/>
                                      </p:to>
                                    </p:set>
                                    <p:animEffect transition="in" filter="wipe(left)">
                                      <p:cBhvr>
                                        <p:cTn id="55" dur="500"/>
                                        <p:tgtEl>
                                          <p:spTgt spid="20"/>
                                        </p:tgtEl>
                                      </p:cBhvr>
                                    </p:animEffect>
                                  </p:childTnLst>
                                </p:cTn>
                              </p:par>
                              <p:par>
                                <p:cTn id="56" presetID="22" presetClass="entr" presetSubtype="8" fill="hold" grpId="0" nodeType="withEffect">
                                  <p:stCondLst>
                                    <p:cond delay="1000"/>
                                  </p:stCondLst>
                                  <p:childTnLst>
                                    <p:set>
                                      <p:cBhvr>
                                        <p:cTn id="57" dur="1" fill="hold">
                                          <p:stCondLst>
                                            <p:cond delay="0"/>
                                          </p:stCondLst>
                                        </p:cTn>
                                        <p:tgtEl>
                                          <p:spTgt spid="21"/>
                                        </p:tgtEl>
                                        <p:attrNameLst>
                                          <p:attrName>style.visibility</p:attrName>
                                        </p:attrNameLst>
                                      </p:cBhvr>
                                      <p:to>
                                        <p:strVal val="visible"/>
                                      </p:to>
                                    </p:set>
                                    <p:animEffect transition="in" filter="wipe(left)">
                                      <p:cBhvr>
                                        <p:cTn id="58" dur="500"/>
                                        <p:tgtEl>
                                          <p:spTgt spid="2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500"/>
                                        <p:tgtEl>
                                          <p:spTgt spid="22"/>
                                        </p:tgtEl>
                                      </p:cBhvr>
                                    </p:animEffect>
                                  </p:childTnLst>
                                </p:cTn>
                              </p:par>
                              <p:par>
                                <p:cTn id="62" presetID="22" presetClass="entr" presetSubtype="8" fill="hold" grpId="0" nodeType="withEffect">
                                  <p:stCondLst>
                                    <p:cond delay="200"/>
                                  </p:stCondLst>
                                  <p:childTnLst>
                                    <p:set>
                                      <p:cBhvr>
                                        <p:cTn id="63" dur="1" fill="hold">
                                          <p:stCondLst>
                                            <p:cond delay="0"/>
                                          </p:stCondLst>
                                        </p:cTn>
                                        <p:tgtEl>
                                          <p:spTgt spid="23"/>
                                        </p:tgtEl>
                                        <p:attrNameLst>
                                          <p:attrName>style.visibility</p:attrName>
                                        </p:attrNameLst>
                                      </p:cBhvr>
                                      <p:to>
                                        <p:strVal val="visible"/>
                                      </p:to>
                                    </p:set>
                                    <p:animEffect transition="in" filter="wipe(left)">
                                      <p:cBhvr>
                                        <p:cTn id="64" dur="500"/>
                                        <p:tgtEl>
                                          <p:spTgt spid="23"/>
                                        </p:tgtEl>
                                      </p:cBhvr>
                                    </p:animEffect>
                                  </p:childTnLst>
                                </p:cTn>
                              </p:par>
                              <p:par>
                                <p:cTn id="65" presetID="22" presetClass="entr" presetSubtype="8" fill="hold" grpId="0" nodeType="withEffect">
                                  <p:stCondLst>
                                    <p:cond delay="400"/>
                                  </p:stCondLst>
                                  <p:childTnLst>
                                    <p:set>
                                      <p:cBhvr>
                                        <p:cTn id="66" dur="1" fill="hold">
                                          <p:stCondLst>
                                            <p:cond delay="0"/>
                                          </p:stCondLst>
                                        </p:cTn>
                                        <p:tgtEl>
                                          <p:spTgt spid="24"/>
                                        </p:tgtEl>
                                        <p:attrNameLst>
                                          <p:attrName>style.visibility</p:attrName>
                                        </p:attrNameLst>
                                      </p:cBhvr>
                                      <p:to>
                                        <p:strVal val="visible"/>
                                      </p:to>
                                    </p:set>
                                    <p:animEffect transition="in" filter="wipe(left)">
                                      <p:cBhvr>
                                        <p:cTn id="67" dur="500"/>
                                        <p:tgtEl>
                                          <p:spTgt spid="24"/>
                                        </p:tgtEl>
                                      </p:cBhvr>
                                    </p:animEffect>
                                  </p:childTnLst>
                                </p:cTn>
                              </p:par>
                              <p:par>
                                <p:cTn id="68" presetID="22" presetClass="entr" presetSubtype="8" fill="hold" grpId="0" nodeType="withEffect">
                                  <p:stCondLst>
                                    <p:cond delay="600"/>
                                  </p:stCondLst>
                                  <p:childTnLst>
                                    <p:set>
                                      <p:cBhvr>
                                        <p:cTn id="69" dur="1" fill="hold">
                                          <p:stCondLst>
                                            <p:cond delay="0"/>
                                          </p:stCondLst>
                                        </p:cTn>
                                        <p:tgtEl>
                                          <p:spTgt spid="25"/>
                                        </p:tgtEl>
                                        <p:attrNameLst>
                                          <p:attrName>style.visibility</p:attrName>
                                        </p:attrNameLst>
                                      </p:cBhvr>
                                      <p:to>
                                        <p:strVal val="visible"/>
                                      </p:to>
                                    </p:set>
                                    <p:animEffect transition="in" filter="wipe(left)">
                                      <p:cBhvr>
                                        <p:cTn id="70" dur="500"/>
                                        <p:tgtEl>
                                          <p:spTgt spid="25"/>
                                        </p:tgtEl>
                                      </p:cBhvr>
                                    </p:animEffect>
                                  </p:childTnLst>
                                </p:cTn>
                              </p:par>
                              <p:par>
                                <p:cTn id="71" presetID="22" presetClass="entr" presetSubtype="8" fill="hold" grpId="0" nodeType="withEffect">
                                  <p:stCondLst>
                                    <p:cond delay="800"/>
                                  </p:stCondLst>
                                  <p:childTnLst>
                                    <p:set>
                                      <p:cBhvr>
                                        <p:cTn id="72" dur="1" fill="hold">
                                          <p:stCondLst>
                                            <p:cond delay="0"/>
                                          </p:stCondLst>
                                        </p:cTn>
                                        <p:tgtEl>
                                          <p:spTgt spid="26"/>
                                        </p:tgtEl>
                                        <p:attrNameLst>
                                          <p:attrName>style.visibility</p:attrName>
                                        </p:attrNameLst>
                                      </p:cBhvr>
                                      <p:to>
                                        <p:strVal val="visible"/>
                                      </p:to>
                                    </p:set>
                                    <p:animEffect transition="in" filter="wipe(left)">
                                      <p:cBhvr>
                                        <p:cTn id="73" dur="500"/>
                                        <p:tgtEl>
                                          <p:spTgt spid="26"/>
                                        </p:tgtEl>
                                      </p:cBhvr>
                                    </p:animEffect>
                                  </p:childTnLst>
                                </p:cTn>
                              </p:par>
                              <p:par>
                                <p:cTn id="74" presetID="22" presetClass="entr" presetSubtype="8" fill="hold" grpId="0" nodeType="withEffect">
                                  <p:stCondLst>
                                    <p:cond delay="1000"/>
                                  </p:stCondLst>
                                  <p:childTnLst>
                                    <p:set>
                                      <p:cBhvr>
                                        <p:cTn id="75" dur="1" fill="hold">
                                          <p:stCondLst>
                                            <p:cond delay="0"/>
                                          </p:stCondLst>
                                        </p:cTn>
                                        <p:tgtEl>
                                          <p:spTgt spid="27"/>
                                        </p:tgtEl>
                                        <p:attrNameLst>
                                          <p:attrName>style.visibility</p:attrName>
                                        </p:attrNameLst>
                                      </p:cBhvr>
                                      <p:to>
                                        <p:strVal val="visible"/>
                                      </p:to>
                                    </p:set>
                                    <p:animEffect transition="in" filter="wipe(left)">
                                      <p:cBhvr>
                                        <p:cTn id="76" dur="500"/>
                                        <p:tgtEl>
                                          <p:spTgt spid="2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500"/>
                                        <p:tgtEl>
                                          <p:spTgt spid="28"/>
                                        </p:tgtEl>
                                      </p:cBhvr>
                                    </p:animEffect>
                                  </p:childTnLst>
                                </p:cTn>
                              </p:par>
                              <p:par>
                                <p:cTn id="80" presetID="22" presetClass="entr" presetSubtype="8" fill="hold" grpId="0" nodeType="withEffect">
                                  <p:stCondLst>
                                    <p:cond delay="200"/>
                                  </p:stCondLst>
                                  <p:childTnLst>
                                    <p:set>
                                      <p:cBhvr>
                                        <p:cTn id="81" dur="1" fill="hold">
                                          <p:stCondLst>
                                            <p:cond delay="0"/>
                                          </p:stCondLst>
                                        </p:cTn>
                                        <p:tgtEl>
                                          <p:spTgt spid="29"/>
                                        </p:tgtEl>
                                        <p:attrNameLst>
                                          <p:attrName>style.visibility</p:attrName>
                                        </p:attrNameLst>
                                      </p:cBhvr>
                                      <p:to>
                                        <p:strVal val="visible"/>
                                      </p:to>
                                    </p:set>
                                    <p:animEffect transition="in" filter="wipe(left)">
                                      <p:cBhvr>
                                        <p:cTn id="82" dur="500"/>
                                        <p:tgtEl>
                                          <p:spTgt spid="29"/>
                                        </p:tgtEl>
                                      </p:cBhvr>
                                    </p:animEffect>
                                  </p:childTnLst>
                                </p:cTn>
                              </p:par>
                              <p:par>
                                <p:cTn id="83" presetID="22" presetClass="entr" presetSubtype="8" fill="hold" grpId="0" nodeType="withEffect">
                                  <p:stCondLst>
                                    <p:cond delay="400"/>
                                  </p:stCondLst>
                                  <p:childTnLst>
                                    <p:set>
                                      <p:cBhvr>
                                        <p:cTn id="84" dur="1" fill="hold">
                                          <p:stCondLst>
                                            <p:cond delay="0"/>
                                          </p:stCondLst>
                                        </p:cTn>
                                        <p:tgtEl>
                                          <p:spTgt spid="30"/>
                                        </p:tgtEl>
                                        <p:attrNameLst>
                                          <p:attrName>style.visibility</p:attrName>
                                        </p:attrNameLst>
                                      </p:cBhvr>
                                      <p:to>
                                        <p:strVal val="visible"/>
                                      </p:to>
                                    </p:set>
                                    <p:animEffect transition="in" filter="wipe(left)">
                                      <p:cBhvr>
                                        <p:cTn id="85" dur="500"/>
                                        <p:tgtEl>
                                          <p:spTgt spid="30"/>
                                        </p:tgtEl>
                                      </p:cBhvr>
                                    </p:animEffect>
                                  </p:childTnLst>
                                </p:cTn>
                              </p:par>
                              <p:par>
                                <p:cTn id="86" presetID="22" presetClass="entr" presetSubtype="8" fill="hold" grpId="0" nodeType="withEffect">
                                  <p:stCondLst>
                                    <p:cond delay="600"/>
                                  </p:stCondLst>
                                  <p:childTnLst>
                                    <p:set>
                                      <p:cBhvr>
                                        <p:cTn id="87" dur="1" fill="hold">
                                          <p:stCondLst>
                                            <p:cond delay="0"/>
                                          </p:stCondLst>
                                        </p:cTn>
                                        <p:tgtEl>
                                          <p:spTgt spid="31"/>
                                        </p:tgtEl>
                                        <p:attrNameLst>
                                          <p:attrName>style.visibility</p:attrName>
                                        </p:attrNameLst>
                                      </p:cBhvr>
                                      <p:to>
                                        <p:strVal val="visible"/>
                                      </p:to>
                                    </p:set>
                                    <p:animEffect transition="in" filter="wipe(left)">
                                      <p:cBhvr>
                                        <p:cTn id="88" dur="500"/>
                                        <p:tgtEl>
                                          <p:spTgt spid="31"/>
                                        </p:tgtEl>
                                      </p:cBhvr>
                                    </p:animEffect>
                                  </p:childTnLst>
                                </p:cTn>
                              </p:par>
                              <p:par>
                                <p:cTn id="89" presetID="22" presetClass="entr" presetSubtype="8" fill="hold" grpId="0" nodeType="withEffect">
                                  <p:stCondLst>
                                    <p:cond delay="800"/>
                                  </p:stCondLst>
                                  <p:childTnLst>
                                    <p:set>
                                      <p:cBhvr>
                                        <p:cTn id="90" dur="1" fill="hold">
                                          <p:stCondLst>
                                            <p:cond delay="0"/>
                                          </p:stCondLst>
                                        </p:cTn>
                                        <p:tgtEl>
                                          <p:spTgt spid="32"/>
                                        </p:tgtEl>
                                        <p:attrNameLst>
                                          <p:attrName>style.visibility</p:attrName>
                                        </p:attrNameLst>
                                      </p:cBhvr>
                                      <p:to>
                                        <p:strVal val="visible"/>
                                      </p:to>
                                    </p:set>
                                    <p:animEffect transition="in" filter="wipe(left)">
                                      <p:cBhvr>
                                        <p:cTn id="91" dur="500"/>
                                        <p:tgtEl>
                                          <p:spTgt spid="32"/>
                                        </p:tgtEl>
                                      </p:cBhvr>
                                    </p:animEffect>
                                  </p:childTnLst>
                                </p:cTn>
                              </p:par>
                              <p:par>
                                <p:cTn id="92" presetID="22" presetClass="entr" presetSubtype="8" fill="hold" grpId="0" nodeType="withEffect">
                                  <p:stCondLst>
                                    <p:cond delay="1000"/>
                                  </p:stCondLst>
                                  <p:childTnLst>
                                    <p:set>
                                      <p:cBhvr>
                                        <p:cTn id="93" dur="1" fill="hold">
                                          <p:stCondLst>
                                            <p:cond delay="0"/>
                                          </p:stCondLst>
                                        </p:cTn>
                                        <p:tgtEl>
                                          <p:spTgt spid="33"/>
                                        </p:tgtEl>
                                        <p:attrNameLst>
                                          <p:attrName>style.visibility</p:attrName>
                                        </p:attrNameLst>
                                      </p:cBhvr>
                                      <p:to>
                                        <p:strVal val="visible"/>
                                      </p:to>
                                    </p:set>
                                    <p:animEffect transition="in" filter="wipe(left)">
                                      <p:cBhvr>
                                        <p:cTn id="94" dur="500"/>
                                        <p:tgtEl>
                                          <p:spTgt spid="33"/>
                                        </p:tgtEl>
                                      </p:cBhvr>
                                    </p:animEffect>
                                  </p:childTnLst>
                                </p:cTn>
                              </p:par>
                            </p:childTnLst>
                          </p:cTn>
                        </p:par>
                      </p:childTnLst>
                    </p:cTn>
                  </p:par>
                  <p:par>
                    <p:cTn id="95" fill="hold">
                      <p:stCondLst>
                        <p:cond delay="indefinite"/>
                      </p:stCondLst>
                      <p:childTnLst>
                        <p:par>
                          <p:cTn id="96" fill="hold">
                            <p:stCondLst>
                              <p:cond delay="0"/>
                            </p:stCondLst>
                            <p:childTnLst>
                              <p:par>
                                <p:cTn id="97" presetID="2" presetClass="entr" presetSubtype="4" fill="hold" grpId="0" nodeType="clickEffect">
                                  <p:stCondLst>
                                    <p:cond delay="0"/>
                                  </p:stCondLst>
                                  <p:childTnLst>
                                    <p:set>
                                      <p:cBhvr>
                                        <p:cTn id="98" dur="1" fill="hold">
                                          <p:stCondLst>
                                            <p:cond delay="0"/>
                                          </p:stCondLst>
                                        </p:cTn>
                                        <p:tgtEl>
                                          <p:spTgt spid="34"/>
                                        </p:tgtEl>
                                        <p:attrNameLst>
                                          <p:attrName>style.visibility</p:attrName>
                                        </p:attrNameLst>
                                      </p:cBhvr>
                                      <p:to>
                                        <p:strVal val="visible"/>
                                      </p:to>
                                    </p:set>
                                    <p:anim calcmode="lin" valueType="num">
                                      <p:cBhvr additive="base">
                                        <p:cTn id="99" dur="500" fill="hold"/>
                                        <p:tgtEl>
                                          <p:spTgt spid="34"/>
                                        </p:tgtEl>
                                        <p:attrNameLst>
                                          <p:attrName>ppt_x</p:attrName>
                                        </p:attrNameLst>
                                      </p:cBhvr>
                                      <p:tavLst>
                                        <p:tav tm="0">
                                          <p:val>
                                            <p:strVal val="#ppt_x"/>
                                          </p:val>
                                        </p:tav>
                                        <p:tav tm="100000">
                                          <p:val>
                                            <p:strVal val="#ppt_x"/>
                                          </p:val>
                                        </p:tav>
                                      </p:tavLst>
                                    </p:anim>
                                    <p:anim calcmode="lin" valueType="num">
                                      <p:cBhvr additive="base">
                                        <p:cTn id="100" dur="500" fill="hold"/>
                                        <p:tgtEl>
                                          <p:spTgt spid="34"/>
                                        </p:tgtEl>
                                        <p:attrNameLst>
                                          <p:attrName>ppt_y</p:attrName>
                                        </p:attrNameLst>
                                      </p:cBhvr>
                                      <p:tavLst>
                                        <p:tav tm="0">
                                          <p:val>
                                            <p:strVal val="#ppt_y+0.1"/>
                                          </p:val>
                                        </p:tav>
                                        <p:tav tm="100000">
                                          <p:val>
                                            <p:strVal val="#ppt_y"/>
                                          </p:val>
                                        </p:tav>
                                      </p:tavLst>
                                    </p:anim>
                                    <p:animEffect transition="in" filter="fade">
                                      <p:cBhvr>
                                        <p:cTn id="101" dur="500"/>
                                        <p:tgtEl>
                                          <p:spTgt spid="34"/>
                                        </p:tgtEl>
                                      </p:cBhvr>
                                    </p:animEffect>
                                  </p:childTnLst>
                                </p:cTn>
                              </p:par>
                              <p:par>
                                <p:cTn id="102" presetID="2" presetClass="entr" presetSubtype="4" fill="hold" grpId="0" nodeType="withEffect">
                                  <p:stCondLst>
                                    <p:cond delay="0"/>
                                  </p:stCondLst>
                                  <p:childTnLst>
                                    <p:set>
                                      <p:cBhvr>
                                        <p:cTn id="103" dur="1" fill="hold">
                                          <p:stCondLst>
                                            <p:cond delay="0"/>
                                          </p:stCondLst>
                                        </p:cTn>
                                        <p:tgtEl>
                                          <p:spTgt spid="37"/>
                                        </p:tgtEl>
                                        <p:attrNameLst>
                                          <p:attrName>style.visibility</p:attrName>
                                        </p:attrNameLst>
                                      </p:cBhvr>
                                      <p:to>
                                        <p:strVal val="visible"/>
                                      </p:to>
                                    </p:set>
                                    <p:anim calcmode="lin" valueType="num">
                                      <p:cBhvr additive="base">
                                        <p:cTn id="104" dur="500" fill="hold"/>
                                        <p:tgtEl>
                                          <p:spTgt spid="37"/>
                                        </p:tgtEl>
                                        <p:attrNameLst>
                                          <p:attrName>ppt_x</p:attrName>
                                        </p:attrNameLst>
                                      </p:cBhvr>
                                      <p:tavLst>
                                        <p:tav tm="0">
                                          <p:val>
                                            <p:strVal val="#ppt_x"/>
                                          </p:val>
                                        </p:tav>
                                        <p:tav tm="100000">
                                          <p:val>
                                            <p:strVal val="#ppt_x"/>
                                          </p:val>
                                        </p:tav>
                                      </p:tavLst>
                                    </p:anim>
                                    <p:anim calcmode="lin" valueType="num">
                                      <p:cBhvr additive="base">
                                        <p:cTn id="105" dur="500" fill="hold"/>
                                        <p:tgtEl>
                                          <p:spTgt spid="37"/>
                                        </p:tgtEl>
                                        <p:attrNameLst>
                                          <p:attrName>ppt_y</p:attrName>
                                        </p:attrNameLst>
                                      </p:cBhvr>
                                      <p:tavLst>
                                        <p:tav tm="0">
                                          <p:val>
                                            <p:strVal val="#ppt_y+0.1"/>
                                          </p:val>
                                        </p:tav>
                                        <p:tav tm="100000">
                                          <p:val>
                                            <p:strVal val="#ppt_y"/>
                                          </p:val>
                                        </p:tav>
                                      </p:tavLst>
                                    </p:anim>
                                    <p:animEffect transition="in" filter="fade">
                                      <p:cBhvr>
                                        <p:cTn id="106" dur="500"/>
                                        <p:tgtEl>
                                          <p:spTgt spid="37"/>
                                        </p:tgtEl>
                                      </p:cBhvr>
                                    </p:animEffect>
                                  </p:childTnLst>
                                </p:cTn>
                              </p:par>
                              <p:par>
                                <p:cTn id="107" presetID="2" presetClass="entr" presetSubtype="4" fill="hold" grpId="0" nodeType="withEffect">
                                  <p:stCondLst>
                                    <p:cond delay="0"/>
                                  </p:stCondLst>
                                  <p:childTnLst>
                                    <p:set>
                                      <p:cBhvr>
                                        <p:cTn id="108" dur="1" fill="hold">
                                          <p:stCondLst>
                                            <p:cond delay="0"/>
                                          </p:stCondLst>
                                        </p:cTn>
                                        <p:tgtEl>
                                          <p:spTgt spid="38"/>
                                        </p:tgtEl>
                                        <p:attrNameLst>
                                          <p:attrName>style.visibility</p:attrName>
                                        </p:attrNameLst>
                                      </p:cBhvr>
                                      <p:to>
                                        <p:strVal val="visible"/>
                                      </p:to>
                                    </p:set>
                                    <p:anim calcmode="lin" valueType="num">
                                      <p:cBhvr additive="base">
                                        <p:cTn id="109" dur="500" fill="hold"/>
                                        <p:tgtEl>
                                          <p:spTgt spid="38"/>
                                        </p:tgtEl>
                                        <p:attrNameLst>
                                          <p:attrName>ppt_x</p:attrName>
                                        </p:attrNameLst>
                                      </p:cBhvr>
                                      <p:tavLst>
                                        <p:tav tm="0">
                                          <p:val>
                                            <p:strVal val="#ppt_x"/>
                                          </p:val>
                                        </p:tav>
                                        <p:tav tm="100000">
                                          <p:val>
                                            <p:strVal val="#ppt_x"/>
                                          </p:val>
                                        </p:tav>
                                      </p:tavLst>
                                    </p:anim>
                                    <p:anim calcmode="lin" valueType="num">
                                      <p:cBhvr additive="base">
                                        <p:cTn id="110" dur="500" fill="hold"/>
                                        <p:tgtEl>
                                          <p:spTgt spid="38"/>
                                        </p:tgtEl>
                                        <p:attrNameLst>
                                          <p:attrName>ppt_y</p:attrName>
                                        </p:attrNameLst>
                                      </p:cBhvr>
                                      <p:tavLst>
                                        <p:tav tm="0">
                                          <p:val>
                                            <p:strVal val="#ppt_y+0.1"/>
                                          </p:val>
                                        </p:tav>
                                        <p:tav tm="100000">
                                          <p:val>
                                            <p:strVal val="#ppt_y"/>
                                          </p:val>
                                        </p:tav>
                                      </p:tavLst>
                                    </p:anim>
                                    <p:animEffect transition="in" filter="fade">
                                      <p:cBhvr>
                                        <p:cTn id="111" dur="500"/>
                                        <p:tgtEl>
                                          <p:spTgt spid="38"/>
                                        </p:tgtEl>
                                      </p:cBhvr>
                                    </p:animEffect>
                                  </p:childTnLst>
                                </p:cTn>
                              </p:par>
                            </p:childTnLst>
                          </p:cTn>
                        </p:par>
                      </p:childTnLst>
                    </p:cTn>
                  </p:par>
                  <p:par>
                    <p:cTn id="112" fill="hold">
                      <p:stCondLst>
                        <p:cond delay="indefinite"/>
                      </p:stCondLst>
                      <p:childTnLst>
                        <p:par>
                          <p:cTn id="113" fill="hold">
                            <p:stCondLst>
                              <p:cond delay="0"/>
                            </p:stCondLst>
                            <p:childTnLst>
                              <p:par>
                                <p:cTn id="114" presetID="2" presetClass="entr" presetSubtype="4" fill="hold" grpId="0" nodeType="clickEffect">
                                  <p:stCondLst>
                                    <p:cond delay="0"/>
                                  </p:stCondLst>
                                  <p:childTnLst>
                                    <p:set>
                                      <p:cBhvr>
                                        <p:cTn id="115" dur="1" fill="hold">
                                          <p:stCondLst>
                                            <p:cond delay="0"/>
                                          </p:stCondLst>
                                        </p:cTn>
                                        <p:tgtEl>
                                          <p:spTgt spid="35"/>
                                        </p:tgtEl>
                                        <p:attrNameLst>
                                          <p:attrName>style.visibility</p:attrName>
                                        </p:attrNameLst>
                                      </p:cBhvr>
                                      <p:to>
                                        <p:strVal val="visible"/>
                                      </p:to>
                                    </p:set>
                                    <p:anim calcmode="lin" valueType="num">
                                      <p:cBhvr additive="base">
                                        <p:cTn id="116" dur="500" fill="hold"/>
                                        <p:tgtEl>
                                          <p:spTgt spid="35"/>
                                        </p:tgtEl>
                                        <p:attrNameLst>
                                          <p:attrName>ppt_x</p:attrName>
                                        </p:attrNameLst>
                                      </p:cBhvr>
                                      <p:tavLst>
                                        <p:tav tm="0">
                                          <p:val>
                                            <p:strVal val="#ppt_x"/>
                                          </p:val>
                                        </p:tav>
                                        <p:tav tm="100000">
                                          <p:val>
                                            <p:strVal val="#ppt_x"/>
                                          </p:val>
                                        </p:tav>
                                      </p:tavLst>
                                    </p:anim>
                                    <p:anim calcmode="lin" valueType="num">
                                      <p:cBhvr additive="base">
                                        <p:cTn id="117" dur="500" fill="hold"/>
                                        <p:tgtEl>
                                          <p:spTgt spid="35"/>
                                        </p:tgtEl>
                                        <p:attrNameLst>
                                          <p:attrName>ppt_y</p:attrName>
                                        </p:attrNameLst>
                                      </p:cBhvr>
                                      <p:tavLst>
                                        <p:tav tm="0">
                                          <p:val>
                                            <p:strVal val="#ppt_y+0.1"/>
                                          </p:val>
                                        </p:tav>
                                        <p:tav tm="100000">
                                          <p:val>
                                            <p:strVal val="#ppt_y"/>
                                          </p:val>
                                        </p:tav>
                                      </p:tavLst>
                                    </p:anim>
                                    <p:animEffect transition="in" filter="fade">
                                      <p:cBhvr>
                                        <p:cTn id="118" dur="500"/>
                                        <p:tgtEl>
                                          <p:spTgt spid="35"/>
                                        </p:tgtEl>
                                      </p:cBhvr>
                                    </p:animEffect>
                                  </p:childTnLst>
                                </p:cTn>
                              </p:par>
                              <p:par>
                                <p:cTn id="119" presetID="2" presetClass="entr" presetSubtype="4" fill="hold" grpId="0" nodeType="withEffect">
                                  <p:stCondLst>
                                    <p:cond delay="0"/>
                                  </p:stCondLst>
                                  <p:childTnLst>
                                    <p:set>
                                      <p:cBhvr>
                                        <p:cTn id="120" dur="1" fill="hold">
                                          <p:stCondLst>
                                            <p:cond delay="0"/>
                                          </p:stCondLst>
                                        </p:cTn>
                                        <p:tgtEl>
                                          <p:spTgt spid="39"/>
                                        </p:tgtEl>
                                        <p:attrNameLst>
                                          <p:attrName>style.visibility</p:attrName>
                                        </p:attrNameLst>
                                      </p:cBhvr>
                                      <p:to>
                                        <p:strVal val="visible"/>
                                      </p:to>
                                    </p:set>
                                    <p:anim calcmode="lin" valueType="num">
                                      <p:cBhvr additive="base">
                                        <p:cTn id="121" dur="500" fill="hold"/>
                                        <p:tgtEl>
                                          <p:spTgt spid="39"/>
                                        </p:tgtEl>
                                        <p:attrNameLst>
                                          <p:attrName>ppt_x</p:attrName>
                                        </p:attrNameLst>
                                      </p:cBhvr>
                                      <p:tavLst>
                                        <p:tav tm="0">
                                          <p:val>
                                            <p:strVal val="#ppt_x"/>
                                          </p:val>
                                        </p:tav>
                                        <p:tav tm="100000">
                                          <p:val>
                                            <p:strVal val="#ppt_x"/>
                                          </p:val>
                                        </p:tav>
                                      </p:tavLst>
                                    </p:anim>
                                    <p:anim calcmode="lin" valueType="num">
                                      <p:cBhvr additive="base">
                                        <p:cTn id="122" dur="500" fill="hold"/>
                                        <p:tgtEl>
                                          <p:spTgt spid="39"/>
                                        </p:tgtEl>
                                        <p:attrNameLst>
                                          <p:attrName>ppt_y</p:attrName>
                                        </p:attrNameLst>
                                      </p:cBhvr>
                                      <p:tavLst>
                                        <p:tav tm="0">
                                          <p:val>
                                            <p:strVal val="#ppt_y+0.1"/>
                                          </p:val>
                                        </p:tav>
                                        <p:tav tm="100000">
                                          <p:val>
                                            <p:strVal val="#ppt_y"/>
                                          </p:val>
                                        </p:tav>
                                      </p:tavLst>
                                    </p:anim>
                                    <p:animEffect transition="in" filter="fade">
                                      <p:cBhvr>
                                        <p:cTn id="123" dur="500"/>
                                        <p:tgtEl>
                                          <p:spTgt spid="39"/>
                                        </p:tgtEl>
                                      </p:cBhvr>
                                    </p:animEffect>
                                  </p:childTnLst>
                                </p:cTn>
                              </p:par>
                              <p:par>
                                <p:cTn id="124" presetID="2" presetClass="entr" presetSubtype="4" fill="hold" grpId="0" nodeType="withEffect">
                                  <p:stCondLst>
                                    <p:cond delay="0"/>
                                  </p:stCondLst>
                                  <p:childTnLst>
                                    <p:set>
                                      <p:cBhvr>
                                        <p:cTn id="125" dur="1" fill="hold">
                                          <p:stCondLst>
                                            <p:cond delay="0"/>
                                          </p:stCondLst>
                                        </p:cTn>
                                        <p:tgtEl>
                                          <p:spTgt spid="40"/>
                                        </p:tgtEl>
                                        <p:attrNameLst>
                                          <p:attrName>style.visibility</p:attrName>
                                        </p:attrNameLst>
                                      </p:cBhvr>
                                      <p:to>
                                        <p:strVal val="visible"/>
                                      </p:to>
                                    </p:set>
                                    <p:anim calcmode="lin" valueType="num">
                                      <p:cBhvr additive="base">
                                        <p:cTn id="126" dur="500" fill="hold"/>
                                        <p:tgtEl>
                                          <p:spTgt spid="40"/>
                                        </p:tgtEl>
                                        <p:attrNameLst>
                                          <p:attrName>ppt_x</p:attrName>
                                        </p:attrNameLst>
                                      </p:cBhvr>
                                      <p:tavLst>
                                        <p:tav tm="0">
                                          <p:val>
                                            <p:strVal val="#ppt_x"/>
                                          </p:val>
                                        </p:tav>
                                        <p:tav tm="100000">
                                          <p:val>
                                            <p:strVal val="#ppt_x"/>
                                          </p:val>
                                        </p:tav>
                                      </p:tavLst>
                                    </p:anim>
                                    <p:anim calcmode="lin" valueType="num">
                                      <p:cBhvr additive="base">
                                        <p:cTn id="127" dur="500" fill="hold"/>
                                        <p:tgtEl>
                                          <p:spTgt spid="40"/>
                                        </p:tgtEl>
                                        <p:attrNameLst>
                                          <p:attrName>ppt_y</p:attrName>
                                        </p:attrNameLst>
                                      </p:cBhvr>
                                      <p:tavLst>
                                        <p:tav tm="0">
                                          <p:val>
                                            <p:strVal val="#ppt_y+0.1"/>
                                          </p:val>
                                        </p:tav>
                                        <p:tav tm="100000">
                                          <p:val>
                                            <p:strVal val="#ppt_y"/>
                                          </p:val>
                                        </p:tav>
                                      </p:tavLst>
                                    </p:anim>
                                    <p:animEffect transition="in" filter="fade">
                                      <p:cBhvr>
                                        <p:cTn id="128" dur="500"/>
                                        <p:tgtEl>
                                          <p:spTgt spid="40"/>
                                        </p:tgtEl>
                                      </p:cBhvr>
                                    </p:animEffect>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grpId="0" nodeType="clickEffect">
                                  <p:stCondLst>
                                    <p:cond delay="0"/>
                                  </p:stCondLst>
                                  <p:childTnLst>
                                    <p:set>
                                      <p:cBhvr>
                                        <p:cTn id="132" dur="1" fill="hold">
                                          <p:stCondLst>
                                            <p:cond delay="0"/>
                                          </p:stCondLst>
                                        </p:cTn>
                                        <p:tgtEl>
                                          <p:spTgt spid="36"/>
                                        </p:tgtEl>
                                        <p:attrNameLst>
                                          <p:attrName>style.visibility</p:attrName>
                                        </p:attrNameLst>
                                      </p:cBhvr>
                                      <p:to>
                                        <p:strVal val="visible"/>
                                      </p:to>
                                    </p:set>
                                    <p:anim calcmode="lin" valueType="num">
                                      <p:cBhvr additive="base">
                                        <p:cTn id="133" dur="500" fill="hold"/>
                                        <p:tgtEl>
                                          <p:spTgt spid="36"/>
                                        </p:tgtEl>
                                        <p:attrNameLst>
                                          <p:attrName>ppt_x</p:attrName>
                                        </p:attrNameLst>
                                      </p:cBhvr>
                                      <p:tavLst>
                                        <p:tav tm="0">
                                          <p:val>
                                            <p:strVal val="#ppt_x"/>
                                          </p:val>
                                        </p:tav>
                                        <p:tav tm="100000">
                                          <p:val>
                                            <p:strVal val="#ppt_x"/>
                                          </p:val>
                                        </p:tav>
                                      </p:tavLst>
                                    </p:anim>
                                    <p:anim calcmode="lin" valueType="num">
                                      <p:cBhvr additive="base">
                                        <p:cTn id="134" dur="500" fill="hold"/>
                                        <p:tgtEl>
                                          <p:spTgt spid="36"/>
                                        </p:tgtEl>
                                        <p:attrNameLst>
                                          <p:attrName>ppt_y</p:attrName>
                                        </p:attrNameLst>
                                      </p:cBhvr>
                                      <p:tavLst>
                                        <p:tav tm="0">
                                          <p:val>
                                            <p:strVal val="#ppt_y+0.1"/>
                                          </p:val>
                                        </p:tav>
                                        <p:tav tm="100000">
                                          <p:val>
                                            <p:strVal val="#ppt_y"/>
                                          </p:val>
                                        </p:tav>
                                      </p:tavLst>
                                    </p:anim>
                                    <p:animEffect transition="in" filter="fade">
                                      <p:cBhvr>
                                        <p:cTn id="135" dur="500"/>
                                        <p:tgtEl>
                                          <p:spTgt spid="36"/>
                                        </p:tgtEl>
                                      </p:cBhvr>
                                    </p:animEffect>
                                  </p:childTnLst>
                                </p:cTn>
                              </p:par>
                              <p:par>
                                <p:cTn id="136" presetID="2" presetClass="entr" presetSubtype="4" fill="hold" grpId="0" nodeType="withEffect">
                                  <p:stCondLst>
                                    <p:cond delay="0"/>
                                  </p:stCondLst>
                                  <p:childTnLst>
                                    <p:set>
                                      <p:cBhvr>
                                        <p:cTn id="137" dur="1" fill="hold">
                                          <p:stCondLst>
                                            <p:cond delay="0"/>
                                          </p:stCondLst>
                                        </p:cTn>
                                        <p:tgtEl>
                                          <p:spTgt spid="41"/>
                                        </p:tgtEl>
                                        <p:attrNameLst>
                                          <p:attrName>style.visibility</p:attrName>
                                        </p:attrNameLst>
                                      </p:cBhvr>
                                      <p:to>
                                        <p:strVal val="visible"/>
                                      </p:to>
                                    </p:set>
                                    <p:anim calcmode="lin" valueType="num">
                                      <p:cBhvr additive="base">
                                        <p:cTn id="138" dur="500" fill="hold"/>
                                        <p:tgtEl>
                                          <p:spTgt spid="41"/>
                                        </p:tgtEl>
                                        <p:attrNameLst>
                                          <p:attrName>ppt_x</p:attrName>
                                        </p:attrNameLst>
                                      </p:cBhvr>
                                      <p:tavLst>
                                        <p:tav tm="0">
                                          <p:val>
                                            <p:strVal val="#ppt_x"/>
                                          </p:val>
                                        </p:tav>
                                        <p:tav tm="100000">
                                          <p:val>
                                            <p:strVal val="#ppt_x"/>
                                          </p:val>
                                        </p:tav>
                                      </p:tavLst>
                                    </p:anim>
                                    <p:anim calcmode="lin" valueType="num">
                                      <p:cBhvr additive="base">
                                        <p:cTn id="139" dur="500" fill="hold"/>
                                        <p:tgtEl>
                                          <p:spTgt spid="41"/>
                                        </p:tgtEl>
                                        <p:attrNameLst>
                                          <p:attrName>ppt_y</p:attrName>
                                        </p:attrNameLst>
                                      </p:cBhvr>
                                      <p:tavLst>
                                        <p:tav tm="0">
                                          <p:val>
                                            <p:strVal val="#ppt_y+0.1"/>
                                          </p:val>
                                        </p:tav>
                                        <p:tav tm="100000">
                                          <p:val>
                                            <p:strVal val="#ppt_y"/>
                                          </p:val>
                                        </p:tav>
                                      </p:tavLst>
                                    </p:anim>
                                    <p:animEffect transition="in" filter="fade">
                                      <p:cBhvr>
                                        <p:cTn id="140" dur="500"/>
                                        <p:tgtEl>
                                          <p:spTgt spid="41"/>
                                        </p:tgtEl>
                                      </p:cBhvr>
                                    </p:animEffect>
                                  </p:childTnLst>
                                </p:cTn>
                              </p:par>
                              <p:par>
                                <p:cTn id="141" presetID="2" presetClass="entr" presetSubtype="4" fill="hold" grpId="0" nodeType="withEffect">
                                  <p:stCondLst>
                                    <p:cond delay="0"/>
                                  </p:stCondLst>
                                  <p:childTnLst>
                                    <p:set>
                                      <p:cBhvr>
                                        <p:cTn id="142" dur="1" fill="hold">
                                          <p:stCondLst>
                                            <p:cond delay="0"/>
                                          </p:stCondLst>
                                        </p:cTn>
                                        <p:tgtEl>
                                          <p:spTgt spid="42"/>
                                        </p:tgtEl>
                                        <p:attrNameLst>
                                          <p:attrName>style.visibility</p:attrName>
                                        </p:attrNameLst>
                                      </p:cBhvr>
                                      <p:to>
                                        <p:strVal val="visible"/>
                                      </p:to>
                                    </p:set>
                                    <p:anim calcmode="lin" valueType="num">
                                      <p:cBhvr additive="base">
                                        <p:cTn id="143" dur="500" fill="hold"/>
                                        <p:tgtEl>
                                          <p:spTgt spid="42"/>
                                        </p:tgtEl>
                                        <p:attrNameLst>
                                          <p:attrName>ppt_x</p:attrName>
                                        </p:attrNameLst>
                                      </p:cBhvr>
                                      <p:tavLst>
                                        <p:tav tm="0">
                                          <p:val>
                                            <p:strVal val="#ppt_x"/>
                                          </p:val>
                                        </p:tav>
                                        <p:tav tm="100000">
                                          <p:val>
                                            <p:strVal val="#ppt_x"/>
                                          </p:val>
                                        </p:tav>
                                      </p:tavLst>
                                    </p:anim>
                                    <p:anim calcmode="lin" valueType="num">
                                      <p:cBhvr additive="base">
                                        <p:cTn id="144" dur="500" fill="hold"/>
                                        <p:tgtEl>
                                          <p:spTgt spid="42"/>
                                        </p:tgtEl>
                                        <p:attrNameLst>
                                          <p:attrName>ppt_y</p:attrName>
                                        </p:attrNameLst>
                                      </p:cBhvr>
                                      <p:tavLst>
                                        <p:tav tm="0">
                                          <p:val>
                                            <p:strVal val="#ppt_y+0.1"/>
                                          </p:val>
                                        </p:tav>
                                        <p:tav tm="100000">
                                          <p:val>
                                            <p:strVal val="#ppt_y"/>
                                          </p:val>
                                        </p:tav>
                                      </p:tavLst>
                                    </p:anim>
                                    <p:animEffect transition="in" filter="fade">
                                      <p:cBhvr>
                                        <p:cTn id="145" dur="500"/>
                                        <p:tgtEl>
                                          <p:spTgt spid="42"/>
                                        </p:tgtEl>
                                      </p:cBhvr>
                                    </p:animEffect>
                                  </p:childTnLst>
                                </p:cTn>
                              </p:par>
                            </p:childTnLst>
                          </p:cTn>
                        </p:par>
                      </p:childTnLst>
                    </p:cTn>
                  </p:par>
                  <p:par>
                    <p:cTn id="146" fill="hold">
                      <p:stCondLst>
                        <p:cond delay="indefinite"/>
                      </p:stCondLst>
                      <p:childTnLst>
                        <p:par>
                          <p:cTn id="147" fill="hold">
                            <p:stCondLst>
                              <p:cond delay="0"/>
                            </p:stCondLst>
                            <p:childTnLst>
                              <p:par>
                                <p:cTn id="148" presetID="2" presetClass="entr" presetSubtype="4" fill="hold" grpId="0" nodeType="clickEffect">
                                  <p:stCondLst>
                                    <p:cond delay="0"/>
                                  </p:stCondLst>
                                  <p:childTnLst>
                                    <p:set>
                                      <p:cBhvr>
                                        <p:cTn id="149" dur="1" fill="hold">
                                          <p:stCondLst>
                                            <p:cond delay="0"/>
                                          </p:stCondLst>
                                        </p:cTn>
                                        <p:tgtEl>
                                          <p:spTgt spid="43"/>
                                        </p:tgtEl>
                                        <p:attrNameLst>
                                          <p:attrName>style.visibility</p:attrName>
                                        </p:attrNameLst>
                                      </p:cBhvr>
                                      <p:to>
                                        <p:strVal val="visible"/>
                                      </p:to>
                                    </p:set>
                                    <p:anim calcmode="lin" valueType="num">
                                      <p:cBhvr additive="base">
                                        <p:cTn id="150" dur="500" fill="hold"/>
                                        <p:tgtEl>
                                          <p:spTgt spid="43"/>
                                        </p:tgtEl>
                                        <p:attrNameLst>
                                          <p:attrName>ppt_x</p:attrName>
                                        </p:attrNameLst>
                                      </p:cBhvr>
                                      <p:tavLst>
                                        <p:tav tm="0">
                                          <p:val>
                                            <p:strVal val="#ppt_x"/>
                                          </p:val>
                                        </p:tav>
                                        <p:tav tm="100000">
                                          <p:val>
                                            <p:strVal val="#ppt_x"/>
                                          </p:val>
                                        </p:tav>
                                      </p:tavLst>
                                    </p:anim>
                                    <p:anim calcmode="lin" valueType="num">
                                      <p:cBhvr additive="base">
                                        <p:cTn id="151" dur="500" fill="hold"/>
                                        <p:tgtEl>
                                          <p:spTgt spid="43"/>
                                        </p:tgtEl>
                                        <p:attrNameLst>
                                          <p:attrName>ppt_y</p:attrName>
                                        </p:attrNameLst>
                                      </p:cBhvr>
                                      <p:tavLst>
                                        <p:tav tm="0">
                                          <p:val>
                                            <p:strVal val="#ppt_y+0.1"/>
                                          </p:val>
                                        </p:tav>
                                        <p:tav tm="100000">
                                          <p:val>
                                            <p:strVal val="#ppt_y"/>
                                          </p:val>
                                        </p:tav>
                                      </p:tavLst>
                                    </p:anim>
                                    <p:animEffect transition="in" filter="fade">
                                      <p:cBhvr>
                                        <p:cTn id="152" dur="500"/>
                                        <p:tgtEl>
                                          <p:spTgt spid="43"/>
                                        </p:tgtEl>
                                      </p:cBhvr>
                                    </p:animEffect>
                                  </p:childTnLst>
                                </p:cTn>
                              </p:par>
                              <p:par>
                                <p:cTn id="153" presetID="2" presetClass="entr" presetSubtype="4" fill="hold" grpId="0" nodeType="withEffect">
                                  <p:stCondLst>
                                    <p:cond delay="0"/>
                                  </p:stCondLst>
                                  <p:childTnLst>
                                    <p:set>
                                      <p:cBhvr>
                                        <p:cTn id="154" dur="1" fill="hold">
                                          <p:stCondLst>
                                            <p:cond delay="0"/>
                                          </p:stCondLst>
                                        </p:cTn>
                                        <p:tgtEl>
                                          <p:spTgt spid="44"/>
                                        </p:tgtEl>
                                        <p:attrNameLst>
                                          <p:attrName>style.visibility</p:attrName>
                                        </p:attrNameLst>
                                      </p:cBhvr>
                                      <p:to>
                                        <p:strVal val="visible"/>
                                      </p:to>
                                    </p:set>
                                    <p:anim calcmode="lin" valueType="num">
                                      <p:cBhvr additive="base">
                                        <p:cTn id="155" dur="500" fill="hold"/>
                                        <p:tgtEl>
                                          <p:spTgt spid="44"/>
                                        </p:tgtEl>
                                        <p:attrNameLst>
                                          <p:attrName>ppt_x</p:attrName>
                                        </p:attrNameLst>
                                      </p:cBhvr>
                                      <p:tavLst>
                                        <p:tav tm="0">
                                          <p:val>
                                            <p:strVal val="#ppt_x"/>
                                          </p:val>
                                        </p:tav>
                                        <p:tav tm="100000">
                                          <p:val>
                                            <p:strVal val="#ppt_x"/>
                                          </p:val>
                                        </p:tav>
                                      </p:tavLst>
                                    </p:anim>
                                    <p:anim calcmode="lin" valueType="num">
                                      <p:cBhvr additive="base">
                                        <p:cTn id="156" dur="500" fill="hold"/>
                                        <p:tgtEl>
                                          <p:spTgt spid="44"/>
                                        </p:tgtEl>
                                        <p:attrNameLst>
                                          <p:attrName>ppt_y</p:attrName>
                                        </p:attrNameLst>
                                      </p:cBhvr>
                                      <p:tavLst>
                                        <p:tav tm="0">
                                          <p:val>
                                            <p:strVal val="#ppt_y+0.1"/>
                                          </p:val>
                                        </p:tav>
                                        <p:tav tm="100000">
                                          <p:val>
                                            <p:strVal val="#ppt_y"/>
                                          </p:val>
                                        </p:tav>
                                      </p:tavLst>
                                    </p:anim>
                                    <p:animEffect transition="in" filter="fade">
                                      <p:cBhvr>
                                        <p:cTn id="157" dur="500"/>
                                        <p:tgtEl>
                                          <p:spTgt spid="44"/>
                                        </p:tgtEl>
                                      </p:cBhvr>
                                    </p:animEffect>
                                  </p:childTnLst>
                                </p:cTn>
                              </p:par>
                            </p:childTnLst>
                          </p:cTn>
                        </p:par>
                      </p:childTnLst>
                    </p:cTn>
                  </p:par>
                  <p:par>
                    <p:cTn id="158" fill="hold">
                      <p:stCondLst>
                        <p:cond delay="indefinite"/>
                      </p:stCondLst>
                      <p:childTnLst>
                        <p:par>
                          <p:cTn id="159" fill="hold">
                            <p:stCondLst>
                              <p:cond delay="0"/>
                            </p:stCondLst>
                            <p:childTnLst>
                              <p:par>
                                <p:cTn id="160" presetID="2" presetClass="entr" presetSubtype="4" fill="hold" grpId="0" nodeType="clickEffect">
                                  <p:stCondLst>
                                    <p:cond delay="0"/>
                                  </p:stCondLst>
                                  <p:childTnLst>
                                    <p:set>
                                      <p:cBhvr>
                                        <p:cTn id="161" dur="1" fill="hold">
                                          <p:stCondLst>
                                            <p:cond delay="0"/>
                                          </p:stCondLst>
                                        </p:cTn>
                                        <p:tgtEl>
                                          <p:spTgt spid="45"/>
                                        </p:tgtEl>
                                        <p:attrNameLst>
                                          <p:attrName>style.visibility</p:attrName>
                                        </p:attrNameLst>
                                      </p:cBhvr>
                                      <p:to>
                                        <p:strVal val="visible"/>
                                      </p:to>
                                    </p:set>
                                    <p:anim calcmode="lin" valueType="num">
                                      <p:cBhvr additive="base">
                                        <p:cTn id="162" dur="500" fill="hold"/>
                                        <p:tgtEl>
                                          <p:spTgt spid="45"/>
                                        </p:tgtEl>
                                        <p:attrNameLst>
                                          <p:attrName>ppt_x</p:attrName>
                                        </p:attrNameLst>
                                      </p:cBhvr>
                                      <p:tavLst>
                                        <p:tav tm="0">
                                          <p:val>
                                            <p:strVal val="#ppt_x"/>
                                          </p:val>
                                        </p:tav>
                                        <p:tav tm="100000">
                                          <p:val>
                                            <p:strVal val="#ppt_x"/>
                                          </p:val>
                                        </p:tav>
                                      </p:tavLst>
                                    </p:anim>
                                    <p:anim calcmode="lin" valueType="num">
                                      <p:cBhvr additive="base">
                                        <p:cTn id="163" dur="500" fill="hold"/>
                                        <p:tgtEl>
                                          <p:spTgt spid="45"/>
                                        </p:tgtEl>
                                        <p:attrNameLst>
                                          <p:attrName>ppt_y</p:attrName>
                                        </p:attrNameLst>
                                      </p:cBhvr>
                                      <p:tavLst>
                                        <p:tav tm="0">
                                          <p:val>
                                            <p:strVal val="#ppt_y+0.1"/>
                                          </p:val>
                                        </p:tav>
                                        <p:tav tm="100000">
                                          <p:val>
                                            <p:strVal val="#ppt_y"/>
                                          </p:val>
                                        </p:tav>
                                      </p:tavLst>
                                    </p:anim>
                                    <p:animEffect transition="in" filter="fade">
                                      <p:cBhvr>
                                        <p:cTn id="164" dur="500"/>
                                        <p:tgtEl>
                                          <p:spTgt spid="45"/>
                                        </p:tgtEl>
                                      </p:cBhvr>
                                    </p:animEffect>
                                  </p:childTnLst>
                                </p:cTn>
                              </p:par>
                              <p:par>
                                <p:cTn id="165" presetID="2" presetClass="entr" presetSubtype="4" fill="hold" nodeType="withEffect">
                                  <p:stCondLst>
                                    <p:cond delay="0"/>
                                  </p:stCondLst>
                                  <p:childTnLst>
                                    <p:set>
                                      <p:cBhvr>
                                        <p:cTn id="166" dur="1" fill="hold">
                                          <p:stCondLst>
                                            <p:cond delay="0"/>
                                          </p:stCondLst>
                                        </p:cTn>
                                        <p:tgtEl>
                                          <p:spTgt spid="46"/>
                                        </p:tgtEl>
                                        <p:attrNameLst>
                                          <p:attrName>style.visibility</p:attrName>
                                        </p:attrNameLst>
                                      </p:cBhvr>
                                      <p:to>
                                        <p:strVal val="visible"/>
                                      </p:to>
                                    </p:set>
                                    <p:anim calcmode="lin" valueType="num">
                                      <p:cBhvr additive="base">
                                        <p:cTn id="167" dur="500" fill="hold"/>
                                        <p:tgtEl>
                                          <p:spTgt spid="46"/>
                                        </p:tgtEl>
                                        <p:attrNameLst>
                                          <p:attrName>ppt_x</p:attrName>
                                        </p:attrNameLst>
                                      </p:cBhvr>
                                      <p:tavLst>
                                        <p:tav tm="0">
                                          <p:val>
                                            <p:strVal val="#ppt_x"/>
                                          </p:val>
                                        </p:tav>
                                        <p:tav tm="100000">
                                          <p:val>
                                            <p:strVal val="#ppt_x"/>
                                          </p:val>
                                        </p:tav>
                                      </p:tavLst>
                                    </p:anim>
                                    <p:anim calcmode="lin" valueType="num">
                                      <p:cBhvr additive="base">
                                        <p:cTn id="168" dur="500" fill="hold"/>
                                        <p:tgtEl>
                                          <p:spTgt spid="46"/>
                                        </p:tgtEl>
                                        <p:attrNameLst>
                                          <p:attrName>ppt_y</p:attrName>
                                        </p:attrNameLst>
                                      </p:cBhvr>
                                      <p:tavLst>
                                        <p:tav tm="0">
                                          <p:val>
                                            <p:strVal val="#ppt_y+0.1"/>
                                          </p:val>
                                        </p:tav>
                                        <p:tav tm="100000">
                                          <p:val>
                                            <p:strVal val="#ppt_y"/>
                                          </p:val>
                                        </p:tav>
                                      </p:tavLst>
                                    </p:anim>
                                    <p:animEffect transition="in" filter="fade">
                                      <p:cBhvr>
                                        <p:cTn id="169" dur="500"/>
                                        <p:tgtEl>
                                          <p:spTgt spid="46"/>
                                        </p:tgtEl>
                                      </p:cBhvr>
                                    </p:animEffect>
                                  </p:childTnLst>
                                </p:cTn>
                              </p:par>
                              <p:par>
                                <p:cTn id="170" presetID="2" presetClass="entr" presetSubtype="4" fill="hold" grpId="0" nodeType="withEffect">
                                  <p:stCondLst>
                                    <p:cond delay="0"/>
                                  </p:stCondLst>
                                  <p:childTnLst>
                                    <p:set>
                                      <p:cBhvr>
                                        <p:cTn id="171" dur="1" fill="hold">
                                          <p:stCondLst>
                                            <p:cond delay="0"/>
                                          </p:stCondLst>
                                        </p:cTn>
                                        <p:tgtEl>
                                          <p:spTgt spid="47"/>
                                        </p:tgtEl>
                                        <p:attrNameLst>
                                          <p:attrName>style.visibility</p:attrName>
                                        </p:attrNameLst>
                                      </p:cBhvr>
                                      <p:to>
                                        <p:strVal val="visible"/>
                                      </p:to>
                                    </p:set>
                                    <p:anim calcmode="lin" valueType="num">
                                      <p:cBhvr additive="base">
                                        <p:cTn id="172" dur="500" fill="hold"/>
                                        <p:tgtEl>
                                          <p:spTgt spid="47"/>
                                        </p:tgtEl>
                                        <p:attrNameLst>
                                          <p:attrName>ppt_x</p:attrName>
                                        </p:attrNameLst>
                                      </p:cBhvr>
                                      <p:tavLst>
                                        <p:tav tm="0">
                                          <p:val>
                                            <p:strVal val="#ppt_x"/>
                                          </p:val>
                                        </p:tav>
                                        <p:tav tm="100000">
                                          <p:val>
                                            <p:strVal val="#ppt_x"/>
                                          </p:val>
                                        </p:tav>
                                      </p:tavLst>
                                    </p:anim>
                                    <p:anim calcmode="lin" valueType="num">
                                      <p:cBhvr additive="base">
                                        <p:cTn id="173" dur="500" fill="hold"/>
                                        <p:tgtEl>
                                          <p:spTgt spid="47"/>
                                        </p:tgtEl>
                                        <p:attrNameLst>
                                          <p:attrName>ppt_y</p:attrName>
                                        </p:attrNameLst>
                                      </p:cBhvr>
                                      <p:tavLst>
                                        <p:tav tm="0">
                                          <p:val>
                                            <p:strVal val="#ppt_y+0.1"/>
                                          </p:val>
                                        </p:tav>
                                        <p:tav tm="100000">
                                          <p:val>
                                            <p:strVal val="#ppt_y"/>
                                          </p:val>
                                        </p:tav>
                                      </p:tavLst>
                                    </p:anim>
                                    <p:animEffect transition="in" filter="fade">
                                      <p:cBhvr>
                                        <p:cTn id="174"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1"/>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Composite Keys</a:t>
            </a:r>
            <a:endParaRPr lang="en-US" sz="2800" dirty="0"/>
          </a:p>
        </p:txBody>
      </p:sp>
      <p:sp>
        <p:nvSpPr>
          <p:cNvPr id="3" name="Text 2"/>
          <p:cNvSpPr txBox="1"/>
          <p:nvPr/>
        </p:nvSpPr>
        <p:spPr>
          <a:xfrm>
            <a:off x="457200" y="749808"/>
            <a:ext cx="8229600" cy="320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When no single column is unique, the key spans several columns</a:t>
            </a:r>
            <a:endParaRPr lang="en-US" sz="1300" dirty="0"/>
          </a:p>
        </p:txBody>
      </p:sp>
      <p:sp>
        <p:nvSpPr>
          <p:cNvPr id="4" name="a1f_pkc3"/>
          <p:cNvSpPr txBox="1"/>
          <p:nvPr/>
        </p:nvSpPr>
        <p:spPr>
          <a:xfrm>
            <a:off x="457200" y="1188720"/>
            <a:ext cx="2926080" cy="256032"/>
          </a:xfrm>
          <a:prstGeom prst="roundRect">
            <a:avLst>
              <a:gd name="adj" fmla="val 50000"/>
            </a:avLst>
          </a:prstGeom>
          <a:solidFill>
            <a:srgbClr val="6D28D9"/>
          </a:solidFill>
          <a:ln w="12700">
            <a:solidFill>
              <a:srgbClr val="6D28D9"/>
            </a:solidFill>
            <a:prstDash val="solid"/>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PRIMARY KEY (loan_id, installment_no)</a:t>
            </a:r>
            <a:endParaRPr lang="en-US" sz="950" dirty="0"/>
          </a:p>
        </p:txBody>
      </p:sp>
      <p:sp>
        <p:nvSpPr>
          <p:cNvPr id="5" name="a1f_cell4"/>
          <p:cNvSpPr txBox="1"/>
          <p:nvPr/>
        </p:nvSpPr>
        <p:spPr>
          <a:xfrm>
            <a:off x="457200" y="1508760"/>
            <a:ext cx="731520" cy="274320"/>
          </a:xfrm>
          <a:prstGeom prst="rect">
            <a:avLst/>
          </a:prstGeom>
          <a:solidFill>
            <a:srgbClr val="6D28D9"/>
          </a:solidFill>
          <a:ln w="9525">
            <a:solidFill>
              <a:srgbClr val="6D28D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loan_id</a:t>
            </a:r>
            <a:endParaRPr lang="en-US" sz="1100" dirty="0"/>
          </a:p>
        </p:txBody>
      </p:sp>
      <p:sp>
        <p:nvSpPr>
          <p:cNvPr id="6" name="a1wd200_cell5"/>
          <p:cNvSpPr txBox="1"/>
          <p:nvPr/>
        </p:nvSpPr>
        <p:spPr>
          <a:xfrm>
            <a:off x="457200" y="1783080"/>
            <a:ext cx="73152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5003</a:t>
            </a:r>
            <a:endParaRPr lang="en-US" sz="1100" dirty="0"/>
          </a:p>
        </p:txBody>
      </p:sp>
      <p:sp>
        <p:nvSpPr>
          <p:cNvPr id="7" name="a1wd400_cell6"/>
          <p:cNvSpPr txBox="1"/>
          <p:nvPr/>
        </p:nvSpPr>
        <p:spPr>
          <a:xfrm>
            <a:off x="457200" y="2057400"/>
            <a:ext cx="73152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5003</a:t>
            </a:r>
            <a:endParaRPr lang="en-US" sz="1100" dirty="0"/>
          </a:p>
        </p:txBody>
      </p:sp>
      <p:sp>
        <p:nvSpPr>
          <p:cNvPr id="8" name="a1wd600_cell7"/>
          <p:cNvSpPr txBox="1"/>
          <p:nvPr/>
        </p:nvSpPr>
        <p:spPr>
          <a:xfrm>
            <a:off x="457200" y="2331720"/>
            <a:ext cx="73152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5003</a:t>
            </a:r>
            <a:endParaRPr lang="en-US" sz="1100" dirty="0"/>
          </a:p>
        </p:txBody>
      </p:sp>
      <p:sp>
        <p:nvSpPr>
          <p:cNvPr id="9" name="a1wd800_cell8"/>
          <p:cNvSpPr txBox="1"/>
          <p:nvPr/>
        </p:nvSpPr>
        <p:spPr>
          <a:xfrm>
            <a:off x="457200" y="2606040"/>
            <a:ext cx="73152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5004</a:t>
            </a:r>
            <a:endParaRPr lang="en-US" sz="1100" dirty="0"/>
          </a:p>
        </p:txBody>
      </p:sp>
      <p:sp>
        <p:nvSpPr>
          <p:cNvPr id="10" name="a1wd1000_cell9"/>
          <p:cNvSpPr txBox="1"/>
          <p:nvPr/>
        </p:nvSpPr>
        <p:spPr>
          <a:xfrm>
            <a:off x="457200" y="2880360"/>
            <a:ext cx="73152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5004</a:t>
            </a:r>
            <a:endParaRPr lang="en-US" sz="1100" dirty="0"/>
          </a:p>
        </p:txBody>
      </p:sp>
      <p:sp>
        <p:nvSpPr>
          <p:cNvPr id="11" name="a1f_cell10"/>
          <p:cNvSpPr txBox="1"/>
          <p:nvPr/>
        </p:nvSpPr>
        <p:spPr>
          <a:xfrm>
            <a:off x="1188720" y="1508760"/>
            <a:ext cx="1051560" cy="274320"/>
          </a:xfrm>
          <a:prstGeom prst="rect">
            <a:avLst/>
          </a:prstGeom>
          <a:solidFill>
            <a:srgbClr val="6D28D9"/>
          </a:solidFill>
          <a:ln w="9525">
            <a:solidFill>
              <a:srgbClr val="6D28D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installment_no</a:t>
            </a:r>
            <a:endParaRPr lang="en-US" sz="1100" dirty="0"/>
          </a:p>
        </p:txBody>
      </p:sp>
      <p:sp>
        <p:nvSpPr>
          <p:cNvPr id="12" name="a1wd200_cell11"/>
          <p:cNvSpPr txBox="1"/>
          <p:nvPr/>
        </p:nvSpPr>
        <p:spPr>
          <a:xfrm>
            <a:off x="1188720" y="1783080"/>
            <a:ext cx="105156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a:t>
            </a:r>
            <a:endParaRPr lang="en-US" sz="1100" dirty="0"/>
          </a:p>
        </p:txBody>
      </p:sp>
      <p:sp>
        <p:nvSpPr>
          <p:cNvPr id="13" name="a1wd400_cell12"/>
          <p:cNvSpPr txBox="1"/>
          <p:nvPr/>
        </p:nvSpPr>
        <p:spPr>
          <a:xfrm>
            <a:off x="1188720" y="2057400"/>
            <a:ext cx="105156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2</a:t>
            </a:r>
            <a:endParaRPr lang="en-US" sz="1100" dirty="0"/>
          </a:p>
        </p:txBody>
      </p:sp>
      <p:sp>
        <p:nvSpPr>
          <p:cNvPr id="14" name="a1wd600_cell13"/>
          <p:cNvSpPr txBox="1"/>
          <p:nvPr/>
        </p:nvSpPr>
        <p:spPr>
          <a:xfrm>
            <a:off x="1188720" y="2331720"/>
            <a:ext cx="105156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3</a:t>
            </a:r>
            <a:endParaRPr lang="en-US" sz="1100" dirty="0"/>
          </a:p>
        </p:txBody>
      </p:sp>
      <p:sp>
        <p:nvSpPr>
          <p:cNvPr id="15" name="a1wd800_cell14"/>
          <p:cNvSpPr txBox="1"/>
          <p:nvPr/>
        </p:nvSpPr>
        <p:spPr>
          <a:xfrm>
            <a:off x="1188720" y="2606040"/>
            <a:ext cx="105156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a:t>
            </a:r>
            <a:endParaRPr lang="en-US" sz="1100" dirty="0"/>
          </a:p>
        </p:txBody>
      </p:sp>
      <p:sp>
        <p:nvSpPr>
          <p:cNvPr id="16" name="a1wd1000_cell15"/>
          <p:cNvSpPr txBox="1"/>
          <p:nvPr/>
        </p:nvSpPr>
        <p:spPr>
          <a:xfrm>
            <a:off x="1188720" y="2880360"/>
            <a:ext cx="105156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2</a:t>
            </a:r>
            <a:endParaRPr lang="en-US" sz="1100" dirty="0"/>
          </a:p>
        </p:txBody>
      </p:sp>
      <p:sp>
        <p:nvSpPr>
          <p:cNvPr id="17" name="a1f_cell16"/>
          <p:cNvSpPr txBox="1"/>
          <p:nvPr/>
        </p:nvSpPr>
        <p:spPr>
          <a:xfrm>
            <a:off x="2240280" y="1508760"/>
            <a:ext cx="1005840" cy="274320"/>
          </a:xfrm>
          <a:prstGeom prst="rect">
            <a:avLst/>
          </a:prstGeom>
          <a:solidFill>
            <a:srgbClr val="475569"/>
          </a:solidFill>
          <a:ln w="9525">
            <a:solidFill>
              <a:srgbClr val="47556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due_date</a:t>
            </a:r>
            <a:endParaRPr lang="en-US" sz="1100" dirty="0"/>
          </a:p>
        </p:txBody>
      </p:sp>
      <p:sp>
        <p:nvSpPr>
          <p:cNvPr id="18" name="a1wd200_cell17"/>
          <p:cNvSpPr txBox="1"/>
          <p:nvPr/>
        </p:nvSpPr>
        <p:spPr>
          <a:xfrm>
            <a:off x="2240280" y="1783080"/>
            <a:ext cx="100584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2024-01-05</a:t>
            </a:r>
            <a:endParaRPr lang="en-US" sz="1100" dirty="0"/>
          </a:p>
        </p:txBody>
      </p:sp>
      <p:sp>
        <p:nvSpPr>
          <p:cNvPr id="19" name="a1wd400_cell18"/>
          <p:cNvSpPr txBox="1"/>
          <p:nvPr/>
        </p:nvSpPr>
        <p:spPr>
          <a:xfrm>
            <a:off x="2240280" y="2057400"/>
            <a:ext cx="100584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2024-02-05</a:t>
            </a:r>
            <a:endParaRPr lang="en-US" sz="1100" dirty="0"/>
          </a:p>
        </p:txBody>
      </p:sp>
      <p:sp>
        <p:nvSpPr>
          <p:cNvPr id="20" name="a1wd600_cell19"/>
          <p:cNvSpPr txBox="1"/>
          <p:nvPr/>
        </p:nvSpPr>
        <p:spPr>
          <a:xfrm>
            <a:off x="2240280" y="2331720"/>
            <a:ext cx="100584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2024-03-05</a:t>
            </a:r>
            <a:endParaRPr lang="en-US" sz="1100" dirty="0"/>
          </a:p>
        </p:txBody>
      </p:sp>
      <p:sp>
        <p:nvSpPr>
          <p:cNvPr id="21" name="a1wd800_cell20"/>
          <p:cNvSpPr txBox="1"/>
          <p:nvPr/>
        </p:nvSpPr>
        <p:spPr>
          <a:xfrm>
            <a:off x="2240280" y="2606040"/>
            <a:ext cx="100584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2024-01-10</a:t>
            </a:r>
            <a:endParaRPr lang="en-US" sz="1100" dirty="0"/>
          </a:p>
        </p:txBody>
      </p:sp>
      <p:sp>
        <p:nvSpPr>
          <p:cNvPr id="22" name="a1wd1000_cell21"/>
          <p:cNvSpPr txBox="1"/>
          <p:nvPr/>
        </p:nvSpPr>
        <p:spPr>
          <a:xfrm>
            <a:off x="2240280" y="2880360"/>
            <a:ext cx="100584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2024-02-10</a:t>
            </a:r>
            <a:endParaRPr lang="en-US" sz="1100" dirty="0"/>
          </a:p>
        </p:txBody>
      </p:sp>
      <p:sp>
        <p:nvSpPr>
          <p:cNvPr id="23" name="a1f_cell22"/>
          <p:cNvSpPr txBox="1"/>
          <p:nvPr/>
        </p:nvSpPr>
        <p:spPr>
          <a:xfrm>
            <a:off x="3246120" y="1508760"/>
            <a:ext cx="960120" cy="274320"/>
          </a:xfrm>
          <a:prstGeom prst="rect">
            <a:avLst/>
          </a:prstGeom>
          <a:solidFill>
            <a:srgbClr val="475569"/>
          </a:solidFill>
          <a:ln w="9525">
            <a:solidFill>
              <a:srgbClr val="47556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amount_due</a:t>
            </a:r>
            <a:endParaRPr lang="en-US" sz="1100" dirty="0"/>
          </a:p>
        </p:txBody>
      </p:sp>
      <p:sp>
        <p:nvSpPr>
          <p:cNvPr id="24" name="a1wd200_cell23"/>
          <p:cNvSpPr txBox="1"/>
          <p:nvPr/>
        </p:nvSpPr>
        <p:spPr>
          <a:xfrm>
            <a:off x="3246120" y="1783080"/>
            <a:ext cx="96012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18500.00</a:t>
            </a:r>
            <a:endParaRPr lang="en-US" sz="1100" dirty="0"/>
          </a:p>
        </p:txBody>
      </p:sp>
      <p:sp>
        <p:nvSpPr>
          <p:cNvPr id="25" name="a1wd400_cell24"/>
          <p:cNvSpPr txBox="1"/>
          <p:nvPr/>
        </p:nvSpPr>
        <p:spPr>
          <a:xfrm>
            <a:off x="3246120" y="2057400"/>
            <a:ext cx="96012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18500.00</a:t>
            </a:r>
            <a:endParaRPr lang="en-US" sz="1100" dirty="0"/>
          </a:p>
        </p:txBody>
      </p:sp>
      <p:sp>
        <p:nvSpPr>
          <p:cNvPr id="26" name="a1wd600_cell25"/>
          <p:cNvSpPr txBox="1"/>
          <p:nvPr/>
        </p:nvSpPr>
        <p:spPr>
          <a:xfrm>
            <a:off x="3246120" y="2331720"/>
            <a:ext cx="96012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18500.00</a:t>
            </a:r>
            <a:endParaRPr lang="en-US" sz="1100" dirty="0"/>
          </a:p>
        </p:txBody>
      </p:sp>
      <p:sp>
        <p:nvSpPr>
          <p:cNvPr id="27" name="a1wd800_cell26"/>
          <p:cNvSpPr txBox="1"/>
          <p:nvPr/>
        </p:nvSpPr>
        <p:spPr>
          <a:xfrm>
            <a:off x="3246120" y="2606040"/>
            <a:ext cx="96012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9200.00</a:t>
            </a:r>
            <a:endParaRPr lang="en-US" sz="1100" dirty="0"/>
          </a:p>
        </p:txBody>
      </p:sp>
      <p:sp>
        <p:nvSpPr>
          <p:cNvPr id="28" name="a1wd1000_cell27"/>
          <p:cNvSpPr txBox="1"/>
          <p:nvPr/>
        </p:nvSpPr>
        <p:spPr>
          <a:xfrm>
            <a:off x="3246120" y="2880360"/>
            <a:ext cx="96012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9200.00</a:t>
            </a:r>
            <a:endParaRPr lang="en-US" sz="1100" dirty="0"/>
          </a:p>
        </p:txBody>
      </p:sp>
      <p:sp>
        <p:nvSpPr>
          <p:cNvPr id="29" name="a2f_ka28"/>
          <p:cNvSpPr txBox="1"/>
          <p:nvPr/>
        </p:nvSpPr>
        <p:spPr>
          <a:xfrm>
            <a:off x="4572000" y="1508760"/>
            <a:ext cx="2423160" cy="365760"/>
          </a:xfrm>
          <a:prstGeom prst="rect">
            <a:avLst/>
          </a:prstGeom>
          <a:noFill/>
          <a:ln/>
        </p:spPr>
        <p:txBody>
          <a:bodyPr wrap="square" lIns="0" tIns="0" rIns="0" bIns="0" rtlCol="0" anchor="ctr"/>
          <a:lstStyle/>
          <a:p>
            <a:pPr marL="0" indent="0">
              <a:buNone/>
            </a:pPr>
            <a:r>
              <a:rPr lang="en-US" sz="1050" b="1" dirty="0">
                <a:solidFill>
                  <a:srgbClr val="0F172A"/>
                </a:solidFill>
                <a:latin typeface="Courier New" pitchFamily="34" charset="0"/>
                <a:ea typeface="Courier New" pitchFamily="34" charset="-122"/>
                <a:cs typeface="Courier New" pitchFamily="34" charset="-120"/>
              </a:rPr>
              <a:t>loan_id alone</a:t>
            </a:r>
            <a:endParaRPr lang="en-US" sz="1050" dirty="0"/>
          </a:p>
        </p:txBody>
      </p:sp>
      <p:sp>
        <p:nvSpPr>
          <p:cNvPr id="30" name="a2f_kb29"/>
          <p:cNvSpPr txBox="1"/>
          <p:nvPr/>
        </p:nvSpPr>
        <p:spPr>
          <a:xfrm>
            <a:off x="7040880" y="1508760"/>
            <a:ext cx="1691640" cy="365760"/>
          </a:xfrm>
          <a:prstGeom prst="rect">
            <a:avLst/>
          </a:prstGeom>
          <a:noFill/>
          <a:ln/>
        </p:spPr>
        <p:txBody>
          <a:bodyPr wrap="square" lIns="0" tIns="0" rIns="0" bIns="0" rtlCol="0" anchor="ctr"/>
          <a:lstStyle/>
          <a:p>
            <a:pPr marL="0" indent="0">
              <a:buNone/>
            </a:pPr>
            <a:r>
              <a:rPr lang="en-US" sz="1150" b="1" dirty="0">
                <a:solidFill>
                  <a:srgbClr val="DC2626"/>
                </a:solidFill>
                <a:latin typeface="Calibri" pitchFamily="34" charset="0"/>
                <a:ea typeface="Calibri" pitchFamily="34" charset="-122"/>
                <a:cs typeface="Calibri" pitchFamily="34" charset="-120"/>
              </a:rPr>
              <a:t>✘  5003 appears 3 times</a:t>
            </a:r>
            <a:endParaRPr lang="en-US" sz="1150" dirty="0"/>
          </a:p>
        </p:txBody>
      </p:sp>
      <p:sp>
        <p:nvSpPr>
          <p:cNvPr id="31" name="a3f_ka30"/>
          <p:cNvSpPr txBox="1"/>
          <p:nvPr/>
        </p:nvSpPr>
        <p:spPr>
          <a:xfrm>
            <a:off x="4572000" y="1920240"/>
            <a:ext cx="2423160" cy="365760"/>
          </a:xfrm>
          <a:prstGeom prst="rect">
            <a:avLst/>
          </a:prstGeom>
          <a:noFill/>
          <a:ln/>
        </p:spPr>
        <p:txBody>
          <a:bodyPr wrap="square" lIns="0" tIns="0" rIns="0" bIns="0" rtlCol="0" anchor="ctr"/>
          <a:lstStyle/>
          <a:p>
            <a:pPr marL="0" indent="0">
              <a:buNone/>
            </a:pPr>
            <a:r>
              <a:rPr lang="en-US" sz="1050" b="1" dirty="0">
                <a:solidFill>
                  <a:srgbClr val="0F172A"/>
                </a:solidFill>
                <a:latin typeface="Courier New" pitchFamily="34" charset="0"/>
                <a:ea typeface="Courier New" pitchFamily="34" charset="-122"/>
                <a:cs typeface="Courier New" pitchFamily="34" charset="-120"/>
              </a:rPr>
              <a:t>installment_no alone</a:t>
            </a:r>
            <a:endParaRPr lang="en-US" sz="1050" dirty="0"/>
          </a:p>
        </p:txBody>
      </p:sp>
      <p:sp>
        <p:nvSpPr>
          <p:cNvPr id="32" name="a3f_kb31"/>
          <p:cNvSpPr txBox="1"/>
          <p:nvPr/>
        </p:nvSpPr>
        <p:spPr>
          <a:xfrm>
            <a:off x="7040880" y="1920240"/>
            <a:ext cx="1691640" cy="365760"/>
          </a:xfrm>
          <a:prstGeom prst="rect">
            <a:avLst/>
          </a:prstGeom>
          <a:noFill/>
          <a:ln/>
        </p:spPr>
        <p:txBody>
          <a:bodyPr wrap="square" lIns="0" tIns="0" rIns="0" bIns="0" rtlCol="0" anchor="ctr"/>
          <a:lstStyle/>
          <a:p>
            <a:pPr marL="0" indent="0">
              <a:buNone/>
            </a:pPr>
            <a:r>
              <a:rPr lang="en-US" sz="1150" b="1" dirty="0">
                <a:solidFill>
                  <a:srgbClr val="DC2626"/>
                </a:solidFill>
                <a:latin typeface="Calibri" pitchFamily="34" charset="0"/>
                <a:ea typeface="Calibri" pitchFamily="34" charset="-122"/>
                <a:cs typeface="Calibri" pitchFamily="34" charset="-120"/>
              </a:rPr>
              <a:t>✘  1 appears twice</a:t>
            </a:r>
            <a:endParaRPr lang="en-US" sz="1150" dirty="0"/>
          </a:p>
        </p:txBody>
      </p:sp>
      <p:sp>
        <p:nvSpPr>
          <p:cNvPr id="33" name="a4f_ka32"/>
          <p:cNvSpPr txBox="1"/>
          <p:nvPr/>
        </p:nvSpPr>
        <p:spPr>
          <a:xfrm>
            <a:off x="4572000" y="2331720"/>
            <a:ext cx="2423160" cy="365760"/>
          </a:xfrm>
          <a:prstGeom prst="rect">
            <a:avLst/>
          </a:prstGeom>
          <a:noFill/>
          <a:ln/>
        </p:spPr>
        <p:txBody>
          <a:bodyPr wrap="square" lIns="0" tIns="0" rIns="0" bIns="0" rtlCol="0" anchor="ctr"/>
          <a:lstStyle/>
          <a:p>
            <a:pPr marL="0" indent="0">
              <a:buNone/>
            </a:pPr>
            <a:r>
              <a:rPr lang="en-US" sz="1050" b="1" dirty="0">
                <a:solidFill>
                  <a:srgbClr val="0F172A"/>
                </a:solidFill>
                <a:latin typeface="Courier New" pitchFamily="34" charset="0"/>
                <a:ea typeface="Courier New" pitchFamily="34" charset="-122"/>
                <a:cs typeface="Courier New" pitchFamily="34" charset="-120"/>
              </a:rPr>
              <a:t>(loan_id, installment_no)</a:t>
            </a:r>
            <a:endParaRPr lang="en-US" sz="1050" dirty="0"/>
          </a:p>
        </p:txBody>
      </p:sp>
      <p:sp>
        <p:nvSpPr>
          <p:cNvPr id="34" name="a4f_kb33"/>
          <p:cNvSpPr txBox="1"/>
          <p:nvPr/>
        </p:nvSpPr>
        <p:spPr>
          <a:xfrm>
            <a:off x="7040880" y="2331720"/>
            <a:ext cx="1691640" cy="365760"/>
          </a:xfrm>
          <a:prstGeom prst="rect">
            <a:avLst/>
          </a:prstGeom>
          <a:noFill/>
          <a:ln/>
        </p:spPr>
        <p:txBody>
          <a:bodyPr wrap="square" lIns="0" tIns="0" rIns="0" bIns="0" rtlCol="0" anchor="ctr"/>
          <a:lstStyle/>
          <a:p>
            <a:pPr marL="0" indent="0">
              <a:buNone/>
            </a:pPr>
            <a:r>
              <a:rPr lang="en-US" sz="1150" b="1" dirty="0">
                <a:solidFill>
                  <a:srgbClr val="16A34A"/>
                </a:solidFill>
                <a:latin typeface="Calibri" pitchFamily="34" charset="0"/>
                <a:ea typeface="Calibri" pitchFamily="34" charset="-122"/>
                <a:cs typeface="Calibri" pitchFamily="34" charset="-120"/>
              </a:rPr>
              <a:t>✔  unique on every row</a:t>
            </a:r>
            <a:endParaRPr lang="en-US" sz="1150" dirty="0"/>
          </a:p>
        </p:txBody>
      </p:sp>
      <p:sp>
        <p:nvSpPr>
          <p:cNvPr id="35" name="a5f_codebg34"/>
          <p:cNvSpPr/>
          <p:nvPr/>
        </p:nvSpPr>
        <p:spPr>
          <a:xfrm>
            <a:off x="4572000" y="2880360"/>
            <a:ext cx="4114800" cy="749808"/>
          </a:xfrm>
          <a:prstGeom prst="roundRect">
            <a:avLst>
              <a:gd name="adj" fmla="val 3150"/>
            </a:avLst>
          </a:prstGeom>
          <a:solidFill>
            <a:srgbClr val="1E293B"/>
          </a:solidFill>
          <a:ln w="12700">
            <a:solidFill>
              <a:srgbClr val="1E293B"/>
            </a:solidFill>
            <a:prstDash val="solid"/>
          </a:ln>
        </p:spPr>
      </p:sp>
      <p:sp>
        <p:nvSpPr>
          <p:cNvPr id="36" name="a5wd0_code35"/>
          <p:cNvSpPr txBox="1"/>
          <p:nvPr/>
        </p:nvSpPr>
        <p:spPr>
          <a:xfrm>
            <a:off x="4754880" y="3017520"/>
            <a:ext cx="3794760" cy="237744"/>
          </a:xfrm>
          <a:prstGeom prst="rect">
            <a:avLst/>
          </a:prstGeom>
          <a:noFill/>
          <a:ln/>
        </p:spPr>
        <p:txBody>
          <a:bodyPr wrap="square" lIns="0" tIns="0" rIns="0" bIns="0" rtlCol="0" anchor="ctr"/>
          <a:lstStyle/>
          <a:p>
            <a:pPr marL="0" indent="0">
              <a:buNone/>
            </a:pPr>
            <a:r>
              <a:rPr lang="en-US" sz="1100" b="1" dirty="0">
                <a:solidFill>
                  <a:srgbClr val="C4B5FD"/>
                </a:solidFill>
                <a:latin typeface="Courier New" pitchFamily="34" charset="0"/>
                <a:ea typeface="Courier New" pitchFamily="34" charset="-122"/>
                <a:cs typeface="Courier New" pitchFamily="34" charset="-120"/>
              </a:rPr>
              <a:t>CONSTRAINT</a:t>
            </a:r>
            <a:r>
              <a:rPr lang="en-US" sz="1100" dirty="0">
                <a:solidFill>
                  <a:srgbClr val="E2E8F0"/>
                </a:solidFill>
                <a:latin typeface="Courier New" pitchFamily="34" charset="0"/>
                <a:ea typeface="Courier New" pitchFamily="34" charset="-122"/>
                <a:cs typeface="Courier New" pitchFamily="34" charset="-120"/>
              </a:rPr>
              <a:t> pk_loan_payment</a:t>
            </a:r>
            <a:endParaRPr lang="en-US" sz="1100" dirty="0"/>
          </a:p>
        </p:txBody>
      </p:sp>
      <p:sp>
        <p:nvSpPr>
          <p:cNvPr id="37" name="a5wd150_code36"/>
          <p:cNvSpPr txBox="1"/>
          <p:nvPr/>
        </p:nvSpPr>
        <p:spPr>
          <a:xfrm>
            <a:off x="4754880" y="3255264"/>
            <a:ext cx="3794760" cy="237744"/>
          </a:xfrm>
          <a:prstGeom prst="rect">
            <a:avLst/>
          </a:prstGeom>
          <a:noFill/>
          <a:ln/>
        </p:spPr>
        <p:txBody>
          <a:bodyPr wrap="square" lIns="0" tIns="0" rIns="0" bIns="0" rtlCol="0" anchor="ctr"/>
          <a:lstStyle/>
          <a:p>
            <a:pPr marL="0" indent="0">
              <a:buNone/>
            </a:pPr>
            <a:r>
              <a:rPr lang="en-US" sz="1100" dirty="0">
                <a:solidFill>
                  <a:srgbClr val="E2E8F0"/>
                </a:solidFill>
                <a:latin typeface="Courier New" pitchFamily="34" charset="0"/>
                <a:ea typeface="Courier New" pitchFamily="34" charset="-122"/>
                <a:cs typeface="Courier New" pitchFamily="34" charset="-120"/>
              </a:rPr>
              <a:t>  </a:t>
            </a:r>
            <a:r>
              <a:rPr lang="en-US" sz="1100" b="1" dirty="0">
                <a:solidFill>
                  <a:srgbClr val="C4B5FD"/>
                </a:solidFill>
                <a:latin typeface="Courier New" pitchFamily="34" charset="0"/>
                <a:ea typeface="Courier New" pitchFamily="34" charset="-122"/>
                <a:cs typeface="Courier New" pitchFamily="34" charset="-120"/>
              </a:rPr>
              <a:t>PRIMARY</a:t>
            </a:r>
            <a:r>
              <a:rPr lang="en-US" sz="1100" dirty="0">
                <a:solidFill>
                  <a:srgbClr val="E2E8F0"/>
                </a:solidFill>
                <a:latin typeface="Courier New" pitchFamily="34" charset="0"/>
                <a:ea typeface="Courier New" pitchFamily="34" charset="-122"/>
                <a:cs typeface="Courier New" pitchFamily="34" charset="-120"/>
              </a:rPr>
              <a:t> </a:t>
            </a:r>
            <a:r>
              <a:rPr lang="en-US" sz="1100" b="1" dirty="0">
                <a:solidFill>
                  <a:srgbClr val="C4B5FD"/>
                </a:solidFill>
                <a:latin typeface="Courier New" pitchFamily="34" charset="0"/>
                <a:ea typeface="Courier New" pitchFamily="34" charset="-122"/>
                <a:cs typeface="Courier New" pitchFamily="34" charset="-120"/>
              </a:rPr>
              <a:t>KEY</a:t>
            </a:r>
            <a:r>
              <a:rPr lang="en-US" sz="1100" dirty="0">
                <a:solidFill>
                  <a:srgbClr val="E2E8F0"/>
                </a:solidFill>
                <a:latin typeface="Courier New" pitchFamily="34" charset="0"/>
                <a:ea typeface="Courier New" pitchFamily="34" charset="-122"/>
                <a:cs typeface="Courier New" pitchFamily="34" charset="-120"/>
              </a:rPr>
              <a:t> (loan_id, installment_no)</a:t>
            </a:r>
            <a:endParaRPr lang="en-US" sz="1100" dirty="0"/>
          </a:p>
        </p:txBody>
      </p:sp>
      <p:sp>
        <p:nvSpPr>
          <p:cNvPr id="38" name="a6u_nb37"/>
          <p:cNvSpPr/>
          <p:nvPr/>
        </p:nvSpPr>
        <p:spPr>
          <a:xfrm>
            <a:off x="457200" y="3337560"/>
            <a:ext cx="3840480" cy="1097280"/>
          </a:xfrm>
          <a:prstGeom prst="roundRect">
            <a:avLst>
              <a:gd name="adj" fmla="val 9412"/>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pic>
        <p:nvPicPr>
          <p:cNvPr id="39" name="a6u_ni38" descr="image.png"/>
          <p:cNvPicPr>
            <a:picLocks noChangeAspect="1"/>
          </p:cNvPicPr>
          <p:nvPr/>
        </p:nvPicPr>
        <p:blipFill>
          <a:blip r:embed="rId3"/>
          <a:stretch>
            <a:fillRect/>
          </a:stretch>
        </p:blipFill>
        <p:spPr>
          <a:xfrm>
            <a:off x="594360" y="3726180"/>
            <a:ext cx="320040" cy="320040"/>
          </a:xfrm>
          <a:prstGeom prst="rect">
            <a:avLst/>
          </a:prstGeom>
        </p:spPr>
      </p:pic>
      <p:sp>
        <p:nvSpPr>
          <p:cNvPr id="40" name="a6u_nt39"/>
          <p:cNvSpPr txBox="1"/>
          <p:nvPr/>
        </p:nvSpPr>
        <p:spPr>
          <a:xfrm>
            <a:off x="1005840" y="3337560"/>
            <a:ext cx="3154680" cy="1097280"/>
          </a:xfrm>
          <a:prstGeom prst="rect">
            <a:avLst/>
          </a:prstGeom>
          <a:noFill/>
          <a:ln/>
        </p:spPr>
        <p:txBody>
          <a:bodyPr wrap="square" lIns="0" tIns="0" rIns="0" bIns="0" rtlCol="0" anchor="ctr"/>
          <a:lstStyle/>
          <a:p>
            <a:pPr marL="0" indent="0">
              <a:buNone/>
            </a:pPr>
            <a:r>
              <a:rPr lang="en-US" sz="1200" b="1" dirty="0">
                <a:solidFill>
                  <a:srgbClr val="334155"/>
                </a:solidFill>
                <a:latin typeface="Calibri" pitchFamily="34" charset="0"/>
                <a:ea typeface="Calibri" pitchFamily="34" charset="-122"/>
                <a:cs typeface="Calibri" pitchFamily="34" charset="-120"/>
              </a:rPr>
              <a:t>A weak entity. </a:t>
            </a:r>
            <a:r>
              <a:rPr lang="en-US" sz="1200" dirty="0">
                <a:solidFill>
                  <a:srgbClr val="334155"/>
                </a:solidFill>
                <a:latin typeface="Calibri" pitchFamily="34" charset="0"/>
                <a:ea typeface="Calibri" pitchFamily="34" charset="-122"/>
                <a:cs typeface="Calibri" pitchFamily="34" charset="-120"/>
              </a:rPr>
              <a:t>Instalment 2 means nothing on its own — it is instalment 2 of loan 5003. Its key borrows the parent's key.</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22" presetClass="entr" presetSubtype="8" fill="hold" grpId="0" nodeType="withEffect">
                                  <p:stCondLst>
                                    <p:cond delay="20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par>
                                <p:cTn id="14" presetID="22" presetClass="entr" presetSubtype="8" fill="hold" grpId="0" nodeType="withEffect">
                                  <p:stCondLst>
                                    <p:cond delay="40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par>
                                <p:cTn id="17" presetID="22" presetClass="entr" presetSubtype="8" fill="hold" grpId="0" nodeType="withEffect">
                                  <p:stCondLst>
                                    <p:cond delay="60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par>
                                <p:cTn id="20" presetID="22" presetClass="entr" presetSubtype="8" fill="hold" grpId="0" nodeType="withEffect">
                                  <p:stCondLst>
                                    <p:cond delay="80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par>
                                <p:cTn id="23" presetID="22" presetClass="entr" presetSubtype="8" fill="hold" grpId="0" nodeType="withEffect">
                                  <p:stCondLst>
                                    <p:cond delay="100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22" presetClass="entr" presetSubtype="8" fill="hold" grpId="0" nodeType="withEffect">
                                  <p:stCondLst>
                                    <p:cond delay="20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500"/>
                                        <p:tgtEl>
                                          <p:spTgt spid="12"/>
                                        </p:tgtEl>
                                      </p:cBhvr>
                                    </p:animEffect>
                                  </p:childTnLst>
                                </p:cTn>
                              </p:par>
                              <p:par>
                                <p:cTn id="32" presetID="22" presetClass="entr" presetSubtype="8" fill="hold" grpId="0" nodeType="withEffect">
                                  <p:stCondLst>
                                    <p:cond delay="400"/>
                                  </p:stCondLst>
                                  <p:childTnLst>
                                    <p:set>
                                      <p:cBhvr>
                                        <p:cTn id="33" dur="1" fill="hold">
                                          <p:stCondLst>
                                            <p:cond delay="0"/>
                                          </p:stCondLst>
                                        </p:cTn>
                                        <p:tgtEl>
                                          <p:spTgt spid="13"/>
                                        </p:tgtEl>
                                        <p:attrNameLst>
                                          <p:attrName>style.visibility</p:attrName>
                                        </p:attrNameLst>
                                      </p:cBhvr>
                                      <p:to>
                                        <p:strVal val="visible"/>
                                      </p:to>
                                    </p:set>
                                    <p:animEffect transition="in" filter="wipe(left)">
                                      <p:cBhvr>
                                        <p:cTn id="34" dur="500"/>
                                        <p:tgtEl>
                                          <p:spTgt spid="13"/>
                                        </p:tgtEl>
                                      </p:cBhvr>
                                    </p:animEffect>
                                  </p:childTnLst>
                                </p:cTn>
                              </p:par>
                              <p:par>
                                <p:cTn id="35" presetID="22" presetClass="entr" presetSubtype="8" fill="hold" grpId="0" nodeType="withEffect">
                                  <p:stCondLst>
                                    <p:cond delay="600"/>
                                  </p:stCondLst>
                                  <p:childTnLst>
                                    <p:set>
                                      <p:cBhvr>
                                        <p:cTn id="36" dur="1" fill="hold">
                                          <p:stCondLst>
                                            <p:cond delay="0"/>
                                          </p:stCondLst>
                                        </p:cTn>
                                        <p:tgtEl>
                                          <p:spTgt spid="14"/>
                                        </p:tgtEl>
                                        <p:attrNameLst>
                                          <p:attrName>style.visibility</p:attrName>
                                        </p:attrNameLst>
                                      </p:cBhvr>
                                      <p:to>
                                        <p:strVal val="visible"/>
                                      </p:to>
                                    </p:set>
                                    <p:animEffect transition="in" filter="wipe(left)">
                                      <p:cBhvr>
                                        <p:cTn id="37" dur="500"/>
                                        <p:tgtEl>
                                          <p:spTgt spid="14"/>
                                        </p:tgtEl>
                                      </p:cBhvr>
                                    </p:animEffect>
                                  </p:childTnLst>
                                </p:cTn>
                              </p:par>
                              <p:par>
                                <p:cTn id="38" presetID="22" presetClass="entr" presetSubtype="8" fill="hold" grpId="0" nodeType="withEffect">
                                  <p:stCondLst>
                                    <p:cond delay="800"/>
                                  </p:stCondLst>
                                  <p:childTnLst>
                                    <p:set>
                                      <p:cBhvr>
                                        <p:cTn id="39" dur="1" fill="hold">
                                          <p:stCondLst>
                                            <p:cond delay="0"/>
                                          </p:stCondLst>
                                        </p:cTn>
                                        <p:tgtEl>
                                          <p:spTgt spid="15"/>
                                        </p:tgtEl>
                                        <p:attrNameLst>
                                          <p:attrName>style.visibility</p:attrName>
                                        </p:attrNameLst>
                                      </p:cBhvr>
                                      <p:to>
                                        <p:strVal val="visible"/>
                                      </p:to>
                                    </p:set>
                                    <p:animEffect transition="in" filter="wipe(left)">
                                      <p:cBhvr>
                                        <p:cTn id="40" dur="500"/>
                                        <p:tgtEl>
                                          <p:spTgt spid="15"/>
                                        </p:tgtEl>
                                      </p:cBhvr>
                                    </p:animEffect>
                                  </p:childTnLst>
                                </p:cTn>
                              </p:par>
                              <p:par>
                                <p:cTn id="41" presetID="22" presetClass="entr" presetSubtype="8" fill="hold" grpId="0" nodeType="withEffect">
                                  <p:stCondLst>
                                    <p:cond delay="1000"/>
                                  </p:stCondLst>
                                  <p:childTnLst>
                                    <p:set>
                                      <p:cBhvr>
                                        <p:cTn id="42" dur="1" fill="hold">
                                          <p:stCondLst>
                                            <p:cond delay="0"/>
                                          </p:stCondLst>
                                        </p:cTn>
                                        <p:tgtEl>
                                          <p:spTgt spid="16"/>
                                        </p:tgtEl>
                                        <p:attrNameLst>
                                          <p:attrName>style.visibility</p:attrName>
                                        </p:attrNameLst>
                                      </p:cBhvr>
                                      <p:to>
                                        <p:strVal val="visible"/>
                                      </p:to>
                                    </p:set>
                                    <p:animEffect transition="in" filter="wipe(left)">
                                      <p:cBhvr>
                                        <p:cTn id="43" dur="50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par>
                                <p:cTn id="47" presetID="22" presetClass="entr" presetSubtype="8" fill="hold" grpId="0" nodeType="withEffect">
                                  <p:stCondLst>
                                    <p:cond delay="200"/>
                                  </p:stCondLst>
                                  <p:childTnLst>
                                    <p:set>
                                      <p:cBhvr>
                                        <p:cTn id="48" dur="1" fill="hold">
                                          <p:stCondLst>
                                            <p:cond delay="0"/>
                                          </p:stCondLst>
                                        </p:cTn>
                                        <p:tgtEl>
                                          <p:spTgt spid="18"/>
                                        </p:tgtEl>
                                        <p:attrNameLst>
                                          <p:attrName>style.visibility</p:attrName>
                                        </p:attrNameLst>
                                      </p:cBhvr>
                                      <p:to>
                                        <p:strVal val="visible"/>
                                      </p:to>
                                    </p:set>
                                    <p:animEffect transition="in" filter="wipe(left)">
                                      <p:cBhvr>
                                        <p:cTn id="49" dur="500"/>
                                        <p:tgtEl>
                                          <p:spTgt spid="18"/>
                                        </p:tgtEl>
                                      </p:cBhvr>
                                    </p:animEffect>
                                  </p:childTnLst>
                                </p:cTn>
                              </p:par>
                              <p:par>
                                <p:cTn id="50" presetID="22" presetClass="entr" presetSubtype="8" fill="hold" grpId="0" nodeType="withEffect">
                                  <p:stCondLst>
                                    <p:cond delay="400"/>
                                  </p:stCondLst>
                                  <p:childTnLst>
                                    <p:set>
                                      <p:cBhvr>
                                        <p:cTn id="51" dur="1" fill="hold">
                                          <p:stCondLst>
                                            <p:cond delay="0"/>
                                          </p:stCondLst>
                                        </p:cTn>
                                        <p:tgtEl>
                                          <p:spTgt spid="19"/>
                                        </p:tgtEl>
                                        <p:attrNameLst>
                                          <p:attrName>style.visibility</p:attrName>
                                        </p:attrNameLst>
                                      </p:cBhvr>
                                      <p:to>
                                        <p:strVal val="visible"/>
                                      </p:to>
                                    </p:set>
                                    <p:animEffect transition="in" filter="wipe(left)">
                                      <p:cBhvr>
                                        <p:cTn id="52" dur="500"/>
                                        <p:tgtEl>
                                          <p:spTgt spid="19"/>
                                        </p:tgtEl>
                                      </p:cBhvr>
                                    </p:animEffect>
                                  </p:childTnLst>
                                </p:cTn>
                              </p:par>
                              <p:par>
                                <p:cTn id="53" presetID="22" presetClass="entr" presetSubtype="8" fill="hold" grpId="0" nodeType="withEffect">
                                  <p:stCondLst>
                                    <p:cond delay="600"/>
                                  </p:stCondLst>
                                  <p:childTnLst>
                                    <p:set>
                                      <p:cBhvr>
                                        <p:cTn id="54" dur="1" fill="hold">
                                          <p:stCondLst>
                                            <p:cond delay="0"/>
                                          </p:stCondLst>
                                        </p:cTn>
                                        <p:tgtEl>
                                          <p:spTgt spid="20"/>
                                        </p:tgtEl>
                                        <p:attrNameLst>
                                          <p:attrName>style.visibility</p:attrName>
                                        </p:attrNameLst>
                                      </p:cBhvr>
                                      <p:to>
                                        <p:strVal val="visible"/>
                                      </p:to>
                                    </p:set>
                                    <p:animEffect transition="in" filter="wipe(left)">
                                      <p:cBhvr>
                                        <p:cTn id="55" dur="500"/>
                                        <p:tgtEl>
                                          <p:spTgt spid="20"/>
                                        </p:tgtEl>
                                      </p:cBhvr>
                                    </p:animEffect>
                                  </p:childTnLst>
                                </p:cTn>
                              </p:par>
                              <p:par>
                                <p:cTn id="56" presetID="22" presetClass="entr" presetSubtype="8" fill="hold" grpId="0" nodeType="withEffect">
                                  <p:stCondLst>
                                    <p:cond delay="800"/>
                                  </p:stCondLst>
                                  <p:childTnLst>
                                    <p:set>
                                      <p:cBhvr>
                                        <p:cTn id="57" dur="1" fill="hold">
                                          <p:stCondLst>
                                            <p:cond delay="0"/>
                                          </p:stCondLst>
                                        </p:cTn>
                                        <p:tgtEl>
                                          <p:spTgt spid="21"/>
                                        </p:tgtEl>
                                        <p:attrNameLst>
                                          <p:attrName>style.visibility</p:attrName>
                                        </p:attrNameLst>
                                      </p:cBhvr>
                                      <p:to>
                                        <p:strVal val="visible"/>
                                      </p:to>
                                    </p:set>
                                    <p:animEffect transition="in" filter="wipe(left)">
                                      <p:cBhvr>
                                        <p:cTn id="58" dur="500"/>
                                        <p:tgtEl>
                                          <p:spTgt spid="21"/>
                                        </p:tgtEl>
                                      </p:cBhvr>
                                    </p:animEffect>
                                  </p:childTnLst>
                                </p:cTn>
                              </p:par>
                              <p:par>
                                <p:cTn id="59" presetID="22" presetClass="entr" presetSubtype="8" fill="hold" grpId="0" nodeType="withEffect">
                                  <p:stCondLst>
                                    <p:cond delay="1000"/>
                                  </p:stCondLst>
                                  <p:childTnLst>
                                    <p:set>
                                      <p:cBhvr>
                                        <p:cTn id="60" dur="1" fill="hold">
                                          <p:stCondLst>
                                            <p:cond delay="0"/>
                                          </p:stCondLst>
                                        </p:cTn>
                                        <p:tgtEl>
                                          <p:spTgt spid="22"/>
                                        </p:tgtEl>
                                        <p:attrNameLst>
                                          <p:attrName>style.visibility</p:attrName>
                                        </p:attrNameLst>
                                      </p:cBhvr>
                                      <p:to>
                                        <p:strVal val="visible"/>
                                      </p:to>
                                    </p:set>
                                    <p:animEffect transition="in" filter="wipe(left)">
                                      <p:cBhvr>
                                        <p:cTn id="61" dur="500"/>
                                        <p:tgtEl>
                                          <p:spTgt spid="2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500"/>
                                        <p:tgtEl>
                                          <p:spTgt spid="23"/>
                                        </p:tgtEl>
                                      </p:cBhvr>
                                    </p:animEffect>
                                  </p:childTnLst>
                                </p:cTn>
                              </p:par>
                              <p:par>
                                <p:cTn id="65" presetID="22" presetClass="entr" presetSubtype="8" fill="hold" grpId="0" nodeType="withEffect">
                                  <p:stCondLst>
                                    <p:cond delay="200"/>
                                  </p:stCondLst>
                                  <p:childTnLst>
                                    <p:set>
                                      <p:cBhvr>
                                        <p:cTn id="66" dur="1" fill="hold">
                                          <p:stCondLst>
                                            <p:cond delay="0"/>
                                          </p:stCondLst>
                                        </p:cTn>
                                        <p:tgtEl>
                                          <p:spTgt spid="24"/>
                                        </p:tgtEl>
                                        <p:attrNameLst>
                                          <p:attrName>style.visibility</p:attrName>
                                        </p:attrNameLst>
                                      </p:cBhvr>
                                      <p:to>
                                        <p:strVal val="visible"/>
                                      </p:to>
                                    </p:set>
                                    <p:animEffect transition="in" filter="wipe(left)">
                                      <p:cBhvr>
                                        <p:cTn id="67" dur="500"/>
                                        <p:tgtEl>
                                          <p:spTgt spid="24"/>
                                        </p:tgtEl>
                                      </p:cBhvr>
                                    </p:animEffect>
                                  </p:childTnLst>
                                </p:cTn>
                              </p:par>
                              <p:par>
                                <p:cTn id="68" presetID="22" presetClass="entr" presetSubtype="8" fill="hold" grpId="0" nodeType="withEffect">
                                  <p:stCondLst>
                                    <p:cond delay="400"/>
                                  </p:stCondLst>
                                  <p:childTnLst>
                                    <p:set>
                                      <p:cBhvr>
                                        <p:cTn id="69" dur="1" fill="hold">
                                          <p:stCondLst>
                                            <p:cond delay="0"/>
                                          </p:stCondLst>
                                        </p:cTn>
                                        <p:tgtEl>
                                          <p:spTgt spid="25"/>
                                        </p:tgtEl>
                                        <p:attrNameLst>
                                          <p:attrName>style.visibility</p:attrName>
                                        </p:attrNameLst>
                                      </p:cBhvr>
                                      <p:to>
                                        <p:strVal val="visible"/>
                                      </p:to>
                                    </p:set>
                                    <p:animEffect transition="in" filter="wipe(left)">
                                      <p:cBhvr>
                                        <p:cTn id="70" dur="500"/>
                                        <p:tgtEl>
                                          <p:spTgt spid="25"/>
                                        </p:tgtEl>
                                      </p:cBhvr>
                                    </p:animEffect>
                                  </p:childTnLst>
                                </p:cTn>
                              </p:par>
                              <p:par>
                                <p:cTn id="71" presetID="22" presetClass="entr" presetSubtype="8" fill="hold" grpId="0" nodeType="withEffect">
                                  <p:stCondLst>
                                    <p:cond delay="600"/>
                                  </p:stCondLst>
                                  <p:childTnLst>
                                    <p:set>
                                      <p:cBhvr>
                                        <p:cTn id="72" dur="1" fill="hold">
                                          <p:stCondLst>
                                            <p:cond delay="0"/>
                                          </p:stCondLst>
                                        </p:cTn>
                                        <p:tgtEl>
                                          <p:spTgt spid="26"/>
                                        </p:tgtEl>
                                        <p:attrNameLst>
                                          <p:attrName>style.visibility</p:attrName>
                                        </p:attrNameLst>
                                      </p:cBhvr>
                                      <p:to>
                                        <p:strVal val="visible"/>
                                      </p:to>
                                    </p:set>
                                    <p:animEffect transition="in" filter="wipe(left)">
                                      <p:cBhvr>
                                        <p:cTn id="73" dur="500"/>
                                        <p:tgtEl>
                                          <p:spTgt spid="26"/>
                                        </p:tgtEl>
                                      </p:cBhvr>
                                    </p:animEffect>
                                  </p:childTnLst>
                                </p:cTn>
                              </p:par>
                              <p:par>
                                <p:cTn id="74" presetID="22" presetClass="entr" presetSubtype="8" fill="hold" grpId="0" nodeType="withEffect">
                                  <p:stCondLst>
                                    <p:cond delay="800"/>
                                  </p:stCondLst>
                                  <p:childTnLst>
                                    <p:set>
                                      <p:cBhvr>
                                        <p:cTn id="75" dur="1" fill="hold">
                                          <p:stCondLst>
                                            <p:cond delay="0"/>
                                          </p:stCondLst>
                                        </p:cTn>
                                        <p:tgtEl>
                                          <p:spTgt spid="27"/>
                                        </p:tgtEl>
                                        <p:attrNameLst>
                                          <p:attrName>style.visibility</p:attrName>
                                        </p:attrNameLst>
                                      </p:cBhvr>
                                      <p:to>
                                        <p:strVal val="visible"/>
                                      </p:to>
                                    </p:set>
                                    <p:animEffect transition="in" filter="wipe(left)">
                                      <p:cBhvr>
                                        <p:cTn id="76" dur="500"/>
                                        <p:tgtEl>
                                          <p:spTgt spid="27"/>
                                        </p:tgtEl>
                                      </p:cBhvr>
                                    </p:animEffect>
                                  </p:childTnLst>
                                </p:cTn>
                              </p:par>
                              <p:par>
                                <p:cTn id="77" presetID="22" presetClass="entr" presetSubtype="8" fill="hold" grpId="0" nodeType="withEffect">
                                  <p:stCondLst>
                                    <p:cond delay="1000"/>
                                  </p:stCondLst>
                                  <p:childTnLst>
                                    <p:set>
                                      <p:cBhvr>
                                        <p:cTn id="78" dur="1" fill="hold">
                                          <p:stCondLst>
                                            <p:cond delay="0"/>
                                          </p:stCondLst>
                                        </p:cTn>
                                        <p:tgtEl>
                                          <p:spTgt spid="28"/>
                                        </p:tgtEl>
                                        <p:attrNameLst>
                                          <p:attrName>style.visibility</p:attrName>
                                        </p:attrNameLst>
                                      </p:cBhvr>
                                      <p:to>
                                        <p:strVal val="visible"/>
                                      </p:to>
                                    </p:set>
                                    <p:animEffect transition="in" filter="wipe(left)">
                                      <p:cBhvr>
                                        <p:cTn id="79" dur="5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500"/>
                                        <p:tgtEl>
                                          <p:spTgt spid="2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500"/>
                                        <p:tgtEl>
                                          <p:spTgt spid="30"/>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1"/>
                                        </p:tgtEl>
                                        <p:attrNameLst>
                                          <p:attrName>style.visibility</p:attrName>
                                        </p:attrNameLst>
                                      </p:cBhvr>
                                      <p:to>
                                        <p:strVal val="visible"/>
                                      </p:to>
                                    </p:set>
                                    <p:animEffect transition="in" filter="fade">
                                      <p:cBhvr>
                                        <p:cTn id="92" dur="500"/>
                                        <p:tgtEl>
                                          <p:spTgt spid="31"/>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2"/>
                                        </p:tgtEl>
                                        <p:attrNameLst>
                                          <p:attrName>style.visibility</p:attrName>
                                        </p:attrNameLst>
                                      </p:cBhvr>
                                      <p:to>
                                        <p:strVal val="visible"/>
                                      </p:to>
                                    </p:set>
                                    <p:animEffect transition="in" filter="fade">
                                      <p:cBhvr>
                                        <p:cTn id="95" dur="500"/>
                                        <p:tgtEl>
                                          <p:spTgt spid="32"/>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500"/>
                                        <p:tgtEl>
                                          <p:spTgt spid="33"/>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3" dur="500"/>
                                        <p:tgtEl>
                                          <p:spTgt spid="34"/>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grpId="0" nodeType="clickEffect">
                                  <p:stCondLst>
                                    <p:cond delay="0"/>
                                  </p:stCondLst>
                                  <p:childTnLst>
                                    <p:set>
                                      <p:cBhvr>
                                        <p:cTn id="107" dur="1" fill="hold">
                                          <p:stCondLst>
                                            <p:cond delay="0"/>
                                          </p:stCondLst>
                                        </p:cTn>
                                        <p:tgtEl>
                                          <p:spTgt spid="35"/>
                                        </p:tgtEl>
                                        <p:attrNameLst>
                                          <p:attrName>style.visibility</p:attrName>
                                        </p:attrNameLst>
                                      </p:cBhvr>
                                      <p:to>
                                        <p:strVal val="visible"/>
                                      </p:to>
                                    </p:set>
                                    <p:animEffect transition="in" filter="fade">
                                      <p:cBhvr>
                                        <p:cTn id="108" dur="500"/>
                                        <p:tgtEl>
                                          <p:spTgt spid="35"/>
                                        </p:tgtEl>
                                      </p:cBhvr>
                                    </p:animEffect>
                                  </p:childTnLst>
                                </p:cTn>
                              </p:par>
                              <p:par>
                                <p:cTn id="109" presetID="22" presetClass="entr" presetSubtype="8" fill="hold" grpId="0" nodeType="withEffect">
                                  <p:stCondLst>
                                    <p:cond delay="0"/>
                                  </p:stCondLst>
                                  <p:childTnLst>
                                    <p:set>
                                      <p:cBhvr>
                                        <p:cTn id="110" dur="1" fill="hold">
                                          <p:stCondLst>
                                            <p:cond delay="0"/>
                                          </p:stCondLst>
                                        </p:cTn>
                                        <p:tgtEl>
                                          <p:spTgt spid="36"/>
                                        </p:tgtEl>
                                        <p:attrNameLst>
                                          <p:attrName>style.visibility</p:attrName>
                                        </p:attrNameLst>
                                      </p:cBhvr>
                                      <p:to>
                                        <p:strVal val="visible"/>
                                      </p:to>
                                    </p:set>
                                    <p:animEffect transition="in" filter="wipe(left)">
                                      <p:cBhvr>
                                        <p:cTn id="111" dur="500"/>
                                        <p:tgtEl>
                                          <p:spTgt spid="36"/>
                                        </p:tgtEl>
                                      </p:cBhvr>
                                    </p:animEffect>
                                  </p:childTnLst>
                                </p:cTn>
                              </p:par>
                              <p:par>
                                <p:cTn id="112" presetID="22" presetClass="entr" presetSubtype="8" fill="hold" grpId="0" nodeType="withEffect">
                                  <p:stCondLst>
                                    <p:cond delay="150"/>
                                  </p:stCondLst>
                                  <p:childTnLst>
                                    <p:set>
                                      <p:cBhvr>
                                        <p:cTn id="113" dur="1" fill="hold">
                                          <p:stCondLst>
                                            <p:cond delay="0"/>
                                          </p:stCondLst>
                                        </p:cTn>
                                        <p:tgtEl>
                                          <p:spTgt spid="37"/>
                                        </p:tgtEl>
                                        <p:attrNameLst>
                                          <p:attrName>style.visibility</p:attrName>
                                        </p:attrNameLst>
                                      </p:cBhvr>
                                      <p:to>
                                        <p:strVal val="visible"/>
                                      </p:to>
                                    </p:set>
                                    <p:animEffect transition="in" filter="wipe(left)">
                                      <p:cBhvr>
                                        <p:cTn id="114" dur="500"/>
                                        <p:tgtEl>
                                          <p:spTgt spid="37"/>
                                        </p:tgtEl>
                                      </p:cBhvr>
                                    </p:animEffect>
                                  </p:childTnLst>
                                </p:cTn>
                              </p:par>
                            </p:childTnLst>
                          </p:cTn>
                        </p:par>
                      </p:childTnLst>
                    </p:cTn>
                  </p:par>
                  <p:par>
                    <p:cTn id="115" fill="hold">
                      <p:stCondLst>
                        <p:cond delay="indefinite"/>
                      </p:stCondLst>
                      <p:childTnLst>
                        <p:par>
                          <p:cTn id="116" fill="hold">
                            <p:stCondLst>
                              <p:cond delay="0"/>
                            </p:stCondLst>
                            <p:childTnLst>
                              <p:par>
                                <p:cTn id="117" presetID="2" presetClass="entr" presetSubtype="4" fill="hold" grpId="0" nodeType="clickEffect">
                                  <p:stCondLst>
                                    <p:cond delay="0"/>
                                  </p:stCondLst>
                                  <p:childTnLst>
                                    <p:set>
                                      <p:cBhvr>
                                        <p:cTn id="118" dur="1" fill="hold">
                                          <p:stCondLst>
                                            <p:cond delay="0"/>
                                          </p:stCondLst>
                                        </p:cTn>
                                        <p:tgtEl>
                                          <p:spTgt spid="38"/>
                                        </p:tgtEl>
                                        <p:attrNameLst>
                                          <p:attrName>style.visibility</p:attrName>
                                        </p:attrNameLst>
                                      </p:cBhvr>
                                      <p:to>
                                        <p:strVal val="visible"/>
                                      </p:to>
                                    </p:set>
                                    <p:anim calcmode="lin" valueType="num">
                                      <p:cBhvr additive="base">
                                        <p:cTn id="119" dur="500" fill="hold"/>
                                        <p:tgtEl>
                                          <p:spTgt spid="38"/>
                                        </p:tgtEl>
                                        <p:attrNameLst>
                                          <p:attrName>ppt_x</p:attrName>
                                        </p:attrNameLst>
                                      </p:cBhvr>
                                      <p:tavLst>
                                        <p:tav tm="0">
                                          <p:val>
                                            <p:strVal val="#ppt_x"/>
                                          </p:val>
                                        </p:tav>
                                        <p:tav tm="100000">
                                          <p:val>
                                            <p:strVal val="#ppt_x"/>
                                          </p:val>
                                        </p:tav>
                                      </p:tavLst>
                                    </p:anim>
                                    <p:anim calcmode="lin" valueType="num">
                                      <p:cBhvr additive="base">
                                        <p:cTn id="120" dur="500" fill="hold"/>
                                        <p:tgtEl>
                                          <p:spTgt spid="38"/>
                                        </p:tgtEl>
                                        <p:attrNameLst>
                                          <p:attrName>ppt_y</p:attrName>
                                        </p:attrNameLst>
                                      </p:cBhvr>
                                      <p:tavLst>
                                        <p:tav tm="0">
                                          <p:val>
                                            <p:strVal val="#ppt_y+0.1"/>
                                          </p:val>
                                        </p:tav>
                                        <p:tav tm="100000">
                                          <p:val>
                                            <p:strVal val="#ppt_y"/>
                                          </p:val>
                                        </p:tav>
                                      </p:tavLst>
                                    </p:anim>
                                    <p:animEffect transition="in" filter="fade">
                                      <p:cBhvr>
                                        <p:cTn id="121" dur="500"/>
                                        <p:tgtEl>
                                          <p:spTgt spid="38"/>
                                        </p:tgtEl>
                                      </p:cBhvr>
                                    </p:animEffect>
                                  </p:childTnLst>
                                </p:cTn>
                              </p:par>
                              <p:par>
                                <p:cTn id="122" presetID="2" presetClass="entr" presetSubtype="4" fill="hold" nodeType="withEffect">
                                  <p:stCondLst>
                                    <p:cond delay="0"/>
                                  </p:stCondLst>
                                  <p:childTnLst>
                                    <p:set>
                                      <p:cBhvr>
                                        <p:cTn id="123" dur="1" fill="hold">
                                          <p:stCondLst>
                                            <p:cond delay="0"/>
                                          </p:stCondLst>
                                        </p:cTn>
                                        <p:tgtEl>
                                          <p:spTgt spid="39"/>
                                        </p:tgtEl>
                                        <p:attrNameLst>
                                          <p:attrName>style.visibility</p:attrName>
                                        </p:attrNameLst>
                                      </p:cBhvr>
                                      <p:to>
                                        <p:strVal val="visible"/>
                                      </p:to>
                                    </p:set>
                                    <p:anim calcmode="lin" valueType="num">
                                      <p:cBhvr additive="base">
                                        <p:cTn id="124" dur="500" fill="hold"/>
                                        <p:tgtEl>
                                          <p:spTgt spid="39"/>
                                        </p:tgtEl>
                                        <p:attrNameLst>
                                          <p:attrName>ppt_x</p:attrName>
                                        </p:attrNameLst>
                                      </p:cBhvr>
                                      <p:tavLst>
                                        <p:tav tm="0">
                                          <p:val>
                                            <p:strVal val="#ppt_x"/>
                                          </p:val>
                                        </p:tav>
                                        <p:tav tm="100000">
                                          <p:val>
                                            <p:strVal val="#ppt_x"/>
                                          </p:val>
                                        </p:tav>
                                      </p:tavLst>
                                    </p:anim>
                                    <p:anim calcmode="lin" valueType="num">
                                      <p:cBhvr additive="base">
                                        <p:cTn id="125" dur="500" fill="hold"/>
                                        <p:tgtEl>
                                          <p:spTgt spid="39"/>
                                        </p:tgtEl>
                                        <p:attrNameLst>
                                          <p:attrName>ppt_y</p:attrName>
                                        </p:attrNameLst>
                                      </p:cBhvr>
                                      <p:tavLst>
                                        <p:tav tm="0">
                                          <p:val>
                                            <p:strVal val="#ppt_y+0.1"/>
                                          </p:val>
                                        </p:tav>
                                        <p:tav tm="100000">
                                          <p:val>
                                            <p:strVal val="#ppt_y"/>
                                          </p:val>
                                        </p:tav>
                                      </p:tavLst>
                                    </p:anim>
                                    <p:animEffect transition="in" filter="fade">
                                      <p:cBhvr>
                                        <p:cTn id="126" dur="500"/>
                                        <p:tgtEl>
                                          <p:spTgt spid="39"/>
                                        </p:tgtEl>
                                      </p:cBhvr>
                                    </p:animEffect>
                                  </p:childTnLst>
                                </p:cTn>
                              </p:par>
                              <p:par>
                                <p:cTn id="127" presetID="2" presetClass="entr" presetSubtype="4" fill="hold" grpId="0" nodeType="withEffect">
                                  <p:stCondLst>
                                    <p:cond delay="0"/>
                                  </p:stCondLst>
                                  <p:childTnLst>
                                    <p:set>
                                      <p:cBhvr>
                                        <p:cTn id="128" dur="1" fill="hold">
                                          <p:stCondLst>
                                            <p:cond delay="0"/>
                                          </p:stCondLst>
                                        </p:cTn>
                                        <p:tgtEl>
                                          <p:spTgt spid="40"/>
                                        </p:tgtEl>
                                        <p:attrNameLst>
                                          <p:attrName>style.visibility</p:attrName>
                                        </p:attrNameLst>
                                      </p:cBhvr>
                                      <p:to>
                                        <p:strVal val="visible"/>
                                      </p:to>
                                    </p:set>
                                    <p:anim calcmode="lin" valueType="num">
                                      <p:cBhvr additive="base">
                                        <p:cTn id="129" dur="500" fill="hold"/>
                                        <p:tgtEl>
                                          <p:spTgt spid="40"/>
                                        </p:tgtEl>
                                        <p:attrNameLst>
                                          <p:attrName>ppt_x</p:attrName>
                                        </p:attrNameLst>
                                      </p:cBhvr>
                                      <p:tavLst>
                                        <p:tav tm="0">
                                          <p:val>
                                            <p:strVal val="#ppt_x"/>
                                          </p:val>
                                        </p:tav>
                                        <p:tav tm="100000">
                                          <p:val>
                                            <p:strVal val="#ppt_x"/>
                                          </p:val>
                                        </p:tav>
                                      </p:tavLst>
                                    </p:anim>
                                    <p:anim calcmode="lin" valueType="num">
                                      <p:cBhvr additive="base">
                                        <p:cTn id="130" dur="500" fill="hold"/>
                                        <p:tgtEl>
                                          <p:spTgt spid="40"/>
                                        </p:tgtEl>
                                        <p:attrNameLst>
                                          <p:attrName>ppt_y</p:attrName>
                                        </p:attrNameLst>
                                      </p:cBhvr>
                                      <p:tavLst>
                                        <p:tav tm="0">
                                          <p:val>
                                            <p:strVal val="#ppt_y+0.1"/>
                                          </p:val>
                                        </p:tav>
                                        <p:tav tm="100000">
                                          <p:val>
                                            <p:strVal val="#ppt_y"/>
                                          </p:val>
                                        </p:tav>
                                      </p:tavLst>
                                    </p:anim>
                                    <p:animEffect transition="in" filter="fade">
                                      <p:cBhvr>
                                        <p:cTn id="131"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4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1"/>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Choosing a Primary Key</a:t>
            </a:r>
            <a:endParaRPr lang="en-US" sz="2800" dirty="0"/>
          </a:p>
        </p:txBody>
      </p:sp>
      <p:sp>
        <p:nvSpPr>
          <p:cNvPr id="3" name="Text 2"/>
          <p:cNvSpPr txBox="1"/>
          <p:nvPr/>
        </p:nvSpPr>
        <p:spPr>
          <a:xfrm>
            <a:off x="457200" y="749808"/>
            <a:ext cx="8229600" cy="320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Five tests — in the order they are most often failed</a:t>
            </a:r>
            <a:endParaRPr lang="en-US" sz="1300" dirty="0"/>
          </a:p>
        </p:txBody>
      </p:sp>
      <p:sp>
        <p:nvSpPr>
          <p:cNvPr id="4" name="a1u_c3"/>
          <p:cNvSpPr/>
          <p:nvPr/>
        </p:nvSpPr>
        <p:spPr>
          <a:xfrm>
            <a:off x="457200" y="1234440"/>
            <a:ext cx="1554480" cy="1920240"/>
          </a:xfrm>
          <a:prstGeom prst="roundRect">
            <a:avLst>
              <a:gd name="adj" fmla="val 6000"/>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sp>
        <p:nvSpPr>
          <p:cNvPr id="5" name="a1u_n4"/>
          <p:cNvSpPr txBox="1"/>
          <p:nvPr/>
        </p:nvSpPr>
        <p:spPr>
          <a:xfrm>
            <a:off x="594360" y="1371600"/>
            <a:ext cx="384048" cy="384048"/>
          </a:xfrm>
          <a:prstGeom prst="ellipse">
            <a:avLst/>
          </a:prstGeom>
          <a:solidFill>
            <a:srgbClr val="DC2626"/>
          </a:solidFill>
          <a:ln w="12700">
            <a:solidFill>
              <a:srgbClr val="DC2626"/>
            </a:solidFill>
            <a:prstDash val="solid"/>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a1u_t5"/>
          <p:cNvSpPr txBox="1"/>
          <p:nvPr/>
        </p:nvSpPr>
        <p:spPr>
          <a:xfrm>
            <a:off x="594360" y="1828800"/>
            <a:ext cx="1325880" cy="32004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Stable</a:t>
            </a:r>
            <a:endParaRPr lang="en-US" sz="1400" dirty="0"/>
          </a:p>
        </p:txBody>
      </p:sp>
      <p:sp>
        <p:nvSpPr>
          <p:cNvPr id="7" name="a1u_d6"/>
          <p:cNvSpPr txBox="1"/>
          <p:nvPr/>
        </p:nvSpPr>
        <p:spPr>
          <a:xfrm>
            <a:off x="594360" y="2176272"/>
            <a:ext cx="1325880" cy="914400"/>
          </a:xfrm>
          <a:prstGeom prst="rect">
            <a:avLst/>
          </a:prstGeom>
          <a:noFill/>
          <a:ln/>
        </p:spPr>
        <p:txBody>
          <a:bodyPr wrap="square" lIns="0" tIns="0" rIns="0" bIns="0" rtlCol="0" anchor="t"/>
          <a:lstStyle/>
          <a:p>
            <a:pPr marL="0" indent="0">
              <a:buNone/>
            </a:pPr>
            <a:r>
              <a:rPr lang="en-US" sz="1050" dirty="0">
                <a:solidFill>
                  <a:srgbClr val="334155"/>
                </a:solidFill>
                <a:latin typeface="Calibri" pitchFamily="34" charset="0"/>
                <a:ea typeface="Calibri" pitchFamily="34" charset="-122"/>
                <a:cs typeface="Calibri" pitchFamily="34" charset="-120"/>
              </a:rPr>
              <a:t>It must never need to change. The one people get wrong.</a:t>
            </a:r>
            <a:endParaRPr lang="en-US" sz="1050" dirty="0"/>
          </a:p>
        </p:txBody>
      </p:sp>
      <p:sp>
        <p:nvSpPr>
          <p:cNvPr id="8" name="a2u_c7"/>
          <p:cNvSpPr/>
          <p:nvPr/>
        </p:nvSpPr>
        <p:spPr>
          <a:xfrm>
            <a:off x="2130552" y="1234440"/>
            <a:ext cx="1554480" cy="1920240"/>
          </a:xfrm>
          <a:prstGeom prst="roundRect">
            <a:avLst>
              <a:gd name="adj" fmla="val 6000"/>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sp>
        <p:nvSpPr>
          <p:cNvPr id="9" name="a2u_n8"/>
          <p:cNvSpPr txBox="1"/>
          <p:nvPr/>
        </p:nvSpPr>
        <p:spPr>
          <a:xfrm>
            <a:off x="2267712" y="1371600"/>
            <a:ext cx="384048" cy="384048"/>
          </a:xfrm>
          <a:prstGeom prst="ellipse">
            <a:avLst/>
          </a:prstGeom>
          <a:solidFill>
            <a:srgbClr val="8B5CF6"/>
          </a:solidFill>
          <a:ln w="12700">
            <a:solidFill>
              <a:srgbClr val="8B5CF6"/>
            </a:solidFill>
            <a:prstDash val="solid"/>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a2u_t9"/>
          <p:cNvSpPr txBox="1"/>
          <p:nvPr/>
        </p:nvSpPr>
        <p:spPr>
          <a:xfrm>
            <a:off x="2267712" y="1828800"/>
            <a:ext cx="1325880" cy="32004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Unique</a:t>
            </a:r>
            <a:endParaRPr lang="en-US" sz="1400" dirty="0"/>
          </a:p>
        </p:txBody>
      </p:sp>
      <p:sp>
        <p:nvSpPr>
          <p:cNvPr id="11" name="a2u_d10"/>
          <p:cNvSpPr txBox="1"/>
          <p:nvPr/>
        </p:nvSpPr>
        <p:spPr>
          <a:xfrm>
            <a:off x="2267712" y="2176272"/>
            <a:ext cx="1325880" cy="914400"/>
          </a:xfrm>
          <a:prstGeom prst="rect">
            <a:avLst/>
          </a:prstGeom>
          <a:noFill/>
          <a:ln/>
        </p:spPr>
        <p:txBody>
          <a:bodyPr wrap="square" lIns="0" tIns="0" rIns="0" bIns="0" rtlCol="0" anchor="t"/>
          <a:lstStyle/>
          <a:p>
            <a:pPr marL="0" indent="0">
              <a:buNone/>
            </a:pPr>
            <a:r>
              <a:rPr lang="en-US" sz="1050" dirty="0">
                <a:solidFill>
                  <a:srgbClr val="334155"/>
                </a:solidFill>
                <a:latin typeface="Calibri" pitchFamily="34" charset="0"/>
                <a:ea typeface="Calibri" pitchFamily="34" charset="-122"/>
                <a:cs typeface="Calibri" pitchFamily="34" charset="-120"/>
              </a:rPr>
              <a:t>No two rows may ever share it.</a:t>
            </a:r>
            <a:endParaRPr lang="en-US" sz="1050" dirty="0"/>
          </a:p>
        </p:txBody>
      </p:sp>
      <p:sp>
        <p:nvSpPr>
          <p:cNvPr id="12" name="a3u_c11"/>
          <p:cNvSpPr/>
          <p:nvPr/>
        </p:nvSpPr>
        <p:spPr>
          <a:xfrm>
            <a:off x="3803904" y="1234440"/>
            <a:ext cx="1554480" cy="1920240"/>
          </a:xfrm>
          <a:prstGeom prst="roundRect">
            <a:avLst>
              <a:gd name="adj" fmla="val 6000"/>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sp>
        <p:nvSpPr>
          <p:cNvPr id="13" name="a3u_n12"/>
          <p:cNvSpPr txBox="1"/>
          <p:nvPr/>
        </p:nvSpPr>
        <p:spPr>
          <a:xfrm>
            <a:off x="3941064" y="1371600"/>
            <a:ext cx="384048" cy="384048"/>
          </a:xfrm>
          <a:prstGeom prst="ellipse">
            <a:avLst/>
          </a:prstGeom>
          <a:solidFill>
            <a:srgbClr val="8B5CF6"/>
          </a:solidFill>
          <a:ln w="12700">
            <a:solidFill>
              <a:srgbClr val="8B5CF6"/>
            </a:solidFill>
            <a:prstDash val="solid"/>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a3u_t13"/>
          <p:cNvSpPr txBox="1"/>
          <p:nvPr/>
        </p:nvSpPr>
        <p:spPr>
          <a:xfrm>
            <a:off x="3941064" y="1828800"/>
            <a:ext cx="1325880" cy="32004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Not null</a:t>
            </a:r>
            <a:endParaRPr lang="en-US" sz="1400" dirty="0"/>
          </a:p>
        </p:txBody>
      </p:sp>
      <p:sp>
        <p:nvSpPr>
          <p:cNvPr id="15" name="a3u_d14"/>
          <p:cNvSpPr txBox="1"/>
          <p:nvPr/>
        </p:nvSpPr>
        <p:spPr>
          <a:xfrm>
            <a:off x="3941064" y="2176272"/>
            <a:ext cx="1325880" cy="914400"/>
          </a:xfrm>
          <a:prstGeom prst="rect">
            <a:avLst/>
          </a:prstGeom>
          <a:noFill/>
          <a:ln/>
        </p:spPr>
        <p:txBody>
          <a:bodyPr wrap="square" lIns="0" tIns="0" rIns="0" bIns="0" rtlCol="0" anchor="t"/>
          <a:lstStyle/>
          <a:p>
            <a:pPr marL="0" indent="0">
              <a:buNone/>
            </a:pPr>
            <a:r>
              <a:rPr lang="en-US" sz="1050" dirty="0">
                <a:solidFill>
                  <a:srgbClr val="334155"/>
                </a:solidFill>
                <a:latin typeface="Calibri" pitchFamily="34" charset="0"/>
                <a:ea typeface="Calibri" pitchFamily="34" charset="-122"/>
                <a:cs typeface="Calibri" pitchFamily="34" charset="-120"/>
              </a:rPr>
              <a:t>Every row must have one.</a:t>
            </a:r>
            <a:endParaRPr lang="en-US" sz="1050" dirty="0"/>
          </a:p>
        </p:txBody>
      </p:sp>
      <p:sp>
        <p:nvSpPr>
          <p:cNvPr id="16" name="a4u_c15"/>
          <p:cNvSpPr/>
          <p:nvPr/>
        </p:nvSpPr>
        <p:spPr>
          <a:xfrm>
            <a:off x="5477256" y="1234440"/>
            <a:ext cx="1554480" cy="1920240"/>
          </a:xfrm>
          <a:prstGeom prst="roundRect">
            <a:avLst>
              <a:gd name="adj" fmla="val 6000"/>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sp>
        <p:nvSpPr>
          <p:cNvPr id="17" name="a4u_n16"/>
          <p:cNvSpPr txBox="1"/>
          <p:nvPr/>
        </p:nvSpPr>
        <p:spPr>
          <a:xfrm>
            <a:off x="5614416" y="1371600"/>
            <a:ext cx="384048" cy="384048"/>
          </a:xfrm>
          <a:prstGeom prst="ellipse">
            <a:avLst/>
          </a:prstGeom>
          <a:solidFill>
            <a:srgbClr val="8B5CF6"/>
          </a:solidFill>
          <a:ln w="12700">
            <a:solidFill>
              <a:srgbClr val="8B5CF6"/>
            </a:solidFill>
            <a:prstDash val="solid"/>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a4u_t17"/>
          <p:cNvSpPr txBox="1"/>
          <p:nvPr/>
        </p:nvSpPr>
        <p:spPr>
          <a:xfrm>
            <a:off x="5614416" y="1828800"/>
            <a:ext cx="1325880" cy="32004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Minimal</a:t>
            </a:r>
            <a:endParaRPr lang="en-US" sz="1400" dirty="0"/>
          </a:p>
        </p:txBody>
      </p:sp>
      <p:sp>
        <p:nvSpPr>
          <p:cNvPr id="19" name="a4u_d18"/>
          <p:cNvSpPr txBox="1"/>
          <p:nvPr/>
        </p:nvSpPr>
        <p:spPr>
          <a:xfrm>
            <a:off x="5614416" y="2176272"/>
            <a:ext cx="1325880" cy="914400"/>
          </a:xfrm>
          <a:prstGeom prst="rect">
            <a:avLst/>
          </a:prstGeom>
          <a:noFill/>
          <a:ln/>
        </p:spPr>
        <p:txBody>
          <a:bodyPr wrap="square" lIns="0" tIns="0" rIns="0" bIns="0" rtlCol="0" anchor="t"/>
          <a:lstStyle/>
          <a:p>
            <a:pPr marL="0" indent="0">
              <a:buNone/>
            </a:pPr>
            <a:r>
              <a:rPr lang="en-US" sz="1050" dirty="0">
                <a:solidFill>
                  <a:srgbClr val="334155"/>
                </a:solidFill>
                <a:latin typeface="Calibri" pitchFamily="34" charset="0"/>
                <a:ea typeface="Calibri" pitchFamily="34" charset="-122"/>
                <a:cs typeface="Calibri" pitchFamily="34" charset="-120"/>
              </a:rPr>
              <a:t>As few columns as will do the job.</a:t>
            </a:r>
            <a:endParaRPr lang="en-US" sz="1050" dirty="0"/>
          </a:p>
        </p:txBody>
      </p:sp>
      <p:sp>
        <p:nvSpPr>
          <p:cNvPr id="20" name="a5u_c19"/>
          <p:cNvSpPr/>
          <p:nvPr/>
        </p:nvSpPr>
        <p:spPr>
          <a:xfrm>
            <a:off x="7150608" y="1234440"/>
            <a:ext cx="1554480" cy="1920240"/>
          </a:xfrm>
          <a:prstGeom prst="roundRect">
            <a:avLst>
              <a:gd name="adj" fmla="val 6000"/>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sp>
        <p:nvSpPr>
          <p:cNvPr id="21" name="a5u_n20"/>
          <p:cNvSpPr txBox="1"/>
          <p:nvPr/>
        </p:nvSpPr>
        <p:spPr>
          <a:xfrm>
            <a:off x="7287768" y="1371600"/>
            <a:ext cx="384048" cy="384048"/>
          </a:xfrm>
          <a:prstGeom prst="ellipse">
            <a:avLst/>
          </a:prstGeom>
          <a:solidFill>
            <a:srgbClr val="8B5CF6"/>
          </a:solidFill>
          <a:ln w="12700">
            <a:solidFill>
              <a:srgbClr val="8B5CF6"/>
            </a:solidFill>
            <a:prstDash val="solid"/>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a5u_t21"/>
          <p:cNvSpPr txBox="1"/>
          <p:nvPr/>
        </p:nvSpPr>
        <p:spPr>
          <a:xfrm>
            <a:off x="7287768" y="1828800"/>
            <a:ext cx="1325880" cy="32004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Meaningless</a:t>
            </a:r>
            <a:endParaRPr lang="en-US" sz="1400" dirty="0"/>
          </a:p>
        </p:txBody>
      </p:sp>
      <p:sp>
        <p:nvSpPr>
          <p:cNvPr id="23" name="a5u_d22"/>
          <p:cNvSpPr txBox="1"/>
          <p:nvPr/>
        </p:nvSpPr>
        <p:spPr>
          <a:xfrm>
            <a:off x="7287768" y="2176272"/>
            <a:ext cx="1325880" cy="914400"/>
          </a:xfrm>
          <a:prstGeom prst="rect">
            <a:avLst/>
          </a:prstGeom>
          <a:noFill/>
          <a:ln/>
        </p:spPr>
        <p:txBody>
          <a:bodyPr wrap="square" lIns="0" tIns="0" rIns="0" bIns="0" rtlCol="0" anchor="t"/>
          <a:lstStyle/>
          <a:p>
            <a:pPr marL="0" indent="0">
              <a:buNone/>
            </a:pPr>
            <a:r>
              <a:rPr lang="en-US" sz="1050" dirty="0">
                <a:solidFill>
                  <a:srgbClr val="334155"/>
                </a:solidFill>
                <a:latin typeface="Calibri" pitchFamily="34" charset="0"/>
                <a:ea typeface="Calibri" pitchFamily="34" charset="-122"/>
                <a:cs typeface="Calibri" pitchFamily="34" charset="-120"/>
              </a:rPr>
              <a:t>Business meaning changes; identity must not.</a:t>
            </a:r>
            <a:endParaRPr lang="en-US" sz="1050" dirty="0"/>
          </a:p>
        </p:txBody>
      </p:sp>
      <p:sp>
        <p:nvSpPr>
          <p:cNvPr id="24" name="a6f_q23"/>
          <p:cNvSpPr txBox="1"/>
          <p:nvPr/>
        </p:nvSpPr>
        <p:spPr>
          <a:xfrm>
            <a:off x="457200" y="3383280"/>
            <a:ext cx="8229600" cy="274320"/>
          </a:xfrm>
          <a:prstGeom prst="rect">
            <a:avLst/>
          </a:prstGeom>
          <a:noFill/>
          <a:ln/>
        </p:spPr>
        <p:txBody>
          <a:bodyPr wrap="square" lIns="0" tIns="0" rIns="0" bIns="0" rtlCol="0" anchor="ctr"/>
          <a:lstStyle/>
          <a:p>
            <a:pPr marL="0" indent="0">
              <a:buNone/>
            </a:pPr>
            <a:r>
              <a:rPr lang="en-US" sz="1250" b="1" dirty="0">
                <a:solidFill>
                  <a:srgbClr val="0F172A"/>
                </a:solidFill>
                <a:latin typeface="Calibri" pitchFamily="34" charset="0"/>
                <a:ea typeface="Calibri" pitchFamily="34" charset="-122"/>
                <a:cs typeface="Calibri" pitchFamily="34" charset="-120"/>
              </a:rPr>
              <a:t>Is it stable?  Candidate identifiers for a customer:</a:t>
            </a:r>
            <a:endParaRPr lang="en-US" sz="1250" dirty="0"/>
          </a:p>
        </p:txBody>
      </p:sp>
      <p:sp>
        <p:nvSpPr>
          <p:cNvPr id="25" name="a6fd0_s24"/>
          <p:cNvSpPr txBox="1"/>
          <p:nvPr/>
        </p:nvSpPr>
        <p:spPr>
          <a:xfrm>
            <a:off x="457200" y="3749040"/>
            <a:ext cx="1554480" cy="384048"/>
          </a:xfrm>
          <a:prstGeom prst="roundRect">
            <a:avLst>
              <a:gd name="adj" fmla="val 50000"/>
            </a:avLst>
          </a:prstGeom>
          <a:solidFill>
            <a:srgbClr val="FEE2E2"/>
          </a:solidFill>
          <a:ln w="12700">
            <a:solidFill>
              <a:srgbClr val="FEE2E2"/>
            </a:solidFill>
            <a:prstDash val="solid"/>
          </a:ln>
        </p:spPr>
        <p:txBody>
          <a:bodyPr wrap="square" lIns="0" tIns="0" rIns="0" bIns="0" rtlCol="0" anchor="ctr"/>
          <a:lstStyle/>
          <a:p>
            <a:pPr marL="0" indent="0" algn="ctr">
              <a:buNone/>
            </a:pPr>
            <a:r>
              <a:rPr lang="en-US" sz="1200" b="1" dirty="0">
                <a:solidFill>
                  <a:srgbClr val="DC2626"/>
                </a:solidFill>
                <a:latin typeface="Calibri" pitchFamily="34" charset="0"/>
                <a:ea typeface="Calibri" pitchFamily="34" charset="-122"/>
                <a:cs typeface="Calibri" pitchFamily="34" charset="-120"/>
              </a:rPr>
              <a:t>✘  phone</a:t>
            </a:r>
            <a:endParaRPr lang="en-US" sz="1200" dirty="0"/>
          </a:p>
        </p:txBody>
      </p:sp>
      <p:sp>
        <p:nvSpPr>
          <p:cNvPr id="26" name="a6fd120_s25"/>
          <p:cNvSpPr txBox="1"/>
          <p:nvPr/>
        </p:nvSpPr>
        <p:spPr>
          <a:xfrm>
            <a:off x="2130552" y="3749040"/>
            <a:ext cx="1554480" cy="384048"/>
          </a:xfrm>
          <a:prstGeom prst="roundRect">
            <a:avLst>
              <a:gd name="adj" fmla="val 50000"/>
            </a:avLst>
          </a:prstGeom>
          <a:solidFill>
            <a:srgbClr val="FEE2E2"/>
          </a:solidFill>
          <a:ln w="12700">
            <a:solidFill>
              <a:srgbClr val="FEE2E2"/>
            </a:solidFill>
            <a:prstDash val="solid"/>
          </a:ln>
        </p:spPr>
        <p:txBody>
          <a:bodyPr wrap="square" lIns="0" tIns="0" rIns="0" bIns="0" rtlCol="0" anchor="ctr"/>
          <a:lstStyle/>
          <a:p>
            <a:pPr marL="0" indent="0" algn="ctr">
              <a:buNone/>
            </a:pPr>
            <a:r>
              <a:rPr lang="en-US" sz="1200" b="1" dirty="0">
                <a:solidFill>
                  <a:srgbClr val="DC2626"/>
                </a:solidFill>
                <a:latin typeface="Calibri" pitchFamily="34" charset="0"/>
                <a:ea typeface="Calibri" pitchFamily="34" charset="-122"/>
                <a:cs typeface="Calibri" pitchFamily="34" charset="-120"/>
              </a:rPr>
              <a:t>✘  email</a:t>
            </a:r>
            <a:endParaRPr lang="en-US" sz="1200" dirty="0"/>
          </a:p>
        </p:txBody>
      </p:sp>
      <p:sp>
        <p:nvSpPr>
          <p:cNvPr id="27" name="a6fd240_s26"/>
          <p:cNvSpPr txBox="1"/>
          <p:nvPr/>
        </p:nvSpPr>
        <p:spPr>
          <a:xfrm>
            <a:off x="3803904" y="3749040"/>
            <a:ext cx="1554480" cy="384048"/>
          </a:xfrm>
          <a:prstGeom prst="roundRect">
            <a:avLst>
              <a:gd name="adj" fmla="val 50000"/>
            </a:avLst>
          </a:prstGeom>
          <a:solidFill>
            <a:srgbClr val="FEE2E2"/>
          </a:solidFill>
          <a:ln w="12700">
            <a:solidFill>
              <a:srgbClr val="FEE2E2"/>
            </a:solidFill>
            <a:prstDash val="solid"/>
          </a:ln>
        </p:spPr>
        <p:txBody>
          <a:bodyPr wrap="square" lIns="0" tIns="0" rIns="0" bIns="0" rtlCol="0" anchor="ctr"/>
          <a:lstStyle/>
          <a:p>
            <a:pPr marL="0" indent="0" algn="ctr">
              <a:buNone/>
            </a:pPr>
            <a:r>
              <a:rPr lang="en-US" sz="1200" b="1" dirty="0">
                <a:solidFill>
                  <a:srgbClr val="DC2626"/>
                </a:solidFill>
                <a:latin typeface="Calibri" pitchFamily="34" charset="0"/>
                <a:ea typeface="Calibri" pitchFamily="34" charset="-122"/>
                <a:cs typeface="Calibri" pitchFamily="34" charset="-120"/>
              </a:rPr>
              <a:t>✘  name</a:t>
            </a:r>
            <a:endParaRPr lang="en-US" sz="1200" dirty="0"/>
          </a:p>
        </p:txBody>
      </p:sp>
      <p:sp>
        <p:nvSpPr>
          <p:cNvPr id="28" name="a6fd360_s27"/>
          <p:cNvSpPr txBox="1"/>
          <p:nvPr/>
        </p:nvSpPr>
        <p:spPr>
          <a:xfrm>
            <a:off x="5477256" y="3749040"/>
            <a:ext cx="1554480" cy="384048"/>
          </a:xfrm>
          <a:prstGeom prst="roundRect">
            <a:avLst>
              <a:gd name="adj" fmla="val 50000"/>
            </a:avLst>
          </a:prstGeom>
          <a:solidFill>
            <a:srgbClr val="FEE2E2"/>
          </a:solidFill>
          <a:ln w="12700">
            <a:solidFill>
              <a:srgbClr val="FEE2E2"/>
            </a:solidFill>
            <a:prstDash val="solid"/>
          </a:ln>
        </p:spPr>
        <p:txBody>
          <a:bodyPr wrap="square" lIns="0" tIns="0" rIns="0" bIns="0" rtlCol="0" anchor="ctr"/>
          <a:lstStyle/>
          <a:p>
            <a:pPr marL="0" indent="0" algn="ctr">
              <a:buNone/>
            </a:pPr>
            <a:r>
              <a:rPr lang="en-US" sz="1200" b="1" dirty="0">
                <a:solidFill>
                  <a:srgbClr val="DC2626"/>
                </a:solidFill>
                <a:latin typeface="Calibri" pitchFamily="34" charset="0"/>
                <a:ea typeface="Calibri" pitchFamily="34" charset="-122"/>
                <a:cs typeface="Calibri" pitchFamily="34" charset="-120"/>
              </a:rPr>
              <a:t>✘  PAN number</a:t>
            </a:r>
            <a:endParaRPr lang="en-US" sz="1200" dirty="0"/>
          </a:p>
        </p:txBody>
      </p:sp>
      <p:sp>
        <p:nvSpPr>
          <p:cNvPr id="29" name="a6fd480_s28"/>
          <p:cNvSpPr txBox="1"/>
          <p:nvPr/>
        </p:nvSpPr>
        <p:spPr>
          <a:xfrm>
            <a:off x="7150608" y="3749040"/>
            <a:ext cx="1554480" cy="384048"/>
          </a:xfrm>
          <a:prstGeom prst="roundRect">
            <a:avLst>
              <a:gd name="adj" fmla="val 50000"/>
            </a:avLst>
          </a:prstGeom>
          <a:solidFill>
            <a:srgbClr val="DCFCE7"/>
          </a:solidFill>
          <a:ln w="12700">
            <a:solidFill>
              <a:srgbClr val="DCFCE7"/>
            </a:solidFill>
            <a:prstDash val="solid"/>
          </a:ln>
        </p:spPr>
        <p:txBody>
          <a:bodyPr wrap="square" lIns="0" tIns="0" rIns="0" bIns="0" rtlCol="0" anchor="ctr"/>
          <a:lstStyle/>
          <a:p>
            <a:pPr marL="0" indent="0" algn="ctr">
              <a:buNone/>
            </a:pPr>
            <a:r>
              <a:rPr lang="en-US" sz="1200" b="1" dirty="0">
                <a:solidFill>
                  <a:srgbClr val="16A34A"/>
                </a:solidFill>
                <a:latin typeface="Calibri" pitchFamily="34" charset="0"/>
                <a:ea typeface="Calibri" pitchFamily="34" charset="-122"/>
                <a:cs typeface="Calibri" pitchFamily="34" charset="-120"/>
              </a:rPr>
              <a:t>✔  customer_id</a:t>
            </a:r>
            <a:endParaRPr lang="en-US" sz="1200" dirty="0"/>
          </a:p>
        </p:txBody>
      </p:sp>
      <p:sp>
        <p:nvSpPr>
          <p:cNvPr id="30" name="a7f_w29"/>
          <p:cNvSpPr txBox="1"/>
          <p:nvPr/>
        </p:nvSpPr>
        <p:spPr>
          <a:xfrm>
            <a:off x="457200" y="4297680"/>
            <a:ext cx="8229600" cy="457200"/>
          </a:xfrm>
          <a:prstGeom prst="rect">
            <a:avLst/>
          </a:prstGeom>
          <a:noFill/>
          <a:ln/>
        </p:spPr>
        <p:txBody>
          <a:bodyPr wrap="square" lIns="0" tIns="0" rIns="0" bIns="0" rtlCol="0" anchor="t"/>
          <a:lstStyle/>
          <a:p>
            <a:pPr marL="0" indent="0">
              <a:buNone/>
            </a:pPr>
            <a:r>
              <a:rPr lang="en-US" sz="1150" i="1" dirty="0">
                <a:solidFill>
                  <a:srgbClr val="64748B"/>
                </a:solidFill>
                <a:latin typeface="Calibri" pitchFamily="34" charset="0"/>
                <a:ea typeface="Calibri" pitchFamily="34" charset="-122"/>
                <a:cs typeface="Calibri" pitchFamily="34" charset="-120"/>
              </a:rPr>
              <a:t>People change phones, emails and names — and every foreign key that copied the old value would have to change too.</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ppt_y+0.1"/>
                                          </p:val>
                                        </p:tav>
                                        <p:tav tm="100000">
                                          <p:val>
                                            <p:strVal val="#ppt_y"/>
                                          </p:val>
                                        </p:tav>
                                      </p:tavLst>
                                    </p:anim>
                                    <p:animEffect transition="in" filter="fade">
                                      <p:cBhvr>
                                        <p:cTn id="9" dur="500"/>
                                        <p:tgtEl>
                                          <p:spTgt spid="4"/>
                                        </p:tgtEl>
                                      </p:cBhvr>
                                    </p:animEffect>
                                  </p:childTnLst>
                                </p:cTn>
                              </p:par>
                              <p:par>
                                <p:cTn id="10" presetID="2" presetClass="entr" presetSubtype="4"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ppt_y+0.1"/>
                                          </p:val>
                                        </p:tav>
                                        <p:tav tm="100000">
                                          <p:val>
                                            <p:strVal val="#ppt_y"/>
                                          </p:val>
                                        </p:tav>
                                      </p:tavLst>
                                    </p:anim>
                                    <p:animEffect transition="in" filter="fade">
                                      <p:cBhvr>
                                        <p:cTn id="14" dur="500"/>
                                        <p:tgtEl>
                                          <p:spTgt spid="5"/>
                                        </p:tgtEl>
                                      </p:cBhvr>
                                    </p:animEffect>
                                  </p:childTnLst>
                                </p:cTn>
                              </p:par>
                              <p:par>
                                <p:cTn id="15" presetID="2" presetClass="entr" presetSubtype="4"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ppt_y+0.1"/>
                                          </p:val>
                                        </p:tav>
                                        <p:tav tm="100000">
                                          <p:val>
                                            <p:strVal val="#ppt_y"/>
                                          </p:val>
                                        </p:tav>
                                      </p:tavLst>
                                    </p:anim>
                                    <p:animEffect transition="in" filter="fade">
                                      <p:cBhvr>
                                        <p:cTn id="19" dur="500"/>
                                        <p:tgtEl>
                                          <p:spTgt spid="6"/>
                                        </p:tgtEl>
                                      </p:cBhvr>
                                    </p:animEffect>
                                  </p:childTnLst>
                                </p:cTn>
                              </p:par>
                              <p:par>
                                <p:cTn id="20" presetID="2" presetClass="entr" presetSubtype="4"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ppt_y+0.1"/>
                                          </p:val>
                                        </p:tav>
                                        <p:tav tm="100000">
                                          <p:val>
                                            <p:strVal val="#ppt_y"/>
                                          </p:val>
                                        </p:tav>
                                      </p:tavLst>
                                    </p:anim>
                                    <p:animEffect transition="in" filter="fade">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ppt_x"/>
                                          </p:val>
                                        </p:tav>
                                        <p:tav tm="100000">
                                          <p:val>
                                            <p:strVal val="#ppt_x"/>
                                          </p:val>
                                        </p:tav>
                                      </p:tavLst>
                                    </p:anim>
                                    <p:anim calcmode="lin" valueType="num">
                                      <p:cBhvr additive="base">
                                        <p:cTn id="30" dur="500" fill="hold"/>
                                        <p:tgtEl>
                                          <p:spTgt spid="8"/>
                                        </p:tgtEl>
                                        <p:attrNameLst>
                                          <p:attrName>ppt_y</p:attrName>
                                        </p:attrNameLst>
                                      </p:cBhvr>
                                      <p:tavLst>
                                        <p:tav tm="0">
                                          <p:val>
                                            <p:strVal val="#ppt_y+0.1"/>
                                          </p:val>
                                        </p:tav>
                                        <p:tav tm="100000">
                                          <p:val>
                                            <p:strVal val="#ppt_y"/>
                                          </p:val>
                                        </p:tav>
                                      </p:tavLst>
                                    </p:anim>
                                    <p:animEffect transition="in" filter="fade">
                                      <p:cBhvr>
                                        <p:cTn id="31" dur="500"/>
                                        <p:tgtEl>
                                          <p:spTgt spid="8"/>
                                        </p:tgtEl>
                                      </p:cBhvr>
                                    </p:animEffect>
                                  </p:childTnLst>
                                </p:cTn>
                              </p:par>
                              <p:par>
                                <p:cTn id="32" presetID="2" presetClass="entr" presetSubtype="4"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500" fill="hold"/>
                                        <p:tgtEl>
                                          <p:spTgt spid="9"/>
                                        </p:tgtEl>
                                        <p:attrNameLst>
                                          <p:attrName>ppt_x</p:attrName>
                                        </p:attrNameLst>
                                      </p:cBhvr>
                                      <p:tavLst>
                                        <p:tav tm="0">
                                          <p:val>
                                            <p:strVal val="#ppt_x"/>
                                          </p:val>
                                        </p:tav>
                                        <p:tav tm="100000">
                                          <p:val>
                                            <p:strVal val="#ppt_x"/>
                                          </p:val>
                                        </p:tav>
                                      </p:tavLst>
                                    </p:anim>
                                    <p:anim calcmode="lin" valueType="num">
                                      <p:cBhvr additive="base">
                                        <p:cTn id="35" dur="500" fill="hold"/>
                                        <p:tgtEl>
                                          <p:spTgt spid="9"/>
                                        </p:tgtEl>
                                        <p:attrNameLst>
                                          <p:attrName>ppt_y</p:attrName>
                                        </p:attrNameLst>
                                      </p:cBhvr>
                                      <p:tavLst>
                                        <p:tav tm="0">
                                          <p:val>
                                            <p:strVal val="#ppt_y+0.1"/>
                                          </p:val>
                                        </p:tav>
                                        <p:tav tm="100000">
                                          <p:val>
                                            <p:strVal val="#ppt_y"/>
                                          </p:val>
                                        </p:tav>
                                      </p:tavLst>
                                    </p:anim>
                                    <p:animEffect transition="in" filter="fade">
                                      <p:cBhvr>
                                        <p:cTn id="36" dur="500"/>
                                        <p:tgtEl>
                                          <p:spTgt spid="9"/>
                                        </p:tgtEl>
                                      </p:cBhvr>
                                    </p:animEffect>
                                  </p:childTnLst>
                                </p:cTn>
                              </p:par>
                              <p:par>
                                <p:cTn id="37" presetID="2" presetClass="entr" presetSubtype="4"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500" fill="hold"/>
                                        <p:tgtEl>
                                          <p:spTgt spid="10"/>
                                        </p:tgtEl>
                                        <p:attrNameLst>
                                          <p:attrName>ppt_x</p:attrName>
                                        </p:attrNameLst>
                                      </p:cBhvr>
                                      <p:tavLst>
                                        <p:tav tm="0">
                                          <p:val>
                                            <p:strVal val="#ppt_x"/>
                                          </p:val>
                                        </p:tav>
                                        <p:tav tm="100000">
                                          <p:val>
                                            <p:strVal val="#ppt_x"/>
                                          </p:val>
                                        </p:tav>
                                      </p:tavLst>
                                    </p:anim>
                                    <p:anim calcmode="lin" valueType="num">
                                      <p:cBhvr additive="base">
                                        <p:cTn id="40" dur="500" fill="hold"/>
                                        <p:tgtEl>
                                          <p:spTgt spid="10"/>
                                        </p:tgtEl>
                                        <p:attrNameLst>
                                          <p:attrName>ppt_y</p:attrName>
                                        </p:attrNameLst>
                                      </p:cBhvr>
                                      <p:tavLst>
                                        <p:tav tm="0">
                                          <p:val>
                                            <p:strVal val="#ppt_y+0.1"/>
                                          </p:val>
                                        </p:tav>
                                        <p:tav tm="100000">
                                          <p:val>
                                            <p:strVal val="#ppt_y"/>
                                          </p:val>
                                        </p:tav>
                                      </p:tavLst>
                                    </p:anim>
                                    <p:animEffect transition="in" filter="fade">
                                      <p:cBhvr>
                                        <p:cTn id="41" dur="500"/>
                                        <p:tgtEl>
                                          <p:spTgt spid="10"/>
                                        </p:tgtEl>
                                      </p:cBhvr>
                                    </p:animEffect>
                                  </p:childTnLst>
                                </p:cTn>
                              </p:par>
                              <p:par>
                                <p:cTn id="42" presetID="2" presetClass="entr" presetSubtype="4"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additive="base">
                                        <p:cTn id="44" dur="500" fill="hold"/>
                                        <p:tgtEl>
                                          <p:spTgt spid="11"/>
                                        </p:tgtEl>
                                        <p:attrNameLst>
                                          <p:attrName>ppt_x</p:attrName>
                                        </p:attrNameLst>
                                      </p:cBhvr>
                                      <p:tavLst>
                                        <p:tav tm="0">
                                          <p:val>
                                            <p:strVal val="#ppt_x"/>
                                          </p:val>
                                        </p:tav>
                                        <p:tav tm="100000">
                                          <p:val>
                                            <p:strVal val="#ppt_x"/>
                                          </p:val>
                                        </p:tav>
                                      </p:tavLst>
                                    </p:anim>
                                    <p:anim calcmode="lin" valueType="num">
                                      <p:cBhvr additive="base">
                                        <p:cTn id="45" dur="500" fill="hold"/>
                                        <p:tgtEl>
                                          <p:spTgt spid="11"/>
                                        </p:tgtEl>
                                        <p:attrNameLst>
                                          <p:attrName>ppt_y</p:attrName>
                                        </p:attrNameLst>
                                      </p:cBhvr>
                                      <p:tavLst>
                                        <p:tav tm="0">
                                          <p:val>
                                            <p:strVal val="#ppt_y+0.1"/>
                                          </p:val>
                                        </p:tav>
                                        <p:tav tm="100000">
                                          <p:val>
                                            <p:strVal val="#ppt_y"/>
                                          </p:val>
                                        </p:tav>
                                      </p:tavLst>
                                    </p:anim>
                                    <p:animEffect transition="in" filter="fade">
                                      <p:cBhvr>
                                        <p:cTn id="46" dur="500"/>
                                        <p:tgtEl>
                                          <p:spTgt spid="11"/>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anim calcmode="lin" valueType="num">
                                      <p:cBhvr additive="base">
                                        <p:cTn id="51" dur="500" fill="hold"/>
                                        <p:tgtEl>
                                          <p:spTgt spid="12"/>
                                        </p:tgtEl>
                                        <p:attrNameLst>
                                          <p:attrName>ppt_x</p:attrName>
                                        </p:attrNameLst>
                                      </p:cBhvr>
                                      <p:tavLst>
                                        <p:tav tm="0">
                                          <p:val>
                                            <p:strVal val="#ppt_x"/>
                                          </p:val>
                                        </p:tav>
                                        <p:tav tm="100000">
                                          <p:val>
                                            <p:strVal val="#ppt_x"/>
                                          </p:val>
                                        </p:tav>
                                      </p:tavLst>
                                    </p:anim>
                                    <p:anim calcmode="lin" valueType="num">
                                      <p:cBhvr additive="base">
                                        <p:cTn id="52" dur="500" fill="hold"/>
                                        <p:tgtEl>
                                          <p:spTgt spid="12"/>
                                        </p:tgtEl>
                                        <p:attrNameLst>
                                          <p:attrName>ppt_y</p:attrName>
                                        </p:attrNameLst>
                                      </p:cBhvr>
                                      <p:tavLst>
                                        <p:tav tm="0">
                                          <p:val>
                                            <p:strVal val="#ppt_y+0.1"/>
                                          </p:val>
                                        </p:tav>
                                        <p:tav tm="100000">
                                          <p:val>
                                            <p:strVal val="#ppt_y"/>
                                          </p:val>
                                        </p:tav>
                                      </p:tavLst>
                                    </p:anim>
                                    <p:animEffect transition="in" filter="fade">
                                      <p:cBhvr>
                                        <p:cTn id="53" dur="500"/>
                                        <p:tgtEl>
                                          <p:spTgt spid="12"/>
                                        </p:tgtEl>
                                      </p:cBhvr>
                                    </p:animEffect>
                                  </p:childTnLst>
                                </p:cTn>
                              </p:par>
                              <p:par>
                                <p:cTn id="54" presetID="2" presetClass="entr" presetSubtype="4" fill="hold" grpId="0" nodeType="withEffect">
                                  <p:stCondLst>
                                    <p:cond delay="0"/>
                                  </p:stCondLst>
                                  <p:childTnLst>
                                    <p:set>
                                      <p:cBhvr>
                                        <p:cTn id="55" dur="1" fill="hold">
                                          <p:stCondLst>
                                            <p:cond delay="0"/>
                                          </p:stCondLst>
                                        </p:cTn>
                                        <p:tgtEl>
                                          <p:spTgt spid="13"/>
                                        </p:tgtEl>
                                        <p:attrNameLst>
                                          <p:attrName>style.visibility</p:attrName>
                                        </p:attrNameLst>
                                      </p:cBhvr>
                                      <p:to>
                                        <p:strVal val="visible"/>
                                      </p:to>
                                    </p:set>
                                    <p:anim calcmode="lin" valueType="num">
                                      <p:cBhvr additive="base">
                                        <p:cTn id="56" dur="500" fill="hold"/>
                                        <p:tgtEl>
                                          <p:spTgt spid="13"/>
                                        </p:tgtEl>
                                        <p:attrNameLst>
                                          <p:attrName>ppt_x</p:attrName>
                                        </p:attrNameLst>
                                      </p:cBhvr>
                                      <p:tavLst>
                                        <p:tav tm="0">
                                          <p:val>
                                            <p:strVal val="#ppt_x"/>
                                          </p:val>
                                        </p:tav>
                                        <p:tav tm="100000">
                                          <p:val>
                                            <p:strVal val="#ppt_x"/>
                                          </p:val>
                                        </p:tav>
                                      </p:tavLst>
                                    </p:anim>
                                    <p:anim calcmode="lin" valueType="num">
                                      <p:cBhvr additive="base">
                                        <p:cTn id="57" dur="500" fill="hold"/>
                                        <p:tgtEl>
                                          <p:spTgt spid="13"/>
                                        </p:tgtEl>
                                        <p:attrNameLst>
                                          <p:attrName>ppt_y</p:attrName>
                                        </p:attrNameLst>
                                      </p:cBhvr>
                                      <p:tavLst>
                                        <p:tav tm="0">
                                          <p:val>
                                            <p:strVal val="#ppt_y+0.1"/>
                                          </p:val>
                                        </p:tav>
                                        <p:tav tm="100000">
                                          <p:val>
                                            <p:strVal val="#ppt_y"/>
                                          </p:val>
                                        </p:tav>
                                      </p:tavLst>
                                    </p:anim>
                                    <p:animEffect transition="in" filter="fade">
                                      <p:cBhvr>
                                        <p:cTn id="58" dur="500"/>
                                        <p:tgtEl>
                                          <p:spTgt spid="13"/>
                                        </p:tgtEl>
                                      </p:cBhvr>
                                    </p:animEffect>
                                  </p:childTnLst>
                                </p:cTn>
                              </p:par>
                              <p:par>
                                <p:cTn id="59" presetID="2" presetClass="entr" presetSubtype="4"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 calcmode="lin" valueType="num">
                                      <p:cBhvr additive="base">
                                        <p:cTn id="61" dur="500" fill="hold"/>
                                        <p:tgtEl>
                                          <p:spTgt spid="14"/>
                                        </p:tgtEl>
                                        <p:attrNameLst>
                                          <p:attrName>ppt_x</p:attrName>
                                        </p:attrNameLst>
                                      </p:cBhvr>
                                      <p:tavLst>
                                        <p:tav tm="0">
                                          <p:val>
                                            <p:strVal val="#ppt_x"/>
                                          </p:val>
                                        </p:tav>
                                        <p:tav tm="100000">
                                          <p:val>
                                            <p:strVal val="#ppt_x"/>
                                          </p:val>
                                        </p:tav>
                                      </p:tavLst>
                                    </p:anim>
                                    <p:anim calcmode="lin" valueType="num">
                                      <p:cBhvr additive="base">
                                        <p:cTn id="62" dur="500" fill="hold"/>
                                        <p:tgtEl>
                                          <p:spTgt spid="14"/>
                                        </p:tgtEl>
                                        <p:attrNameLst>
                                          <p:attrName>ppt_y</p:attrName>
                                        </p:attrNameLst>
                                      </p:cBhvr>
                                      <p:tavLst>
                                        <p:tav tm="0">
                                          <p:val>
                                            <p:strVal val="#ppt_y+0.1"/>
                                          </p:val>
                                        </p:tav>
                                        <p:tav tm="100000">
                                          <p:val>
                                            <p:strVal val="#ppt_y"/>
                                          </p:val>
                                        </p:tav>
                                      </p:tavLst>
                                    </p:anim>
                                    <p:animEffect transition="in" filter="fade">
                                      <p:cBhvr>
                                        <p:cTn id="63" dur="500"/>
                                        <p:tgtEl>
                                          <p:spTgt spid="14"/>
                                        </p:tgtEl>
                                      </p:cBhvr>
                                    </p:animEffect>
                                  </p:childTnLst>
                                </p:cTn>
                              </p:par>
                              <p:par>
                                <p:cTn id="64" presetID="2" presetClass="entr" presetSubtype="4" fill="hold" grpId="0" nodeType="withEffect">
                                  <p:stCondLst>
                                    <p:cond delay="0"/>
                                  </p:stCondLst>
                                  <p:childTnLst>
                                    <p:set>
                                      <p:cBhvr>
                                        <p:cTn id="65" dur="1" fill="hold">
                                          <p:stCondLst>
                                            <p:cond delay="0"/>
                                          </p:stCondLst>
                                        </p:cTn>
                                        <p:tgtEl>
                                          <p:spTgt spid="15"/>
                                        </p:tgtEl>
                                        <p:attrNameLst>
                                          <p:attrName>style.visibility</p:attrName>
                                        </p:attrNameLst>
                                      </p:cBhvr>
                                      <p:to>
                                        <p:strVal val="visible"/>
                                      </p:to>
                                    </p:set>
                                    <p:anim calcmode="lin" valueType="num">
                                      <p:cBhvr additive="base">
                                        <p:cTn id="66" dur="500" fill="hold"/>
                                        <p:tgtEl>
                                          <p:spTgt spid="15"/>
                                        </p:tgtEl>
                                        <p:attrNameLst>
                                          <p:attrName>ppt_x</p:attrName>
                                        </p:attrNameLst>
                                      </p:cBhvr>
                                      <p:tavLst>
                                        <p:tav tm="0">
                                          <p:val>
                                            <p:strVal val="#ppt_x"/>
                                          </p:val>
                                        </p:tav>
                                        <p:tav tm="100000">
                                          <p:val>
                                            <p:strVal val="#ppt_x"/>
                                          </p:val>
                                        </p:tav>
                                      </p:tavLst>
                                    </p:anim>
                                    <p:anim calcmode="lin" valueType="num">
                                      <p:cBhvr additive="base">
                                        <p:cTn id="67" dur="500" fill="hold"/>
                                        <p:tgtEl>
                                          <p:spTgt spid="15"/>
                                        </p:tgtEl>
                                        <p:attrNameLst>
                                          <p:attrName>ppt_y</p:attrName>
                                        </p:attrNameLst>
                                      </p:cBhvr>
                                      <p:tavLst>
                                        <p:tav tm="0">
                                          <p:val>
                                            <p:strVal val="#ppt_y+0.1"/>
                                          </p:val>
                                        </p:tav>
                                        <p:tav tm="100000">
                                          <p:val>
                                            <p:strVal val="#ppt_y"/>
                                          </p:val>
                                        </p:tav>
                                      </p:tavLst>
                                    </p:anim>
                                    <p:animEffect transition="in" filter="fade">
                                      <p:cBhvr>
                                        <p:cTn id="68" dur="500"/>
                                        <p:tgtEl>
                                          <p:spTgt spid="15"/>
                                        </p:tgtEl>
                                      </p:cBhvr>
                                    </p:animEffect>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6"/>
                                        </p:tgtEl>
                                        <p:attrNameLst>
                                          <p:attrName>style.visibility</p:attrName>
                                        </p:attrNameLst>
                                      </p:cBhvr>
                                      <p:to>
                                        <p:strVal val="visible"/>
                                      </p:to>
                                    </p:set>
                                    <p:anim calcmode="lin" valueType="num">
                                      <p:cBhvr additive="base">
                                        <p:cTn id="73" dur="500" fill="hold"/>
                                        <p:tgtEl>
                                          <p:spTgt spid="16"/>
                                        </p:tgtEl>
                                        <p:attrNameLst>
                                          <p:attrName>ppt_x</p:attrName>
                                        </p:attrNameLst>
                                      </p:cBhvr>
                                      <p:tavLst>
                                        <p:tav tm="0">
                                          <p:val>
                                            <p:strVal val="#ppt_x"/>
                                          </p:val>
                                        </p:tav>
                                        <p:tav tm="100000">
                                          <p:val>
                                            <p:strVal val="#ppt_x"/>
                                          </p:val>
                                        </p:tav>
                                      </p:tavLst>
                                    </p:anim>
                                    <p:anim calcmode="lin" valueType="num">
                                      <p:cBhvr additive="base">
                                        <p:cTn id="74" dur="500" fill="hold"/>
                                        <p:tgtEl>
                                          <p:spTgt spid="16"/>
                                        </p:tgtEl>
                                        <p:attrNameLst>
                                          <p:attrName>ppt_y</p:attrName>
                                        </p:attrNameLst>
                                      </p:cBhvr>
                                      <p:tavLst>
                                        <p:tav tm="0">
                                          <p:val>
                                            <p:strVal val="#ppt_y+0.1"/>
                                          </p:val>
                                        </p:tav>
                                        <p:tav tm="100000">
                                          <p:val>
                                            <p:strVal val="#ppt_y"/>
                                          </p:val>
                                        </p:tav>
                                      </p:tavLst>
                                    </p:anim>
                                    <p:animEffect transition="in" filter="fade">
                                      <p:cBhvr>
                                        <p:cTn id="75" dur="500"/>
                                        <p:tgtEl>
                                          <p:spTgt spid="16"/>
                                        </p:tgtEl>
                                      </p:cBhvr>
                                    </p:animEffect>
                                  </p:childTnLst>
                                </p:cTn>
                              </p:par>
                              <p:par>
                                <p:cTn id="76" presetID="2" presetClass="entr" presetSubtype="4" fill="hold" grpId="0" nodeType="withEffect">
                                  <p:stCondLst>
                                    <p:cond delay="0"/>
                                  </p:stCondLst>
                                  <p:childTnLst>
                                    <p:set>
                                      <p:cBhvr>
                                        <p:cTn id="77" dur="1" fill="hold">
                                          <p:stCondLst>
                                            <p:cond delay="0"/>
                                          </p:stCondLst>
                                        </p:cTn>
                                        <p:tgtEl>
                                          <p:spTgt spid="17"/>
                                        </p:tgtEl>
                                        <p:attrNameLst>
                                          <p:attrName>style.visibility</p:attrName>
                                        </p:attrNameLst>
                                      </p:cBhvr>
                                      <p:to>
                                        <p:strVal val="visible"/>
                                      </p:to>
                                    </p:set>
                                    <p:anim calcmode="lin" valueType="num">
                                      <p:cBhvr additive="base">
                                        <p:cTn id="78" dur="500" fill="hold"/>
                                        <p:tgtEl>
                                          <p:spTgt spid="17"/>
                                        </p:tgtEl>
                                        <p:attrNameLst>
                                          <p:attrName>ppt_x</p:attrName>
                                        </p:attrNameLst>
                                      </p:cBhvr>
                                      <p:tavLst>
                                        <p:tav tm="0">
                                          <p:val>
                                            <p:strVal val="#ppt_x"/>
                                          </p:val>
                                        </p:tav>
                                        <p:tav tm="100000">
                                          <p:val>
                                            <p:strVal val="#ppt_x"/>
                                          </p:val>
                                        </p:tav>
                                      </p:tavLst>
                                    </p:anim>
                                    <p:anim calcmode="lin" valueType="num">
                                      <p:cBhvr additive="base">
                                        <p:cTn id="79" dur="500" fill="hold"/>
                                        <p:tgtEl>
                                          <p:spTgt spid="17"/>
                                        </p:tgtEl>
                                        <p:attrNameLst>
                                          <p:attrName>ppt_y</p:attrName>
                                        </p:attrNameLst>
                                      </p:cBhvr>
                                      <p:tavLst>
                                        <p:tav tm="0">
                                          <p:val>
                                            <p:strVal val="#ppt_y+0.1"/>
                                          </p:val>
                                        </p:tav>
                                        <p:tav tm="100000">
                                          <p:val>
                                            <p:strVal val="#ppt_y"/>
                                          </p:val>
                                        </p:tav>
                                      </p:tavLst>
                                    </p:anim>
                                    <p:animEffect transition="in" filter="fade">
                                      <p:cBhvr>
                                        <p:cTn id="80" dur="500"/>
                                        <p:tgtEl>
                                          <p:spTgt spid="17"/>
                                        </p:tgtEl>
                                      </p:cBhvr>
                                    </p:animEffect>
                                  </p:childTnLst>
                                </p:cTn>
                              </p:par>
                              <p:par>
                                <p:cTn id="81" presetID="2" presetClass="entr" presetSubtype="4" fill="hold" grpId="0" nodeType="withEffect">
                                  <p:stCondLst>
                                    <p:cond delay="0"/>
                                  </p:stCondLst>
                                  <p:childTnLst>
                                    <p:set>
                                      <p:cBhvr>
                                        <p:cTn id="82" dur="1" fill="hold">
                                          <p:stCondLst>
                                            <p:cond delay="0"/>
                                          </p:stCondLst>
                                        </p:cTn>
                                        <p:tgtEl>
                                          <p:spTgt spid="18"/>
                                        </p:tgtEl>
                                        <p:attrNameLst>
                                          <p:attrName>style.visibility</p:attrName>
                                        </p:attrNameLst>
                                      </p:cBhvr>
                                      <p:to>
                                        <p:strVal val="visible"/>
                                      </p:to>
                                    </p:set>
                                    <p:anim calcmode="lin" valueType="num">
                                      <p:cBhvr additive="base">
                                        <p:cTn id="83" dur="500" fill="hold"/>
                                        <p:tgtEl>
                                          <p:spTgt spid="18"/>
                                        </p:tgtEl>
                                        <p:attrNameLst>
                                          <p:attrName>ppt_x</p:attrName>
                                        </p:attrNameLst>
                                      </p:cBhvr>
                                      <p:tavLst>
                                        <p:tav tm="0">
                                          <p:val>
                                            <p:strVal val="#ppt_x"/>
                                          </p:val>
                                        </p:tav>
                                        <p:tav tm="100000">
                                          <p:val>
                                            <p:strVal val="#ppt_x"/>
                                          </p:val>
                                        </p:tav>
                                      </p:tavLst>
                                    </p:anim>
                                    <p:anim calcmode="lin" valueType="num">
                                      <p:cBhvr additive="base">
                                        <p:cTn id="84" dur="500" fill="hold"/>
                                        <p:tgtEl>
                                          <p:spTgt spid="18"/>
                                        </p:tgtEl>
                                        <p:attrNameLst>
                                          <p:attrName>ppt_y</p:attrName>
                                        </p:attrNameLst>
                                      </p:cBhvr>
                                      <p:tavLst>
                                        <p:tav tm="0">
                                          <p:val>
                                            <p:strVal val="#ppt_y+0.1"/>
                                          </p:val>
                                        </p:tav>
                                        <p:tav tm="100000">
                                          <p:val>
                                            <p:strVal val="#ppt_y"/>
                                          </p:val>
                                        </p:tav>
                                      </p:tavLst>
                                    </p:anim>
                                    <p:animEffect transition="in" filter="fade">
                                      <p:cBhvr>
                                        <p:cTn id="85" dur="500"/>
                                        <p:tgtEl>
                                          <p:spTgt spid="18"/>
                                        </p:tgtEl>
                                      </p:cBhvr>
                                    </p:animEffect>
                                  </p:childTnLst>
                                </p:cTn>
                              </p:par>
                              <p:par>
                                <p:cTn id="86" presetID="2" presetClass="entr" presetSubtype="4" fill="hold" grpId="0" nodeType="withEffect">
                                  <p:stCondLst>
                                    <p:cond delay="0"/>
                                  </p:stCondLst>
                                  <p:childTnLst>
                                    <p:set>
                                      <p:cBhvr>
                                        <p:cTn id="87" dur="1" fill="hold">
                                          <p:stCondLst>
                                            <p:cond delay="0"/>
                                          </p:stCondLst>
                                        </p:cTn>
                                        <p:tgtEl>
                                          <p:spTgt spid="19"/>
                                        </p:tgtEl>
                                        <p:attrNameLst>
                                          <p:attrName>style.visibility</p:attrName>
                                        </p:attrNameLst>
                                      </p:cBhvr>
                                      <p:to>
                                        <p:strVal val="visible"/>
                                      </p:to>
                                    </p:set>
                                    <p:anim calcmode="lin" valueType="num">
                                      <p:cBhvr additive="base">
                                        <p:cTn id="88" dur="500" fill="hold"/>
                                        <p:tgtEl>
                                          <p:spTgt spid="19"/>
                                        </p:tgtEl>
                                        <p:attrNameLst>
                                          <p:attrName>ppt_x</p:attrName>
                                        </p:attrNameLst>
                                      </p:cBhvr>
                                      <p:tavLst>
                                        <p:tav tm="0">
                                          <p:val>
                                            <p:strVal val="#ppt_x"/>
                                          </p:val>
                                        </p:tav>
                                        <p:tav tm="100000">
                                          <p:val>
                                            <p:strVal val="#ppt_x"/>
                                          </p:val>
                                        </p:tav>
                                      </p:tavLst>
                                    </p:anim>
                                    <p:anim calcmode="lin" valueType="num">
                                      <p:cBhvr additive="base">
                                        <p:cTn id="89" dur="500" fill="hold"/>
                                        <p:tgtEl>
                                          <p:spTgt spid="19"/>
                                        </p:tgtEl>
                                        <p:attrNameLst>
                                          <p:attrName>ppt_y</p:attrName>
                                        </p:attrNameLst>
                                      </p:cBhvr>
                                      <p:tavLst>
                                        <p:tav tm="0">
                                          <p:val>
                                            <p:strVal val="#ppt_y+0.1"/>
                                          </p:val>
                                        </p:tav>
                                        <p:tav tm="100000">
                                          <p:val>
                                            <p:strVal val="#ppt_y"/>
                                          </p:val>
                                        </p:tav>
                                      </p:tavLst>
                                    </p:anim>
                                    <p:animEffect transition="in" filter="fade">
                                      <p:cBhvr>
                                        <p:cTn id="90" dur="500"/>
                                        <p:tgtEl>
                                          <p:spTgt spid="19"/>
                                        </p:tgtEl>
                                      </p:cBhvr>
                                    </p:animEffect>
                                  </p:childTnLst>
                                </p:cTn>
                              </p:par>
                            </p:childTnLst>
                          </p:cTn>
                        </p:par>
                      </p:childTnLst>
                    </p:cTn>
                  </p:par>
                  <p:par>
                    <p:cTn id="91" fill="hold">
                      <p:stCondLst>
                        <p:cond delay="indefinite"/>
                      </p:stCondLst>
                      <p:childTnLst>
                        <p:par>
                          <p:cTn id="92" fill="hold">
                            <p:stCondLst>
                              <p:cond delay="0"/>
                            </p:stCondLst>
                            <p:childTnLst>
                              <p:par>
                                <p:cTn id="93" presetID="2" presetClass="entr" presetSubtype="4" fill="hold" grpId="0" nodeType="clickEffect">
                                  <p:stCondLst>
                                    <p:cond delay="0"/>
                                  </p:stCondLst>
                                  <p:childTnLst>
                                    <p:set>
                                      <p:cBhvr>
                                        <p:cTn id="94" dur="1" fill="hold">
                                          <p:stCondLst>
                                            <p:cond delay="0"/>
                                          </p:stCondLst>
                                        </p:cTn>
                                        <p:tgtEl>
                                          <p:spTgt spid="20"/>
                                        </p:tgtEl>
                                        <p:attrNameLst>
                                          <p:attrName>style.visibility</p:attrName>
                                        </p:attrNameLst>
                                      </p:cBhvr>
                                      <p:to>
                                        <p:strVal val="visible"/>
                                      </p:to>
                                    </p:set>
                                    <p:anim calcmode="lin" valueType="num">
                                      <p:cBhvr additive="base">
                                        <p:cTn id="95" dur="500" fill="hold"/>
                                        <p:tgtEl>
                                          <p:spTgt spid="20"/>
                                        </p:tgtEl>
                                        <p:attrNameLst>
                                          <p:attrName>ppt_x</p:attrName>
                                        </p:attrNameLst>
                                      </p:cBhvr>
                                      <p:tavLst>
                                        <p:tav tm="0">
                                          <p:val>
                                            <p:strVal val="#ppt_x"/>
                                          </p:val>
                                        </p:tav>
                                        <p:tav tm="100000">
                                          <p:val>
                                            <p:strVal val="#ppt_x"/>
                                          </p:val>
                                        </p:tav>
                                      </p:tavLst>
                                    </p:anim>
                                    <p:anim calcmode="lin" valueType="num">
                                      <p:cBhvr additive="base">
                                        <p:cTn id="96" dur="500" fill="hold"/>
                                        <p:tgtEl>
                                          <p:spTgt spid="20"/>
                                        </p:tgtEl>
                                        <p:attrNameLst>
                                          <p:attrName>ppt_y</p:attrName>
                                        </p:attrNameLst>
                                      </p:cBhvr>
                                      <p:tavLst>
                                        <p:tav tm="0">
                                          <p:val>
                                            <p:strVal val="#ppt_y+0.1"/>
                                          </p:val>
                                        </p:tav>
                                        <p:tav tm="100000">
                                          <p:val>
                                            <p:strVal val="#ppt_y"/>
                                          </p:val>
                                        </p:tav>
                                      </p:tavLst>
                                    </p:anim>
                                    <p:animEffect transition="in" filter="fade">
                                      <p:cBhvr>
                                        <p:cTn id="97" dur="500"/>
                                        <p:tgtEl>
                                          <p:spTgt spid="20"/>
                                        </p:tgtEl>
                                      </p:cBhvr>
                                    </p:animEffect>
                                  </p:childTnLst>
                                </p:cTn>
                              </p:par>
                              <p:par>
                                <p:cTn id="98" presetID="2" presetClass="entr" presetSubtype="4" fill="hold" grpId="0" nodeType="withEffect">
                                  <p:stCondLst>
                                    <p:cond delay="0"/>
                                  </p:stCondLst>
                                  <p:childTnLst>
                                    <p:set>
                                      <p:cBhvr>
                                        <p:cTn id="99" dur="1" fill="hold">
                                          <p:stCondLst>
                                            <p:cond delay="0"/>
                                          </p:stCondLst>
                                        </p:cTn>
                                        <p:tgtEl>
                                          <p:spTgt spid="21"/>
                                        </p:tgtEl>
                                        <p:attrNameLst>
                                          <p:attrName>style.visibility</p:attrName>
                                        </p:attrNameLst>
                                      </p:cBhvr>
                                      <p:to>
                                        <p:strVal val="visible"/>
                                      </p:to>
                                    </p:set>
                                    <p:anim calcmode="lin" valueType="num">
                                      <p:cBhvr additive="base">
                                        <p:cTn id="100" dur="500" fill="hold"/>
                                        <p:tgtEl>
                                          <p:spTgt spid="21"/>
                                        </p:tgtEl>
                                        <p:attrNameLst>
                                          <p:attrName>ppt_x</p:attrName>
                                        </p:attrNameLst>
                                      </p:cBhvr>
                                      <p:tavLst>
                                        <p:tav tm="0">
                                          <p:val>
                                            <p:strVal val="#ppt_x"/>
                                          </p:val>
                                        </p:tav>
                                        <p:tav tm="100000">
                                          <p:val>
                                            <p:strVal val="#ppt_x"/>
                                          </p:val>
                                        </p:tav>
                                      </p:tavLst>
                                    </p:anim>
                                    <p:anim calcmode="lin" valueType="num">
                                      <p:cBhvr additive="base">
                                        <p:cTn id="101" dur="500" fill="hold"/>
                                        <p:tgtEl>
                                          <p:spTgt spid="21"/>
                                        </p:tgtEl>
                                        <p:attrNameLst>
                                          <p:attrName>ppt_y</p:attrName>
                                        </p:attrNameLst>
                                      </p:cBhvr>
                                      <p:tavLst>
                                        <p:tav tm="0">
                                          <p:val>
                                            <p:strVal val="#ppt_y+0.1"/>
                                          </p:val>
                                        </p:tav>
                                        <p:tav tm="100000">
                                          <p:val>
                                            <p:strVal val="#ppt_y"/>
                                          </p:val>
                                        </p:tav>
                                      </p:tavLst>
                                    </p:anim>
                                    <p:animEffect transition="in" filter="fade">
                                      <p:cBhvr>
                                        <p:cTn id="102" dur="500"/>
                                        <p:tgtEl>
                                          <p:spTgt spid="21"/>
                                        </p:tgtEl>
                                      </p:cBhvr>
                                    </p:animEffect>
                                  </p:childTnLst>
                                </p:cTn>
                              </p:par>
                              <p:par>
                                <p:cTn id="103" presetID="2" presetClass="entr" presetSubtype="4" fill="hold" grpId="0" nodeType="withEffect">
                                  <p:stCondLst>
                                    <p:cond delay="0"/>
                                  </p:stCondLst>
                                  <p:childTnLst>
                                    <p:set>
                                      <p:cBhvr>
                                        <p:cTn id="104" dur="1" fill="hold">
                                          <p:stCondLst>
                                            <p:cond delay="0"/>
                                          </p:stCondLst>
                                        </p:cTn>
                                        <p:tgtEl>
                                          <p:spTgt spid="22"/>
                                        </p:tgtEl>
                                        <p:attrNameLst>
                                          <p:attrName>style.visibility</p:attrName>
                                        </p:attrNameLst>
                                      </p:cBhvr>
                                      <p:to>
                                        <p:strVal val="visible"/>
                                      </p:to>
                                    </p:set>
                                    <p:anim calcmode="lin" valueType="num">
                                      <p:cBhvr additive="base">
                                        <p:cTn id="105" dur="500" fill="hold"/>
                                        <p:tgtEl>
                                          <p:spTgt spid="22"/>
                                        </p:tgtEl>
                                        <p:attrNameLst>
                                          <p:attrName>ppt_x</p:attrName>
                                        </p:attrNameLst>
                                      </p:cBhvr>
                                      <p:tavLst>
                                        <p:tav tm="0">
                                          <p:val>
                                            <p:strVal val="#ppt_x"/>
                                          </p:val>
                                        </p:tav>
                                        <p:tav tm="100000">
                                          <p:val>
                                            <p:strVal val="#ppt_x"/>
                                          </p:val>
                                        </p:tav>
                                      </p:tavLst>
                                    </p:anim>
                                    <p:anim calcmode="lin" valueType="num">
                                      <p:cBhvr additive="base">
                                        <p:cTn id="106" dur="500" fill="hold"/>
                                        <p:tgtEl>
                                          <p:spTgt spid="22"/>
                                        </p:tgtEl>
                                        <p:attrNameLst>
                                          <p:attrName>ppt_y</p:attrName>
                                        </p:attrNameLst>
                                      </p:cBhvr>
                                      <p:tavLst>
                                        <p:tav tm="0">
                                          <p:val>
                                            <p:strVal val="#ppt_y+0.1"/>
                                          </p:val>
                                        </p:tav>
                                        <p:tav tm="100000">
                                          <p:val>
                                            <p:strVal val="#ppt_y"/>
                                          </p:val>
                                        </p:tav>
                                      </p:tavLst>
                                    </p:anim>
                                    <p:animEffect transition="in" filter="fade">
                                      <p:cBhvr>
                                        <p:cTn id="107" dur="500"/>
                                        <p:tgtEl>
                                          <p:spTgt spid="22"/>
                                        </p:tgtEl>
                                      </p:cBhvr>
                                    </p:animEffect>
                                  </p:childTnLst>
                                </p:cTn>
                              </p:par>
                              <p:par>
                                <p:cTn id="108" presetID="2" presetClass="entr" presetSubtype="4" fill="hold" grpId="0" nodeType="withEffect">
                                  <p:stCondLst>
                                    <p:cond delay="0"/>
                                  </p:stCondLst>
                                  <p:childTnLst>
                                    <p:set>
                                      <p:cBhvr>
                                        <p:cTn id="109" dur="1" fill="hold">
                                          <p:stCondLst>
                                            <p:cond delay="0"/>
                                          </p:stCondLst>
                                        </p:cTn>
                                        <p:tgtEl>
                                          <p:spTgt spid="23"/>
                                        </p:tgtEl>
                                        <p:attrNameLst>
                                          <p:attrName>style.visibility</p:attrName>
                                        </p:attrNameLst>
                                      </p:cBhvr>
                                      <p:to>
                                        <p:strVal val="visible"/>
                                      </p:to>
                                    </p:set>
                                    <p:anim calcmode="lin" valueType="num">
                                      <p:cBhvr additive="base">
                                        <p:cTn id="110" dur="500" fill="hold"/>
                                        <p:tgtEl>
                                          <p:spTgt spid="23"/>
                                        </p:tgtEl>
                                        <p:attrNameLst>
                                          <p:attrName>ppt_x</p:attrName>
                                        </p:attrNameLst>
                                      </p:cBhvr>
                                      <p:tavLst>
                                        <p:tav tm="0">
                                          <p:val>
                                            <p:strVal val="#ppt_x"/>
                                          </p:val>
                                        </p:tav>
                                        <p:tav tm="100000">
                                          <p:val>
                                            <p:strVal val="#ppt_x"/>
                                          </p:val>
                                        </p:tav>
                                      </p:tavLst>
                                    </p:anim>
                                    <p:anim calcmode="lin" valueType="num">
                                      <p:cBhvr additive="base">
                                        <p:cTn id="111" dur="500" fill="hold"/>
                                        <p:tgtEl>
                                          <p:spTgt spid="23"/>
                                        </p:tgtEl>
                                        <p:attrNameLst>
                                          <p:attrName>ppt_y</p:attrName>
                                        </p:attrNameLst>
                                      </p:cBhvr>
                                      <p:tavLst>
                                        <p:tav tm="0">
                                          <p:val>
                                            <p:strVal val="#ppt_y+0.1"/>
                                          </p:val>
                                        </p:tav>
                                        <p:tav tm="100000">
                                          <p:val>
                                            <p:strVal val="#ppt_y"/>
                                          </p:val>
                                        </p:tav>
                                      </p:tavLst>
                                    </p:anim>
                                    <p:animEffect transition="in" filter="fade">
                                      <p:cBhvr>
                                        <p:cTn id="112" dur="500"/>
                                        <p:tgtEl>
                                          <p:spTgt spid="23"/>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24"/>
                                        </p:tgtEl>
                                        <p:attrNameLst>
                                          <p:attrName>style.visibility</p:attrName>
                                        </p:attrNameLst>
                                      </p:cBhvr>
                                      <p:to>
                                        <p:strVal val="visible"/>
                                      </p:to>
                                    </p:set>
                                    <p:animEffect transition="in" filter="fade">
                                      <p:cBhvr>
                                        <p:cTn id="117" dur="500"/>
                                        <p:tgtEl>
                                          <p:spTgt spid="24"/>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25"/>
                                        </p:tgtEl>
                                        <p:attrNameLst>
                                          <p:attrName>style.visibility</p:attrName>
                                        </p:attrNameLst>
                                      </p:cBhvr>
                                      <p:to>
                                        <p:strVal val="visible"/>
                                      </p:to>
                                    </p:set>
                                    <p:animEffect transition="in" filter="fade">
                                      <p:cBhvr>
                                        <p:cTn id="120" dur="500"/>
                                        <p:tgtEl>
                                          <p:spTgt spid="25"/>
                                        </p:tgtEl>
                                      </p:cBhvr>
                                    </p:animEffect>
                                  </p:childTnLst>
                                </p:cTn>
                              </p:par>
                              <p:par>
                                <p:cTn id="121" presetID="10" presetClass="entr" presetSubtype="0" fill="hold" grpId="0" nodeType="withEffect">
                                  <p:stCondLst>
                                    <p:cond delay="120"/>
                                  </p:stCondLst>
                                  <p:childTnLst>
                                    <p:set>
                                      <p:cBhvr>
                                        <p:cTn id="122" dur="1" fill="hold">
                                          <p:stCondLst>
                                            <p:cond delay="0"/>
                                          </p:stCondLst>
                                        </p:cTn>
                                        <p:tgtEl>
                                          <p:spTgt spid="26"/>
                                        </p:tgtEl>
                                        <p:attrNameLst>
                                          <p:attrName>style.visibility</p:attrName>
                                        </p:attrNameLst>
                                      </p:cBhvr>
                                      <p:to>
                                        <p:strVal val="visible"/>
                                      </p:to>
                                    </p:set>
                                    <p:animEffect transition="in" filter="fade">
                                      <p:cBhvr>
                                        <p:cTn id="123" dur="500"/>
                                        <p:tgtEl>
                                          <p:spTgt spid="26"/>
                                        </p:tgtEl>
                                      </p:cBhvr>
                                    </p:animEffect>
                                  </p:childTnLst>
                                </p:cTn>
                              </p:par>
                              <p:par>
                                <p:cTn id="124" presetID="10" presetClass="entr" presetSubtype="0" fill="hold" grpId="0" nodeType="withEffect">
                                  <p:stCondLst>
                                    <p:cond delay="240"/>
                                  </p:stCondLst>
                                  <p:childTnLst>
                                    <p:set>
                                      <p:cBhvr>
                                        <p:cTn id="125" dur="1" fill="hold">
                                          <p:stCondLst>
                                            <p:cond delay="0"/>
                                          </p:stCondLst>
                                        </p:cTn>
                                        <p:tgtEl>
                                          <p:spTgt spid="27"/>
                                        </p:tgtEl>
                                        <p:attrNameLst>
                                          <p:attrName>style.visibility</p:attrName>
                                        </p:attrNameLst>
                                      </p:cBhvr>
                                      <p:to>
                                        <p:strVal val="visible"/>
                                      </p:to>
                                    </p:set>
                                    <p:animEffect transition="in" filter="fade">
                                      <p:cBhvr>
                                        <p:cTn id="126" dur="500"/>
                                        <p:tgtEl>
                                          <p:spTgt spid="27"/>
                                        </p:tgtEl>
                                      </p:cBhvr>
                                    </p:animEffect>
                                  </p:childTnLst>
                                </p:cTn>
                              </p:par>
                              <p:par>
                                <p:cTn id="127" presetID="10" presetClass="entr" presetSubtype="0" fill="hold" grpId="0" nodeType="withEffect">
                                  <p:stCondLst>
                                    <p:cond delay="360"/>
                                  </p:stCondLst>
                                  <p:childTnLst>
                                    <p:set>
                                      <p:cBhvr>
                                        <p:cTn id="128" dur="1" fill="hold">
                                          <p:stCondLst>
                                            <p:cond delay="0"/>
                                          </p:stCondLst>
                                        </p:cTn>
                                        <p:tgtEl>
                                          <p:spTgt spid="28"/>
                                        </p:tgtEl>
                                        <p:attrNameLst>
                                          <p:attrName>style.visibility</p:attrName>
                                        </p:attrNameLst>
                                      </p:cBhvr>
                                      <p:to>
                                        <p:strVal val="visible"/>
                                      </p:to>
                                    </p:set>
                                    <p:animEffect transition="in" filter="fade">
                                      <p:cBhvr>
                                        <p:cTn id="129" dur="500"/>
                                        <p:tgtEl>
                                          <p:spTgt spid="28"/>
                                        </p:tgtEl>
                                      </p:cBhvr>
                                    </p:animEffect>
                                  </p:childTnLst>
                                </p:cTn>
                              </p:par>
                              <p:par>
                                <p:cTn id="130" presetID="10" presetClass="entr" presetSubtype="0" fill="hold" grpId="0" nodeType="withEffect">
                                  <p:stCondLst>
                                    <p:cond delay="480"/>
                                  </p:stCondLst>
                                  <p:childTnLst>
                                    <p:set>
                                      <p:cBhvr>
                                        <p:cTn id="131" dur="1" fill="hold">
                                          <p:stCondLst>
                                            <p:cond delay="0"/>
                                          </p:stCondLst>
                                        </p:cTn>
                                        <p:tgtEl>
                                          <p:spTgt spid="29"/>
                                        </p:tgtEl>
                                        <p:attrNameLst>
                                          <p:attrName>style.visibility</p:attrName>
                                        </p:attrNameLst>
                                      </p:cBhvr>
                                      <p:to>
                                        <p:strVal val="visible"/>
                                      </p:to>
                                    </p:set>
                                    <p:animEffect transition="in" filter="fade">
                                      <p:cBhvr>
                                        <p:cTn id="132" dur="500"/>
                                        <p:tgtEl>
                                          <p:spTgt spid="29"/>
                                        </p:tgtEl>
                                      </p:cBhvr>
                                    </p:animEffect>
                                  </p:childTnLst>
                                </p:cTn>
                              </p:par>
                            </p:childTnLst>
                          </p:cTn>
                        </p:par>
                      </p:childTnLst>
                    </p:cTn>
                  </p:par>
                  <p:par>
                    <p:cTn id="133" fill="hold">
                      <p:stCondLst>
                        <p:cond delay="indefinite"/>
                      </p:stCondLst>
                      <p:childTnLst>
                        <p:par>
                          <p:cTn id="134" fill="hold">
                            <p:stCondLst>
                              <p:cond delay="0"/>
                            </p:stCondLst>
                            <p:childTnLst>
                              <p:par>
                                <p:cTn id="135" presetID="10" presetClass="entr" presetSubtype="0" fill="hold" grpId="0" nodeType="clickEffect">
                                  <p:stCondLst>
                                    <p:cond delay="0"/>
                                  </p:stCondLst>
                                  <p:childTnLst>
                                    <p:set>
                                      <p:cBhvr>
                                        <p:cTn id="136" dur="1" fill="hold">
                                          <p:stCondLst>
                                            <p:cond delay="0"/>
                                          </p:stCondLst>
                                        </p:cTn>
                                        <p:tgtEl>
                                          <p:spTgt spid="30"/>
                                        </p:tgtEl>
                                        <p:attrNameLst>
                                          <p:attrName>style.visibility</p:attrName>
                                        </p:attrNameLst>
                                      </p:cBhvr>
                                      <p:to>
                                        <p:strVal val="visible"/>
                                      </p:to>
                                    </p:set>
                                    <p:animEffect transition="in" filter="fade">
                                      <p:cBhvr>
                                        <p:cTn id="13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1"/>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Surrogate vs. Natural Keys</a:t>
            </a:r>
            <a:endParaRPr lang="en-US" sz="2800" dirty="0"/>
          </a:p>
        </p:txBody>
      </p:sp>
      <p:sp>
        <p:nvSpPr>
          <p:cNvPr id="3" name="Text 2"/>
          <p:cNvSpPr txBox="1"/>
          <p:nvPr/>
        </p:nvSpPr>
        <p:spPr>
          <a:xfrm>
            <a:off x="457200" y="749808"/>
            <a:ext cx="8229600" cy="320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Where does the identity come from — the system, or the business?</a:t>
            </a:r>
            <a:endParaRPr lang="en-US" sz="1300" dirty="0"/>
          </a:p>
        </p:txBody>
      </p:sp>
      <p:sp>
        <p:nvSpPr>
          <p:cNvPr id="4" name="a1f_box3"/>
          <p:cNvSpPr txBox="1"/>
          <p:nvPr/>
        </p:nvSpPr>
        <p:spPr>
          <a:xfrm>
            <a:off x="2103120" y="1234440"/>
            <a:ext cx="3200400" cy="438912"/>
          </a:xfrm>
          <a:prstGeom prst="roundRect">
            <a:avLst>
              <a:gd name="adj" fmla="val 10000"/>
            </a:avLst>
          </a:prstGeom>
          <a:solidFill>
            <a:srgbClr val="0F766E"/>
          </a:solidFill>
          <a:ln w="12700">
            <a:solidFill>
              <a:srgbClr val="0F766E"/>
            </a:solidFill>
            <a:prstDash val="solid"/>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SURROGATE</a:t>
            </a:r>
            <a:endParaRPr lang="en-US" sz="1400" dirty="0"/>
          </a:p>
        </p:txBody>
      </p:sp>
      <p:sp>
        <p:nvSpPr>
          <p:cNvPr id="5" name="a1f_box4"/>
          <p:cNvSpPr txBox="1"/>
          <p:nvPr/>
        </p:nvSpPr>
        <p:spPr>
          <a:xfrm>
            <a:off x="5440680" y="1234440"/>
            <a:ext cx="3200400" cy="438912"/>
          </a:xfrm>
          <a:prstGeom prst="roundRect">
            <a:avLst>
              <a:gd name="adj" fmla="val 10000"/>
            </a:avLst>
          </a:prstGeom>
          <a:solidFill>
            <a:srgbClr val="6D28D9"/>
          </a:solidFill>
          <a:ln w="12700">
            <a:solidFill>
              <a:srgbClr val="6D28D9"/>
            </a:solidFill>
            <a:prstDash val="solid"/>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NATURAL</a:t>
            </a:r>
            <a:endParaRPr lang="en-US" sz="1400" dirty="0"/>
          </a:p>
        </p:txBody>
      </p:sp>
      <p:sp>
        <p:nvSpPr>
          <p:cNvPr id="6" name="a2f_box5"/>
          <p:cNvSpPr txBox="1"/>
          <p:nvPr/>
        </p:nvSpPr>
        <p:spPr>
          <a:xfrm>
            <a:off x="457200" y="1801368"/>
            <a:ext cx="1508760" cy="457200"/>
          </a:xfrm>
          <a:prstGeom prst="roundRect">
            <a:avLst>
              <a:gd name="adj" fmla="val 10000"/>
            </a:avLst>
          </a:prstGeom>
          <a:solidFill>
            <a:srgbClr val="E2E8F0"/>
          </a:solidFill>
          <a:ln w="12700">
            <a:solidFill>
              <a:srgbClr val="E2E8F0"/>
            </a:solidFill>
            <a:prstDash val="solid"/>
          </a:ln>
        </p:spPr>
        <p:txBody>
          <a:bodyPr wrap="square" lIns="0" tIns="0" rIns="0" bIns="0"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Example</a:t>
            </a:r>
            <a:endParaRPr lang="en-US" sz="1200" dirty="0"/>
          </a:p>
        </p:txBody>
      </p:sp>
      <p:sp>
        <p:nvSpPr>
          <p:cNvPr id="7" name="a2wd100_box6"/>
          <p:cNvSpPr txBox="1"/>
          <p:nvPr/>
        </p:nvSpPr>
        <p:spPr>
          <a:xfrm>
            <a:off x="2103120" y="1801368"/>
            <a:ext cx="3200400" cy="457200"/>
          </a:xfrm>
          <a:prstGeom prst="roundRect">
            <a:avLst>
              <a:gd name="adj" fmla="val 10000"/>
            </a:avLst>
          </a:prstGeom>
          <a:solidFill>
            <a:srgbClr val="FFFFFF"/>
          </a:solidFill>
          <a:ln w="12700">
            <a:solidFill>
              <a:srgbClr val="E2E8F0"/>
            </a:solidFill>
            <a:prstDash val="solid"/>
          </a:ln>
        </p:spPr>
        <p:txBody>
          <a:bodyPr wrap="square" lIns="0" tIns="0" rIns="0" bIns="0" rtlCol="0" anchor="ctr"/>
          <a:lstStyle/>
          <a:p>
            <a:pPr marL="0" indent="0" algn="ctr">
              <a:buNone/>
            </a:pPr>
            <a:r>
              <a:rPr lang="en-US" sz="1200" dirty="0">
                <a:solidFill>
                  <a:srgbClr val="334155"/>
                </a:solidFill>
                <a:latin typeface="Courier New" pitchFamily="34" charset="0"/>
                <a:ea typeface="Courier New" pitchFamily="34" charset="-122"/>
                <a:cs typeface="Courier New" pitchFamily="34" charset="-120"/>
              </a:rPr>
              <a:t>customer_id = 1001</a:t>
            </a:r>
            <a:endParaRPr lang="en-US" sz="1200" dirty="0"/>
          </a:p>
        </p:txBody>
      </p:sp>
      <p:sp>
        <p:nvSpPr>
          <p:cNvPr id="8" name="a2wd300_box7"/>
          <p:cNvSpPr txBox="1"/>
          <p:nvPr/>
        </p:nvSpPr>
        <p:spPr>
          <a:xfrm>
            <a:off x="5440680" y="1801368"/>
            <a:ext cx="3200400" cy="457200"/>
          </a:xfrm>
          <a:prstGeom prst="roundRect">
            <a:avLst>
              <a:gd name="adj" fmla="val 10000"/>
            </a:avLst>
          </a:prstGeom>
          <a:solidFill>
            <a:srgbClr val="EDE9FE"/>
          </a:solidFill>
          <a:ln w="12700">
            <a:solidFill>
              <a:srgbClr val="EDE9FE"/>
            </a:solidFill>
            <a:prstDash val="solid"/>
          </a:ln>
        </p:spPr>
        <p:txBody>
          <a:bodyPr wrap="square" lIns="0" tIns="0" rIns="0" bIns="0" rtlCol="0" anchor="ctr"/>
          <a:lstStyle/>
          <a:p>
            <a:pPr marL="0" indent="0" algn="ctr">
              <a:buNone/>
            </a:pPr>
            <a:r>
              <a:rPr lang="en-US" sz="1200" dirty="0">
                <a:solidFill>
                  <a:srgbClr val="0F172A"/>
                </a:solidFill>
                <a:latin typeface="Courier New" pitchFamily="34" charset="0"/>
                <a:ea typeface="Courier New" pitchFamily="34" charset="-122"/>
                <a:cs typeface="Courier New" pitchFamily="34" charset="-120"/>
              </a:rPr>
              <a:t>pan_number = 'ABCDE1234F'</a:t>
            </a:r>
            <a:endParaRPr lang="en-US" sz="1200" dirty="0"/>
          </a:p>
        </p:txBody>
      </p:sp>
      <p:sp>
        <p:nvSpPr>
          <p:cNvPr id="9" name="a3f_box8"/>
          <p:cNvSpPr txBox="1"/>
          <p:nvPr/>
        </p:nvSpPr>
        <p:spPr>
          <a:xfrm>
            <a:off x="457200" y="2350008"/>
            <a:ext cx="1508760" cy="457200"/>
          </a:xfrm>
          <a:prstGeom prst="roundRect">
            <a:avLst>
              <a:gd name="adj" fmla="val 10000"/>
            </a:avLst>
          </a:prstGeom>
          <a:solidFill>
            <a:srgbClr val="E2E8F0"/>
          </a:solidFill>
          <a:ln w="12700">
            <a:solidFill>
              <a:srgbClr val="E2E8F0"/>
            </a:solidFill>
            <a:prstDash val="solid"/>
          </a:ln>
        </p:spPr>
        <p:txBody>
          <a:bodyPr wrap="square" lIns="0" tIns="0" rIns="0" bIns="0"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Business meaning</a:t>
            </a:r>
            <a:endParaRPr lang="en-US" sz="1200" dirty="0"/>
          </a:p>
        </p:txBody>
      </p:sp>
      <p:sp>
        <p:nvSpPr>
          <p:cNvPr id="10" name="a3wd100_box9"/>
          <p:cNvSpPr txBox="1"/>
          <p:nvPr/>
        </p:nvSpPr>
        <p:spPr>
          <a:xfrm>
            <a:off x="2103120" y="2350008"/>
            <a:ext cx="3200400" cy="457200"/>
          </a:xfrm>
          <a:prstGeom prst="roundRect">
            <a:avLst>
              <a:gd name="adj" fmla="val 10000"/>
            </a:avLst>
          </a:prstGeom>
          <a:solidFill>
            <a:srgbClr val="FFFFFF"/>
          </a:solidFill>
          <a:ln w="12700">
            <a:solidFill>
              <a:srgbClr val="E2E8F0"/>
            </a:solidFill>
            <a:prstDash val="solid"/>
          </a:ln>
        </p:spPr>
        <p:txBody>
          <a:bodyPr wrap="square" lIns="0" tIns="0" rIns="0" bIns="0"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None</a:t>
            </a:r>
            <a:endParaRPr lang="en-US" sz="1200" dirty="0"/>
          </a:p>
        </p:txBody>
      </p:sp>
      <p:sp>
        <p:nvSpPr>
          <p:cNvPr id="11" name="a3wd300_box10"/>
          <p:cNvSpPr txBox="1"/>
          <p:nvPr/>
        </p:nvSpPr>
        <p:spPr>
          <a:xfrm>
            <a:off x="5440680" y="2350008"/>
            <a:ext cx="3200400" cy="457200"/>
          </a:xfrm>
          <a:prstGeom prst="roundRect">
            <a:avLst>
              <a:gd name="adj" fmla="val 10000"/>
            </a:avLst>
          </a:prstGeom>
          <a:solidFill>
            <a:srgbClr val="EDE9FE"/>
          </a:solidFill>
          <a:ln w="12700">
            <a:solidFill>
              <a:srgbClr val="EDE9FE"/>
            </a:solidFill>
            <a:prstDash val="solid"/>
          </a:ln>
        </p:spPr>
        <p:txBody>
          <a:bodyPr wrap="square" lIns="0" tIns="0" rIns="0" bIns="0"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Yes</a:t>
            </a:r>
            <a:endParaRPr lang="en-US" sz="1200" dirty="0"/>
          </a:p>
        </p:txBody>
      </p:sp>
      <p:sp>
        <p:nvSpPr>
          <p:cNvPr id="12" name="a4f_box11"/>
          <p:cNvSpPr txBox="1"/>
          <p:nvPr/>
        </p:nvSpPr>
        <p:spPr>
          <a:xfrm>
            <a:off x="457200" y="2898648"/>
            <a:ext cx="1508760" cy="457200"/>
          </a:xfrm>
          <a:prstGeom prst="roundRect">
            <a:avLst>
              <a:gd name="adj" fmla="val 10000"/>
            </a:avLst>
          </a:prstGeom>
          <a:solidFill>
            <a:srgbClr val="E2E8F0"/>
          </a:solidFill>
          <a:ln w="12700">
            <a:solidFill>
              <a:srgbClr val="E2E8F0"/>
            </a:solidFill>
            <a:prstDash val="solid"/>
          </a:ln>
        </p:spPr>
        <p:txBody>
          <a:bodyPr wrap="square" lIns="0" tIns="0" rIns="0" bIns="0"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Stability</a:t>
            </a:r>
            <a:endParaRPr lang="en-US" sz="1200" dirty="0"/>
          </a:p>
        </p:txBody>
      </p:sp>
      <p:sp>
        <p:nvSpPr>
          <p:cNvPr id="13" name="a4wd100_box12"/>
          <p:cNvSpPr txBox="1"/>
          <p:nvPr/>
        </p:nvSpPr>
        <p:spPr>
          <a:xfrm>
            <a:off x="2103120" y="2898648"/>
            <a:ext cx="3200400" cy="457200"/>
          </a:xfrm>
          <a:prstGeom prst="roundRect">
            <a:avLst>
              <a:gd name="adj" fmla="val 10000"/>
            </a:avLst>
          </a:prstGeom>
          <a:solidFill>
            <a:srgbClr val="FFFFFF"/>
          </a:solidFill>
          <a:ln w="12700">
            <a:solidFill>
              <a:srgbClr val="E2E8F0"/>
            </a:solidFill>
            <a:prstDash val="solid"/>
          </a:ln>
        </p:spPr>
        <p:txBody>
          <a:bodyPr wrap="square" lIns="0" tIns="0" rIns="0" bIns="0"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Permanent by construction</a:t>
            </a:r>
            <a:endParaRPr lang="en-US" sz="1200" dirty="0"/>
          </a:p>
        </p:txBody>
      </p:sp>
      <p:sp>
        <p:nvSpPr>
          <p:cNvPr id="14" name="a4wd300_box13"/>
          <p:cNvSpPr txBox="1"/>
          <p:nvPr/>
        </p:nvSpPr>
        <p:spPr>
          <a:xfrm>
            <a:off x="5440680" y="2898648"/>
            <a:ext cx="3200400" cy="457200"/>
          </a:xfrm>
          <a:prstGeom prst="roundRect">
            <a:avLst>
              <a:gd name="adj" fmla="val 10000"/>
            </a:avLst>
          </a:prstGeom>
          <a:solidFill>
            <a:srgbClr val="EDE9FE"/>
          </a:solidFill>
          <a:ln w="12700">
            <a:solidFill>
              <a:srgbClr val="EDE9FE"/>
            </a:solidFill>
            <a:prstDash val="solid"/>
          </a:ln>
        </p:spPr>
        <p:txBody>
          <a:bodyPr wrap="square" lIns="0" tIns="0" rIns="0" bIns="0"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Changes when the business does</a:t>
            </a:r>
            <a:endParaRPr lang="en-US" sz="1200" dirty="0"/>
          </a:p>
        </p:txBody>
      </p:sp>
      <p:sp>
        <p:nvSpPr>
          <p:cNvPr id="15" name="a5f_box14"/>
          <p:cNvSpPr txBox="1"/>
          <p:nvPr/>
        </p:nvSpPr>
        <p:spPr>
          <a:xfrm>
            <a:off x="457200" y="3447288"/>
            <a:ext cx="1508760" cy="457200"/>
          </a:xfrm>
          <a:prstGeom prst="roundRect">
            <a:avLst>
              <a:gd name="adj" fmla="val 10000"/>
            </a:avLst>
          </a:prstGeom>
          <a:solidFill>
            <a:srgbClr val="E2E8F0"/>
          </a:solidFill>
          <a:ln w="12700">
            <a:solidFill>
              <a:srgbClr val="E2E8F0"/>
            </a:solidFill>
            <a:prstDash val="solid"/>
          </a:ln>
        </p:spPr>
        <p:txBody>
          <a:bodyPr wrap="square" lIns="0" tIns="0" rIns="0" bIns="0"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Size in FKs</a:t>
            </a:r>
            <a:endParaRPr lang="en-US" sz="1200" dirty="0"/>
          </a:p>
        </p:txBody>
      </p:sp>
      <p:sp>
        <p:nvSpPr>
          <p:cNvPr id="16" name="a5wd100_box15"/>
          <p:cNvSpPr txBox="1"/>
          <p:nvPr/>
        </p:nvSpPr>
        <p:spPr>
          <a:xfrm>
            <a:off x="2103120" y="3447288"/>
            <a:ext cx="3200400" cy="457200"/>
          </a:xfrm>
          <a:prstGeom prst="roundRect">
            <a:avLst>
              <a:gd name="adj" fmla="val 10000"/>
            </a:avLst>
          </a:prstGeom>
          <a:solidFill>
            <a:srgbClr val="FFFFFF"/>
          </a:solidFill>
          <a:ln w="12700">
            <a:solidFill>
              <a:srgbClr val="E2E8F0"/>
            </a:solidFill>
            <a:prstDash val="solid"/>
          </a:ln>
        </p:spPr>
        <p:txBody>
          <a:bodyPr wrap="square" lIns="0" tIns="0" rIns="0" bIns="0"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Small integer</a:t>
            </a:r>
            <a:endParaRPr lang="en-US" sz="1200" dirty="0"/>
          </a:p>
        </p:txBody>
      </p:sp>
      <p:sp>
        <p:nvSpPr>
          <p:cNvPr id="17" name="a5wd300_box16"/>
          <p:cNvSpPr txBox="1"/>
          <p:nvPr/>
        </p:nvSpPr>
        <p:spPr>
          <a:xfrm>
            <a:off x="5440680" y="3447288"/>
            <a:ext cx="3200400" cy="457200"/>
          </a:xfrm>
          <a:prstGeom prst="roundRect">
            <a:avLst>
              <a:gd name="adj" fmla="val 10000"/>
            </a:avLst>
          </a:prstGeom>
          <a:solidFill>
            <a:srgbClr val="EDE9FE"/>
          </a:solidFill>
          <a:ln w="12700">
            <a:solidFill>
              <a:srgbClr val="EDE9FE"/>
            </a:solidFill>
            <a:prstDash val="solid"/>
          </a:ln>
        </p:spPr>
        <p:txBody>
          <a:bodyPr wrap="square" lIns="0" tIns="0" rIns="0" bIns="0"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Long string in every child row</a:t>
            </a:r>
            <a:endParaRPr lang="en-US" sz="1200" dirty="0"/>
          </a:p>
        </p:txBody>
      </p:sp>
      <p:sp>
        <p:nvSpPr>
          <p:cNvPr id="18" name="a6f_box17"/>
          <p:cNvSpPr txBox="1"/>
          <p:nvPr/>
        </p:nvSpPr>
        <p:spPr>
          <a:xfrm>
            <a:off x="457200" y="3995928"/>
            <a:ext cx="1508760" cy="457200"/>
          </a:xfrm>
          <a:prstGeom prst="roundRect">
            <a:avLst>
              <a:gd name="adj" fmla="val 10000"/>
            </a:avLst>
          </a:prstGeom>
          <a:solidFill>
            <a:srgbClr val="E2E8F0"/>
          </a:solidFill>
          <a:ln w="12700">
            <a:solidFill>
              <a:srgbClr val="E2E8F0"/>
            </a:solidFill>
            <a:prstDash val="solid"/>
          </a:ln>
        </p:spPr>
        <p:txBody>
          <a:bodyPr wrap="square" lIns="0" tIns="0" rIns="0" bIns="0"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Readability</a:t>
            </a:r>
            <a:endParaRPr lang="en-US" sz="1200" dirty="0"/>
          </a:p>
        </p:txBody>
      </p:sp>
      <p:sp>
        <p:nvSpPr>
          <p:cNvPr id="19" name="a6wd100_box18"/>
          <p:cNvSpPr txBox="1"/>
          <p:nvPr/>
        </p:nvSpPr>
        <p:spPr>
          <a:xfrm>
            <a:off x="2103120" y="3995928"/>
            <a:ext cx="3200400" cy="457200"/>
          </a:xfrm>
          <a:prstGeom prst="roundRect">
            <a:avLst>
              <a:gd name="adj" fmla="val 10000"/>
            </a:avLst>
          </a:prstGeom>
          <a:solidFill>
            <a:srgbClr val="FFFFFF"/>
          </a:solidFill>
          <a:ln w="12700">
            <a:solidFill>
              <a:srgbClr val="E2E8F0"/>
            </a:solidFill>
            <a:prstDash val="solid"/>
          </a:ln>
        </p:spPr>
        <p:txBody>
          <a:bodyPr wrap="square" lIns="0" tIns="0" rIns="0" bIns="0"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Needs a join</a:t>
            </a:r>
            <a:endParaRPr lang="en-US" sz="1200" dirty="0"/>
          </a:p>
        </p:txBody>
      </p:sp>
      <p:sp>
        <p:nvSpPr>
          <p:cNvPr id="20" name="a6wd300_box19"/>
          <p:cNvSpPr txBox="1"/>
          <p:nvPr/>
        </p:nvSpPr>
        <p:spPr>
          <a:xfrm>
            <a:off x="5440680" y="3995928"/>
            <a:ext cx="3200400" cy="457200"/>
          </a:xfrm>
          <a:prstGeom prst="roundRect">
            <a:avLst>
              <a:gd name="adj" fmla="val 10000"/>
            </a:avLst>
          </a:prstGeom>
          <a:solidFill>
            <a:srgbClr val="EDE9FE"/>
          </a:solidFill>
          <a:ln w="12700">
            <a:solidFill>
              <a:srgbClr val="EDE9FE"/>
            </a:solidFill>
            <a:prstDash val="solid"/>
          </a:ln>
        </p:spPr>
        <p:txBody>
          <a:bodyPr wrap="square" lIns="0" tIns="0" rIns="0" bIns="0"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Good on its own</a:t>
            </a:r>
            <a:endParaRPr lang="en-US" sz="1200" dirty="0"/>
          </a:p>
        </p:txBody>
      </p:sp>
      <p:sp>
        <p:nvSpPr>
          <p:cNvPr id="21" name="a7u_rt20"/>
          <p:cNvSpPr txBox="1"/>
          <p:nvPr/>
        </p:nvSpPr>
        <p:spPr>
          <a:xfrm>
            <a:off x="457200" y="4590288"/>
            <a:ext cx="8229600" cy="320040"/>
          </a:xfrm>
          <a:prstGeom prst="rect">
            <a:avLst/>
          </a:prstGeom>
          <a:noFill/>
          <a:ln/>
        </p:spPr>
        <p:txBody>
          <a:bodyPr wrap="square" lIns="0" tIns="0" rIns="0" bIns="0" rtlCol="0" anchor="ctr"/>
          <a:lstStyle/>
          <a:p>
            <a:pPr marL="0" indent="0">
              <a:buNone/>
            </a:pPr>
            <a:r>
              <a:rPr lang="en-US" sz="1300" b="1" dirty="0">
                <a:solidFill>
                  <a:srgbClr val="6D28D9"/>
                </a:solidFill>
                <a:latin typeface="Calibri" pitchFamily="34" charset="0"/>
                <a:ea typeface="Calibri" pitchFamily="34" charset="-122"/>
                <a:cs typeface="Calibri" pitchFamily="34" charset="-120"/>
              </a:rPr>
              <a:t>ICICI Bank: a surrogate PRIMARY KEY for identity + a UNIQUE constraint on the natural key.</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22" presetClass="entr" presetSubtype="8" fill="hold" grpId="0" nodeType="withEffect">
                                  <p:stCondLst>
                                    <p:cond delay="10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8" dur="500"/>
                                        <p:tgtEl>
                                          <p:spTgt spid="7"/>
                                        </p:tgtEl>
                                      </p:cBhvr>
                                    </p:animEffect>
                                  </p:childTnLst>
                                </p:cTn>
                              </p:par>
                              <p:par>
                                <p:cTn id="19" presetID="22" presetClass="entr" presetSubtype="8" fill="hold" grpId="0" nodeType="withEffect">
                                  <p:stCondLst>
                                    <p:cond delay="30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22" presetClass="entr" presetSubtype="8" fill="hold" grpId="0" nodeType="withEffect">
                                  <p:stCondLst>
                                    <p:cond delay="100"/>
                                  </p:stCondLst>
                                  <p:childTnLst>
                                    <p:set>
                                      <p:cBhvr>
                                        <p:cTn id="28" dur="1" fill="hold">
                                          <p:stCondLst>
                                            <p:cond delay="0"/>
                                          </p:stCondLst>
                                        </p:cTn>
                                        <p:tgtEl>
                                          <p:spTgt spid="10"/>
                                        </p:tgtEl>
                                        <p:attrNameLst>
                                          <p:attrName>style.visibility</p:attrName>
                                        </p:attrNameLst>
                                      </p:cBhvr>
                                      <p:to>
                                        <p:strVal val="visible"/>
                                      </p:to>
                                    </p:set>
                                    <p:animEffect transition="in" filter="wipe(left)">
                                      <p:cBhvr>
                                        <p:cTn id="29" dur="500"/>
                                        <p:tgtEl>
                                          <p:spTgt spid="10"/>
                                        </p:tgtEl>
                                      </p:cBhvr>
                                    </p:animEffect>
                                  </p:childTnLst>
                                </p:cTn>
                              </p:par>
                              <p:par>
                                <p:cTn id="30" presetID="22" presetClass="entr" presetSubtype="8" fill="hold" grpId="0" nodeType="withEffect">
                                  <p:stCondLst>
                                    <p:cond delay="30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22" presetClass="entr" presetSubtype="8" fill="hold" grpId="0" nodeType="withEffect">
                                  <p:stCondLst>
                                    <p:cond delay="100"/>
                                  </p:stCondLst>
                                  <p:childTnLst>
                                    <p:set>
                                      <p:cBhvr>
                                        <p:cTn id="39" dur="1" fill="hold">
                                          <p:stCondLst>
                                            <p:cond delay="0"/>
                                          </p:stCondLst>
                                        </p:cTn>
                                        <p:tgtEl>
                                          <p:spTgt spid="13"/>
                                        </p:tgtEl>
                                        <p:attrNameLst>
                                          <p:attrName>style.visibility</p:attrName>
                                        </p:attrNameLst>
                                      </p:cBhvr>
                                      <p:to>
                                        <p:strVal val="visible"/>
                                      </p:to>
                                    </p:set>
                                    <p:animEffect transition="in" filter="wipe(left)">
                                      <p:cBhvr>
                                        <p:cTn id="40" dur="500"/>
                                        <p:tgtEl>
                                          <p:spTgt spid="13"/>
                                        </p:tgtEl>
                                      </p:cBhvr>
                                    </p:animEffect>
                                  </p:childTnLst>
                                </p:cTn>
                              </p:par>
                              <p:par>
                                <p:cTn id="41" presetID="22" presetClass="entr" presetSubtype="8" fill="hold" grpId="0" nodeType="withEffect">
                                  <p:stCondLst>
                                    <p:cond delay="300"/>
                                  </p:stCondLst>
                                  <p:childTnLst>
                                    <p:set>
                                      <p:cBhvr>
                                        <p:cTn id="42" dur="1" fill="hold">
                                          <p:stCondLst>
                                            <p:cond delay="0"/>
                                          </p:stCondLst>
                                        </p:cTn>
                                        <p:tgtEl>
                                          <p:spTgt spid="14"/>
                                        </p:tgtEl>
                                        <p:attrNameLst>
                                          <p:attrName>style.visibility</p:attrName>
                                        </p:attrNameLst>
                                      </p:cBhvr>
                                      <p:to>
                                        <p:strVal val="visible"/>
                                      </p:to>
                                    </p:set>
                                    <p:animEffect transition="in" filter="wipe(left)">
                                      <p:cBhvr>
                                        <p:cTn id="43" dur="500"/>
                                        <p:tgtEl>
                                          <p:spTgt spid="14"/>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500"/>
                                        <p:tgtEl>
                                          <p:spTgt spid="15"/>
                                        </p:tgtEl>
                                      </p:cBhvr>
                                    </p:animEffect>
                                  </p:childTnLst>
                                </p:cTn>
                              </p:par>
                              <p:par>
                                <p:cTn id="49" presetID="22" presetClass="entr" presetSubtype="8" fill="hold" grpId="0" nodeType="withEffect">
                                  <p:stCondLst>
                                    <p:cond delay="100"/>
                                  </p:stCondLst>
                                  <p:childTnLst>
                                    <p:set>
                                      <p:cBhvr>
                                        <p:cTn id="50" dur="1" fill="hold">
                                          <p:stCondLst>
                                            <p:cond delay="0"/>
                                          </p:stCondLst>
                                        </p:cTn>
                                        <p:tgtEl>
                                          <p:spTgt spid="16"/>
                                        </p:tgtEl>
                                        <p:attrNameLst>
                                          <p:attrName>style.visibility</p:attrName>
                                        </p:attrNameLst>
                                      </p:cBhvr>
                                      <p:to>
                                        <p:strVal val="visible"/>
                                      </p:to>
                                    </p:set>
                                    <p:animEffect transition="in" filter="wipe(left)">
                                      <p:cBhvr>
                                        <p:cTn id="51" dur="500"/>
                                        <p:tgtEl>
                                          <p:spTgt spid="16"/>
                                        </p:tgtEl>
                                      </p:cBhvr>
                                    </p:animEffect>
                                  </p:childTnLst>
                                </p:cTn>
                              </p:par>
                              <p:par>
                                <p:cTn id="52" presetID="22" presetClass="entr" presetSubtype="8" fill="hold" grpId="0" nodeType="withEffect">
                                  <p:stCondLst>
                                    <p:cond delay="300"/>
                                  </p:stCondLst>
                                  <p:childTnLst>
                                    <p:set>
                                      <p:cBhvr>
                                        <p:cTn id="53" dur="1" fill="hold">
                                          <p:stCondLst>
                                            <p:cond delay="0"/>
                                          </p:stCondLst>
                                        </p:cTn>
                                        <p:tgtEl>
                                          <p:spTgt spid="17"/>
                                        </p:tgtEl>
                                        <p:attrNameLst>
                                          <p:attrName>style.visibility</p:attrName>
                                        </p:attrNameLst>
                                      </p:cBhvr>
                                      <p:to>
                                        <p:strVal val="visible"/>
                                      </p:to>
                                    </p:set>
                                    <p:animEffect transition="in" filter="wipe(left)">
                                      <p:cBhvr>
                                        <p:cTn id="54" dur="500"/>
                                        <p:tgtEl>
                                          <p:spTgt spid="17"/>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500"/>
                                        <p:tgtEl>
                                          <p:spTgt spid="18"/>
                                        </p:tgtEl>
                                      </p:cBhvr>
                                    </p:animEffect>
                                  </p:childTnLst>
                                </p:cTn>
                              </p:par>
                              <p:par>
                                <p:cTn id="60" presetID="22" presetClass="entr" presetSubtype="8" fill="hold" grpId="0" nodeType="withEffect">
                                  <p:stCondLst>
                                    <p:cond delay="100"/>
                                  </p:stCondLst>
                                  <p:childTnLst>
                                    <p:set>
                                      <p:cBhvr>
                                        <p:cTn id="61" dur="1" fill="hold">
                                          <p:stCondLst>
                                            <p:cond delay="0"/>
                                          </p:stCondLst>
                                        </p:cTn>
                                        <p:tgtEl>
                                          <p:spTgt spid="19"/>
                                        </p:tgtEl>
                                        <p:attrNameLst>
                                          <p:attrName>style.visibility</p:attrName>
                                        </p:attrNameLst>
                                      </p:cBhvr>
                                      <p:to>
                                        <p:strVal val="visible"/>
                                      </p:to>
                                    </p:set>
                                    <p:animEffect transition="in" filter="wipe(left)">
                                      <p:cBhvr>
                                        <p:cTn id="62" dur="500"/>
                                        <p:tgtEl>
                                          <p:spTgt spid="19"/>
                                        </p:tgtEl>
                                      </p:cBhvr>
                                    </p:animEffect>
                                  </p:childTnLst>
                                </p:cTn>
                              </p:par>
                              <p:par>
                                <p:cTn id="63" presetID="22" presetClass="entr" presetSubtype="8" fill="hold" grpId="0" nodeType="withEffect">
                                  <p:stCondLst>
                                    <p:cond delay="300"/>
                                  </p:stCondLst>
                                  <p:childTnLst>
                                    <p:set>
                                      <p:cBhvr>
                                        <p:cTn id="64" dur="1" fill="hold">
                                          <p:stCondLst>
                                            <p:cond delay="0"/>
                                          </p:stCondLst>
                                        </p:cTn>
                                        <p:tgtEl>
                                          <p:spTgt spid="20"/>
                                        </p:tgtEl>
                                        <p:attrNameLst>
                                          <p:attrName>style.visibility</p:attrName>
                                        </p:attrNameLst>
                                      </p:cBhvr>
                                      <p:to>
                                        <p:strVal val="visible"/>
                                      </p:to>
                                    </p:set>
                                    <p:animEffect transition="in" filter="wipe(left)">
                                      <p:cBhvr>
                                        <p:cTn id="65" dur="500"/>
                                        <p:tgtEl>
                                          <p:spTgt spid="20"/>
                                        </p:tgtEl>
                                      </p:cBhvr>
                                    </p:animEffect>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grpId="0" nodeType="clickEffect">
                                  <p:stCondLst>
                                    <p:cond delay="0"/>
                                  </p:stCondLst>
                                  <p:childTnLst>
                                    <p:set>
                                      <p:cBhvr>
                                        <p:cTn id="69" dur="1" fill="hold">
                                          <p:stCondLst>
                                            <p:cond delay="0"/>
                                          </p:stCondLst>
                                        </p:cTn>
                                        <p:tgtEl>
                                          <p:spTgt spid="21"/>
                                        </p:tgtEl>
                                        <p:attrNameLst>
                                          <p:attrName>style.visibility</p:attrName>
                                        </p:attrNameLst>
                                      </p:cBhvr>
                                      <p:to>
                                        <p:strVal val="visible"/>
                                      </p:to>
                                    </p:set>
                                    <p:anim calcmode="lin" valueType="num">
                                      <p:cBhvr additive="base">
                                        <p:cTn id="70" dur="500" fill="hold"/>
                                        <p:tgtEl>
                                          <p:spTgt spid="21"/>
                                        </p:tgtEl>
                                        <p:attrNameLst>
                                          <p:attrName>ppt_x</p:attrName>
                                        </p:attrNameLst>
                                      </p:cBhvr>
                                      <p:tavLst>
                                        <p:tav tm="0">
                                          <p:val>
                                            <p:strVal val="#ppt_x"/>
                                          </p:val>
                                        </p:tav>
                                        <p:tav tm="100000">
                                          <p:val>
                                            <p:strVal val="#ppt_x"/>
                                          </p:val>
                                        </p:tav>
                                      </p:tavLst>
                                    </p:anim>
                                    <p:anim calcmode="lin" valueType="num">
                                      <p:cBhvr additive="base">
                                        <p:cTn id="71" dur="500" fill="hold"/>
                                        <p:tgtEl>
                                          <p:spTgt spid="21"/>
                                        </p:tgtEl>
                                        <p:attrNameLst>
                                          <p:attrName>ppt_y</p:attrName>
                                        </p:attrNameLst>
                                      </p:cBhvr>
                                      <p:tavLst>
                                        <p:tav tm="0">
                                          <p:val>
                                            <p:strVal val="#ppt_y+0.1"/>
                                          </p:val>
                                        </p:tav>
                                        <p:tav tm="100000">
                                          <p:val>
                                            <p:strVal val="#ppt_y"/>
                                          </p:val>
                                        </p:tav>
                                      </p:tavLst>
                                    </p:anim>
                                    <p:animEffect transition="in" filter="fade">
                                      <p:cBhvr>
                                        <p:cTn id="7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1"/>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In Practice: Surrogate + Natural</a:t>
            </a:r>
            <a:endParaRPr lang="en-US" sz="2800" dirty="0"/>
          </a:p>
        </p:txBody>
      </p:sp>
      <p:sp>
        <p:nvSpPr>
          <p:cNvPr id="3" name="Text 2"/>
          <p:cNvSpPr txBox="1"/>
          <p:nvPr/>
        </p:nvSpPr>
        <p:spPr>
          <a:xfrm>
            <a:off x="457200" y="914400"/>
            <a:ext cx="8229600" cy="502920"/>
          </a:xfrm>
          <a:prstGeom prst="roundRect">
            <a:avLst>
              <a:gd name="adj" fmla="val 14545"/>
            </a:avLst>
          </a:prstGeom>
          <a:solidFill>
            <a:srgbClr val="EDE9FE"/>
          </a:solidFill>
          <a:ln w="12700">
            <a:solidFill>
              <a:srgbClr val="EDE9FE"/>
            </a:solidFill>
            <a:prstDash val="solid"/>
          </a:ln>
        </p:spPr>
        <p:txBody>
          <a:bodyPr wrap="square" lIns="164592" tIns="0" rIns="164592" bIns="0" rtlCol="0" anchor="ctr"/>
          <a:lstStyle/>
          <a:p>
            <a:pPr marL="0" indent="0">
              <a:buNone/>
            </a:pPr>
            <a:r>
              <a:rPr lang="en-US" sz="1400" b="1" dirty="0">
                <a:solidFill>
                  <a:srgbClr val="6D28D9"/>
                </a:solidFill>
                <a:latin typeface="Calibri" pitchFamily="34" charset="0"/>
                <a:ea typeface="Calibri" pitchFamily="34" charset="-122"/>
                <a:cs typeface="Calibri" pitchFamily="34" charset="-120"/>
              </a:rPr>
              <a:t>TASK   </a:t>
            </a:r>
            <a:r>
              <a:rPr lang="en-US" sz="1400" dirty="0">
                <a:solidFill>
                  <a:srgbClr val="0F172A"/>
                </a:solidFill>
                <a:latin typeface="Calibri" pitchFamily="34" charset="0"/>
                <a:ea typeface="Calibri" pitchFamily="34" charset="-122"/>
                <a:cs typeface="Calibri" pitchFamily="34" charset="-120"/>
              </a:rPr>
              <a:t>Give customer a stable identity — and still guarantee no two customers share a PAN.</a:t>
            </a:r>
            <a:endParaRPr lang="en-US" sz="1400" dirty="0"/>
          </a:p>
        </p:txBody>
      </p:sp>
      <p:sp>
        <p:nvSpPr>
          <p:cNvPr id="4" name="a1f_codebg3"/>
          <p:cNvSpPr/>
          <p:nvPr/>
        </p:nvSpPr>
        <p:spPr>
          <a:xfrm>
            <a:off x="457200" y="1645920"/>
            <a:ext cx="4206240" cy="2249424"/>
          </a:xfrm>
          <a:prstGeom prst="roundRect">
            <a:avLst>
              <a:gd name="adj" fmla="val 3150"/>
            </a:avLst>
          </a:prstGeom>
          <a:solidFill>
            <a:srgbClr val="1E293B"/>
          </a:solidFill>
          <a:ln w="12700">
            <a:solidFill>
              <a:srgbClr val="1E293B"/>
            </a:solidFill>
            <a:prstDash val="solid"/>
          </a:ln>
        </p:spPr>
      </p:sp>
      <p:sp>
        <p:nvSpPr>
          <p:cNvPr id="5" name="a1wd0_code4"/>
          <p:cNvSpPr txBox="1"/>
          <p:nvPr/>
        </p:nvSpPr>
        <p:spPr>
          <a:xfrm>
            <a:off x="640080" y="1783080"/>
            <a:ext cx="3886200" cy="246888"/>
          </a:xfrm>
          <a:prstGeom prst="rect">
            <a:avLst/>
          </a:prstGeom>
          <a:noFill/>
          <a:ln/>
        </p:spPr>
        <p:txBody>
          <a:bodyPr wrap="square" lIns="0" tIns="0" rIns="0" bIns="0" rtlCol="0" anchor="ctr"/>
          <a:lstStyle/>
          <a:p>
            <a:pPr marL="0" indent="0">
              <a:buNone/>
            </a:pPr>
            <a:r>
              <a:rPr lang="en-US" sz="1100" b="1" dirty="0">
                <a:solidFill>
                  <a:srgbClr val="C4B5FD"/>
                </a:solidFill>
                <a:latin typeface="Courier New" pitchFamily="34" charset="0"/>
                <a:ea typeface="Courier New" pitchFamily="34" charset="-122"/>
                <a:cs typeface="Courier New" pitchFamily="34" charset="-120"/>
              </a:rPr>
              <a:t>CREATE</a:t>
            </a:r>
            <a:r>
              <a:rPr lang="en-US" sz="1100" dirty="0">
                <a:solidFill>
                  <a:srgbClr val="E2E8F0"/>
                </a:solidFill>
                <a:latin typeface="Courier New" pitchFamily="34" charset="0"/>
                <a:ea typeface="Courier New" pitchFamily="34" charset="-122"/>
                <a:cs typeface="Courier New" pitchFamily="34" charset="-120"/>
              </a:rPr>
              <a:t> </a:t>
            </a:r>
            <a:r>
              <a:rPr lang="en-US" sz="1100" b="1" dirty="0">
                <a:solidFill>
                  <a:srgbClr val="C4B5FD"/>
                </a:solidFill>
                <a:latin typeface="Courier New" pitchFamily="34" charset="0"/>
                <a:ea typeface="Courier New" pitchFamily="34" charset="-122"/>
                <a:cs typeface="Courier New" pitchFamily="34" charset="-120"/>
              </a:rPr>
              <a:t>TABLE</a:t>
            </a:r>
            <a:r>
              <a:rPr lang="en-US" sz="1100" dirty="0">
                <a:solidFill>
                  <a:srgbClr val="E2E8F0"/>
                </a:solidFill>
                <a:latin typeface="Courier New" pitchFamily="34" charset="0"/>
                <a:ea typeface="Courier New" pitchFamily="34" charset="-122"/>
                <a:cs typeface="Courier New" pitchFamily="34" charset="-120"/>
              </a:rPr>
              <a:t> customer (</a:t>
            </a:r>
            <a:endParaRPr lang="en-US" sz="1100" dirty="0"/>
          </a:p>
        </p:txBody>
      </p:sp>
      <p:sp>
        <p:nvSpPr>
          <p:cNvPr id="6" name="a1wd150_code5"/>
          <p:cNvSpPr txBox="1"/>
          <p:nvPr/>
        </p:nvSpPr>
        <p:spPr>
          <a:xfrm>
            <a:off x="640080" y="2029968"/>
            <a:ext cx="3886200" cy="246888"/>
          </a:xfrm>
          <a:prstGeom prst="rect">
            <a:avLst/>
          </a:prstGeom>
          <a:noFill/>
          <a:ln/>
        </p:spPr>
        <p:txBody>
          <a:bodyPr wrap="square" lIns="0" tIns="0" rIns="0" bIns="0" rtlCol="0" anchor="ctr"/>
          <a:lstStyle/>
          <a:p>
            <a:pPr marL="0" indent="0">
              <a:buNone/>
            </a:pPr>
            <a:r>
              <a:rPr lang="en-US" sz="1100" dirty="0">
                <a:solidFill>
                  <a:srgbClr val="E2E8F0"/>
                </a:solidFill>
                <a:latin typeface="Courier New" pitchFamily="34" charset="0"/>
                <a:ea typeface="Courier New" pitchFamily="34" charset="-122"/>
                <a:cs typeface="Courier New" pitchFamily="34" charset="-120"/>
              </a:rPr>
              <a:t>  customer_id </a:t>
            </a:r>
            <a:r>
              <a:rPr lang="en-US" sz="1100" dirty="0">
                <a:solidFill>
                  <a:srgbClr val="93C5FD"/>
                </a:solidFill>
                <a:latin typeface="Courier New" pitchFamily="34" charset="0"/>
                <a:ea typeface="Courier New" pitchFamily="34" charset="-122"/>
                <a:cs typeface="Courier New" pitchFamily="34" charset="-120"/>
              </a:rPr>
              <a:t>INTEGER</a:t>
            </a:r>
            <a:r>
              <a:rPr lang="en-US" sz="1100" dirty="0">
                <a:solidFill>
                  <a:srgbClr val="E2E8F0"/>
                </a:solidFill>
                <a:latin typeface="Courier New" pitchFamily="34" charset="0"/>
                <a:ea typeface="Courier New" pitchFamily="34" charset="-122"/>
                <a:cs typeface="Courier New" pitchFamily="34" charset="-120"/>
              </a:rPr>
              <a:t>     </a:t>
            </a:r>
            <a:r>
              <a:rPr lang="en-US" sz="1100" b="1" dirty="0">
                <a:solidFill>
                  <a:srgbClr val="C4B5FD"/>
                </a:solidFill>
                <a:latin typeface="Courier New" pitchFamily="34" charset="0"/>
                <a:ea typeface="Courier New" pitchFamily="34" charset="-122"/>
                <a:cs typeface="Courier New" pitchFamily="34" charset="-120"/>
              </a:rPr>
              <a:t>NOT</a:t>
            </a:r>
            <a:r>
              <a:rPr lang="en-US" sz="1100" dirty="0">
                <a:solidFill>
                  <a:srgbClr val="E2E8F0"/>
                </a:solidFill>
                <a:latin typeface="Courier New" pitchFamily="34" charset="0"/>
                <a:ea typeface="Courier New" pitchFamily="34" charset="-122"/>
                <a:cs typeface="Courier New" pitchFamily="34" charset="-120"/>
              </a:rPr>
              <a:t> </a:t>
            </a:r>
            <a:r>
              <a:rPr lang="en-US" sz="1100" b="1" dirty="0">
                <a:solidFill>
                  <a:srgbClr val="C4B5FD"/>
                </a:solidFill>
                <a:latin typeface="Courier New" pitchFamily="34" charset="0"/>
                <a:ea typeface="Courier New" pitchFamily="34" charset="-122"/>
                <a:cs typeface="Courier New" pitchFamily="34" charset="-120"/>
              </a:rPr>
              <a:t>NULL</a:t>
            </a:r>
            <a:r>
              <a:rPr lang="en-US" sz="1100" dirty="0">
                <a:solidFill>
                  <a:srgbClr val="E2E8F0"/>
                </a:solidFill>
                <a:latin typeface="Courier New" pitchFamily="34" charset="0"/>
                <a:ea typeface="Courier New" pitchFamily="34" charset="-122"/>
                <a:cs typeface="Courier New" pitchFamily="34" charset="-120"/>
              </a:rPr>
              <a:t>,</a:t>
            </a:r>
            <a:endParaRPr lang="en-US" sz="1100" dirty="0"/>
          </a:p>
        </p:txBody>
      </p:sp>
      <p:sp>
        <p:nvSpPr>
          <p:cNvPr id="7" name="a1wd300_code6"/>
          <p:cNvSpPr txBox="1"/>
          <p:nvPr/>
        </p:nvSpPr>
        <p:spPr>
          <a:xfrm>
            <a:off x="640080" y="2276856"/>
            <a:ext cx="3886200" cy="246888"/>
          </a:xfrm>
          <a:prstGeom prst="rect">
            <a:avLst/>
          </a:prstGeom>
          <a:noFill/>
          <a:ln/>
        </p:spPr>
        <p:txBody>
          <a:bodyPr wrap="square" lIns="0" tIns="0" rIns="0" bIns="0" rtlCol="0" anchor="ctr"/>
          <a:lstStyle/>
          <a:p>
            <a:pPr marL="0" indent="0">
              <a:buNone/>
            </a:pPr>
            <a:r>
              <a:rPr lang="en-US" sz="1100" dirty="0">
                <a:solidFill>
                  <a:srgbClr val="E2E8F0"/>
                </a:solidFill>
                <a:latin typeface="Courier New" pitchFamily="34" charset="0"/>
                <a:ea typeface="Courier New" pitchFamily="34" charset="-122"/>
                <a:cs typeface="Courier New" pitchFamily="34" charset="-120"/>
              </a:rPr>
              <a:t>  pan_number  </a:t>
            </a:r>
            <a:r>
              <a:rPr lang="en-US" sz="1100" dirty="0">
                <a:solidFill>
                  <a:srgbClr val="93C5FD"/>
                </a:solidFill>
                <a:latin typeface="Courier New" pitchFamily="34" charset="0"/>
                <a:ea typeface="Courier New" pitchFamily="34" charset="-122"/>
                <a:cs typeface="Courier New" pitchFamily="34" charset="-120"/>
              </a:rPr>
              <a:t>CHAR</a:t>
            </a:r>
            <a:r>
              <a:rPr lang="en-US" sz="1100" dirty="0">
                <a:solidFill>
                  <a:srgbClr val="E2E8F0"/>
                </a:solidFill>
                <a:latin typeface="Courier New" pitchFamily="34" charset="0"/>
                <a:ea typeface="Courier New" pitchFamily="34" charset="-122"/>
                <a:cs typeface="Courier New" pitchFamily="34" charset="-120"/>
              </a:rPr>
              <a:t>(</a:t>
            </a:r>
            <a:r>
              <a:rPr lang="en-US" sz="1100" dirty="0">
                <a:solidFill>
                  <a:srgbClr val="FDBA74"/>
                </a:solidFill>
                <a:latin typeface="Courier New" pitchFamily="34" charset="0"/>
                <a:ea typeface="Courier New" pitchFamily="34" charset="-122"/>
                <a:cs typeface="Courier New" pitchFamily="34" charset="-120"/>
              </a:rPr>
              <a:t>10</a:t>
            </a:r>
            <a:r>
              <a:rPr lang="en-US" sz="1100" dirty="0">
                <a:solidFill>
                  <a:srgbClr val="E2E8F0"/>
                </a:solidFill>
                <a:latin typeface="Courier New" pitchFamily="34" charset="0"/>
                <a:ea typeface="Courier New" pitchFamily="34" charset="-122"/>
                <a:cs typeface="Courier New" pitchFamily="34" charset="-120"/>
              </a:rPr>
              <a:t>)    </a:t>
            </a:r>
            <a:r>
              <a:rPr lang="en-US" sz="1100" b="1" dirty="0">
                <a:solidFill>
                  <a:srgbClr val="C4B5FD"/>
                </a:solidFill>
                <a:latin typeface="Courier New" pitchFamily="34" charset="0"/>
                <a:ea typeface="Courier New" pitchFamily="34" charset="-122"/>
                <a:cs typeface="Courier New" pitchFamily="34" charset="-120"/>
              </a:rPr>
              <a:t>NOT</a:t>
            </a:r>
            <a:r>
              <a:rPr lang="en-US" sz="1100" dirty="0">
                <a:solidFill>
                  <a:srgbClr val="E2E8F0"/>
                </a:solidFill>
                <a:latin typeface="Courier New" pitchFamily="34" charset="0"/>
                <a:ea typeface="Courier New" pitchFamily="34" charset="-122"/>
                <a:cs typeface="Courier New" pitchFamily="34" charset="-120"/>
              </a:rPr>
              <a:t> </a:t>
            </a:r>
            <a:r>
              <a:rPr lang="en-US" sz="1100" b="1" dirty="0">
                <a:solidFill>
                  <a:srgbClr val="C4B5FD"/>
                </a:solidFill>
                <a:latin typeface="Courier New" pitchFamily="34" charset="0"/>
                <a:ea typeface="Courier New" pitchFamily="34" charset="-122"/>
                <a:cs typeface="Courier New" pitchFamily="34" charset="-120"/>
              </a:rPr>
              <a:t>NULL</a:t>
            </a:r>
            <a:r>
              <a:rPr lang="en-US" sz="1100" dirty="0">
                <a:solidFill>
                  <a:srgbClr val="E2E8F0"/>
                </a:solidFill>
                <a:latin typeface="Courier New" pitchFamily="34" charset="0"/>
                <a:ea typeface="Courier New" pitchFamily="34" charset="-122"/>
                <a:cs typeface="Courier New" pitchFamily="34" charset="-120"/>
              </a:rPr>
              <a:t> </a:t>
            </a:r>
            <a:r>
              <a:rPr lang="en-US" sz="1100" b="1" dirty="0">
                <a:solidFill>
                  <a:srgbClr val="C4B5FD"/>
                </a:solidFill>
                <a:latin typeface="Courier New" pitchFamily="34" charset="0"/>
                <a:ea typeface="Courier New" pitchFamily="34" charset="-122"/>
                <a:cs typeface="Courier New" pitchFamily="34" charset="-120"/>
              </a:rPr>
              <a:t>UNIQUE</a:t>
            </a:r>
            <a:r>
              <a:rPr lang="en-US" sz="1100" dirty="0">
                <a:solidFill>
                  <a:srgbClr val="E2E8F0"/>
                </a:solidFill>
                <a:latin typeface="Courier New" pitchFamily="34" charset="0"/>
                <a:ea typeface="Courier New" pitchFamily="34" charset="-122"/>
                <a:cs typeface="Courier New" pitchFamily="34" charset="-120"/>
              </a:rPr>
              <a:t>,</a:t>
            </a:r>
            <a:endParaRPr lang="en-US" sz="1100" dirty="0"/>
          </a:p>
        </p:txBody>
      </p:sp>
      <p:sp>
        <p:nvSpPr>
          <p:cNvPr id="8" name="a1wd450_code7"/>
          <p:cNvSpPr txBox="1"/>
          <p:nvPr/>
        </p:nvSpPr>
        <p:spPr>
          <a:xfrm>
            <a:off x="640080" y="2523744"/>
            <a:ext cx="3886200" cy="246888"/>
          </a:xfrm>
          <a:prstGeom prst="rect">
            <a:avLst/>
          </a:prstGeom>
          <a:noFill/>
          <a:ln/>
        </p:spPr>
        <p:txBody>
          <a:bodyPr wrap="square" lIns="0" tIns="0" rIns="0" bIns="0" rtlCol="0" anchor="ctr"/>
          <a:lstStyle/>
          <a:p>
            <a:pPr marL="0" indent="0">
              <a:buNone/>
            </a:pPr>
            <a:r>
              <a:rPr lang="en-US" sz="1100" dirty="0">
                <a:solidFill>
                  <a:srgbClr val="E2E8F0"/>
                </a:solidFill>
                <a:latin typeface="Courier New" pitchFamily="34" charset="0"/>
                <a:ea typeface="Courier New" pitchFamily="34" charset="-122"/>
                <a:cs typeface="Courier New" pitchFamily="34" charset="-120"/>
              </a:rPr>
              <a:t>  first_name  </a:t>
            </a:r>
            <a:r>
              <a:rPr lang="en-US" sz="1100" dirty="0">
                <a:solidFill>
                  <a:srgbClr val="93C5FD"/>
                </a:solidFill>
                <a:latin typeface="Courier New" pitchFamily="34" charset="0"/>
                <a:ea typeface="Courier New" pitchFamily="34" charset="-122"/>
                <a:cs typeface="Courier New" pitchFamily="34" charset="-120"/>
              </a:rPr>
              <a:t>VARCHAR</a:t>
            </a:r>
            <a:r>
              <a:rPr lang="en-US" sz="1100" dirty="0">
                <a:solidFill>
                  <a:srgbClr val="E2E8F0"/>
                </a:solidFill>
                <a:latin typeface="Courier New" pitchFamily="34" charset="0"/>
                <a:ea typeface="Courier New" pitchFamily="34" charset="-122"/>
                <a:cs typeface="Courier New" pitchFamily="34" charset="-120"/>
              </a:rPr>
              <a:t>(</a:t>
            </a:r>
            <a:r>
              <a:rPr lang="en-US" sz="1100" dirty="0">
                <a:solidFill>
                  <a:srgbClr val="FDBA74"/>
                </a:solidFill>
                <a:latin typeface="Courier New" pitchFamily="34" charset="0"/>
                <a:ea typeface="Courier New" pitchFamily="34" charset="-122"/>
                <a:cs typeface="Courier New" pitchFamily="34" charset="-120"/>
              </a:rPr>
              <a:t>40</a:t>
            </a:r>
            <a:r>
              <a:rPr lang="en-US" sz="1100" dirty="0">
                <a:solidFill>
                  <a:srgbClr val="E2E8F0"/>
                </a:solidFill>
                <a:latin typeface="Courier New" pitchFamily="34" charset="0"/>
                <a:ea typeface="Courier New" pitchFamily="34" charset="-122"/>
                <a:cs typeface="Courier New" pitchFamily="34" charset="-120"/>
              </a:rPr>
              <a:t>) </a:t>
            </a:r>
            <a:r>
              <a:rPr lang="en-US" sz="1100" b="1" dirty="0">
                <a:solidFill>
                  <a:srgbClr val="C4B5FD"/>
                </a:solidFill>
                <a:latin typeface="Courier New" pitchFamily="34" charset="0"/>
                <a:ea typeface="Courier New" pitchFamily="34" charset="-122"/>
                <a:cs typeface="Courier New" pitchFamily="34" charset="-120"/>
              </a:rPr>
              <a:t>NOT</a:t>
            </a:r>
            <a:r>
              <a:rPr lang="en-US" sz="1100" dirty="0">
                <a:solidFill>
                  <a:srgbClr val="E2E8F0"/>
                </a:solidFill>
                <a:latin typeface="Courier New" pitchFamily="34" charset="0"/>
                <a:ea typeface="Courier New" pitchFamily="34" charset="-122"/>
                <a:cs typeface="Courier New" pitchFamily="34" charset="-120"/>
              </a:rPr>
              <a:t> </a:t>
            </a:r>
            <a:r>
              <a:rPr lang="en-US" sz="1100" b="1" dirty="0">
                <a:solidFill>
                  <a:srgbClr val="C4B5FD"/>
                </a:solidFill>
                <a:latin typeface="Courier New" pitchFamily="34" charset="0"/>
                <a:ea typeface="Courier New" pitchFamily="34" charset="-122"/>
                <a:cs typeface="Courier New" pitchFamily="34" charset="-120"/>
              </a:rPr>
              <a:t>NULL</a:t>
            </a:r>
            <a:r>
              <a:rPr lang="en-US" sz="1100" dirty="0">
                <a:solidFill>
                  <a:srgbClr val="E2E8F0"/>
                </a:solidFill>
                <a:latin typeface="Courier New" pitchFamily="34" charset="0"/>
                <a:ea typeface="Courier New" pitchFamily="34" charset="-122"/>
                <a:cs typeface="Courier New" pitchFamily="34" charset="-120"/>
              </a:rPr>
              <a:t>,</a:t>
            </a:r>
            <a:endParaRPr lang="en-US" sz="1100" dirty="0"/>
          </a:p>
        </p:txBody>
      </p:sp>
      <p:sp>
        <p:nvSpPr>
          <p:cNvPr id="9" name="a1wd600_code8"/>
          <p:cNvSpPr txBox="1"/>
          <p:nvPr/>
        </p:nvSpPr>
        <p:spPr>
          <a:xfrm>
            <a:off x="640080" y="2770632"/>
            <a:ext cx="3886200" cy="246888"/>
          </a:xfrm>
          <a:prstGeom prst="rect">
            <a:avLst/>
          </a:prstGeom>
          <a:noFill/>
          <a:ln/>
        </p:spPr>
        <p:txBody>
          <a:bodyPr wrap="square" lIns="0" tIns="0" rIns="0" bIns="0" rtlCol="0" anchor="ctr"/>
          <a:lstStyle/>
          <a:p>
            <a:pPr marL="0" indent="0">
              <a:buNone/>
            </a:pPr>
            <a:r>
              <a:rPr lang="en-US" sz="1100" i="1" dirty="0">
                <a:solidFill>
                  <a:srgbClr val="94A3B8"/>
                </a:solidFill>
                <a:latin typeface="Courier New" pitchFamily="34" charset="0"/>
                <a:ea typeface="Courier New" pitchFamily="34" charset="-122"/>
                <a:cs typeface="Courier New" pitchFamily="34" charset="-120"/>
              </a:rPr>
              <a:t>  -- ... other columns</a:t>
            </a:r>
            <a:endParaRPr lang="en-US" sz="1100" dirty="0"/>
          </a:p>
        </p:txBody>
      </p:sp>
      <p:sp>
        <p:nvSpPr>
          <p:cNvPr id="10" name="a1wd750_code9"/>
          <p:cNvSpPr txBox="1"/>
          <p:nvPr/>
        </p:nvSpPr>
        <p:spPr>
          <a:xfrm>
            <a:off x="640080" y="3017520"/>
            <a:ext cx="3886200" cy="246888"/>
          </a:xfrm>
          <a:prstGeom prst="rect">
            <a:avLst/>
          </a:prstGeom>
          <a:noFill/>
          <a:ln/>
        </p:spPr>
        <p:txBody>
          <a:bodyPr wrap="square" lIns="0" tIns="0" rIns="0" bIns="0" rtlCol="0" anchor="ctr"/>
          <a:lstStyle/>
          <a:p>
            <a:pPr marL="0" indent="0">
              <a:buNone/>
            </a:pPr>
            <a:r>
              <a:rPr lang="en-US" sz="1100" dirty="0">
                <a:solidFill>
                  <a:srgbClr val="E2E8F0"/>
                </a:solidFill>
                <a:latin typeface="Courier New" pitchFamily="34" charset="0"/>
                <a:ea typeface="Courier New" pitchFamily="34" charset="-122"/>
                <a:cs typeface="Courier New" pitchFamily="34" charset="-120"/>
              </a:rPr>
              <a:t>  </a:t>
            </a:r>
            <a:r>
              <a:rPr lang="en-US" sz="1100" b="1" dirty="0">
                <a:solidFill>
                  <a:srgbClr val="C4B5FD"/>
                </a:solidFill>
                <a:latin typeface="Courier New" pitchFamily="34" charset="0"/>
                <a:ea typeface="Courier New" pitchFamily="34" charset="-122"/>
                <a:cs typeface="Courier New" pitchFamily="34" charset="-120"/>
              </a:rPr>
              <a:t>CONSTRAINT</a:t>
            </a:r>
            <a:r>
              <a:rPr lang="en-US" sz="1100" dirty="0">
                <a:solidFill>
                  <a:srgbClr val="E2E8F0"/>
                </a:solidFill>
                <a:latin typeface="Courier New" pitchFamily="34" charset="0"/>
                <a:ea typeface="Courier New" pitchFamily="34" charset="-122"/>
                <a:cs typeface="Courier New" pitchFamily="34" charset="-120"/>
              </a:rPr>
              <a:t> pk_customer</a:t>
            </a:r>
            <a:endParaRPr lang="en-US" sz="1100" dirty="0"/>
          </a:p>
        </p:txBody>
      </p:sp>
      <p:sp>
        <p:nvSpPr>
          <p:cNvPr id="11" name="a1wd900_code10"/>
          <p:cNvSpPr txBox="1"/>
          <p:nvPr/>
        </p:nvSpPr>
        <p:spPr>
          <a:xfrm>
            <a:off x="640080" y="3264408"/>
            <a:ext cx="3886200" cy="246888"/>
          </a:xfrm>
          <a:prstGeom prst="rect">
            <a:avLst/>
          </a:prstGeom>
          <a:noFill/>
          <a:ln/>
        </p:spPr>
        <p:txBody>
          <a:bodyPr wrap="square" lIns="0" tIns="0" rIns="0" bIns="0" rtlCol="0" anchor="ctr"/>
          <a:lstStyle/>
          <a:p>
            <a:pPr marL="0" indent="0">
              <a:buNone/>
            </a:pPr>
            <a:r>
              <a:rPr lang="en-US" sz="1100" dirty="0">
                <a:solidFill>
                  <a:srgbClr val="E2E8F0"/>
                </a:solidFill>
                <a:latin typeface="Courier New" pitchFamily="34" charset="0"/>
                <a:ea typeface="Courier New" pitchFamily="34" charset="-122"/>
                <a:cs typeface="Courier New" pitchFamily="34" charset="-120"/>
              </a:rPr>
              <a:t>    </a:t>
            </a:r>
            <a:r>
              <a:rPr lang="en-US" sz="1100" b="1" dirty="0">
                <a:solidFill>
                  <a:srgbClr val="C4B5FD"/>
                </a:solidFill>
                <a:latin typeface="Courier New" pitchFamily="34" charset="0"/>
                <a:ea typeface="Courier New" pitchFamily="34" charset="-122"/>
                <a:cs typeface="Courier New" pitchFamily="34" charset="-120"/>
              </a:rPr>
              <a:t>PRIMARY</a:t>
            </a:r>
            <a:r>
              <a:rPr lang="en-US" sz="1100" dirty="0">
                <a:solidFill>
                  <a:srgbClr val="E2E8F0"/>
                </a:solidFill>
                <a:latin typeface="Courier New" pitchFamily="34" charset="0"/>
                <a:ea typeface="Courier New" pitchFamily="34" charset="-122"/>
                <a:cs typeface="Courier New" pitchFamily="34" charset="-120"/>
              </a:rPr>
              <a:t> </a:t>
            </a:r>
            <a:r>
              <a:rPr lang="en-US" sz="1100" b="1" dirty="0">
                <a:solidFill>
                  <a:srgbClr val="C4B5FD"/>
                </a:solidFill>
                <a:latin typeface="Courier New" pitchFamily="34" charset="0"/>
                <a:ea typeface="Courier New" pitchFamily="34" charset="-122"/>
                <a:cs typeface="Courier New" pitchFamily="34" charset="-120"/>
              </a:rPr>
              <a:t>KEY</a:t>
            </a:r>
            <a:r>
              <a:rPr lang="en-US" sz="1100" dirty="0">
                <a:solidFill>
                  <a:srgbClr val="E2E8F0"/>
                </a:solidFill>
                <a:latin typeface="Courier New" pitchFamily="34" charset="0"/>
                <a:ea typeface="Courier New" pitchFamily="34" charset="-122"/>
                <a:cs typeface="Courier New" pitchFamily="34" charset="-120"/>
              </a:rPr>
              <a:t> (customer_id)</a:t>
            </a:r>
            <a:endParaRPr lang="en-US" sz="1100" dirty="0"/>
          </a:p>
        </p:txBody>
      </p:sp>
      <p:sp>
        <p:nvSpPr>
          <p:cNvPr id="12" name="a1wd1050_code11"/>
          <p:cNvSpPr txBox="1"/>
          <p:nvPr/>
        </p:nvSpPr>
        <p:spPr>
          <a:xfrm>
            <a:off x="640080" y="3511296"/>
            <a:ext cx="3886200" cy="246888"/>
          </a:xfrm>
          <a:prstGeom prst="rect">
            <a:avLst/>
          </a:prstGeom>
          <a:noFill/>
          <a:ln/>
        </p:spPr>
        <p:txBody>
          <a:bodyPr wrap="square" lIns="0" tIns="0" rIns="0" bIns="0" rtlCol="0" anchor="ctr"/>
          <a:lstStyle/>
          <a:p>
            <a:pPr marL="0" indent="0">
              <a:buNone/>
            </a:pPr>
            <a:r>
              <a:rPr lang="en-US" sz="1100" dirty="0">
                <a:solidFill>
                  <a:srgbClr val="E2E8F0"/>
                </a:solidFill>
                <a:latin typeface="Courier New" pitchFamily="34" charset="0"/>
                <a:ea typeface="Courier New" pitchFamily="34" charset="-122"/>
                <a:cs typeface="Courier New" pitchFamily="34" charset="-120"/>
              </a:rPr>
              <a:t>);</a:t>
            </a:r>
            <a:endParaRPr lang="en-US" sz="1100" dirty="0"/>
          </a:p>
        </p:txBody>
      </p:sp>
      <p:sp>
        <p:nvSpPr>
          <p:cNvPr id="13" name="a2f_l12"/>
          <p:cNvSpPr txBox="1"/>
          <p:nvPr/>
        </p:nvSpPr>
        <p:spPr>
          <a:xfrm>
            <a:off x="4937760" y="1645920"/>
            <a:ext cx="3749040" cy="274320"/>
          </a:xfrm>
          <a:prstGeom prst="rect">
            <a:avLst/>
          </a:prstGeom>
          <a:noFill/>
          <a:ln/>
        </p:spPr>
        <p:txBody>
          <a:bodyPr wrap="square" lIns="0" tIns="0" rIns="0" bIns="0" rtlCol="0" anchor="ctr"/>
          <a:lstStyle/>
          <a:p>
            <a:pPr marL="0" indent="0">
              <a:buNone/>
            </a:pPr>
            <a:r>
              <a:rPr lang="en-US" sz="1200" b="1" dirty="0">
                <a:solidFill>
                  <a:srgbClr val="6D28D9"/>
                </a:solidFill>
                <a:latin typeface="Calibri" pitchFamily="34" charset="0"/>
                <a:ea typeface="Calibri" pitchFamily="34" charset="-122"/>
                <a:cs typeface="Calibri" pitchFamily="34" charset="-120"/>
              </a:rPr>
              <a:t>What the engine now guarantees</a:t>
            </a:r>
            <a:endParaRPr lang="en-US" sz="1200" dirty="0"/>
          </a:p>
        </p:txBody>
      </p:sp>
      <p:sp>
        <p:nvSpPr>
          <p:cNvPr id="14" name="a2f_ck13"/>
          <p:cNvSpPr txBox="1"/>
          <p:nvPr/>
        </p:nvSpPr>
        <p:spPr>
          <a:xfrm>
            <a:off x="4937760" y="1965960"/>
            <a:ext cx="320040" cy="320040"/>
          </a:xfrm>
          <a:prstGeom prst="rect">
            <a:avLst/>
          </a:prstGeom>
          <a:noFill/>
          <a:ln/>
        </p:spPr>
        <p:txBody>
          <a:bodyPr wrap="square" lIns="0" tIns="0" rIns="0" bIns="0" rtlCol="0" anchor="ctr"/>
          <a:lstStyle/>
          <a:p>
            <a:pPr marL="0" indent="0">
              <a:buNone/>
            </a:pPr>
            <a:r>
              <a:rPr lang="en-US" sz="1600" b="1" dirty="0">
                <a:solidFill>
                  <a:srgbClr val="16A34A"/>
                </a:solidFill>
                <a:latin typeface="Calibri" pitchFamily="34" charset="0"/>
                <a:ea typeface="Calibri" pitchFamily="34" charset="-122"/>
                <a:cs typeface="Calibri" pitchFamily="34" charset="-120"/>
              </a:rPr>
              <a:t>✔</a:t>
            </a:r>
            <a:endParaRPr lang="en-US" sz="1600" dirty="0"/>
          </a:p>
        </p:txBody>
      </p:sp>
      <p:sp>
        <p:nvSpPr>
          <p:cNvPr id="15" name="a2f_h14"/>
          <p:cNvSpPr txBox="1"/>
          <p:nvPr/>
        </p:nvSpPr>
        <p:spPr>
          <a:xfrm>
            <a:off x="5303520" y="1965960"/>
            <a:ext cx="3383280" cy="274320"/>
          </a:xfrm>
          <a:prstGeom prst="rect">
            <a:avLst/>
          </a:prstGeom>
          <a:noFill/>
          <a:ln/>
        </p:spPr>
        <p:txBody>
          <a:bodyPr wrap="square" lIns="0" tIns="0" rIns="0" bIns="0" rtlCol="0" anchor="ctr"/>
          <a:lstStyle/>
          <a:p>
            <a:pPr marL="0" indent="0">
              <a:buNone/>
            </a:pPr>
            <a:r>
              <a:rPr lang="en-US" sz="1250" b="1" dirty="0">
                <a:solidFill>
                  <a:srgbClr val="0F172A"/>
                </a:solidFill>
                <a:latin typeface="Calibri" pitchFamily="34" charset="0"/>
                <a:ea typeface="Calibri" pitchFamily="34" charset="-122"/>
                <a:cs typeface="Calibri" pitchFamily="34" charset="-120"/>
              </a:rPr>
              <a:t>Identity never changes</a:t>
            </a:r>
            <a:endParaRPr lang="en-US" sz="1250" dirty="0"/>
          </a:p>
        </p:txBody>
      </p:sp>
      <p:sp>
        <p:nvSpPr>
          <p:cNvPr id="16" name="a2f_d15"/>
          <p:cNvSpPr txBox="1"/>
          <p:nvPr/>
        </p:nvSpPr>
        <p:spPr>
          <a:xfrm>
            <a:off x="5303520" y="2240280"/>
            <a:ext cx="3383280" cy="27432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customer_id is copied into every child table</a:t>
            </a:r>
            <a:endParaRPr lang="en-US" sz="1100" dirty="0"/>
          </a:p>
        </p:txBody>
      </p:sp>
      <p:sp>
        <p:nvSpPr>
          <p:cNvPr id="17" name="a3f_ck16"/>
          <p:cNvSpPr txBox="1"/>
          <p:nvPr/>
        </p:nvSpPr>
        <p:spPr>
          <a:xfrm>
            <a:off x="4937760" y="2606040"/>
            <a:ext cx="320040" cy="320040"/>
          </a:xfrm>
          <a:prstGeom prst="rect">
            <a:avLst/>
          </a:prstGeom>
          <a:noFill/>
          <a:ln/>
        </p:spPr>
        <p:txBody>
          <a:bodyPr wrap="square" lIns="0" tIns="0" rIns="0" bIns="0" rtlCol="0" anchor="ctr"/>
          <a:lstStyle/>
          <a:p>
            <a:pPr marL="0" indent="0">
              <a:buNone/>
            </a:pPr>
            <a:r>
              <a:rPr lang="en-US" sz="1600" b="1" dirty="0">
                <a:solidFill>
                  <a:srgbClr val="16A34A"/>
                </a:solidFill>
                <a:latin typeface="Calibri" pitchFamily="34" charset="0"/>
                <a:ea typeface="Calibri" pitchFamily="34" charset="-122"/>
                <a:cs typeface="Calibri" pitchFamily="34" charset="-120"/>
              </a:rPr>
              <a:t>✔</a:t>
            </a:r>
            <a:endParaRPr lang="en-US" sz="1600" dirty="0"/>
          </a:p>
        </p:txBody>
      </p:sp>
      <p:sp>
        <p:nvSpPr>
          <p:cNvPr id="18" name="a3f_h17"/>
          <p:cNvSpPr txBox="1"/>
          <p:nvPr/>
        </p:nvSpPr>
        <p:spPr>
          <a:xfrm>
            <a:off x="5303520" y="2606040"/>
            <a:ext cx="3383280" cy="274320"/>
          </a:xfrm>
          <a:prstGeom prst="rect">
            <a:avLst/>
          </a:prstGeom>
          <a:noFill/>
          <a:ln/>
        </p:spPr>
        <p:txBody>
          <a:bodyPr wrap="square" lIns="0" tIns="0" rIns="0" bIns="0" rtlCol="0" anchor="ctr"/>
          <a:lstStyle/>
          <a:p>
            <a:pPr marL="0" indent="0">
              <a:buNone/>
            </a:pPr>
            <a:r>
              <a:rPr lang="en-US" sz="1250" b="1" dirty="0">
                <a:solidFill>
                  <a:srgbClr val="0F172A"/>
                </a:solidFill>
                <a:latin typeface="Calibri" pitchFamily="34" charset="0"/>
                <a:ea typeface="Calibri" pitchFamily="34" charset="-122"/>
                <a:cs typeface="Calibri" pitchFamily="34" charset="-120"/>
              </a:rPr>
              <a:t>No duplicate PAN</a:t>
            </a:r>
            <a:endParaRPr lang="en-US" sz="1250" dirty="0"/>
          </a:p>
        </p:txBody>
      </p:sp>
      <p:sp>
        <p:nvSpPr>
          <p:cNvPr id="19" name="a3f_d18"/>
          <p:cNvSpPr txBox="1"/>
          <p:nvPr/>
        </p:nvSpPr>
        <p:spPr>
          <a:xfrm>
            <a:off x="5303520" y="2880360"/>
            <a:ext cx="3383280" cy="27432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UNIQUE rejects a second ABCDE1234F</a:t>
            </a:r>
            <a:endParaRPr lang="en-US" sz="1100" dirty="0"/>
          </a:p>
        </p:txBody>
      </p:sp>
      <p:sp>
        <p:nvSpPr>
          <p:cNvPr id="20" name="a4f_ck19"/>
          <p:cNvSpPr txBox="1"/>
          <p:nvPr/>
        </p:nvSpPr>
        <p:spPr>
          <a:xfrm>
            <a:off x="4937760" y="3246120"/>
            <a:ext cx="320040" cy="320040"/>
          </a:xfrm>
          <a:prstGeom prst="rect">
            <a:avLst/>
          </a:prstGeom>
          <a:noFill/>
          <a:ln/>
        </p:spPr>
        <p:txBody>
          <a:bodyPr wrap="square" lIns="0" tIns="0" rIns="0" bIns="0" rtlCol="0" anchor="ctr"/>
          <a:lstStyle/>
          <a:p>
            <a:pPr marL="0" indent="0">
              <a:buNone/>
            </a:pPr>
            <a:r>
              <a:rPr lang="en-US" sz="1600" b="1" dirty="0">
                <a:solidFill>
                  <a:srgbClr val="16A34A"/>
                </a:solidFill>
                <a:latin typeface="Calibri" pitchFamily="34" charset="0"/>
                <a:ea typeface="Calibri" pitchFamily="34" charset="-122"/>
                <a:cs typeface="Calibri" pitchFamily="34" charset="-120"/>
              </a:rPr>
              <a:t>✔</a:t>
            </a:r>
            <a:endParaRPr lang="en-US" sz="1600" dirty="0"/>
          </a:p>
        </p:txBody>
      </p:sp>
      <p:sp>
        <p:nvSpPr>
          <p:cNvPr id="21" name="a4f_h20"/>
          <p:cNvSpPr txBox="1"/>
          <p:nvPr/>
        </p:nvSpPr>
        <p:spPr>
          <a:xfrm>
            <a:off x="5303520" y="3246120"/>
            <a:ext cx="3383280" cy="274320"/>
          </a:xfrm>
          <a:prstGeom prst="rect">
            <a:avLst/>
          </a:prstGeom>
          <a:noFill/>
          <a:ln/>
        </p:spPr>
        <p:txBody>
          <a:bodyPr wrap="square" lIns="0" tIns="0" rIns="0" bIns="0" rtlCol="0" anchor="ctr"/>
          <a:lstStyle/>
          <a:p>
            <a:pPr marL="0" indent="0">
              <a:buNone/>
            </a:pPr>
            <a:r>
              <a:rPr lang="en-US" sz="1250" b="1" dirty="0">
                <a:solidFill>
                  <a:srgbClr val="0F172A"/>
                </a:solidFill>
                <a:latin typeface="Calibri" pitchFamily="34" charset="0"/>
                <a:ea typeface="Calibri" pitchFamily="34" charset="-122"/>
                <a:cs typeface="Calibri" pitchFamily="34" charset="-120"/>
              </a:rPr>
              <a:t>Foreign keys stay small</a:t>
            </a:r>
            <a:endParaRPr lang="en-US" sz="1250" dirty="0"/>
          </a:p>
        </p:txBody>
      </p:sp>
      <p:sp>
        <p:nvSpPr>
          <p:cNvPr id="22" name="a4f_d21"/>
          <p:cNvSpPr txBox="1"/>
          <p:nvPr/>
        </p:nvSpPr>
        <p:spPr>
          <a:xfrm>
            <a:off x="5303520" y="3520440"/>
            <a:ext cx="3383280" cy="27432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4-byte integers, not 10-character strings</a:t>
            </a:r>
            <a:endParaRPr lang="en-US" sz="1100" dirty="0"/>
          </a:p>
        </p:txBody>
      </p:sp>
      <p:sp>
        <p:nvSpPr>
          <p:cNvPr id="23" name="a5u_nb22"/>
          <p:cNvSpPr/>
          <p:nvPr/>
        </p:nvSpPr>
        <p:spPr>
          <a:xfrm>
            <a:off x="4937760" y="3931920"/>
            <a:ext cx="3749040" cy="822960"/>
          </a:xfrm>
          <a:prstGeom prst="roundRect">
            <a:avLst>
              <a:gd name="adj" fmla="val 9412"/>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pic>
        <p:nvPicPr>
          <p:cNvPr id="24" name="a5u_ni23" descr="image.png"/>
          <p:cNvPicPr>
            <a:picLocks noChangeAspect="1"/>
          </p:cNvPicPr>
          <p:nvPr/>
        </p:nvPicPr>
        <p:blipFill>
          <a:blip r:embed="rId3"/>
          <a:stretch>
            <a:fillRect/>
          </a:stretch>
        </p:blipFill>
        <p:spPr>
          <a:xfrm>
            <a:off x="5074920" y="4183380"/>
            <a:ext cx="320040" cy="320040"/>
          </a:xfrm>
          <a:prstGeom prst="rect">
            <a:avLst/>
          </a:prstGeom>
        </p:spPr>
      </p:pic>
      <p:sp>
        <p:nvSpPr>
          <p:cNvPr id="25" name="a5u_nt24"/>
          <p:cNvSpPr txBox="1"/>
          <p:nvPr/>
        </p:nvSpPr>
        <p:spPr>
          <a:xfrm>
            <a:off x="5486400" y="3931920"/>
            <a:ext cx="3063240" cy="82296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Both benefits: a permanent identity, and the business rule still enforced by the database.</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par>
                                <p:cTn id="11" presetID="22" presetClass="entr" presetSubtype="8" fill="hold" grpId="0" nodeType="withEffect">
                                  <p:stCondLst>
                                    <p:cond delay="15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par>
                                <p:cTn id="14" presetID="22" presetClass="entr" presetSubtype="8" fill="hold" grpId="0" nodeType="withEffect">
                                  <p:stCondLst>
                                    <p:cond delay="30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par>
                                <p:cTn id="17" presetID="22" presetClass="entr" presetSubtype="8" fill="hold" grpId="0" nodeType="withEffect">
                                  <p:stCondLst>
                                    <p:cond delay="45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par>
                                <p:cTn id="20" presetID="22" presetClass="entr" presetSubtype="8" fill="hold" grpId="0" nodeType="withEffect">
                                  <p:stCondLst>
                                    <p:cond delay="60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par>
                                <p:cTn id="23" presetID="22" presetClass="entr" presetSubtype="8" fill="hold" grpId="0" nodeType="withEffect">
                                  <p:stCondLst>
                                    <p:cond delay="75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500"/>
                                        <p:tgtEl>
                                          <p:spTgt spid="10"/>
                                        </p:tgtEl>
                                      </p:cBhvr>
                                    </p:animEffect>
                                  </p:childTnLst>
                                </p:cTn>
                              </p:par>
                              <p:par>
                                <p:cTn id="26" presetID="22" presetClass="entr" presetSubtype="8" fill="hold" grpId="0" nodeType="withEffect">
                                  <p:stCondLst>
                                    <p:cond delay="90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500"/>
                                        <p:tgtEl>
                                          <p:spTgt spid="11"/>
                                        </p:tgtEl>
                                      </p:cBhvr>
                                    </p:animEffect>
                                  </p:childTnLst>
                                </p:cTn>
                              </p:par>
                              <p:par>
                                <p:cTn id="29" presetID="22" presetClass="entr" presetSubtype="8" fill="hold" grpId="0" nodeType="withEffect">
                                  <p:stCondLst>
                                    <p:cond delay="105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50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grpId="0" nodeType="clickEffect">
                                  <p:stCondLst>
                                    <p:cond delay="0"/>
                                  </p:stCondLst>
                                  <p:childTnLst>
                                    <p:set>
                                      <p:cBhvr>
                                        <p:cTn id="71" dur="1" fill="hold">
                                          <p:stCondLst>
                                            <p:cond delay="0"/>
                                          </p:stCondLst>
                                        </p:cTn>
                                        <p:tgtEl>
                                          <p:spTgt spid="23"/>
                                        </p:tgtEl>
                                        <p:attrNameLst>
                                          <p:attrName>style.visibility</p:attrName>
                                        </p:attrNameLst>
                                      </p:cBhvr>
                                      <p:to>
                                        <p:strVal val="visible"/>
                                      </p:to>
                                    </p:set>
                                    <p:anim calcmode="lin" valueType="num">
                                      <p:cBhvr additive="base">
                                        <p:cTn id="72" dur="500" fill="hold"/>
                                        <p:tgtEl>
                                          <p:spTgt spid="23"/>
                                        </p:tgtEl>
                                        <p:attrNameLst>
                                          <p:attrName>ppt_x</p:attrName>
                                        </p:attrNameLst>
                                      </p:cBhvr>
                                      <p:tavLst>
                                        <p:tav tm="0">
                                          <p:val>
                                            <p:strVal val="#ppt_x"/>
                                          </p:val>
                                        </p:tav>
                                        <p:tav tm="100000">
                                          <p:val>
                                            <p:strVal val="#ppt_x"/>
                                          </p:val>
                                        </p:tav>
                                      </p:tavLst>
                                    </p:anim>
                                    <p:anim calcmode="lin" valueType="num">
                                      <p:cBhvr additive="base">
                                        <p:cTn id="73" dur="500" fill="hold"/>
                                        <p:tgtEl>
                                          <p:spTgt spid="23"/>
                                        </p:tgtEl>
                                        <p:attrNameLst>
                                          <p:attrName>ppt_y</p:attrName>
                                        </p:attrNameLst>
                                      </p:cBhvr>
                                      <p:tavLst>
                                        <p:tav tm="0">
                                          <p:val>
                                            <p:strVal val="#ppt_y+0.1"/>
                                          </p:val>
                                        </p:tav>
                                        <p:tav tm="100000">
                                          <p:val>
                                            <p:strVal val="#ppt_y"/>
                                          </p:val>
                                        </p:tav>
                                      </p:tavLst>
                                    </p:anim>
                                    <p:animEffect transition="in" filter="fade">
                                      <p:cBhvr>
                                        <p:cTn id="74" dur="500"/>
                                        <p:tgtEl>
                                          <p:spTgt spid="23"/>
                                        </p:tgtEl>
                                      </p:cBhvr>
                                    </p:animEffect>
                                  </p:childTnLst>
                                </p:cTn>
                              </p:par>
                              <p:par>
                                <p:cTn id="75" presetID="2" presetClass="entr" presetSubtype="4" fill="hold" nodeType="withEffect">
                                  <p:stCondLst>
                                    <p:cond delay="0"/>
                                  </p:stCondLst>
                                  <p:childTnLst>
                                    <p:set>
                                      <p:cBhvr>
                                        <p:cTn id="76" dur="1" fill="hold">
                                          <p:stCondLst>
                                            <p:cond delay="0"/>
                                          </p:stCondLst>
                                        </p:cTn>
                                        <p:tgtEl>
                                          <p:spTgt spid="24"/>
                                        </p:tgtEl>
                                        <p:attrNameLst>
                                          <p:attrName>style.visibility</p:attrName>
                                        </p:attrNameLst>
                                      </p:cBhvr>
                                      <p:to>
                                        <p:strVal val="visible"/>
                                      </p:to>
                                    </p:set>
                                    <p:anim calcmode="lin" valueType="num">
                                      <p:cBhvr additive="base">
                                        <p:cTn id="77" dur="500" fill="hold"/>
                                        <p:tgtEl>
                                          <p:spTgt spid="24"/>
                                        </p:tgtEl>
                                        <p:attrNameLst>
                                          <p:attrName>ppt_x</p:attrName>
                                        </p:attrNameLst>
                                      </p:cBhvr>
                                      <p:tavLst>
                                        <p:tav tm="0">
                                          <p:val>
                                            <p:strVal val="#ppt_x"/>
                                          </p:val>
                                        </p:tav>
                                        <p:tav tm="100000">
                                          <p:val>
                                            <p:strVal val="#ppt_x"/>
                                          </p:val>
                                        </p:tav>
                                      </p:tavLst>
                                    </p:anim>
                                    <p:anim calcmode="lin" valueType="num">
                                      <p:cBhvr additive="base">
                                        <p:cTn id="78" dur="500" fill="hold"/>
                                        <p:tgtEl>
                                          <p:spTgt spid="24"/>
                                        </p:tgtEl>
                                        <p:attrNameLst>
                                          <p:attrName>ppt_y</p:attrName>
                                        </p:attrNameLst>
                                      </p:cBhvr>
                                      <p:tavLst>
                                        <p:tav tm="0">
                                          <p:val>
                                            <p:strVal val="#ppt_y+0.1"/>
                                          </p:val>
                                        </p:tav>
                                        <p:tav tm="100000">
                                          <p:val>
                                            <p:strVal val="#ppt_y"/>
                                          </p:val>
                                        </p:tav>
                                      </p:tavLst>
                                    </p:anim>
                                    <p:animEffect transition="in" filter="fade">
                                      <p:cBhvr>
                                        <p:cTn id="79" dur="500"/>
                                        <p:tgtEl>
                                          <p:spTgt spid="24"/>
                                        </p:tgtEl>
                                      </p:cBhvr>
                                    </p:animEffect>
                                  </p:childTnLst>
                                </p:cTn>
                              </p:par>
                              <p:par>
                                <p:cTn id="80" presetID="2" presetClass="entr" presetSubtype="4" fill="hold" grpId="0" nodeType="withEffect">
                                  <p:stCondLst>
                                    <p:cond delay="0"/>
                                  </p:stCondLst>
                                  <p:childTnLst>
                                    <p:set>
                                      <p:cBhvr>
                                        <p:cTn id="81" dur="1" fill="hold">
                                          <p:stCondLst>
                                            <p:cond delay="0"/>
                                          </p:stCondLst>
                                        </p:cTn>
                                        <p:tgtEl>
                                          <p:spTgt spid="25"/>
                                        </p:tgtEl>
                                        <p:attrNameLst>
                                          <p:attrName>style.visibility</p:attrName>
                                        </p:attrNameLst>
                                      </p:cBhvr>
                                      <p:to>
                                        <p:strVal val="visible"/>
                                      </p:to>
                                    </p:set>
                                    <p:anim calcmode="lin" valueType="num">
                                      <p:cBhvr additive="base">
                                        <p:cTn id="82" dur="500" fill="hold"/>
                                        <p:tgtEl>
                                          <p:spTgt spid="25"/>
                                        </p:tgtEl>
                                        <p:attrNameLst>
                                          <p:attrName>ppt_x</p:attrName>
                                        </p:attrNameLst>
                                      </p:cBhvr>
                                      <p:tavLst>
                                        <p:tav tm="0">
                                          <p:val>
                                            <p:strVal val="#ppt_x"/>
                                          </p:val>
                                        </p:tav>
                                        <p:tav tm="100000">
                                          <p:val>
                                            <p:strVal val="#ppt_x"/>
                                          </p:val>
                                        </p:tav>
                                      </p:tavLst>
                                    </p:anim>
                                    <p:anim calcmode="lin" valueType="num">
                                      <p:cBhvr additive="base">
                                        <p:cTn id="83" dur="500" fill="hold"/>
                                        <p:tgtEl>
                                          <p:spTgt spid="25"/>
                                        </p:tgtEl>
                                        <p:attrNameLst>
                                          <p:attrName>ppt_y</p:attrName>
                                        </p:attrNameLst>
                                      </p:cBhvr>
                                      <p:tavLst>
                                        <p:tav tm="0">
                                          <p:val>
                                            <p:strVal val="#ppt_y+0.1"/>
                                          </p:val>
                                        </p:tav>
                                        <p:tav tm="100000">
                                          <p:val>
                                            <p:strVal val="#ppt_y"/>
                                          </p:val>
                                        </p:tav>
                                      </p:tavLst>
                                    </p:anim>
                                    <p:animEffect transition="in" filter="fade">
                                      <p:cBhvr>
                                        <p:cTn id="8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1"/>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Foreign Keys</a:t>
            </a:r>
            <a:endParaRPr lang="en-US" sz="2800" dirty="0"/>
          </a:p>
        </p:txBody>
      </p:sp>
      <p:sp>
        <p:nvSpPr>
          <p:cNvPr id="3" name="Text 2"/>
          <p:cNvSpPr txBox="1"/>
          <p:nvPr/>
        </p:nvSpPr>
        <p:spPr>
          <a:xfrm>
            <a:off x="457200" y="749808"/>
            <a:ext cx="8229600" cy="320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A column whose value must exist as a key in another table</a:t>
            </a:r>
            <a:endParaRPr lang="en-US" sz="1300" dirty="0"/>
          </a:p>
        </p:txBody>
      </p:sp>
      <p:sp>
        <p:nvSpPr>
          <p:cNvPr id="4" name="a1f_e3"/>
          <p:cNvSpPr txBox="1"/>
          <p:nvPr/>
        </p:nvSpPr>
        <p:spPr>
          <a:xfrm>
            <a:off x="731520" y="1325880"/>
            <a:ext cx="2377440" cy="274320"/>
          </a:xfrm>
          <a:prstGeom prst="rect">
            <a:avLst/>
          </a:prstGeom>
          <a:solidFill>
            <a:srgbClr val="0F766E"/>
          </a:solidFill>
          <a:ln w="9525">
            <a:solidFill>
              <a:srgbClr val="0F766E"/>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customer</a:t>
            </a:r>
            <a:endParaRPr lang="en-US" sz="1100" dirty="0"/>
          </a:p>
        </p:txBody>
      </p:sp>
      <p:sp>
        <p:nvSpPr>
          <p:cNvPr id="5" name="a1f_e4"/>
          <p:cNvSpPr txBox="1"/>
          <p:nvPr/>
        </p:nvSpPr>
        <p:spPr>
          <a:xfrm>
            <a:off x="731520" y="1600200"/>
            <a:ext cx="237744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customer_id</a:t>
            </a:r>
            <a:endParaRPr lang="en-US" sz="950" dirty="0"/>
          </a:p>
        </p:txBody>
      </p:sp>
      <p:sp>
        <p:nvSpPr>
          <p:cNvPr id="6" name="a1f_e5"/>
          <p:cNvSpPr txBox="1"/>
          <p:nvPr/>
        </p:nvSpPr>
        <p:spPr>
          <a:xfrm>
            <a:off x="2542032" y="1600200"/>
            <a:ext cx="512064" cy="219456"/>
          </a:xfrm>
          <a:prstGeom prst="rect">
            <a:avLst/>
          </a:prstGeom>
          <a:noFill/>
          <a:ln/>
        </p:spPr>
        <p:txBody>
          <a:bodyPr wrap="square" lIns="0" tIns="0" rIns="0" bIns="0" rtlCol="0" anchor="ctr"/>
          <a:lstStyle/>
          <a:p>
            <a:pPr marL="0" indent="0" algn="r">
              <a:buNone/>
            </a:pPr>
            <a:r>
              <a:rPr lang="en-US" sz="850" b="1" dirty="0">
                <a:solidFill>
                  <a:srgbClr val="6D28D9"/>
                </a:solidFill>
                <a:latin typeface="Calibri" pitchFamily="34" charset="0"/>
                <a:ea typeface="Calibri" pitchFamily="34" charset="-122"/>
                <a:cs typeface="Calibri" pitchFamily="34" charset="-120"/>
              </a:rPr>
              <a:t>PK</a:t>
            </a:r>
            <a:endParaRPr lang="en-US" sz="850" dirty="0"/>
          </a:p>
        </p:txBody>
      </p:sp>
      <p:sp>
        <p:nvSpPr>
          <p:cNvPr id="7" name="a1f_e6"/>
          <p:cNvSpPr txBox="1"/>
          <p:nvPr/>
        </p:nvSpPr>
        <p:spPr>
          <a:xfrm>
            <a:off x="731520" y="1819656"/>
            <a:ext cx="237744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first_name</a:t>
            </a:r>
            <a:endParaRPr lang="en-US" sz="950" dirty="0"/>
          </a:p>
        </p:txBody>
      </p:sp>
      <p:sp>
        <p:nvSpPr>
          <p:cNvPr id="8" name="a1f_e7"/>
          <p:cNvSpPr txBox="1"/>
          <p:nvPr/>
        </p:nvSpPr>
        <p:spPr>
          <a:xfrm>
            <a:off x="731520" y="2039112"/>
            <a:ext cx="237744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phone</a:t>
            </a:r>
            <a:endParaRPr lang="en-US" sz="950" dirty="0"/>
          </a:p>
        </p:txBody>
      </p:sp>
      <p:sp>
        <p:nvSpPr>
          <p:cNvPr id="9" name="a1f_e8"/>
          <p:cNvSpPr txBox="1"/>
          <p:nvPr/>
        </p:nvSpPr>
        <p:spPr>
          <a:xfrm>
            <a:off x="731520" y="2258568"/>
            <a:ext cx="237744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home_branch_id</a:t>
            </a:r>
            <a:endParaRPr lang="en-US" sz="950" dirty="0"/>
          </a:p>
        </p:txBody>
      </p:sp>
      <p:sp>
        <p:nvSpPr>
          <p:cNvPr id="10" name="a2f_e9"/>
          <p:cNvSpPr txBox="1"/>
          <p:nvPr/>
        </p:nvSpPr>
        <p:spPr>
          <a:xfrm>
            <a:off x="5669280" y="1325880"/>
            <a:ext cx="2651760" cy="274320"/>
          </a:xfrm>
          <a:prstGeom prst="rect">
            <a:avLst/>
          </a:prstGeom>
          <a:solidFill>
            <a:srgbClr val="B45309"/>
          </a:solidFill>
          <a:ln w="9525">
            <a:solidFill>
              <a:srgbClr val="B4530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account</a:t>
            </a:r>
            <a:endParaRPr lang="en-US" sz="1100" dirty="0"/>
          </a:p>
        </p:txBody>
      </p:sp>
      <p:sp>
        <p:nvSpPr>
          <p:cNvPr id="11" name="a2f_e10"/>
          <p:cNvSpPr txBox="1"/>
          <p:nvPr/>
        </p:nvSpPr>
        <p:spPr>
          <a:xfrm>
            <a:off x="5669280" y="1600200"/>
            <a:ext cx="265176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account_id</a:t>
            </a:r>
            <a:endParaRPr lang="en-US" sz="950" dirty="0"/>
          </a:p>
        </p:txBody>
      </p:sp>
      <p:sp>
        <p:nvSpPr>
          <p:cNvPr id="12" name="a2f_e11"/>
          <p:cNvSpPr txBox="1"/>
          <p:nvPr/>
        </p:nvSpPr>
        <p:spPr>
          <a:xfrm>
            <a:off x="7754112" y="1600200"/>
            <a:ext cx="512064" cy="219456"/>
          </a:xfrm>
          <a:prstGeom prst="rect">
            <a:avLst/>
          </a:prstGeom>
          <a:noFill/>
          <a:ln/>
        </p:spPr>
        <p:txBody>
          <a:bodyPr wrap="square" lIns="0" tIns="0" rIns="0" bIns="0" rtlCol="0" anchor="ctr"/>
          <a:lstStyle/>
          <a:p>
            <a:pPr marL="0" indent="0" algn="r">
              <a:buNone/>
            </a:pPr>
            <a:r>
              <a:rPr lang="en-US" sz="850" b="1" dirty="0">
                <a:solidFill>
                  <a:srgbClr val="6D28D9"/>
                </a:solidFill>
                <a:latin typeface="Calibri" pitchFamily="34" charset="0"/>
                <a:ea typeface="Calibri" pitchFamily="34" charset="-122"/>
                <a:cs typeface="Calibri" pitchFamily="34" charset="-120"/>
              </a:rPr>
              <a:t>PK</a:t>
            </a:r>
            <a:endParaRPr lang="en-US" sz="850" dirty="0"/>
          </a:p>
        </p:txBody>
      </p:sp>
      <p:sp>
        <p:nvSpPr>
          <p:cNvPr id="13" name="a2f_e12"/>
          <p:cNvSpPr txBox="1"/>
          <p:nvPr/>
        </p:nvSpPr>
        <p:spPr>
          <a:xfrm>
            <a:off x="5669280" y="1819656"/>
            <a:ext cx="265176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account_number</a:t>
            </a:r>
            <a:endParaRPr lang="en-US" sz="950" dirty="0"/>
          </a:p>
        </p:txBody>
      </p:sp>
      <p:sp>
        <p:nvSpPr>
          <p:cNvPr id="14" name="a2f_e13"/>
          <p:cNvSpPr txBox="1"/>
          <p:nvPr/>
        </p:nvSpPr>
        <p:spPr>
          <a:xfrm>
            <a:off x="7754112" y="1819656"/>
            <a:ext cx="512064" cy="219456"/>
          </a:xfrm>
          <a:prstGeom prst="rect">
            <a:avLst/>
          </a:prstGeom>
          <a:noFill/>
          <a:ln/>
        </p:spPr>
        <p:txBody>
          <a:bodyPr wrap="square" lIns="0" tIns="0" rIns="0" bIns="0" rtlCol="0" anchor="ctr"/>
          <a:lstStyle/>
          <a:p>
            <a:pPr marL="0" indent="0" algn="r">
              <a:buNone/>
            </a:pPr>
            <a:r>
              <a:rPr lang="en-US" sz="850" b="1" dirty="0">
                <a:solidFill>
                  <a:srgbClr val="0F766E"/>
                </a:solidFill>
                <a:latin typeface="Calibri" pitchFamily="34" charset="0"/>
                <a:ea typeface="Calibri" pitchFamily="34" charset="-122"/>
                <a:cs typeface="Calibri" pitchFamily="34" charset="-120"/>
              </a:rPr>
              <a:t>AK</a:t>
            </a:r>
            <a:endParaRPr lang="en-US" sz="850" dirty="0"/>
          </a:p>
        </p:txBody>
      </p:sp>
      <p:sp>
        <p:nvSpPr>
          <p:cNvPr id="15" name="a2f_e14"/>
          <p:cNvSpPr txBox="1"/>
          <p:nvPr/>
        </p:nvSpPr>
        <p:spPr>
          <a:xfrm>
            <a:off x="5669280" y="2039112"/>
            <a:ext cx="265176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customer_id</a:t>
            </a:r>
            <a:endParaRPr lang="en-US" sz="950" dirty="0"/>
          </a:p>
        </p:txBody>
      </p:sp>
      <p:sp>
        <p:nvSpPr>
          <p:cNvPr id="16" name="a2f_e15"/>
          <p:cNvSpPr txBox="1"/>
          <p:nvPr/>
        </p:nvSpPr>
        <p:spPr>
          <a:xfrm>
            <a:off x="7754112" y="2039112"/>
            <a:ext cx="512064" cy="219456"/>
          </a:xfrm>
          <a:prstGeom prst="rect">
            <a:avLst/>
          </a:prstGeom>
          <a:noFill/>
          <a:ln/>
        </p:spPr>
        <p:txBody>
          <a:bodyPr wrap="square" lIns="0" tIns="0" rIns="0" bIns="0" rtlCol="0" anchor="ctr"/>
          <a:lstStyle/>
          <a:p>
            <a:pPr marL="0" indent="0" algn="r">
              <a:buNone/>
            </a:pPr>
            <a:r>
              <a:rPr lang="en-US" sz="850" b="1" dirty="0">
                <a:solidFill>
                  <a:srgbClr val="B45309"/>
                </a:solidFill>
                <a:latin typeface="Calibri" pitchFamily="34" charset="0"/>
                <a:ea typeface="Calibri" pitchFamily="34" charset="-122"/>
                <a:cs typeface="Calibri" pitchFamily="34" charset="-120"/>
              </a:rPr>
              <a:t>FK</a:t>
            </a:r>
            <a:endParaRPr lang="en-US" sz="850" dirty="0"/>
          </a:p>
        </p:txBody>
      </p:sp>
      <p:sp>
        <p:nvSpPr>
          <p:cNvPr id="17" name="a2f_e16"/>
          <p:cNvSpPr txBox="1"/>
          <p:nvPr/>
        </p:nvSpPr>
        <p:spPr>
          <a:xfrm>
            <a:off x="5669280" y="2258568"/>
            <a:ext cx="265176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balance</a:t>
            </a:r>
            <a:endParaRPr lang="en-US" sz="950" dirty="0"/>
          </a:p>
        </p:txBody>
      </p:sp>
      <p:cxnSp>
        <p:nvCxnSpPr>
          <p:cNvPr id="18" name="a3w_ln17"/>
          <p:cNvCxnSpPr/>
          <p:nvPr/>
        </p:nvCxnSpPr>
        <p:spPr>
          <a:xfrm flipH="1" flipV="1">
            <a:off x="3108960" y="1709928"/>
            <a:ext cx="2560320" cy="457200"/>
          </a:xfrm>
          <a:prstGeom prst="line">
            <a:avLst/>
          </a:prstGeom>
          <a:ln w="22225">
            <a:solidFill>
              <a:srgbClr val="8B5CF6"/>
            </a:solidFill>
            <a:tailEnd type="triangle"/>
          </a:ln>
        </p:spPr>
      </p:cxnSp>
      <p:sp>
        <p:nvSpPr>
          <p:cNvPr id="19" name="a3f_lt18"/>
          <p:cNvSpPr txBox="1"/>
          <p:nvPr/>
        </p:nvSpPr>
        <p:spPr>
          <a:xfrm>
            <a:off x="3566160" y="1572768"/>
            <a:ext cx="1920240" cy="274320"/>
          </a:xfrm>
          <a:prstGeom prst="rect">
            <a:avLst/>
          </a:prstGeom>
          <a:noFill/>
          <a:ln/>
        </p:spPr>
        <p:txBody>
          <a:bodyPr wrap="square" lIns="0" tIns="0" rIns="0" bIns="0" rtlCol="0" anchor="ctr"/>
          <a:lstStyle/>
          <a:p>
            <a:pPr marL="0" indent="0" algn="ctr">
              <a:buNone/>
            </a:pPr>
            <a:r>
              <a:rPr lang="en-US" sz="1050" b="1" i="1" dirty="0">
                <a:solidFill>
                  <a:srgbClr val="6D28D9"/>
                </a:solidFill>
                <a:latin typeface="Calibri" pitchFamily="34" charset="0"/>
                <a:ea typeface="Calibri" pitchFamily="34" charset="-122"/>
                <a:cs typeface="Calibri" pitchFamily="34" charset="-120"/>
              </a:rPr>
              <a:t>must exist in</a:t>
            </a:r>
            <a:endParaRPr lang="en-US" sz="1050" dirty="0"/>
          </a:p>
        </p:txBody>
      </p:sp>
      <p:sp>
        <p:nvSpPr>
          <p:cNvPr id="20" name="a4f_codebg19"/>
          <p:cNvSpPr/>
          <p:nvPr/>
        </p:nvSpPr>
        <p:spPr>
          <a:xfrm>
            <a:off x="457200" y="2834640"/>
            <a:ext cx="8229600" cy="786384"/>
          </a:xfrm>
          <a:prstGeom prst="roundRect">
            <a:avLst>
              <a:gd name="adj" fmla="val 3150"/>
            </a:avLst>
          </a:prstGeom>
          <a:solidFill>
            <a:srgbClr val="1E293B"/>
          </a:solidFill>
          <a:ln w="12700">
            <a:solidFill>
              <a:srgbClr val="1E293B"/>
            </a:solidFill>
            <a:prstDash val="solid"/>
          </a:ln>
        </p:spPr>
      </p:sp>
      <p:sp>
        <p:nvSpPr>
          <p:cNvPr id="21" name="a4wd0_code20"/>
          <p:cNvSpPr txBox="1"/>
          <p:nvPr/>
        </p:nvSpPr>
        <p:spPr>
          <a:xfrm>
            <a:off x="640080" y="2971800"/>
            <a:ext cx="7909560" cy="256032"/>
          </a:xfrm>
          <a:prstGeom prst="rect">
            <a:avLst/>
          </a:prstGeom>
          <a:noFill/>
          <a:ln/>
        </p:spPr>
        <p:txBody>
          <a:bodyPr wrap="square" lIns="0" tIns="0" rIns="0" bIns="0" rtlCol="0" anchor="ctr"/>
          <a:lstStyle/>
          <a:p>
            <a:pPr marL="0" indent="0">
              <a:buNone/>
            </a:pPr>
            <a:r>
              <a:rPr lang="en-US" sz="1150" b="1" dirty="0">
                <a:solidFill>
                  <a:srgbClr val="C4B5FD"/>
                </a:solidFill>
                <a:latin typeface="Courier New" pitchFamily="34" charset="0"/>
                <a:ea typeface="Courier New" pitchFamily="34" charset="-122"/>
                <a:cs typeface="Courier New" pitchFamily="34" charset="-120"/>
              </a:rPr>
              <a:t>CONSTRAINT</a:t>
            </a:r>
            <a:r>
              <a:rPr lang="en-US" sz="1150" dirty="0">
                <a:solidFill>
                  <a:srgbClr val="E2E8F0"/>
                </a:solidFill>
                <a:latin typeface="Courier New" pitchFamily="34" charset="0"/>
                <a:ea typeface="Courier New" pitchFamily="34" charset="-122"/>
                <a:cs typeface="Courier New" pitchFamily="34" charset="-120"/>
              </a:rPr>
              <a:t> fk_account_customer_id</a:t>
            </a:r>
            <a:endParaRPr lang="en-US" sz="1150" dirty="0"/>
          </a:p>
        </p:txBody>
      </p:sp>
      <p:sp>
        <p:nvSpPr>
          <p:cNvPr id="22" name="a4wd150_code21"/>
          <p:cNvSpPr txBox="1"/>
          <p:nvPr/>
        </p:nvSpPr>
        <p:spPr>
          <a:xfrm>
            <a:off x="640080" y="3227832"/>
            <a:ext cx="7909560" cy="256032"/>
          </a:xfrm>
          <a:prstGeom prst="rect">
            <a:avLst/>
          </a:prstGeom>
          <a:noFill/>
          <a:ln/>
        </p:spPr>
        <p:txBody>
          <a:bodyPr wrap="square" lIns="0" tIns="0" rIns="0" bIns="0" rtlCol="0" anchor="ctr"/>
          <a:lstStyle/>
          <a:p>
            <a:pPr marL="0" indent="0">
              <a:buNone/>
            </a:pPr>
            <a:r>
              <a:rPr lang="en-US" sz="1150" dirty="0">
                <a:solidFill>
                  <a:srgbClr val="E2E8F0"/>
                </a:solidFill>
                <a:latin typeface="Courier New" pitchFamily="34" charset="0"/>
                <a:ea typeface="Courier New" pitchFamily="34" charset="-122"/>
                <a:cs typeface="Courier New" pitchFamily="34" charset="-120"/>
              </a:rPr>
              <a:t>  </a:t>
            </a:r>
            <a:r>
              <a:rPr lang="en-US" sz="1150" b="1" dirty="0">
                <a:solidFill>
                  <a:srgbClr val="C4B5FD"/>
                </a:solidFill>
                <a:latin typeface="Courier New" pitchFamily="34" charset="0"/>
                <a:ea typeface="Courier New" pitchFamily="34" charset="-122"/>
                <a:cs typeface="Courier New" pitchFamily="34" charset="-120"/>
              </a:rPr>
              <a:t>FOREIGN</a:t>
            </a:r>
            <a:r>
              <a:rPr lang="en-US" sz="1150" dirty="0">
                <a:solidFill>
                  <a:srgbClr val="E2E8F0"/>
                </a:solidFill>
                <a:latin typeface="Courier New" pitchFamily="34" charset="0"/>
                <a:ea typeface="Courier New" pitchFamily="34" charset="-122"/>
                <a:cs typeface="Courier New" pitchFamily="34" charset="-120"/>
              </a:rPr>
              <a:t> </a:t>
            </a:r>
            <a:r>
              <a:rPr lang="en-US" sz="1150" b="1" dirty="0">
                <a:solidFill>
                  <a:srgbClr val="C4B5FD"/>
                </a:solidFill>
                <a:latin typeface="Courier New" pitchFamily="34" charset="0"/>
                <a:ea typeface="Courier New" pitchFamily="34" charset="-122"/>
                <a:cs typeface="Courier New" pitchFamily="34" charset="-120"/>
              </a:rPr>
              <a:t>KEY</a:t>
            </a:r>
            <a:r>
              <a:rPr lang="en-US" sz="1150" dirty="0">
                <a:solidFill>
                  <a:srgbClr val="E2E8F0"/>
                </a:solidFill>
                <a:latin typeface="Courier New" pitchFamily="34" charset="0"/>
                <a:ea typeface="Courier New" pitchFamily="34" charset="-122"/>
                <a:cs typeface="Courier New" pitchFamily="34" charset="-120"/>
              </a:rPr>
              <a:t> (customer_id) </a:t>
            </a:r>
            <a:r>
              <a:rPr lang="en-US" sz="1150" b="1" dirty="0">
                <a:solidFill>
                  <a:srgbClr val="C4B5FD"/>
                </a:solidFill>
                <a:latin typeface="Courier New" pitchFamily="34" charset="0"/>
                <a:ea typeface="Courier New" pitchFamily="34" charset="-122"/>
                <a:cs typeface="Courier New" pitchFamily="34" charset="-120"/>
              </a:rPr>
              <a:t>REFERENCES</a:t>
            </a:r>
            <a:r>
              <a:rPr lang="en-US" sz="1150" dirty="0">
                <a:solidFill>
                  <a:srgbClr val="E2E8F0"/>
                </a:solidFill>
                <a:latin typeface="Courier New" pitchFamily="34" charset="0"/>
                <a:ea typeface="Courier New" pitchFamily="34" charset="-122"/>
                <a:cs typeface="Courier New" pitchFamily="34" charset="-120"/>
              </a:rPr>
              <a:t> customer (customer_id)</a:t>
            </a:r>
            <a:endParaRPr lang="en-US" sz="1150" dirty="0"/>
          </a:p>
        </p:txBody>
      </p:sp>
      <p:sp>
        <p:nvSpPr>
          <p:cNvPr id="23" name="a5u_nb22"/>
          <p:cNvSpPr/>
          <p:nvPr/>
        </p:nvSpPr>
        <p:spPr>
          <a:xfrm>
            <a:off x="457200" y="3749040"/>
            <a:ext cx="8229600" cy="777240"/>
          </a:xfrm>
          <a:prstGeom prst="roundRect">
            <a:avLst>
              <a:gd name="adj" fmla="val 9412"/>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pic>
        <p:nvPicPr>
          <p:cNvPr id="24" name="a5u_ni23" descr="image.png"/>
          <p:cNvPicPr>
            <a:picLocks noChangeAspect="1"/>
          </p:cNvPicPr>
          <p:nvPr/>
        </p:nvPicPr>
        <p:blipFill>
          <a:blip r:embed="rId3"/>
          <a:stretch>
            <a:fillRect/>
          </a:stretch>
        </p:blipFill>
        <p:spPr>
          <a:xfrm>
            <a:off x="594360" y="3977640"/>
            <a:ext cx="320040" cy="320040"/>
          </a:xfrm>
          <a:prstGeom prst="rect">
            <a:avLst/>
          </a:prstGeom>
        </p:spPr>
      </p:pic>
      <p:sp>
        <p:nvSpPr>
          <p:cNvPr id="25" name="a5u_nt24"/>
          <p:cNvSpPr txBox="1"/>
          <p:nvPr/>
        </p:nvSpPr>
        <p:spPr>
          <a:xfrm>
            <a:off x="1005840" y="3749040"/>
            <a:ext cx="7543800" cy="777240"/>
          </a:xfrm>
          <a:prstGeom prst="rect">
            <a:avLst/>
          </a:prstGeom>
          <a:noFill/>
          <a:ln/>
        </p:spPr>
        <p:txBody>
          <a:bodyPr wrap="square" lIns="0" tIns="0" rIns="0" bIns="0" rtlCol="0" anchor="ctr"/>
          <a:lstStyle/>
          <a:p>
            <a:pPr marL="0" indent="0">
              <a:buNone/>
            </a:pPr>
            <a:r>
              <a:rPr lang="en-US" sz="1200" b="1" dirty="0">
                <a:solidFill>
                  <a:srgbClr val="334155"/>
                </a:solidFill>
                <a:latin typeface="Calibri" pitchFamily="34" charset="0"/>
                <a:ea typeface="Calibri" pitchFamily="34" charset="-122"/>
                <a:cs typeface="Calibri" pitchFamily="34" charset="-120"/>
              </a:rPr>
              <a:t>The foreign key lives on the "many" side. </a:t>
            </a:r>
            <a:r>
              <a:rPr lang="en-US" sz="1200" dirty="0">
                <a:solidFill>
                  <a:srgbClr val="334155"/>
                </a:solidFill>
                <a:latin typeface="Calibri" pitchFamily="34" charset="0"/>
                <a:ea typeface="Calibri" pitchFamily="34" charset="-122"/>
                <a:cs typeface="Calibri" pitchFamily="34" charset="-120"/>
              </a:rPr>
              <a:t>One customer, many accounts — so account carries customer_id, never the other way round.</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wipe(left)">
                                      <p:cBhvr>
                                        <p:cTn id="53" dur="500"/>
                                        <p:tgtEl>
                                          <p:spTgt spid="1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wipe(left)">
                                      <p:cBhvr>
                                        <p:cTn id="64" dur="500"/>
                                        <p:tgtEl>
                                          <p:spTgt spid="21"/>
                                        </p:tgtEl>
                                      </p:cBhvr>
                                    </p:animEffect>
                                  </p:childTnLst>
                                </p:cTn>
                              </p:par>
                              <p:par>
                                <p:cTn id="65" presetID="22" presetClass="entr" presetSubtype="8" fill="hold" grpId="0" nodeType="withEffect">
                                  <p:stCondLst>
                                    <p:cond delay="150"/>
                                  </p:stCondLst>
                                  <p:childTnLst>
                                    <p:set>
                                      <p:cBhvr>
                                        <p:cTn id="66" dur="1" fill="hold">
                                          <p:stCondLst>
                                            <p:cond delay="0"/>
                                          </p:stCondLst>
                                        </p:cTn>
                                        <p:tgtEl>
                                          <p:spTgt spid="22"/>
                                        </p:tgtEl>
                                        <p:attrNameLst>
                                          <p:attrName>style.visibility</p:attrName>
                                        </p:attrNameLst>
                                      </p:cBhvr>
                                      <p:to>
                                        <p:strVal val="visible"/>
                                      </p:to>
                                    </p:set>
                                    <p:animEffect transition="in" filter="wipe(left)">
                                      <p:cBhvr>
                                        <p:cTn id="67" dur="500"/>
                                        <p:tgtEl>
                                          <p:spTgt spid="22"/>
                                        </p:tgtEl>
                                      </p:cBhvr>
                                    </p:animEffect>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grpId="0" nodeType="clickEffect">
                                  <p:stCondLst>
                                    <p:cond delay="0"/>
                                  </p:stCondLst>
                                  <p:childTnLst>
                                    <p:set>
                                      <p:cBhvr>
                                        <p:cTn id="71" dur="1" fill="hold">
                                          <p:stCondLst>
                                            <p:cond delay="0"/>
                                          </p:stCondLst>
                                        </p:cTn>
                                        <p:tgtEl>
                                          <p:spTgt spid="23"/>
                                        </p:tgtEl>
                                        <p:attrNameLst>
                                          <p:attrName>style.visibility</p:attrName>
                                        </p:attrNameLst>
                                      </p:cBhvr>
                                      <p:to>
                                        <p:strVal val="visible"/>
                                      </p:to>
                                    </p:set>
                                    <p:anim calcmode="lin" valueType="num">
                                      <p:cBhvr additive="base">
                                        <p:cTn id="72" dur="500" fill="hold"/>
                                        <p:tgtEl>
                                          <p:spTgt spid="23"/>
                                        </p:tgtEl>
                                        <p:attrNameLst>
                                          <p:attrName>ppt_x</p:attrName>
                                        </p:attrNameLst>
                                      </p:cBhvr>
                                      <p:tavLst>
                                        <p:tav tm="0">
                                          <p:val>
                                            <p:strVal val="#ppt_x"/>
                                          </p:val>
                                        </p:tav>
                                        <p:tav tm="100000">
                                          <p:val>
                                            <p:strVal val="#ppt_x"/>
                                          </p:val>
                                        </p:tav>
                                      </p:tavLst>
                                    </p:anim>
                                    <p:anim calcmode="lin" valueType="num">
                                      <p:cBhvr additive="base">
                                        <p:cTn id="73" dur="500" fill="hold"/>
                                        <p:tgtEl>
                                          <p:spTgt spid="23"/>
                                        </p:tgtEl>
                                        <p:attrNameLst>
                                          <p:attrName>ppt_y</p:attrName>
                                        </p:attrNameLst>
                                      </p:cBhvr>
                                      <p:tavLst>
                                        <p:tav tm="0">
                                          <p:val>
                                            <p:strVal val="#ppt_y+0.1"/>
                                          </p:val>
                                        </p:tav>
                                        <p:tav tm="100000">
                                          <p:val>
                                            <p:strVal val="#ppt_y"/>
                                          </p:val>
                                        </p:tav>
                                      </p:tavLst>
                                    </p:anim>
                                    <p:animEffect transition="in" filter="fade">
                                      <p:cBhvr>
                                        <p:cTn id="74" dur="500"/>
                                        <p:tgtEl>
                                          <p:spTgt spid="23"/>
                                        </p:tgtEl>
                                      </p:cBhvr>
                                    </p:animEffect>
                                  </p:childTnLst>
                                </p:cTn>
                              </p:par>
                              <p:par>
                                <p:cTn id="75" presetID="2" presetClass="entr" presetSubtype="4" fill="hold" nodeType="withEffect">
                                  <p:stCondLst>
                                    <p:cond delay="0"/>
                                  </p:stCondLst>
                                  <p:childTnLst>
                                    <p:set>
                                      <p:cBhvr>
                                        <p:cTn id="76" dur="1" fill="hold">
                                          <p:stCondLst>
                                            <p:cond delay="0"/>
                                          </p:stCondLst>
                                        </p:cTn>
                                        <p:tgtEl>
                                          <p:spTgt spid="24"/>
                                        </p:tgtEl>
                                        <p:attrNameLst>
                                          <p:attrName>style.visibility</p:attrName>
                                        </p:attrNameLst>
                                      </p:cBhvr>
                                      <p:to>
                                        <p:strVal val="visible"/>
                                      </p:to>
                                    </p:set>
                                    <p:anim calcmode="lin" valueType="num">
                                      <p:cBhvr additive="base">
                                        <p:cTn id="77" dur="500" fill="hold"/>
                                        <p:tgtEl>
                                          <p:spTgt spid="24"/>
                                        </p:tgtEl>
                                        <p:attrNameLst>
                                          <p:attrName>ppt_x</p:attrName>
                                        </p:attrNameLst>
                                      </p:cBhvr>
                                      <p:tavLst>
                                        <p:tav tm="0">
                                          <p:val>
                                            <p:strVal val="#ppt_x"/>
                                          </p:val>
                                        </p:tav>
                                        <p:tav tm="100000">
                                          <p:val>
                                            <p:strVal val="#ppt_x"/>
                                          </p:val>
                                        </p:tav>
                                      </p:tavLst>
                                    </p:anim>
                                    <p:anim calcmode="lin" valueType="num">
                                      <p:cBhvr additive="base">
                                        <p:cTn id="78" dur="500" fill="hold"/>
                                        <p:tgtEl>
                                          <p:spTgt spid="24"/>
                                        </p:tgtEl>
                                        <p:attrNameLst>
                                          <p:attrName>ppt_y</p:attrName>
                                        </p:attrNameLst>
                                      </p:cBhvr>
                                      <p:tavLst>
                                        <p:tav tm="0">
                                          <p:val>
                                            <p:strVal val="#ppt_y+0.1"/>
                                          </p:val>
                                        </p:tav>
                                        <p:tav tm="100000">
                                          <p:val>
                                            <p:strVal val="#ppt_y"/>
                                          </p:val>
                                        </p:tav>
                                      </p:tavLst>
                                    </p:anim>
                                    <p:animEffect transition="in" filter="fade">
                                      <p:cBhvr>
                                        <p:cTn id="79" dur="500"/>
                                        <p:tgtEl>
                                          <p:spTgt spid="24"/>
                                        </p:tgtEl>
                                      </p:cBhvr>
                                    </p:animEffect>
                                  </p:childTnLst>
                                </p:cTn>
                              </p:par>
                              <p:par>
                                <p:cTn id="80" presetID="2" presetClass="entr" presetSubtype="4" fill="hold" grpId="0" nodeType="withEffect">
                                  <p:stCondLst>
                                    <p:cond delay="0"/>
                                  </p:stCondLst>
                                  <p:childTnLst>
                                    <p:set>
                                      <p:cBhvr>
                                        <p:cTn id="81" dur="1" fill="hold">
                                          <p:stCondLst>
                                            <p:cond delay="0"/>
                                          </p:stCondLst>
                                        </p:cTn>
                                        <p:tgtEl>
                                          <p:spTgt spid="25"/>
                                        </p:tgtEl>
                                        <p:attrNameLst>
                                          <p:attrName>style.visibility</p:attrName>
                                        </p:attrNameLst>
                                      </p:cBhvr>
                                      <p:to>
                                        <p:strVal val="visible"/>
                                      </p:to>
                                    </p:set>
                                    <p:anim calcmode="lin" valueType="num">
                                      <p:cBhvr additive="base">
                                        <p:cTn id="82" dur="500" fill="hold"/>
                                        <p:tgtEl>
                                          <p:spTgt spid="25"/>
                                        </p:tgtEl>
                                        <p:attrNameLst>
                                          <p:attrName>ppt_x</p:attrName>
                                        </p:attrNameLst>
                                      </p:cBhvr>
                                      <p:tavLst>
                                        <p:tav tm="0">
                                          <p:val>
                                            <p:strVal val="#ppt_x"/>
                                          </p:val>
                                        </p:tav>
                                        <p:tav tm="100000">
                                          <p:val>
                                            <p:strVal val="#ppt_x"/>
                                          </p:val>
                                        </p:tav>
                                      </p:tavLst>
                                    </p:anim>
                                    <p:anim calcmode="lin" valueType="num">
                                      <p:cBhvr additive="base">
                                        <p:cTn id="83" dur="500" fill="hold"/>
                                        <p:tgtEl>
                                          <p:spTgt spid="25"/>
                                        </p:tgtEl>
                                        <p:attrNameLst>
                                          <p:attrName>ppt_y</p:attrName>
                                        </p:attrNameLst>
                                      </p:cBhvr>
                                      <p:tavLst>
                                        <p:tav tm="0">
                                          <p:val>
                                            <p:strVal val="#ppt_y+0.1"/>
                                          </p:val>
                                        </p:tav>
                                        <p:tav tm="100000">
                                          <p:val>
                                            <p:strVal val="#ppt_y"/>
                                          </p:val>
                                        </p:tav>
                                      </p:tavLst>
                                    </p:anim>
                                    <p:animEffect transition="in" filter="fade">
                                      <p:cBhvr>
                                        <p:cTn id="8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9" grpId="0" animBg="1"/>
      <p:bldP spid="20" grpId="0" animBg="1"/>
      <p:bldP spid="21" grpId="0" animBg="1"/>
      <p:bldP spid="22" grpId="0" animBg="1"/>
      <p:bldP spid="23" grpId="0" animBg="1"/>
      <p:bldP spid="2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a0f_n1"/>
          <p:cNvSpPr txBox="1"/>
          <p:nvPr/>
        </p:nvSpPr>
        <p:spPr>
          <a:xfrm>
            <a:off x="548640" y="1188720"/>
            <a:ext cx="4114800" cy="822960"/>
          </a:xfrm>
          <a:prstGeom prst="rect">
            <a:avLst/>
          </a:prstGeom>
          <a:noFill/>
          <a:ln/>
        </p:spPr>
        <p:txBody>
          <a:bodyPr wrap="square" lIns="0" tIns="0" rIns="0" bIns="0" rtlCol="0" anchor="ctr"/>
          <a:lstStyle/>
          <a:p>
            <a:pPr marL="0" indent="0">
              <a:buNone/>
            </a:pPr>
            <a:r>
              <a:rPr lang="en-US" sz="6000" b="1" dirty="0">
                <a:solidFill>
                  <a:srgbClr val="A78BFA"/>
                </a:solidFill>
                <a:latin typeface="Calibri" pitchFamily="34" charset="0"/>
                <a:ea typeface="Calibri" pitchFamily="34" charset="-122"/>
                <a:cs typeface="Calibri" pitchFamily="34" charset="-120"/>
              </a:rPr>
              <a:t>02</a:t>
            </a:r>
            <a:endParaRPr lang="en-US" sz="6000" dirty="0"/>
          </a:p>
        </p:txBody>
      </p:sp>
      <p:sp>
        <p:nvSpPr>
          <p:cNvPr id="3" name="a0ud200_h2"/>
          <p:cNvSpPr txBox="1"/>
          <p:nvPr/>
        </p:nvSpPr>
        <p:spPr>
          <a:xfrm>
            <a:off x="548640" y="2011680"/>
            <a:ext cx="4572000" cy="82296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INTEGRITY</a:t>
            </a:r>
            <a:endParaRPr lang="en-US" sz="4400" dirty="0"/>
          </a:p>
        </p:txBody>
      </p:sp>
      <p:sp>
        <p:nvSpPr>
          <p:cNvPr id="4" name="a0fd450_t3"/>
          <p:cNvSpPr txBox="1"/>
          <p:nvPr/>
        </p:nvSpPr>
        <p:spPr>
          <a:xfrm>
            <a:off x="548640" y="2834640"/>
            <a:ext cx="4389120" cy="731520"/>
          </a:xfrm>
          <a:prstGeom prst="rect">
            <a:avLst/>
          </a:prstGeom>
          <a:noFill/>
          <a:ln/>
        </p:spPr>
        <p:txBody>
          <a:bodyPr wrap="square" lIns="0" tIns="0" rIns="0" bIns="0" rtlCol="0" anchor="t"/>
          <a:lstStyle/>
          <a:p>
            <a:pPr marL="0" indent="0">
              <a:buNone/>
            </a:pPr>
            <a:r>
              <a:rPr lang="en-US" sz="1700" dirty="0">
                <a:solidFill>
                  <a:srgbClr val="CBD5E1"/>
                </a:solidFill>
                <a:latin typeface="Calibri" pitchFamily="34" charset="0"/>
                <a:ea typeface="Calibri" pitchFamily="34" charset="-122"/>
                <a:cs typeface="Calibri" pitchFamily="34" charset="-120"/>
              </a:rPr>
              <a:t>Every foreign key must point at a row that exists</a:t>
            </a:r>
            <a:endParaRPr lang="en-US" sz="1700" dirty="0"/>
          </a:p>
        </p:txBody>
      </p:sp>
      <p:sp>
        <p:nvSpPr>
          <p:cNvPr id="5" name="a0fd300_v4"/>
          <p:cNvSpPr txBox="1"/>
          <p:nvPr/>
        </p:nvSpPr>
        <p:spPr>
          <a:xfrm>
            <a:off x="5162595" y="1653988"/>
            <a:ext cx="1153758" cy="1384509"/>
          </a:xfrm>
          <a:prstGeom prst="roundRect">
            <a:avLst>
              <a:gd name="adj" fmla="val 16000"/>
            </a:avLst>
          </a:prstGeom>
          <a:solidFill>
            <a:srgbClr val="14B8A6"/>
          </a:solidFill>
          <a:ln>
            <a:noFill/>
          </a:ln>
        </p:spPr>
        <p:txBody>
          <a:bodyPr wrap="square" lIns="0" tIns="0" rIns="0" bIns="0" rtlCol="0" anchor="ctr"/>
          <a:lstStyle/>
          <a:p>
            <a:pPr marL="0" indent="0" algn="ctr">
              <a:buNone/>
            </a:pPr>
            <a:r>
              <a:rPr lang="en-US" sz="2752" b="1" dirty="0">
                <a:solidFill>
                  <a:srgbClr val="FFFFFF"/>
                </a:solidFill>
                <a:latin typeface="Calibri" pitchFamily="34" charset="0"/>
                <a:ea typeface="Calibri" pitchFamily="34" charset="-122"/>
                <a:cs typeface="Calibri" pitchFamily="34" charset="-120"/>
              </a:rPr>
              <a:t>PK</a:t>
            </a:r>
            <a:endParaRPr lang="en-US" sz="2752" dirty="0"/>
          </a:p>
        </p:txBody>
      </p:sp>
      <p:sp>
        <p:nvSpPr>
          <p:cNvPr id="6" name="a0fd300_v5"/>
          <p:cNvSpPr txBox="1"/>
          <p:nvPr/>
        </p:nvSpPr>
        <p:spPr>
          <a:xfrm>
            <a:off x="7491088" y="1653988"/>
            <a:ext cx="1153758" cy="1384509"/>
          </a:xfrm>
          <a:prstGeom prst="roundRect">
            <a:avLst>
              <a:gd name="adj" fmla="val 16000"/>
            </a:avLst>
          </a:prstGeom>
          <a:solidFill>
            <a:srgbClr val="F59E0B"/>
          </a:solidFill>
          <a:ln>
            <a:noFill/>
          </a:ln>
        </p:spPr>
        <p:txBody>
          <a:bodyPr wrap="square" lIns="0" tIns="0" rIns="0" bIns="0" rtlCol="0" anchor="ctr"/>
          <a:lstStyle/>
          <a:p>
            <a:pPr marL="0" indent="0" algn="ctr">
              <a:buNone/>
            </a:pPr>
            <a:r>
              <a:rPr lang="en-US" sz="2752" b="1" dirty="0">
                <a:solidFill>
                  <a:srgbClr val="FFFFFF"/>
                </a:solidFill>
                <a:latin typeface="Calibri" pitchFamily="34" charset="0"/>
                <a:ea typeface="Calibri" pitchFamily="34" charset="-122"/>
                <a:cs typeface="Calibri" pitchFamily="34" charset="-120"/>
              </a:rPr>
              <a:t>FK</a:t>
            </a:r>
            <a:endParaRPr lang="en-US" sz="2752" dirty="0"/>
          </a:p>
        </p:txBody>
      </p:sp>
      <p:sp>
        <p:nvSpPr>
          <p:cNvPr id="7" name="a0fd300_v6"/>
          <p:cNvSpPr/>
          <p:nvPr/>
        </p:nvSpPr>
        <p:spPr>
          <a:xfrm>
            <a:off x="6463194" y="2136469"/>
            <a:ext cx="881051" cy="419548"/>
          </a:xfrm>
          <a:prstGeom prst="leftArrow">
            <a:avLst/>
          </a:prstGeom>
          <a:solidFill>
            <a:srgbClr val="A78BFA"/>
          </a:solidFill>
          <a:ln>
            <a:noFill/>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 presetClass="entr" presetSubtype="4" fill="hold" grpId="0" nodeType="withEffect">
                                  <p:stCondLst>
                                    <p:cond delay="20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fill="hold"/>
                                        <p:tgtEl>
                                          <p:spTgt spid="3"/>
                                        </p:tgtEl>
                                        <p:attrNameLst>
                                          <p:attrName>ppt_x</p:attrName>
                                        </p:attrNameLst>
                                      </p:cBhvr>
                                      <p:tavLst>
                                        <p:tav tm="0">
                                          <p:val>
                                            <p:strVal val="#ppt_x"/>
                                          </p:val>
                                        </p:tav>
                                        <p:tav tm="100000">
                                          <p:val>
                                            <p:strVal val="#ppt_x"/>
                                          </p:val>
                                        </p:tav>
                                      </p:tavLst>
                                    </p:anim>
                                    <p:anim calcmode="lin" valueType="num">
                                      <p:cBhvr additive="base">
                                        <p:cTn id="11" dur="500" fill="hold"/>
                                        <p:tgtEl>
                                          <p:spTgt spid="3"/>
                                        </p:tgtEl>
                                        <p:attrNameLst>
                                          <p:attrName>ppt_y</p:attrName>
                                        </p:attrNameLst>
                                      </p:cBhvr>
                                      <p:tavLst>
                                        <p:tav tm="0">
                                          <p:val>
                                            <p:strVal val="#ppt_y+0.1"/>
                                          </p:val>
                                        </p:tav>
                                        <p:tav tm="100000">
                                          <p:val>
                                            <p:strVal val="#ppt_y"/>
                                          </p:val>
                                        </p:tav>
                                      </p:tavLst>
                                    </p:anim>
                                    <p:animEffect transition="in" filter="fade">
                                      <p:cBhvr>
                                        <p:cTn id="12" dur="500"/>
                                        <p:tgtEl>
                                          <p:spTgt spid="3"/>
                                        </p:tgtEl>
                                      </p:cBhvr>
                                    </p:animEffect>
                                  </p:childTnLst>
                                </p:cTn>
                              </p:par>
                              <p:par>
                                <p:cTn id="13" presetID="10" presetClass="entr" presetSubtype="0" fill="hold" grpId="0" nodeType="withEffect">
                                  <p:stCondLst>
                                    <p:cond delay="45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10" presetClass="entr" presetSubtype="0" fill="hold" grpId="0" nodeType="withEffect">
                                  <p:stCondLst>
                                    <p:cond delay="3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par>
                                <p:cTn id="19" presetID="10" presetClass="entr" presetSubtype="0" fill="hold" grpId="0" nodeType="withEffect">
                                  <p:stCondLst>
                                    <p:cond delay="30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par>
                                <p:cTn id="22" presetID="10" presetClass="entr" presetSubtype="0" fill="hold" grpId="0" nodeType="withEffect">
                                  <p:stCondLst>
                                    <p:cond delay="30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1"/>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What Referential Integrity Guarantees</a:t>
            </a:r>
            <a:endParaRPr lang="en-US" sz="2800" dirty="0"/>
          </a:p>
        </p:txBody>
      </p:sp>
      <p:sp>
        <p:nvSpPr>
          <p:cNvPr id="3" name="Text 2"/>
          <p:cNvSpPr txBox="1"/>
          <p:nvPr/>
        </p:nvSpPr>
        <p:spPr>
          <a:xfrm>
            <a:off x="457200" y="749808"/>
            <a:ext cx="8229600" cy="320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A foreign key value must match an existing primary key — or be NULL</a:t>
            </a:r>
            <a:endParaRPr lang="en-US" sz="1300" dirty="0"/>
          </a:p>
        </p:txBody>
      </p:sp>
      <p:sp>
        <p:nvSpPr>
          <p:cNvPr id="4" name="a1f_l3"/>
          <p:cNvSpPr txBox="1"/>
          <p:nvPr/>
        </p:nvSpPr>
        <p:spPr>
          <a:xfrm>
            <a:off x="457200" y="1188720"/>
            <a:ext cx="2743200" cy="256032"/>
          </a:xfrm>
          <a:prstGeom prst="rect">
            <a:avLst/>
          </a:prstGeom>
          <a:noFill/>
          <a:ln/>
        </p:spPr>
        <p:txBody>
          <a:bodyPr wrap="square" lIns="0" tIns="0" rIns="0" bIns="0" rtlCol="0" anchor="ctr"/>
          <a:lstStyle/>
          <a:p>
            <a:pPr marL="0" indent="0">
              <a:buNone/>
            </a:pPr>
            <a:r>
              <a:rPr lang="en-US" sz="1200" b="1" dirty="0">
                <a:solidFill>
                  <a:srgbClr val="0F766E"/>
                </a:solidFill>
                <a:latin typeface="Calibri" pitchFamily="34" charset="0"/>
                <a:ea typeface="Calibri" pitchFamily="34" charset="-122"/>
                <a:cs typeface="Calibri" pitchFamily="34" charset="-120"/>
              </a:rPr>
              <a:t>customer</a:t>
            </a:r>
            <a:endParaRPr lang="en-US" sz="1200" dirty="0"/>
          </a:p>
        </p:txBody>
      </p:sp>
      <p:sp>
        <p:nvSpPr>
          <p:cNvPr id="5" name="a1f_cell4"/>
          <p:cNvSpPr txBox="1"/>
          <p:nvPr/>
        </p:nvSpPr>
        <p:spPr>
          <a:xfrm>
            <a:off x="457200" y="1463040"/>
            <a:ext cx="914400" cy="274320"/>
          </a:xfrm>
          <a:prstGeom prst="rect">
            <a:avLst/>
          </a:prstGeom>
          <a:solidFill>
            <a:srgbClr val="0F766E"/>
          </a:solidFill>
          <a:ln w="9525">
            <a:solidFill>
              <a:srgbClr val="0F766E"/>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customer_id</a:t>
            </a:r>
            <a:endParaRPr lang="en-US" sz="1100" dirty="0"/>
          </a:p>
        </p:txBody>
      </p:sp>
      <p:sp>
        <p:nvSpPr>
          <p:cNvPr id="6" name="a1wd200_cell5"/>
          <p:cNvSpPr txBox="1"/>
          <p:nvPr/>
        </p:nvSpPr>
        <p:spPr>
          <a:xfrm>
            <a:off x="457200" y="1737360"/>
            <a:ext cx="91440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1003</a:t>
            </a:r>
            <a:endParaRPr lang="en-US" sz="1100" dirty="0"/>
          </a:p>
        </p:txBody>
      </p:sp>
      <p:sp>
        <p:nvSpPr>
          <p:cNvPr id="7" name="a1wd400_cell6"/>
          <p:cNvSpPr txBox="1"/>
          <p:nvPr/>
        </p:nvSpPr>
        <p:spPr>
          <a:xfrm>
            <a:off x="457200" y="2011680"/>
            <a:ext cx="91440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1005</a:t>
            </a:r>
            <a:endParaRPr lang="en-US" sz="1100" dirty="0"/>
          </a:p>
        </p:txBody>
      </p:sp>
      <p:sp>
        <p:nvSpPr>
          <p:cNvPr id="8" name="a1wd600_cell7"/>
          <p:cNvSpPr txBox="1"/>
          <p:nvPr/>
        </p:nvSpPr>
        <p:spPr>
          <a:xfrm>
            <a:off x="457200" y="2286000"/>
            <a:ext cx="91440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1011</a:t>
            </a:r>
            <a:endParaRPr lang="en-US" sz="1100" dirty="0"/>
          </a:p>
        </p:txBody>
      </p:sp>
      <p:sp>
        <p:nvSpPr>
          <p:cNvPr id="9" name="a1f_cell8"/>
          <p:cNvSpPr txBox="1"/>
          <p:nvPr/>
        </p:nvSpPr>
        <p:spPr>
          <a:xfrm>
            <a:off x="1371600" y="1463040"/>
            <a:ext cx="914400" cy="274320"/>
          </a:xfrm>
          <a:prstGeom prst="rect">
            <a:avLst/>
          </a:prstGeom>
          <a:solidFill>
            <a:srgbClr val="0F766E"/>
          </a:solidFill>
          <a:ln w="9525">
            <a:solidFill>
              <a:srgbClr val="0F766E"/>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first_name</a:t>
            </a:r>
            <a:endParaRPr lang="en-US" sz="1100" dirty="0"/>
          </a:p>
        </p:txBody>
      </p:sp>
      <p:sp>
        <p:nvSpPr>
          <p:cNvPr id="10" name="a1wd200_cell9"/>
          <p:cNvSpPr txBox="1"/>
          <p:nvPr/>
        </p:nvSpPr>
        <p:spPr>
          <a:xfrm>
            <a:off x="1371600" y="1737360"/>
            <a:ext cx="91440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Rohan</a:t>
            </a:r>
            <a:endParaRPr lang="en-US" sz="1100" dirty="0"/>
          </a:p>
        </p:txBody>
      </p:sp>
      <p:sp>
        <p:nvSpPr>
          <p:cNvPr id="11" name="a1wd400_cell10"/>
          <p:cNvSpPr txBox="1"/>
          <p:nvPr/>
        </p:nvSpPr>
        <p:spPr>
          <a:xfrm>
            <a:off x="1371600" y="2011680"/>
            <a:ext cx="91440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Karthik</a:t>
            </a:r>
            <a:endParaRPr lang="en-US" sz="1100" dirty="0"/>
          </a:p>
        </p:txBody>
      </p:sp>
      <p:sp>
        <p:nvSpPr>
          <p:cNvPr id="12" name="a1wd600_cell11"/>
          <p:cNvSpPr txBox="1"/>
          <p:nvPr/>
        </p:nvSpPr>
        <p:spPr>
          <a:xfrm>
            <a:off x="1371600" y="2286000"/>
            <a:ext cx="91440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Rahul</a:t>
            </a:r>
            <a:endParaRPr lang="en-US" sz="1100" dirty="0"/>
          </a:p>
        </p:txBody>
      </p:sp>
      <p:sp>
        <p:nvSpPr>
          <p:cNvPr id="13" name="a1f_l12"/>
          <p:cNvSpPr txBox="1"/>
          <p:nvPr/>
        </p:nvSpPr>
        <p:spPr>
          <a:xfrm>
            <a:off x="3931920" y="1188720"/>
            <a:ext cx="2743200" cy="256032"/>
          </a:xfrm>
          <a:prstGeom prst="rect">
            <a:avLst/>
          </a:prstGeom>
          <a:noFill/>
          <a:ln/>
        </p:spPr>
        <p:txBody>
          <a:bodyPr wrap="square" lIns="0" tIns="0" rIns="0" bIns="0" rtlCol="0" anchor="ctr"/>
          <a:lstStyle/>
          <a:p>
            <a:pPr marL="0" indent="0">
              <a:buNone/>
            </a:pPr>
            <a:r>
              <a:rPr lang="en-US" sz="1200" b="1" dirty="0">
                <a:solidFill>
                  <a:srgbClr val="B45309"/>
                </a:solidFill>
                <a:latin typeface="Calibri" pitchFamily="34" charset="0"/>
                <a:ea typeface="Calibri" pitchFamily="34" charset="-122"/>
                <a:cs typeface="Calibri" pitchFamily="34" charset="-120"/>
              </a:rPr>
              <a:t>account</a:t>
            </a:r>
            <a:endParaRPr lang="en-US" sz="1200" dirty="0"/>
          </a:p>
        </p:txBody>
      </p:sp>
      <p:sp>
        <p:nvSpPr>
          <p:cNvPr id="14" name="a1f_cell13"/>
          <p:cNvSpPr txBox="1"/>
          <p:nvPr/>
        </p:nvSpPr>
        <p:spPr>
          <a:xfrm>
            <a:off x="3931920" y="1463040"/>
            <a:ext cx="868680" cy="274320"/>
          </a:xfrm>
          <a:prstGeom prst="rect">
            <a:avLst/>
          </a:prstGeom>
          <a:solidFill>
            <a:srgbClr val="B45309"/>
          </a:solidFill>
          <a:ln w="9525">
            <a:solidFill>
              <a:srgbClr val="B4530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account_id</a:t>
            </a:r>
            <a:endParaRPr lang="en-US" sz="1100" dirty="0"/>
          </a:p>
        </p:txBody>
      </p:sp>
      <p:sp>
        <p:nvSpPr>
          <p:cNvPr id="15" name="a1wd200_cell14"/>
          <p:cNvSpPr txBox="1"/>
          <p:nvPr/>
        </p:nvSpPr>
        <p:spPr>
          <a:xfrm>
            <a:off x="3931920" y="1737360"/>
            <a:ext cx="86868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9003</a:t>
            </a:r>
            <a:endParaRPr lang="en-US" sz="1100" dirty="0"/>
          </a:p>
        </p:txBody>
      </p:sp>
      <p:sp>
        <p:nvSpPr>
          <p:cNvPr id="16" name="a1wd400_cell15"/>
          <p:cNvSpPr txBox="1"/>
          <p:nvPr/>
        </p:nvSpPr>
        <p:spPr>
          <a:xfrm>
            <a:off x="3931920" y="2011680"/>
            <a:ext cx="86868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9005</a:t>
            </a:r>
            <a:endParaRPr lang="en-US" sz="1100" dirty="0"/>
          </a:p>
        </p:txBody>
      </p:sp>
      <p:sp>
        <p:nvSpPr>
          <p:cNvPr id="17" name="a1wd600_cell16"/>
          <p:cNvSpPr txBox="1"/>
          <p:nvPr/>
        </p:nvSpPr>
        <p:spPr>
          <a:xfrm>
            <a:off x="3931920" y="2286000"/>
            <a:ext cx="86868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9006</a:t>
            </a:r>
            <a:endParaRPr lang="en-US" sz="1100" dirty="0"/>
          </a:p>
        </p:txBody>
      </p:sp>
      <p:sp>
        <p:nvSpPr>
          <p:cNvPr id="18" name="a1wd800_cell17"/>
          <p:cNvSpPr txBox="1"/>
          <p:nvPr/>
        </p:nvSpPr>
        <p:spPr>
          <a:xfrm>
            <a:off x="3931920" y="2560320"/>
            <a:ext cx="868680" cy="274320"/>
          </a:xfrm>
          <a:prstGeom prst="rect">
            <a:avLst/>
          </a:prstGeom>
          <a:solidFill>
            <a:srgbClr val="FEE2E2"/>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9040</a:t>
            </a:r>
            <a:endParaRPr lang="en-US" sz="1100" dirty="0"/>
          </a:p>
        </p:txBody>
      </p:sp>
      <p:sp>
        <p:nvSpPr>
          <p:cNvPr id="19" name="a1f_cell18"/>
          <p:cNvSpPr txBox="1"/>
          <p:nvPr/>
        </p:nvSpPr>
        <p:spPr>
          <a:xfrm>
            <a:off x="4800600" y="1463040"/>
            <a:ext cx="914400" cy="274320"/>
          </a:xfrm>
          <a:prstGeom prst="rect">
            <a:avLst/>
          </a:prstGeom>
          <a:solidFill>
            <a:srgbClr val="B45309"/>
          </a:solidFill>
          <a:ln w="9525">
            <a:solidFill>
              <a:srgbClr val="B4530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customer_id</a:t>
            </a:r>
            <a:endParaRPr lang="en-US" sz="1100" dirty="0"/>
          </a:p>
        </p:txBody>
      </p:sp>
      <p:sp>
        <p:nvSpPr>
          <p:cNvPr id="20" name="a1wd200_cell19"/>
          <p:cNvSpPr txBox="1"/>
          <p:nvPr/>
        </p:nvSpPr>
        <p:spPr>
          <a:xfrm>
            <a:off x="4800600" y="1737360"/>
            <a:ext cx="91440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1003</a:t>
            </a:r>
            <a:endParaRPr lang="en-US" sz="1100" dirty="0"/>
          </a:p>
        </p:txBody>
      </p:sp>
      <p:sp>
        <p:nvSpPr>
          <p:cNvPr id="21" name="a1wd400_cell20"/>
          <p:cNvSpPr txBox="1"/>
          <p:nvPr/>
        </p:nvSpPr>
        <p:spPr>
          <a:xfrm>
            <a:off x="4800600" y="2011680"/>
            <a:ext cx="91440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1005</a:t>
            </a:r>
            <a:endParaRPr lang="en-US" sz="1100" dirty="0"/>
          </a:p>
        </p:txBody>
      </p:sp>
      <p:sp>
        <p:nvSpPr>
          <p:cNvPr id="22" name="a1wd600_cell21"/>
          <p:cNvSpPr txBox="1"/>
          <p:nvPr/>
        </p:nvSpPr>
        <p:spPr>
          <a:xfrm>
            <a:off x="4800600" y="2286000"/>
            <a:ext cx="91440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1005</a:t>
            </a:r>
            <a:endParaRPr lang="en-US" sz="1100" dirty="0"/>
          </a:p>
        </p:txBody>
      </p:sp>
      <p:sp>
        <p:nvSpPr>
          <p:cNvPr id="23" name="a1wd800_cell22"/>
          <p:cNvSpPr txBox="1"/>
          <p:nvPr/>
        </p:nvSpPr>
        <p:spPr>
          <a:xfrm>
            <a:off x="4800600" y="2560320"/>
            <a:ext cx="914400" cy="274320"/>
          </a:xfrm>
          <a:prstGeom prst="rect">
            <a:avLst/>
          </a:prstGeom>
          <a:solidFill>
            <a:srgbClr val="FEE2E2"/>
          </a:solidFill>
          <a:ln w="9525">
            <a:solidFill>
              <a:srgbClr val="CBD5E1"/>
            </a:solidFill>
            <a:prstDash val="solid"/>
          </a:ln>
        </p:spPr>
        <p:txBody>
          <a:bodyPr wrap="square" lIns="0" tIns="0" rIns="0" bIns="0" rtlCol="0" anchor="ctr"/>
          <a:lstStyle/>
          <a:p>
            <a:pPr marL="0" indent="0" algn="ctr">
              <a:buNone/>
            </a:pPr>
            <a:r>
              <a:rPr lang="en-US" sz="1100" b="1" dirty="0">
                <a:solidFill>
                  <a:srgbClr val="DC2626"/>
                </a:solidFill>
                <a:latin typeface="Calibri" pitchFamily="34" charset="0"/>
                <a:ea typeface="Calibri" pitchFamily="34" charset="-122"/>
                <a:cs typeface="Calibri" pitchFamily="34" charset="-120"/>
              </a:rPr>
              <a:t>1099</a:t>
            </a:r>
            <a:endParaRPr lang="en-US" sz="1100" dirty="0"/>
          </a:p>
        </p:txBody>
      </p:sp>
      <p:sp>
        <p:nvSpPr>
          <p:cNvPr id="24" name="a1f_cell23"/>
          <p:cNvSpPr txBox="1"/>
          <p:nvPr/>
        </p:nvSpPr>
        <p:spPr>
          <a:xfrm>
            <a:off x="5715000" y="1463040"/>
            <a:ext cx="914400" cy="274320"/>
          </a:xfrm>
          <a:prstGeom prst="rect">
            <a:avLst/>
          </a:prstGeom>
          <a:solidFill>
            <a:srgbClr val="B45309"/>
          </a:solidFill>
          <a:ln w="9525">
            <a:solidFill>
              <a:srgbClr val="B4530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balance</a:t>
            </a:r>
            <a:endParaRPr lang="en-US" sz="1100" dirty="0"/>
          </a:p>
        </p:txBody>
      </p:sp>
      <p:sp>
        <p:nvSpPr>
          <p:cNvPr id="25" name="a1wd200_cell24"/>
          <p:cNvSpPr txBox="1"/>
          <p:nvPr/>
        </p:nvSpPr>
        <p:spPr>
          <a:xfrm>
            <a:off x="5715000" y="1737360"/>
            <a:ext cx="91440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341244.80</a:t>
            </a:r>
            <a:endParaRPr lang="en-US" sz="1100" dirty="0"/>
          </a:p>
        </p:txBody>
      </p:sp>
      <p:sp>
        <p:nvSpPr>
          <p:cNvPr id="26" name="a1wd400_cell25"/>
          <p:cNvSpPr txBox="1"/>
          <p:nvPr/>
        </p:nvSpPr>
        <p:spPr>
          <a:xfrm>
            <a:off x="5715000" y="2011680"/>
            <a:ext cx="91440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91729.06</a:t>
            </a:r>
            <a:endParaRPr lang="en-US" sz="1100" dirty="0"/>
          </a:p>
        </p:txBody>
      </p:sp>
      <p:sp>
        <p:nvSpPr>
          <p:cNvPr id="27" name="a1wd600_cell26"/>
          <p:cNvSpPr txBox="1"/>
          <p:nvPr/>
        </p:nvSpPr>
        <p:spPr>
          <a:xfrm>
            <a:off x="5715000" y="2286000"/>
            <a:ext cx="91440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27637.82</a:t>
            </a:r>
            <a:endParaRPr lang="en-US" sz="1100" dirty="0"/>
          </a:p>
        </p:txBody>
      </p:sp>
      <p:sp>
        <p:nvSpPr>
          <p:cNvPr id="28" name="a1wd800_cell27"/>
          <p:cNvSpPr txBox="1"/>
          <p:nvPr/>
        </p:nvSpPr>
        <p:spPr>
          <a:xfrm>
            <a:off x="5715000" y="2560320"/>
            <a:ext cx="914400" cy="274320"/>
          </a:xfrm>
          <a:prstGeom prst="rect">
            <a:avLst/>
          </a:prstGeom>
          <a:solidFill>
            <a:srgbClr val="FEE2E2"/>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50000.00</a:t>
            </a:r>
            <a:endParaRPr lang="en-US" sz="1100" dirty="0"/>
          </a:p>
        </p:txBody>
      </p:sp>
      <p:cxnSp>
        <p:nvCxnSpPr>
          <p:cNvPr id="29" name="a2fd0_ln28"/>
          <p:cNvCxnSpPr/>
          <p:nvPr/>
        </p:nvCxnSpPr>
        <p:spPr>
          <a:xfrm flipH="1">
            <a:off x="2286000" y="1874520"/>
            <a:ext cx="1645920" cy="0"/>
          </a:xfrm>
          <a:prstGeom prst="line">
            <a:avLst/>
          </a:prstGeom>
          <a:ln w="19050">
            <a:solidFill>
              <a:srgbClr val="8B5CF6"/>
            </a:solidFill>
            <a:tailEnd type="triangle"/>
          </a:ln>
        </p:spPr>
      </p:cxnSp>
      <p:cxnSp>
        <p:nvCxnSpPr>
          <p:cNvPr id="30" name="a2fd150_ln29"/>
          <p:cNvCxnSpPr/>
          <p:nvPr/>
        </p:nvCxnSpPr>
        <p:spPr>
          <a:xfrm flipH="1">
            <a:off x="2286000" y="2148840"/>
            <a:ext cx="1645920" cy="0"/>
          </a:xfrm>
          <a:prstGeom prst="line">
            <a:avLst/>
          </a:prstGeom>
          <a:ln w="19050">
            <a:solidFill>
              <a:srgbClr val="8B5CF6"/>
            </a:solidFill>
            <a:tailEnd type="triangle"/>
          </a:ln>
        </p:spPr>
      </p:cxnSp>
      <p:cxnSp>
        <p:nvCxnSpPr>
          <p:cNvPr id="31" name="a2fd300_ln30"/>
          <p:cNvCxnSpPr/>
          <p:nvPr/>
        </p:nvCxnSpPr>
        <p:spPr>
          <a:xfrm flipH="1" flipV="1">
            <a:off x="2286000" y="2148840"/>
            <a:ext cx="1645920" cy="274320"/>
          </a:xfrm>
          <a:prstGeom prst="line">
            <a:avLst/>
          </a:prstGeom>
          <a:ln w="19050">
            <a:solidFill>
              <a:srgbClr val="8B5CF6"/>
            </a:solidFill>
            <a:tailEnd type="triangle"/>
          </a:ln>
        </p:spPr>
      </p:cxnSp>
      <p:cxnSp>
        <p:nvCxnSpPr>
          <p:cNvPr id="32" name="a3u_xl31"/>
          <p:cNvCxnSpPr/>
          <p:nvPr/>
        </p:nvCxnSpPr>
        <p:spPr>
          <a:xfrm flipH="1">
            <a:off x="3246120" y="2697480"/>
            <a:ext cx="685800" cy="64008"/>
          </a:xfrm>
          <a:prstGeom prst="line">
            <a:avLst/>
          </a:prstGeom>
          <a:ln w="15875">
            <a:solidFill>
              <a:srgbClr val="DC2626"/>
            </a:solidFill>
          </a:ln>
        </p:spPr>
      </p:cxnSp>
      <p:sp>
        <p:nvSpPr>
          <p:cNvPr id="33" name="a3u_x32"/>
          <p:cNvSpPr txBox="1"/>
          <p:nvPr/>
        </p:nvSpPr>
        <p:spPr>
          <a:xfrm>
            <a:off x="2971800" y="2624328"/>
            <a:ext cx="274320" cy="274320"/>
          </a:xfrm>
          <a:prstGeom prst="ellipse">
            <a:avLst/>
          </a:prstGeom>
          <a:solidFill>
            <a:srgbClr val="DC2626"/>
          </a:solidFill>
          <a:ln w="12700">
            <a:solidFill>
              <a:srgbClr val="DC2626"/>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4" name="a3u_xt33"/>
          <p:cNvSpPr txBox="1"/>
          <p:nvPr/>
        </p:nvSpPr>
        <p:spPr>
          <a:xfrm>
            <a:off x="6720840" y="2560320"/>
            <a:ext cx="1965960" cy="411480"/>
          </a:xfrm>
          <a:prstGeom prst="rect">
            <a:avLst/>
          </a:prstGeom>
          <a:noFill/>
          <a:ln/>
        </p:spPr>
        <p:txBody>
          <a:bodyPr wrap="square" lIns="0" tIns="0" rIns="0" bIns="0" rtlCol="0" anchor="ctr"/>
          <a:lstStyle/>
          <a:p>
            <a:pPr marL="0" indent="0">
              <a:buNone/>
            </a:pPr>
            <a:r>
              <a:rPr lang="en-US" sz="1050" b="1" dirty="0">
                <a:solidFill>
                  <a:srgbClr val="DC2626"/>
                </a:solidFill>
                <a:latin typeface="Calibri" pitchFamily="34" charset="0"/>
                <a:ea typeface="Calibri" pitchFamily="34" charset="-122"/>
                <a:cs typeface="Calibri" pitchFamily="34" charset="-120"/>
              </a:rPr>
              <a:t>orphan — customer 1099 does not exist</a:t>
            </a:r>
            <a:endParaRPr lang="en-US" sz="1050" dirty="0"/>
          </a:p>
        </p:txBody>
      </p:sp>
      <p:sp>
        <p:nvSpPr>
          <p:cNvPr id="35" name="a4u_nb34"/>
          <p:cNvSpPr/>
          <p:nvPr/>
        </p:nvSpPr>
        <p:spPr>
          <a:xfrm>
            <a:off x="457200" y="3246120"/>
            <a:ext cx="8229600" cy="731520"/>
          </a:xfrm>
          <a:prstGeom prst="roundRect">
            <a:avLst>
              <a:gd name="adj" fmla="val 9412"/>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pic>
        <p:nvPicPr>
          <p:cNvPr id="36" name="a4u_ni35" descr="image.png"/>
          <p:cNvPicPr>
            <a:picLocks noChangeAspect="1"/>
          </p:cNvPicPr>
          <p:nvPr/>
        </p:nvPicPr>
        <p:blipFill>
          <a:blip r:embed="rId3"/>
          <a:stretch>
            <a:fillRect/>
          </a:stretch>
        </p:blipFill>
        <p:spPr>
          <a:xfrm>
            <a:off x="594360" y="3451860"/>
            <a:ext cx="320040" cy="320040"/>
          </a:xfrm>
          <a:prstGeom prst="rect">
            <a:avLst/>
          </a:prstGeom>
        </p:spPr>
      </p:pic>
      <p:sp>
        <p:nvSpPr>
          <p:cNvPr id="37" name="a4u_nt36"/>
          <p:cNvSpPr txBox="1"/>
          <p:nvPr/>
        </p:nvSpPr>
        <p:spPr>
          <a:xfrm>
            <a:off x="1005840" y="3246120"/>
            <a:ext cx="7543800" cy="731520"/>
          </a:xfrm>
          <a:prstGeom prst="rect">
            <a:avLst/>
          </a:prstGeom>
          <a:noFill/>
          <a:ln/>
        </p:spPr>
        <p:txBody>
          <a:bodyPr wrap="square" lIns="0" tIns="0" rIns="0" bIns="0" rtlCol="0" anchor="ctr"/>
          <a:lstStyle/>
          <a:p>
            <a:pPr marL="0" indent="0">
              <a:buNone/>
            </a:pPr>
            <a:r>
              <a:rPr lang="en-US" sz="1200" b="1" dirty="0">
                <a:solidFill>
                  <a:srgbClr val="334155"/>
                </a:solidFill>
                <a:latin typeface="Calibri" pitchFamily="34" charset="0"/>
                <a:ea typeface="Calibri" pitchFamily="34" charset="-122"/>
                <a:cs typeface="Calibri" pitchFamily="34" charset="-120"/>
              </a:rPr>
              <a:t>Orphans are invisible. </a:t>
            </a:r>
            <a:r>
              <a:rPr lang="en-US" sz="1200" dirty="0">
                <a:solidFill>
                  <a:srgbClr val="334155"/>
                </a:solidFill>
                <a:latin typeface="Calibri" pitchFamily="34" charset="0"/>
                <a:ea typeface="Calibri" pitchFamily="34" charset="-122"/>
                <a:cs typeface="Calibri" pitchFamily="34" charset="-120"/>
              </a:rPr>
              <a:t>The row looks normal, INNER JOINs silently drop it, and every total that should include it is quietly wrong.</a:t>
            </a:r>
            <a:endParaRPr lang="en-US" sz="1200" dirty="0"/>
          </a:p>
        </p:txBody>
      </p:sp>
      <p:sp>
        <p:nvSpPr>
          <p:cNvPr id="38" name="a5f_w37"/>
          <p:cNvSpPr txBox="1"/>
          <p:nvPr/>
        </p:nvSpPr>
        <p:spPr>
          <a:xfrm>
            <a:off x="457200" y="4160520"/>
            <a:ext cx="2011680" cy="320040"/>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The engine checks on:</a:t>
            </a:r>
            <a:endParaRPr lang="en-US" sz="1200" dirty="0"/>
          </a:p>
        </p:txBody>
      </p:sp>
      <p:sp>
        <p:nvSpPr>
          <p:cNvPr id="39" name="a5fd0_c38"/>
          <p:cNvSpPr txBox="1"/>
          <p:nvPr/>
        </p:nvSpPr>
        <p:spPr>
          <a:xfrm>
            <a:off x="2377440" y="4160520"/>
            <a:ext cx="2011680" cy="329184"/>
          </a:xfrm>
          <a:prstGeom prst="roundRect">
            <a:avLst>
              <a:gd name="adj" fmla="val 50000"/>
            </a:avLst>
          </a:prstGeom>
          <a:solidFill>
            <a:srgbClr val="EDE9FE"/>
          </a:solidFill>
          <a:ln w="12700">
            <a:solidFill>
              <a:srgbClr val="EDE9FE"/>
            </a:solidFill>
            <a:prstDash val="solid"/>
          </a:ln>
        </p:spPr>
        <p:txBody>
          <a:bodyPr wrap="square" lIns="0" tIns="0" rIns="0" bIns="0" rtlCol="0" anchor="ctr"/>
          <a:lstStyle/>
          <a:p>
            <a:pPr marL="0" indent="0" algn="ctr">
              <a:buNone/>
            </a:pPr>
            <a:r>
              <a:rPr lang="en-US" sz="1100" b="1" dirty="0">
                <a:solidFill>
                  <a:srgbClr val="6D28D9"/>
                </a:solidFill>
                <a:latin typeface="Calibri" pitchFamily="34" charset="0"/>
                <a:ea typeface="Calibri" pitchFamily="34" charset="-122"/>
                <a:cs typeface="Calibri" pitchFamily="34" charset="-120"/>
              </a:rPr>
              <a:t>INSERT a child</a:t>
            </a:r>
            <a:endParaRPr lang="en-US" sz="1100" dirty="0"/>
          </a:p>
        </p:txBody>
      </p:sp>
      <p:sp>
        <p:nvSpPr>
          <p:cNvPr id="40" name="a5fd150_c39"/>
          <p:cNvSpPr txBox="1"/>
          <p:nvPr/>
        </p:nvSpPr>
        <p:spPr>
          <a:xfrm>
            <a:off x="4526280" y="4160520"/>
            <a:ext cx="2011680" cy="329184"/>
          </a:xfrm>
          <a:prstGeom prst="roundRect">
            <a:avLst>
              <a:gd name="adj" fmla="val 50000"/>
            </a:avLst>
          </a:prstGeom>
          <a:solidFill>
            <a:srgbClr val="EDE9FE"/>
          </a:solidFill>
          <a:ln w="12700">
            <a:solidFill>
              <a:srgbClr val="EDE9FE"/>
            </a:solidFill>
            <a:prstDash val="solid"/>
          </a:ln>
        </p:spPr>
        <p:txBody>
          <a:bodyPr wrap="square" lIns="0" tIns="0" rIns="0" bIns="0" rtlCol="0" anchor="ctr"/>
          <a:lstStyle/>
          <a:p>
            <a:pPr marL="0" indent="0" algn="ctr">
              <a:buNone/>
            </a:pPr>
            <a:r>
              <a:rPr lang="en-US" sz="1100" b="1" dirty="0">
                <a:solidFill>
                  <a:srgbClr val="6D28D9"/>
                </a:solidFill>
                <a:latin typeface="Calibri" pitchFamily="34" charset="0"/>
                <a:ea typeface="Calibri" pitchFamily="34" charset="-122"/>
                <a:cs typeface="Calibri" pitchFamily="34" charset="-120"/>
              </a:rPr>
              <a:t>UPDATE the child FK</a:t>
            </a:r>
            <a:endParaRPr lang="en-US" sz="1100" dirty="0"/>
          </a:p>
        </p:txBody>
      </p:sp>
      <p:sp>
        <p:nvSpPr>
          <p:cNvPr id="41" name="a5fd300_c40"/>
          <p:cNvSpPr txBox="1"/>
          <p:nvPr/>
        </p:nvSpPr>
        <p:spPr>
          <a:xfrm>
            <a:off x="6675120" y="4160520"/>
            <a:ext cx="2011680" cy="329184"/>
          </a:xfrm>
          <a:prstGeom prst="roundRect">
            <a:avLst>
              <a:gd name="adj" fmla="val 50000"/>
            </a:avLst>
          </a:prstGeom>
          <a:solidFill>
            <a:srgbClr val="EDE9FE"/>
          </a:solidFill>
          <a:ln w="12700">
            <a:solidFill>
              <a:srgbClr val="EDE9FE"/>
            </a:solidFill>
            <a:prstDash val="solid"/>
          </a:ln>
        </p:spPr>
        <p:txBody>
          <a:bodyPr wrap="square" lIns="0" tIns="0" rIns="0" bIns="0" rtlCol="0" anchor="ctr"/>
          <a:lstStyle/>
          <a:p>
            <a:pPr marL="0" indent="0" algn="ctr">
              <a:buNone/>
            </a:pPr>
            <a:r>
              <a:rPr lang="en-US" sz="1100" b="1" dirty="0">
                <a:solidFill>
                  <a:srgbClr val="6D28D9"/>
                </a:solidFill>
                <a:latin typeface="Calibri" pitchFamily="34" charset="0"/>
                <a:ea typeface="Calibri" pitchFamily="34" charset="-122"/>
                <a:cs typeface="Calibri" pitchFamily="34" charset="-120"/>
              </a:rPr>
              <a:t>DELETE / UPDATE the parent key</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22" presetClass="entr" presetSubtype="8" fill="hold" grpId="0" nodeType="withEffect">
                                  <p:stCondLst>
                                    <p:cond delay="20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par>
                                <p:cTn id="14" presetID="22" presetClass="entr" presetSubtype="8" fill="hold" grpId="0" nodeType="withEffect">
                                  <p:stCondLst>
                                    <p:cond delay="40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par>
                                <p:cTn id="17" presetID="22" presetClass="entr" presetSubtype="8" fill="hold" grpId="0" nodeType="withEffect">
                                  <p:stCondLst>
                                    <p:cond delay="60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22" presetClass="entr" presetSubtype="8" fill="hold" grpId="0" nodeType="withEffect">
                                  <p:stCondLst>
                                    <p:cond delay="20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500"/>
                                        <p:tgtEl>
                                          <p:spTgt spid="10"/>
                                        </p:tgtEl>
                                      </p:cBhvr>
                                    </p:animEffect>
                                  </p:childTnLst>
                                </p:cTn>
                              </p:par>
                              <p:par>
                                <p:cTn id="26" presetID="22" presetClass="entr" presetSubtype="8" fill="hold" grpId="0" nodeType="withEffect">
                                  <p:stCondLst>
                                    <p:cond delay="40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500"/>
                                        <p:tgtEl>
                                          <p:spTgt spid="11"/>
                                        </p:tgtEl>
                                      </p:cBhvr>
                                    </p:animEffect>
                                  </p:childTnLst>
                                </p:cTn>
                              </p:par>
                              <p:par>
                                <p:cTn id="29" presetID="22" presetClass="entr" presetSubtype="8" fill="hold" grpId="0" nodeType="withEffect">
                                  <p:stCondLst>
                                    <p:cond delay="60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22" presetClass="entr" presetSubtype="8" fill="hold" grpId="0" nodeType="withEffect">
                                  <p:stCondLst>
                                    <p:cond delay="200"/>
                                  </p:stCondLst>
                                  <p:childTnLst>
                                    <p:set>
                                      <p:cBhvr>
                                        <p:cTn id="39" dur="1" fill="hold">
                                          <p:stCondLst>
                                            <p:cond delay="0"/>
                                          </p:stCondLst>
                                        </p:cTn>
                                        <p:tgtEl>
                                          <p:spTgt spid="15"/>
                                        </p:tgtEl>
                                        <p:attrNameLst>
                                          <p:attrName>style.visibility</p:attrName>
                                        </p:attrNameLst>
                                      </p:cBhvr>
                                      <p:to>
                                        <p:strVal val="visible"/>
                                      </p:to>
                                    </p:set>
                                    <p:animEffect transition="in" filter="wipe(left)">
                                      <p:cBhvr>
                                        <p:cTn id="40" dur="500"/>
                                        <p:tgtEl>
                                          <p:spTgt spid="15"/>
                                        </p:tgtEl>
                                      </p:cBhvr>
                                    </p:animEffect>
                                  </p:childTnLst>
                                </p:cTn>
                              </p:par>
                              <p:par>
                                <p:cTn id="41" presetID="22" presetClass="entr" presetSubtype="8" fill="hold" grpId="0" nodeType="withEffect">
                                  <p:stCondLst>
                                    <p:cond delay="400"/>
                                  </p:stCondLst>
                                  <p:childTnLst>
                                    <p:set>
                                      <p:cBhvr>
                                        <p:cTn id="42" dur="1" fill="hold">
                                          <p:stCondLst>
                                            <p:cond delay="0"/>
                                          </p:stCondLst>
                                        </p:cTn>
                                        <p:tgtEl>
                                          <p:spTgt spid="16"/>
                                        </p:tgtEl>
                                        <p:attrNameLst>
                                          <p:attrName>style.visibility</p:attrName>
                                        </p:attrNameLst>
                                      </p:cBhvr>
                                      <p:to>
                                        <p:strVal val="visible"/>
                                      </p:to>
                                    </p:set>
                                    <p:animEffect transition="in" filter="wipe(left)">
                                      <p:cBhvr>
                                        <p:cTn id="43" dur="500"/>
                                        <p:tgtEl>
                                          <p:spTgt spid="16"/>
                                        </p:tgtEl>
                                      </p:cBhvr>
                                    </p:animEffect>
                                  </p:childTnLst>
                                </p:cTn>
                              </p:par>
                              <p:par>
                                <p:cTn id="44" presetID="22" presetClass="entr" presetSubtype="8" fill="hold" grpId="0" nodeType="withEffect">
                                  <p:stCondLst>
                                    <p:cond delay="600"/>
                                  </p:stCondLst>
                                  <p:childTnLst>
                                    <p:set>
                                      <p:cBhvr>
                                        <p:cTn id="45" dur="1" fill="hold">
                                          <p:stCondLst>
                                            <p:cond delay="0"/>
                                          </p:stCondLst>
                                        </p:cTn>
                                        <p:tgtEl>
                                          <p:spTgt spid="17"/>
                                        </p:tgtEl>
                                        <p:attrNameLst>
                                          <p:attrName>style.visibility</p:attrName>
                                        </p:attrNameLst>
                                      </p:cBhvr>
                                      <p:to>
                                        <p:strVal val="visible"/>
                                      </p:to>
                                    </p:set>
                                    <p:animEffect transition="in" filter="wipe(left)">
                                      <p:cBhvr>
                                        <p:cTn id="46" dur="500"/>
                                        <p:tgtEl>
                                          <p:spTgt spid="17"/>
                                        </p:tgtEl>
                                      </p:cBhvr>
                                    </p:animEffect>
                                  </p:childTnLst>
                                </p:cTn>
                              </p:par>
                              <p:par>
                                <p:cTn id="47" presetID="22" presetClass="entr" presetSubtype="8" fill="hold" grpId="0" nodeType="withEffect">
                                  <p:stCondLst>
                                    <p:cond delay="800"/>
                                  </p:stCondLst>
                                  <p:childTnLst>
                                    <p:set>
                                      <p:cBhvr>
                                        <p:cTn id="48" dur="1" fill="hold">
                                          <p:stCondLst>
                                            <p:cond delay="0"/>
                                          </p:stCondLst>
                                        </p:cTn>
                                        <p:tgtEl>
                                          <p:spTgt spid="18"/>
                                        </p:tgtEl>
                                        <p:attrNameLst>
                                          <p:attrName>style.visibility</p:attrName>
                                        </p:attrNameLst>
                                      </p:cBhvr>
                                      <p:to>
                                        <p:strVal val="visible"/>
                                      </p:to>
                                    </p:set>
                                    <p:animEffect transition="in" filter="wipe(left)">
                                      <p:cBhvr>
                                        <p:cTn id="49" dur="50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par>
                                <p:cTn id="53" presetID="22" presetClass="entr" presetSubtype="8" fill="hold" grpId="0" nodeType="withEffect">
                                  <p:stCondLst>
                                    <p:cond delay="200"/>
                                  </p:stCondLst>
                                  <p:childTnLst>
                                    <p:set>
                                      <p:cBhvr>
                                        <p:cTn id="54" dur="1" fill="hold">
                                          <p:stCondLst>
                                            <p:cond delay="0"/>
                                          </p:stCondLst>
                                        </p:cTn>
                                        <p:tgtEl>
                                          <p:spTgt spid="20"/>
                                        </p:tgtEl>
                                        <p:attrNameLst>
                                          <p:attrName>style.visibility</p:attrName>
                                        </p:attrNameLst>
                                      </p:cBhvr>
                                      <p:to>
                                        <p:strVal val="visible"/>
                                      </p:to>
                                    </p:set>
                                    <p:animEffect transition="in" filter="wipe(left)">
                                      <p:cBhvr>
                                        <p:cTn id="55" dur="500"/>
                                        <p:tgtEl>
                                          <p:spTgt spid="20"/>
                                        </p:tgtEl>
                                      </p:cBhvr>
                                    </p:animEffect>
                                  </p:childTnLst>
                                </p:cTn>
                              </p:par>
                              <p:par>
                                <p:cTn id="56" presetID="22" presetClass="entr" presetSubtype="8" fill="hold" grpId="0" nodeType="withEffect">
                                  <p:stCondLst>
                                    <p:cond delay="400"/>
                                  </p:stCondLst>
                                  <p:childTnLst>
                                    <p:set>
                                      <p:cBhvr>
                                        <p:cTn id="57" dur="1" fill="hold">
                                          <p:stCondLst>
                                            <p:cond delay="0"/>
                                          </p:stCondLst>
                                        </p:cTn>
                                        <p:tgtEl>
                                          <p:spTgt spid="21"/>
                                        </p:tgtEl>
                                        <p:attrNameLst>
                                          <p:attrName>style.visibility</p:attrName>
                                        </p:attrNameLst>
                                      </p:cBhvr>
                                      <p:to>
                                        <p:strVal val="visible"/>
                                      </p:to>
                                    </p:set>
                                    <p:animEffect transition="in" filter="wipe(left)">
                                      <p:cBhvr>
                                        <p:cTn id="58" dur="500"/>
                                        <p:tgtEl>
                                          <p:spTgt spid="21"/>
                                        </p:tgtEl>
                                      </p:cBhvr>
                                    </p:animEffect>
                                  </p:childTnLst>
                                </p:cTn>
                              </p:par>
                              <p:par>
                                <p:cTn id="59" presetID="22" presetClass="entr" presetSubtype="8" fill="hold" grpId="0" nodeType="withEffect">
                                  <p:stCondLst>
                                    <p:cond delay="600"/>
                                  </p:stCondLst>
                                  <p:childTnLst>
                                    <p:set>
                                      <p:cBhvr>
                                        <p:cTn id="60" dur="1" fill="hold">
                                          <p:stCondLst>
                                            <p:cond delay="0"/>
                                          </p:stCondLst>
                                        </p:cTn>
                                        <p:tgtEl>
                                          <p:spTgt spid="22"/>
                                        </p:tgtEl>
                                        <p:attrNameLst>
                                          <p:attrName>style.visibility</p:attrName>
                                        </p:attrNameLst>
                                      </p:cBhvr>
                                      <p:to>
                                        <p:strVal val="visible"/>
                                      </p:to>
                                    </p:set>
                                    <p:animEffect transition="in" filter="wipe(left)">
                                      <p:cBhvr>
                                        <p:cTn id="61" dur="500"/>
                                        <p:tgtEl>
                                          <p:spTgt spid="22"/>
                                        </p:tgtEl>
                                      </p:cBhvr>
                                    </p:animEffect>
                                  </p:childTnLst>
                                </p:cTn>
                              </p:par>
                              <p:par>
                                <p:cTn id="62" presetID="22" presetClass="entr" presetSubtype="8" fill="hold" grpId="0" nodeType="withEffect">
                                  <p:stCondLst>
                                    <p:cond delay="800"/>
                                  </p:stCondLst>
                                  <p:childTnLst>
                                    <p:set>
                                      <p:cBhvr>
                                        <p:cTn id="63" dur="1" fill="hold">
                                          <p:stCondLst>
                                            <p:cond delay="0"/>
                                          </p:stCondLst>
                                        </p:cTn>
                                        <p:tgtEl>
                                          <p:spTgt spid="23"/>
                                        </p:tgtEl>
                                        <p:attrNameLst>
                                          <p:attrName>style.visibility</p:attrName>
                                        </p:attrNameLst>
                                      </p:cBhvr>
                                      <p:to>
                                        <p:strVal val="visible"/>
                                      </p:to>
                                    </p:set>
                                    <p:animEffect transition="in" filter="wipe(left)">
                                      <p:cBhvr>
                                        <p:cTn id="64" dur="50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500"/>
                                        <p:tgtEl>
                                          <p:spTgt spid="24"/>
                                        </p:tgtEl>
                                      </p:cBhvr>
                                    </p:animEffect>
                                  </p:childTnLst>
                                </p:cTn>
                              </p:par>
                              <p:par>
                                <p:cTn id="68" presetID="22" presetClass="entr" presetSubtype="8" fill="hold" grpId="0" nodeType="withEffect">
                                  <p:stCondLst>
                                    <p:cond delay="200"/>
                                  </p:stCondLst>
                                  <p:childTnLst>
                                    <p:set>
                                      <p:cBhvr>
                                        <p:cTn id="69" dur="1" fill="hold">
                                          <p:stCondLst>
                                            <p:cond delay="0"/>
                                          </p:stCondLst>
                                        </p:cTn>
                                        <p:tgtEl>
                                          <p:spTgt spid="25"/>
                                        </p:tgtEl>
                                        <p:attrNameLst>
                                          <p:attrName>style.visibility</p:attrName>
                                        </p:attrNameLst>
                                      </p:cBhvr>
                                      <p:to>
                                        <p:strVal val="visible"/>
                                      </p:to>
                                    </p:set>
                                    <p:animEffect transition="in" filter="wipe(left)">
                                      <p:cBhvr>
                                        <p:cTn id="70" dur="500"/>
                                        <p:tgtEl>
                                          <p:spTgt spid="25"/>
                                        </p:tgtEl>
                                      </p:cBhvr>
                                    </p:animEffect>
                                  </p:childTnLst>
                                </p:cTn>
                              </p:par>
                              <p:par>
                                <p:cTn id="71" presetID="22" presetClass="entr" presetSubtype="8" fill="hold" grpId="0" nodeType="withEffect">
                                  <p:stCondLst>
                                    <p:cond delay="400"/>
                                  </p:stCondLst>
                                  <p:childTnLst>
                                    <p:set>
                                      <p:cBhvr>
                                        <p:cTn id="72" dur="1" fill="hold">
                                          <p:stCondLst>
                                            <p:cond delay="0"/>
                                          </p:stCondLst>
                                        </p:cTn>
                                        <p:tgtEl>
                                          <p:spTgt spid="26"/>
                                        </p:tgtEl>
                                        <p:attrNameLst>
                                          <p:attrName>style.visibility</p:attrName>
                                        </p:attrNameLst>
                                      </p:cBhvr>
                                      <p:to>
                                        <p:strVal val="visible"/>
                                      </p:to>
                                    </p:set>
                                    <p:animEffect transition="in" filter="wipe(left)">
                                      <p:cBhvr>
                                        <p:cTn id="73" dur="500"/>
                                        <p:tgtEl>
                                          <p:spTgt spid="26"/>
                                        </p:tgtEl>
                                      </p:cBhvr>
                                    </p:animEffect>
                                  </p:childTnLst>
                                </p:cTn>
                              </p:par>
                              <p:par>
                                <p:cTn id="74" presetID="22" presetClass="entr" presetSubtype="8" fill="hold" grpId="0" nodeType="withEffect">
                                  <p:stCondLst>
                                    <p:cond delay="600"/>
                                  </p:stCondLst>
                                  <p:childTnLst>
                                    <p:set>
                                      <p:cBhvr>
                                        <p:cTn id="75" dur="1" fill="hold">
                                          <p:stCondLst>
                                            <p:cond delay="0"/>
                                          </p:stCondLst>
                                        </p:cTn>
                                        <p:tgtEl>
                                          <p:spTgt spid="27"/>
                                        </p:tgtEl>
                                        <p:attrNameLst>
                                          <p:attrName>style.visibility</p:attrName>
                                        </p:attrNameLst>
                                      </p:cBhvr>
                                      <p:to>
                                        <p:strVal val="visible"/>
                                      </p:to>
                                    </p:set>
                                    <p:animEffect transition="in" filter="wipe(left)">
                                      <p:cBhvr>
                                        <p:cTn id="76" dur="500"/>
                                        <p:tgtEl>
                                          <p:spTgt spid="27"/>
                                        </p:tgtEl>
                                      </p:cBhvr>
                                    </p:animEffect>
                                  </p:childTnLst>
                                </p:cTn>
                              </p:par>
                              <p:par>
                                <p:cTn id="77" presetID="22" presetClass="entr" presetSubtype="8" fill="hold" grpId="0" nodeType="withEffect">
                                  <p:stCondLst>
                                    <p:cond delay="800"/>
                                  </p:stCondLst>
                                  <p:childTnLst>
                                    <p:set>
                                      <p:cBhvr>
                                        <p:cTn id="78" dur="1" fill="hold">
                                          <p:stCondLst>
                                            <p:cond delay="0"/>
                                          </p:stCondLst>
                                        </p:cTn>
                                        <p:tgtEl>
                                          <p:spTgt spid="28"/>
                                        </p:tgtEl>
                                        <p:attrNameLst>
                                          <p:attrName>style.visibility</p:attrName>
                                        </p:attrNameLst>
                                      </p:cBhvr>
                                      <p:to>
                                        <p:strVal val="visible"/>
                                      </p:to>
                                    </p:set>
                                    <p:animEffect transition="in" filter="wipe(left)">
                                      <p:cBhvr>
                                        <p:cTn id="79" dur="5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500"/>
                                        <p:tgtEl>
                                          <p:spTgt spid="29"/>
                                        </p:tgtEl>
                                      </p:cBhvr>
                                    </p:animEffect>
                                  </p:childTnLst>
                                </p:cTn>
                              </p:par>
                              <p:par>
                                <p:cTn id="85" presetID="10" presetClass="entr" presetSubtype="0" fill="hold" nodeType="withEffect">
                                  <p:stCondLst>
                                    <p:cond delay="15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500"/>
                                        <p:tgtEl>
                                          <p:spTgt spid="30"/>
                                        </p:tgtEl>
                                      </p:cBhvr>
                                    </p:animEffect>
                                  </p:childTnLst>
                                </p:cTn>
                              </p:par>
                              <p:par>
                                <p:cTn id="88" presetID="10" presetClass="entr" presetSubtype="0" fill="hold" nodeType="withEffect">
                                  <p:stCondLst>
                                    <p:cond delay="30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500"/>
                                        <p:tgtEl>
                                          <p:spTgt spid="31"/>
                                        </p:tgtEl>
                                      </p:cBhvr>
                                    </p:animEffect>
                                  </p:childTnLst>
                                </p:cTn>
                              </p:par>
                            </p:childTnLst>
                          </p:cTn>
                        </p:par>
                      </p:childTnLst>
                    </p:cTn>
                  </p:par>
                  <p:par>
                    <p:cTn id="91" fill="hold">
                      <p:stCondLst>
                        <p:cond delay="indefinite"/>
                      </p:stCondLst>
                      <p:childTnLst>
                        <p:par>
                          <p:cTn id="92" fill="hold">
                            <p:stCondLst>
                              <p:cond delay="0"/>
                            </p:stCondLst>
                            <p:childTnLst>
                              <p:par>
                                <p:cTn id="93" presetID="2" presetClass="entr" presetSubtype="4" fill="hold" nodeType="clickEffect">
                                  <p:stCondLst>
                                    <p:cond delay="0"/>
                                  </p:stCondLst>
                                  <p:childTnLst>
                                    <p:set>
                                      <p:cBhvr>
                                        <p:cTn id="94" dur="1" fill="hold">
                                          <p:stCondLst>
                                            <p:cond delay="0"/>
                                          </p:stCondLst>
                                        </p:cTn>
                                        <p:tgtEl>
                                          <p:spTgt spid="32"/>
                                        </p:tgtEl>
                                        <p:attrNameLst>
                                          <p:attrName>style.visibility</p:attrName>
                                        </p:attrNameLst>
                                      </p:cBhvr>
                                      <p:to>
                                        <p:strVal val="visible"/>
                                      </p:to>
                                    </p:set>
                                    <p:anim calcmode="lin" valueType="num">
                                      <p:cBhvr additive="base">
                                        <p:cTn id="95" dur="500" fill="hold"/>
                                        <p:tgtEl>
                                          <p:spTgt spid="32"/>
                                        </p:tgtEl>
                                        <p:attrNameLst>
                                          <p:attrName>ppt_x</p:attrName>
                                        </p:attrNameLst>
                                      </p:cBhvr>
                                      <p:tavLst>
                                        <p:tav tm="0">
                                          <p:val>
                                            <p:strVal val="#ppt_x"/>
                                          </p:val>
                                        </p:tav>
                                        <p:tav tm="100000">
                                          <p:val>
                                            <p:strVal val="#ppt_x"/>
                                          </p:val>
                                        </p:tav>
                                      </p:tavLst>
                                    </p:anim>
                                    <p:anim calcmode="lin" valueType="num">
                                      <p:cBhvr additive="base">
                                        <p:cTn id="96" dur="500" fill="hold"/>
                                        <p:tgtEl>
                                          <p:spTgt spid="32"/>
                                        </p:tgtEl>
                                        <p:attrNameLst>
                                          <p:attrName>ppt_y</p:attrName>
                                        </p:attrNameLst>
                                      </p:cBhvr>
                                      <p:tavLst>
                                        <p:tav tm="0">
                                          <p:val>
                                            <p:strVal val="#ppt_y+0.1"/>
                                          </p:val>
                                        </p:tav>
                                        <p:tav tm="100000">
                                          <p:val>
                                            <p:strVal val="#ppt_y"/>
                                          </p:val>
                                        </p:tav>
                                      </p:tavLst>
                                    </p:anim>
                                    <p:animEffect transition="in" filter="fade">
                                      <p:cBhvr>
                                        <p:cTn id="97" dur="500"/>
                                        <p:tgtEl>
                                          <p:spTgt spid="32"/>
                                        </p:tgtEl>
                                      </p:cBhvr>
                                    </p:animEffect>
                                  </p:childTnLst>
                                </p:cTn>
                              </p:par>
                              <p:par>
                                <p:cTn id="98" presetID="2" presetClass="entr" presetSubtype="4" fill="hold" grpId="0" nodeType="withEffect">
                                  <p:stCondLst>
                                    <p:cond delay="0"/>
                                  </p:stCondLst>
                                  <p:childTnLst>
                                    <p:set>
                                      <p:cBhvr>
                                        <p:cTn id="99" dur="1" fill="hold">
                                          <p:stCondLst>
                                            <p:cond delay="0"/>
                                          </p:stCondLst>
                                        </p:cTn>
                                        <p:tgtEl>
                                          <p:spTgt spid="33"/>
                                        </p:tgtEl>
                                        <p:attrNameLst>
                                          <p:attrName>style.visibility</p:attrName>
                                        </p:attrNameLst>
                                      </p:cBhvr>
                                      <p:to>
                                        <p:strVal val="visible"/>
                                      </p:to>
                                    </p:set>
                                    <p:anim calcmode="lin" valueType="num">
                                      <p:cBhvr additive="base">
                                        <p:cTn id="100" dur="500" fill="hold"/>
                                        <p:tgtEl>
                                          <p:spTgt spid="33"/>
                                        </p:tgtEl>
                                        <p:attrNameLst>
                                          <p:attrName>ppt_x</p:attrName>
                                        </p:attrNameLst>
                                      </p:cBhvr>
                                      <p:tavLst>
                                        <p:tav tm="0">
                                          <p:val>
                                            <p:strVal val="#ppt_x"/>
                                          </p:val>
                                        </p:tav>
                                        <p:tav tm="100000">
                                          <p:val>
                                            <p:strVal val="#ppt_x"/>
                                          </p:val>
                                        </p:tav>
                                      </p:tavLst>
                                    </p:anim>
                                    <p:anim calcmode="lin" valueType="num">
                                      <p:cBhvr additive="base">
                                        <p:cTn id="101" dur="500" fill="hold"/>
                                        <p:tgtEl>
                                          <p:spTgt spid="33"/>
                                        </p:tgtEl>
                                        <p:attrNameLst>
                                          <p:attrName>ppt_y</p:attrName>
                                        </p:attrNameLst>
                                      </p:cBhvr>
                                      <p:tavLst>
                                        <p:tav tm="0">
                                          <p:val>
                                            <p:strVal val="#ppt_y+0.1"/>
                                          </p:val>
                                        </p:tav>
                                        <p:tav tm="100000">
                                          <p:val>
                                            <p:strVal val="#ppt_y"/>
                                          </p:val>
                                        </p:tav>
                                      </p:tavLst>
                                    </p:anim>
                                    <p:animEffect transition="in" filter="fade">
                                      <p:cBhvr>
                                        <p:cTn id="102" dur="500"/>
                                        <p:tgtEl>
                                          <p:spTgt spid="33"/>
                                        </p:tgtEl>
                                      </p:cBhvr>
                                    </p:animEffect>
                                  </p:childTnLst>
                                </p:cTn>
                              </p:par>
                              <p:par>
                                <p:cTn id="103" presetID="2" presetClass="entr" presetSubtype="4" fill="hold" grpId="0" nodeType="withEffect">
                                  <p:stCondLst>
                                    <p:cond delay="0"/>
                                  </p:stCondLst>
                                  <p:childTnLst>
                                    <p:set>
                                      <p:cBhvr>
                                        <p:cTn id="104" dur="1" fill="hold">
                                          <p:stCondLst>
                                            <p:cond delay="0"/>
                                          </p:stCondLst>
                                        </p:cTn>
                                        <p:tgtEl>
                                          <p:spTgt spid="34"/>
                                        </p:tgtEl>
                                        <p:attrNameLst>
                                          <p:attrName>style.visibility</p:attrName>
                                        </p:attrNameLst>
                                      </p:cBhvr>
                                      <p:to>
                                        <p:strVal val="visible"/>
                                      </p:to>
                                    </p:set>
                                    <p:anim calcmode="lin" valueType="num">
                                      <p:cBhvr additive="base">
                                        <p:cTn id="105" dur="500" fill="hold"/>
                                        <p:tgtEl>
                                          <p:spTgt spid="34"/>
                                        </p:tgtEl>
                                        <p:attrNameLst>
                                          <p:attrName>ppt_x</p:attrName>
                                        </p:attrNameLst>
                                      </p:cBhvr>
                                      <p:tavLst>
                                        <p:tav tm="0">
                                          <p:val>
                                            <p:strVal val="#ppt_x"/>
                                          </p:val>
                                        </p:tav>
                                        <p:tav tm="100000">
                                          <p:val>
                                            <p:strVal val="#ppt_x"/>
                                          </p:val>
                                        </p:tav>
                                      </p:tavLst>
                                    </p:anim>
                                    <p:anim calcmode="lin" valueType="num">
                                      <p:cBhvr additive="base">
                                        <p:cTn id="106" dur="500" fill="hold"/>
                                        <p:tgtEl>
                                          <p:spTgt spid="34"/>
                                        </p:tgtEl>
                                        <p:attrNameLst>
                                          <p:attrName>ppt_y</p:attrName>
                                        </p:attrNameLst>
                                      </p:cBhvr>
                                      <p:tavLst>
                                        <p:tav tm="0">
                                          <p:val>
                                            <p:strVal val="#ppt_y+0.1"/>
                                          </p:val>
                                        </p:tav>
                                        <p:tav tm="100000">
                                          <p:val>
                                            <p:strVal val="#ppt_y"/>
                                          </p:val>
                                        </p:tav>
                                      </p:tavLst>
                                    </p:anim>
                                    <p:animEffect transition="in" filter="fade">
                                      <p:cBhvr>
                                        <p:cTn id="107" dur="500"/>
                                        <p:tgtEl>
                                          <p:spTgt spid="34"/>
                                        </p:tgtEl>
                                      </p:cBhvr>
                                    </p:animEffect>
                                  </p:childTnLst>
                                </p:cTn>
                              </p:par>
                            </p:childTnLst>
                          </p:cTn>
                        </p:par>
                      </p:childTnLst>
                    </p:cTn>
                  </p:par>
                  <p:par>
                    <p:cTn id="108" fill="hold">
                      <p:stCondLst>
                        <p:cond delay="indefinite"/>
                      </p:stCondLst>
                      <p:childTnLst>
                        <p:par>
                          <p:cTn id="109" fill="hold">
                            <p:stCondLst>
                              <p:cond delay="0"/>
                            </p:stCondLst>
                            <p:childTnLst>
                              <p:par>
                                <p:cTn id="110" presetID="2" presetClass="entr" presetSubtype="4" fill="hold" grpId="0" nodeType="clickEffect">
                                  <p:stCondLst>
                                    <p:cond delay="0"/>
                                  </p:stCondLst>
                                  <p:childTnLst>
                                    <p:set>
                                      <p:cBhvr>
                                        <p:cTn id="111" dur="1" fill="hold">
                                          <p:stCondLst>
                                            <p:cond delay="0"/>
                                          </p:stCondLst>
                                        </p:cTn>
                                        <p:tgtEl>
                                          <p:spTgt spid="35"/>
                                        </p:tgtEl>
                                        <p:attrNameLst>
                                          <p:attrName>style.visibility</p:attrName>
                                        </p:attrNameLst>
                                      </p:cBhvr>
                                      <p:to>
                                        <p:strVal val="visible"/>
                                      </p:to>
                                    </p:set>
                                    <p:anim calcmode="lin" valueType="num">
                                      <p:cBhvr additive="base">
                                        <p:cTn id="112" dur="500" fill="hold"/>
                                        <p:tgtEl>
                                          <p:spTgt spid="35"/>
                                        </p:tgtEl>
                                        <p:attrNameLst>
                                          <p:attrName>ppt_x</p:attrName>
                                        </p:attrNameLst>
                                      </p:cBhvr>
                                      <p:tavLst>
                                        <p:tav tm="0">
                                          <p:val>
                                            <p:strVal val="#ppt_x"/>
                                          </p:val>
                                        </p:tav>
                                        <p:tav tm="100000">
                                          <p:val>
                                            <p:strVal val="#ppt_x"/>
                                          </p:val>
                                        </p:tav>
                                      </p:tavLst>
                                    </p:anim>
                                    <p:anim calcmode="lin" valueType="num">
                                      <p:cBhvr additive="base">
                                        <p:cTn id="113" dur="500" fill="hold"/>
                                        <p:tgtEl>
                                          <p:spTgt spid="35"/>
                                        </p:tgtEl>
                                        <p:attrNameLst>
                                          <p:attrName>ppt_y</p:attrName>
                                        </p:attrNameLst>
                                      </p:cBhvr>
                                      <p:tavLst>
                                        <p:tav tm="0">
                                          <p:val>
                                            <p:strVal val="#ppt_y+0.1"/>
                                          </p:val>
                                        </p:tav>
                                        <p:tav tm="100000">
                                          <p:val>
                                            <p:strVal val="#ppt_y"/>
                                          </p:val>
                                        </p:tav>
                                      </p:tavLst>
                                    </p:anim>
                                    <p:animEffect transition="in" filter="fade">
                                      <p:cBhvr>
                                        <p:cTn id="114" dur="500"/>
                                        <p:tgtEl>
                                          <p:spTgt spid="35"/>
                                        </p:tgtEl>
                                      </p:cBhvr>
                                    </p:animEffect>
                                  </p:childTnLst>
                                </p:cTn>
                              </p:par>
                              <p:par>
                                <p:cTn id="115" presetID="2" presetClass="entr" presetSubtype="4" fill="hold" nodeType="withEffect">
                                  <p:stCondLst>
                                    <p:cond delay="0"/>
                                  </p:stCondLst>
                                  <p:childTnLst>
                                    <p:set>
                                      <p:cBhvr>
                                        <p:cTn id="116" dur="1" fill="hold">
                                          <p:stCondLst>
                                            <p:cond delay="0"/>
                                          </p:stCondLst>
                                        </p:cTn>
                                        <p:tgtEl>
                                          <p:spTgt spid="36"/>
                                        </p:tgtEl>
                                        <p:attrNameLst>
                                          <p:attrName>style.visibility</p:attrName>
                                        </p:attrNameLst>
                                      </p:cBhvr>
                                      <p:to>
                                        <p:strVal val="visible"/>
                                      </p:to>
                                    </p:set>
                                    <p:anim calcmode="lin" valueType="num">
                                      <p:cBhvr additive="base">
                                        <p:cTn id="117" dur="500" fill="hold"/>
                                        <p:tgtEl>
                                          <p:spTgt spid="36"/>
                                        </p:tgtEl>
                                        <p:attrNameLst>
                                          <p:attrName>ppt_x</p:attrName>
                                        </p:attrNameLst>
                                      </p:cBhvr>
                                      <p:tavLst>
                                        <p:tav tm="0">
                                          <p:val>
                                            <p:strVal val="#ppt_x"/>
                                          </p:val>
                                        </p:tav>
                                        <p:tav tm="100000">
                                          <p:val>
                                            <p:strVal val="#ppt_x"/>
                                          </p:val>
                                        </p:tav>
                                      </p:tavLst>
                                    </p:anim>
                                    <p:anim calcmode="lin" valueType="num">
                                      <p:cBhvr additive="base">
                                        <p:cTn id="118" dur="500" fill="hold"/>
                                        <p:tgtEl>
                                          <p:spTgt spid="36"/>
                                        </p:tgtEl>
                                        <p:attrNameLst>
                                          <p:attrName>ppt_y</p:attrName>
                                        </p:attrNameLst>
                                      </p:cBhvr>
                                      <p:tavLst>
                                        <p:tav tm="0">
                                          <p:val>
                                            <p:strVal val="#ppt_y+0.1"/>
                                          </p:val>
                                        </p:tav>
                                        <p:tav tm="100000">
                                          <p:val>
                                            <p:strVal val="#ppt_y"/>
                                          </p:val>
                                        </p:tav>
                                      </p:tavLst>
                                    </p:anim>
                                    <p:animEffect transition="in" filter="fade">
                                      <p:cBhvr>
                                        <p:cTn id="119" dur="500"/>
                                        <p:tgtEl>
                                          <p:spTgt spid="36"/>
                                        </p:tgtEl>
                                      </p:cBhvr>
                                    </p:animEffect>
                                  </p:childTnLst>
                                </p:cTn>
                              </p:par>
                              <p:par>
                                <p:cTn id="120" presetID="2" presetClass="entr" presetSubtype="4" fill="hold" grpId="0" nodeType="withEffect">
                                  <p:stCondLst>
                                    <p:cond delay="0"/>
                                  </p:stCondLst>
                                  <p:childTnLst>
                                    <p:set>
                                      <p:cBhvr>
                                        <p:cTn id="121" dur="1" fill="hold">
                                          <p:stCondLst>
                                            <p:cond delay="0"/>
                                          </p:stCondLst>
                                        </p:cTn>
                                        <p:tgtEl>
                                          <p:spTgt spid="37"/>
                                        </p:tgtEl>
                                        <p:attrNameLst>
                                          <p:attrName>style.visibility</p:attrName>
                                        </p:attrNameLst>
                                      </p:cBhvr>
                                      <p:to>
                                        <p:strVal val="visible"/>
                                      </p:to>
                                    </p:set>
                                    <p:anim calcmode="lin" valueType="num">
                                      <p:cBhvr additive="base">
                                        <p:cTn id="122" dur="500" fill="hold"/>
                                        <p:tgtEl>
                                          <p:spTgt spid="37"/>
                                        </p:tgtEl>
                                        <p:attrNameLst>
                                          <p:attrName>ppt_x</p:attrName>
                                        </p:attrNameLst>
                                      </p:cBhvr>
                                      <p:tavLst>
                                        <p:tav tm="0">
                                          <p:val>
                                            <p:strVal val="#ppt_x"/>
                                          </p:val>
                                        </p:tav>
                                        <p:tav tm="100000">
                                          <p:val>
                                            <p:strVal val="#ppt_x"/>
                                          </p:val>
                                        </p:tav>
                                      </p:tavLst>
                                    </p:anim>
                                    <p:anim calcmode="lin" valueType="num">
                                      <p:cBhvr additive="base">
                                        <p:cTn id="123" dur="500" fill="hold"/>
                                        <p:tgtEl>
                                          <p:spTgt spid="37"/>
                                        </p:tgtEl>
                                        <p:attrNameLst>
                                          <p:attrName>ppt_y</p:attrName>
                                        </p:attrNameLst>
                                      </p:cBhvr>
                                      <p:tavLst>
                                        <p:tav tm="0">
                                          <p:val>
                                            <p:strVal val="#ppt_y+0.1"/>
                                          </p:val>
                                        </p:tav>
                                        <p:tav tm="100000">
                                          <p:val>
                                            <p:strVal val="#ppt_y"/>
                                          </p:val>
                                        </p:tav>
                                      </p:tavLst>
                                    </p:anim>
                                    <p:animEffect transition="in" filter="fade">
                                      <p:cBhvr>
                                        <p:cTn id="124" dur="500"/>
                                        <p:tgtEl>
                                          <p:spTgt spid="37"/>
                                        </p:tgtEl>
                                      </p:cBhvr>
                                    </p:animEffect>
                                  </p:childTnLst>
                                </p:cTn>
                              </p:par>
                            </p:childTnLst>
                          </p:cTn>
                        </p:par>
                      </p:childTnLst>
                    </p:cTn>
                  </p:par>
                  <p:par>
                    <p:cTn id="125" fill="hold">
                      <p:stCondLst>
                        <p:cond delay="indefinite"/>
                      </p:stCondLst>
                      <p:childTnLst>
                        <p:par>
                          <p:cTn id="126" fill="hold">
                            <p:stCondLst>
                              <p:cond delay="0"/>
                            </p:stCondLst>
                            <p:childTnLst>
                              <p:par>
                                <p:cTn id="127" presetID="10" presetClass="entr" presetSubtype="0" fill="hold" grpId="0" nodeType="clickEffect">
                                  <p:stCondLst>
                                    <p:cond delay="0"/>
                                  </p:stCondLst>
                                  <p:childTnLst>
                                    <p:set>
                                      <p:cBhvr>
                                        <p:cTn id="128" dur="1" fill="hold">
                                          <p:stCondLst>
                                            <p:cond delay="0"/>
                                          </p:stCondLst>
                                        </p:cTn>
                                        <p:tgtEl>
                                          <p:spTgt spid="38"/>
                                        </p:tgtEl>
                                        <p:attrNameLst>
                                          <p:attrName>style.visibility</p:attrName>
                                        </p:attrNameLst>
                                      </p:cBhvr>
                                      <p:to>
                                        <p:strVal val="visible"/>
                                      </p:to>
                                    </p:set>
                                    <p:animEffect transition="in" filter="fade">
                                      <p:cBhvr>
                                        <p:cTn id="129" dur="500"/>
                                        <p:tgtEl>
                                          <p:spTgt spid="38"/>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39"/>
                                        </p:tgtEl>
                                        <p:attrNameLst>
                                          <p:attrName>style.visibility</p:attrName>
                                        </p:attrNameLst>
                                      </p:cBhvr>
                                      <p:to>
                                        <p:strVal val="visible"/>
                                      </p:to>
                                    </p:set>
                                    <p:animEffect transition="in" filter="fade">
                                      <p:cBhvr>
                                        <p:cTn id="132" dur="500"/>
                                        <p:tgtEl>
                                          <p:spTgt spid="39"/>
                                        </p:tgtEl>
                                      </p:cBhvr>
                                    </p:animEffect>
                                  </p:childTnLst>
                                </p:cTn>
                              </p:par>
                              <p:par>
                                <p:cTn id="133" presetID="10" presetClass="entr" presetSubtype="0" fill="hold" grpId="0" nodeType="withEffect">
                                  <p:stCondLst>
                                    <p:cond delay="150"/>
                                  </p:stCondLst>
                                  <p:childTnLst>
                                    <p:set>
                                      <p:cBhvr>
                                        <p:cTn id="134" dur="1" fill="hold">
                                          <p:stCondLst>
                                            <p:cond delay="0"/>
                                          </p:stCondLst>
                                        </p:cTn>
                                        <p:tgtEl>
                                          <p:spTgt spid="40"/>
                                        </p:tgtEl>
                                        <p:attrNameLst>
                                          <p:attrName>style.visibility</p:attrName>
                                        </p:attrNameLst>
                                      </p:cBhvr>
                                      <p:to>
                                        <p:strVal val="visible"/>
                                      </p:to>
                                    </p:set>
                                    <p:animEffect transition="in" filter="fade">
                                      <p:cBhvr>
                                        <p:cTn id="135" dur="500"/>
                                        <p:tgtEl>
                                          <p:spTgt spid="40"/>
                                        </p:tgtEl>
                                      </p:cBhvr>
                                    </p:animEffect>
                                  </p:childTnLst>
                                </p:cTn>
                              </p:par>
                              <p:par>
                                <p:cTn id="136" presetID="10" presetClass="entr" presetSubtype="0" fill="hold" grpId="0" nodeType="withEffect">
                                  <p:stCondLst>
                                    <p:cond delay="300"/>
                                  </p:stCondLst>
                                  <p:childTnLst>
                                    <p:set>
                                      <p:cBhvr>
                                        <p:cTn id="137" dur="1" fill="hold">
                                          <p:stCondLst>
                                            <p:cond delay="0"/>
                                          </p:stCondLst>
                                        </p:cTn>
                                        <p:tgtEl>
                                          <p:spTgt spid="41"/>
                                        </p:tgtEl>
                                        <p:attrNameLst>
                                          <p:attrName>style.visibility</p:attrName>
                                        </p:attrNameLst>
                                      </p:cBhvr>
                                      <p:to>
                                        <p:strVal val="visible"/>
                                      </p:to>
                                    </p:set>
                                    <p:animEffect transition="in" filter="fade">
                                      <p:cBhvr>
                                        <p:cTn id="138"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33" grpId="0" animBg="1"/>
      <p:bldP spid="34" grpId="0" animBg="1"/>
      <p:bldP spid="35" grpId="0" animBg="1"/>
      <p:bldP spid="37" grpId="0" animBg="1"/>
      <p:bldP spid="38" grpId="0" animBg="1"/>
      <p:bldP spid="39" grpId="0" animBg="1"/>
      <p:bldP spid="40" grpId="0" animBg="1"/>
      <p:bldP spid="4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1"/>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In Practice: The Engine Says No</a:t>
            </a:r>
            <a:endParaRPr lang="en-US" sz="2800" dirty="0"/>
          </a:p>
        </p:txBody>
      </p:sp>
      <p:sp>
        <p:nvSpPr>
          <p:cNvPr id="3" name="Text 2"/>
          <p:cNvSpPr txBox="1"/>
          <p:nvPr/>
        </p:nvSpPr>
        <p:spPr>
          <a:xfrm>
            <a:off x="457200" y="914400"/>
            <a:ext cx="8229600" cy="502920"/>
          </a:xfrm>
          <a:prstGeom prst="roundRect">
            <a:avLst>
              <a:gd name="adj" fmla="val 14545"/>
            </a:avLst>
          </a:prstGeom>
          <a:solidFill>
            <a:srgbClr val="EDE9FE"/>
          </a:solidFill>
          <a:ln w="12700">
            <a:solidFill>
              <a:srgbClr val="EDE9FE"/>
            </a:solidFill>
            <a:prstDash val="solid"/>
          </a:ln>
        </p:spPr>
        <p:txBody>
          <a:bodyPr wrap="square" lIns="164592" tIns="0" rIns="164592" bIns="0" rtlCol="0" anchor="ctr"/>
          <a:lstStyle/>
          <a:p>
            <a:pPr marL="0" indent="0">
              <a:buNone/>
            </a:pPr>
            <a:r>
              <a:rPr lang="en-US" sz="1400" b="1" dirty="0">
                <a:solidFill>
                  <a:srgbClr val="6D28D9"/>
                </a:solidFill>
                <a:latin typeface="Calibri" pitchFamily="34" charset="0"/>
                <a:ea typeface="Calibri" pitchFamily="34" charset="-122"/>
                <a:cs typeface="Calibri" pitchFamily="34" charset="-120"/>
              </a:rPr>
              <a:t>TASK   </a:t>
            </a:r>
            <a:r>
              <a:rPr lang="en-US" sz="1400" dirty="0">
                <a:solidFill>
                  <a:srgbClr val="0F172A"/>
                </a:solidFill>
                <a:latin typeface="Calibri" pitchFamily="34" charset="0"/>
                <a:ea typeface="Calibri" pitchFamily="34" charset="-122"/>
                <a:cs typeface="Calibri" pitchFamily="34" charset="-120"/>
              </a:rPr>
              <a:t>Try to create an orphan account — and watch the foreign key stop it.</a:t>
            </a:r>
            <a:endParaRPr lang="en-US" sz="1400" dirty="0"/>
          </a:p>
        </p:txBody>
      </p:sp>
      <p:sp>
        <p:nvSpPr>
          <p:cNvPr id="4" name="a1f_codebg3"/>
          <p:cNvSpPr/>
          <p:nvPr/>
        </p:nvSpPr>
        <p:spPr>
          <a:xfrm>
            <a:off x="457200" y="1645920"/>
            <a:ext cx="4206240" cy="1810512"/>
          </a:xfrm>
          <a:prstGeom prst="roundRect">
            <a:avLst>
              <a:gd name="adj" fmla="val 3150"/>
            </a:avLst>
          </a:prstGeom>
          <a:solidFill>
            <a:srgbClr val="1E293B"/>
          </a:solidFill>
          <a:ln w="12700">
            <a:solidFill>
              <a:srgbClr val="1E293B"/>
            </a:solidFill>
            <a:prstDash val="solid"/>
          </a:ln>
        </p:spPr>
      </p:sp>
      <p:sp>
        <p:nvSpPr>
          <p:cNvPr id="5" name="a1wd0_code4"/>
          <p:cNvSpPr txBox="1"/>
          <p:nvPr/>
        </p:nvSpPr>
        <p:spPr>
          <a:xfrm>
            <a:off x="640080" y="1783080"/>
            <a:ext cx="3886200" cy="256032"/>
          </a:xfrm>
          <a:prstGeom prst="rect">
            <a:avLst/>
          </a:prstGeom>
          <a:noFill/>
          <a:ln/>
        </p:spPr>
        <p:txBody>
          <a:bodyPr wrap="square" lIns="0" tIns="0" rIns="0" bIns="0" rtlCol="0" anchor="ctr"/>
          <a:lstStyle/>
          <a:p>
            <a:pPr marL="0" indent="0">
              <a:buNone/>
            </a:pPr>
            <a:r>
              <a:rPr lang="en-US" sz="1150" b="1" dirty="0">
                <a:solidFill>
                  <a:srgbClr val="C4B5FD"/>
                </a:solidFill>
                <a:latin typeface="Courier New" pitchFamily="34" charset="0"/>
                <a:ea typeface="Courier New" pitchFamily="34" charset="-122"/>
                <a:cs typeface="Courier New" pitchFamily="34" charset="-120"/>
              </a:rPr>
              <a:t>INSERT</a:t>
            </a:r>
            <a:r>
              <a:rPr lang="en-US" sz="1150" dirty="0">
                <a:solidFill>
                  <a:srgbClr val="E2E8F0"/>
                </a:solidFill>
                <a:latin typeface="Courier New" pitchFamily="34" charset="0"/>
                <a:ea typeface="Courier New" pitchFamily="34" charset="-122"/>
                <a:cs typeface="Courier New" pitchFamily="34" charset="-120"/>
              </a:rPr>
              <a:t> </a:t>
            </a:r>
            <a:r>
              <a:rPr lang="en-US" sz="1150" b="1" dirty="0">
                <a:solidFill>
                  <a:srgbClr val="C4B5FD"/>
                </a:solidFill>
                <a:latin typeface="Courier New" pitchFamily="34" charset="0"/>
                <a:ea typeface="Courier New" pitchFamily="34" charset="-122"/>
                <a:cs typeface="Courier New" pitchFamily="34" charset="-120"/>
              </a:rPr>
              <a:t>INTO</a:t>
            </a:r>
            <a:r>
              <a:rPr lang="en-US" sz="1150" dirty="0">
                <a:solidFill>
                  <a:srgbClr val="E2E8F0"/>
                </a:solidFill>
                <a:latin typeface="Courier New" pitchFamily="34" charset="0"/>
                <a:ea typeface="Courier New" pitchFamily="34" charset="-122"/>
                <a:cs typeface="Courier New" pitchFamily="34" charset="-120"/>
              </a:rPr>
              <a:t> account</a:t>
            </a:r>
            <a:endParaRPr lang="en-US" sz="1150" dirty="0"/>
          </a:p>
        </p:txBody>
      </p:sp>
      <p:sp>
        <p:nvSpPr>
          <p:cNvPr id="6" name="a1wd150_code5"/>
          <p:cNvSpPr txBox="1"/>
          <p:nvPr/>
        </p:nvSpPr>
        <p:spPr>
          <a:xfrm>
            <a:off x="640080" y="2039112"/>
            <a:ext cx="3886200" cy="256032"/>
          </a:xfrm>
          <a:prstGeom prst="rect">
            <a:avLst/>
          </a:prstGeom>
          <a:noFill/>
          <a:ln/>
        </p:spPr>
        <p:txBody>
          <a:bodyPr wrap="square" lIns="0" tIns="0" rIns="0" bIns="0" rtlCol="0" anchor="ctr"/>
          <a:lstStyle/>
          <a:p>
            <a:pPr marL="0" indent="0">
              <a:buNone/>
            </a:pPr>
            <a:r>
              <a:rPr lang="en-US" sz="1150" dirty="0">
                <a:solidFill>
                  <a:srgbClr val="E2E8F0"/>
                </a:solidFill>
                <a:latin typeface="Courier New" pitchFamily="34" charset="0"/>
                <a:ea typeface="Courier New" pitchFamily="34" charset="-122"/>
                <a:cs typeface="Courier New" pitchFamily="34" charset="-120"/>
              </a:rPr>
              <a:t>  (account_id, account_number,</a:t>
            </a:r>
            <a:endParaRPr lang="en-US" sz="1150" dirty="0"/>
          </a:p>
        </p:txBody>
      </p:sp>
      <p:sp>
        <p:nvSpPr>
          <p:cNvPr id="7" name="a1wd300_code6"/>
          <p:cNvSpPr txBox="1"/>
          <p:nvPr/>
        </p:nvSpPr>
        <p:spPr>
          <a:xfrm>
            <a:off x="640080" y="2295144"/>
            <a:ext cx="3886200" cy="256032"/>
          </a:xfrm>
          <a:prstGeom prst="rect">
            <a:avLst/>
          </a:prstGeom>
          <a:noFill/>
          <a:ln/>
        </p:spPr>
        <p:txBody>
          <a:bodyPr wrap="square" lIns="0" tIns="0" rIns="0" bIns="0" rtlCol="0" anchor="ctr"/>
          <a:lstStyle/>
          <a:p>
            <a:pPr marL="0" indent="0">
              <a:buNone/>
            </a:pPr>
            <a:r>
              <a:rPr lang="en-US" sz="1150" dirty="0">
                <a:solidFill>
                  <a:srgbClr val="E2E8F0"/>
                </a:solidFill>
                <a:latin typeface="Courier New" pitchFamily="34" charset="0"/>
                <a:ea typeface="Courier New" pitchFamily="34" charset="-122"/>
                <a:cs typeface="Courier New" pitchFamily="34" charset="-120"/>
              </a:rPr>
              <a:t>   customer_id, branch_id, ...)</a:t>
            </a:r>
            <a:endParaRPr lang="en-US" sz="1150" dirty="0"/>
          </a:p>
        </p:txBody>
      </p:sp>
      <p:sp>
        <p:nvSpPr>
          <p:cNvPr id="8" name="a1wd450_code7"/>
          <p:cNvSpPr txBox="1"/>
          <p:nvPr/>
        </p:nvSpPr>
        <p:spPr>
          <a:xfrm>
            <a:off x="640080" y="2551176"/>
            <a:ext cx="3886200" cy="256032"/>
          </a:xfrm>
          <a:prstGeom prst="rect">
            <a:avLst/>
          </a:prstGeom>
          <a:noFill/>
          <a:ln/>
        </p:spPr>
        <p:txBody>
          <a:bodyPr wrap="square" lIns="0" tIns="0" rIns="0" bIns="0" rtlCol="0" anchor="ctr"/>
          <a:lstStyle/>
          <a:p>
            <a:pPr marL="0" indent="0">
              <a:buNone/>
            </a:pPr>
            <a:r>
              <a:rPr lang="en-US" sz="1150" b="1" dirty="0">
                <a:solidFill>
                  <a:srgbClr val="C4B5FD"/>
                </a:solidFill>
                <a:latin typeface="Courier New" pitchFamily="34" charset="0"/>
                <a:ea typeface="Courier New" pitchFamily="34" charset="-122"/>
                <a:cs typeface="Courier New" pitchFamily="34" charset="-120"/>
              </a:rPr>
              <a:t>VALUES</a:t>
            </a:r>
            <a:endParaRPr lang="en-US" sz="1150" dirty="0"/>
          </a:p>
        </p:txBody>
      </p:sp>
      <p:sp>
        <p:nvSpPr>
          <p:cNvPr id="9" name="a1wd600_code8"/>
          <p:cNvSpPr txBox="1"/>
          <p:nvPr/>
        </p:nvSpPr>
        <p:spPr>
          <a:xfrm>
            <a:off x="640080" y="2807208"/>
            <a:ext cx="3886200" cy="256032"/>
          </a:xfrm>
          <a:prstGeom prst="rect">
            <a:avLst/>
          </a:prstGeom>
          <a:noFill/>
          <a:ln/>
        </p:spPr>
        <p:txBody>
          <a:bodyPr wrap="square" lIns="0" tIns="0" rIns="0" bIns="0" rtlCol="0" anchor="ctr"/>
          <a:lstStyle/>
          <a:p>
            <a:pPr marL="0" indent="0">
              <a:buNone/>
            </a:pPr>
            <a:r>
              <a:rPr lang="en-US" sz="1150" dirty="0">
                <a:solidFill>
                  <a:srgbClr val="E2E8F0"/>
                </a:solidFill>
                <a:latin typeface="Courier New" pitchFamily="34" charset="0"/>
                <a:ea typeface="Courier New" pitchFamily="34" charset="-122"/>
                <a:cs typeface="Courier New" pitchFamily="34" charset="-120"/>
              </a:rPr>
              <a:t>  (</a:t>
            </a:r>
            <a:r>
              <a:rPr lang="en-US" sz="1150" dirty="0">
                <a:solidFill>
                  <a:srgbClr val="FDBA74"/>
                </a:solidFill>
                <a:latin typeface="Courier New" pitchFamily="34" charset="0"/>
                <a:ea typeface="Courier New" pitchFamily="34" charset="-122"/>
                <a:cs typeface="Courier New" pitchFamily="34" charset="-120"/>
              </a:rPr>
              <a:t>9040</a:t>
            </a:r>
            <a:r>
              <a:rPr lang="en-US" sz="1150" dirty="0">
                <a:solidFill>
                  <a:srgbClr val="E2E8F0"/>
                </a:solidFill>
                <a:latin typeface="Courier New" pitchFamily="34" charset="0"/>
                <a:ea typeface="Courier New" pitchFamily="34" charset="-122"/>
                <a:cs typeface="Courier New" pitchFamily="34" charset="-120"/>
              </a:rPr>
              <a:t>, </a:t>
            </a:r>
            <a:r>
              <a:rPr lang="en-US" sz="1150" dirty="0">
                <a:solidFill>
                  <a:srgbClr val="FDBA74"/>
                </a:solidFill>
                <a:latin typeface="Courier New" pitchFamily="34" charset="0"/>
                <a:ea typeface="Courier New" pitchFamily="34" charset="-122"/>
                <a:cs typeface="Courier New" pitchFamily="34" charset="-120"/>
              </a:rPr>
              <a:t>'ICIC0000009040'</a:t>
            </a:r>
            <a:r>
              <a:rPr lang="en-US" sz="1150" dirty="0">
                <a:solidFill>
                  <a:srgbClr val="E2E8F0"/>
                </a:solidFill>
                <a:latin typeface="Courier New" pitchFamily="34" charset="0"/>
                <a:ea typeface="Courier New" pitchFamily="34" charset="-122"/>
                <a:cs typeface="Courier New" pitchFamily="34" charset="-120"/>
              </a:rPr>
              <a:t>,</a:t>
            </a:r>
            <a:endParaRPr lang="en-US" sz="1150" dirty="0"/>
          </a:p>
        </p:txBody>
      </p:sp>
      <p:sp>
        <p:nvSpPr>
          <p:cNvPr id="10" name="a1wd750_code9"/>
          <p:cNvSpPr txBox="1"/>
          <p:nvPr/>
        </p:nvSpPr>
        <p:spPr>
          <a:xfrm>
            <a:off x="640080" y="3063240"/>
            <a:ext cx="3886200" cy="256032"/>
          </a:xfrm>
          <a:prstGeom prst="rect">
            <a:avLst/>
          </a:prstGeom>
          <a:noFill/>
          <a:ln/>
        </p:spPr>
        <p:txBody>
          <a:bodyPr wrap="square" lIns="0" tIns="0" rIns="0" bIns="0" rtlCol="0" anchor="ctr"/>
          <a:lstStyle/>
          <a:p>
            <a:pPr marL="0" indent="0">
              <a:buNone/>
            </a:pPr>
            <a:r>
              <a:rPr lang="en-US" sz="1150" dirty="0">
                <a:solidFill>
                  <a:srgbClr val="E2E8F0"/>
                </a:solidFill>
                <a:latin typeface="Courier New" pitchFamily="34" charset="0"/>
                <a:ea typeface="Courier New" pitchFamily="34" charset="-122"/>
                <a:cs typeface="Courier New" pitchFamily="34" charset="-120"/>
              </a:rPr>
              <a:t>   </a:t>
            </a:r>
            <a:r>
              <a:rPr lang="en-US" sz="1150" dirty="0">
                <a:solidFill>
                  <a:srgbClr val="FDBA74"/>
                </a:solidFill>
                <a:latin typeface="Courier New" pitchFamily="34" charset="0"/>
                <a:ea typeface="Courier New" pitchFamily="34" charset="-122"/>
                <a:cs typeface="Courier New" pitchFamily="34" charset="-120"/>
              </a:rPr>
              <a:t>1099</a:t>
            </a:r>
            <a:r>
              <a:rPr lang="en-US" sz="1150" dirty="0">
                <a:solidFill>
                  <a:srgbClr val="E2E8F0"/>
                </a:solidFill>
                <a:latin typeface="Courier New" pitchFamily="34" charset="0"/>
                <a:ea typeface="Courier New" pitchFamily="34" charset="-122"/>
                <a:cs typeface="Courier New" pitchFamily="34" charset="-120"/>
              </a:rPr>
              <a:t>, </a:t>
            </a:r>
            <a:r>
              <a:rPr lang="en-US" sz="1150" dirty="0">
                <a:solidFill>
                  <a:srgbClr val="FDBA74"/>
                </a:solidFill>
                <a:latin typeface="Courier New" pitchFamily="34" charset="0"/>
                <a:ea typeface="Courier New" pitchFamily="34" charset="-122"/>
                <a:cs typeface="Courier New" pitchFamily="34" charset="-120"/>
              </a:rPr>
              <a:t>1</a:t>
            </a:r>
            <a:r>
              <a:rPr lang="en-US" sz="1150" dirty="0">
                <a:solidFill>
                  <a:srgbClr val="E2E8F0"/>
                </a:solidFill>
                <a:latin typeface="Courier New" pitchFamily="34" charset="0"/>
                <a:ea typeface="Courier New" pitchFamily="34" charset="-122"/>
                <a:cs typeface="Courier New" pitchFamily="34" charset="-120"/>
              </a:rPr>
              <a:t>, ...);</a:t>
            </a:r>
            <a:endParaRPr lang="en-US" sz="1150" dirty="0"/>
          </a:p>
        </p:txBody>
      </p:sp>
      <p:sp>
        <p:nvSpPr>
          <p:cNvPr id="11" name="a2f_l10"/>
          <p:cNvSpPr txBox="1"/>
          <p:nvPr/>
        </p:nvSpPr>
        <p:spPr>
          <a:xfrm>
            <a:off x="4937760" y="1645920"/>
            <a:ext cx="3749040" cy="274320"/>
          </a:xfrm>
          <a:prstGeom prst="rect">
            <a:avLst/>
          </a:prstGeom>
          <a:noFill/>
          <a:ln/>
        </p:spPr>
        <p:txBody>
          <a:bodyPr wrap="square" lIns="0" tIns="0" rIns="0" bIns="0" rtlCol="0" anchor="ctr"/>
          <a:lstStyle/>
          <a:p>
            <a:pPr marL="0" indent="0">
              <a:buNone/>
            </a:pPr>
            <a:r>
              <a:rPr lang="en-US" sz="1200" b="1" dirty="0">
                <a:solidFill>
                  <a:srgbClr val="6D28D9"/>
                </a:solidFill>
                <a:latin typeface="Calibri" pitchFamily="34" charset="0"/>
                <a:ea typeface="Calibri" pitchFamily="34" charset="-122"/>
                <a:cs typeface="Calibri" pitchFamily="34" charset="-120"/>
              </a:rPr>
              <a:t>Result (PostgreSQL)</a:t>
            </a:r>
            <a:endParaRPr lang="en-US" sz="1200" dirty="0"/>
          </a:p>
        </p:txBody>
      </p:sp>
      <p:sp>
        <p:nvSpPr>
          <p:cNvPr id="12" name="a2u_err11"/>
          <p:cNvSpPr txBox="1"/>
          <p:nvPr/>
        </p:nvSpPr>
        <p:spPr>
          <a:xfrm>
            <a:off x="4937760" y="1938528"/>
            <a:ext cx="3749040" cy="1417320"/>
          </a:xfrm>
          <a:prstGeom prst="roundRect">
            <a:avLst>
              <a:gd name="adj" fmla="val 6000"/>
            </a:avLst>
          </a:prstGeom>
          <a:solidFill>
            <a:srgbClr val="FEF2F2"/>
          </a:solidFill>
          <a:ln w="12700">
            <a:solidFill>
              <a:srgbClr val="FCA5A5"/>
            </a:solidFill>
            <a:prstDash val="solid"/>
          </a:ln>
        </p:spPr>
        <p:txBody>
          <a:bodyPr wrap="square" lIns="137160" tIns="109728" rIns="137160" bIns="91440" rtlCol="0" anchor="t"/>
          <a:lstStyle/>
          <a:p>
            <a:pPr marL="0" indent="0">
              <a:buNone/>
            </a:pPr>
            <a:r>
              <a:rPr lang="en-US" sz="1000" b="1" dirty="0">
                <a:solidFill>
                  <a:srgbClr val="DC2626"/>
                </a:solidFill>
                <a:latin typeface="Courier New" pitchFamily="34" charset="0"/>
                <a:ea typeface="Courier New" pitchFamily="34" charset="-122"/>
                <a:cs typeface="Courier New" pitchFamily="34" charset="-120"/>
              </a:rPr>
              <a:t>ERROR: insert or update on table "account"</a:t>
            </a:r>
            <a:endParaRPr lang="en-US" sz="1000" dirty="0"/>
          </a:p>
          <a:p>
            <a:pPr marL="0" indent="0">
              <a:buNone/>
            </a:pPr>
            <a:r>
              <a:rPr lang="en-US" sz="1000" dirty="0">
                <a:solidFill>
                  <a:srgbClr val="DC2626"/>
                </a:solidFill>
                <a:latin typeface="Courier New" pitchFamily="34" charset="0"/>
                <a:ea typeface="Courier New" pitchFamily="34" charset="-122"/>
                <a:cs typeface="Courier New" pitchFamily="34" charset="-120"/>
              </a:rPr>
              <a:t>violates foreign key constraint "fk_account_customer_id"</a:t>
            </a:r>
            <a:endParaRPr lang="en-US" sz="1000" dirty="0"/>
          </a:p>
          <a:p>
            <a:pPr marL="0" indent="0">
              <a:buNone/>
            </a:pPr>
            <a:r>
              <a:rPr lang="en-US" sz="1000" dirty="0">
                <a:solidFill>
                  <a:srgbClr val="7F1D1D"/>
                </a:solidFill>
                <a:latin typeface="Courier New" pitchFamily="34" charset="0"/>
                <a:ea typeface="Courier New" pitchFamily="34" charset="-122"/>
                <a:cs typeface="Courier New" pitchFamily="34" charset="-120"/>
              </a:rPr>
              <a:t>DETAIL: Key (customer_id)=(1099) is not present in table "customer".</a:t>
            </a:r>
            <a:endParaRPr lang="en-US" sz="1000" dirty="0"/>
          </a:p>
        </p:txBody>
      </p:sp>
      <p:sp>
        <p:nvSpPr>
          <p:cNvPr id="13" name="a3u_nb12"/>
          <p:cNvSpPr/>
          <p:nvPr/>
        </p:nvSpPr>
        <p:spPr>
          <a:xfrm>
            <a:off x="4937760" y="3566160"/>
            <a:ext cx="3749040" cy="1005840"/>
          </a:xfrm>
          <a:prstGeom prst="roundRect">
            <a:avLst>
              <a:gd name="adj" fmla="val 9412"/>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pic>
        <p:nvPicPr>
          <p:cNvPr id="14" name="a3u_ni13" descr="image.png"/>
          <p:cNvPicPr>
            <a:picLocks noChangeAspect="1"/>
          </p:cNvPicPr>
          <p:nvPr/>
        </p:nvPicPr>
        <p:blipFill>
          <a:blip r:embed="rId3"/>
          <a:stretch>
            <a:fillRect/>
          </a:stretch>
        </p:blipFill>
        <p:spPr>
          <a:xfrm>
            <a:off x="5074920" y="3909060"/>
            <a:ext cx="320040" cy="320040"/>
          </a:xfrm>
          <a:prstGeom prst="rect">
            <a:avLst/>
          </a:prstGeom>
        </p:spPr>
      </p:pic>
      <p:sp>
        <p:nvSpPr>
          <p:cNvPr id="15" name="a3u_nt14"/>
          <p:cNvSpPr txBox="1"/>
          <p:nvPr/>
        </p:nvSpPr>
        <p:spPr>
          <a:xfrm>
            <a:off x="5486400" y="3566160"/>
            <a:ext cx="3063240" cy="1005840"/>
          </a:xfrm>
          <a:prstGeom prst="rect">
            <a:avLst/>
          </a:prstGeom>
          <a:noFill/>
          <a:ln/>
        </p:spPr>
        <p:txBody>
          <a:bodyPr wrap="square" lIns="0" tIns="0" rIns="0" bIns="0" rtlCol="0" anchor="ctr"/>
          <a:lstStyle/>
          <a:p>
            <a:pPr marL="0" indent="0">
              <a:buNone/>
            </a:pPr>
            <a:r>
              <a:rPr lang="en-US" sz="1200" b="1" dirty="0">
                <a:solidFill>
                  <a:srgbClr val="334155"/>
                </a:solidFill>
                <a:latin typeface="Calibri" pitchFamily="34" charset="0"/>
                <a:ea typeface="Calibri" pitchFamily="34" charset="-122"/>
                <a:cs typeface="Calibri" pitchFamily="34" charset="-120"/>
              </a:rPr>
              <a:t>A rule in the schema </a:t>
            </a:r>
            <a:r>
              <a:rPr lang="en-US" sz="1200" dirty="0">
                <a:solidFill>
                  <a:srgbClr val="334155"/>
                </a:solidFill>
                <a:latin typeface="Calibri" pitchFamily="34" charset="0"/>
                <a:ea typeface="Calibri" pitchFamily="34" charset="-122"/>
                <a:cs typeface="Calibri" pitchFamily="34" charset="-120"/>
              </a:rPr>
              <a:t>is met by every application, batch job and DBA. A rule in application code is met by whoever remembered it.</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par>
                                <p:cTn id="11" presetID="22" presetClass="entr" presetSubtype="8" fill="hold" grpId="0" nodeType="withEffect">
                                  <p:stCondLst>
                                    <p:cond delay="15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par>
                                <p:cTn id="14" presetID="22" presetClass="entr" presetSubtype="8" fill="hold" grpId="0" nodeType="withEffect">
                                  <p:stCondLst>
                                    <p:cond delay="30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par>
                                <p:cTn id="17" presetID="22" presetClass="entr" presetSubtype="8" fill="hold" grpId="0" nodeType="withEffect">
                                  <p:stCondLst>
                                    <p:cond delay="45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par>
                                <p:cTn id="20" presetID="22" presetClass="entr" presetSubtype="8" fill="hold" grpId="0" nodeType="withEffect">
                                  <p:stCondLst>
                                    <p:cond delay="60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par>
                                <p:cTn id="23" presetID="22" presetClass="entr" presetSubtype="8" fill="hold" grpId="0" nodeType="withEffect">
                                  <p:stCondLst>
                                    <p:cond delay="75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2" presetClass="entr" presetSubtype="4"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ppt_x"/>
                                          </p:val>
                                        </p:tav>
                                        <p:tav tm="100000">
                                          <p:val>
                                            <p:strVal val="#ppt_x"/>
                                          </p:val>
                                        </p:tav>
                                      </p:tavLst>
                                    </p:anim>
                                    <p:anim calcmode="lin" valueType="num">
                                      <p:cBhvr additive="base">
                                        <p:cTn id="34" dur="500" fill="hold"/>
                                        <p:tgtEl>
                                          <p:spTgt spid="12"/>
                                        </p:tgtEl>
                                        <p:attrNameLst>
                                          <p:attrName>ppt_y</p:attrName>
                                        </p:attrNameLst>
                                      </p:cBhvr>
                                      <p:tavLst>
                                        <p:tav tm="0">
                                          <p:val>
                                            <p:strVal val="#ppt_y+0.1"/>
                                          </p:val>
                                        </p:tav>
                                        <p:tav tm="100000">
                                          <p:val>
                                            <p:strVal val="#ppt_y"/>
                                          </p:val>
                                        </p:tav>
                                      </p:tavLst>
                                    </p:anim>
                                    <p:animEffect transition="in" filter="fade">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 calcmode="lin" valueType="num">
                                      <p:cBhvr additive="base">
                                        <p:cTn id="40" dur="500" fill="hold"/>
                                        <p:tgtEl>
                                          <p:spTgt spid="13"/>
                                        </p:tgtEl>
                                        <p:attrNameLst>
                                          <p:attrName>ppt_x</p:attrName>
                                        </p:attrNameLst>
                                      </p:cBhvr>
                                      <p:tavLst>
                                        <p:tav tm="0">
                                          <p:val>
                                            <p:strVal val="#ppt_x"/>
                                          </p:val>
                                        </p:tav>
                                        <p:tav tm="100000">
                                          <p:val>
                                            <p:strVal val="#ppt_x"/>
                                          </p:val>
                                        </p:tav>
                                      </p:tavLst>
                                    </p:anim>
                                    <p:anim calcmode="lin" valueType="num">
                                      <p:cBhvr additive="base">
                                        <p:cTn id="41" dur="500" fill="hold"/>
                                        <p:tgtEl>
                                          <p:spTgt spid="13"/>
                                        </p:tgtEl>
                                        <p:attrNameLst>
                                          <p:attrName>ppt_y</p:attrName>
                                        </p:attrNameLst>
                                      </p:cBhvr>
                                      <p:tavLst>
                                        <p:tav tm="0">
                                          <p:val>
                                            <p:strVal val="#ppt_y+0.1"/>
                                          </p:val>
                                        </p:tav>
                                        <p:tav tm="100000">
                                          <p:val>
                                            <p:strVal val="#ppt_y"/>
                                          </p:val>
                                        </p:tav>
                                      </p:tavLst>
                                    </p:anim>
                                    <p:animEffect transition="in" filter="fade">
                                      <p:cBhvr>
                                        <p:cTn id="42" dur="500"/>
                                        <p:tgtEl>
                                          <p:spTgt spid="13"/>
                                        </p:tgtEl>
                                      </p:cBhvr>
                                    </p:animEffect>
                                  </p:childTnLst>
                                </p:cTn>
                              </p:par>
                              <p:par>
                                <p:cTn id="43" presetID="2" presetClass="entr" presetSubtype="4" fill="hold" nodeType="withEffect">
                                  <p:stCondLst>
                                    <p:cond delay="0"/>
                                  </p:stCondLst>
                                  <p:childTnLst>
                                    <p:set>
                                      <p:cBhvr>
                                        <p:cTn id="44" dur="1" fill="hold">
                                          <p:stCondLst>
                                            <p:cond delay="0"/>
                                          </p:stCondLst>
                                        </p:cTn>
                                        <p:tgtEl>
                                          <p:spTgt spid="14"/>
                                        </p:tgtEl>
                                        <p:attrNameLst>
                                          <p:attrName>style.visibility</p:attrName>
                                        </p:attrNameLst>
                                      </p:cBhvr>
                                      <p:to>
                                        <p:strVal val="visible"/>
                                      </p:to>
                                    </p:set>
                                    <p:anim calcmode="lin" valueType="num">
                                      <p:cBhvr additive="base">
                                        <p:cTn id="45" dur="500" fill="hold"/>
                                        <p:tgtEl>
                                          <p:spTgt spid="14"/>
                                        </p:tgtEl>
                                        <p:attrNameLst>
                                          <p:attrName>ppt_x</p:attrName>
                                        </p:attrNameLst>
                                      </p:cBhvr>
                                      <p:tavLst>
                                        <p:tav tm="0">
                                          <p:val>
                                            <p:strVal val="#ppt_x"/>
                                          </p:val>
                                        </p:tav>
                                        <p:tav tm="100000">
                                          <p:val>
                                            <p:strVal val="#ppt_x"/>
                                          </p:val>
                                        </p:tav>
                                      </p:tavLst>
                                    </p:anim>
                                    <p:anim calcmode="lin" valueType="num">
                                      <p:cBhvr additive="base">
                                        <p:cTn id="46" dur="500" fill="hold"/>
                                        <p:tgtEl>
                                          <p:spTgt spid="14"/>
                                        </p:tgtEl>
                                        <p:attrNameLst>
                                          <p:attrName>ppt_y</p:attrName>
                                        </p:attrNameLst>
                                      </p:cBhvr>
                                      <p:tavLst>
                                        <p:tav tm="0">
                                          <p:val>
                                            <p:strVal val="#ppt_y+0.1"/>
                                          </p:val>
                                        </p:tav>
                                        <p:tav tm="100000">
                                          <p:val>
                                            <p:strVal val="#ppt_y"/>
                                          </p:val>
                                        </p:tav>
                                      </p:tavLst>
                                    </p:anim>
                                    <p:animEffect transition="in" filter="fade">
                                      <p:cBhvr>
                                        <p:cTn id="47" dur="500"/>
                                        <p:tgtEl>
                                          <p:spTgt spid="14"/>
                                        </p:tgtEl>
                                      </p:cBhvr>
                                    </p:animEffect>
                                  </p:childTnLst>
                                </p:cTn>
                              </p:par>
                              <p:par>
                                <p:cTn id="48" presetID="2" presetClass="entr" presetSubtype="4" fill="hold" grpId="0" nodeType="withEffect">
                                  <p:stCondLst>
                                    <p:cond delay="0"/>
                                  </p:stCondLst>
                                  <p:childTnLst>
                                    <p:set>
                                      <p:cBhvr>
                                        <p:cTn id="49" dur="1" fill="hold">
                                          <p:stCondLst>
                                            <p:cond delay="0"/>
                                          </p:stCondLst>
                                        </p:cTn>
                                        <p:tgtEl>
                                          <p:spTgt spid="15"/>
                                        </p:tgtEl>
                                        <p:attrNameLst>
                                          <p:attrName>style.visibility</p:attrName>
                                        </p:attrNameLst>
                                      </p:cBhvr>
                                      <p:to>
                                        <p:strVal val="visible"/>
                                      </p:to>
                                    </p:set>
                                    <p:anim calcmode="lin" valueType="num">
                                      <p:cBhvr additive="base">
                                        <p:cTn id="50" dur="500" fill="hold"/>
                                        <p:tgtEl>
                                          <p:spTgt spid="15"/>
                                        </p:tgtEl>
                                        <p:attrNameLst>
                                          <p:attrName>ppt_x</p:attrName>
                                        </p:attrNameLst>
                                      </p:cBhvr>
                                      <p:tavLst>
                                        <p:tav tm="0">
                                          <p:val>
                                            <p:strVal val="#ppt_x"/>
                                          </p:val>
                                        </p:tav>
                                        <p:tav tm="100000">
                                          <p:val>
                                            <p:strVal val="#ppt_x"/>
                                          </p:val>
                                        </p:tav>
                                      </p:tavLst>
                                    </p:anim>
                                    <p:anim calcmode="lin" valueType="num">
                                      <p:cBhvr additive="base">
                                        <p:cTn id="51" dur="500" fill="hold"/>
                                        <p:tgtEl>
                                          <p:spTgt spid="15"/>
                                        </p:tgtEl>
                                        <p:attrNameLst>
                                          <p:attrName>ppt_y</p:attrName>
                                        </p:attrNameLst>
                                      </p:cBhvr>
                                      <p:tavLst>
                                        <p:tav tm="0">
                                          <p:val>
                                            <p:strVal val="#ppt_y+0.1"/>
                                          </p:val>
                                        </p:tav>
                                        <p:tav tm="100000">
                                          <p:val>
                                            <p:strVal val="#ppt_y"/>
                                          </p:val>
                                        </p:tav>
                                      </p:tavLst>
                                    </p:anim>
                                    <p:animEffect transition="in" filter="fade">
                                      <p:cBhvr>
                                        <p:cTn id="5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1"/>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Cascading Rules</a:t>
            </a:r>
            <a:endParaRPr lang="en-US" sz="2800" dirty="0"/>
          </a:p>
        </p:txBody>
      </p:sp>
      <p:sp>
        <p:nvSpPr>
          <p:cNvPr id="3" name="Text 2"/>
          <p:cNvSpPr txBox="1"/>
          <p:nvPr/>
        </p:nvSpPr>
        <p:spPr>
          <a:xfrm>
            <a:off x="457200" y="749808"/>
            <a:ext cx="8229600" cy="320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When a parent row is deleted or re-keyed, what happens to its children?</a:t>
            </a:r>
            <a:endParaRPr lang="en-US" sz="1300" dirty="0"/>
          </a:p>
        </p:txBody>
      </p:sp>
      <p:sp>
        <p:nvSpPr>
          <p:cNvPr id="4" name="a1f_box3"/>
          <p:cNvSpPr txBox="1"/>
          <p:nvPr/>
        </p:nvSpPr>
        <p:spPr>
          <a:xfrm>
            <a:off x="2103120" y="1234440"/>
            <a:ext cx="3200400" cy="411480"/>
          </a:xfrm>
          <a:prstGeom prst="roundRect">
            <a:avLst>
              <a:gd name="adj" fmla="val 10000"/>
            </a:avLst>
          </a:prstGeom>
          <a:solidFill>
            <a:srgbClr val="0F766E"/>
          </a:solidFill>
          <a:ln w="12700">
            <a:solidFill>
              <a:srgbClr val="0F766E"/>
            </a:solidFill>
            <a:prstDash val="solid"/>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ON DELETE of the parent</a:t>
            </a:r>
            <a:endParaRPr lang="en-US" sz="1300" dirty="0"/>
          </a:p>
        </p:txBody>
      </p:sp>
      <p:sp>
        <p:nvSpPr>
          <p:cNvPr id="5" name="a1f_box4"/>
          <p:cNvSpPr txBox="1"/>
          <p:nvPr/>
        </p:nvSpPr>
        <p:spPr>
          <a:xfrm>
            <a:off x="5440680" y="1234440"/>
            <a:ext cx="3246120" cy="411480"/>
          </a:xfrm>
          <a:prstGeom prst="roundRect">
            <a:avLst>
              <a:gd name="adj" fmla="val 10000"/>
            </a:avLst>
          </a:prstGeom>
          <a:solidFill>
            <a:srgbClr val="6D28D9"/>
          </a:solidFill>
          <a:ln w="12700">
            <a:solidFill>
              <a:srgbClr val="6D28D9"/>
            </a:solidFill>
            <a:prstDash val="solid"/>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ON UPDATE of the parent key</a:t>
            </a:r>
            <a:endParaRPr lang="en-US" sz="1300" dirty="0"/>
          </a:p>
        </p:txBody>
      </p:sp>
      <p:sp>
        <p:nvSpPr>
          <p:cNvPr id="6" name="a2f_box5"/>
          <p:cNvSpPr txBox="1"/>
          <p:nvPr/>
        </p:nvSpPr>
        <p:spPr>
          <a:xfrm>
            <a:off x="457200" y="1755648"/>
            <a:ext cx="1508760" cy="457200"/>
          </a:xfrm>
          <a:prstGeom prst="roundRect">
            <a:avLst>
              <a:gd name="adj" fmla="val 10000"/>
            </a:avLst>
          </a:prstGeom>
          <a:solidFill>
            <a:srgbClr val="E2E8F0"/>
          </a:solidFill>
          <a:ln w="12700">
            <a:solidFill>
              <a:srgbClr val="E2E8F0"/>
            </a:solidFill>
            <a:prstDash val="solid"/>
          </a:ln>
        </p:spPr>
        <p:txBody>
          <a:bodyPr wrap="square" lIns="0" tIns="0" rIns="0" bIns="0" rtlCol="0" anchor="ctr"/>
          <a:lstStyle/>
          <a:p>
            <a:pPr marL="0" indent="0" algn="ctr">
              <a:buNone/>
            </a:pPr>
            <a:r>
              <a:rPr lang="en-US" sz="1200" b="1" dirty="0">
                <a:solidFill>
                  <a:srgbClr val="0F172A"/>
                </a:solidFill>
                <a:latin typeface="Courier New" pitchFamily="34" charset="0"/>
                <a:ea typeface="Courier New" pitchFamily="34" charset="-122"/>
                <a:cs typeface="Courier New" pitchFamily="34" charset="-120"/>
              </a:rPr>
              <a:t>NO ACTION</a:t>
            </a:r>
            <a:endParaRPr lang="en-US" sz="1200" dirty="0"/>
          </a:p>
        </p:txBody>
      </p:sp>
      <p:sp>
        <p:nvSpPr>
          <p:cNvPr id="7" name="a2wd100_box6"/>
          <p:cNvSpPr txBox="1"/>
          <p:nvPr/>
        </p:nvSpPr>
        <p:spPr>
          <a:xfrm>
            <a:off x="2103120" y="1755648"/>
            <a:ext cx="3200400" cy="457200"/>
          </a:xfrm>
          <a:prstGeom prst="roundRect">
            <a:avLst>
              <a:gd name="adj" fmla="val 10000"/>
            </a:avLst>
          </a:prstGeom>
          <a:solidFill>
            <a:srgbClr val="FFFFFF"/>
          </a:solidFill>
          <a:ln w="12700">
            <a:solidFill>
              <a:srgbClr val="E2E8F0"/>
            </a:solidFill>
            <a:prstDash val="solid"/>
          </a:ln>
        </p:spPr>
        <p:txBody>
          <a:bodyPr wrap="square" lIns="0" tIns="0" rIns="0" bIns="0"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Reject — checked at end of statement</a:t>
            </a:r>
            <a:endParaRPr lang="en-US" sz="1200" dirty="0"/>
          </a:p>
        </p:txBody>
      </p:sp>
      <p:sp>
        <p:nvSpPr>
          <p:cNvPr id="8" name="a2wd300_box7"/>
          <p:cNvSpPr txBox="1"/>
          <p:nvPr/>
        </p:nvSpPr>
        <p:spPr>
          <a:xfrm>
            <a:off x="5440680" y="1755648"/>
            <a:ext cx="3246120" cy="457200"/>
          </a:xfrm>
          <a:prstGeom prst="roundRect">
            <a:avLst>
              <a:gd name="adj" fmla="val 10000"/>
            </a:avLst>
          </a:prstGeom>
          <a:solidFill>
            <a:srgbClr val="EDE9FE"/>
          </a:solidFill>
          <a:ln w="12700">
            <a:solidFill>
              <a:srgbClr val="EDE9FE"/>
            </a:solidFill>
            <a:prstDash val="solid"/>
          </a:ln>
        </p:spPr>
        <p:txBody>
          <a:bodyPr wrap="square" lIns="0" tIns="0" rIns="0" bIns="0" rtlCol="0" anchor="ctr"/>
          <a:lstStyle/>
          <a:p>
            <a:pPr marL="0" indent="0" algn="ctr">
              <a:buNone/>
            </a:pPr>
            <a:r>
              <a:rPr lang="en-US" sz="1200" dirty="0">
                <a:solidFill>
                  <a:srgbClr val="0F172A"/>
                </a:solidFill>
                <a:latin typeface="Calibri" pitchFamily="34" charset="0"/>
                <a:ea typeface="Calibri" pitchFamily="34" charset="-122"/>
                <a:cs typeface="Calibri" pitchFamily="34" charset="-120"/>
              </a:rPr>
              <a:t>Reject</a:t>
            </a:r>
            <a:endParaRPr lang="en-US" sz="1200" dirty="0"/>
          </a:p>
        </p:txBody>
      </p:sp>
      <p:sp>
        <p:nvSpPr>
          <p:cNvPr id="9" name="a3f_box8"/>
          <p:cNvSpPr txBox="1"/>
          <p:nvPr/>
        </p:nvSpPr>
        <p:spPr>
          <a:xfrm>
            <a:off x="457200" y="2286000"/>
            <a:ext cx="1508760" cy="457200"/>
          </a:xfrm>
          <a:prstGeom prst="roundRect">
            <a:avLst>
              <a:gd name="adj" fmla="val 10000"/>
            </a:avLst>
          </a:prstGeom>
          <a:solidFill>
            <a:srgbClr val="E2E8F0"/>
          </a:solidFill>
          <a:ln w="12700">
            <a:solidFill>
              <a:srgbClr val="E2E8F0"/>
            </a:solidFill>
            <a:prstDash val="solid"/>
          </a:ln>
        </p:spPr>
        <p:txBody>
          <a:bodyPr wrap="square" lIns="0" tIns="0" rIns="0" bIns="0" rtlCol="0" anchor="ctr"/>
          <a:lstStyle/>
          <a:p>
            <a:pPr marL="0" indent="0" algn="ctr">
              <a:buNone/>
            </a:pPr>
            <a:r>
              <a:rPr lang="en-US" sz="1200" b="1" dirty="0">
                <a:solidFill>
                  <a:srgbClr val="0F172A"/>
                </a:solidFill>
                <a:latin typeface="Courier New" pitchFamily="34" charset="0"/>
                <a:ea typeface="Courier New" pitchFamily="34" charset="-122"/>
                <a:cs typeface="Courier New" pitchFamily="34" charset="-120"/>
              </a:rPr>
              <a:t>RESTRICT</a:t>
            </a:r>
            <a:endParaRPr lang="en-US" sz="1200" dirty="0"/>
          </a:p>
        </p:txBody>
      </p:sp>
      <p:sp>
        <p:nvSpPr>
          <p:cNvPr id="10" name="a3wd100_box9"/>
          <p:cNvSpPr txBox="1"/>
          <p:nvPr/>
        </p:nvSpPr>
        <p:spPr>
          <a:xfrm>
            <a:off x="2103120" y="2286000"/>
            <a:ext cx="3200400" cy="457200"/>
          </a:xfrm>
          <a:prstGeom prst="roundRect">
            <a:avLst>
              <a:gd name="adj" fmla="val 10000"/>
            </a:avLst>
          </a:prstGeom>
          <a:solidFill>
            <a:srgbClr val="FFFFFF"/>
          </a:solidFill>
          <a:ln w="12700">
            <a:solidFill>
              <a:srgbClr val="E2E8F0"/>
            </a:solidFill>
            <a:prstDash val="solid"/>
          </a:ln>
        </p:spPr>
        <p:txBody>
          <a:bodyPr wrap="square" lIns="0" tIns="0" rIns="0" bIns="0"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Reject immediately</a:t>
            </a:r>
            <a:endParaRPr lang="en-US" sz="1200" dirty="0"/>
          </a:p>
        </p:txBody>
      </p:sp>
      <p:sp>
        <p:nvSpPr>
          <p:cNvPr id="11" name="a3wd300_box10"/>
          <p:cNvSpPr txBox="1"/>
          <p:nvPr/>
        </p:nvSpPr>
        <p:spPr>
          <a:xfrm>
            <a:off x="5440680" y="2286000"/>
            <a:ext cx="3246120" cy="457200"/>
          </a:xfrm>
          <a:prstGeom prst="roundRect">
            <a:avLst>
              <a:gd name="adj" fmla="val 10000"/>
            </a:avLst>
          </a:prstGeom>
          <a:solidFill>
            <a:srgbClr val="EDE9FE"/>
          </a:solidFill>
          <a:ln w="12700">
            <a:solidFill>
              <a:srgbClr val="EDE9FE"/>
            </a:solidFill>
            <a:prstDash val="solid"/>
          </a:ln>
        </p:spPr>
        <p:txBody>
          <a:bodyPr wrap="square" lIns="0" tIns="0" rIns="0" bIns="0" rtlCol="0" anchor="ctr"/>
          <a:lstStyle/>
          <a:p>
            <a:pPr marL="0" indent="0" algn="ctr">
              <a:buNone/>
            </a:pPr>
            <a:r>
              <a:rPr lang="en-US" sz="1200" dirty="0">
                <a:solidFill>
                  <a:srgbClr val="0F172A"/>
                </a:solidFill>
                <a:latin typeface="Calibri" pitchFamily="34" charset="0"/>
                <a:ea typeface="Calibri" pitchFamily="34" charset="-122"/>
                <a:cs typeface="Calibri" pitchFamily="34" charset="-120"/>
              </a:rPr>
              <a:t>Reject</a:t>
            </a:r>
            <a:endParaRPr lang="en-US" sz="1200" dirty="0"/>
          </a:p>
        </p:txBody>
      </p:sp>
      <p:sp>
        <p:nvSpPr>
          <p:cNvPr id="12" name="a4f_box11"/>
          <p:cNvSpPr txBox="1"/>
          <p:nvPr/>
        </p:nvSpPr>
        <p:spPr>
          <a:xfrm>
            <a:off x="457200" y="2816352"/>
            <a:ext cx="1508760" cy="457200"/>
          </a:xfrm>
          <a:prstGeom prst="roundRect">
            <a:avLst>
              <a:gd name="adj" fmla="val 10000"/>
            </a:avLst>
          </a:prstGeom>
          <a:solidFill>
            <a:srgbClr val="E2E8F0"/>
          </a:solidFill>
          <a:ln w="12700">
            <a:solidFill>
              <a:srgbClr val="E2E8F0"/>
            </a:solidFill>
            <a:prstDash val="solid"/>
          </a:ln>
        </p:spPr>
        <p:txBody>
          <a:bodyPr wrap="square" lIns="0" tIns="0" rIns="0" bIns="0" rtlCol="0" anchor="ctr"/>
          <a:lstStyle/>
          <a:p>
            <a:pPr marL="0" indent="0" algn="ctr">
              <a:buNone/>
            </a:pPr>
            <a:r>
              <a:rPr lang="en-US" sz="1200" b="1" dirty="0">
                <a:solidFill>
                  <a:srgbClr val="DC2626"/>
                </a:solidFill>
                <a:latin typeface="Courier New" pitchFamily="34" charset="0"/>
                <a:ea typeface="Courier New" pitchFamily="34" charset="-122"/>
                <a:cs typeface="Courier New" pitchFamily="34" charset="-120"/>
              </a:rPr>
              <a:t>CASCADE</a:t>
            </a:r>
            <a:endParaRPr lang="en-US" sz="1200" dirty="0"/>
          </a:p>
        </p:txBody>
      </p:sp>
      <p:sp>
        <p:nvSpPr>
          <p:cNvPr id="13" name="a4wd100_box12"/>
          <p:cNvSpPr txBox="1"/>
          <p:nvPr/>
        </p:nvSpPr>
        <p:spPr>
          <a:xfrm>
            <a:off x="2103120" y="2816352"/>
            <a:ext cx="3200400" cy="457200"/>
          </a:xfrm>
          <a:prstGeom prst="roundRect">
            <a:avLst>
              <a:gd name="adj" fmla="val 10000"/>
            </a:avLst>
          </a:prstGeom>
          <a:solidFill>
            <a:srgbClr val="FFFFFF"/>
          </a:solidFill>
          <a:ln w="12700">
            <a:solidFill>
              <a:srgbClr val="E2E8F0"/>
            </a:solidFill>
            <a:prstDash val="solid"/>
          </a:ln>
        </p:spPr>
        <p:txBody>
          <a:bodyPr wrap="square" lIns="0" tIns="0" rIns="0" bIns="0"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Delete the child rows too</a:t>
            </a:r>
            <a:endParaRPr lang="en-US" sz="1200" dirty="0"/>
          </a:p>
        </p:txBody>
      </p:sp>
      <p:sp>
        <p:nvSpPr>
          <p:cNvPr id="14" name="a4wd300_box13"/>
          <p:cNvSpPr txBox="1"/>
          <p:nvPr/>
        </p:nvSpPr>
        <p:spPr>
          <a:xfrm>
            <a:off x="5440680" y="2816352"/>
            <a:ext cx="3246120" cy="457200"/>
          </a:xfrm>
          <a:prstGeom prst="roundRect">
            <a:avLst>
              <a:gd name="adj" fmla="val 10000"/>
            </a:avLst>
          </a:prstGeom>
          <a:solidFill>
            <a:srgbClr val="EDE9FE"/>
          </a:solidFill>
          <a:ln w="12700">
            <a:solidFill>
              <a:srgbClr val="EDE9FE"/>
            </a:solidFill>
            <a:prstDash val="solid"/>
          </a:ln>
        </p:spPr>
        <p:txBody>
          <a:bodyPr wrap="square" lIns="0" tIns="0" rIns="0" bIns="0" rtlCol="0" anchor="ctr"/>
          <a:lstStyle/>
          <a:p>
            <a:pPr marL="0" indent="0" algn="ctr">
              <a:buNone/>
            </a:pPr>
            <a:r>
              <a:rPr lang="en-US" sz="1200" dirty="0">
                <a:solidFill>
                  <a:srgbClr val="0F172A"/>
                </a:solidFill>
                <a:latin typeface="Calibri" pitchFamily="34" charset="0"/>
                <a:ea typeface="Calibri" pitchFamily="34" charset="-122"/>
                <a:cs typeface="Calibri" pitchFamily="34" charset="-120"/>
              </a:rPr>
              <a:t>Update the child rows too</a:t>
            </a:r>
            <a:endParaRPr lang="en-US" sz="1200" dirty="0"/>
          </a:p>
        </p:txBody>
      </p:sp>
      <p:sp>
        <p:nvSpPr>
          <p:cNvPr id="15" name="a5f_box14"/>
          <p:cNvSpPr txBox="1"/>
          <p:nvPr/>
        </p:nvSpPr>
        <p:spPr>
          <a:xfrm>
            <a:off x="457200" y="3346704"/>
            <a:ext cx="1508760" cy="457200"/>
          </a:xfrm>
          <a:prstGeom prst="roundRect">
            <a:avLst>
              <a:gd name="adj" fmla="val 10000"/>
            </a:avLst>
          </a:prstGeom>
          <a:solidFill>
            <a:srgbClr val="E2E8F0"/>
          </a:solidFill>
          <a:ln w="12700">
            <a:solidFill>
              <a:srgbClr val="E2E8F0"/>
            </a:solidFill>
            <a:prstDash val="solid"/>
          </a:ln>
        </p:spPr>
        <p:txBody>
          <a:bodyPr wrap="square" lIns="0" tIns="0" rIns="0" bIns="0" rtlCol="0" anchor="ctr"/>
          <a:lstStyle/>
          <a:p>
            <a:pPr marL="0" indent="0" algn="ctr">
              <a:buNone/>
            </a:pPr>
            <a:r>
              <a:rPr lang="en-US" sz="1200" b="1" dirty="0">
                <a:solidFill>
                  <a:srgbClr val="0F172A"/>
                </a:solidFill>
                <a:latin typeface="Courier New" pitchFamily="34" charset="0"/>
                <a:ea typeface="Courier New" pitchFamily="34" charset="-122"/>
                <a:cs typeface="Courier New" pitchFamily="34" charset="-120"/>
              </a:rPr>
              <a:t>SET NULL</a:t>
            </a:r>
            <a:endParaRPr lang="en-US" sz="1200" dirty="0"/>
          </a:p>
        </p:txBody>
      </p:sp>
      <p:sp>
        <p:nvSpPr>
          <p:cNvPr id="16" name="a5wd100_box15"/>
          <p:cNvSpPr txBox="1"/>
          <p:nvPr/>
        </p:nvSpPr>
        <p:spPr>
          <a:xfrm>
            <a:off x="2103120" y="3346704"/>
            <a:ext cx="3200400" cy="457200"/>
          </a:xfrm>
          <a:prstGeom prst="roundRect">
            <a:avLst>
              <a:gd name="adj" fmla="val 10000"/>
            </a:avLst>
          </a:prstGeom>
          <a:solidFill>
            <a:srgbClr val="FFFFFF"/>
          </a:solidFill>
          <a:ln w="12700">
            <a:solidFill>
              <a:srgbClr val="E2E8F0"/>
            </a:solidFill>
            <a:prstDash val="solid"/>
          </a:ln>
        </p:spPr>
        <p:txBody>
          <a:bodyPr wrap="square" lIns="0" tIns="0" rIns="0" bIns="0"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Set the child's FK to NULL</a:t>
            </a:r>
            <a:endParaRPr lang="en-US" sz="1200" dirty="0"/>
          </a:p>
        </p:txBody>
      </p:sp>
      <p:sp>
        <p:nvSpPr>
          <p:cNvPr id="17" name="a5wd300_box16"/>
          <p:cNvSpPr txBox="1"/>
          <p:nvPr/>
        </p:nvSpPr>
        <p:spPr>
          <a:xfrm>
            <a:off x="5440680" y="3346704"/>
            <a:ext cx="3246120" cy="457200"/>
          </a:xfrm>
          <a:prstGeom prst="roundRect">
            <a:avLst>
              <a:gd name="adj" fmla="val 10000"/>
            </a:avLst>
          </a:prstGeom>
          <a:solidFill>
            <a:srgbClr val="EDE9FE"/>
          </a:solidFill>
          <a:ln w="12700">
            <a:solidFill>
              <a:srgbClr val="EDE9FE"/>
            </a:solidFill>
            <a:prstDash val="solid"/>
          </a:ln>
        </p:spPr>
        <p:txBody>
          <a:bodyPr wrap="square" lIns="0" tIns="0" rIns="0" bIns="0" rtlCol="0" anchor="ctr"/>
          <a:lstStyle/>
          <a:p>
            <a:pPr marL="0" indent="0" algn="ctr">
              <a:buNone/>
            </a:pPr>
            <a:r>
              <a:rPr lang="en-US" sz="1200" dirty="0">
                <a:solidFill>
                  <a:srgbClr val="0F172A"/>
                </a:solidFill>
                <a:latin typeface="Calibri" pitchFamily="34" charset="0"/>
                <a:ea typeface="Calibri" pitchFamily="34" charset="-122"/>
                <a:cs typeface="Calibri" pitchFamily="34" charset="-120"/>
              </a:rPr>
              <a:t>Same</a:t>
            </a:r>
            <a:endParaRPr lang="en-US" sz="1200" dirty="0"/>
          </a:p>
        </p:txBody>
      </p:sp>
      <p:sp>
        <p:nvSpPr>
          <p:cNvPr id="18" name="a6f_box17"/>
          <p:cNvSpPr txBox="1"/>
          <p:nvPr/>
        </p:nvSpPr>
        <p:spPr>
          <a:xfrm>
            <a:off x="457200" y="3877056"/>
            <a:ext cx="1508760" cy="457200"/>
          </a:xfrm>
          <a:prstGeom prst="roundRect">
            <a:avLst>
              <a:gd name="adj" fmla="val 10000"/>
            </a:avLst>
          </a:prstGeom>
          <a:solidFill>
            <a:srgbClr val="E2E8F0"/>
          </a:solidFill>
          <a:ln w="12700">
            <a:solidFill>
              <a:srgbClr val="E2E8F0"/>
            </a:solidFill>
            <a:prstDash val="solid"/>
          </a:ln>
        </p:spPr>
        <p:txBody>
          <a:bodyPr wrap="square" lIns="0" tIns="0" rIns="0" bIns="0" rtlCol="0" anchor="ctr"/>
          <a:lstStyle/>
          <a:p>
            <a:pPr marL="0" indent="0" algn="ctr">
              <a:buNone/>
            </a:pPr>
            <a:r>
              <a:rPr lang="en-US" sz="1200" b="1" dirty="0">
                <a:solidFill>
                  <a:srgbClr val="0F172A"/>
                </a:solidFill>
                <a:latin typeface="Courier New" pitchFamily="34" charset="0"/>
                <a:ea typeface="Courier New" pitchFamily="34" charset="-122"/>
                <a:cs typeface="Courier New" pitchFamily="34" charset="-120"/>
              </a:rPr>
              <a:t>SET DEFAULT</a:t>
            </a:r>
            <a:endParaRPr lang="en-US" sz="1200" dirty="0"/>
          </a:p>
        </p:txBody>
      </p:sp>
      <p:sp>
        <p:nvSpPr>
          <p:cNvPr id="19" name="a6wd100_box18"/>
          <p:cNvSpPr txBox="1"/>
          <p:nvPr/>
        </p:nvSpPr>
        <p:spPr>
          <a:xfrm>
            <a:off x="2103120" y="3877056"/>
            <a:ext cx="3200400" cy="457200"/>
          </a:xfrm>
          <a:prstGeom prst="roundRect">
            <a:avLst>
              <a:gd name="adj" fmla="val 10000"/>
            </a:avLst>
          </a:prstGeom>
          <a:solidFill>
            <a:srgbClr val="FFFFFF"/>
          </a:solidFill>
          <a:ln w="12700">
            <a:solidFill>
              <a:srgbClr val="E2E8F0"/>
            </a:solidFill>
            <a:prstDash val="solid"/>
          </a:ln>
        </p:spPr>
        <p:txBody>
          <a:bodyPr wrap="square" lIns="0" tIns="0" rIns="0" bIns="0"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Set the child's FK to its default</a:t>
            </a:r>
            <a:endParaRPr lang="en-US" sz="1200" dirty="0"/>
          </a:p>
        </p:txBody>
      </p:sp>
      <p:sp>
        <p:nvSpPr>
          <p:cNvPr id="20" name="a6wd300_box19"/>
          <p:cNvSpPr txBox="1"/>
          <p:nvPr/>
        </p:nvSpPr>
        <p:spPr>
          <a:xfrm>
            <a:off x="5440680" y="3877056"/>
            <a:ext cx="3246120" cy="457200"/>
          </a:xfrm>
          <a:prstGeom prst="roundRect">
            <a:avLst>
              <a:gd name="adj" fmla="val 10000"/>
            </a:avLst>
          </a:prstGeom>
          <a:solidFill>
            <a:srgbClr val="EDE9FE"/>
          </a:solidFill>
          <a:ln w="12700">
            <a:solidFill>
              <a:srgbClr val="EDE9FE"/>
            </a:solidFill>
            <a:prstDash val="solid"/>
          </a:ln>
        </p:spPr>
        <p:txBody>
          <a:bodyPr wrap="square" lIns="0" tIns="0" rIns="0" bIns="0" rtlCol="0" anchor="ctr"/>
          <a:lstStyle/>
          <a:p>
            <a:pPr marL="0" indent="0" algn="ctr">
              <a:buNone/>
            </a:pPr>
            <a:r>
              <a:rPr lang="en-US" sz="1200" dirty="0">
                <a:solidFill>
                  <a:srgbClr val="0F172A"/>
                </a:solidFill>
                <a:latin typeface="Calibri" pitchFamily="34" charset="0"/>
                <a:ea typeface="Calibri" pitchFamily="34" charset="-122"/>
                <a:cs typeface="Calibri" pitchFamily="34" charset="-120"/>
              </a:rPr>
              <a:t>Same</a:t>
            </a:r>
            <a:endParaRPr lang="en-US" sz="1200" dirty="0"/>
          </a:p>
        </p:txBody>
      </p:sp>
      <p:sp>
        <p:nvSpPr>
          <p:cNvPr id="21" name="a7u_rt20"/>
          <p:cNvSpPr txBox="1"/>
          <p:nvPr/>
        </p:nvSpPr>
        <p:spPr>
          <a:xfrm>
            <a:off x="457200" y="4480560"/>
            <a:ext cx="8229600" cy="320040"/>
          </a:xfrm>
          <a:prstGeom prst="rect">
            <a:avLst/>
          </a:prstGeom>
          <a:noFill/>
          <a:ln/>
        </p:spPr>
        <p:txBody>
          <a:bodyPr wrap="square" lIns="0" tIns="0" rIns="0" bIns="0" rtlCol="0" anchor="ctr"/>
          <a:lstStyle/>
          <a:p>
            <a:pPr marL="0" indent="0">
              <a:buNone/>
            </a:pPr>
            <a:r>
              <a:rPr lang="en-US" sz="1300" b="1" dirty="0">
                <a:solidFill>
                  <a:srgbClr val="6D28D9"/>
                </a:solidFill>
                <a:latin typeface="Calibri" pitchFamily="34" charset="0"/>
                <a:ea typeface="Calibri" pitchFamily="34" charset="-122"/>
                <a:cs typeface="Calibri" pitchFamily="34" charset="-120"/>
              </a:rPr>
              <a:t>NO ACTION and RESTRICT differ only in timing — in everyday use they behave identically.</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22" presetClass="entr" presetSubtype="8" fill="hold" grpId="0" nodeType="withEffect">
                                  <p:stCondLst>
                                    <p:cond delay="10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8" dur="500"/>
                                        <p:tgtEl>
                                          <p:spTgt spid="7"/>
                                        </p:tgtEl>
                                      </p:cBhvr>
                                    </p:animEffect>
                                  </p:childTnLst>
                                </p:cTn>
                              </p:par>
                              <p:par>
                                <p:cTn id="19" presetID="22" presetClass="entr" presetSubtype="8" fill="hold" grpId="0" nodeType="withEffect">
                                  <p:stCondLst>
                                    <p:cond delay="30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22" presetClass="entr" presetSubtype="8" fill="hold" grpId="0" nodeType="withEffect">
                                  <p:stCondLst>
                                    <p:cond delay="100"/>
                                  </p:stCondLst>
                                  <p:childTnLst>
                                    <p:set>
                                      <p:cBhvr>
                                        <p:cTn id="28" dur="1" fill="hold">
                                          <p:stCondLst>
                                            <p:cond delay="0"/>
                                          </p:stCondLst>
                                        </p:cTn>
                                        <p:tgtEl>
                                          <p:spTgt spid="10"/>
                                        </p:tgtEl>
                                        <p:attrNameLst>
                                          <p:attrName>style.visibility</p:attrName>
                                        </p:attrNameLst>
                                      </p:cBhvr>
                                      <p:to>
                                        <p:strVal val="visible"/>
                                      </p:to>
                                    </p:set>
                                    <p:animEffect transition="in" filter="wipe(left)">
                                      <p:cBhvr>
                                        <p:cTn id="29" dur="500"/>
                                        <p:tgtEl>
                                          <p:spTgt spid="10"/>
                                        </p:tgtEl>
                                      </p:cBhvr>
                                    </p:animEffect>
                                  </p:childTnLst>
                                </p:cTn>
                              </p:par>
                              <p:par>
                                <p:cTn id="30" presetID="22" presetClass="entr" presetSubtype="8" fill="hold" grpId="0" nodeType="withEffect">
                                  <p:stCondLst>
                                    <p:cond delay="30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22" presetClass="entr" presetSubtype="8" fill="hold" grpId="0" nodeType="withEffect">
                                  <p:stCondLst>
                                    <p:cond delay="100"/>
                                  </p:stCondLst>
                                  <p:childTnLst>
                                    <p:set>
                                      <p:cBhvr>
                                        <p:cTn id="39" dur="1" fill="hold">
                                          <p:stCondLst>
                                            <p:cond delay="0"/>
                                          </p:stCondLst>
                                        </p:cTn>
                                        <p:tgtEl>
                                          <p:spTgt spid="13"/>
                                        </p:tgtEl>
                                        <p:attrNameLst>
                                          <p:attrName>style.visibility</p:attrName>
                                        </p:attrNameLst>
                                      </p:cBhvr>
                                      <p:to>
                                        <p:strVal val="visible"/>
                                      </p:to>
                                    </p:set>
                                    <p:animEffect transition="in" filter="wipe(left)">
                                      <p:cBhvr>
                                        <p:cTn id="40" dur="500"/>
                                        <p:tgtEl>
                                          <p:spTgt spid="13"/>
                                        </p:tgtEl>
                                      </p:cBhvr>
                                    </p:animEffect>
                                  </p:childTnLst>
                                </p:cTn>
                              </p:par>
                              <p:par>
                                <p:cTn id="41" presetID="22" presetClass="entr" presetSubtype="8" fill="hold" grpId="0" nodeType="withEffect">
                                  <p:stCondLst>
                                    <p:cond delay="300"/>
                                  </p:stCondLst>
                                  <p:childTnLst>
                                    <p:set>
                                      <p:cBhvr>
                                        <p:cTn id="42" dur="1" fill="hold">
                                          <p:stCondLst>
                                            <p:cond delay="0"/>
                                          </p:stCondLst>
                                        </p:cTn>
                                        <p:tgtEl>
                                          <p:spTgt spid="14"/>
                                        </p:tgtEl>
                                        <p:attrNameLst>
                                          <p:attrName>style.visibility</p:attrName>
                                        </p:attrNameLst>
                                      </p:cBhvr>
                                      <p:to>
                                        <p:strVal val="visible"/>
                                      </p:to>
                                    </p:set>
                                    <p:animEffect transition="in" filter="wipe(left)">
                                      <p:cBhvr>
                                        <p:cTn id="43" dur="500"/>
                                        <p:tgtEl>
                                          <p:spTgt spid="14"/>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500"/>
                                        <p:tgtEl>
                                          <p:spTgt spid="15"/>
                                        </p:tgtEl>
                                      </p:cBhvr>
                                    </p:animEffect>
                                  </p:childTnLst>
                                </p:cTn>
                              </p:par>
                              <p:par>
                                <p:cTn id="49" presetID="22" presetClass="entr" presetSubtype="8" fill="hold" grpId="0" nodeType="withEffect">
                                  <p:stCondLst>
                                    <p:cond delay="100"/>
                                  </p:stCondLst>
                                  <p:childTnLst>
                                    <p:set>
                                      <p:cBhvr>
                                        <p:cTn id="50" dur="1" fill="hold">
                                          <p:stCondLst>
                                            <p:cond delay="0"/>
                                          </p:stCondLst>
                                        </p:cTn>
                                        <p:tgtEl>
                                          <p:spTgt spid="16"/>
                                        </p:tgtEl>
                                        <p:attrNameLst>
                                          <p:attrName>style.visibility</p:attrName>
                                        </p:attrNameLst>
                                      </p:cBhvr>
                                      <p:to>
                                        <p:strVal val="visible"/>
                                      </p:to>
                                    </p:set>
                                    <p:animEffect transition="in" filter="wipe(left)">
                                      <p:cBhvr>
                                        <p:cTn id="51" dur="500"/>
                                        <p:tgtEl>
                                          <p:spTgt spid="16"/>
                                        </p:tgtEl>
                                      </p:cBhvr>
                                    </p:animEffect>
                                  </p:childTnLst>
                                </p:cTn>
                              </p:par>
                              <p:par>
                                <p:cTn id="52" presetID="22" presetClass="entr" presetSubtype="8" fill="hold" grpId="0" nodeType="withEffect">
                                  <p:stCondLst>
                                    <p:cond delay="300"/>
                                  </p:stCondLst>
                                  <p:childTnLst>
                                    <p:set>
                                      <p:cBhvr>
                                        <p:cTn id="53" dur="1" fill="hold">
                                          <p:stCondLst>
                                            <p:cond delay="0"/>
                                          </p:stCondLst>
                                        </p:cTn>
                                        <p:tgtEl>
                                          <p:spTgt spid="17"/>
                                        </p:tgtEl>
                                        <p:attrNameLst>
                                          <p:attrName>style.visibility</p:attrName>
                                        </p:attrNameLst>
                                      </p:cBhvr>
                                      <p:to>
                                        <p:strVal val="visible"/>
                                      </p:to>
                                    </p:set>
                                    <p:animEffect transition="in" filter="wipe(left)">
                                      <p:cBhvr>
                                        <p:cTn id="54" dur="500"/>
                                        <p:tgtEl>
                                          <p:spTgt spid="17"/>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500"/>
                                        <p:tgtEl>
                                          <p:spTgt spid="18"/>
                                        </p:tgtEl>
                                      </p:cBhvr>
                                    </p:animEffect>
                                  </p:childTnLst>
                                </p:cTn>
                              </p:par>
                              <p:par>
                                <p:cTn id="60" presetID="22" presetClass="entr" presetSubtype="8" fill="hold" grpId="0" nodeType="withEffect">
                                  <p:stCondLst>
                                    <p:cond delay="100"/>
                                  </p:stCondLst>
                                  <p:childTnLst>
                                    <p:set>
                                      <p:cBhvr>
                                        <p:cTn id="61" dur="1" fill="hold">
                                          <p:stCondLst>
                                            <p:cond delay="0"/>
                                          </p:stCondLst>
                                        </p:cTn>
                                        <p:tgtEl>
                                          <p:spTgt spid="19"/>
                                        </p:tgtEl>
                                        <p:attrNameLst>
                                          <p:attrName>style.visibility</p:attrName>
                                        </p:attrNameLst>
                                      </p:cBhvr>
                                      <p:to>
                                        <p:strVal val="visible"/>
                                      </p:to>
                                    </p:set>
                                    <p:animEffect transition="in" filter="wipe(left)">
                                      <p:cBhvr>
                                        <p:cTn id="62" dur="500"/>
                                        <p:tgtEl>
                                          <p:spTgt spid="19"/>
                                        </p:tgtEl>
                                      </p:cBhvr>
                                    </p:animEffect>
                                  </p:childTnLst>
                                </p:cTn>
                              </p:par>
                              <p:par>
                                <p:cTn id="63" presetID="22" presetClass="entr" presetSubtype="8" fill="hold" grpId="0" nodeType="withEffect">
                                  <p:stCondLst>
                                    <p:cond delay="300"/>
                                  </p:stCondLst>
                                  <p:childTnLst>
                                    <p:set>
                                      <p:cBhvr>
                                        <p:cTn id="64" dur="1" fill="hold">
                                          <p:stCondLst>
                                            <p:cond delay="0"/>
                                          </p:stCondLst>
                                        </p:cTn>
                                        <p:tgtEl>
                                          <p:spTgt spid="20"/>
                                        </p:tgtEl>
                                        <p:attrNameLst>
                                          <p:attrName>style.visibility</p:attrName>
                                        </p:attrNameLst>
                                      </p:cBhvr>
                                      <p:to>
                                        <p:strVal val="visible"/>
                                      </p:to>
                                    </p:set>
                                    <p:animEffect transition="in" filter="wipe(left)">
                                      <p:cBhvr>
                                        <p:cTn id="65" dur="500"/>
                                        <p:tgtEl>
                                          <p:spTgt spid="20"/>
                                        </p:tgtEl>
                                      </p:cBhvr>
                                    </p:animEffect>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grpId="0" nodeType="clickEffect">
                                  <p:stCondLst>
                                    <p:cond delay="0"/>
                                  </p:stCondLst>
                                  <p:childTnLst>
                                    <p:set>
                                      <p:cBhvr>
                                        <p:cTn id="69" dur="1" fill="hold">
                                          <p:stCondLst>
                                            <p:cond delay="0"/>
                                          </p:stCondLst>
                                        </p:cTn>
                                        <p:tgtEl>
                                          <p:spTgt spid="21"/>
                                        </p:tgtEl>
                                        <p:attrNameLst>
                                          <p:attrName>style.visibility</p:attrName>
                                        </p:attrNameLst>
                                      </p:cBhvr>
                                      <p:to>
                                        <p:strVal val="visible"/>
                                      </p:to>
                                    </p:set>
                                    <p:anim calcmode="lin" valueType="num">
                                      <p:cBhvr additive="base">
                                        <p:cTn id="70" dur="500" fill="hold"/>
                                        <p:tgtEl>
                                          <p:spTgt spid="21"/>
                                        </p:tgtEl>
                                        <p:attrNameLst>
                                          <p:attrName>ppt_x</p:attrName>
                                        </p:attrNameLst>
                                      </p:cBhvr>
                                      <p:tavLst>
                                        <p:tav tm="0">
                                          <p:val>
                                            <p:strVal val="#ppt_x"/>
                                          </p:val>
                                        </p:tav>
                                        <p:tav tm="100000">
                                          <p:val>
                                            <p:strVal val="#ppt_x"/>
                                          </p:val>
                                        </p:tav>
                                      </p:tavLst>
                                    </p:anim>
                                    <p:anim calcmode="lin" valueType="num">
                                      <p:cBhvr additive="base">
                                        <p:cTn id="71" dur="500" fill="hold"/>
                                        <p:tgtEl>
                                          <p:spTgt spid="21"/>
                                        </p:tgtEl>
                                        <p:attrNameLst>
                                          <p:attrName>ppt_y</p:attrName>
                                        </p:attrNameLst>
                                      </p:cBhvr>
                                      <p:tavLst>
                                        <p:tav tm="0">
                                          <p:val>
                                            <p:strVal val="#ppt_y+0.1"/>
                                          </p:val>
                                        </p:tav>
                                        <p:tav tm="100000">
                                          <p:val>
                                            <p:strVal val="#ppt_y"/>
                                          </p:val>
                                        </p:tav>
                                      </p:tavLst>
                                    </p:anim>
                                    <p:animEffect transition="in" filter="fade">
                                      <p:cBhvr>
                                        <p:cTn id="7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1"/>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Under the Hood: Deleting a Parent</a:t>
            </a:r>
            <a:endParaRPr lang="en-US" sz="2800" dirty="0"/>
          </a:p>
        </p:txBody>
      </p:sp>
      <p:sp>
        <p:nvSpPr>
          <p:cNvPr id="3" name="Text 2"/>
          <p:cNvSpPr txBox="1"/>
          <p:nvPr/>
        </p:nvSpPr>
        <p:spPr>
          <a:xfrm>
            <a:off x="457200" y="749808"/>
            <a:ext cx="8229600" cy="320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DELETE FROM loan WHERE loan_id = 5003 — the same statement under three rules</a:t>
            </a:r>
            <a:endParaRPr lang="en-US" sz="1300" dirty="0"/>
          </a:p>
        </p:txBody>
      </p:sp>
      <p:sp>
        <p:nvSpPr>
          <p:cNvPr id="4" name="a1u_h3"/>
          <p:cNvSpPr txBox="1"/>
          <p:nvPr/>
        </p:nvSpPr>
        <p:spPr>
          <a:xfrm>
            <a:off x="457200" y="1234440"/>
            <a:ext cx="2606040" cy="347472"/>
          </a:xfrm>
          <a:prstGeom prst="roundRect">
            <a:avLst>
              <a:gd name="adj" fmla="val 50000"/>
            </a:avLst>
          </a:prstGeom>
          <a:solidFill>
            <a:srgbClr val="B45309"/>
          </a:solidFill>
          <a:ln w="12700">
            <a:solidFill>
              <a:srgbClr val="B45309"/>
            </a:solidFill>
            <a:prstDash val="solid"/>
          </a:ln>
        </p:spPr>
        <p:txBody>
          <a:bodyPr wrap="square" lIns="0" tIns="0" rIns="0" bIns="0" rtlCol="0" anchor="ctr"/>
          <a:lstStyle/>
          <a:p>
            <a:pPr marL="0" indent="0" algn="ctr">
              <a:buNone/>
            </a:pPr>
            <a:r>
              <a:rPr lang="en-US" sz="1150" b="1" dirty="0">
                <a:solidFill>
                  <a:srgbClr val="FFFFFF"/>
                </a:solidFill>
                <a:latin typeface="Courier New" pitchFamily="34" charset="0"/>
                <a:ea typeface="Courier New" pitchFamily="34" charset="-122"/>
                <a:cs typeface="Courier New" pitchFamily="34" charset="-120"/>
              </a:rPr>
              <a:t>ON DELETE RESTRICT</a:t>
            </a:r>
            <a:endParaRPr lang="en-US" sz="1150" dirty="0"/>
          </a:p>
        </p:txBody>
      </p:sp>
      <p:sp>
        <p:nvSpPr>
          <p:cNvPr id="5" name="a1f_cell4"/>
          <p:cNvSpPr txBox="1"/>
          <p:nvPr/>
        </p:nvSpPr>
        <p:spPr>
          <a:xfrm>
            <a:off x="502920" y="1691640"/>
            <a:ext cx="777240" cy="256032"/>
          </a:xfrm>
          <a:prstGeom prst="rect">
            <a:avLst/>
          </a:prstGeom>
          <a:solidFill>
            <a:srgbClr val="475569"/>
          </a:solidFill>
          <a:ln w="9525">
            <a:solidFill>
              <a:srgbClr val="47556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loan_id</a:t>
            </a:r>
            <a:endParaRPr lang="en-US" sz="1100" dirty="0"/>
          </a:p>
        </p:txBody>
      </p:sp>
      <p:sp>
        <p:nvSpPr>
          <p:cNvPr id="6" name="a1wd200_cell5"/>
          <p:cNvSpPr txBox="1"/>
          <p:nvPr/>
        </p:nvSpPr>
        <p:spPr>
          <a:xfrm>
            <a:off x="502920" y="1947672"/>
            <a:ext cx="77724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5003</a:t>
            </a:r>
            <a:endParaRPr lang="en-US" sz="1100" dirty="0"/>
          </a:p>
        </p:txBody>
      </p:sp>
      <p:sp>
        <p:nvSpPr>
          <p:cNvPr id="7" name="a1wd400_cell6"/>
          <p:cNvSpPr txBox="1"/>
          <p:nvPr/>
        </p:nvSpPr>
        <p:spPr>
          <a:xfrm>
            <a:off x="502920" y="2203704"/>
            <a:ext cx="77724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5003</a:t>
            </a:r>
            <a:endParaRPr lang="en-US" sz="1100" dirty="0"/>
          </a:p>
        </p:txBody>
      </p:sp>
      <p:sp>
        <p:nvSpPr>
          <p:cNvPr id="8" name="a1wd600_cell7"/>
          <p:cNvSpPr txBox="1"/>
          <p:nvPr/>
        </p:nvSpPr>
        <p:spPr>
          <a:xfrm>
            <a:off x="502920" y="2459736"/>
            <a:ext cx="77724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5003</a:t>
            </a:r>
            <a:endParaRPr lang="en-US" sz="1100" dirty="0"/>
          </a:p>
        </p:txBody>
      </p:sp>
      <p:sp>
        <p:nvSpPr>
          <p:cNvPr id="9" name="a1f_cell8"/>
          <p:cNvSpPr txBox="1"/>
          <p:nvPr/>
        </p:nvSpPr>
        <p:spPr>
          <a:xfrm>
            <a:off x="1280160" y="1691640"/>
            <a:ext cx="1005840" cy="256032"/>
          </a:xfrm>
          <a:prstGeom prst="rect">
            <a:avLst/>
          </a:prstGeom>
          <a:solidFill>
            <a:srgbClr val="475569"/>
          </a:solidFill>
          <a:ln w="9525">
            <a:solidFill>
              <a:srgbClr val="47556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installment_no</a:t>
            </a:r>
            <a:endParaRPr lang="en-US" sz="1100" dirty="0"/>
          </a:p>
        </p:txBody>
      </p:sp>
      <p:sp>
        <p:nvSpPr>
          <p:cNvPr id="10" name="a1wd200_cell9"/>
          <p:cNvSpPr txBox="1"/>
          <p:nvPr/>
        </p:nvSpPr>
        <p:spPr>
          <a:xfrm>
            <a:off x="1280160" y="1947672"/>
            <a:ext cx="100584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a:t>
            </a:r>
            <a:endParaRPr lang="en-US" sz="1100" dirty="0"/>
          </a:p>
        </p:txBody>
      </p:sp>
      <p:sp>
        <p:nvSpPr>
          <p:cNvPr id="11" name="a1wd400_cell10"/>
          <p:cNvSpPr txBox="1"/>
          <p:nvPr/>
        </p:nvSpPr>
        <p:spPr>
          <a:xfrm>
            <a:off x="1280160" y="2203704"/>
            <a:ext cx="100584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2</a:t>
            </a:r>
            <a:endParaRPr lang="en-US" sz="1100" dirty="0"/>
          </a:p>
        </p:txBody>
      </p:sp>
      <p:sp>
        <p:nvSpPr>
          <p:cNvPr id="12" name="a1wd600_cell11"/>
          <p:cNvSpPr txBox="1"/>
          <p:nvPr/>
        </p:nvSpPr>
        <p:spPr>
          <a:xfrm>
            <a:off x="1280160" y="2459736"/>
            <a:ext cx="100584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3</a:t>
            </a:r>
            <a:endParaRPr lang="en-US" sz="1100" dirty="0"/>
          </a:p>
        </p:txBody>
      </p:sp>
      <p:sp>
        <p:nvSpPr>
          <p:cNvPr id="13" name="a1f_cell12"/>
          <p:cNvSpPr txBox="1"/>
          <p:nvPr/>
        </p:nvSpPr>
        <p:spPr>
          <a:xfrm>
            <a:off x="2286000" y="1691640"/>
            <a:ext cx="731520" cy="256032"/>
          </a:xfrm>
          <a:prstGeom prst="rect">
            <a:avLst/>
          </a:prstGeom>
          <a:solidFill>
            <a:srgbClr val="475569"/>
          </a:solidFill>
          <a:ln w="9525">
            <a:solidFill>
              <a:srgbClr val="47556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amount</a:t>
            </a:r>
            <a:endParaRPr lang="en-US" sz="1100" dirty="0"/>
          </a:p>
        </p:txBody>
      </p:sp>
      <p:sp>
        <p:nvSpPr>
          <p:cNvPr id="14" name="a1wd200_cell13"/>
          <p:cNvSpPr txBox="1"/>
          <p:nvPr/>
        </p:nvSpPr>
        <p:spPr>
          <a:xfrm>
            <a:off x="2286000" y="1947672"/>
            <a:ext cx="73152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18500</a:t>
            </a:r>
            <a:endParaRPr lang="en-US" sz="1100" dirty="0"/>
          </a:p>
        </p:txBody>
      </p:sp>
      <p:sp>
        <p:nvSpPr>
          <p:cNvPr id="15" name="a1wd400_cell14"/>
          <p:cNvSpPr txBox="1"/>
          <p:nvPr/>
        </p:nvSpPr>
        <p:spPr>
          <a:xfrm>
            <a:off x="2286000" y="2203704"/>
            <a:ext cx="73152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18500</a:t>
            </a:r>
            <a:endParaRPr lang="en-US" sz="1100" dirty="0"/>
          </a:p>
        </p:txBody>
      </p:sp>
      <p:sp>
        <p:nvSpPr>
          <p:cNvPr id="16" name="a1wd600_cell15"/>
          <p:cNvSpPr txBox="1"/>
          <p:nvPr/>
        </p:nvSpPr>
        <p:spPr>
          <a:xfrm>
            <a:off x="2286000" y="2459736"/>
            <a:ext cx="73152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18500</a:t>
            </a:r>
            <a:endParaRPr lang="en-US" sz="1100" dirty="0"/>
          </a:p>
        </p:txBody>
      </p:sp>
      <p:sp>
        <p:nvSpPr>
          <p:cNvPr id="17" name="a1u_o16"/>
          <p:cNvSpPr txBox="1"/>
          <p:nvPr/>
        </p:nvSpPr>
        <p:spPr>
          <a:xfrm>
            <a:off x="457200" y="2788920"/>
            <a:ext cx="2606040" cy="594360"/>
          </a:xfrm>
          <a:prstGeom prst="rect">
            <a:avLst/>
          </a:prstGeom>
          <a:noFill/>
          <a:ln/>
        </p:spPr>
        <p:txBody>
          <a:bodyPr wrap="square" lIns="0" tIns="0" rIns="0" bIns="0" rtlCol="0" anchor="t"/>
          <a:lstStyle/>
          <a:p>
            <a:pPr marL="0" indent="0">
              <a:buNone/>
            </a:pPr>
            <a:r>
              <a:rPr lang="en-US" sz="1150" b="1" dirty="0">
                <a:solidFill>
                  <a:srgbClr val="B45309"/>
                </a:solidFill>
                <a:latin typeface="Calibri" pitchFamily="34" charset="0"/>
                <a:ea typeface="Calibri" pitchFamily="34" charset="-122"/>
                <a:cs typeface="Calibri" pitchFamily="34" charset="-120"/>
              </a:rPr>
              <a:t>Statement rejected. Loan and schedule both stay.</a:t>
            </a:r>
            <a:endParaRPr lang="en-US" sz="1150" dirty="0"/>
          </a:p>
        </p:txBody>
      </p:sp>
      <p:sp>
        <p:nvSpPr>
          <p:cNvPr id="18" name="a2u_h17"/>
          <p:cNvSpPr txBox="1"/>
          <p:nvPr/>
        </p:nvSpPr>
        <p:spPr>
          <a:xfrm>
            <a:off x="3268980" y="1234440"/>
            <a:ext cx="2606040" cy="347472"/>
          </a:xfrm>
          <a:prstGeom prst="roundRect">
            <a:avLst>
              <a:gd name="adj" fmla="val 50000"/>
            </a:avLst>
          </a:prstGeom>
          <a:solidFill>
            <a:srgbClr val="DC2626"/>
          </a:solidFill>
          <a:ln w="12700">
            <a:solidFill>
              <a:srgbClr val="DC2626"/>
            </a:solidFill>
            <a:prstDash val="solid"/>
          </a:ln>
        </p:spPr>
        <p:txBody>
          <a:bodyPr wrap="square" lIns="0" tIns="0" rIns="0" bIns="0" rtlCol="0" anchor="ctr"/>
          <a:lstStyle/>
          <a:p>
            <a:pPr marL="0" indent="0" algn="ctr">
              <a:buNone/>
            </a:pPr>
            <a:r>
              <a:rPr lang="en-US" sz="1150" b="1" dirty="0">
                <a:solidFill>
                  <a:srgbClr val="FFFFFF"/>
                </a:solidFill>
                <a:latin typeface="Courier New" pitchFamily="34" charset="0"/>
                <a:ea typeface="Courier New" pitchFamily="34" charset="-122"/>
                <a:cs typeface="Courier New" pitchFamily="34" charset="-120"/>
              </a:rPr>
              <a:t>ON DELETE CASCADE</a:t>
            </a:r>
            <a:endParaRPr lang="en-US" sz="1150" dirty="0"/>
          </a:p>
        </p:txBody>
      </p:sp>
      <p:sp>
        <p:nvSpPr>
          <p:cNvPr id="19" name="a2f_cell18"/>
          <p:cNvSpPr txBox="1"/>
          <p:nvPr/>
        </p:nvSpPr>
        <p:spPr>
          <a:xfrm>
            <a:off x="3314700" y="1691640"/>
            <a:ext cx="777240" cy="256032"/>
          </a:xfrm>
          <a:prstGeom prst="rect">
            <a:avLst/>
          </a:prstGeom>
          <a:solidFill>
            <a:srgbClr val="475569"/>
          </a:solidFill>
          <a:ln w="9525">
            <a:solidFill>
              <a:srgbClr val="47556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loan_id</a:t>
            </a:r>
            <a:endParaRPr lang="en-US" sz="1100" dirty="0"/>
          </a:p>
        </p:txBody>
      </p:sp>
      <p:sp>
        <p:nvSpPr>
          <p:cNvPr id="20" name="a2wd200_cell19"/>
          <p:cNvSpPr txBox="1"/>
          <p:nvPr/>
        </p:nvSpPr>
        <p:spPr>
          <a:xfrm>
            <a:off x="3314700" y="1947672"/>
            <a:ext cx="777240" cy="256032"/>
          </a:xfrm>
          <a:prstGeom prst="rect">
            <a:avLst/>
          </a:prstGeom>
          <a:solidFill>
            <a:srgbClr val="FEE2E2"/>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5003</a:t>
            </a:r>
            <a:endParaRPr lang="en-US" sz="1100" dirty="0"/>
          </a:p>
        </p:txBody>
      </p:sp>
      <p:sp>
        <p:nvSpPr>
          <p:cNvPr id="21" name="a2wd400_cell20"/>
          <p:cNvSpPr txBox="1"/>
          <p:nvPr/>
        </p:nvSpPr>
        <p:spPr>
          <a:xfrm>
            <a:off x="3314700" y="2203704"/>
            <a:ext cx="777240" cy="256032"/>
          </a:xfrm>
          <a:prstGeom prst="rect">
            <a:avLst/>
          </a:prstGeom>
          <a:solidFill>
            <a:srgbClr val="FEE2E2"/>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5003</a:t>
            </a:r>
            <a:endParaRPr lang="en-US" sz="1100" dirty="0"/>
          </a:p>
        </p:txBody>
      </p:sp>
      <p:sp>
        <p:nvSpPr>
          <p:cNvPr id="22" name="a2wd600_cell21"/>
          <p:cNvSpPr txBox="1"/>
          <p:nvPr/>
        </p:nvSpPr>
        <p:spPr>
          <a:xfrm>
            <a:off x="3314700" y="2459736"/>
            <a:ext cx="777240" cy="256032"/>
          </a:xfrm>
          <a:prstGeom prst="rect">
            <a:avLst/>
          </a:prstGeom>
          <a:solidFill>
            <a:srgbClr val="FEE2E2"/>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5003</a:t>
            </a:r>
            <a:endParaRPr lang="en-US" sz="1100" dirty="0"/>
          </a:p>
        </p:txBody>
      </p:sp>
      <p:sp>
        <p:nvSpPr>
          <p:cNvPr id="23" name="a2f_cell22"/>
          <p:cNvSpPr txBox="1"/>
          <p:nvPr/>
        </p:nvSpPr>
        <p:spPr>
          <a:xfrm>
            <a:off x="4091940" y="1691640"/>
            <a:ext cx="1005840" cy="256032"/>
          </a:xfrm>
          <a:prstGeom prst="rect">
            <a:avLst/>
          </a:prstGeom>
          <a:solidFill>
            <a:srgbClr val="475569"/>
          </a:solidFill>
          <a:ln w="9525">
            <a:solidFill>
              <a:srgbClr val="47556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installment_no</a:t>
            </a:r>
            <a:endParaRPr lang="en-US" sz="1100" dirty="0"/>
          </a:p>
        </p:txBody>
      </p:sp>
      <p:sp>
        <p:nvSpPr>
          <p:cNvPr id="24" name="a2wd200_cell23"/>
          <p:cNvSpPr txBox="1"/>
          <p:nvPr/>
        </p:nvSpPr>
        <p:spPr>
          <a:xfrm>
            <a:off x="4091940" y="1947672"/>
            <a:ext cx="1005840" cy="256032"/>
          </a:xfrm>
          <a:prstGeom prst="rect">
            <a:avLst/>
          </a:prstGeom>
          <a:solidFill>
            <a:srgbClr val="FEE2E2"/>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a:t>
            </a:r>
            <a:endParaRPr lang="en-US" sz="1100" dirty="0"/>
          </a:p>
        </p:txBody>
      </p:sp>
      <p:sp>
        <p:nvSpPr>
          <p:cNvPr id="25" name="a2wd400_cell24"/>
          <p:cNvSpPr txBox="1"/>
          <p:nvPr/>
        </p:nvSpPr>
        <p:spPr>
          <a:xfrm>
            <a:off x="4091940" y="2203704"/>
            <a:ext cx="1005840" cy="256032"/>
          </a:xfrm>
          <a:prstGeom prst="rect">
            <a:avLst/>
          </a:prstGeom>
          <a:solidFill>
            <a:srgbClr val="FEE2E2"/>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2</a:t>
            </a:r>
            <a:endParaRPr lang="en-US" sz="1100" dirty="0"/>
          </a:p>
        </p:txBody>
      </p:sp>
      <p:sp>
        <p:nvSpPr>
          <p:cNvPr id="26" name="a2wd600_cell25"/>
          <p:cNvSpPr txBox="1"/>
          <p:nvPr/>
        </p:nvSpPr>
        <p:spPr>
          <a:xfrm>
            <a:off x="4091940" y="2459736"/>
            <a:ext cx="1005840" cy="256032"/>
          </a:xfrm>
          <a:prstGeom prst="rect">
            <a:avLst/>
          </a:prstGeom>
          <a:solidFill>
            <a:srgbClr val="FEE2E2"/>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3</a:t>
            </a:r>
            <a:endParaRPr lang="en-US" sz="1100" dirty="0"/>
          </a:p>
        </p:txBody>
      </p:sp>
      <p:sp>
        <p:nvSpPr>
          <p:cNvPr id="27" name="a2f_cell26"/>
          <p:cNvSpPr txBox="1"/>
          <p:nvPr/>
        </p:nvSpPr>
        <p:spPr>
          <a:xfrm>
            <a:off x="5097780" y="1691640"/>
            <a:ext cx="731520" cy="256032"/>
          </a:xfrm>
          <a:prstGeom prst="rect">
            <a:avLst/>
          </a:prstGeom>
          <a:solidFill>
            <a:srgbClr val="475569"/>
          </a:solidFill>
          <a:ln w="9525">
            <a:solidFill>
              <a:srgbClr val="47556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amount</a:t>
            </a:r>
            <a:endParaRPr lang="en-US" sz="1100" dirty="0"/>
          </a:p>
        </p:txBody>
      </p:sp>
      <p:sp>
        <p:nvSpPr>
          <p:cNvPr id="28" name="a2wd200_cell27"/>
          <p:cNvSpPr txBox="1"/>
          <p:nvPr/>
        </p:nvSpPr>
        <p:spPr>
          <a:xfrm>
            <a:off x="5097780" y="1947672"/>
            <a:ext cx="731520" cy="256032"/>
          </a:xfrm>
          <a:prstGeom prst="rect">
            <a:avLst/>
          </a:prstGeom>
          <a:solidFill>
            <a:srgbClr val="FEE2E2"/>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18500</a:t>
            </a:r>
            <a:endParaRPr lang="en-US" sz="1100" dirty="0"/>
          </a:p>
        </p:txBody>
      </p:sp>
      <p:sp>
        <p:nvSpPr>
          <p:cNvPr id="29" name="a2wd400_cell28"/>
          <p:cNvSpPr txBox="1"/>
          <p:nvPr/>
        </p:nvSpPr>
        <p:spPr>
          <a:xfrm>
            <a:off x="5097780" y="2203704"/>
            <a:ext cx="731520" cy="256032"/>
          </a:xfrm>
          <a:prstGeom prst="rect">
            <a:avLst/>
          </a:prstGeom>
          <a:solidFill>
            <a:srgbClr val="FEE2E2"/>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18500</a:t>
            </a:r>
            <a:endParaRPr lang="en-US" sz="1100" dirty="0"/>
          </a:p>
        </p:txBody>
      </p:sp>
      <p:sp>
        <p:nvSpPr>
          <p:cNvPr id="30" name="a2wd600_cell29"/>
          <p:cNvSpPr txBox="1"/>
          <p:nvPr/>
        </p:nvSpPr>
        <p:spPr>
          <a:xfrm>
            <a:off x="5097780" y="2459736"/>
            <a:ext cx="731520" cy="256032"/>
          </a:xfrm>
          <a:prstGeom prst="rect">
            <a:avLst/>
          </a:prstGeom>
          <a:solidFill>
            <a:srgbClr val="FEE2E2"/>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18500</a:t>
            </a:r>
            <a:endParaRPr lang="en-US" sz="1100" dirty="0"/>
          </a:p>
        </p:txBody>
      </p:sp>
      <p:sp>
        <p:nvSpPr>
          <p:cNvPr id="31" name="a2u_o30"/>
          <p:cNvSpPr txBox="1"/>
          <p:nvPr/>
        </p:nvSpPr>
        <p:spPr>
          <a:xfrm>
            <a:off x="3268980" y="2788920"/>
            <a:ext cx="2606040" cy="594360"/>
          </a:xfrm>
          <a:prstGeom prst="rect">
            <a:avLst/>
          </a:prstGeom>
          <a:noFill/>
          <a:ln/>
        </p:spPr>
        <p:txBody>
          <a:bodyPr wrap="square" lIns="0" tIns="0" rIns="0" bIns="0" rtlCol="0" anchor="t"/>
          <a:lstStyle/>
          <a:p>
            <a:pPr marL="0" indent="0">
              <a:buNone/>
            </a:pPr>
            <a:r>
              <a:rPr lang="en-US" sz="1150" b="1" dirty="0">
                <a:solidFill>
                  <a:srgbClr val="DC2626"/>
                </a:solidFill>
                <a:latin typeface="Calibri" pitchFamily="34" charset="0"/>
                <a:ea typeface="Calibri" pitchFamily="34" charset="-122"/>
                <a:cs typeface="Calibri" pitchFamily="34" charset="-120"/>
              </a:rPr>
              <a:t>Loan deleted — and its 3 instalments with it.</a:t>
            </a:r>
            <a:endParaRPr lang="en-US" sz="1150" dirty="0"/>
          </a:p>
        </p:txBody>
      </p:sp>
      <p:sp>
        <p:nvSpPr>
          <p:cNvPr id="32" name="a3u_h31"/>
          <p:cNvSpPr txBox="1"/>
          <p:nvPr/>
        </p:nvSpPr>
        <p:spPr>
          <a:xfrm>
            <a:off x="6080760" y="1234440"/>
            <a:ext cx="2606040" cy="347472"/>
          </a:xfrm>
          <a:prstGeom prst="roundRect">
            <a:avLst>
              <a:gd name="adj" fmla="val 50000"/>
            </a:avLst>
          </a:prstGeom>
          <a:solidFill>
            <a:srgbClr val="0F766E"/>
          </a:solidFill>
          <a:ln w="12700">
            <a:solidFill>
              <a:srgbClr val="0F766E"/>
            </a:solidFill>
            <a:prstDash val="solid"/>
          </a:ln>
        </p:spPr>
        <p:txBody>
          <a:bodyPr wrap="square" lIns="0" tIns="0" rIns="0" bIns="0" rtlCol="0" anchor="ctr"/>
          <a:lstStyle/>
          <a:p>
            <a:pPr marL="0" indent="0" algn="ctr">
              <a:buNone/>
            </a:pPr>
            <a:r>
              <a:rPr lang="en-US" sz="1150" b="1" dirty="0">
                <a:solidFill>
                  <a:srgbClr val="FFFFFF"/>
                </a:solidFill>
                <a:latin typeface="Courier New" pitchFamily="34" charset="0"/>
                <a:ea typeface="Courier New" pitchFamily="34" charset="-122"/>
                <a:cs typeface="Courier New" pitchFamily="34" charset="-120"/>
              </a:rPr>
              <a:t>ON DELETE SET NULL</a:t>
            </a:r>
            <a:endParaRPr lang="en-US" sz="1150" dirty="0"/>
          </a:p>
        </p:txBody>
      </p:sp>
      <p:sp>
        <p:nvSpPr>
          <p:cNvPr id="33" name="a3f_cell32"/>
          <p:cNvSpPr txBox="1"/>
          <p:nvPr/>
        </p:nvSpPr>
        <p:spPr>
          <a:xfrm>
            <a:off x="6126480" y="1691640"/>
            <a:ext cx="777240" cy="256032"/>
          </a:xfrm>
          <a:prstGeom prst="rect">
            <a:avLst/>
          </a:prstGeom>
          <a:solidFill>
            <a:srgbClr val="475569"/>
          </a:solidFill>
          <a:ln w="9525">
            <a:solidFill>
              <a:srgbClr val="47556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loan_id</a:t>
            </a:r>
            <a:endParaRPr lang="en-US" sz="1100" dirty="0"/>
          </a:p>
        </p:txBody>
      </p:sp>
      <p:sp>
        <p:nvSpPr>
          <p:cNvPr id="34" name="a3wd200_cell33"/>
          <p:cNvSpPr txBox="1"/>
          <p:nvPr/>
        </p:nvSpPr>
        <p:spPr>
          <a:xfrm>
            <a:off x="6126480" y="1947672"/>
            <a:ext cx="777240" cy="256032"/>
          </a:xfrm>
          <a:prstGeom prst="rect">
            <a:avLst/>
          </a:prstGeom>
          <a:solidFill>
            <a:srgbClr val="CCFBF1"/>
          </a:solidFill>
          <a:ln w="9525">
            <a:solidFill>
              <a:srgbClr val="CBD5E1"/>
            </a:solidFill>
            <a:prstDash val="solid"/>
          </a:ln>
        </p:spPr>
        <p:txBody>
          <a:bodyPr wrap="square" lIns="0" tIns="0" rIns="0" bIns="0" rtlCol="0" anchor="ctr"/>
          <a:lstStyle/>
          <a:p>
            <a:pPr marL="0" indent="0" algn="ctr">
              <a:buNone/>
            </a:pPr>
            <a:r>
              <a:rPr lang="en-US" sz="1100" i="1" dirty="0">
                <a:solidFill>
                  <a:srgbClr val="94A3B8"/>
                </a:solidFill>
                <a:latin typeface="Calibri" pitchFamily="34" charset="0"/>
                <a:ea typeface="Calibri" pitchFamily="34" charset="-122"/>
                <a:cs typeface="Calibri" pitchFamily="34" charset="-120"/>
              </a:rPr>
              <a:t>NULL</a:t>
            </a:r>
            <a:endParaRPr lang="en-US" sz="1100" dirty="0"/>
          </a:p>
        </p:txBody>
      </p:sp>
      <p:sp>
        <p:nvSpPr>
          <p:cNvPr id="35" name="a3wd400_cell34"/>
          <p:cNvSpPr txBox="1"/>
          <p:nvPr/>
        </p:nvSpPr>
        <p:spPr>
          <a:xfrm>
            <a:off x="6126480" y="2203704"/>
            <a:ext cx="777240" cy="256032"/>
          </a:xfrm>
          <a:prstGeom prst="rect">
            <a:avLst/>
          </a:prstGeom>
          <a:solidFill>
            <a:srgbClr val="CCFBF1"/>
          </a:solidFill>
          <a:ln w="9525">
            <a:solidFill>
              <a:srgbClr val="CBD5E1"/>
            </a:solidFill>
            <a:prstDash val="solid"/>
          </a:ln>
        </p:spPr>
        <p:txBody>
          <a:bodyPr wrap="square" lIns="0" tIns="0" rIns="0" bIns="0" rtlCol="0" anchor="ctr"/>
          <a:lstStyle/>
          <a:p>
            <a:pPr marL="0" indent="0" algn="ctr">
              <a:buNone/>
            </a:pPr>
            <a:r>
              <a:rPr lang="en-US" sz="1100" i="1" dirty="0">
                <a:solidFill>
                  <a:srgbClr val="94A3B8"/>
                </a:solidFill>
                <a:latin typeface="Calibri" pitchFamily="34" charset="0"/>
                <a:ea typeface="Calibri" pitchFamily="34" charset="-122"/>
                <a:cs typeface="Calibri" pitchFamily="34" charset="-120"/>
              </a:rPr>
              <a:t>NULL</a:t>
            </a:r>
            <a:endParaRPr lang="en-US" sz="1100" dirty="0"/>
          </a:p>
        </p:txBody>
      </p:sp>
      <p:sp>
        <p:nvSpPr>
          <p:cNvPr id="36" name="a3wd600_cell35"/>
          <p:cNvSpPr txBox="1"/>
          <p:nvPr/>
        </p:nvSpPr>
        <p:spPr>
          <a:xfrm>
            <a:off x="6126480" y="2459736"/>
            <a:ext cx="777240" cy="256032"/>
          </a:xfrm>
          <a:prstGeom prst="rect">
            <a:avLst/>
          </a:prstGeom>
          <a:solidFill>
            <a:srgbClr val="CCFBF1"/>
          </a:solidFill>
          <a:ln w="9525">
            <a:solidFill>
              <a:srgbClr val="CBD5E1"/>
            </a:solidFill>
            <a:prstDash val="solid"/>
          </a:ln>
        </p:spPr>
        <p:txBody>
          <a:bodyPr wrap="square" lIns="0" tIns="0" rIns="0" bIns="0" rtlCol="0" anchor="ctr"/>
          <a:lstStyle/>
          <a:p>
            <a:pPr marL="0" indent="0" algn="ctr">
              <a:buNone/>
            </a:pPr>
            <a:r>
              <a:rPr lang="en-US" sz="1100" i="1" dirty="0">
                <a:solidFill>
                  <a:srgbClr val="94A3B8"/>
                </a:solidFill>
                <a:latin typeface="Calibri" pitchFamily="34" charset="0"/>
                <a:ea typeface="Calibri" pitchFamily="34" charset="-122"/>
                <a:cs typeface="Calibri" pitchFamily="34" charset="-120"/>
              </a:rPr>
              <a:t>NULL</a:t>
            </a:r>
            <a:endParaRPr lang="en-US" sz="1100" dirty="0"/>
          </a:p>
        </p:txBody>
      </p:sp>
      <p:sp>
        <p:nvSpPr>
          <p:cNvPr id="37" name="a3f_cell36"/>
          <p:cNvSpPr txBox="1"/>
          <p:nvPr/>
        </p:nvSpPr>
        <p:spPr>
          <a:xfrm>
            <a:off x="6903720" y="1691640"/>
            <a:ext cx="1005840" cy="256032"/>
          </a:xfrm>
          <a:prstGeom prst="rect">
            <a:avLst/>
          </a:prstGeom>
          <a:solidFill>
            <a:srgbClr val="475569"/>
          </a:solidFill>
          <a:ln w="9525">
            <a:solidFill>
              <a:srgbClr val="47556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installment_no</a:t>
            </a:r>
            <a:endParaRPr lang="en-US" sz="1100" dirty="0"/>
          </a:p>
        </p:txBody>
      </p:sp>
      <p:sp>
        <p:nvSpPr>
          <p:cNvPr id="38" name="a3wd200_cell37"/>
          <p:cNvSpPr txBox="1"/>
          <p:nvPr/>
        </p:nvSpPr>
        <p:spPr>
          <a:xfrm>
            <a:off x="6903720" y="1947672"/>
            <a:ext cx="1005840" cy="256032"/>
          </a:xfrm>
          <a:prstGeom prst="rect">
            <a:avLst/>
          </a:prstGeom>
          <a:solidFill>
            <a:srgbClr val="CCFBF1"/>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a:t>
            </a:r>
            <a:endParaRPr lang="en-US" sz="1100" dirty="0"/>
          </a:p>
        </p:txBody>
      </p:sp>
      <p:sp>
        <p:nvSpPr>
          <p:cNvPr id="39" name="a3wd400_cell38"/>
          <p:cNvSpPr txBox="1"/>
          <p:nvPr/>
        </p:nvSpPr>
        <p:spPr>
          <a:xfrm>
            <a:off x="6903720" y="2203704"/>
            <a:ext cx="1005840" cy="256032"/>
          </a:xfrm>
          <a:prstGeom prst="rect">
            <a:avLst/>
          </a:prstGeom>
          <a:solidFill>
            <a:srgbClr val="CCFBF1"/>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2</a:t>
            </a:r>
            <a:endParaRPr lang="en-US" sz="1100" dirty="0"/>
          </a:p>
        </p:txBody>
      </p:sp>
      <p:sp>
        <p:nvSpPr>
          <p:cNvPr id="40" name="a3wd600_cell39"/>
          <p:cNvSpPr txBox="1"/>
          <p:nvPr/>
        </p:nvSpPr>
        <p:spPr>
          <a:xfrm>
            <a:off x="6903720" y="2459736"/>
            <a:ext cx="1005840" cy="256032"/>
          </a:xfrm>
          <a:prstGeom prst="rect">
            <a:avLst/>
          </a:prstGeom>
          <a:solidFill>
            <a:srgbClr val="CCFBF1"/>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3</a:t>
            </a:r>
            <a:endParaRPr lang="en-US" sz="1100" dirty="0"/>
          </a:p>
        </p:txBody>
      </p:sp>
      <p:sp>
        <p:nvSpPr>
          <p:cNvPr id="41" name="a3f_cell40"/>
          <p:cNvSpPr txBox="1"/>
          <p:nvPr/>
        </p:nvSpPr>
        <p:spPr>
          <a:xfrm>
            <a:off x="7909560" y="1691640"/>
            <a:ext cx="731520" cy="256032"/>
          </a:xfrm>
          <a:prstGeom prst="rect">
            <a:avLst/>
          </a:prstGeom>
          <a:solidFill>
            <a:srgbClr val="475569"/>
          </a:solidFill>
          <a:ln w="9525">
            <a:solidFill>
              <a:srgbClr val="47556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amount</a:t>
            </a:r>
            <a:endParaRPr lang="en-US" sz="1100" dirty="0"/>
          </a:p>
        </p:txBody>
      </p:sp>
      <p:sp>
        <p:nvSpPr>
          <p:cNvPr id="42" name="a3wd200_cell41"/>
          <p:cNvSpPr txBox="1"/>
          <p:nvPr/>
        </p:nvSpPr>
        <p:spPr>
          <a:xfrm>
            <a:off x="7909560" y="1947672"/>
            <a:ext cx="731520" cy="256032"/>
          </a:xfrm>
          <a:prstGeom prst="rect">
            <a:avLst/>
          </a:prstGeom>
          <a:solidFill>
            <a:srgbClr val="CCFBF1"/>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18500</a:t>
            </a:r>
            <a:endParaRPr lang="en-US" sz="1100" dirty="0"/>
          </a:p>
        </p:txBody>
      </p:sp>
      <p:sp>
        <p:nvSpPr>
          <p:cNvPr id="43" name="a3wd400_cell42"/>
          <p:cNvSpPr txBox="1"/>
          <p:nvPr/>
        </p:nvSpPr>
        <p:spPr>
          <a:xfrm>
            <a:off x="7909560" y="2203704"/>
            <a:ext cx="731520" cy="256032"/>
          </a:xfrm>
          <a:prstGeom prst="rect">
            <a:avLst/>
          </a:prstGeom>
          <a:solidFill>
            <a:srgbClr val="CCFBF1"/>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18500</a:t>
            </a:r>
            <a:endParaRPr lang="en-US" sz="1100" dirty="0"/>
          </a:p>
        </p:txBody>
      </p:sp>
      <p:sp>
        <p:nvSpPr>
          <p:cNvPr id="44" name="a3wd600_cell43"/>
          <p:cNvSpPr txBox="1"/>
          <p:nvPr/>
        </p:nvSpPr>
        <p:spPr>
          <a:xfrm>
            <a:off x="7909560" y="2459736"/>
            <a:ext cx="731520" cy="256032"/>
          </a:xfrm>
          <a:prstGeom prst="rect">
            <a:avLst/>
          </a:prstGeom>
          <a:solidFill>
            <a:srgbClr val="CCFBF1"/>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18500</a:t>
            </a:r>
            <a:endParaRPr lang="en-US" sz="1100" dirty="0"/>
          </a:p>
        </p:txBody>
      </p:sp>
      <p:sp>
        <p:nvSpPr>
          <p:cNvPr id="45" name="a3u_o44"/>
          <p:cNvSpPr txBox="1"/>
          <p:nvPr/>
        </p:nvSpPr>
        <p:spPr>
          <a:xfrm>
            <a:off x="6080760" y="2788920"/>
            <a:ext cx="2606040" cy="594360"/>
          </a:xfrm>
          <a:prstGeom prst="rect">
            <a:avLst/>
          </a:prstGeom>
          <a:noFill/>
          <a:ln/>
        </p:spPr>
        <p:txBody>
          <a:bodyPr wrap="square" lIns="0" tIns="0" rIns="0" bIns="0" rtlCol="0" anchor="t"/>
          <a:lstStyle/>
          <a:p>
            <a:pPr marL="0" indent="0">
              <a:buNone/>
            </a:pPr>
            <a:r>
              <a:rPr lang="en-US" sz="1150" b="1" dirty="0">
                <a:solidFill>
                  <a:srgbClr val="0F766E"/>
                </a:solidFill>
                <a:latin typeface="Calibri" pitchFamily="34" charset="0"/>
                <a:ea typeface="Calibri" pitchFamily="34" charset="-122"/>
                <a:cs typeface="Calibri" pitchFamily="34" charset="-120"/>
              </a:rPr>
              <a:t>Loan deleted — children kept, link cut (FK must be nullable).</a:t>
            </a:r>
            <a:endParaRPr lang="en-US" sz="1150" dirty="0"/>
          </a:p>
        </p:txBody>
      </p:sp>
      <p:sp>
        <p:nvSpPr>
          <p:cNvPr id="46" name="a4u_tb45"/>
          <p:cNvSpPr/>
          <p:nvPr/>
        </p:nvSpPr>
        <p:spPr>
          <a:xfrm>
            <a:off x="457200" y="3611880"/>
            <a:ext cx="8229600" cy="960120"/>
          </a:xfrm>
          <a:prstGeom prst="roundRect">
            <a:avLst>
              <a:gd name="adj" fmla="val 5926"/>
            </a:avLst>
          </a:prstGeom>
          <a:solidFill>
            <a:srgbClr val="6D28D9"/>
          </a:solidFill>
          <a:ln w="12700">
            <a:solidFill>
              <a:srgbClr val="6D28D9"/>
            </a:solidFill>
            <a:prstDash val="solid"/>
          </a:ln>
        </p:spPr>
      </p:sp>
      <p:sp>
        <p:nvSpPr>
          <p:cNvPr id="47" name="a4u_tt46"/>
          <p:cNvSpPr txBox="1"/>
          <p:nvPr/>
        </p:nvSpPr>
        <p:spPr>
          <a:xfrm>
            <a:off x="640080" y="3611880"/>
            <a:ext cx="7909560" cy="9601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Default to RESTRICT on anything financial. Use CASCADE only when the child is owned by the parent and meaningless without it.</a:t>
            </a:r>
            <a:endParaRPr lang="en-US" sz="13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ppt_y+0.1"/>
                                          </p:val>
                                        </p:tav>
                                        <p:tav tm="100000">
                                          <p:val>
                                            <p:strVal val="#ppt_y"/>
                                          </p:val>
                                        </p:tav>
                                      </p:tavLst>
                                    </p:anim>
                                    <p:animEffect transition="in" filter="fade">
                                      <p:cBhvr>
                                        <p:cTn id="9" dur="500"/>
                                        <p:tgtEl>
                                          <p:spTgt spid="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22" presetClass="entr" presetSubtype="8" fill="hold" grpId="0" nodeType="withEffect">
                                  <p:stCondLst>
                                    <p:cond delay="20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par>
                                <p:cTn id="16" presetID="22" presetClass="entr" presetSubtype="8" fill="hold" grpId="0" nodeType="withEffect">
                                  <p:stCondLst>
                                    <p:cond delay="40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8" dur="500"/>
                                        <p:tgtEl>
                                          <p:spTgt spid="7"/>
                                        </p:tgtEl>
                                      </p:cBhvr>
                                    </p:animEffect>
                                  </p:childTnLst>
                                </p:cTn>
                              </p:par>
                              <p:par>
                                <p:cTn id="19" presetID="22" presetClass="entr" presetSubtype="8" fill="hold" grpId="0" nodeType="withEffect">
                                  <p:stCondLst>
                                    <p:cond delay="60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22" presetClass="entr" presetSubtype="8" fill="hold" grpId="0" nodeType="withEffect">
                                  <p:stCondLst>
                                    <p:cond delay="20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par>
                                <p:cTn id="28" presetID="22" presetClass="entr" presetSubtype="8" fill="hold" grpId="0" nodeType="withEffect">
                                  <p:stCondLst>
                                    <p:cond delay="400"/>
                                  </p:stCondLst>
                                  <p:childTnLst>
                                    <p:set>
                                      <p:cBhvr>
                                        <p:cTn id="29" dur="1" fill="hold">
                                          <p:stCondLst>
                                            <p:cond delay="0"/>
                                          </p:stCondLst>
                                        </p:cTn>
                                        <p:tgtEl>
                                          <p:spTgt spid="11"/>
                                        </p:tgtEl>
                                        <p:attrNameLst>
                                          <p:attrName>style.visibility</p:attrName>
                                        </p:attrNameLst>
                                      </p:cBhvr>
                                      <p:to>
                                        <p:strVal val="visible"/>
                                      </p:to>
                                    </p:set>
                                    <p:animEffect transition="in" filter="wipe(left)">
                                      <p:cBhvr>
                                        <p:cTn id="30" dur="500"/>
                                        <p:tgtEl>
                                          <p:spTgt spid="11"/>
                                        </p:tgtEl>
                                      </p:cBhvr>
                                    </p:animEffect>
                                  </p:childTnLst>
                                </p:cTn>
                              </p:par>
                              <p:par>
                                <p:cTn id="31" presetID="22" presetClass="entr" presetSubtype="8" fill="hold" grpId="0" nodeType="withEffect">
                                  <p:stCondLst>
                                    <p:cond delay="600"/>
                                  </p:stCondLst>
                                  <p:childTnLst>
                                    <p:set>
                                      <p:cBhvr>
                                        <p:cTn id="32" dur="1" fill="hold">
                                          <p:stCondLst>
                                            <p:cond delay="0"/>
                                          </p:stCondLst>
                                        </p:cTn>
                                        <p:tgtEl>
                                          <p:spTgt spid="12"/>
                                        </p:tgtEl>
                                        <p:attrNameLst>
                                          <p:attrName>style.visibility</p:attrName>
                                        </p:attrNameLst>
                                      </p:cBhvr>
                                      <p:to>
                                        <p:strVal val="visible"/>
                                      </p:to>
                                    </p:set>
                                    <p:animEffect transition="in" filter="wipe(left)">
                                      <p:cBhvr>
                                        <p:cTn id="33" dur="50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22" presetClass="entr" presetSubtype="8" fill="hold" grpId="0" nodeType="withEffect">
                                  <p:stCondLst>
                                    <p:cond delay="200"/>
                                  </p:stCondLst>
                                  <p:childTnLst>
                                    <p:set>
                                      <p:cBhvr>
                                        <p:cTn id="38" dur="1" fill="hold">
                                          <p:stCondLst>
                                            <p:cond delay="0"/>
                                          </p:stCondLst>
                                        </p:cTn>
                                        <p:tgtEl>
                                          <p:spTgt spid="14"/>
                                        </p:tgtEl>
                                        <p:attrNameLst>
                                          <p:attrName>style.visibility</p:attrName>
                                        </p:attrNameLst>
                                      </p:cBhvr>
                                      <p:to>
                                        <p:strVal val="visible"/>
                                      </p:to>
                                    </p:set>
                                    <p:animEffect transition="in" filter="wipe(left)">
                                      <p:cBhvr>
                                        <p:cTn id="39" dur="500"/>
                                        <p:tgtEl>
                                          <p:spTgt spid="14"/>
                                        </p:tgtEl>
                                      </p:cBhvr>
                                    </p:animEffect>
                                  </p:childTnLst>
                                </p:cTn>
                              </p:par>
                              <p:par>
                                <p:cTn id="40" presetID="22" presetClass="entr" presetSubtype="8" fill="hold" grpId="0" nodeType="withEffect">
                                  <p:stCondLst>
                                    <p:cond delay="400"/>
                                  </p:stCondLst>
                                  <p:childTnLst>
                                    <p:set>
                                      <p:cBhvr>
                                        <p:cTn id="41" dur="1" fill="hold">
                                          <p:stCondLst>
                                            <p:cond delay="0"/>
                                          </p:stCondLst>
                                        </p:cTn>
                                        <p:tgtEl>
                                          <p:spTgt spid="15"/>
                                        </p:tgtEl>
                                        <p:attrNameLst>
                                          <p:attrName>style.visibility</p:attrName>
                                        </p:attrNameLst>
                                      </p:cBhvr>
                                      <p:to>
                                        <p:strVal val="visible"/>
                                      </p:to>
                                    </p:set>
                                    <p:animEffect transition="in" filter="wipe(left)">
                                      <p:cBhvr>
                                        <p:cTn id="42" dur="500"/>
                                        <p:tgtEl>
                                          <p:spTgt spid="15"/>
                                        </p:tgtEl>
                                      </p:cBhvr>
                                    </p:animEffect>
                                  </p:childTnLst>
                                </p:cTn>
                              </p:par>
                              <p:par>
                                <p:cTn id="43" presetID="22" presetClass="entr" presetSubtype="8" fill="hold" grpId="0" nodeType="withEffect">
                                  <p:stCondLst>
                                    <p:cond delay="600"/>
                                  </p:stCondLst>
                                  <p:childTnLst>
                                    <p:set>
                                      <p:cBhvr>
                                        <p:cTn id="44" dur="1" fill="hold">
                                          <p:stCondLst>
                                            <p:cond delay="0"/>
                                          </p:stCondLst>
                                        </p:cTn>
                                        <p:tgtEl>
                                          <p:spTgt spid="16"/>
                                        </p:tgtEl>
                                        <p:attrNameLst>
                                          <p:attrName>style.visibility</p:attrName>
                                        </p:attrNameLst>
                                      </p:cBhvr>
                                      <p:to>
                                        <p:strVal val="visible"/>
                                      </p:to>
                                    </p:set>
                                    <p:animEffect transition="in" filter="wipe(left)">
                                      <p:cBhvr>
                                        <p:cTn id="45" dur="500"/>
                                        <p:tgtEl>
                                          <p:spTgt spid="16"/>
                                        </p:tgtEl>
                                      </p:cBhvr>
                                    </p:animEffect>
                                  </p:childTnLst>
                                </p:cTn>
                              </p:par>
                              <p:par>
                                <p:cTn id="46" presetID="2" presetClass="entr" presetSubtype="4"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 calcmode="lin" valueType="num">
                                      <p:cBhvr additive="base">
                                        <p:cTn id="48" dur="500" fill="hold"/>
                                        <p:tgtEl>
                                          <p:spTgt spid="17"/>
                                        </p:tgtEl>
                                        <p:attrNameLst>
                                          <p:attrName>ppt_x</p:attrName>
                                        </p:attrNameLst>
                                      </p:cBhvr>
                                      <p:tavLst>
                                        <p:tav tm="0">
                                          <p:val>
                                            <p:strVal val="#ppt_x"/>
                                          </p:val>
                                        </p:tav>
                                        <p:tav tm="100000">
                                          <p:val>
                                            <p:strVal val="#ppt_x"/>
                                          </p:val>
                                        </p:tav>
                                      </p:tavLst>
                                    </p:anim>
                                    <p:anim calcmode="lin" valueType="num">
                                      <p:cBhvr additive="base">
                                        <p:cTn id="49" dur="500" fill="hold"/>
                                        <p:tgtEl>
                                          <p:spTgt spid="17"/>
                                        </p:tgtEl>
                                        <p:attrNameLst>
                                          <p:attrName>ppt_y</p:attrName>
                                        </p:attrNameLst>
                                      </p:cBhvr>
                                      <p:tavLst>
                                        <p:tav tm="0">
                                          <p:val>
                                            <p:strVal val="#ppt_y+0.1"/>
                                          </p:val>
                                        </p:tav>
                                        <p:tav tm="100000">
                                          <p:val>
                                            <p:strVal val="#ppt_y"/>
                                          </p:val>
                                        </p:tav>
                                      </p:tavLst>
                                    </p:anim>
                                    <p:animEffect transition="in" filter="fade">
                                      <p:cBhvr>
                                        <p:cTn id="50" dur="500"/>
                                        <p:tgtEl>
                                          <p:spTgt spid="17"/>
                                        </p:tgtEl>
                                      </p:cBhvr>
                                    </p:animEffec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8"/>
                                        </p:tgtEl>
                                        <p:attrNameLst>
                                          <p:attrName>style.visibility</p:attrName>
                                        </p:attrNameLst>
                                      </p:cBhvr>
                                      <p:to>
                                        <p:strVal val="visible"/>
                                      </p:to>
                                    </p:set>
                                    <p:anim calcmode="lin" valueType="num">
                                      <p:cBhvr additive="base">
                                        <p:cTn id="55" dur="500" fill="hold"/>
                                        <p:tgtEl>
                                          <p:spTgt spid="18"/>
                                        </p:tgtEl>
                                        <p:attrNameLst>
                                          <p:attrName>ppt_x</p:attrName>
                                        </p:attrNameLst>
                                      </p:cBhvr>
                                      <p:tavLst>
                                        <p:tav tm="0">
                                          <p:val>
                                            <p:strVal val="#ppt_x"/>
                                          </p:val>
                                        </p:tav>
                                        <p:tav tm="100000">
                                          <p:val>
                                            <p:strVal val="#ppt_x"/>
                                          </p:val>
                                        </p:tav>
                                      </p:tavLst>
                                    </p:anim>
                                    <p:anim calcmode="lin" valueType="num">
                                      <p:cBhvr additive="base">
                                        <p:cTn id="56" dur="500" fill="hold"/>
                                        <p:tgtEl>
                                          <p:spTgt spid="18"/>
                                        </p:tgtEl>
                                        <p:attrNameLst>
                                          <p:attrName>ppt_y</p:attrName>
                                        </p:attrNameLst>
                                      </p:cBhvr>
                                      <p:tavLst>
                                        <p:tav tm="0">
                                          <p:val>
                                            <p:strVal val="#ppt_y+0.1"/>
                                          </p:val>
                                        </p:tav>
                                        <p:tav tm="100000">
                                          <p:val>
                                            <p:strVal val="#ppt_y"/>
                                          </p:val>
                                        </p:tav>
                                      </p:tavLst>
                                    </p:anim>
                                    <p:animEffect transition="in" filter="fade">
                                      <p:cBhvr>
                                        <p:cTn id="57" dur="500"/>
                                        <p:tgtEl>
                                          <p:spTgt spid="1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fade">
                                      <p:cBhvr>
                                        <p:cTn id="60" dur="500"/>
                                        <p:tgtEl>
                                          <p:spTgt spid="19"/>
                                        </p:tgtEl>
                                      </p:cBhvr>
                                    </p:animEffect>
                                  </p:childTnLst>
                                </p:cTn>
                              </p:par>
                              <p:par>
                                <p:cTn id="61" presetID="22" presetClass="entr" presetSubtype="8" fill="hold" grpId="0" nodeType="withEffect">
                                  <p:stCondLst>
                                    <p:cond delay="200"/>
                                  </p:stCondLst>
                                  <p:childTnLst>
                                    <p:set>
                                      <p:cBhvr>
                                        <p:cTn id="62" dur="1" fill="hold">
                                          <p:stCondLst>
                                            <p:cond delay="0"/>
                                          </p:stCondLst>
                                        </p:cTn>
                                        <p:tgtEl>
                                          <p:spTgt spid="20"/>
                                        </p:tgtEl>
                                        <p:attrNameLst>
                                          <p:attrName>style.visibility</p:attrName>
                                        </p:attrNameLst>
                                      </p:cBhvr>
                                      <p:to>
                                        <p:strVal val="visible"/>
                                      </p:to>
                                    </p:set>
                                    <p:animEffect transition="in" filter="wipe(left)">
                                      <p:cBhvr>
                                        <p:cTn id="63" dur="500"/>
                                        <p:tgtEl>
                                          <p:spTgt spid="20"/>
                                        </p:tgtEl>
                                      </p:cBhvr>
                                    </p:animEffect>
                                  </p:childTnLst>
                                </p:cTn>
                              </p:par>
                              <p:par>
                                <p:cTn id="64" presetID="22" presetClass="entr" presetSubtype="8" fill="hold" grpId="0" nodeType="withEffect">
                                  <p:stCondLst>
                                    <p:cond delay="400"/>
                                  </p:stCondLst>
                                  <p:childTnLst>
                                    <p:set>
                                      <p:cBhvr>
                                        <p:cTn id="65" dur="1" fill="hold">
                                          <p:stCondLst>
                                            <p:cond delay="0"/>
                                          </p:stCondLst>
                                        </p:cTn>
                                        <p:tgtEl>
                                          <p:spTgt spid="21"/>
                                        </p:tgtEl>
                                        <p:attrNameLst>
                                          <p:attrName>style.visibility</p:attrName>
                                        </p:attrNameLst>
                                      </p:cBhvr>
                                      <p:to>
                                        <p:strVal val="visible"/>
                                      </p:to>
                                    </p:set>
                                    <p:animEffect transition="in" filter="wipe(left)">
                                      <p:cBhvr>
                                        <p:cTn id="66" dur="500"/>
                                        <p:tgtEl>
                                          <p:spTgt spid="21"/>
                                        </p:tgtEl>
                                      </p:cBhvr>
                                    </p:animEffect>
                                  </p:childTnLst>
                                </p:cTn>
                              </p:par>
                              <p:par>
                                <p:cTn id="67" presetID="22" presetClass="entr" presetSubtype="8" fill="hold" grpId="0" nodeType="withEffect">
                                  <p:stCondLst>
                                    <p:cond delay="600"/>
                                  </p:stCondLst>
                                  <p:childTnLst>
                                    <p:set>
                                      <p:cBhvr>
                                        <p:cTn id="68" dur="1" fill="hold">
                                          <p:stCondLst>
                                            <p:cond delay="0"/>
                                          </p:stCondLst>
                                        </p:cTn>
                                        <p:tgtEl>
                                          <p:spTgt spid="22"/>
                                        </p:tgtEl>
                                        <p:attrNameLst>
                                          <p:attrName>style.visibility</p:attrName>
                                        </p:attrNameLst>
                                      </p:cBhvr>
                                      <p:to>
                                        <p:strVal val="visible"/>
                                      </p:to>
                                    </p:set>
                                    <p:animEffect transition="in" filter="wipe(left)">
                                      <p:cBhvr>
                                        <p:cTn id="69" dur="500"/>
                                        <p:tgtEl>
                                          <p:spTgt spid="22"/>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fade">
                                      <p:cBhvr>
                                        <p:cTn id="72" dur="500"/>
                                        <p:tgtEl>
                                          <p:spTgt spid="23"/>
                                        </p:tgtEl>
                                      </p:cBhvr>
                                    </p:animEffect>
                                  </p:childTnLst>
                                </p:cTn>
                              </p:par>
                              <p:par>
                                <p:cTn id="73" presetID="22" presetClass="entr" presetSubtype="8" fill="hold" grpId="0" nodeType="withEffect">
                                  <p:stCondLst>
                                    <p:cond delay="200"/>
                                  </p:stCondLst>
                                  <p:childTnLst>
                                    <p:set>
                                      <p:cBhvr>
                                        <p:cTn id="74" dur="1" fill="hold">
                                          <p:stCondLst>
                                            <p:cond delay="0"/>
                                          </p:stCondLst>
                                        </p:cTn>
                                        <p:tgtEl>
                                          <p:spTgt spid="24"/>
                                        </p:tgtEl>
                                        <p:attrNameLst>
                                          <p:attrName>style.visibility</p:attrName>
                                        </p:attrNameLst>
                                      </p:cBhvr>
                                      <p:to>
                                        <p:strVal val="visible"/>
                                      </p:to>
                                    </p:set>
                                    <p:animEffect transition="in" filter="wipe(left)">
                                      <p:cBhvr>
                                        <p:cTn id="75" dur="500"/>
                                        <p:tgtEl>
                                          <p:spTgt spid="24"/>
                                        </p:tgtEl>
                                      </p:cBhvr>
                                    </p:animEffect>
                                  </p:childTnLst>
                                </p:cTn>
                              </p:par>
                              <p:par>
                                <p:cTn id="76" presetID="22" presetClass="entr" presetSubtype="8" fill="hold" grpId="0" nodeType="withEffect">
                                  <p:stCondLst>
                                    <p:cond delay="400"/>
                                  </p:stCondLst>
                                  <p:childTnLst>
                                    <p:set>
                                      <p:cBhvr>
                                        <p:cTn id="77" dur="1" fill="hold">
                                          <p:stCondLst>
                                            <p:cond delay="0"/>
                                          </p:stCondLst>
                                        </p:cTn>
                                        <p:tgtEl>
                                          <p:spTgt spid="25"/>
                                        </p:tgtEl>
                                        <p:attrNameLst>
                                          <p:attrName>style.visibility</p:attrName>
                                        </p:attrNameLst>
                                      </p:cBhvr>
                                      <p:to>
                                        <p:strVal val="visible"/>
                                      </p:to>
                                    </p:set>
                                    <p:animEffect transition="in" filter="wipe(left)">
                                      <p:cBhvr>
                                        <p:cTn id="78" dur="500"/>
                                        <p:tgtEl>
                                          <p:spTgt spid="25"/>
                                        </p:tgtEl>
                                      </p:cBhvr>
                                    </p:animEffect>
                                  </p:childTnLst>
                                </p:cTn>
                              </p:par>
                              <p:par>
                                <p:cTn id="79" presetID="22" presetClass="entr" presetSubtype="8" fill="hold" grpId="0" nodeType="withEffect">
                                  <p:stCondLst>
                                    <p:cond delay="600"/>
                                  </p:stCondLst>
                                  <p:childTnLst>
                                    <p:set>
                                      <p:cBhvr>
                                        <p:cTn id="80" dur="1" fill="hold">
                                          <p:stCondLst>
                                            <p:cond delay="0"/>
                                          </p:stCondLst>
                                        </p:cTn>
                                        <p:tgtEl>
                                          <p:spTgt spid="26"/>
                                        </p:tgtEl>
                                        <p:attrNameLst>
                                          <p:attrName>style.visibility</p:attrName>
                                        </p:attrNameLst>
                                      </p:cBhvr>
                                      <p:to>
                                        <p:strVal val="visible"/>
                                      </p:to>
                                    </p:set>
                                    <p:animEffect transition="in" filter="wipe(left)">
                                      <p:cBhvr>
                                        <p:cTn id="81" dur="500"/>
                                        <p:tgtEl>
                                          <p:spTgt spid="26"/>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7"/>
                                        </p:tgtEl>
                                        <p:attrNameLst>
                                          <p:attrName>style.visibility</p:attrName>
                                        </p:attrNameLst>
                                      </p:cBhvr>
                                      <p:to>
                                        <p:strVal val="visible"/>
                                      </p:to>
                                    </p:set>
                                    <p:animEffect transition="in" filter="fade">
                                      <p:cBhvr>
                                        <p:cTn id="84" dur="500"/>
                                        <p:tgtEl>
                                          <p:spTgt spid="27"/>
                                        </p:tgtEl>
                                      </p:cBhvr>
                                    </p:animEffect>
                                  </p:childTnLst>
                                </p:cTn>
                              </p:par>
                              <p:par>
                                <p:cTn id="85" presetID="22" presetClass="entr" presetSubtype="8" fill="hold" grpId="0" nodeType="withEffect">
                                  <p:stCondLst>
                                    <p:cond delay="200"/>
                                  </p:stCondLst>
                                  <p:childTnLst>
                                    <p:set>
                                      <p:cBhvr>
                                        <p:cTn id="86" dur="1" fill="hold">
                                          <p:stCondLst>
                                            <p:cond delay="0"/>
                                          </p:stCondLst>
                                        </p:cTn>
                                        <p:tgtEl>
                                          <p:spTgt spid="28"/>
                                        </p:tgtEl>
                                        <p:attrNameLst>
                                          <p:attrName>style.visibility</p:attrName>
                                        </p:attrNameLst>
                                      </p:cBhvr>
                                      <p:to>
                                        <p:strVal val="visible"/>
                                      </p:to>
                                    </p:set>
                                    <p:animEffect transition="in" filter="wipe(left)">
                                      <p:cBhvr>
                                        <p:cTn id="87" dur="500"/>
                                        <p:tgtEl>
                                          <p:spTgt spid="28"/>
                                        </p:tgtEl>
                                      </p:cBhvr>
                                    </p:animEffect>
                                  </p:childTnLst>
                                </p:cTn>
                              </p:par>
                              <p:par>
                                <p:cTn id="88" presetID="22" presetClass="entr" presetSubtype="8" fill="hold" grpId="0" nodeType="withEffect">
                                  <p:stCondLst>
                                    <p:cond delay="400"/>
                                  </p:stCondLst>
                                  <p:childTnLst>
                                    <p:set>
                                      <p:cBhvr>
                                        <p:cTn id="89" dur="1" fill="hold">
                                          <p:stCondLst>
                                            <p:cond delay="0"/>
                                          </p:stCondLst>
                                        </p:cTn>
                                        <p:tgtEl>
                                          <p:spTgt spid="29"/>
                                        </p:tgtEl>
                                        <p:attrNameLst>
                                          <p:attrName>style.visibility</p:attrName>
                                        </p:attrNameLst>
                                      </p:cBhvr>
                                      <p:to>
                                        <p:strVal val="visible"/>
                                      </p:to>
                                    </p:set>
                                    <p:animEffect transition="in" filter="wipe(left)">
                                      <p:cBhvr>
                                        <p:cTn id="90" dur="500"/>
                                        <p:tgtEl>
                                          <p:spTgt spid="29"/>
                                        </p:tgtEl>
                                      </p:cBhvr>
                                    </p:animEffect>
                                  </p:childTnLst>
                                </p:cTn>
                              </p:par>
                              <p:par>
                                <p:cTn id="91" presetID="22" presetClass="entr" presetSubtype="8" fill="hold" grpId="0" nodeType="withEffect">
                                  <p:stCondLst>
                                    <p:cond delay="600"/>
                                  </p:stCondLst>
                                  <p:childTnLst>
                                    <p:set>
                                      <p:cBhvr>
                                        <p:cTn id="92" dur="1" fill="hold">
                                          <p:stCondLst>
                                            <p:cond delay="0"/>
                                          </p:stCondLst>
                                        </p:cTn>
                                        <p:tgtEl>
                                          <p:spTgt spid="30"/>
                                        </p:tgtEl>
                                        <p:attrNameLst>
                                          <p:attrName>style.visibility</p:attrName>
                                        </p:attrNameLst>
                                      </p:cBhvr>
                                      <p:to>
                                        <p:strVal val="visible"/>
                                      </p:to>
                                    </p:set>
                                    <p:animEffect transition="in" filter="wipe(left)">
                                      <p:cBhvr>
                                        <p:cTn id="93" dur="500"/>
                                        <p:tgtEl>
                                          <p:spTgt spid="30"/>
                                        </p:tgtEl>
                                      </p:cBhvr>
                                    </p:animEffect>
                                  </p:childTnLst>
                                </p:cTn>
                              </p:par>
                              <p:par>
                                <p:cTn id="94" presetID="2" presetClass="entr" presetSubtype="4" fill="hold" grpId="0" nodeType="withEffect">
                                  <p:stCondLst>
                                    <p:cond delay="0"/>
                                  </p:stCondLst>
                                  <p:childTnLst>
                                    <p:set>
                                      <p:cBhvr>
                                        <p:cTn id="95" dur="1" fill="hold">
                                          <p:stCondLst>
                                            <p:cond delay="0"/>
                                          </p:stCondLst>
                                        </p:cTn>
                                        <p:tgtEl>
                                          <p:spTgt spid="31"/>
                                        </p:tgtEl>
                                        <p:attrNameLst>
                                          <p:attrName>style.visibility</p:attrName>
                                        </p:attrNameLst>
                                      </p:cBhvr>
                                      <p:to>
                                        <p:strVal val="visible"/>
                                      </p:to>
                                    </p:set>
                                    <p:anim calcmode="lin" valueType="num">
                                      <p:cBhvr additive="base">
                                        <p:cTn id="96" dur="500" fill="hold"/>
                                        <p:tgtEl>
                                          <p:spTgt spid="31"/>
                                        </p:tgtEl>
                                        <p:attrNameLst>
                                          <p:attrName>ppt_x</p:attrName>
                                        </p:attrNameLst>
                                      </p:cBhvr>
                                      <p:tavLst>
                                        <p:tav tm="0">
                                          <p:val>
                                            <p:strVal val="#ppt_x"/>
                                          </p:val>
                                        </p:tav>
                                        <p:tav tm="100000">
                                          <p:val>
                                            <p:strVal val="#ppt_x"/>
                                          </p:val>
                                        </p:tav>
                                      </p:tavLst>
                                    </p:anim>
                                    <p:anim calcmode="lin" valueType="num">
                                      <p:cBhvr additive="base">
                                        <p:cTn id="97" dur="500" fill="hold"/>
                                        <p:tgtEl>
                                          <p:spTgt spid="31"/>
                                        </p:tgtEl>
                                        <p:attrNameLst>
                                          <p:attrName>ppt_y</p:attrName>
                                        </p:attrNameLst>
                                      </p:cBhvr>
                                      <p:tavLst>
                                        <p:tav tm="0">
                                          <p:val>
                                            <p:strVal val="#ppt_y+0.1"/>
                                          </p:val>
                                        </p:tav>
                                        <p:tav tm="100000">
                                          <p:val>
                                            <p:strVal val="#ppt_y"/>
                                          </p:val>
                                        </p:tav>
                                      </p:tavLst>
                                    </p:anim>
                                    <p:animEffect transition="in" filter="fade">
                                      <p:cBhvr>
                                        <p:cTn id="98" dur="500"/>
                                        <p:tgtEl>
                                          <p:spTgt spid="31"/>
                                        </p:tgtEl>
                                      </p:cBhvr>
                                    </p:animEffect>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32"/>
                                        </p:tgtEl>
                                        <p:attrNameLst>
                                          <p:attrName>style.visibility</p:attrName>
                                        </p:attrNameLst>
                                      </p:cBhvr>
                                      <p:to>
                                        <p:strVal val="visible"/>
                                      </p:to>
                                    </p:set>
                                    <p:anim calcmode="lin" valueType="num">
                                      <p:cBhvr additive="base">
                                        <p:cTn id="103" dur="500" fill="hold"/>
                                        <p:tgtEl>
                                          <p:spTgt spid="32"/>
                                        </p:tgtEl>
                                        <p:attrNameLst>
                                          <p:attrName>ppt_x</p:attrName>
                                        </p:attrNameLst>
                                      </p:cBhvr>
                                      <p:tavLst>
                                        <p:tav tm="0">
                                          <p:val>
                                            <p:strVal val="#ppt_x"/>
                                          </p:val>
                                        </p:tav>
                                        <p:tav tm="100000">
                                          <p:val>
                                            <p:strVal val="#ppt_x"/>
                                          </p:val>
                                        </p:tav>
                                      </p:tavLst>
                                    </p:anim>
                                    <p:anim calcmode="lin" valueType="num">
                                      <p:cBhvr additive="base">
                                        <p:cTn id="104" dur="500" fill="hold"/>
                                        <p:tgtEl>
                                          <p:spTgt spid="32"/>
                                        </p:tgtEl>
                                        <p:attrNameLst>
                                          <p:attrName>ppt_y</p:attrName>
                                        </p:attrNameLst>
                                      </p:cBhvr>
                                      <p:tavLst>
                                        <p:tav tm="0">
                                          <p:val>
                                            <p:strVal val="#ppt_y+0.1"/>
                                          </p:val>
                                        </p:tav>
                                        <p:tav tm="100000">
                                          <p:val>
                                            <p:strVal val="#ppt_y"/>
                                          </p:val>
                                        </p:tav>
                                      </p:tavLst>
                                    </p:anim>
                                    <p:animEffect transition="in" filter="fade">
                                      <p:cBhvr>
                                        <p:cTn id="105" dur="500"/>
                                        <p:tgtEl>
                                          <p:spTgt spid="32"/>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3"/>
                                        </p:tgtEl>
                                        <p:attrNameLst>
                                          <p:attrName>style.visibility</p:attrName>
                                        </p:attrNameLst>
                                      </p:cBhvr>
                                      <p:to>
                                        <p:strVal val="visible"/>
                                      </p:to>
                                    </p:set>
                                    <p:animEffect transition="in" filter="fade">
                                      <p:cBhvr>
                                        <p:cTn id="108" dur="500"/>
                                        <p:tgtEl>
                                          <p:spTgt spid="33"/>
                                        </p:tgtEl>
                                      </p:cBhvr>
                                    </p:animEffect>
                                  </p:childTnLst>
                                </p:cTn>
                              </p:par>
                              <p:par>
                                <p:cTn id="109" presetID="22" presetClass="entr" presetSubtype="8" fill="hold" grpId="0" nodeType="withEffect">
                                  <p:stCondLst>
                                    <p:cond delay="200"/>
                                  </p:stCondLst>
                                  <p:childTnLst>
                                    <p:set>
                                      <p:cBhvr>
                                        <p:cTn id="110" dur="1" fill="hold">
                                          <p:stCondLst>
                                            <p:cond delay="0"/>
                                          </p:stCondLst>
                                        </p:cTn>
                                        <p:tgtEl>
                                          <p:spTgt spid="34"/>
                                        </p:tgtEl>
                                        <p:attrNameLst>
                                          <p:attrName>style.visibility</p:attrName>
                                        </p:attrNameLst>
                                      </p:cBhvr>
                                      <p:to>
                                        <p:strVal val="visible"/>
                                      </p:to>
                                    </p:set>
                                    <p:animEffect transition="in" filter="wipe(left)">
                                      <p:cBhvr>
                                        <p:cTn id="111" dur="500"/>
                                        <p:tgtEl>
                                          <p:spTgt spid="34"/>
                                        </p:tgtEl>
                                      </p:cBhvr>
                                    </p:animEffect>
                                  </p:childTnLst>
                                </p:cTn>
                              </p:par>
                              <p:par>
                                <p:cTn id="112" presetID="22" presetClass="entr" presetSubtype="8" fill="hold" grpId="0" nodeType="withEffect">
                                  <p:stCondLst>
                                    <p:cond delay="400"/>
                                  </p:stCondLst>
                                  <p:childTnLst>
                                    <p:set>
                                      <p:cBhvr>
                                        <p:cTn id="113" dur="1" fill="hold">
                                          <p:stCondLst>
                                            <p:cond delay="0"/>
                                          </p:stCondLst>
                                        </p:cTn>
                                        <p:tgtEl>
                                          <p:spTgt spid="35"/>
                                        </p:tgtEl>
                                        <p:attrNameLst>
                                          <p:attrName>style.visibility</p:attrName>
                                        </p:attrNameLst>
                                      </p:cBhvr>
                                      <p:to>
                                        <p:strVal val="visible"/>
                                      </p:to>
                                    </p:set>
                                    <p:animEffect transition="in" filter="wipe(left)">
                                      <p:cBhvr>
                                        <p:cTn id="114" dur="500"/>
                                        <p:tgtEl>
                                          <p:spTgt spid="35"/>
                                        </p:tgtEl>
                                      </p:cBhvr>
                                    </p:animEffect>
                                  </p:childTnLst>
                                </p:cTn>
                              </p:par>
                              <p:par>
                                <p:cTn id="115" presetID="22" presetClass="entr" presetSubtype="8" fill="hold" grpId="0" nodeType="withEffect">
                                  <p:stCondLst>
                                    <p:cond delay="600"/>
                                  </p:stCondLst>
                                  <p:childTnLst>
                                    <p:set>
                                      <p:cBhvr>
                                        <p:cTn id="116" dur="1" fill="hold">
                                          <p:stCondLst>
                                            <p:cond delay="0"/>
                                          </p:stCondLst>
                                        </p:cTn>
                                        <p:tgtEl>
                                          <p:spTgt spid="36"/>
                                        </p:tgtEl>
                                        <p:attrNameLst>
                                          <p:attrName>style.visibility</p:attrName>
                                        </p:attrNameLst>
                                      </p:cBhvr>
                                      <p:to>
                                        <p:strVal val="visible"/>
                                      </p:to>
                                    </p:set>
                                    <p:animEffect transition="in" filter="wipe(left)">
                                      <p:cBhvr>
                                        <p:cTn id="117" dur="500"/>
                                        <p:tgtEl>
                                          <p:spTgt spid="36"/>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37"/>
                                        </p:tgtEl>
                                        <p:attrNameLst>
                                          <p:attrName>style.visibility</p:attrName>
                                        </p:attrNameLst>
                                      </p:cBhvr>
                                      <p:to>
                                        <p:strVal val="visible"/>
                                      </p:to>
                                    </p:set>
                                    <p:animEffect transition="in" filter="fade">
                                      <p:cBhvr>
                                        <p:cTn id="120" dur="500"/>
                                        <p:tgtEl>
                                          <p:spTgt spid="37"/>
                                        </p:tgtEl>
                                      </p:cBhvr>
                                    </p:animEffect>
                                  </p:childTnLst>
                                </p:cTn>
                              </p:par>
                              <p:par>
                                <p:cTn id="121" presetID="22" presetClass="entr" presetSubtype="8" fill="hold" grpId="0" nodeType="withEffect">
                                  <p:stCondLst>
                                    <p:cond delay="200"/>
                                  </p:stCondLst>
                                  <p:childTnLst>
                                    <p:set>
                                      <p:cBhvr>
                                        <p:cTn id="122" dur="1" fill="hold">
                                          <p:stCondLst>
                                            <p:cond delay="0"/>
                                          </p:stCondLst>
                                        </p:cTn>
                                        <p:tgtEl>
                                          <p:spTgt spid="38"/>
                                        </p:tgtEl>
                                        <p:attrNameLst>
                                          <p:attrName>style.visibility</p:attrName>
                                        </p:attrNameLst>
                                      </p:cBhvr>
                                      <p:to>
                                        <p:strVal val="visible"/>
                                      </p:to>
                                    </p:set>
                                    <p:animEffect transition="in" filter="wipe(left)">
                                      <p:cBhvr>
                                        <p:cTn id="123" dur="500"/>
                                        <p:tgtEl>
                                          <p:spTgt spid="38"/>
                                        </p:tgtEl>
                                      </p:cBhvr>
                                    </p:animEffect>
                                  </p:childTnLst>
                                </p:cTn>
                              </p:par>
                              <p:par>
                                <p:cTn id="124" presetID="22" presetClass="entr" presetSubtype="8" fill="hold" grpId="0" nodeType="withEffect">
                                  <p:stCondLst>
                                    <p:cond delay="400"/>
                                  </p:stCondLst>
                                  <p:childTnLst>
                                    <p:set>
                                      <p:cBhvr>
                                        <p:cTn id="125" dur="1" fill="hold">
                                          <p:stCondLst>
                                            <p:cond delay="0"/>
                                          </p:stCondLst>
                                        </p:cTn>
                                        <p:tgtEl>
                                          <p:spTgt spid="39"/>
                                        </p:tgtEl>
                                        <p:attrNameLst>
                                          <p:attrName>style.visibility</p:attrName>
                                        </p:attrNameLst>
                                      </p:cBhvr>
                                      <p:to>
                                        <p:strVal val="visible"/>
                                      </p:to>
                                    </p:set>
                                    <p:animEffect transition="in" filter="wipe(left)">
                                      <p:cBhvr>
                                        <p:cTn id="126" dur="500"/>
                                        <p:tgtEl>
                                          <p:spTgt spid="39"/>
                                        </p:tgtEl>
                                      </p:cBhvr>
                                    </p:animEffect>
                                  </p:childTnLst>
                                </p:cTn>
                              </p:par>
                              <p:par>
                                <p:cTn id="127" presetID="22" presetClass="entr" presetSubtype="8" fill="hold" grpId="0" nodeType="withEffect">
                                  <p:stCondLst>
                                    <p:cond delay="600"/>
                                  </p:stCondLst>
                                  <p:childTnLst>
                                    <p:set>
                                      <p:cBhvr>
                                        <p:cTn id="128" dur="1" fill="hold">
                                          <p:stCondLst>
                                            <p:cond delay="0"/>
                                          </p:stCondLst>
                                        </p:cTn>
                                        <p:tgtEl>
                                          <p:spTgt spid="40"/>
                                        </p:tgtEl>
                                        <p:attrNameLst>
                                          <p:attrName>style.visibility</p:attrName>
                                        </p:attrNameLst>
                                      </p:cBhvr>
                                      <p:to>
                                        <p:strVal val="visible"/>
                                      </p:to>
                                    </p:set>
                                    <p:animEffect transition="in" filter="wipe(left)">
                                      <p:cBhvr>
                                        <p:cTn id="129" dur="500"/>
                                        <p:tgtEl>
                                          <p:spTgt spid="40"/>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41"/>
                                        </p:tgtEl>
                                        <p:attrNameLst>
                                          <p:attrName>style.visibility</p:attrName>
                                        </p:attrNameLst>
                                      </p:cBhvr>
                                      <p:to>
                                        <p:strVal val="visible"/>
                                      </p:to>
                                    </p:set>
                                    <p:animEffect transition="in" filter="fade">
                                      <p:cBhvr>
                                        <p:cTn id="132" dur="500"/>
                                        <p:tgtEl>
                                          <p:spTgt spid="41"/>
                                        </p:tgtEl>
                                      </p:cBhvr>
                                    </p:animEffect>
                                  </p:childTnLst>
                                </p:cTn>
                              </p:par>
                              <p:par>
                                <p:cTn id="133" presetID="22" presetClass="entr" presetSubtype="8" fill="hold" grpId="0" nodeType="withEffect">
                                  <p:stCondLst>
                                    <p:cond delay="200"/>
                                  </p:stCondLst>
                                  <p:childTnLst>
                                    <p:set>
                                      <p:cBhvr>
                                        <p:cTn id="134" dur="1" fill="hold">
                                          <p:stCondLst>
                                            <p:cond delay="0"/>
                                          </p:stCondLst>
                                        </p:cTn>
                                        <p:tgtEl>
                                          <p:spTgt spid="42"/>
                                        </p:tgtEl>
                                        <p:attrNameLst>
                                          <p:attrName>style.visibility</p:attrName>
                                        </p:attrNameLst>
                                      </p:cBhvr>
                                      <p:to>
                                        <p:strVal val="visible"/>
                                      </p:to>
                                    </p:set>
                                    <p:animEffect transition="in" filter="wipe(left)">
                                      <p:cBhvr>
                                        <p:cTn id="135" dur="500"/>
                                        <p:tgtEl>
                                          <p:spTgt spid="42"/>
                                        </p:tgtEl>
                                      </p:cBhvr>
                                    </p:animEffect>
                                  </p:childTnLst>
                                </p:cTn>
                              </p:par>
                              <p:par>
                                <p:cTn id="136" presetID="22" presetClass="entr" presetSubtype="8" fill="hold" grpId="0" nodeType="withEffect">
                                  <p:stCondLst>
                                    <p:cond delay="400"/>
                                  </p:stCondLst>
                                  <p:childTnLst>
                                    <p:set>
                                      <p:cBhvr>
                                        <p:cTn id="137" dur="1" fill="hold">
                                          <p:stCondLst>
                                            <p:cond delay="0"/>
                                          </p:stCondLst>
                                        </p:cTn>
                                        <p:tgtEl>
                                          <p:spTgt spid="43"/>
                                        </p:tgtEl>
                                        <p:attrNameLst>
                                          <p:attrName>style.visibility</p:attrName>
                                        </p:attrNameLst>
                                      </p:cBhvr>
                                      <p:to>
                                        <p:strVal val="visible"/>
                                      </p:to>
                                    </p:set>
                                    <p:animEffect transition="in" filter="wipe(left)">
                                      <p:cBhvr>
                                        <p:cTn id="138" dur="500"/>
                                        <p:tgtEl>
                                          <p:spTgt spid="43"/>
                                        </p:tgtEl>
                                      </p:cBhvr>
                                    </p:animEffect>
                                  </p:childTnLst>
                                </p:cTn>
                              </p:par>
                              <p:par>
                                <p:cTn id="139" presetID="22" presetClass="entr" presetSubtype="8" fill="hold" grpId="0" nodeType="withEffect">
                                  <p:stCondLst>
                                    <p:cond delay="600"/>
                                  </p:stCondLst>
                                  <p:childTnLst>
                                    <p:set>
                                      <p:cBhvr>
                                        <p:cTn id="140" dur="1" fill="hold">
                                          <p:stCondLst>
                                            <p:cond delay="0"/>
                                          </p:stCondLst>
                                        </p:cTn>
                                        <p:tgtEl>
                                          <p:spTgt spid="44"/>
                                        </p:tgtEl>
                                        <p:attrNameLst>
                                          <p:attrName>style.visibility</p:attrName>
                                        </p:attrNameLst>
                                      </p:cBhvr>
                                      <p:to>
                                        <p:strVal val="visible"/>
                                      </p:to>
                                    </p:set>
                                    <p:animEffect transition="in" filter="wipe(left)">
                                      <p:cBhvr>
                                        <p:cTn id="141" dur="500"/>
                                        <p:tgtEl>
                                          <p:spTgt spid="44"/>
                                        </p:tgtEl>
                                      </p:cBhvr>
                                    </p:animEffect>
                                  </p:childTnLst>
                                </p:cTn>
                              </p:par>
                              <p:par>
                                <p:cTn id="142" presetID="2" presetClass="entr" presetSubtype="4" fill="hold" grpId="0" nodeType="withEffect">
                                  <p:stCondLst>
                                    <p:cond delay="0"/>
                                  </p:stCondLst>
                                  <p:childTnLst>
                                    <p:set>
                                      <p:cBhvr>
                                        <p:cTn id="143" dur="1" fill="hold">
                                          <p:stCondLst>
                                            <p:cond delay="0"/>
                                          </p:stCondLst>
                                        </p:cTn>
                                        <p:tgtEl>
                                          <p:spTgt spid="45"/>
                                        </p:tgtEl>
                                        <p:attrNameLst>
                                          <p:attrName>style.visibility</p:attrName>
                                        </p:attrNameLst>
                                      </p:cBhvr>
                                      <p:to>
                                        <p:strVal val="visible"/>
                                      </p:to>
                                    </p:set>
                                    <p:anim calcmode="lin" valueType="num">
                                      <p:cBhvr additive="base">
                                        <p:cTn id="144" dur="500" fill="hold"/>
                                        <p:tgtEl>
                                          <p:spTgt spid="45"/>
                                        </p:tgtEl>
                                        <p:attrNameLst>
                                          <p:attrName>ppt_x</p:attrName>
                                        </p:attrNameLst>
                                      </p:cBhvr>
                                      <p:tavLst>
                                        <p:tav tm="0">
                                          <p:val>
                                            <p:strVal val="#ppt_x"/>
                                          </p:val>
                                        </p:tav>
                                        <p:tav tm="100000">
                                          <p:val>
                                            <p:strVal val="#ppt_x"/>
                                          </p:val>
                                        </p:tav>
                                      </p:tavLst>
                                    </p:anim>
                                    <p:anim calcmode="lin" valueType="num">
                                      <p:cBhvr additive="base">
                                        <p:cTn id="145" dur="500" fill="hold"/>
                                        <p:tgtEl>
                                          <p:spTgt spid="45"/>
                                        </p:tgtEl>
                                        <p:attrNameLst>
                                          <p:attrName>ppt_y</p:attrName>
                                        </p:attrNameLst>
                                      </p:cBhvr>
                                      <p:tavLst>
                                        <p:tav tm="0">
                                          <p:val>
                                            <p:strVal val="#ppt_y+0.1"/>
                                          </p:val>
                                        </p:tav>
                                        <p:tav tm="100000">
                                          <p:val>
                                            <p:strVal val="#ppt_y"/>
                                          </p:val>
                                        </p:tav>
                                      </p:tavLst>
                                    </p:anim>
                                    <p:animEffect transition="in" filter="fade">
                                      <p:cBhvr>
                                        <p:cTn id="146" dur="500"/>
                                        <p:tgtEl>
                                          <p:spTgt spid="45"/>
                                        </p:tgtEl>
                                      </p:cBhvr>
                                    </p:animEffect>
                                  </p:childTnLst>
                                </p:cTn>
                              </p:par>
                            </p:childTnLst>
                          </p:cTn>
                        </p:par>
                      </p:childTnLst>
                    </p:cTn>
                  </p:par>
                  <p:par>
                    <p:cTn id="147" fill="hold">
                      <p:stCondLst>
                        <p:cond delay="indefinite"/>
                      </p:stCondLst>
                      <p:childTnLst>
                        <p:par>
                          <p:cTn id="148" fill="hold">
                            <p:stCondLst>
                              <p:cond delay="0"/>
                            </p:stCondLst>
                            <p:childTnLst>
                              <p:par>
                                <p:cTn id="149" presetID="2" presetClass="entr" presetSubtype="4" fill="hold" grpId="0" nodeType="clickEffect">
                                  <p:stCondLst>
                                    <p:cond delay="0"/>
                                  </p:stCondLst>
                                  <p:childTnLst>
                                    <p:set>
                                      <p:cBhvr>
                                        <p:cTn id="150" dur="1" fill="hold">
                                          <p:stCondLst>
                                            <p:cond delay="0"/>
                                          </p:stCondLst>
                                        </p:cTn>
                                        <p:tgtEl>
                                          <p:spTgt spid="46"/>
                                        </p:tgtEl>
                                        <p:attrNameLst>
                                          <p:attrName>style.visibility</p:attrName>
                                        </p:attrNameLst>
                                      </p:cBhvr>
                                      <p:to>
                                        <p:strVal val="visible"/>
                                      </p:to>
                                    </p:set>
                                    <p:anim calcmode="lin" valueType="num">
                                      <p:cBhvr additive="base">
                                        <p:cTn id="151" dur="500" fill="hold"/>
                                        <p:tgtEl>
                                          <p:spTgt spid="46"/>
                                        </p:tgtEl>
                                        <p:attrNameLst>
                                          <p:attrName>ppt_x</p:attrName>
                                        </p:attrNameLst>
                                      </p:cBhvr>
                                      <p:tavLst>
                                        <p:tav tm="0">
                                          <p:val>
                                            <p:strVal val="#ppt_x"/>
                                          </p:val>
                                        </p:tav>
                                        <p:tav tm="100000">
                                          <p:val>
                                            <p:strVal val="#ppt_x"/>
                                          </p:val>
                                        </p:tav>
                                      </p:tavLst>
                                    </p:anim>
                                    <p:anim calcmode="lin" valueType="num">
                                      <p:cBhvr additive="base">
                                        <p:cTn id="152" dur="500" fill="hold"/>
                                        <p:tgtEl>
                                          <p:spTgt spid="46"/>
                                        </p:tgtEl>
                                        <p:attrNameLst>
                                          <p:attrName>ppt_y</p:attrName>
                                        </p:attrNameLst>
                                      </p:cBhvr>
                                      <p:tavLst>
                                        <p:tav tm="0">
                                          <p:val>
                                            <p:strVal val="#ppt_y+0.1"/>
                                          </p:val>
                                        </p:tav>
                                        <p:tav tm="100000">
                                          <p:val>
                                            <p:strVal val="#ppt_y"/>
                                          </p:val>
                                        </p:tav>
                                      </p:tavLst>
                                    </p:anim>
                                    <p:animEffect transition="in" filter="fade">
                                      <p:cBhvr>
                                        <p:cTn id="153" dur="500"/>
                                        <p:tgtEl>
                                          <p:spTgt spid="46"/>
                                        </p:tgtEl>
                                      </p:cBhvr>
                                    </p:animEffect>
                                  </p:childTnLst>
                                </p:cTn>
                              </p:par>
                              <p:par>
                                <p:cTn id="154" presetID="2" presetClass="entr" presetSubtype="4" fill="hold" grpId="0" nodeType="withEffect">
                                  <p:stCondLst>
                                    <p:cond delay="0"/>
                                  </p:stCondLst>
                                  <p:childTnLst>
                                    <p:set>
                                      <p:cBhvr>
                                        <p:cTn id="155" dur="1" fill="hold">
                                          <p:stCondLst>
                                            <p:cond delay="0"/>
                                          </p:stCondLst>
                                        </p:cTn>
                                        <p:tgtEl>
                                          <p:spTgt spid="47"/>
                                        </p:tgtEl>
                                        <p:attrNameLst>
                                          <p:attrName>style.visibility</p:attrName>
                                        </p:attrNameLst>
                                      </p:cBhvr>
                                      <p:to>
                                        <p:strVal val="visible"/>
                                      </p:to>
                                    </p:set>
                                    <p:anim calcmode="lin" valueType="num">
                                      <p:cBhvr additive="base">
                                        <p:cTn id="156" dur="500" fill="hold"/>
                                        <p:tgtEl>
                                          <p:spTgt spid="47"/>
                                        </p:tgtEl>
                                        <p:attrNameLst>
                                          <p:attrName>ppt_x</p:attrName>
                                        </p:attrNameLst>
                                      </p:cBhvr>
                                      <p:tavLst>
                                        <p:tav tm="0">
                                          <p:val>
                                            <p:strVal val="#ppt_x"/>
                                          </p:val>
                                        </p:tav>
                                        <p:tav tm="100000">
                                          <p:val>
                                            <p:strVal val="#ppt_x"/>
                                          </p:val>
                                        </p:tav>
                                      </p:tavLst>
                                    </p:anim>
                                    <p:anim calcmode="lin" valueType="num">
                                      <p:cBhvr additive="base">
                                        <p:cTn id="157" dur="500" fill="hold"/>
                                        <p:tgtEl>
                                          <p:spTgt spid="47"/>
                                        </p:tgtEl>
                                        <p:attrNameLst>
                                          <p:attrName>ppt_y</p:attrName>
                                        </p:attrNameLst>
                                      </p:cBhvr>
                                      <p:tavLst>
                                        <p:tav tm="0">
                                          <p:val>
                                            <p:strVal val="#ppt_y+0.1"/>
                                          </p:val>
                                        </p:tav>
                                        <p:tav tm="100000">
                                          <p:val>
                                            <p:strVal val="#ppt_y"/>
                                          </p:val>
                                        </p:tav>
                                      </p:tavLst>
                                    </p:anim>
                                    <p:animEffect transition="in" filter="fade">
                                      <p:cBhvr>
                                        <p:cTn id="158"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1"/>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Choosing the Rule for a Banking Table</a:t>
            </a:r>
            <a:endParaRPr lang="en-US" sz="2800" dirty="0"/>
          </a:p>
        </p:txBody>
      </p:sp>
      <p:sp>
        <p:nvSpPr>
          <p:cNvPr id="3" name="Text 2"/>
          <p:cNvSpPr txBox="1"/>
          <p:nvPr/>
        </p:nvSpPr>
        <p:spPr>
          <a:xfrm>
            <a:off x="457200" y="749808"/>
            <a:ext cx="8229600" cy="320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Ask of every foreign key: if the parent disappeared, would anyone ever need this child row again?</a:t>
            </a:r>
            <a:endParaRPr lang="en-US" sz="1300" dirty="0"/>
          </a:p>
        </p:txBody>
      </p:sp>
      <p:sp>
        <p:nvSpPr>
          <p:cNvPr id="4" name="a1f_ct3"/>
          <p:cNvSpPr txBox="1"/>
          <p:nvPr/>
        </p:nvSpPr>
        <p:spPr>
          <a:xfrm>
            <a:off x="457200" y="1280160"/>
            <a:ext cx="2743200" cy="475488"/>
          </a:xfrm>
          <a:prstGeom prst="roundRect">
            <a:avLst>
              <a:gd name="adj" fmla="val 10000"/>
            </a:avLst>
          </a:prstGeom>
          <a:solidFill>
            <a:srgbClr val="FFFFFF"/>
          </a:solidFill>
          <a:ln w="12700">
            <a:solidFill>
              <a:srgbClr val="E2E8F0"/>
            </a:solidFill>
            <a:prstDash val="solid"/>
          </a:ln>
        </p:spPr>
        <p:txBody>
          <a:bodyPr wrap="square" lIns="109728" tIns="0" rIns="0" bIns="0" rtlCol="0" anchor="ctr"/>
          <a:lstStyle/>
          <a:p>
            <a:pPr marL="0" indent="0">
              <a:buNone/>
            </a:pPr>
            <a:r>
              <a:rPr lang="en-US" sz="1100" b="1" dirty="0">
                <a:solidFill>
                  <a:srgbClr val="0F172A"/>
                </a:solidFill>
                <a:latin typeface="Courier New" pitchFamily="34" charset="0"/>
                <a:ea typeface="Courier New" pitchFamily="34" charset="-122"/>
                <a:cs typeface="Courier New" pitchFamily="34" charset="-120"/>
              </a:rPr>
              <a:t>account → customer</a:t>
            </a:r>
            <a:endParaRPr lang="en-US" sz="1100" dirty="0"/>
          </a:p>
        </p:txBody>
      </p:sp>
      <p:sp>
        <p:nvSpPr>
          <p:cNvPr id="5" name="a1fd150_cr4"/>
          <p:cNvSpPr txBox="1"/>
          <p:nvPr/>
        </p:nvSpPr>
        <p:spPr>
          <a:xfrm>
            <a:off x="3337560" y="1353312"/>
            <a:ext cx="1188720" cy="329184"/>
          </a:xfrm>
          <a:prstGeom prst="roundRect">
            <a:avLst>
              <a:gd name="adj" fmla="val 50000"/>
            </a:avLst>
          </a:prstGeom>
          <a:solidFill>
            <a:srgbClr val="B45309"/>
          </a:solidFill>
          <a:ln w="12700">
            <a:solidFill>
              <a:srgbClr val="B45309"/>
            </a:solidFill>
            <a:prstDash val="solid"/>
          </a:ln>
        </p:spPr>
        <p:txBody>
          <a:bodyPr wrap="square" lIns="0" tIns="0" rIns="0" bIns="0"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RESTRICT</a:t>
            </a:r>
            <a:endParaRPr lang="en-US" sz="1100" dirty="0"/>
          </a:p>
        </p:txBody>
      </p:sp>
      <p:sp>
        <p:nvSpPr>
          <p:cNvPr id="6" name="a1fd250_cw5"/>
          <p:cNvSpPr txBox="1"/>
          <p:nvPr/>
        </p:nvSpPr>
        <p:spPr>
          <a:xfrm>
            <a:off x="4663440" y="1280160"/>
            <a:ext cx="4023360" cy="475488"/>
          </a:xfrm>
          <a:prstGeom prst="rect">
            <a:avLst/>
          </a:prstGeom>
          <a:noFill/>
          <a:ln/>
        </p:spPr>
        <p:txBody>
          <a:bodyPr wrap="square" lIns="0" tIns="0" rIns="0" bIns="0" rtlCol="0" anchor="ctr"/>
          <a:lstStyle/>
          <a:p>
            <a:pPr marL="0" indent="0">
              <a:buNone/>
            </a:pPr>
            <a:r>
              <a:rPr lang="en-US" sz="1150" dirty="0">
                <a:solidFill>
                  <a:srgbClr val="334155"/>
                </a:solidFill>
                <a:latin typeface="Calibri" pitchFamily="34" charset="0"/>
                <a:ea typeface="Calibri" pitchFamily="34" charset="-122"/>
                <a:cs typeface="Calibri" pitchFamily="34" charset="-120"/>
              </a:rPr>
              <a:t>Deleting a customer must never silently remove their accounts</a:t>
            </a:r>
            <a:endParaRPr lang="en-US" sz="1150" dirty="0"/>
          </a:p>
        </p:txBody>
      </p:sp>
      <p:sp>
        <p:nvSpPr>
          <p:cNvPr id="7" name="a2f_ct6"/>
          <p:cNvSpPr txBox="1"/>
          <p:nvPr/>
        </p:nvSpPr>
        <p:spPr>
          <a:xfrm>
            <a:off x="457200" y="1847088"/>
            <a:ext cx="2743200" cy="475488"/>
          </a:xfrm>
          <a:prstGeom prst="roundRect">
            <a:avLst>
              <a:gd name="adj" fmla="val 10000"/>
            </a:avLst>
          </a:prstGeom>
          <a:solidFill>
            <a:srgbClr val="FFFFFF"/>
          </a:solidFill>
          <a:ln w="12700">
            <a:solidFill>
              <a:srgbClr val="E2E8F0"/>
            </a:solidFill>
            <a:prstDash val="solid"/>
          </a:ln>
        </p:spPr>
        <p:txBody>
          <a:bodyPr wrap="square" lIns="109728" tIns="0" rIns="0" bIns="0" rtlCol="0" anchor="ctr"/>
          <a:lstStyle/>
          <a:p>
            <a:pPr marL="0" indent="0">
              <a:buNone/>
            </a:pPr>
            <a:r>
              <a:rPr lang="en-US" sz="1100" b="1" dirty="0">
                <a:solidFill>
                  <a:srgbClr val="0F172A"/>
                </a:solidFill>
                <a:latin typeface="Courier New" pitchFamily="34" charset="0"/>
                <a:ea typeface="Courier New" pitchFamily="34" charset="-122"/>
                <a:cs typeface="Courier New" pitchFamily="34" charset="-120"/>
              </a:rPr>
              <a:t>account_txn → account</a:t>
            </a:r>
            <a:endParaRPr lang="en-US" sz="1100" dirty="0"/>
          </a:p>
        </p:txBody>
      </p:sp>
      <p:sp>
        <p:nvSpPr>
          <p:cNvPr id="8" name="a2fd150_cr7"/>
          <p:cNvSpPr txBox="1"/>
          <p:nvPr/>
        </p:nvSpPr>
        <p:spPr>
          <a:xfrm>
            <a:off x="3337560" y="1920240"/>
            <a:ext cx="1188720" cy="329184"/>
          </a:xfrm>
          <a:prstGeom prst="roundRect">
            <a:avLst>
              <a:gd name="adj" fmla="val 50000"/>
            </a:avLst>
          </a:prstGeom>
          <a:solidFill>
            <a:srgbClr val="B45309"/>
          </a:solidFill>
          <a:ln w="12700">
            <a:solidFill>
              <a:srgbClr val="B45309"/>
            </a:solidFill>
            <a:prstDash val="solid"/>
          </a:ln>
        </p:spPr>
        <p:txBody>
          <a:bodyPr wrap="square" lIns="0" tIns="0" rIns="0" bIns="0"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RESTRICT</a:t>
            </a:r>
            <a:endParaRPr lang="en-US" sz="1100" dirty="0"/>
          </a:p>
        </p:txBody>
      </p:sp>
      <p:sp>
        <p:nvSpPr>
          <p:cNvPr id="9" name="a2fd250_cw8"/>
          <p:cNvSpPr txBox="1"/>
          <p:nvPr/>
        </p:nvSpPr>
        <p:spPr>
          <a:xfrm>
            <a:off x="4663440" y="1847088"/>
            <a:ext cx="4023360" cy="475488"/>
          </a:xfrm>
          <a:prstGeom prst="rect">
            <a:avLst/>
          </a:prstGeom>
          <a:noFill/>
          <a:ln/>
        </p:spPr>
        <p:txBody>
          <a:bodyPr wrap="square" lIns="0" tIns="0" rIns="0" bIns="0" rtlCol="0" anchor="ctr"/>
          <a:lstStyle/>
          <a:p>
            <a:pPr marL="0" indent="0">
              <a:buNone/>
            </a:pPr>
            <a:r>
              <a:rPr lang="en-US" sz="1150" dirty="0">
                <a:solidFill>
                  <a:srgbClr val="334155"/>
                </a:solidFill>
                <a:latin typeface="Calibri" pitchFamily="34" charset="0"/>
                <a:ea typeface="Calibri" pitchFamily="34" charset="-122"/>
                <a:cs typeface="Calibri" pitchFamily="34" charset="-120"/>
              </a:rPr>
              <a:t>Transaction history is regulated evidence</a:t>
            </a:r>
            <a:endParaRPr lang="en-US" sz="1150" dirty="0"/>
          </a:p>
        </p:txBody>
      </p:sp>
      <p:sp>
        <p:nvSpPr>
          <p:cNvPr id="10" name="a3f_ct9"/>
          <p:cNvSpPr txBox="1"/>
          <p:nvPr/>
        </p:nvSpPr>
        <p:spPr>
          <a:xfrm>
            <a:off x="457200" y="2414016"/>
            <a:ext cx="2743200" cy="475488"/>
          </a:xfrm>
          <a:prstGeom prst="roundRect">
            <a:avLst>
              <a:gd name="adj" fmla="val 10000"/>
            </a:avLst>
          </a:prstGeom>
          <a:solidFill>
            <a:srgbClr val="FFFFFF"/>
          </a:solidFill>
          <a:ln w="12700">
            <a:solidFill>
              <a:srgbClr val="E2E8F0"/>
            </a:solidFill>
            <a:prstDash val="solid"/>
          </a:ln>
        </p:spPr>
        <p:txBody>
          <a:bodyPr wrap="square" lIns="109728" tIns="0" rIns="0" bIns="0" rtlCol="0" anchor="ctr"/>
          <a:lstStyle/>
          <a:p>
            <a:pPr marL="0" indent="0">
              <a:buNone/>
            </a:pPr>
            <a:r>
              <a:rPr lang="en-US" sz="1100" b="1" dirty="0">
                <a:solidFill>
                  <a:srgbClr val="0F172A"/>
                </a:solidFill>
                <a:latin typeface="Courier New" pitchFamily="34" charset="0"/>
                <a:ea typeface="Courier New" pitchFamily="34" charset="-122"/>
                <a:cs typeface="Courier New" pitchFamily="34" charset="-120"/>
              </a:rPr>
              <a:t>loan_payment → loan</a:t>
            </a:r>
            <a:endParaRPr lang="en-US" sz="1100" dirty="0"/>
          </a:p>
        </p:txBody>
      </p:sp>
      <p:sp>
        <p:nvSpPr>
          <p:cNvPr id="11" name="a3fd150_cr10"/>
          <p:cNvSpPr txBox="1"/>
          <p:nvPr/>
        </p:nvSpPr>
        <p:spPr>
          <a:xfrm>
            <a:off x="3337560" y="2487168"/>
            <a:ext cx="1188720" cy="329184"/>
          </a:xfrm>
          <a:prstGeom prst="roundRect">
            <a:avLst>
              <a:gd name="adj" fmla="val 50000"/>
            </a:avLst>
          </a:prstGeom>
          <a:solidFill>
            <a:srgbClr val="DC2626"/>
          </a:solidFill>
          <a:ln w="12700">
            <a:solidFill>
              <a:srgbClr val="DC2626"/>
            </a:solidFill>
            <a:prstDash val="solid"/>
          </a:ln>
        </p:spPr>
        <p:txBody>
          <a:bodyPr wrap="square" lIns="0" tIns="0" rIns="0" bIns="0"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CASCADE</a:t>
            </a:r>
            <a:endParaRPr lang="en-US" sz="1100" dirty="0"/>
          </a:p>
        </p:txBody>
      </p:sp>
      <p:sp>
        <p:nvSpPr>
          <p:cNvPr id="12" name="a3fd250_cw11"/>
          <p:cNvSpPr txBox="1"/>
          <p:nvPr/>
        </p:nvSpPr>
        <p:spPr>
          <a:xfrm>
            <a:off x="4663440" y="2414016"/>
            <a:ext cx="4023360" cy="475488"/>
          </a:xfrm>
          <a:prstGeom prst="rect">
            <a:avLst/>
          </a:prstGeom>
          <a:noFill/>
          <a:ln/>
        </p:spPr>
        <p:txBody>
          <a:bodyPr wrap="square" lIns="0" tIns="0" rIns="0" bIns="0" rtlCol="0" anchor="ctr"/>
          <a:lstStyle/>
          <a:p>
            <a:pPr marL="0" indent="0">
              <a:buNone/>
            </a:pPr>
            <a:r>
              <a:rPr lang="en-US" sz="1150" dirty="0">
                <a:solidFill>
                  <a:srgbClr val="334155"/>
                </a:solidFill>
                <a:latin typeface="Calibri" pitchFamily="34" charset="0"/>
                <a:ea typeface="Calibri" pitchFamily="34" charset="-122"/>
                <a:cs typeface="Calibri" pitchFamily="34" charset="-120"/>
              </a:rPr>
              <a:t>An instalment schedule has no meaning without its loan</a:t>
            </a:r>
            <a:endParaRPr lang="en-US" sz="1150" dirty="0"/>
          </a:p>
        </p:txBody>
      </p:sp>
      <p:sp>
        <p:nvSpPr>
          <p:cNvPr id="13" name="a4f_ct12"/>
          <p:cNvSpPr txBox="1"/>
          <p:nvPr/>
        </p:nvSpPr>
        <p:spPr>
          <a:xfrm>
            <a:off x="457200" y="2980944"/>
            <a:ext cx="2743200" cy="475488"/>
          </a:xfrm>
          <a:prstGeom prst="roundRect">
            <a:avLst>
              <a:gd name="adj" fmla="val 10000"/>
            </a:avLst>
          </a:prstGeom>
          <a:solidFill>
            <a:srgbClr val="FFFFFF"/>
          </a:solidFill>
          <a:ln w="12700">
            <a:solidFill>
              <a:srgbClr val="E2E8F0"/>
            </a:solidFill>
            <a:prstDash val="solid"/>
          </a:ln>
        </p:spPr>
        <p:txBody>
          <a:bodyPr wrap="square" lIns="109728" tIns="0" rIns="0" bIns="0" rtlCol="0" anchor="ctr"/>
          <a:lstStyle/>
          <a:p>
            <a:pPr marL="0" indent="0">
              <a:buNone/>
            </a:pPr>
            <a:r>
              <a:rPr lang="en-US" sz="1100" b="1" dirty="0">
                <a:solidFill>
                  <a:srgbClr val="0F172A"/>
                </a:solidFill>
                <a:latin typeface="Courier New" pitchFamily="34" charset="0"/>
                <a:ea typeface="Courier New" pitchFamily="34" charset="-122"/>
                <a:cs typeface="Courier New" pitchFamily="34" charset="-120"/>
              </a:rPr>
              <a:t>beneficiary → customer</a:t>
            </a:r>
            <a:endParaRPr lang="en-US" sz="1100" dirty="0"/>
          </a:p>
        </p:txBody>
      </p:sp>
      <p:sp>
        <p:nvSpPr>
          <p:cNvPr id="14" name="a4fd150_cr13"/>
          <p:cNvSpPr txBox="1"/>
          <p:nvPr/>
        </p:nvSpPr>
        <p:spPr>
          <a:xfrm>
            <a:off x="3337560" y="3054096"/>
            <a:ext cx="1188720" cy="329184"/>
          </a:xfrm>
          <a:prstGeom prst="roundRect">
            <a:avLst>
              <a:gd name="adj" fmla="val 50000"/>
            </a:avLst>
          </a:prstGeom>
          <a:solidFill>
            <a:srgbClr val="DC2626"/>
          </a:solidFill>
          <a:ln w="12700">
            <a:solidFill>
              <a:srgbClr val="DC2626"/>
            </a:solidFill>
            <a:prstDash val="solid"/>
          </a:ln>
        </p:spPr>
        <p:txBody>
          <a:bodyPr wrap="square" lIns="0" tIns="0" rIns="0" bIns="0"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CASCADE</a:t>
            </a:r>
            <a:endParaRPr lang="en-US" sz="1100" dirty="0"/>
          </a:p>
        </p:txBody>
      </p:sp>
      <p:sp>
        <p:nvSpPr>
          <p:cNvPr id="15" name="a4fd250_cw14"/>
          <p:cNvSpPr txBox="1"/>
          <p:nvPr/>
        </p:nvSpPr>
        <p:spPr>
          <a:xfrm>
            <a:off x="4663440" y="2980944"/>
            <a:ext cx="4023360" cy="475488"/>
          </a:xfrm>
          <a:prstGeom prst="rect">
            <a:avLst/>
          </a:prstGeom>
          <a:noFill/>
          <a:ln/>
        </p:spPr>
        <p:txBody>
          <a:bodyPr wrap="square" lIns="0" tIns="0" rIns="0" bIns="0" rtlCol="0" anchor="ctr"/>
          <a:lstStyle/>
          <a:p>
            <a:pPr marL="0" indent="0">
              <a:buNone/>
            </a:pPr>
            <a:r>
              <a:rPr lang="en-US" sz="1150" dirty="0">
                <a:solidFill>
                  <a:srgbClr val="334155"/>
                </a:solidFill>
                <a:latin typeface="Calibri" pitchFamily="34" charset="0"/>
                <a:ea typeface="Calibri" pitchFamily="34" charset="-122"/>
                <a:cs typeface="Calibri" pitchFamily="34" charset="-120"/>
              </a:rPr>
              <a:t>A payee list is a preference, not a financial record</a:t>
            </a:r>
            <a:endParaRPr lang="en-US" sz="1150" dirty="0"/>
          </a:p>
        </p:txBody>
      </p:sp>
      <p:sp>
        <p:nvSpPr>
          <p:cNvPr id="16" name="a5f_ct15"/>
          <p:cNvSpPr txBox="1"/>
          <p:nvPr/>
        </p:nvSpPr>
        <p:spPr>
          <a:xfrm>
            <a:off x="457200" y="3547872"/>
            <a:ext cx="2743200" cy="475488"/>
          </a:xfrm>
          <a:prstGeom prst="roundRect">
            <a:avLst>
              <a:gd name="adj" fmla="val 10000"/>
            </a:avLst>
          </a:prstGeom>
          <a:solidFill>
            <a:srgbClr val="FFFFFF"/>
          </a:solidFill>
          <a:ln w="12700">
            <a:solidFill>
              <a:srgbClr val="E2E8F0"/>
            </a:solidFill>
            <a:prstDash val="solid"/>
          </a:ln>
        </p:spPr>
        <p:txBody>
          <a:bodyPr wrap="square" lIns="109728" tIns="0" rIns="0" bIns="0" rtlCol="0" anchor="ctr"/>
          <a:lstStyle/>
          <a:p>
            <a:pPr marL="0" indent="0">
              <a:buNone/>
            </a:pPr>
            <a:r>
              <a:rPr lang="en-US" sz="1100" b="1" dirty="0">
                <a:solidFill>
                  <a:srgbClr val="0F172A"/>
                </a:solidFill>
                <a:latin typeface="Courier New" pitchFamily="34" charset="0"/>
                <a:ea typeface="Courier New" pitchFamily="34" charset="-122"/>
                <a:cs typeface="Courier New" pitchFamily="34" charset="-120"/>
              </a:rPr>
              <a:t>employee.manager_id → employee</a:t>
            </a:r>
            <a:endParaRPr lang="en-US" sz="1100" dirty="0"/>
          </a:p>
        </p:txBody>
      </p:sp>
      <p:sp>
        <p:nvSpPr>
          <p:cNvPr id="17" name="a5fd150_cr16"/>
          <p:cNvSpPr txBox="1"/>
          <p:nvPr/>
        </p:nvSpPr>
        <p:spPr>
          <a:xfrm>
            <a:off x="3337560" y="3621024"/>
            <a:ext cx="1188720" cy="329184"/>
          </a:xfrm>
          <a:prstGeom prst="roundRect">
            <a:avLst>
              <a:gd name="adj" fmla="val 50000"/>
            </a:avLst>
          </a:prstGeom>
          <a:solidFill>
            <a:srgbClr val="0F766E"/>
          </a:solidFill>
          <a:ln w="12700">
            <a:solidFill>
              <a:srgbClr val="0F766E"/>
            </a:solidFill>
            <a:prstDash val="solid"/>
          </a:ln>
        </p:spPr>
        <p:txBody>
          <a:bodyPr wrap="square" lIns="0" tIns="0" rIns="0" bIns="0"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SET NULL</a:t>
            </a:r>
            <a:endParaRPr lang="en-US" sz="1100" dirty="0"/>
          </a:p>
        </p:txBody>
      </p:sp>
      <p:sp>
        <p:nvSpPr>
          <p:cNvPr id="18" name="a5fd250_cw17"/>
          <p:cNvSpPr txBox="1"/>
          <p:nvPr/>
        </p:nvSpPr>
        <p:spPr>
          <a:xfrm>
            <a:off x="4663440" y="3547872"/>
            <a:ext cx="4023360" cy="475488"/>
          </a:xfrm>
          <a:prstGeom prst="rect">
            <a:avLst/>
          </a:prstGeom>
          <a:noFill/>
          <a:ln/>
        </p:spPr>
        <p:txBody>
          <a:bodyPr wrap="square" lIns="0" tIns="0" rIns="0" bIns="0" rtlCol="0" anchor="ctr"/>
          <a:lstStyle/>
          <a:p>
            <a:pPr marL="0" indent="0">
              <a:buNone/>
            </a:pPr>
            <a:r>
              <a:rPr lang="en-US" sz="1150" dirty="0">
                <a:solidFill>
                  <a:srgbClr val="334155"/>
                </a:solidFill>
                <a:latin typeface="Calibri" pitchFamily="34" charset="0"/>
                <a:ea typeface="Calibri" pitchFamily="34" charset="-122"/>
                <a:cs typeface="Calibri" pitchFamily="34" charset="-120"/>
              </a:rPr>
              <a:t>A manager leaves; the team must not be deleted with them</a:t>
            </a:r>
            <a:endParaRPr lang="en-US" sz="1150" dirty="0"/>
          </a:p>
        </p:txBody>
      </p:sp>
      <p:sp>
        <p:nvSpPr>
          <p:cNvPr id="19" name="a6u_nb18"/>
          <p:cNvSpPr/>
          <p:nvPr/>
        </p:nvSpPr>
        <p:spPr>
          <a:xfrm>
            <a:off x="457200" y="4206240"/>
            <a:ext cx="8229600" cy="640080"/>
          </a:xfrm>
          <a:prstGeom prst="roundRect">
            <a:avLst>
              <a:gd name="adj" fmla="val 9412"/>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pic>
        <p:nvPicPr>
          <p:cNvPr id="20" name="a6u_ni19" descr="image.png"/>
          <p:cNvPicPr>
            <a:picLocks noChangeAspect="1"/>
          </p:cNvPicPr>
          <p:nvPr/>
        </p:nvPicPr>
        <p:blipFill>
          <a:blip r:embed="rId3"/>
          <a:stretch>
            <a:fillRect/>
          </a:stretch>
        </p:blipFill>
        <p:spPr>
          <a:xfrm>
            <a:off x="594360" y="4366260"/>
            <a:ext cx="320040" cy="320040"/>
          </a:xfrm>
          <a:prstGeom prst="rect">
            <a:avLst/>
          </a:prstGeom>
        </p:spPr>
      </p:pic>
      <p:sp>
        <p:nvSpPr>
          <p:cNvPr id="21" name="a6u_nt20"/>
          <p:cNvSpPr txBox="1"/>
          <p:nvPr/>
        </p:nvSpPr>
        <p:spPr>
          <a:xfrm>
            <a:off x="1005840" y="4206240"/>
            <a:ext cx="7543800" cy="640080"/>
          </a:xfrm>
          <a:prstGeom prst="rect">
            <a:avLst/>
          </a:prstGeom>
          <a:noFill/>
          <a:ln/>
        </p:spPr>
        <p:txBody>
          <a:bodyPr wrap="square" lIns="0" tIns="0" rIns="0" bIns="0" rtlCol="0" anchor="ctr"/>
          <a:lstStyle/>
          <a:p>
            <a:pPr marL="0" indent="0">
              <a:buNone/>
            </a:pPr>
            <a:r>
              <a:rPr lang="en-US" sz="1200" b="1" dirty="0">
                <a:solidFill>
                  <a:srgbClr val="334155"/>
                </a:solidFill>
                <a:latin typeface="Calibri" pitchFamily="34" charset="0"/>
                <a:ea typeface="Calibri" pitchFamily="34" charset="-122"/>
                <a:cs typeface="Calibri" pitchFamily="34" charset="-120"/>
              </a:rPr>
              <a:t>The test: </a:t>
            </a:r>
            <a:r>
              <a:rPr lang="en-US" sz="1200" dirty="0">
                <a:solidFill>
                  <a:srgbClr val="334155"/>
                </a:solidFill>
                <a:latin typeface="Calibri" pitchFamily="34" charset="0"/>
                <a:ea typeface="Calibri" pitchFamily="34" charset="-122"/>
                <a:cs typeface="Calibri" pitchFamily="34" charset="-120"/>
              </a:rPr>
              <a:t>a loan's schedule — nobody needs it without the loan (CASCADE). A customer's transactions — the regulator does (RESTRICT).</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grpId="0" nodeType="withEffect">
                                  <p:stCondLst>
                                    <p:cond delay="15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25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grpId="0" nodeType="withEffect">
                                  <p:stCondLst>
                                    <p:cond delay="15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25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15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25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500"/>
                                        <p:tgtEl>
                                          <p:spTgt spid="16"/>
                                        </p:tgtEl>
                                      </p:cBhvr>
                                    </p:animEffect>
                                  </p:childTnLst>
                                </p:cTn>
                              </p:par>
                              <p:par>
                                <p:cTn id="52" presetID="10" presetClass="entr" presetSubtype="0" fill="hold" grpId="0" nodeType="withEffect">
                                  <p:stCondLst>
                                    <p:cond delay="15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500"/>
                                        <p:tgtEl>
                                          <p:spTgt spid="17"/>
                                        </p:tgtEl>
                                      </p:cBhvr>
                                    </p:animEffect>
                                  </p:childTnLst>
                                </p:cTn>
                              </p:par>
                              <p:par>
                                <p:cTn id="55" presetID="10" presetClass="entr" presetSubtype="0" fill="hold" grpId="0" nodeType="withEffect">
                                  <p:stCondLst>
                                    <p:cond delay="25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500"/>
                                        <p:tgtEl>
                                          <p:spTgt spid="18"/>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1"/>
                                          </p:val>
                                        </p:tav>
                                        <p:tav tm="100000">
                                          <p:val>
                                            <p:strVal val="#ppt_y"/>
                                          </p:val>
                                        </p:tav>
                                      </p:tavLst>
                                    </p:anim>
                                    <p:animEffect transition="in" filter="fade">
                                      <p:cBhvr>
                                        <p:cTn id="64" dur="500"/>
                                        <p:tgtEl>
                                          <p:spTgt spid="19"/>
                                        </p:tgtEl>
                                      </p:cBhvr>
                                    </p:animEffect>
                                  </p:childTnLst>
                                </p:cTn>
                              </p:par>
                              <p:par>
                                <p:cTn id="65" presetID="2" presetClass="entr" presetSubtype="4" fill="hold" nodeType="withEffect">
                                  <p:stCondLst>
                                    <p:cond delay="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1"/>
                                          </p:val>
                                        </p:tav>
                                        <p:tav tm="100000">
                                          <p:val>
                                            <p:strVal val="#ppt_y"/>
                                          </p:val>
                                        </p:tav>
                                      </p:tavLst>
                                    </p:anim>
                                    <p:animEffect transition="in" filter="fade">
                                      <p:cBhvr>
                                        <p:cTn id="69" dur="500"/>
                                        <p:tgtEl>
                                          <p:spTgt spid="20"/>
                                        </p:tgtEl>
                                      </p:cBhvr>
                                    </p:animEffect>
                                  </p:childTnLst>
                                </p:cTn>
                              </p:par>
                              <p:par>
                                <p:cTn id="70" presetID="2" presetClass="entr" presetSubtype="4" fill="hold" grpId="0" nodeType="withEffect">
                                  <p:stCondLst>
                                    <p:cond delay="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1"/>
                                          </p:val>
                                        </p:tav>
                                        <p:tav tm="100000">
                                          <p:val>
                                            <p:strVal val="#ppt_y"/>
                                          </p:val>
                                        </p:tav>
                                      </p:tavLst>
                                    </p:anim>
                                    <p:animEffect transition="in" filter="fade">
                                      <p:cBhvr>
                                        <p:cTn id="7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1"/>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In Practice: Declaring the Rules</a:t>
            </a:r>
            <a:endParaRPr lang="en-US" sz="2800" dirty="0"/>
          </a:p>
        </p:txBody>
      </p:sp>
      <p:sp>
        <p:nvSpPr>
          <p:cNvPr id="3" name="Text 2"/>
          <p:cNvSpPr txBox="1"/>
          <p:nvPr/>
        </p:nvSpPr>
        <p:spPr>
          <a:xfrm>
            <a:off x="457200" y="749808"/>
            <a:ext cx="8229600" cy="320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One foreign key per decision — each with a name and a deliberate rule</a:t>
            </a:r>
            <a:endParaRPr lang="en-US" sz="1300" dirty="0"/>
          </a:p>
        </p:txBody>
      </p:sp>
      <p:sp>
        <p:nvSpPr>
          <p:cNvPr id="4" name="a1u_h3"/>
          <p:cNvSpPr txBox="1"/>
          <p:nvPr/>
        </p:nvSpPr>
        <p:spPr>
          <a:xfrm>
            <a:off x="457200" y="1234440"/>
            <a:ext cx="2606040" cy="329184"/>
          </a:xfrm>
          <a:prstGeom prst="roundRect">
            <a:avLst>
              <a:gd name="adj" fmla="val 50000"/>
            </a:avLst>
          </a:prstGeom>
          <a:solidFill>
            <a:srgbClr val="B45309"/>
          </a:solidFill>
          <a:ln w="12700">
            <a:solidFill>
              <a:srgbClr val="B45309"/>
            </a:solidFill>
            <a:prstDash val="solid"/>
          </a:ln>
        </p:spPr>
        <p:txBody>
          <a:bodyPr wrap="square" lIns="0" tIns="0" rIns="0" bIns="0" rtlCol="0" anchor="ctr"/>
          <a:lstStyle/>
          <a:p>
            <a:pPr marL="0" indent="0" algn="ctr">
              <a:buNone/>
            </a:pPr>
            <a:r>
              <a:rPr lang="en-US" sz="1150" b="1" dirty="0">
                <a:solidFill>
                  <a:srgbClr val="FFFFFF"/>
                </a:solidFill>
                <a:latin typeface="Courier New" pitchFamily="34" charset="0"/>
                <a:ea typeface="Courier New" pitchFamily="34" charset="-122"/>
                <a:cs typeface="Courier New" pitchFamily="34" charset="-120"/>
              </a:rPr>
              <a:t>RESTRICT</a:t>
            </a:r>
            <a:endParaRPr lang="en-US" sz="1150" dirty="0"/>
          </a:p>
        </p:txBody>
      </p:sp>
      <p:sp>
        <p:nvSpPr>
          <p:cNvPr id="5" name="a1f_codebg4"/>
          <p:cNvSpPr/>
          <p:nvPr/>
        </p:nvSpPr>
        <p:spPr>
          <a:xfrm>
            <a:off x="457200" y="1691640"/>
            <a:ext cx="2606040" cy="1417320"/>
          </a:xfrm>
          <a:prstGeom prst="roundRect">
            <a:avLst>
              <a:gd name="adj" fmla="val 3150"/>
            </a:avLst>
          </a:prstGeom>
          <a:solidFill>
            <a:srgbClr val="1E293B"/>
          </a:solidFill>
          <a:ln w="12700">
            <a:solidFill>
              <a:srgbClr val="1E293B"/>
            </a:solidFill>
            <a:prstDash val="solid"/>
          </a:ln>
        </p:spPr>
      </p:sp>
      <p:sp>
        <p:nvSpPr>
          <p:cNvPr id="6" name="a1wd0_code5"/>
          <p:cNvSpPr txBox="1"/>
          <p:nvPr/>
        </p:nvSpPr>
        <p:spPr>
          <a:xfrm>
            <a:off x="640080" y="1828800"/>
            <a:ext cx="2286000" cy="228600"/>
          </a:xfrm>
          <a:prstGeom prst="rect">
            <a:avLst/>
          </a:prstGeom>
          <a:noFill/>
          <a:ln/>
        </p:spPr>
        <p:txBody>
          <a:bodyPr wrap="square" lIns="0" tIns="0" rIns="0" bIns="0" rtlCol="0" anchor="ctr"/>
          <a:lstStyle/>
          <a:p>
            <a:pPr marL="0" indent="0">
              <a:buNone/>
            </a:pPr>
            <a:r>
              <a:rPr lang="en-US" sz="1050" b="1" dirty="0">
                <a:solidFill>
                  <a:srgbClr val="C4B5FD"/>
                </a:solidFill>
                <a:latin typeface="Courier New" pitchFamily="34" charset="0"/>
                <a:ea typeface="Courier New" pitchFamily="34" charset="-122"/>
                <a:cs typeface="Courier New" pitchFamily="34" charset="-120"/>
              </a:rPr>
              <a:t>ALTER</a:t>
            </a: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TABLE</a:t>
            </a:r>
            <a:r>
              <a:rPr lang="en-US" sz="1050" dirty="0">
                <a:solidFill>
                  <a:srgbClr val="E2E8F0"/>
                </a:solidFill>
                <a:latin typeface="Courier New" pitchFamily="34" charset="0"/>
                <a:ea typeface="Courier New" pitchFamily="34" charset="-122"/>
                <a:cs typeface="Courier New" pitchFamily="34" charset="-120"/>
              </a:rPr>
              <a:t> account</a:t>
            </a:r>
            <a:endParaRPr lang="en-US" sz="1050" dirty="0"/>
          </a:p>
        </p:txBody>
      </p:sp>
      <p:sp>
        <p:nvSpPr>
          <p:cNvPr id="7" name="a1wd150_code6"/>
          <p:cNvSpPr txBox="1"/>
          <p:nvPr/>
        </p:nvSpPr>
        <p:spPr>
          <a:xfrm>
            <a:off x="640080" y="2057400"/>
            <a:ext cx="2286000" cy="228600"/>
          </a:xfrm>
          <a:prstGeom prst="rect">
            <a:avLst/>
          </a:prstGeom>
          <a:noFill/>
          <a:ln/>
        </p:spPr>
        <p:txBody>
          <a:bodyPr wrap="square" lIns="0" tIns="0" rIns="0" bIns="0" rtlCol="0" anchor="ctr"/>
          <a:lstStyle/>
          <a:p>
            <a:pPr marL="0" indent="0">
              <a:buNone/>
            </a:pPr>
            <a:r>
              <a:rPr lang="en-US" sz="1050" b="1" dirty="0">
                <a:solidFill>
                  <a:srgbClr val="C4B5FD"/>
                </a:solidFill>
                <a:latin typeface="Courier New" pitchFamily="34" charset="0"/>
                <a:ea typeface="Courier New" pitchFamily="34" charset="-122"/>
                <a:cs typeface="Courier New" pitchFamily="34" charset="-120"/>
              </a:rPr>
              <a:t>ADD</a:t>
            </a: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CONSTRAINT</a:t>
            </a:r>
            <a:r>
              <a:rPr lang="en-US" sz="1050" dirty="0">
                <a:solidFill>
                  <a:srgbClr val="E2E8F0"/>
                </a:solidFill>
                <a:latin typeface="Courier New" pitchFamily="34" charset="0"/>
                <a:ea typeface="Courier New" pitchFamily="34" charset="-122"/>
                <a:cs typeface="Courier New" pitchFamily="34" charset="-120"/>
              </a:rPr>
              <a:t> fk_acct_cust</a:t>
            </a:r>
            <a:endParaRPr lang="en-US" sz="1050" dirty="0"/>
          </a:p>
        </p:txBody>
      </p:sp>
      <p:sp>
        <p:nvSpPr>
          <p:cNvPr id="8" name="a1wd300_code7"/>
          <p:cNvSpPr txBox="1"/>
          <p:nvPr/>
        </p:nvSpPr>
        <p:spPr>
          <a:xfrm>
            <a:off x="640080" y="2286000"/>
            <a:ext cx="2286000" cy="228600"/>
          </a:xfrm>
          <a:prstGeom prst="rect">
            <a:avLst/>
          </a:prstGeom>
          <a:noFill/>
          <a:ln/>
        </p:spPr>
        <p:txBody>
          <a:bodyPr wrap="square" lIns="0" tIns="0" rIns="0" bIns="0" rtlCol="0" anchor="ctr"/>
          <a:lstStyle/>
          <a:p>
            <a:pPr marL="0" indent="0">
              <a:buNone/>
            </a:pPr>
            <a:r>
              <a:rPr lang="en-US" sz="1050" b="1" dirty="0">
                <a:solidFill>
                  <a:srgbClr val="C4B5FD"/>
                </a:solidFill>
                <a:latin typeface="Courier New" pitchFamily="34" charset="0"/>
                <a:ea typeface="Courier New" pitchFamily="34" charset="-122"/>
                <a:cs typeface="Courier New" pitchFamily="34" charset="-120"/>
              </a:rPr>
              <a:t>FOREIGN</a:t>
            </a: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KEY</a:t>
            </a:r>
            <a:r>
              <a:rPr lang="en-US" sz="1050" dirty="0">
                <a:solidFill>
                  <a:srgbClr val="E2E8F0"/>
                </a:solidFill>
                <a:latin typeface="Courier New" pitchFamily="34" charset="0"/>
                <a:ea typeface="Courier New" pitchFamily="34" charset="-122"/>
                <a:cs typeface="Courier New" pitchFamily="34" charset="-120"/>
              </a:rPr>
              <a:t> (customer_id)</a:t>
            </a:r>
            <a:endParaRPr lang="en-US" sz="1050" dirty="0"/>
          </a:p>
        </p:txBody>
      </p:sp>
      <p:sp>
        <p:nvSpPr>
          <p:cNvPr id="9" name="a1wd450_code8"/>
          <p:cNvSpPr txBox="1"/>
          <p:nvPr/>
        </p:nvSpPr>
        <p:spPr>
          <a:xfrm>
            <a:off x="640080" y="2514600"/>
            <a:ext cx="2286000" cy="228600"/>
          </a:xfrm>
          <a:prstGeom prst="rect">
            <a:avLst/>
          </a:prstGeom>
          <a:noFill/>
          <a:ln/>
        </p:spPr>
        <p:txBody>
          <a:bodyPr wrap="square" lIns="0" tIns="0" rIns="0" bIns="0" rtlCol="0" anchor="ctr"/>
          <a:lstStyle/>
          <a:p>
            <a:pPr marL="0" indent="0">
              <a:buNone/>
            </a:pPr>
            <a:r>
              <a:rPr lang="en-US" sz="1050" b="1" dirty="0">
                <a:solidFill>
                  <a:srgbClr val="C4B5FD"/>
                </a:solidFill>
                <a:latin typeface="Courier New" pitchFamily="34" charset="0"/>
                <a:ea typeface="Courier New" pitchFamily="34" charset="-122"/>
                <a:cs typeface="Courier New" pitchFamily="34" charset="-120"/>
              </a:rPr>
              <a:t>REFERENCES</a:t>
            </a:r>
            <a:r>
              <a:rPr lang="en-US" sz="1050" dirty="0">
                <a:solidFill>
                  <a:srgbClr val="E2E8F0"/>
                </a:solidFill>
                <a:latin typeface="Courier New" pitchFamily="34" charset="0"/>
                <a:ea typeface="Courier New" pitchFamily="34" charset="-122"/>
                <a:cs typeface="Courier New" pitchFamily="34" charset="-120"/>
              </a:rPr>
              <a:t> customer</a:t>
            </a:r>
            <a:endParaRPr lang="en-US" sz="1050" dirty="0"/>
          </a:p>
        </p:txBody>
      </p:sp>
      <p:sp>
        <p:nvSpPr>
          <p:cNvPr id="10" name="a1wd600_code9"/>
          <p:cNvSpPr txBox="1"/>
          <p:nvPr/>
        </p:nvSpPr>
        <p:spPr>
          <a:xfrm>
            <a:off x="640080" y="2743200"/>
            <a:ext cx="2286000" cy="228600"/>
          </a:xfrm>
          <a:prstGeom prst="rect">
            <a:avLst/>
          </a:prstGeom>
          <a:noFill/>
          <a:ln/>
        </p:spPr>
        <p:txBody>
          <a:bodyPr wrap="square" lIns="0" tIns="0" rIns="0" bIns="0" rtlCol="0" anchor="ctr"/>
          <a:lstStyle/>
          <a:p>
            <a:pPr marL="0" indent="0">
              <a:buNone/>
            </a:pPr>
            <a:r>
              <a:rPr lang="en-US" sz="1050" b="1" dirty="0">
                <a:solidFill>
                  <a:srgbClr val="C4B5FD"/>
                </a:solidFill>
                <a:latin typeface="Courier New" pitchFamily="34" charset="0"/>
                <a:ea typeface="Courier New" pitchFamily="34" charset="-122"/>
                <a:cs typeface="Courier New" pitchFamily="34" charset="-120"/>
              </a:rPr>
              <a:t>ON</a:t>
            </a: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DELETE</a:t>
            </a: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RESTRICT</a:t>
            </a:r>
            <a:r>
              <a:rPr lang="en-US" sz="1050" dirty="0">
                <a:solidFill>
                  <a:srgbClr val="E2E8F0"/>
                </a:solidFill>
                <a:latin typeface="Courier New" pitchFamily="34" charset="0"/>
                <a:ea typeface="Courier New" pitchFamily="34" charset="-122"/>
                <a:cs typeface="Courier New" pitchFamily="34" charset="-120"/>
              </a:rPr>
              <a:t>;</a:t>
            </a:r>
            <a:endParaRPr lang="en-US" sz="1050" dirty="0"/>
          </a:p>
        </p:txBody>
      </p:sp>
      <p:sp>
        <p:nvSpPr>
          <p:cNvPr id="11" name="a1u_w10"/>
          <p:cNvSpPr txBox="1"/>
          <p:nvPr/>
        </p:nvSpPr>
        <p:spPr>
          <a:xfrm>
            <a:off x="457200" y="3200400"/>
            <a:ext cx="2606040" cy="548640"/>
          </a:xfrm>
          <a:prstGeom prst="rect">
            <a:avLst/>
          </a:prstGeom>
          <a:noFill/>
          <a:ln/>
        </p:spPr>
        <p:txBody>
          <a:bodyPr wrap="square" lIns="0" tIns="0" rIns="0" bIns="0" rtlCol="0" anchor="t"/>
          <a:lstStyle/>
          <a:p>
            <a:pPr marL="0" indent="0">
              <a:buNone/>
            </a:pPr>
            <a:r>
              <a:rPr lang="en-US" sz="1150" dirty="0">
                <a:solidFill>
                  <a:srgbClr val="334155"/>
                </a:solidFill>
                <a:latin typeface="Calibri" pitchFamily="34" charset="0"/>
                <a:ea typeface="Calibri" pitchFamily="34" charset="-122"/>
                <a:cs typeface="Calibri" pitchFamily="34" charset="-120"/>
              </a:rPr>
              <a:t>Financial record — deleting the customer must fail first.</a:t>
            </a:r>
            <a:endParaRPr lang="en-US" sz="1150" dirty="0"/>
          </a:p>
        </p:txBody>
      </p:sp>
      <p:sp>
        <p:nvSpPr>
          <p:cNvPr id="12" name="a2u_h11"/>
          <p:cNvSpPr txBox="1"/>
          <p:nvPr/>
        </p:nvSpPr>
        <p:spPr>
          <a:xfrm>
            <a:off x="3268980" y="1234440"/>
            <a:ext cx="2606040" cy="329184"/>
          </a:xfrm>
          <a:prstGeom prst="roundRect">
            <a:avLst>
              <a:gd name="adj" fmla="val 50000"/>
            </a:avLst>
          </a:prstGeom>
          <a:solidFill>
            <a:srgbClr val="DC2626"/>
          </a:solidFill>
          <a:ln w="12700">
            <a:solidFill>
              <a:srgbClr val="DC2626"/>
            </a:solidFill>
            <a:prstDash val="solid"/>
          </a:ln>
        </p:spPr>
        <p:txBody>
          <a:bodyPr wrap="square" lIns="0" tIns="0" rIns="0" bIns="0" rtlCol="0" anchor="ctr"/>
          <a:lstStyle/>
          <a:p>
            <a:pPr marL="0" indent="0" algn="ctr">
              <a:buNone/>
            </a:pPr>
            <a:r>
              <a:rPr lang="en-US" sz="1150" b="1" dirty="0">
                <a:solidFill>
                  <a:srgbClr val="FFFFFF"/>
                </a:solidFill>
                <a:latin typeface="Courier New" pitchFamily="34" charset="0"/>
                <a:ea typeface="Courier New" pitchFamily="34" charset="-122"/>
                <a:cs typeface="Courier New" pitchFamily="34" charset="-120"/>
              </a:rPr>
              <a:t>CASCADE</a:t>
            </a:r>
            <a:endParaRPr lang="en-US" sz="1150" dirty="0"/>
          </a:p>
        </p:txBody>
      </p:sp>
      <p:sp>
        <p:nvSpPr>
          <p:cNvPr id="13" name="a2f_codebg12"/>
          <p:cNvSpPr/>
          <p:nvPr/>
        </p:nvSpPr>
        <p:spPr>
          <a:xfrm>
            <a:off x="3268980" y="1691640"/>
            <a:ext cx="2606040" cy="1417320"/>
          </a:xfrm>
          <a:prstGeom prst="roundRect">
            <a:avLst>
              <a:gd name="adj" fmla="val 3150"/>
            </a:avLst>
          </a:prstGeom>
          <a:solidFill>
            <a:srgbClr val="1E293B"/>
          </a:solidFill>
          <a:ln w="12700">
            <a:solidFill>
              <a:srgbClr val="1E293B"/>
            </a:solidFill>
            <a:prstDash val="solid"/>
          </a:ln>
        </p:spPr>
      </p:sp>
      <p:sp>
        <p:nvSpPr>
          <p:cNvPr id="14" name="a2wd0_code13"/>
          <p:cNvSpPr txBox="1"/>
          <p:nvPr/>
        </p:nvSpPr>
        <p:spPr>
          <a:xfrm>
            <a:off x="3451860" y="1828800"/>
            <a:ext cx="2286000" cy="228600"/>
          </a:xfrm>
          <a:prstGeom prst="rect">
            <a:avLst/>
          </a:prstGeom>
          <a:noFill/>
          <a:ln/>
        </p:spPr>
        <p:txBody>
          <a:bodyPr wrap="square" lIns="0" tIns="0" rIns="0" bIns="0" rtlCol="0" anchor="ctr"/>
          <a:lstStyle/>
          <a:p>
            <a:pPr marL="0" indent="0">
              <a:buNone/>
            </a:pPr>
            <a:r>
              <a:rPr lang="en-US" sz="1050" b="1" dirty="0">
                <a:solidFill>
                  <a:srgbClr val="C4B5FD"/>
                </a:solidFill>
                <a:latin typeface="Courier New" pitchFamily="34" charset="0"/>
                <a:ea typeface="Courier New" pitchFamily="34" charset="-122"/>
                <a:cs typeface="Courier New" pitchFamily="34" charset="-120"/>
              </a:rPr>
              <a:t>ALTER</a:t>
            </a: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TABLE</a:t>
            </a:r>
            <a:r>
              <a:rPr lang="en-US" sz="1050" dirty="0">
                <a:solidFill>
                  <a:srgbClr val="E2E8F0"/>
                </a:solidFill>
                <a:latin typeface="Courier New" pitchFamily="34" charset="0"/>
                <a:ea typeface="Courier New" pitchFamily="34" charset="-122"/>
                <a:cs typeface="Courier New" pitchFamily="34" charset="-120"/>
              </a:rPr>
              <a:t> loan_payment</a:t>
            </a:r>
            <a:endParaRPr lang="en-US" sz="1050" dirty="0"/>
          </a:p>
        </p:txBody>
      </p:sp>
      <p:sp>
        <p:nvSpPr>
          <p:cNvPr id="15" name="a2wd150_code14"/>
          <p:cNvSpPr txBox="1"/>
          <p:nvPr/>
        </p:nvSpPr>
        <p:spPr>
          <a:xfrm>
            <a:off x="3451860" y="2057400"/>
            <a:ext cx="2286000" cy="228600"/>
          </a:xfrm>
          <a:prstGeom prst="rect">
            <a:avLst/>
          </a:prstGeom>
          <a:noFill/>
          <a:ln/>
        </p:spPr>
        <p:txBody>
          <a:bodyPr wrap="square" lIns="0" tIns="0" rIns="0" bIns="0" rtlCol="0" anchor="ctr"/>
          <a:lstStyle/>
          <a:p>
            <a:pPr marL="0" indent="0">
              <a:buNone/>
            </a:pPr>
            <a:r>
              <a:rPr lang="en-US" sz="1050" b="1" dirty="0">
                <a:solidFill>
                  <a:srgbClr val="C4B5FD"/>
                </a:solidFill>
                <a:latin typeface="Courier New" pitchFamily="34" charset="0"/>
                <a:ea typeface="Courier New" pitchFamily="34" charset="-122"/>
                <a:cs typeface="Courier New" pitchFamily="34" charset="-120"/>
              </a:rPr>
              <a:t>ADD</a:t>
            </a: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CONSTRAINT</a:t>
            </a:r>
            <a:r>
              <a:rPr lang="en-US" sz="1050" dirty="0">
                <a:solidFill>
                  <a:srgbClr val="E2E8F0"/>
                </a:solidFill>
                <a:latin typeface="Courier New" pitchFamily="34" charset="0"/>
                <a:ea typeface="Courier New" pitchFamily="34" charset="-122"/>
                <a:cs typeface="Courier New" pitchFamily="34" charset="-120"/>
              </a:rPr>
              <a:t> fk_lp_loan</a:t>
            </a:r>
            <a:endParaRPr lang="en-US" sz="1050" dirty="0"/>
          </a:p>
        </p:txBody>
      </p:sp>
      <p:sp>
        <p:nvSpPr>
          <p:cNvPr id="16" name="a2wd300_code15"/>
          <p:cNvSpPr txBox="1"/>
          <p:nvPr/>
        </p:nvSpPr>
        <p:spPr>
          <a:xfrm>
            <a:off x="3451860" y="2286000"/>
            <a:ext cx="2286000" cy="228600"/>
          </a:xfrm>
          <a:prstGeom prst="rect">
            <a:avLst/>
          </a:prstGeom>
          <a:noFill/>
          <a:ln/>
        </p:spPr>
        <p:txBody>
          <a:bodyPr wrap="square" lIns="0" tIns="0" rIns="0" bIns="0" rtlCol="0" anchor="ctr"/>
          <a:lstStyle/>
          <a:p>
            <a:pPr marL="0" indent="0">
              <a:buNone/>
            </a:pPr>
            <a:r>
              <a:rPr lang="en-US" sz="1050" b="1" dirty="0">
                <a:solidFill>
                  <a:srgbClr val="C4B5FD"/>
                </a:solidFill>
                <a:latin typeface="Courier New" pitchFamily="34" charset="0"/>
                <a:ea typeface="Courier New" pitchFamily="34" charset="-122"/>
                <a:cs typeface="Courier New" pitchFamily="34" charset="-120"/>
              </a:rPr>
              <a:t>FOREIGN</a:t>
            </a: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KEY</a:t>
            </a:r>
            <a:r>
              <a:rPr lang="en-US" sz="1050" dirty="0">
                <a:solidFill>
                  <a:srgbClr val="E2E8F0"/>
                </a:solidFill>
                <a:latin typeface="Courier New" pitchFamily="34" charset="0"/>
                <a:ea typeface="Courier New" pitchFamily="34" charset="-122"/>
                <a:cs typeface="Courier New" pitchFamily="34" charset="-120"/>
              </a:rPr>
              <a:t> (loan_id)</a:t>
            </a:r>
            <a:endParaRPr lang="en-US" sz="1050" dirty="0"/>
          </a:p>
        </p:txBody>
      </p:sp>
      <p:sp>
        <p:nvSpPr>
          <p:cNvPr id="17" name="a2wd450_code16"/>
          <p:cNvSpPr txBox="1"/>
          <p:nvPr/>
        </p:nvSpPr>
        <p:spPr>
          <a:xfrm>
            <a:off x="3451860" y="2514600"/>
            <a:ext cx="2286000" cy="228600"/>
          </a:xfrm>
          <a:prstGeom prst="rect">
            <a:avLst/>
          </a:prstGeom>
          <a:noFill/>
          <a:ln/>
        </p:spPr>
        <p:txBody>
          <a:bodyPr wrap="square" lIns="0" tIns="0" rIns="0" bIns="0" rtlCol="0" anchor="ctr"/>
          <a:lstStyle/>
          <a:p>
            <a:pPr marL="0" indent="0">
              <a:buNone/>
            </a:pPr>
            <a:r>
              <a:rPr lang="en-US" sz="1050" b="1" dirty="0">
                <a:solidFill>
                  <a:srgbClr val="C4B5FD"/>
                </a:solidFill>
                <a:latin typeface="Courier New" pitchFamily="34" charset="0"/>
                <a:ea typeface="Courier New" pitchFamily="34" charset="-122"/>
                <a:cs typeface="Courier New" pitchFamily="34" charset="-120"/>
              </a:rPr>
              <a:t>REFERENCES</a:t>
            </a:r>
            <a:r>
              <a:rPr lang="en-US" sz="1050" dirty="0">
                <a:solidFill>
                  <a:srgbClr val="E2E8F0"/>
                </a:solidFill>
                <a:latin typeface="Courier New" pitchFamily="34" charset="0"/>
                <a:ea typeface="Courier New" pitchFamily="34" charset="-122"/>
                <a:cs typeface="Courier New" pitchFamily="34" charset="-120"/>
              </a:rPr>
              <a:t> loan</a:t>
            </a:r>
            <a:endParaRPr lang="en-US" sz="1050" dirty="0"/>
          </a:p>
        </p:txBody>
      </p:sp>
      <p:sp>
        <p:nvSpPr>
          <p:cNvPr id="18" name="a2wd600_code17"/>
          <p:cNvSpPr txBox="1"/>
          <p:nvPr/>
        </p:nvSpPr>
        <p:spPr>
          <a:xfrm>
            <a:off x="3451860" y="2743200"/>
            <a:ext cx="2286000" cy="228600"/>
          </a:xfrm>
          <a:prstGeom prst="rect">
            <a:avLst/>
          </a:prstGeom>
          <a:noFill/>
          <a:ln/>
        </p:spPr>
        <p:txBody>
          <a:bodyPr wrap="square" lIns="0" tIns="0" rIns="0" bIns="0" rtlCol="0" anchor="ctr"/>
          <a:lstStyle/>
          <a:p>
            <a:pPr marL="0" indent="0">
              <a:buNone/>
            </a:pPr>
            <a:r>
              <a:rPr lang="en-US" sz="1050" b="1" dirty="0">
                <a:solidFill>
                  <a:srgbClr val="C4B5FD"/>
                </a:solidFill>
                <a:latin typeface="Courier New" pitchFamily="34" charset="0"/>
                <a:ea typeface="Courier New" pitchFamily="34" charset="-122"/>
                <a:cs typeface="Courier New" pitchFamily="34" charset="-120"/>
              </a:rPr>
              <a:t>ON</a:t>
            </a: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DELETE</a:t>
            </a: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CASCADE</a:t>
            </a:r>
            <a:r>
              <a:rPr lang="en-US" sz="1050" dirty="0">
                <a:solidFill>
                  <a:srgbClr val="E2E8F0"/>
                </a:solidFill>
                <a:latin typeface="Courier New" pitchFamily="34" charset="0"/>
                <a:ea typeface="Courier New" pitchFamily="34" charset="-122"/>
                <a:cs typeface="Courier New" pitchFamily="34" charset="-120"/>
              </a:rPr>
              <a:t>;</a:t>
            </a:r>
            <a:endParaRPr lang="en-US" sz="1050" dirty="0"/>
          </a:p>
        </p:txBody>
      </p:sp>
      <p:sp>
        <p:nvSpPr>
          <p:cNvPr id="19" name="a2u_w18"/>
          <p:cNvSpPr txBox="1"/>
          <p:nvPr/>
        </p:nvSpPr>
        <p:spPr>
          <a:xfrm>
            <a:off x="3268980" y="3200400"/>
            <a:ext cx="2606040" cy="548640"/>
          </a:xfrm>
          <a:prstGeom prst="rect">
            <a:avLst/>
          </a:prstGeom>
          <a:noFill/>
          <a:ln/>
        </p:spPr>
        <p:txBody>
          <a:bodyPr wrap="square" lIns="0" tIns="0" rIns="0" bIns="0" rtlCol="0" anchor="t"/>
          <a:lstStyle/>
          <a:p>
            <a:pPr marL="0" indent="0">
              <a:buNone/>
            </a:pPr>
            <a:r>
              <a:rPr lang="en-US" sz="1150" dirty="0">
                <a:solidFill>
                  <a:srgbClr val="334155"/>
                </a:solidFill>
                <a:latin typeface="Calibri" pitchFamily="34" charset="0"/>
                <a:ea typeface="Calibri" pitchFamily="34" charset="-122"/>
                <a:cs typeface="Calibri" pitchFamily="34" charset="-120"/>
              </a:rPr>
              <a:t>Weak entity — the schedule belongs to the loan.</a:t>
            </a:r>
            <a:endParaRPr lang="en-US" sz="1150" dirty="0"/>
          </a:p>
        </p:txBody>
      </p:sp>
      <p:sp>
        <p:nvSpPr>
          <p:cNvPr id="20" name="a3u_h19"/>
          <p:cNvSpPr txBox="1"/>
          <p:nvPr/>
        </p:nvSpPr>
        <p:spPr>
          <a:xfrm>
            <a:off x="6080760" y="1234440"/>
            <a:ext cx="2606040" cy="329184"/>
          </a:xfrm>
          <a:prstGeom prst="roundRect">
            <a:avLst>
              <a:gd name="adj" fmla="val 50000"/>
            </a:avLst>
          </a:prstGeom>
          <a:solidFill>
            <a:srgbClr val="0F766E"/>
          </a:solidFill>
          <a:ln w="12700">
            <a:solidFill>
              <a:srgbClr val="0F766E"/>
            </a:solidFill>
            <a:prstDash val="solid"/>
          </a:ln>
        </p:spPr>
        <p:txBody>
          <a:bodyPr wrap="square" lIns="0" tIns="0" rIns="0" bIns="0" rtlCol="0" anchor="ctr"/>
          <a:lstStyle/>
          <a:p>
            <a:pPr marL="0" indent="0" algn="ctr">
              <a:buNone/>
            </a:pPr>
            <a:r>
              <a:rPr lang="en-US" sz="1150" b="1" dirty="0">
                <a:solidFill>
                  <a:srgbClr val="FFFFFF"/>
                </a:solidFill>
                <a:latin typeface="Courier New" pitchFamily="34" charset="0"/>
                <a:ea typeface="Courier New" pitchFamily="34" charset="-122"/>
                <a:cs typeface="Courier New" pitchFamily="34" charset="-120"/>
              </a:rPr>
              <a:t>SET NULL</a:t>
            </a:r>
            <a:endParaRPr lang="en-US" sz="1150" dirty="0"/>
          </a:p>
        </p:txBody>
      </p:sp>
      <p:sp>
        <p:nvSpPr>
          <p:cNvPr id="21" name="a3f_codebg20"/>
          <p:cNvSpPr/>
          <p:nvPr/>
        </p:nvSpPr>
        <p:spPr>
          <a:xfrm>
            <a:off x="6080760" y="1691640"/>
            <a:ext cx="2606040" cy="1417320"/>
          </a:xfrm>
          <a:prstGeom prst="roundRect">
            <a:avLst>
              <a:gd name="adj" fmla="val 3150"/>
            </a:avLst>
          </a:prstGeom>
          <a:solidFill>
            <a:srgbClr val="1E293B"/>
          </a:solidFill>
          <a:ln w="12700">
            <a:solidFill>
              <a:srgbClr val="1E293B"/>
            </a:solidFill>
            <a:prstDash val="solid"/>
          </a:ln>
        </p:spPr>
      </p:sp>
      <p:sp>
        <p:nvSpPr>
          <p:cNvPr id="22" name="a3wd0_code21"/>
          <p:cNvSpPr txBox="1"/>
          <p:nvPr/>
        </p:nvSpPr>
        <p:spPr>
          <a:xfrm>
            <a:off x="6263640" y="1828800"/>
            <a:ext cx="2286000" cy="228600"/>
          </a:xfrm>
          <a:prstGeom prst="rect">
            <a:avLst/>
          </a:prstGeom>
          <a:noFill/>
          <a:ln/>
        </p:spPr>
        <p:txBody>
          <a:bodyPr wrap="square" lIns="0" tIns="0" rIns="0" bIns="0" rtlCol="0" anchor="ctr"/>
          <a:lstStyle/>
          <a:p>
            <a:pPr marL="0" indent="0">
              <a:buNone/>
            </a:pPr>
            <a:r>
              <a:rPr lang="en-US" sz="1050" b="1" dirty="0">
                <a:solidFill>
                  <a:srgbClr val="C4B5FD"/>
                </a:solidFill>
                <a:latin typeface="Courier New" pitchFamily="34" charset="0"/>
                <a:ea typeface="Courier New" pitchFamily="34" charset="-122"/>
                <a:cs typeface="Courier New" pitchFamily="34" charset="-120"/>
              </a:rPr>
              <a:t>ALTER</a:t>
            </a: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TABLE</a:t>
            </a:r>
            <a:r>
              <a:rPr lang="en-US" sz="1050" dirty="0">
                <a:solidFill>
                  <a:srgbClr val="E2E8F0"/>
                </a:solidFill>
                <a:latin typeface="Courier New" pitchFamily="34" charset="0"/>
                <a:ea typeface="Courier New" pitchFamily="34" charset="-122"/>
                <a:cs typeface="Courier New" pitchFamily="34" charset="-120"/>
              </a:rPr>
              <a:t> employee</a:t>
            </a:r>
            <a:endParaRPr lang="en-US" sz="1050" dirty="0"/>
          </a:p>
        </p:txBody>
      </p:sp>
      <p:sp>
        <p:nvSpPr>
          <p:cNvPr id="23" name="a3wd150_code22"/>
          <p:cNvSpPr txBox="1"/>
          <p:nvPr/>
        </p:nvSpPr>
        <p:spPr>
          <a:xfrm>
            <a:off x="6263640" y="2057400"/>
            <a:ext cx="2286000" cy="228600"/>
          </a:xfrm>
          <a:prstGeom prst="rect">
            <a:avLst/>
          </a:prstGeom>
          <a:noFill/>
          <a:ln/>
        </p:spPr>
        <p:txBody>
          <a:bodyPr wrap="square" lIns="0" tIns="0" rIns="0" bIns="0" rtlCol="0" anchor="ctr"/>
          <a:lstStyle/>
          <a:p>
            <a:pPr marL="0" indent="0">
              <a:buNone/>
            </a:pPr>
            <a:r>
              <a:rPr lang="en-US" sz="1050" b="1" dirty="0">
                <a:solidFill>
                  <a:srgbClr val="C4B5FD"/>
                </a:solidFill>
                <a:latin typeface="Courier New" pitchFamily="34" charset="0"/>
                <a:ea typeface="Courier New" pitchFamily="34" charset="-122"/>
                <a:cs typeface="Courier New" pitchFamily="34" charset="-120"/>
              </a:rPr>
              <a:t>ADD</a:t>
            </a: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CONSTRAINT</a:t>
            </a:r>
            <a:r>
              <a:rPr lang="en-US" sz="1050" dirty="0">
                <a:solidFill>
                  <a:srgbClr val="E2E8F0"/>
                </a:solidFill>
                <a:latin typeface="Courier New" pitchFamily="34" charset="0"/>
                <a:ea typeface="Courier New" pitchFamily="34" charset="-122"/>
                <a:cs typeface="Courier New" pitchFamily="34" charset="-120"/>
              </a:rPr>
              <a:t> fk_emp_mgr</a:t>
            </a:r>
            <a:endParaRPr lang="en-US" sz="1050" dirty="0"/>
          </a:p>
        </p:txBody>
      </p:sp>
      <p:sp>
        <p:nvSpPr>
          <p:cNvPr id="24" name="a3wd300_code23"/>
          <p:cNvSpPr txBox="1"/>
          <p:nvPr/>
        </p:nvSpPr>
        <p:spPr>
          <a:xfrm>
            <a:off x="6263640" y="2286000"/>
            <a:ext cx="2286000" cy="228600"/>
          </a:xfrm>
          <a:prstGeom prst="rect">
            <a:avLst/>
          </a:prstGeom>
          <a:noFill/>
          <a:ln/>
        </p:spPr>
        <p:txBody>
          <a:bodyPr wrap="square" lIns="0" tIns="0" rIns="0" bIns="0" rtlCol="0" anchor="ctr"/>
          <a:lstStyle/>
          <a:p>
            <a:pPr marL="0" indent="0">
              <a:buNone/>
            </a:pPr>
            <a:r>
              <a:rPr lang="en-US" sz="1050" b="1" dirty="0">
                <a:solidFill>
                  <a:srgbClr val="C4B5FD"/>
                </a:solidFill>
                <a:latin typeface="Courier New" pitchFamily="34" charset="0"/>
                <a:ea typeface="Courier New" pitchFamily="34" charset="-122"/>
                <a:cs typeface="Courier New" pitchFamily="34" charset="-120"/>
              </a:rPr>
              <a:t>FOREIGN</a:t>
            </a: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KEY</a:t>
            </a:r>
            <a:r>
              <a:rPr lang="en-US" sz="1050" dirty="0">
                <a:solidFill>
                  <a:srgbClr val="E2E8F0"/>
                </a:solidFill>
                <a:latin typeface="Courier New" pitchFamily="34" charset="0"/>
                <a:ea typeface="Courier New" pitchFamily="34" charset="-122"/>
                <a:cs typeface="Courier New" pitchFamily="34" charset="-120"/>
              </a:rPr>
              <a:t> (manager_id)</a:t>
            </a:r>
            <a:endParaRPr lang="en-US" sz="1050" dirty="0"/>
          </a:p>
        </p:txBody>
      </p:sp>
      <p:sp>
        <p:nvSpPr>
          <p:cNvPr id="25" name="a3wd450_code24"/>
          <p:cNvSpPr txBox="1"/>
          <p:nvPr/>
        </p:nvSpPr>
        <p:spPr>
          <a:xfrm>
            <a:off x="6263640" y="2514600"/>
            <a:ext cx="2286000" cy="228600"/>
          </a:xfrm>
          <a:prstGeom prst="rect">
            <a:avLst/>
          </a:prstGeom>
          <a:noFill/>
          <a:ln/>
        </p:spPr>
        <p:txBody>
          <a:bodyPr wrap="square" lIns="0" tIns="0" rIns="0" bIns="0" rtlCol="0" anchor="ctr"/>
          <a:lstStyle/>
          <a:p>
            <a:pPr marL="0" indent="0">
              <a:buNone/>
            </a:pPr>
            <a:r>
              <a:rPr lang="en-US" sz="1050" b="1" dirty="0">
                <a:solidFill>
                  <a:srgbClr val="C4B5FD"/>
                </a:solidFill>
                <a:latin typeface="Courier New" pitchFamily="34" charset="0"/>
                <a:ea typeface="Courier New" pitchFamily="34" charset="-122"/>
                <a:cs typeface="Courier New" pitchFamily="34" charset="-120"/>
              </a:rPr>
              <a:t>REFERENCES</a:t>
            </a:r>
            <a:r>
              <a:rPr lang="en-US" sz="1050" dirty="0">
                <a:solidFill>
                  <a:srgbClr val="E2E8F0"/>
                </a:solidFill>
                <a:latin typeface="Courier New" pitchFamily="34" charset="0"/>
                <a:ea typeface="Courier New" pitchFamily="34" charset="-122"/>
                <a:cs typeface="Courier New" pitchFamily="34" charset="-120"/>
              </a:rPr>
              <a:t> employee</a:t>
            </a:r>
            <a:endParaRPr lang="en-US" sz="1050" dirty="0"/>
          </a:p>
        </p:txBody>
      </p:sp>
      <p:sp>
        <p:nvSpPr>
          <p:cNvPr id="26" name="a3wd600_code25"/>
          <p:cNvSpPr txBox="1"/>
          <p:nvPr/>
        </p:nvSpPr>
        <p:spPr>
          <a:xfrm>
            <a:off x="6263640" y="2743200"/>
            <a:ext cx="2286000" cy="228600"/>
          </a:xfrm>
          <a:prstGeom prst="rect">
            <a:avLst/>
          </a:prstGeom>
          <a:noFill/>
          <a:ln/>
        </p:spPr>
        <p:txBody>
          <a:bodyPr wrap="square" lIns="0" tIns="0" rIns="0" bIns="0" rtlCol="0" anchor="ctr"/>
          <a:lstStyle/>
          <a:p>
            <a:pPr marL="0" indent="0">
              <a:buNone/>
            </a:pPr>
            <a:r>
              <a:rPr lang="en-US" sz="1050" b="1" dirty="0">
                <a:solidFill>
                  <a:srgbClr val="C4B5FD"/>
                </a:solidFill>
                <a:latin typeface="Courier New" pitchFamily="34" charset="0"/>
                <a:ea typeface="Courier New" pitchFamily="34" charset="-122"/>
                <a:cs typeface="Courier New" pitchFamily="34" charset="-120"/>
              </a:rPr>
              <a:t>ON</a:t>
            </a: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DELETE</a:t>
            </a: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SET</a:t>
            </a: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NULL</a:t>
            </a:r>
            <a:r>
              <a:rPr lang="en-US" sz="1050" dirty="0">
                <a:solidFill>
                  <a:srgbClr val="E2E8F0"/>
                </a:solidFill>
                <a:latin typeface="Courier New" pitchFamily="34" charset="0"/>
                <a:ea typeface="Courier New" pitchFamily="34" charset="-122"/>
                <a:cs typeface="Courier New" pitchFamily="34" charset="-120"/>
              </a:rPr>
              <a:t>;</a:t>
            </a:r>
            <a:endParaRPr lang="en-US" sz="1050" dirty="0"/>
          </a:p>
        </p:txBody>
      </p:sp>
      <p:sp>
        <p:nvSpPr>
          <p:cNvPr id="27" name="a3u_w26"/>
          <p:cNvSpPr txBox="1"/>
          <p:nvPr/>
        </p:nvSpPr>
        <p:spPr>
          <a:xfrm>
            <a:off x="6080760" y="3200400"/>
            <a:ext cx="2606040" cy="548640"/>
          </a:xfrm>
          <a:prstGeom prst="rect">
            <a:avLst/>
          </a:prstGeom>
          <a:noFill/>
          <a:ln/>
        </p:spPr>
        <p:txBody>
          <a:bodyPr wrap="square" lIns="0" tIns="0" rIns="0" bIns="0" rtlCol="0" anchor="t"/>
          <a:lstStyle/>
          <a:p>
            <a:pPr marL="0" indent="0">
              <a:buNone/>
            </a:pPr>
            <a:r>
              <a:rPr lang="en-US" sz="1150" dirty="0">
                <a:solidFill>
                  <a:srgbClr val="334155"/>
                </a:solidFill>
                <a:latin typeface="Calibri" pitchFamily="34" charset="0"/>
                <a:ea typeface="Calibri" pitchFamily="34" charset="-122"/>
                <a:cs typeface="Calibri" pitchFamily="34" charset="-120"/>
              </a:rPr>
              <a:t>Optional link — manager_id is nullable.</a:t>
            </a:r>
            <a:endParaRPr lang="en-US" sz="1150" dirty="0"/>
          </a:p>
        </p:txBody>
      </p:sp>
      <p:sp>
        <p:nvSpPr>
          <p:cNvPr id="28" name="a4u_rt27"/>
          <p:cNvSpPr txBox="1"/>
          <p:nvPr/>
        </p:nvSpPr>
        <p:spPr>
          <a:xfrm>
            <a:off x="457200" y="4160520"/>
            <a:ext cx="8229600" cy="548640"/>
          </a:xfrm>
          <a:prstGeom prst="rect">
            <a:avLst/>
          </a:prstGeom>
          <a:noFill/>
          <a:ln/>
        </p:spPr>
        <p:txBody>
          <a:bodyPr wrap="square" lIns="0" tIns="0" rIns="0" bIns="0" rtlCol="0" anchor="t"/>
          <a:lstStyle/>
          <a:p>
            <a:pPr marL="0" indent="0">
              <a:buNone/>
            </a:pPr>
            <a:r>
              <a:rPr lang="en-US" sz="1250" b="1" dirty="0">
                <a:solidFill>
                  <a:srgbClr val="DC2626"/>
                </a:solidFill>
                <a:latin typeface="Calibri" pitchFamily="34" charset="0"/>
                <a:ea typeface="Calibri" pitchFamily="34" charset="-122"/>
                <a:cs typeface="Calibri" pitchFamily="34" charset="-120"/>
              </a:rPr>
              <a:t>Steps skipped under deadline pressure: </a:t>
            </a:r>
            <a:r>
              <a:rPr lang="en-US" sz="1250" dirty="0">
                <a:solidFill>
                  <a:srgbClr val="334155"/>
                </a:solidFill>
                <a:latin typeface="Calibri" pitchFamily="34" charset="0"/>
                <a:ea typeface="Calibri" pitchFamily="34" charset="-122"/>
                <a:cs typeface="Calibri" pitchFamily="34" charset="-120"/>
              </a:rPr>
              <a:t>a deliberate rule on every foreign key — and the auditor asks about exactly these.</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ppt_y+0.1"/>
                                          </p:val>
                                        </p:tav>
                                        <p:tav tm="100000">
                                          <p:val>
                                            <p:strVal val="#ppt_y"/>
                                          </p:val>
                                        </p:tav>
                                      </p:tavLst>
                                    </p:anim>
                                    <p:animEffect transition="in" filter="fade">
                                      <p:cBhvr>
                                        <p:cTn id="9" dur="500"/>
                                        <p:tgtEl>
                                          <p:spTgt spid="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par>
                                <p:cTn id="16" presetID="22" presetClass="entr" presetSubtype="8" fill="hold" grpId="0" nodeType="withEffect">
                                  <p:stCondLst>
                                    <p:cond delay="15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8" dur="500"/>
                                        <p:tgtEl>
                                          <p:spTgt spid="7"/>
                                        </p:tgtEl>
                                      </p:cBhvr>
                                    </p:animEffect>
                                  </p:childTnLst>
                                </p:cTn>
                              </p:par>
                              <p:par>
                                <p:cTn id="19" presetID="22" presetClass="entr" presetSubtype="8" fill="hold" grpId="0" nodeType="withEffect">
                                  <p:stCondLst>
                                    <p:cond delay="30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500"/>
                                        <p:tgtEl>
                                          <p:spTgt spid="8"/>
                                        </p:tgtEl>
                                      </p:cBhvr>
                                    </p:animEffect>
                                  </p:childTnLst>
                                </p:cTn>
                              </p:par>
                              <p:par>
                                <p:cTn id="22" presetID="22" presetClass="entr" presetSubtype="8" fill="hold" grpId="0" nodeType="withEffect">
                                  <p:stCondLst>
                                    <p:cond delay="45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500"/>
                                        <p:tgtEl>
                                          <p:spTgt spid="9"/>
                                        </p:tgtEl>
                                      </p:cBhvr>
                                    </p:animEffect>
                                  </p:childTnLst>
                                </p:cTn>
                              </p:par>
                              <p:par>
                                <p:cTn id="25" presetID="22" presetClass="entr" presetSubtype="8" fill="hold" grpId="0" nodeType="withEffect">
                                  <p:stCondLst>
                                    <p:cond delay="60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par>
                                <p:cTn id="28" presetID="2" presetClass="entr" presetSubtype="4"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 calcmode="lin" valueType="num">
                                      <p:cBhvr additive="base">
                                        <p:cTn id="30" dur="500" fill="hold"/>
                                        <p:tgtEl>
                                          <p:spTgt spid="11"/>
                                        </p:tgtEl>
                                        <p:attrNameLst>
                                          <p:attrName>ppt_x</p:attrName>
                                        </p:attrNameLst>
                                      </p:cBhvr>
                                      <p:tavLst>
                                        <p:tav tm="0">
                                          <p:val>
                                            <p:strVal val="#ppt_x"/>
                                          </p:val>
                                        </p:tav>
                                        <p:tav tm="100000">
                                          <p:val>
                                            <p:strVal val="#ppt_x"/>
                                          </p:val>
                                        </p:tav>
                                      </p:tavLst>
                                    </p:anim>
                                    <p:anim calcmode="lin" valueType="num">
                                      <p:cBhvr additive="base">
                                        <p:cTn id="31" dur="500" fill="hold"/>
                                        <p:tgtEl>
                                          <p:spTgt spid="11"/>
                                        </p:tgtEl>
                                        <p:attrNameLst>
                                          <p:attrName>ppt_y</p:attrName>
                                        </p:attrNameLst>
                                      </p:cBhvr>
                                      <p:tavLst>
                                        <p:tav tm="0">
                                          <p:val>
                                            <p:strVal val="#ppt_y+0.1"/>
                                          </p:val>
                                        </p:tav>
                                        <p:tav tm="100000">
                                          <p:val>
                                            <p:strVal val="#ppt_y"/>
                                          </p:val>
                                        </p:tav>
                                      </p:tavLst>
                                    </p:anim>
                                    <p:animEffect transition="in" filter="fade">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p:tgtEl>
                                          <p:spTgt spid="12"/>
                                        </p:tgtEl>
                                        <p:attrNameLst>
                                          <p:attrName>ppt_x</p:attrName>
                                        </p:attrNameLst>
                                      </p:cBhvr>
                                      <p:tavLst>
                                        <p:tav tm="0">
                                          <p:val>
                                            <p:strVal val="#ppt_x"/>
                                          </p:val>
                                        </p:tav>
                                        <p:tav tm="100000">
                                          <p:val>
                                            <p:strVal val="#ppt_x"/>
                                          </p:val>
                                        </p:tav>
                                      </p:tavLst>
                                    </p:anim>
                                    <p:anim calcmode="lin" valueType="num">
                                      <p:cBhvr additive="base">
                                        <p:cTn id="38" dur="500" fill="hold"/>
                                        <p:tgtEl>
                                          <p:spTgt spid="12"/>
                                        </p:tgtEl>
                                        <p:attrNameLst>
                                          <p:attrName>ppt_y</p:attrName>
                                        </p:attrNameLst>
                                      </p:cBhvr>
                                      <p:tavLst>
                                        <p:tav tm="0">
                                          <p:val>
                                            <p:strVal val="#ppt_y+0.1"/>
                                          </p:val>
                                        </p:tav>
                                        <p:tav tm="100000">
                                          <p:val>
                                            <p:strVal val="#ppt_y"/>
                                          </p:val>
                                        </p:tav>
                                      </p:tavLst>
                                    </p:anim>
                                    <p:animEffect transition="in" filter="fade">
                                      <p:cBhvr>
                                        <p:cTn id="39" dur="500"/>
                                        <p:tgtEl>
                                          <p:spTgt spid="1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ipe(left)">
                                      <p:cBhvr>
                                        <p:cTn id="45" dur="500"/>
                                        <p:tgtEl>
                                          <p:spTgt spid="14"/>
                                        </p:tgtEl>
                                      </p:cBhvr>
                                    </p:animEffect>
                                  </p:childTnLst>
                                </p:cTn>
                              </p:par>
                              <p:par>
                                <p:cTn id="46" presetID="22" presetClass="entr" presetSubtype="8" fill="hold" grpId="0" nodeType="withEffect">
                                  <p:stCondLst>
                                    <p:cond delay="150"/>
                                  </p:stCondLst>
                                  <p:childTnLst>
                                    <p:set>
                                      <p:cBhvr>
                                        <p:cTn id="47" dur="1" fill="hold">
                                          <p:stCondLst>
                                            <p:cond delay="0"/>
                                          </p:stCondLst>
                                        </p:cTn>
                                        <p:tgtEl>
                                          <p:spTgt spid="15"/>
                                        </p:tgtEl>
                                        <p:attrNameLst>
                                          <p:attrName>style.visibility</p:attrName>
                                        </p:attrNameLst>
                                      </p:cBhvr>
                                      <p:to>
                                        <p:strVal val="visible"/>
                                      </p:to>
                                    </p:set>
                                    <p:animEffect transition="in" filter="wipe(left)">
                                      <p:cBhvr>
                                        <p:cTn id="48" dur="500"/>
                                        <p:tgtEl>
                                          <p:spTgt spid="15"/>
                                        </p:tgtEl>
                                      </p:cBhvr>
                                    </p:animEffect>
                                  </p:childTnLst>
                                </p:cTn>
                              </p:par>
                              <p:par>
                                <p:cTn id="49" presetID="22" presetClass="entr" presetSubtype="8" fill="hold" grpId="0" nodeType="withEffect">
                                  <p:stCondLst>
                                    <p:cond delay="300"/>
                                  </p:stCondLst>
                                  <p:childTnLst>
                                    <p:set>
                                      <p:cBhvr>
                                        <p:cTn id="50" dur="1" fill="hold">
                                          <p:stCondLst>
                                            <p:cond delay="0"/>
                                          </p:stCondLst>
                                        </p:cTn>
                                        <p:tgtEl>
                                          <p:spTgt spid="16"/>
                                        </p:tgtEl>
                                        <p:attrNameLst>
                                          <p:attrName>style.visibility</p:attrName>
                                        </p:attrNameLst>
                                      </p:cBhvr>
                                      <p:to>
                                        <p:strVal val="visible"/>
                                      </p:to>
                                    </p:set>
                                    <p:animEffect transition="in" filter="wipe(left)">
                                      <p:cBhvr>
                                        <p:cTn id="51" dur="500"/>
                                        <p:tgtEl>
                                          <p:spTgt spid="16"/>
                                        </p:tgtEl>
                                      </p:cBhvr>
                                    </p:animEffect>
                                  </p:childTnLst>
                                </p:cTn>
                              </p:par>
                              <p:par>
                                <p:cTn id="52" presetID="22" presetClass="entr" presetSubtype="8" fill="hold" grpId="0" nodeType="withEffect">
                                  <p:stCondLst>
                                    <p:cond delay="450"/>
                                  </p:stCondLst>
                                  <p:childTnLst>
                                    <p:set>
                                      <p:cBhvr>
                                        <p:cTn id="53" dur="1" fill="hold">
                                          <p:stCondLst>
                                            <p:cond delay="0"/>
                                          </p:stCondLst>
                                        </p:cTn>
                                        <p:tgtEl>
                                          <p:spTgt spid="17"/>
                                        </p:tgtEl>
                                        <p:attrNameLst>
                                          <p:attrName>style.visibility</p:attrName>
                                        </p:attrNameLst>
                                      </p:cBhvr>
                                      <p:to>
                                        <p:strVal val="visible"/>
                                      </p:to>
                                    </p:set>
                                    <p:animEffect transition="in" filter="wipe(left)">
                                      <p:cBhvr>
                                        <p:cTn id="54" dur="500"/>
                                        <p:tgtEl>
                                          <p:spTgt spid="17"/>
                                        </p:tgtEl>
                                      </p:cBhvr>
                                    </p:animEffect>
                                  </p:childTnLst>
                                </p:cTn>
                              </p:par>
                              <p:par>
                                <p:cTn id="55" presetID="22" presetClass="entr" presetSubtype="8" fill="hold" grpId="0" nodeType="withEffect">
                                  <p:stCondLst>
                                    <p:cond delay="600"/>
                                  </p:stCondLst>
                                  <p:childTnLst>
                                    <p:set>
                                      <p:cBhvr>
                                        <p:cTn id="56" dur="1" fill="hold">
                                          <p:stCondLst>
                                            <p:cond delay="0"/>
                                          </p:stCondLst>
                                        </p:cTn>
                                        <p:tgtEl>
                                          <p:spTgt spid="18"/>
                                        </p:tgtEl>
                                        <p:attrNameLst>
                                          <p:attrName>style.visibility</p:attrName>
                                        </p:attrNameLst>
                                      </p:cBhvr>
                                      <p:to>
                                        <p:strVal val="visible"/>
                                      </p:to>
                                    </p:set>
                                    <p:animEffect transition="in" filter="wipe(left)">
                                      <p:cBhvr>
                                        <p:cTn id="57" dur="500"/>
                                        <p:tgtEl>
                                          <p:spTgt spid="18"/>
                                        </p:tgtEl>
                                      </p:cBhvr>
                                    </p:animEffect>
                                  </p:childTnLst>
                                </p:cTn>
                              </p:par>
                              <p:par>
                                <p:cTn id="58" presetID="2" presetClass="entr" presetSubtype="4" fill="hold" grpId="0" nodeType="withEffect">
                                  <p:stCondLst>
                                    <p:cond delay="0"/>
                                  </p:stCondLst>
                                  <p:childTnLst>
                                    <p:set>
                                      <p:cBhvr>
                                        <p:cTn id="59" dur="1" fill="hold">
                                          <p:stCondLst>
                                            <p:cond delay="0"/>
                                          </p:stCondLst>
                                        </p:cTn>
                                        <p:tgtEl>
                                          <p:spTgt spid="19"/>
                                        </p:tgtEl>
                                        <p:attrNameLst>
                                          <p:attrName>style.visibility</p:attrName>
                                        </p:attrNameLst>
                                      </p:cBhvr>
                                      <p:to>
                                        <p:strVal val="visible"/>
                                      </p:to>
                                    </p:set>
                                    <p:anim calcmode="lin" valueType="num">
                                      <p:cBhvr additive="base">
                                        <p:cTn id="60" dur="500" fill="hold"/>
                                        <p:tgtEl>
                                          <p:spTgt spid="19"/>
                                        </p:tgtEl>
                                        <p:attrNameLst>
                                          <p:attrName>ppt_x</p:attrName>
                                        </p:attrNameLst>
                                      </p:cBhvr>
                                      <p:tavLst>
                                        <p:tav tm="0">
                                          <p:val>
                                            <p:strVal val="#ppt_x"/>
                                          </p:val>
                                        </p:tav>
                                        <p:tav tm="100000">
                                          <p:val>
                                            <p:strVal val="#ppt_x"/>
                                          </p:val>
                                        </p:tav>
                                      </p:tavLst>
                                    </p:anim>
                                    <p:anim calcmode="lin" valueType="num">
                                      <p:cBhvr additive="base">
                                        <p:cTn id="61" dur="500" fill="hold"/>
                                        <p:tgtEl>
                                          <p:spTgt spid="19"/>
                                        </p:tgtEl>
                                        <p:attrNameLst>
                                          <p:attrName>ppt_y</p:attrName>
                                        </p:attrNameLst>
                                      </p:cBhvr>
                                      <p:tavLst>
                                        <p:tav tm="0">
                                          <p:val>
                                            <p:strVal val="#ppt_y+0.1"/>
                                          </p:val>
                                        </p:tav>
                                        <p:tav tm="100000">
                                          <p:val>
                                            <p:strVal val="#ppt_y"/>
                                          </p:val>
                                        </p:tav>
                                      </p:tavLst>
                                    </p:anim>
                                    <p:animEffect transition="in" filter="fade">
                                      <p:cBhvr>
                                        <p:cTn id="62" dur="500"/>
                                        <p:tgtEl>
                                          <p:spTgt spid="19"/>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1"/>
                                          </p:val>
                                        </p:tav>
                                        <p:tav tm="100000">
                                          <p:val>
                                            <p:strVal val="#ppt_y"/>
                                          </p:val>
                                        </p:tav>
                                      </p:tavLst>
                                    </p:anim>
                                    <p:animEffect transition="in" filter="fade">
                                      <p:cBhvr>
                                        <p:cTn id="69" dur="500"/>
                                        <p:tgtEl>
                                          <p:spTgt spid="20"/>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500"/>
                                        <p:tgtEl>
                                          <p:spTgt spid="21"/>
                                        </p:tgtEl>
                                      </p:cBhvr>
                                    </p:animEffect>
                                  </p:childTnLst>
                                </p:cTn>
                              </p:par>
                              <p:par>
                                <p:cTn id="73" presetID="22" presetClass="entr" presetSubtype="8" fill="hold" grpId="0" nodeType="withEffect">
                                  <p:stCondLst>
                                    <p:cond delay="0"/>
                                  </p:stCondLst>
                                  <p:childTnLst>
                                    <p:set>
                                      <p:cBhvr>
                                        <p:cTn id="74" dur="1" fill="hold">
                                          <p:stCondLst>
                                            <p:cond delay="0"/>
                                          </p:stCondLst>
                                        </p:cTn>
                                        <p:tgtEl>
                                          <p:spTgt spid="22"/>
                                        </p:tgtEl>
                                        <p:attrNameLst>
                                          <p:attrName>style.visibility</p:attrName>
                                        </p:attrNameLst>
                                      </p:cBhvr>
                                      <p:to>
                                        <p:strVal val="visible"/>
                                      </p:to>
                                    </p:set>
                                    <p:animEffect transition="in" filter="wipe(left)">
                                      <p:cBhvr>
                                        <p:cTn id="75" dur="500"/>
                                        <p:tgtEl>
                                          <p:spTgt spid="22"/>
                                        </p:tgtEl>
                                      </p:cBhvr>
                                    </p:animEffect>
                                  </p:childTnLst>
                                </p:cTn>
                              </p:par>
                              <p:par>
                                <p:cTn id="76" presetID="22" presetClass="entr" presetSubtype="8" fill="hold" grpId="0" nodeType="withEffect">
                                  <p:stCondLst>
                                    <p:cond delay="150"/>
                                  </p:stCondLst>
                                  <p:childTnLst>
                                    <p:set>
                                      <p:cBhvr>
                                        <p:cTn id="77" dur="1" fill="hold">
                                          <p:stCondLst>
                                            <p:cond delay="0"/>
                                          </p:stCondLst>
                                        </p:cTn>
                                        <p:tgtEl>
                                          <p:spTgt spid="23"/>
                                        </p:tgtEl>
                                        <p:attrNameLst>
                                          <p:attrName>style.visibility</p:attrName>
                                        </p:attrNameLst>
                                      </p:cBhvr>
                                      <p:to>
                                        <p:strVal val="visible"/>
                                      </p:to>
                                    </p:set>
                                    <p:animEffect transition="in" filter="wipe(left)">
                                      <p:cBhvr>
                                        <p:cTn id="78" dur="500"/>
                                        <p:tgtEl>
                                          <p:spTgt spid="23"/>
                                        </p:tgtEl>
                                      </p:cBhvr>
                                    </p:animEffect>
                                  </p:childTnLst>
                                </p:cTn>
                              </p:par>
                              <p:par>
                                <p:cTn id="79" presetID="22" presetClass="entr" presetSubtype="8" fill="hold" grpId="0" nodeType="withEffect">
                                  <p:stCondLst>
                                    <p:cond delay="300"/>
                                  </p:stCondLst>
                                  <p:childTnLst>
                                    <p:set>
                                      <p:cBhvr>
                                        <p:cTn id="80" dur="1" fill="hold">
                                          <p:stCondLst>
                                            <p:cond delay="0"/>
                                          </p:stCondLst>
                                        </p:cTn>
                                        <p:tgtEl>
                                          <p:spTgt spid="24"/>
                                        </p:tgtEl>
                                        <p:attrNameLst>
                                          <p:attrName>style.visibility</p:attrName>
                                        </p:attrNameLst>
                                      </p:cBhvr>
                                      <p:to>
                                        <p:strVal val="visible"/>
                                      </p:to>
                                    </p:set>
                                    <p:animEffect transition="in" filter="wipe(left)">
                                      <p:cBhvr>
                                        <p:cTn id="81" dur="500"/>
                                        <p:tgtEl>
                                          <p:spTgt spid="24"/>
                                        </p:tgtEl>
                                      </p:cBhvr>
                                    </p:animEffect>
                                  </p:childTnLst>
                                </p:cTn>
                              </p:par>
                              <p:par>
                                <p:cTn id="82" presetID="22" presetClass="entr" presetSubtype="8" fill="hold" grpId="0" nodeType="withEffect">
                                  <p:stCondLst>
                                    <p:cond delay="450"/>
                                  </p:stCondLst>
                                  <p:childTnLst>
                                    <p:set>
                                      <p:cBhvr>
                                        <p:cTn id="83" dur="1" fill="hold">
                                          <p:stCondLst>
                                            <p:cond delay="0"/>
                                          </p:stCondLst>
                                        </p:cTn>
                                        <p:tgtEl>
                                          <p:spTgt spid="25"/>
                                        </p:tgtEl>
                                        <p:attrNameLst>
                                          <p:attrName>style.visibility</p:attrName>
                                        </p:attrNameLst>
                                      </p:cBhvr>
                                      <p:to>
                                        <p:strVal val="visible"/>
                                      </p:to>
                                    </p:set>
                                    <p:animEffect transition="in" filter="wipe(left)">
                                      <p:cBhvr>
                                        <p:cTn id="84" dur="500"/>
                                        <p:tgtEl>
                                          <p:spTgt spid="25"/>
                                        </p:tgtEl>
                                      </p:cBhvr>
                                    </p:animEffect>
                                  </p:childTnLst>
                                </p:cTn>
                              </p:par>
                              <p:par>
                                <p:cTn id="85" presetID="22" presetClass="entr" presetSubtype="8" fill="hold" grpId="0" nodeType="withEffect">
                                  <p:stCondLst>
                                    <p:cond delay="600"/>
                                  </p:stCondLst>
                                  <p:childTnLst>
                                    <p:set>
                                      <p:cBhvr>
                                        <p:cTn id="86" dur="1" fill="hold">
                                          <p:stCondLst>
                                            <p:cond delay="0"/>
                                          </p:stCondLst>
                                        </p:cTn>
                                        <p:tgtEl>
                                          <p:spTgt spid="26"/>
                                        </p:tgtEl>
                                        <p:attrNameLst>
                                          <p:attrName>style.visibility</p:attrName>
                                        </p:attrNameLst>
                                      </p:cBhvr>
                                      <p:to>
                                        <p:strVal val="visible"/>
                                      </p:to>
                                    </p:set>
                                    <p:animEffect transition="in" filter="wipe(left)">
                                      <p:cBhvr>
                                        <p:cTn id="87" dur="500"/>
                                        <p:tgtEl>
                                          <p:spTgt spid="26"/>
                                        </p:tgtEl>
                                      </p:cBhvr>
                                    </p:animEffect>
                                  </p:childTnLst>
                                </p:cTn>
                              </p:par>
                              <p:par>
                                <p:cTn id="88" presetID="2" presetClass="entr" presetSubtype="4" fill="hold" grpId="0" nodeType="withEffect">
                                  <p:stCondLst>
                                    <p:cond delay="0"/>
                                  </p:stCondLst>
                                  <p:childTnLst>
                                    <p:set>
                                      <p:cBhvr>
                                        <p:cTn id="89" dur="1" fill="hold">
                                          <p:stCondLst>
                                            <p:cond delay="0"/>
                                          </p:stCondLst>
                                        </p:cTn>
                                        <p:tgtEl>
                                          <p:spTgt spid="27"/>
                                        </p:tgtEl>
                                        <p:attrNameLst>
                                          <p:attrName>style.visibility</p:attrName>
                                        </p:attrNameLst>
                                      </p:cBhvr>
                                      <p:to>
                                        <p:strVal val="visible"/>
                                      </p:to>
                                    </p:set>
                                    <p:anim calcmode="lin" valueType="num">
                                      <p:cBhvr additive="base">
                                        <p:cTn id="90" dur="500" fill="hold"/>
                                        <p:tgtEl>
                                          <p:spTgt spid="27"/>
                                        </p:tgtEl>
                                        <p:attrNameLst>
                                          <p:attrName>ppt_x</p:attrName>
                                        </p:attrNameLst>
                                      </p:cBhvr>
                                      <p:tavLst>
                                        <p:tav tm="0">
                                          <p:val>
                                            <p:strVal val="#ppt_x"/>
                                          </p:val>
                                        </p:tav>
                                        <p:tav tm="100000">
                                          <p:val>
                                            <p:strVal val="#ppt_x"/>
                                          </p:val>
                                        </p:tav>
                                      </p:tavLst>
                                    </p:anim>
                                    <p:anim calcmode="lin" valueType="num">
                                      <p:cBhvr additive="base">
                                        <p:cTn id="91" dur="500" fill="hold"/>
                                        <p:tgtEl>
                                          <p:spTgt spid="27"/>
                                        </p:tgtEl>
                                        <p:attrNameLst>
                                          <p:attrName>ppt_y</p:attrName>
                                        </p:attrNameLst>
                                      </p:cBhvr>
                                      <p:tavLst>
                                        <p:tav tm="0">
                                          <p:val>
                                            <p:strVal val="#ppt_y+0.1"/>
                                          </p:val>
                                        </p:tav>
                                        <p:tav tm="100000">
                                          <p:val>
                                            <p:strVal val="#ppt_y"/>
                                          </p:val>
                                        </p:tav>
                                      </p:tavLst>
                                    </p:anim>
                                    <p:animEffect transition="in" filter="fade">
                                      <p:cBhvr>
                                        <p:cTn id="92" dur="500"/>
                                        <p:tgtEl>
                                          <p:spTgt spid="27"/>
                                        </p:tgtEl>
                                      </p:cBhvr>
                                    </p:animEffect>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28"/>
                                        </p:tgtEl>
                                        <p:attrNameLst>
                                          <p:attrName>style.visibility</p:attrName>
                                        </p:attrNameLst>
                                      </p:cBhvr>
                                      <p:to>
                                        <p:strVal val="visible"/>
                                      </p:to>
                                    </p:set>
                                    <p:anim calcmode="lin" valueType="num">
                                      <p:cBhvr additive="base">
                                        <p:cTn id="97" dur="500" fill="hold"/>
                                        <p:tgtEl>
                                          <p:spTgt spid="28"/>
                                        </p:tgtEl>
                                        <p:attrNameLst>
                                          <p:attrName>ppt_x</p:attrName>
                                        </p:attrNameLst>
                                      </p:cBhvr>
                                      <p:tavLst>
                                        <p:tav tm="0">
                                          <p:val>
                                            <p:strVal val="#ppt_x"/>
                                          </p:val>
                                        </p:tav>
                                        <p:tav tm="100000">
                                          <p:val>
                                            <p:strVal val="#ppt_x"/>
                                          </p:val>
                                        </p:tav>
                                      </p:tavLst>
                                    </p:anim>
                                    <p:anim calcmode="lin" valueType="num">
                                      <p:cBhvr additive="base">
                                        <p:cTn id="98" dur="500" fill="hold"/>
                                        <p:tgtEl>
                                          <p:spTgt spid="28"/>
                                        </p:tgtEl>
                                        <p:attrNameLst>
                                          <p:attrName>ppt_y</p:attrName>
                                        </p:attrNameLst>
                                      </p:cBhvr>
                                      <p:tavLst>
                                        <p:tav tm="0">
                                          <p:val>
                                            <p:strVal val="#ppt_y+0.1"/>
                                          </p:val>
                                        </p:tav>
                                        <p:tav tm="100000">
                                          <p:val>
                                            <p:strVal val="#ppt_y"/>
                                          </p:val>
                                        </p:tav>
                                      </p:tavLst>
                                    </p:anim>
                                    <p:animEffect transition="in" filter="fade">
                                      <p:cBhvr>
                                        <p:cTn id="9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a0f_n1"/>
          <p:cNvSpPr txBox="1"/>
          <p:nvPr/>
        </p:nvSpPr>
        <p:spPr>
          <a:xfrm>
            <a:off x="548640" y="1188720"/>
            <a:ext cx="4114800" cy="822960"/>
          </a:xfrm>
          <a:prstGeom prst="rect">
            <a:avLst/>
          </a:prstGeom>
          <a:noFill/>
          <a:ln/>
        </p:spPr>
        <p:txBody>
          <a:bodyPr wrap="square" lIns="0" tIns="0" rIns="0" bIns="0" rtlCol="0" anchor="ctr"/>
          <a:lstStyle/>
          <a:p>
            <a:pPr marL="0" indent="0">
              <a:buNone/>
            </a:pPr>
            <a:r>
              <a:rPr lang="en-US" sz="6000" b="1" dirty="0">
                <a:solidFill>
                  <a:srgbClr val="A78BFA"/>
                </a:solidFill>
                <a:latin typeface="Calibri" pitchFamily="34" charset="0"/>
                <a:ea typeface="Calibri" pitchFamily="34" charset="-122"/>
                <a:cs typeface="Calibri" pitchFamily="34" charset="-120"/>
              </a:rPr>
              <a:t>03</a:t>
            </a:r>
            <a:endParaRPr lang="en-US" sz="6000" dirty="0"/>
          </a:p>
        </p:txBody>
      </p:sp>
      <p:sp>
        <p:nvSpPr>
          <p:cNvPr id="3" name="a0ud200_h2"/>
          <p:cNvSpPr txBox="1"/>
          <p:nvPr/>
        </p:nvSpPr>
        <p:spPr>
          <a:xfrm>
            <a:off x="548640" y="2011680"/>
            <a:ext cx="4572000" cy="82296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ER MODEL</a:t>
            </a:r>
            <a:endParaRPr lang="en-US" sz="4400" dirty="0"/>
          </a:p>
        </p:txBody>
      </p:sp>
      <p:sp>
        <p:nvSpPr>
          <p:cNvPr id="4" name="a0fd450_t3"/>
          <p:cNvSpPr txBox="1"/>
          <p:nvPr/>
        </p:nvSpPr>
        <p:spPr>
          <a:xfrm>
            <a:off x="548640" y="2834640"/>
            <a:ext cx="4389120" cy="731520"/>
          </a:xfrm>
          <a:prstGeom prst="rect">
            <a:avLst/>
          </a:prstGeom>
          <a:noFill/>
          <a:ln/>
        </p:spPr>
        <p:txBody>
          <a:bodyPr wrap="square" lIns="0" tIns="0" rIns="0" bIns="0" rtlCol="0" anchor="t"/>
          <a:lstStyle/>
          <a:p>
            <a:pPr marL="0" indent="0">
              <a:buNone/>
            </a:pPr>
            <a:r>
              <a:rPr lang="en-US" sz="1700" dirty="0">
                <a:solidFill>
                  <a:srgbClr val="CBD5E1"/>
                </a:solidFill>
                <a:latin typeface="Calibri" pitchFamily="34" charset="0"/>
                <a:ea typeface="Calibri" pitchFamily="34" charset="-122"/>
                <a:cs typeface="Calibri" pitchFamily="34" charset="-120"/>
              </a:rPr>
              <a:t>Draw the design before you build it — crow's foot notation</a:t>
            </a:r>
            <a:endParaRPr lang="en-US" sz="1700" dirty="0"/>
          </a:p>
        </p:txBody>
      </p:sp>
      <p:sp>
        <p:nvSpPr>
          <p:cNvPr id="5" name="a0fd300_v4"/>
          <p:cNvSpPr/>
          <p:nvPr/>
        </p:nvSpPr>
        <p:spPr>
          <a:xfrm>
            <a:off x="5225527" y="1402259"/>
            <a:ext cx="1258645" cy="629322"/>
          </a:xfrm>
          <a:prstGeom prst="roundRect">
            <a:avLst>
              <a:gd name="adj" fmla="val 16000"/>
            </a:avLst>
          </a:prstGeom>
          <a:solidFill>
            <a:srgbClr val="14B8A6"/>
          </a:solidFill>
          <a:ln>
            <a:noFill/>
          </a:ln>
        </p:spPr>
      </p:sp>
      <p:sp>
        <p:nvSpPr>
          <p:cNvPr id="6" name="a0fd300_v5"/>
          <p:cNvSpPr/>
          <p:nvPr/>
        </p:nvSpPr>
        <p:spPr>
          <a:xfrm>
            <a:off x="7323268" y="1402259"/>
            <a:ext cx="1258645" cy="629322"/>
          </a:xfrm>
          <a:prstGeom prst="roundRect">
            <a:avLst>
              <a:gd name="adj" fmla="val 16000"/>
            </a:avLst>
          </a:prstGeom>
          <a:solidFill>
            <a:srgbClr val="F59E0B"/>
          </a:solidFill>
          <a:ln>
            <a:noFill/>
          </a:ln>
        </p:spPr>
      </p:sp>
      <p:sp>
        <p:nvSpPr>
          <p:cNvPr id="7" name="a0fd300_v6"/>
          <p:cNvSpPr/>
          <p:nvPr/>
        </p:nvSpPr>
        <p:spPr>
          <a:xfrm>
            <a:off x="6274398" y="2702859"/>
            <a:ext cx="1258645" cy="629322"/>
          </a:xfrm>
          <a:prstGeom prst="roundRect">
            <a:avLst>
              <a:gd name="adj" fmla="val 16000"/>
            </a:avLst>
          </a:prstGeom>
          <a:solidFill>
            <a:srgbClr val="8B5CF6"/>
          </a:solidFill>
          <a:ln>
            <a:noFill/>
          </a:ln>
        </p:spPr>
      </p:sp>
      <p:sp>
        <p:nvSpPr>
          <p:cNvPr id="8" name="a0fd300_v7"/>
          <p:cNvSpPr/>
          <p:nvPr/>
        </p:nvSpPr>
        <p:spPr>
          <a:xfrm>
            <a:off x="6484172" y="1685454"/>
            <a:ext cx="839096" cy="62932"/>
          </a:xfrm>
          <a:prstGeom prst="rect">
            <a:avLst/>
          </a:prstGeom>
          <a:solidFill>
            <a:srgbClr val="94A3B8"/>
          </a:solidFill>
          <a:ln>
            <a:noFill/>
          </a:ln>
        </p:spPr>
      </p:sp>
      <p:sp>
        <p:nvSpPr>
          <p:cNvPr id="9" name="a0fd300_v8"/>
          <p:cNvSpPr/>
          <p:nvPr/>
        </p:nvSpPr>
        <p:spPr>
          <a:xfrm>
            <a:off x="5823383" y="2031582"/>
            <a:ext cx="62932" cy="985938"/>
          </a:xfrm>
          <a:prstGeom prst="rect">
            <a:avLst/>
          </a:prstGeom>
          <a:solidFill>
            <a:srgbClr val="94A3B8"/>
          </a:solidFill>
          <a:ln>
            <a:noFill/>
          </a:ln>
        </p:spPr>
      </p:sp>
      <p:sp>
        <p:nvSpPr>
          <p:cNvPr id="10" name="a0fd300_v9"/>
          <p:cNvSpPr/>
          <p:nvPr/>
        </p:nvSpPr>
        <p:spPr>
          <a:xfrm>
            <a:off x="5823383" y="2986054"/>
            <a:ext cx="461503" cy="62932"/>
          </a:xfrm>
          <a:prstGeom prst="rect">
            <a:avLst/>
          </a:prstGeom>
          <a:solidFill>
            <a:srgbClr val="94A3B8"/>
          </a:solidFill>
          <a:ln>
            <a:noFill/>
          </a:ln>
        </p:spPr>
      </p:sp>
      <p:sp>
        <p:nvSpPr>
          <p:cNvPr id="11" name="a0fd300_v10"/>
          <p:cNvSpPr/>
          <p:nvPr/>
        </p:nvSpPr>
        <p:spPr>
          <a:xfrm>
            <a:off x="7921124" y="2031582"/>
            <a:ext cx="62932" cy="985938"/>
          </a:xfrm>
          <a:prstGeom prst="rect">
            <a:avLst/>
          </a:prstGeom>
          <a:solidFill>
            <a:srgbClr val="94A3B8"/>
          </a:solidFill>
          <a:ln>
            <a:noFill/>
          </a:ln>
        </p:spPr>
      </p:sp>
      <p:sp>
        <p:nvSpPr>
          <p:cNvPr id="12" name="a0fd300_v11"/>
          <p:cNvSpPr/>
          <p:nvPr/>
        </p:nvSpPr>
        <p:spPr>
          <a:xfrm>
            <a:off x="7533042" y="2986054"/>
            <a:ext cx="451014" cy="62932"/>
          </a:xfrm>
          <a:prstGeom prst="rect">
            <a:avLst/>
          </a:prstGeom>
          <a:solidFill>
            <a:srgbClr val="94A3B8"/>
          </a:solidFill>
          <a:ln>
            <a:noFill/>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 presetClass="entr" presetSubtype="4" fill="hold" grpId="0" nodeType="withEffect">
                                  <p:stCondLst>
                                    <p:cond delay="20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fill="hold"/>
                                        <p:tgtEl>
                                          <p:spTgt spid="3"/>
                                        </p:tgtEl>
                                        <p:attrNameLst>
                                          <p:attrName>ppt_x</p:attrName>
                                        </p:attrNameLst>
                                      </p:cBhvr>
                                      <p:tavLst>
                                        <p:tav tm="0">
                                          <p:val>
                                            <p:strVal val="#ppt_x"/>
                                          </p:val>
                                        </p:tav>
                                        <p:tav tm="100000">
                                          <p:val>
                                            <p:strVal val="#ppt_x"/>
                                          </p:val>
                                        </p:tav>
                                      </p:tavLst>
                                    </p:anim>
                                    <p:anim calcmode="lin" valueType="num">
                                      <p:cBhvr additive="base">
                                        <p:cTn id="11" dur="500" fill="hold"/>
                                        <p:tgtEl>
                                          <p:spTgt spid="3"/>
                                        </p:tgtEl>
                                        <p:attrNameLst>
                                          <p:attrName>ppt_y</p:attrName>
                                        </p:attrNameLst>
                                      </p:cBhvr>
                                      <p:tavLst>
                                        <p:tav tm="0">
                                          <p:val>
                                            <p:strVal val="#ppt_y+0.1"/>
                                          </p:val>
                                        </p:tav>
                                        <p:tav tm="100000">
                                          <p:val>
                                            <p:strVal val="#ppt_y"/>
                                          </p:val>
                                        </p:tav>
                                      </p:tavLst>
                                    </p:anim>
                                    <p:animEffect transition="in" filter="fade">
                                      <p:cBhvr>
                                        <p:cTn id="12" dur="500"/>
                                        <p:tgtEl>
                                          <p:spTgt spid="3"/>
                                        </p:tgtEl>
                                      </p:cBhvr>
                                    </p:animEffect>
                                  </p:childTnLst>
                                </p:cTn>
                              </p:par>
                              <p:par>
                                <p:cTn id="13" presetID="10" presetClass="entr" presetSubtype="0" fill="hold" grpId="0" nodeType="withEffect">
                                  <p:stCondLst>
                                    <p:cond delay="45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10" presetClass="entr" presetSubtype="0" fill="hold" grpId="0" nodeType="withEffect">
                                  <p:stCondLst>
                                    <p:cond delay="3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par>
                                <p:cTn id="19" presetID="10" presetClass="entr" presetSubtype="0" fill="hold" grpId="0" nodeType="withEffect">
                                  <p:stCondLst>
                                    <p:cond delay="30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par>
                                <p:cTn id="22" presetID="10" presetClass="entr" presetSubtype="0" fill="hold" grpId="0" nodeType="withEffect">
                                  <p:stCondLst>
                                    <p:cond delay="30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par>
                                <p:cTn id="25" presetID="10" presetClass="entr" presetSubtype="0" fill="hold" grpId="0" nodeType="withEffect">
                                  <p:stCondLst>
                                    <p:cond delay="30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ntr" presetSubtype="0" fill="hold" grpId="0" nodeType="withEffect">
                                  <p:stCondLst>
                                    <p:cond delay="30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par>
                                <p:cTn id="31" presetID="10" presetClass="entr" presetSubtype="0" fill="hold" grpId="0" nodeType="withEffect">
                                  <p:stCondLst>
                                    <p:cond delay="30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par>
                                <p:cTn id="34" presetID="10" presetClass="entr" presetSubtype="0" fill="hold" grpId="0" nodeType="withEffect">
                                  <p:stCondLst>
                                    <p:cond delay="30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00"/>
                                        <p:tgtEl>
                                          <p:spTgt spid="11"/>
                                        </p:tgtEl>
                                      </p:cBhvr>
                                    </p:animEffect>
                                  </p:childTnLst>
                                </p:cTn>
                              </p:par>
                              <p:par>
                                <p:cTn id="37" presetID="10" presetClass="entr" presetSubtype="0" fill="hold" grpId="0" nodeType="withEffect">
                                  <p:stCondLst>
                                    <p:cond delay="30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1"/>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The Building Blocks</a:t>
            </a:r>
            <a:endParaRPr lang="en-US" sz="2800" dirty="0"/>
          </a:p>
        </p:txBody>
      </p:sp>
      <p:sp>
        <p:nvSpPr>
          <p:cNvPr id="3" name="Text 2"/>
          <p:cNvSpPr txBox="1"/>
          <p:nvPr/>
        </p:nvSpPr>
        <p:spPr>
          <a:xfrm>
            <a:off x="457200" y="749808"/>
            <a:ext cx="8229600" cy="320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Entities, attributes and relationships — and what each one becomes</a:t>
            </a:r>
            <a:endParaRPr lang="en-US" sz="1300" dirty="0"/>
          </a:p>
        </p:txBody>
      </p:sp>
      <p:sp>
        <p:nvSpPr>
          <p:cNvPr id="4" name="a1u_c3"/>
          <p:cNvSpPr/>
          <p:nvPr/>
        </p:nvSpPr>
        <p:spPr>
          <a:xfrm>
            <a:off x="457200" y="1234440"/>
            <a:ext cx="2606040" cy="1691640"/>
          </a:xfrm>
          <a:prstGeom prst="roundRect">
            <a:avLst>
              <a:gd name="adj" fmla="val 6000"/>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sp>
        <p:nvSpPr>
          <p:cNvPr id="5" name="a1u_k4"/>
          <p:cNvSpPr txBox="1"/>
          <p:nvPr/>
        </p:nvSpPr>
        <p:spPr>
          <a:xfrm>
            <a:off x="640080" y="1389888"/>
            <a:ext cx="1463040" cy="310896"/>
          </a:xfrm>
          <a:prstGeom prst="roundRect">
            <a:avLst>
              <a:gd name="adj" fmla="val 50000"/>
            </a:avLst>
          </a:prstGeom>
          <a:solidFill>
            <a:srgbClr val="0F766E"/>
          </a:solidFill>
          <a:ln w="12700">
            <a:solidFill>
              <a:srgbClr val="0F766E"/>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ENTITY</a:t>
            </a:r>
            <a:endParaRPr lang="en-US" sz="1100" dirty="0"/>
          </a:p>
        </p:txBody>
      </p:sp>
      <p:sp>
        <p:nvSpPr>
          <p:cNvPr id="6" name="a1u_d5"/>
          <p:cNvSpPr txBox="1"/>
          <p:nvPr/>
        </p:nvSpPr>
        <p:spPr>
          <a:xfrm>
            <a:off x="640080" y="1828800"/>
            <a:ext cx="2286000" cy="320040"/>
          </a:xfrm>
          <a:prstGeom prst="rect">
            <a:avLst/>
          </a:prstGeom>
          <a:noFill/>
          <a:ln/>
        </p:spPr>
        <p:txBody>
          <a:bodyPr wrap="square" lIns="0" tIns="0" rIns="0" bIns="0" rtlCol="0" anchor="ctr"/>
          <a:lstStyle/>
          <a:p>
            <a:pPr marL="0" indent="0">
              <a:buNone/>
            </a:pPr>
            <a:r>
              <a:rPr lang="en-US" sz="1250" b="1" dirty="0">
                <a:solidFill>
                  <a:srgbClr val="0F172A"/>
                </a:solidFill>
                <a:latin typeface="Calibri" pitchFamily="34" charset="0"/>
                <a:ea typeface="Calibri" pitchFamily="34" charset="-122"/>
                <a:cs typeface="Calibri" pitchFamily="34" charset="-120"/>
              </a:rPr>
              <a:t>A thing the bank must remember</a:t>
            </a:r>
            <a:endParaRPr lang="en-US" sz="1250" dirty="0"/>
          </a:p>
        </p:txBody>
      </p:sp>
      <p:sp>
        <p:nvSpPr>
          <p:cNvPr id="7" name="a1u_b6"/>
          <p:cNvSpPr txBox="1"/>
          <p:nvPr/>
        </p:nvSpPr>
        <p:spPr>
          <a:xfrm>
            <a:off x="640080" y="2240280"/>
            <a:ext cx="2286000" cy="594360"/>
          </a:xfrm>
          <a:prstGeom prst="rect">
            <a:avLst/>
          </a:prstGeom>
          <a:noFill/>
          <a:ln/>
        </p:spPr>
        <p:txBody>
          <a:bodyPr wrap="square" lIns="0" tIns="0" rIns="0" bIns="0" rtlCol="0" anchor="t"/>
          <a:lstStyle/>
          <a:p>
            <a:pPr marL="0" indent="0">
              <a:buNone/>
            </a:pPr>
            <a:r>
              <a:rPr lang="en-US" sz="1100" dirty="0">
                <a:solidFill>
                  <a:srgbClr val="64748B"/>
                </a:solidFill>
                <a:latin typeface="Calibri" pitchFamily="34" charset="0"/>
                <a:ea typeface="Calibri" pitchFamily="34" charset="-122"/>
                <a:cs typeface="Calibri" pitchFamily="34" charset="-120"/>
              </a:rPr>
              <a:t>becomes  </a:t>
            </a:r>
            <a:r>
              <a:rPr lang="en-US" sz="1200" b="1" dirty="0">
                <a:solidFill>
                  <a:srgbClr val="0F766E"/>
                </a:solidFill>
                <a:latin typeface="Calibri" pitchFamily="34" charset="0"/>
                <a:ea typeface="Calibri" pitchFamily="34" charset="-122"/>
                <a:cs typeface="Calibri" pitchFamily="34" charset="-120"/>
              </a:rPr>
              <a:t>a table</a:t>
            </a:r>
            <a:endParaRPr lang="en-US" sz="1100" dirty="0"/>
          </a:p>
        </p:txBody>
      </p:sp>
      <p:sp>
        <p:nvSpPr>
          <p:cNvPr id="8" name="a2u_c7"/>
          <p:cNvSpPr/>
          <p:nvPr/>
        </p:nvSpPr>
        <p:spPr>
          <a:xfrm>
            <a:off x="3268980" y="1234440"/>
            <a:ext cx="2606040" cy="1691640"/>
          </a:xfrm>
          <a:prstGeom prst="roundRect">
            <a:avLst>
              <a:gd name="adj" fmla="val 6000"/>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sp>
        <p:nvSpPr>
          <p:cNvPr id="9" name="a2u_k8"/>
          <p:cNvSpPr txBox="1"/>
          <p:nvPr/>
        </p:nvSpPr>
        <p:spPr>
          <a:xfrm>
            <a:off x="3451860" y="1389888"/>
            <a:ext cx="1463040" cy="310896"/>
          </a:xfrm>
          <a:prstGeom prst="roundRect">
            <a:avLst>
              <a:gd name="adj" fmla="val 50000"/>
            </a:avLst>
          </a:prstGeom>
          <a:solidFill>
            <a:srgbClr val="B45309"/>
          </a:solidFill>
          <a:ln w="12700">
            <a:solidFill>
              <a:srgbClr val="B4530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ATTRIBUTE</a:t>
            </a:r>
            <a:endParaRPr lang="en-US" sz="1100" dirty="0"/>
          </a:p>
        </p:txBody>
      </p:sp>
      <p:sp>
        <p:nvSpPr>
          <p:cNvPr id="10" name="a2u_d9"/>
          <p:cNvSpPr txBox="1"/>
          <p:nvPr/>
        </p:nvSpPr>
        <p:spPr>
          <a:xfrm>
            <a:off x="3451860" y="1828800"/>
            <a:ext cx="2286000" cy="320040"/>
          </a:xfrm>
          <a:prstGeom prst="rect">
            <a:avLst/>
          </a:prstGeom>
          <a:noFill/>
          <a:ln/>
        </p:spPr>
        <p:txBody>
          <a:bodyPr wrap="square" lIns="0" tIns="0" rIns="0" bIns="0" rtlCol="0" anchor="ctr"/>
          <a:lstStyle/>
          <a:p>
            <a:pPr marL="0" indent="0">
              <a:buNone/>
            </a:pPr>
            <a:r>
              <a:rPr lang="en-US" sz="1250" b="1" dirty="0">
                <a:solidFill>
                  <a:srgbClr val="0F172A"/>
                </a:solidFill>
                <a:latin typeface="Calibri" pitchFamily="34" charset="0"/>
                <a:ea typeface="Calibri" pitchFamily="34" charset="-122"/>
                <a:cs typeface="Calibri" pitchFamily="34" charset="-120"/>
              </a:rPr>
              <a:t>A fact about an entity</a:t>
            </a:r>
            <a:endParaRPr lang="en-US" sz="1250" dirty="0"/>
          </a:p>
        </p:txBody>
      </p:sp>
      <p:sp>
        <p:nvSpPr>
          <p:cNvPr id="11" name="a2u_b10"/>
          <p:cNvSpPr txBox="1"/>
          <p:nvPr/>
        </p:nvSpPr>
        <p:spPr>
          <a:xfrm>
            <a:off x="3451860" y="2240280"/>
            <a:ext cx="2286000" cy="594360"/>
          </a:xfrm>
          <a:prstGeom prst="rect">
            <a:avLst/>
          </a:prstGeom>
          <a:noFill/>
          <a:ln/>
        </p:spPr>
        <p:txBody>
          <a:bodyPr wrap="square" lIns="0" tIns="0" rIns="0" bIns="0" rtlCol="0" anchor="t"/>
          <a:lstStyle/>
          <a:p>
            <a:pPr marL="0" indent="0">
              <a:buNone/>
            </a:pPr>
            <a:r>
              <a:rPr lang="en-US" sz="1100" dirty="0">
                <a:solidFill>
                  <a:srgbClr val="64748B"/>
                </a:solidFill>
                <a:latin typeface="Calibri" pitchFamily="34" charset="0"/>
                <a:ea typeface="Calibri" pitchFamily="34" charset="-122"/>
                <a:cs typeface="Calibri" pitchFamily="34" charset="-120"/>
              </a:rPr>
              <a:t>becomes  </a:t>
            </a:r>
            <a:r>
              <a:rPr lang="en-US" sz="1200" b="1" dirty="0">
                <a:solidFill>
                  <a:srgbClr val="B45309"/>
                </a:solidFill>
                <a:latin typeface="Calibri" pitchFamily="34" charset="0"/>
                <a:ea typeface="Calibri" pitchFamily="34" charset="-122"/>
                <a:cs typeface="Calibri" pitchFamily="34" charset="-120"/>
              </a:rPr>
              <a:t>a column</a:t>
            </a:r>
            <a:endParaRPr lang="en-US" sz="1100" dirty="0"/>
          </a:p>
        </p:txBody>
      </p:sp>
      <p:sp>
        <p:nvSpPr>
          <p:cNvPr id="12" name="a3u_c11"/>
          <p:cNvSpPr/>
          <p:nvPr/>
        </p:nvSpPr>
        <p:spPr>
          <a:xfrm>
            <a:off x="6080760" y="1234440"/>
            <a:ext cx="2606040" cy="1691640"/>
          </a:xfrm>
          <a:prstGeom prst="roundRect">
            <a:avLst>
              <a:gd name="adj" fmla="val 6000"/>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sp>
        <p:nvSpPr>
          <p:cNvPr id="13" name="a3u_k12"/>
          <p:cNvSpPr txBox="1"/>
          <p:nvPr/>
        </p:nvSpPr>
        <p:spPr>
          <a:xfrm>
            <a:off x="6263640" y="1389888"/>
            <a:ext cx="1463040" cy="310896"/>
          </a:xfrm>
          <a:prstGeom prst="roundRect">
            <a:avLst>
              <a:gd name="adj" fmla="val 50000"/>
            </a:avLst>
          </a:prstGeom>
          <a:solidFill>
            <a:srgbClr val="6D28D9"/>
          </a:solidFill>
          <a:ln w="12700">
            <a:solidFill>
              <a:srgbClr val="6D28D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RELATIONSHIP</a:t>
            </a:r>
            <a:endParaRPr lang="en-US" sz="1100" dirty="0"/>
          </a:p>
        </p:txBody>
      </p:sp>
      <p:sp>
        <p:nvSpPr>
          <p:cNvPr id="14" name="a3u_d13"/>
          <p:cNvSpPr txBox="1"/>
          <p:nvPr/>
        </p:nvSpPr>
        <p:spPr>
          <a:xfrm>
            <a:off x="6263640" y="1828800"/>
            <a:ext cx="2286000" cy="320040"/>
          </a:xfrm>
          <a:prstGeom prst="rect">
            <a:avLst/>
          </a:prstGeom>
          <a:noFill/>
          <a:ln/>
        </p:spPr>
        <p:txBody>
          <a:bodyPr wrap="square" lIns="0" tIns="0" rIns="0" bIns="0" rtlCol="0" anchor="ctr"/>
          <a:lstStyle/>
          <a:p>
            <a:pPr marL="0" indent="0">
              <a:buNone/>
            </a:pPr>
            <a:r>
              <a:rPr lang="en-US" sz="1250" b="1" dirty="0">
                <a:solidFill>
                  <a:srgbClr val="0F172A"/>
                </a:solidFill>
                <a:latin typeface="Calibri" pitchFamily="34" charset="0"/>
                <a:ea typeface="Calibri" pitchFamily="34" charset="-122"/>
                <a:cs typeface="Calibri" pitchFamily="34" charset="-120"/>
              </a:rPr>
              <a:t>How two entities connect</a:t>
            </a:r>
            <a:endParaRPr lang="en-US" sz="1250" dirty="0"/>
          </a:p>
        </p:txBody>
      </p:sp>
      <p:sp>
        <p:nvSpPr>
          <p:cNvPr id="15" name="a3u_b14"/>
          <p:cNvSpPr txBox="1"/>
          <p:nvPr/>
        </p:nvSpPr>
        <p:spPr>
          <a:xfrm>
            <a:off x="6263640" y="2240280"/>
            <a:ext cx="2286000" cy="594360"/>
          </a:xfrm>
          <a:prstGeom prst="rect">
            <a:avLst/>
          </a:prstGeom>
          <a:noFill/>
          <a:ln/>
        </p:spPr>
        <p:txBody>
          <a:bodyPr wrap="square" lIns="0" tIns="0" rIns="0" bIns="0" rtlCol="0" anchor="t"/>
          <a:lstStyle/>
          <a:p>
            <a:pPr marL="0" indent="0">
              <a:buNone/>
            </a:pPr>
            <a:r>
              <a:rPr lang="en-US" sz="1100" dirty="0">
                <a:solidFill>
                  <a:srgbClr val="64748B"/>
                </a:solidFill>
                <a:latin typeface="Calibri" pitchFamily="34" charset="0"/>
                <a:ea typeface="Calibri" pitchFamily="34" charset="-122"/>
                <a:cs typeface="Calibri" pitchFamily="34" charset="-120"/>
              </a:rPr>
              <a:t>becomes  </a:t>
            </a:r>
            <a:r>
              <a:rPr lang="en-US" sz="1200" b="1" dirty="0">
                <a:solidFill>
                  <a:srgbClr val="6D28D9"/>
                </a:solidFill>
                <a:latin typeface="Calibri" pitchFamily="34" charset="0"/>
                <a:ea typeface="Calibri" pitchFamily="34" charset="-122"/>
                <a:cs typeface="Calibri" pitchFamily="34" charset="-120"/>
              </a:rPr>
              <a:t>a foreign key — or a junction table</a:t>
            </a:r>
            <a:endParaRPr lang="en-US" sz="1100" dirty="0"/>
          </a:p>
        </p:txBody>
      </p:sp>
      <p:sp>
        <p:nvSpPr>
          <p:cNvPr id="16" name="a4f_q15"/>
          <p:cNvSpPr txBox="1"/>
          <p:nvPr/>
        </p:nvSpPr>
        <p:spPr>
          <a:xfrm>
            <a:off x="457200" y="3154680"/>
            <a:ext cx="8229600" cy="274320"/>
          </a:xfrm>
          <a:prstGeom prst="rect">
            <a:avLst/>
          </a:prstGeom>
          <a:noFill/>
          <a:ln/>
        </p:spPr>
        <p:txBody>
          <a:bodyPr wrap="square" lIns="0" tIns="0" rIns="0" bIns="0" rtlCol="0" anchor="ctr"/>
          <a:lstStyle/>
          <a:p>
            <a:pPr marL="0" indent="0">
              <a:buNone/>
            </a:pPr>
            <a:r>
              <a:rPr lang="en-US" sz="1250" b="1" dirty="0">
                <a:solidFill>
                  <a:srgbClr val="0F172A"/>
                </a:solidFill>
                <a:latin typeface="Calibri" pitchFamily="34" charset="0"/>
                <a:ea typeface="Calibri" pitchFamily="34" charset="-122"/>
                <a:cs typeface="Calibri" pitchFamily="34" charset="-120"/>
              </a:rPr>
              <a:t>Read the requirement: nouns → entities, verbs → relationships</a:t>
            </a:r>
            <a:endParaRPr lang="en-US" sz="1250" dirty="0"/>
          </a:p>
        </p:txBody>
      </p:sp>
      <p:sp>
        <p:nvSpPr>
          <p:cNvPr id="17" name="a4f_sb16"/>
          <p:cNvSpPr txBox="1"/>
          <p:nvPr/>
        </p:nvSpPr>
        <p:spPr>
          <a:xfrm>
            <a:off x="457200" y="3520440"/>
            <a:ext cx="8229600" cy="548640"/>
          </a:xfrm>
          <a:prstGeom prst="roundRect">
            <a:avLst>
              <a:gd name="adj" fmla="val 12000"/>
            </a:avLst>
          </a:prstGeom>
          <a:solidFill>
            <a:srgbClr val="FFFFFF"/>
          </a:solidFill>
          <a:ln w="12700">
            <a:solidFill>
              <a:srgbClr val="E2E8F0"/>
            </a:solidFill>
            <a:prstDash val="solid"/>
          </a:ln>
        </p:spPr>
        <p:txBody>
          <a:bodyPr wrap="square" lIns="0" tIns="0" rIns="0" bIns="0" rtlCol="0" anchor="ctr"/>
          <a:lstStyle/>
          <a:p>
            <a:pPr marL="0" indent="0" algn="ctr">
              <a:buNone/>
            </a:pPr>
            <a:r>
              <a:rPr lang="en-US" sz="1500" dirty="0">
                <a:solidFill>
                  <a:srgbClr val="334155"/>
                </a:solidFill>
                <a:latin typeface="Calibri" pitchFamily="34" charset="0"/>
                <a:ea typeface="Calibri" pitchFamily="34" charset="-122"/>
                <a:cs typeface="Calibri" pitchFamily="34" charset="-120"/>
              </a:rPr>
              <a:t>"A </a:t>
            </a:r>
            <a:r>
              <a:rPr lang="en-US" sz="1500" b="1" dirty="0">
                <a:solidFill>
                  <a:srgbClr val="0F766E"/>
                </a:solidFill>
                <a:latin typeface="Calibri" pitchFamily="34" charset="0"/>
                <a:ea typeface="Calibri" pitchFamily="34" charset="-122"/>
                <a:cs typeface="Calibri" pitchFamily="34" charset="-120"/>
              </a:rPr>
              <a:t>customer</a:t>
            </a:r>
            <a:r>
              <a:rPr lang="en-US" sz="1500" b="1" i="1" dirty="0">
                <a:solidFill>
                  <a:srgbClr val="6D28D9"/>
                </a:solidFill>
                <a:latin typeface="Calibri" pitchFamily="34" charset="0"/>
                <a:ea typeface="Calibri" pitchFamily="34" charset="-122"/>
                <a:cs typeface="Calibri" pitchFamily="34" charset="-120"/>
              </a:rPr>
              <a:t> holds</a:t>
            </a:r>
            <a:r>
              <a:rPr lang="en-US" sz="1500" dirty="0">
                <a:solidFill>
                  <a:srgbClr val="334155"/>
                </a:solidFill>
                <a:latin typeface="Calibri" pitchFamily="34" charset="0"/>
                <a:ea typeface="Calibri" pitchFamily="34" charset="-122"/>
                <a:cs typeface="Calibri" pitchFamily="34" charset="-120"/>
              </a:rPr>
              <a:t> many </a:t>
            </a:r>
            <a:r>
              <a:rPr lang="en-US" sz="1500" b="1" dirty="0">
                <a:solidFill>
                  <a:srgbClr val="0F766E"/>
                </a:solidFill>
                <a:latin typeface="Calibri" pitchFamily="34" charset="0"/>
                <a:ea typeface="Calibri" pitchFamily="34" charset="-122"/>
                <a:cs typeface="Calibri" pitchFamily="34" charset="-120"/>
              </a:rPr>
              <a:t>accounts</a:t>
            </a:r>
            <a:r>
              <a:rPr lang="en-US" sz="1500" dirty="0">
                <a:solidFill>
                  <a:srgbClr val="334155"/>
                </a:solidFill>
                <a:latin typeface="Calibri" pitchFamily="34" charset="0"/>
                <a:ea typeface="Calibri" pitchFamily="34" charset="-122"/>
                <a:cs typeface="Calibri" pitchFamily="34" charset="-120"/>
              </a:rPr>
              <a:t>, each</a:t>
            </a:r>
            <a:r>
              <a:rPr lang="en-US" sz="1500" b="1" i="1" dirty="0">
                <a:solidFill>
                  <a:srgbClr val="6D28D9"/>
                </a:solidFill>
                <a:latin typeface="Calibri" pitchFamily="34" charset="0"/>
                <a:ea typeface="Calibri" pitchFamily="34" charset="-122"/>
                <a:cs typeface="Calibri" pitchFamily="34" charset="-120"/>
              </a:rPr>
              <a:t> opened at</a:t>
            </a:r>
            <a:r>
              <a:rPr lang="en-US" sz="1500" dirty="0">
                <a:solidFill>
                  <a:srgbClr val="334155"/>
                </a:solidFill>
                <a:latin typeface="Calibri" pitchFamily="34" charset="0"/>
                <a:ea typeface="Calibri" pitchFamily="34" charset="-122"/>
                <a:cs typeface="Calibri" pitchFamily="34" charset="-120"/>
              </a:rPr>
              <a:t> a </a:t>
            </a:r>
            <a:r>
              <a:rPr lang="en-US" sz="1500" b="1" dirty="0">
                <a:solidFill>
                  <a:srgbClr val="0F766E"/>
                </a:solidFill>
                <a:latin typeface="Calibri" pitchFamily="34" charset="0"/>
                <a:ea typeface="Calibri" pitchFamily="34" charset="-122"/>
                <a:cs typeface="Calibri" pitchFamily="34" charset="-120"/>
              </a:rPr>
              <a:t>branch</a:t>
            </a:r>
            <a:r>
              <a:rPr lang="en-US" sz="1500" dirty="0">
                <a:solidFill>
                  <a:srgbClr val="334155"/>
                </a:solidFill>
                <a:latin typeface="Calibri" pitchFamily="34" charset="0"/>
                <a:ea typeface="Calibri" pitchFamily="34" charset="-122"/>
                <a:cs typeface="Calibri" pitchFamily="34" charset="-120"/>
              </a:rPr>
              <a:t>."</a:t>
            </a:r>
            <a:endParaRPr lang="en-US" sz="1500" dirty="0"/>
          </a:p>
        </p:txBody>
      </p:sp>
      <p:sp>
        <p:nvSpPr>
          <p:cNvPr id="18" name="a5f_r17"/>
          <p:cNvSpPr txBox="1"/>
          <p:nvPr/>
        </p:nvSpPr>
        <p:spPr>
          <a:xfrm>
            <a:off x="457200" y="4206240"/>
            <a:ext cx="8229600" cy="320040"/>
          </a:xfrm>
          <a:prstGeom prst="rect">
            <a:avLst/>
          </a:prstGeom>
          <a:noFill/>
          <a:ln/>
        </p:spPr>
        <p:txBody>
          <a:bodyPr wrap="square" lIns="0" tIns="0" rIns="0" bIns="0" rtlCol="0" anchor="ctr"/>
          <a:lstStyle/>
          <a:p>
            <a:pPr marL="0" indent="0" algn="ctr">
              <a:buNone/>
            </a:pPr>
            <a:r>
              <a:rPr lang="en-US" sz="1250" b="1" dirty="0">
                <a:solidFill>
                  <a:srgbClr val="0F766E"/>
                </a:solidFill>
                <a:latin typeface="Calibri" pitchFamily="34" charset="0"/>
                <a:ea typeface="Calibri" pitchFamily="34" charset="-122"/>
                <a:cs typeface="Calibri" pitchFamily="34" charset="-120"/>
              </a:rPr>
              <a:t>→ 3 entities </a:t>
            </a:r>
            <a:r>
              <a:rPr lang="en-US" sz="1200" dirty="0">
                <a:solidFill>
                  <a:srgbClr val="334155"/>
                </a:solidFill>
                <a:latin typeface="Calibri" pitchFamily="34" charset="0"/>
                <a:ea typeface="Calibri" pitchFamily="34" charset="-122"/>
                <a:cs typeface="Calibri" pitchFamily="34" charset="-120"/>
              </a:rPr>
              <a:t>(customer, account, branch)   </a:t>
            </a:r>
            <a:r>
              <a:rPr lang="en-US" sz="1250" b="1" dirty="0">
                <a:solidFill>
                  <a:srgbClr val="6D28D9"/>
                </a:solidFill>
                <a:latin typeface="Calibri" pitchFamily="34" charset="0"/>
                <a:ea typeface="Calibri" pitchFamily="34" charset="-122"/>
                <a:cs typeface="Calibri" pitchFamily="34" charset="-120"/>
              </a:rPr>
              <a:t>→ 2 relationships </a:t>
            </a:r>
            <a:r>
              <a:rPr lang="en-US" sz="1200" dirty="0">
                <a:solidFill>
                  <a:srgbClr val="334155"/>
                </a:solidFill>
                <a:latin typeface="Calibri" pitchFamily="34" charset="0"/>
                <a:ea typeface="Calibri" pitchFamily="34" charset="-122"/>
                <a:cs typeface="Calibri" pitchFamily="34" charset="-120"/>
              </a:rPr>
              <a:t>(holds, opened at)</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ppt_y+0.1"/>
                                          </p:val>
                                        </p:tav>
                                        <p:tav tm="100000">
                                          <p:val>
                                            <p:strVal val="#ppt_y"/>
                                          </p:val>
                                        </p:tav>
                                      </p:tavLst>
                                    </p:anim>
                                    <p:animEffect transition="in" filter="fade">
                                      <p:cBhvr>
                                        <p:cTn id="9" dur="500"/>
                                        <p:tgtEl>
                                          <p:spTgt spid="4"/>
                                        </p:tgtEl>
                                      </p:cBhvr>
                                    </p:animEffect>
                                  </p:childTnLst>
                                </p:cTn>
                              </p:par>
                              <p:par>
                                <p:cTn id="10" presetID="2" presetClass="entr" presetSubtype="4"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ppt_y+0.1"/>
                                          </p:val>
                                        </p:tav>
                                        <p:tav tm="100000">
                                          <p:val>
                                            <p:strVal val="#ppt_y"/>
                                          </p:val>
                                        </p:tav>
                                      </p:tavLst>
                                    </p:anim>
                                    <p:animEffect transition="in" filter="fade">
                                      <p:cBhvr>
                                        <p:cTn id="14" dur="500"/>
                                        <p:tgtEl>
                                          <p:spTgt spid="5"/>
                                        </p:tgtEl>
                                      </p:cBhvr>
                                    </p:animEffect>
                                  </p:childTnLst>
                                </p:cTn>
                              </p:par>
                              <p:par>
                                <p:cTn id="15" presetID="2" presetClass="entr" presetSubtype="4"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ppt_y+0.1"/>
                                          </p:val>
                                        </p:tav>
                                        <p:tav tm="100000">
                                          <p:val>
                                            <p:strVal val="#ppt_y"/>
                                          </p:val>
                                        </p:tav>
                                      </p:tavLst>
                                    </p:anim>
                                    <p:animEffect transition="in" filter="fade">
                                      <p:cBhvr>
                                        <p:cTn id="19" dur="500"/>
                                        <p:tgtEl>
                                          <p:spTgt spid="6"/>
                                        </p:tgtEl>
                                      </p:cBhvr>
                                    </p:animEffect>
                                  </p:childTnLst>
                                </p:cTn>
                              </p:par>
                              <p:par>
                                <p:cTn id="20" presetID="2" presetClass="entr" presetSubtype="4"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ppt_y+0.1"/>
                                          </p:val>
                                        </p:tav>
                                        <p:tav tm="100000">
                                          <p:val>
                                            <p:strVal val="#ppt_y"/>
                                          </p:val>
                                        </p:tav>
                                      </p:tavLst>
                                    </p:anim>
                                    <p:animEffect transition="in" filter="fade">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ppt_x"/>
                                          </p:val>
                                        </p:tav>
                                        <p:tav tm="100000">
                                          <p:val>
                                            <p:strVal val="#ppt_x"/>
                                          </p:val>
                                        </p:tav>
                                      </p:tavLst>
                                    </p:anim>
                                    <p:anim calcmode="lin" valueType="num">
                                      <p:cBhvr additive="base">
                                        <p:cTn id="30" dur="500" fill="hold"/>
                                        <p:tgtEl>
                                          <p:spTgt spid="8"/>
                                        </p:tgtEl>
                                        <p:attrNameLst>
                                          <p:attrName>ppt_y</p:attrName>
                                        </p:attrNameLst>
                                      </p:cBhvr>
                                      <p:tavLst>
                                        <p:tav tm="0">
                                          <p:val>
                                            <p:strVal val="#ppt_y+0.1"/>
                                          </p:val>
                                        </p:tav>
                                        <p:tav tm="100000">
                                          <p:val>
                                            <p:strVal val="#ppt_y"/>
                                          </p:val>
                                        </p:tav>
                                      </p:tavLst>
                                    </p:anim>
                                    <p:animEffect transition="in" filter="fade">
                                      <p:cBhvr>
                                        <p:cTn id="31" dur="500"/>
                                        <p:tgtEl>
                                          <p:spTgt spid="8"/>
                                        </p:tgtEl>
                                      </p:cBhvr>
                                    </p:animEffect>
                                  </p:childTnLst>
                                </p:cTn>
                              </p:par>
                              <p:par>
                                <p:cTn id="32" presetID="2" presetClass="entr" presetSubtype="4"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500" fill="hold"/>
                                        <p:tgtEl>
                                          <p:spTgt spid="9"/>
                                        </p:tgtEl>
                                        <p:attrNameLst>
                                          <p:attrName>ppt_x</p:attrName>
                                        </p:attrNameLst>
                                      </p:cBhvr>
                                      <p:tavLst>
                                        <p:tav tm="0">
                                          <p:val>
                                            <p:strVal val="#ppt_x"/>
                                          </p:val>
                                        </p:tav>
                                        <p:tav tm="100000">
                                          <p:val>
                                            <p:strVal val="#ppt_x"/>
                                          </p:val>
                                        </p:tav>
                                      </p:tavLst>
                                    </p:anim>
                                    <p:anim calcmode="lin" valueType="num">
                                      <p:cBhvr additive="base">
                                        <p:cTn id="35" dur="500" fill="hold"/>
                                        <p:tgtEl>
                                          <p:spTgt spid="9"/>
                                        </p:tgtEl>
                                        <p:attrNameLst>
                                          <p:attrName>ppt_y</p:attrName>
                                        </p:attrNameLst>
                                      </p:cBhvr>
                                      <p:tavLst>
                                        <p:tav tm="0">
                                          <p:val>
                                            <p:strVal val="#ppt_y+0.1"/>
                                          </p:val>
                                        </p:tav>
                                        <p:tav tm="100000">
                                          <p:val>
                                            <p:strVal val="#ppt_y"/>
                                          </p:val>
                                        </p:tav>
                                      </p:tavLst>
                                    </p:anim>
                                    <p:animEffect transition="in" filter="fade">
                                      <p:cBhvr>
                                        <p:cTn id="36" dur="500"/>
                                        <p:tgtEl>
                                          <p:spTgt spid="9"/>
                                        </p:tgtEl>
                                      </p:cBhvr>
                                    </p:animEffect>
                                  </p:childTnLst>
                                </p:cTn>
                              </p:par>
                              <p:par>
                                <p:cTn id="37" presetID="2" presetClass="entr" presetSubtype="4"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500" fill="hold"/>
                                        <p:tgtEl>
                                          <p:spTgt spid="10"/>
                                        </p:tgtEl>
                                        <p:attrNameLst>
                                          <p:attrName>ppt_x</p:attrName>
                                        </p:attrNameLst>
                                      </p:cBhvr>
                                      <p:tavLst>
                                        <p:tav tm="0">
                                          <p:val>
                                            <p:strVal val="#ppt_x"/>
                                          </p:val>
                                        </p:tav>
                                        <p:tav tm="100000">
                                          <p:val>
                                            <p:strVal val="#ppt_x"/>
                                          </p:val>
                                        </p:tav>
                                      </p:tavLst>
                                    </p:anim>
                                    <p:anim calcmode="lin" valueType="num">
                                      <p:cBhvr additive="base">
                                        <p:cTn id="40" dur="500" fill="hold"/>
                                        <p:tgtEl>
                                          <p:spTgt spid="10"/>
                                        </p:tgtEl>
                                        <p:attrNameLst>
                                          <p:attrName>ppt_y</p:attrName>
                                        </p:attrNameLst>
                                      </p:cBhvr>
                                      <p:tavLst>
                                        <p:tav tm="0">
                                          <p:val>
                                            <p:strVal val="#ppt_y+0.1"/>
                                          </p:val>
                                        </p:tav>
                                        <p:tav tm="100000">
                                          <p:val>
                                            <p:strVal val="#ppt_y"/>
                                          </p:val>
                                        </p:tav>
                                      </p:tavLst>
                                    </p:anim>
                                    <p:animEffect transition="in" filter="fade">
                                      <p:cBhvr>
                                        <p:cTn id="41" dur="500"/>
                                        <p:tgtEl>
                                          <p:spTgt spid="10"/>
                                        </p:tgtEl>
                                      </p:cBhvr>
                                    </p:animEffect>
                                  </p:childTnLst>
                                </p:cTn>
                              </p:par>
                              <p:par>
                                <p:cTn id="42" presetID="2" presetClass="entr" presetSubtype="4"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additive="base">
                                        <p:cTn id="44" dur="500" fill="hold"/>
                                        <p:tgtEl>
                                          <p:spTgt spid="11"/>
                                        </p:tgtEl>
                                        <p:attrNameLst>
                                          <p:attrName>ppt_x</p:attrName>
                                        </p:attrNameLst>
                                      </p:cBhvr>
                                      <p:tavLst>
                                        <p:tav tm="0">
                                          <p:val>
                                            <p:strVal val="#ppt_x"/>
                                          </p:val>
                                        </p:tav>
                                        <p:tav tm="100000">
                                          <p:val>
                                            <p:strVal val="#ppt_x"/>
                                          </p:val>
                                        </p:tav>
                                      </p:tavLst>
                                    </p:anim>
                                    <p:anim calcmode="lin" valueType="num">
                                      <p:cBhvr additive="base">
                                        <p:cTn id="45" dur="500" fill="hold"/>
                                        <p:tgtEl>
                                          <p:spTgt spid="11"/>
                                        </p:tgtEl>
                                        <p:attrNameLst>
                                          <p:attrName>ppt_y</p:attrName>
                                        </p:attrNameLst>
                                      </p:cBhvr>
                                      <p:tavLst>
                                        <p:tav tm="0">
                                          <p:val>
                                            <p:strVal val="#ppt_y+0.1"/>
                                          </p:val>
                                        </p:tav>
                                        <p:tav tm="100000">
                                          <p:val>
                                            <p:strVal val="#ppt_y"/>
                                          </p:val>
                                        </p:tav>
                                      </p:tavLst>
                                    </p:anim>
                                    <p:animEffect transition="in" filter="fade">
                                      <p:cBhvr>
                                        <p:cTn id="46" dur="500"/>
                                        <p:tgtEl>
                                          <p:spTgt spid="11"/>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anim calcmode="lin" valueType="num">
                                      <p:cBhvr additive="base">
                                        <p:cTn id="51" dur="500" fill="hold"/>
                                        <p:tgtEl>
                                          <p:spTgt spid="12"/>
                                        </p:tgtEl>
                                        <p:attrNameLst>
                                          <p:attrName>ppt_x</p:attrName>
                                        </p:attrNameLst>
                                      </p:cBhvr>
                                      <p:tavLst>
                                        <p:tav tm="0">
                                          <p:val>
                                            <p:strVal val="#ppt_x"/>
                                          </p:val>
                                        </p:tav>
                                        <p:tav tm="100000">
                                          <p:val>
                                            <p:strVal val="#ppt_x"/>
                                          </p:val>
                                        </p:tav>
                                      </p:tavLst>
                                    </p:anim>
                                    <p:anim calcmode="lin" valueType="num">
                                      <p:cBhvr additive="base">
                                        <p:cTn id="52" dur="500" fill="hold"/>
                                        <p:tgtEl>
                                          <p:spTgt spid="12"/>
                                        </p:tgtEl>
                                        <p:attrNameLst>
                                          <p:attrName>ppt_y</p:attrName>
                                        </p:attrNameLst>
                                      </p:cBhvr>
                                      <p:tavLst>
                                        <p:tav tm="0">
                                          <p:val>
                                            <p:strVal val="#ppt_y+0.1"/>
                                          </p:val>
                                        </p:tav>
                                        <p:tav tm="100000">
                                          <p:val>
                                            <p:strVal val="#ppt_y"/>
                                          </p:val>
                                        </p:tav>
                                      </p:tavLst>
                                    </p:anim>
                                    <p:animEffect transition="in" filter="fade">
                                      <p:cBhvr>
                                        <p:cTn id="53" dur="500"/>
                                        <p:tgtEl>
                                          <p:spTgt spid="12"/>
                                        </p:tgtEl>
                                      </p:cBhvr>
                                    </p:animEffect>
                                  </p:childTnLst>
                                </p:cTn>
                              </p:par>
                              <p:par>
                                <p:cTn id="54" presetID="2" presetClass="entr" presetSubtype="4" fill="hold" grpId="0" nodeType="withEffect">
                                  <p:stCondLst>
                                    <p:cond delay="0"/>
                                  </p:stCondLst>
                                  <p:childTnLst>
                                    <p:set>
                                      <p:cBhvr>
                                        <p:cTn id="55" dur="1" fill="hold">
                                          <p:stCondLst>
                                            <p:cond delay="0"/>
                                          </p:stCondLst>
                                        </p:cTn>
                                        <p:tgtEl>
                                          <p:spTgt spid="13"/>
                                        </p:tgtEl>
                                        <p:attrNameLst>
                                          <p:attrName>style.visibility</p:attrName>
                                        </p:attrNameLst>
                                      </p:cBhvr>
                                      <p:to>
                                        <p:strVal val="visible"/>
                                      </p:to>
                                    </p:set>
                                    <p:anim calcmode="lin" valueType="num">
                                      <p:cBhvr additive="base">
                                        <p:cTn id="56" dur="500" fill="hold"/>
                                        <p:tgtEl>
                                          <p:spTgt spid="13"/>
                                        </p:tgtEl>
                                        <p:attrNameLst>
                                          <p:attrName>ppt_x</p:attrName>
                                        </p:attrNameLst>
                                      </p:cBhvr>
                                      <p:tavLst>
                                        <p:tav tm="0">
                                          <p:val>
                                            <p:strVal val="#ppt_x"/>
                                          </p:val>
                                        </p:tav>
                                        <p:tav tm="100000">
                                          <p:val>
                                            <p:strVal val="#ppt_x"/>
                                          </p:val>
                                        </p:tav>
                                      </p:tavLst>
                                    </p:anim>
                                    <p:anim calcmode="lin" valueType="num">
                                      <p:cBhvr additive="base">
                                        <p:cTn id="57" dur="500" fill="hold"/>
                                        <p:tgtEl>
                                          <p:spTgt spid="13"/>
                                        </p:tgtEl>
                                        <p:attrNameLst>
                                          <p:attrName>ppt_y</p:attrName>
                                        </p:attrNameLst>
                                      </p:cBhvr>
                                      <p:tavLst>
                                        <p:tav tm="0">
                                          <p:val>
                                            <p:strVal val="#ppt_y+0.1"/>
                                          </p:val>
                                        </p:tav>
                                        <p:tav tm="100000">
                                          <p:val>
                                            <p:strVal val="#ppt_y"/>
                                          </p:val>
                                        </p:tav>
                                      </p:tavLst>
                                    </p:anim>
                                    <p:animEffect transition="in" filter="fade">
                                      <p:cBhvr>
                                        <p:cTn id="58" dur="500"/>
                                        <p:tgtEl>
                                          <p:spTgt spid="13"/>
                                        </p:tgtEl>
                                      </p:cBhvr>
                                    </p:animEffect>
                                  </p:childTnLst>
                                </p:cTn>
                              </p:par>
                              <p:par>
                                <p:cTn id="59" presetID="2" presetClass="entr" presetSubtype="4"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 calcmode="lin" valueType="num">
                                      <p:cBhvr additive="base">
                                        <p:cTn id="61" dur="500" fill="hold"/>
                                        <p:tgtEl>
                                          <p:spTgt spid="14"/>
                                        </p:tgtEl>
                                        <p:attrNameLst>
                                          <p:attrName>ppt_x</p:attrName>
                                        </p:attrNameLst>
                                      </p:cBhvr>
                                      <p:tavLst>
                                        <p:tav tm="0">
                                          <p:val>
                                            <p:strVal val="#ppt_x"/>
                                          </p:val>
                                        </p:tav>
                                        <p:tav tm="100000">
                                          <p:val>
                                            <p:strVal val="#ppt_x"/>
                                          </p:val>
                                        </p:tav>
                                      </p:tavLst>
                                    </p:anim>
                                    <p:anim calcmode="lin" valueType="num">
                                      <p:cBhvr additive="base">
                                        <p:cTn id="62" dur="500" fill="hold"/>
                                        <p:tgtEl>
                                          <p:spTgt spid="14"/>
                                        </p:tgtEl>
                                        <p:attrNameLst>
                                          <p:attrName>ppt_y</p:attrName>
                                        </p:attrNameLst>
                                      </p:cBhvr>
                                      <p:tavLst>
                                        <p:tav tm="0">
                                          <p:val>
                                            <p:strVal val="#ppt_y+0.1"/>
                                          </p:val>
                                        </p:tav>
                                        <p:tav tm="100000">
                                          <p:val>
                                            <p:strVal val="#ppt_y"/>
                                          </p:val>
                                        </p:tav>
                                      </p:tavLst>
                                    </p:anim>
                                    <p:animEffect transition="in" filter="fade">
                                      <p:cBhvr>
                                        <p:cTn id="63" dur="500"/>
                                        <p:tgtEl>
                                          <p:spTgt spid="14"/>
                                        </p:tgtEl>
                                      </p:cBhvr>
                                    </p:animEffect>
                                  </p:childTnLst>
                                </p:cTn>
                              </p:par>
                              <p:par>
                                <p:cTn id="64" presetID="2" presetClass="entr" presetSubtype="4" fill="hold" grpId="0" nodeType="withEffect">
                                  <p:stCondLst>
                                    <p:cond delay="0"/>
                                  </p:stCondLst>
                                  <p:childTnLst>
                                    <p:set>
                                      <p:cBhvr>
                                        <p:cTn id="65" dur="1" fill="hold">
                                          <p:stCondLst>
                                            <p:cond delay="0"/>
                                          </p:stCondLst>
                                        </p:cTn>
                                        <p:tgtEl>
                                          <p:spTgt spid="15"/>
                                        </p:tgtEl>
                                        <p:attrNameLst>
                                          <p:attrName>style.visibility</p:attrName>
                                        </p:attrNameLst>
                                      </p:cBhvr>
                                      <p:to>
                                        <p:strVal val="visible"/>
                                      </p:to>
                                    </p:set>
                                    <p:anim calcmode="lin" valueType="num">
                                      <p:cBhvr additive="base">
                                        <p:cTn id="66" dur="500" fill="hold"/>
                                        <p:tgtEl>
                                          <p:spTgt spid="15"/>
                                        </p:tgtEl>
                                        <p:attrNameLst>
                                          <p:attrName>ppt_x</p:attrName>
                                        </p:attrNameLst>
                                      </p:cBhvr>
                                      <p:tavLst>
                                        <p:tav tm="0">
                                          <p:val>
                                            <p:strVal val="#ppt_x"/>
                                          </p:val>
                                        </p:tav>
                                        <p:tav tm="100000">
                                          <p:val>
                                            <p:strVal val="#ppt_x"/>
                                          </p:val>
                                        </p:tav>
                                      </p:tavLst>
                                    </p:anim>
                                    <p:anim calcmode="lin" valueType="num">
                                      <p:cBhvr additive="base">
                                        <p:cTn id="67" dur="500" fill="hold"/>
                                        <p:tgtEl>
                                          <p:spTgt spid="15"/>
                                        </p:tgtEl>
                                        <p:attrNameLst>
                                          <p:attrName>ppt_y</p:attrName>
                                        </p:attrNameLst>
                                      </p:cBhvr>
                                      <p:tavLst>
                                        <p:tav tm="0">
                                          <p:val>
                                            <p:strVal val="#ppt_y+0.1"/>
                                          </p:val>
                                        </p:tav>
                                        <p:tav tm="100000">
                                          <p:val>
                                            <p:strVal val="#ppt_y"/>
                                          </p:val>
                                        </p:tav>
                                      </p:tavLst>
                                    </p:anim>
                                    <p:animEffect transition="in" filter="fade">
                                      <p:cBhvr>
                                        <p:cTn id="68" dur="500"/>
                                        <p:tgtEl>
                                          <p:spTgt spid="15"/>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500"/>
                                        <p:tgtEl>
                                          <p:spTgt spid="16"/>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17"/>
                                        </p:tgtEl>
                                        <p:attrNameLst>
                                          <p:attrName>style.visibility</p:attrName>
                                        </p:attrNameLst>
                                      </p:cBhvr>
                                      <p:to>
                                        <p:strVal val="visible"/>
                                      </p:to>
                                    </p:set>
                                    <p:animEffect transition="in" filter="fade">
                                      <p:cBhvr>
                                        <p:cTn id="76" dur="500"/>
                                        <p:tgtEl>
                                          <p:spTgt spid="17"/>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18"/>
                                        </p:tgtEl>
                                        <p:attrNameLst>
                                          <p:attrName>style.visibility</p:attrName>
                                        </p:attrNameLst>
                                      </p:cBhvr>
                                      <p:to>
                                        <p:strVal val="visible"/>
                                      </p:to>
                                    </p:set>
                                    <p:animEffect transition="in" filter="fade">
                                      <p:cBhvr>
                                        <p:cTn id="8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1"/>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Crow's Foot Notation</a:t>
            </a:r>
            <a:endParaRPr lang="en-US" sz="2800" dirty="0"/>
          </a:p>
        </p:txBody>
      </p:sp>
      <p:sp>
        <p:nvSpPr>
          <p:cNvPr id="3" name="Text 2"/>
          <p:cNvSpPr txBox="1"/>
          <p:nvPr/>
        </p:nvSpPr>
        <p:spPr>
          <a:xfrm>
            <a:off x="457200" y="749808"/>
            <a:ext cx="8229600" cy="320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Each line end says how many rows can sit on that side — and whether it is compulsory</a:t>
            </a:r>
            <a:endParaRPr lang="en-US" sz="1300" dirty="0"/>
          </a:p>
        </p:txBody>
      </p:sp>
      <p:sp>
        <p:nvSpPr>
          <p:cNvPr id="4" name="a1u_c3"/>
          <p:cNvSpPr/>
          <p:nvPr/>
        </p:nvSpPr>
        <p:spPr>
          <a:xfrm>
            <a:off x="457200" y="1234440"/>
            <a:ext cx="8229600" cy="658368"/>
          </a:xfrm>
          <a:prstGeom prst="roundRect">
            <a:avLst>
              <a:gd name="adj" fmla="val 6000"/>
            </a:avLst>
          </a:prstGeom>
          <a:solidFill>
            <a:srgbClr val="FFFFFF"/>
          </a:solidFill>
          <a:ln w="12700">
            <a:solidFill>
              <a:srgbClr val="E2E8F0"/>
            </a:solidFill>
            <a:prstDash val="solid"/>
          </a:ln>
        </p:spPr>
      </p:sp>
      <p:cxnSp>
        <p:nvCxnSpPr>
          <p:cNvPr id="5" name="a1u_l4"/>
          <p:cNvCxnSpPr/>
          <p:nvPr/>
        </p:nvCxnSpPr>
        <p:spPr>
          <a:xfrm>
            <a:off x="731520" y="1563624"/>
            <a:ext cx="1600200" cy="0"/>
          </a:xfrm>
          <a:prstGeom prst="line">
            <a:avLst/>
          </a:prstGeom>
          <a:ln w="15875">
            <a:solidFill>
              <a:srgbClr val="0F172A"/>
            </a:solidFill>
          </a:ln>
        </p:spPr>
      </p:cxnSp>
      <p:cxnSp>
        <p:nvCxnSpPr>
          <p:cNvPr id="6" name="a1u_l5"/>
          <p:cNvCxnSpPr/>
          <p:nvPr/>
        </p:nvCxnSpPr>
        <p:spPr>
          <a:xfrm>
            <a:off x="2267712" y="1481328"/>
            <a:ext cx="0" cy="164592"/>
          </a:xfrm>
          <a:prstGeom prst="line">
            <a:avLst/>
          </a:prstGeom>
          <a:ln w="15875">
            <a:solidFill>
              <a:srgbClr val="0F172A"/>
            </a:solidFill>
          </a:ln>
        </p:spPr>
      </p:cxnSp>
      <p:cxnSp>
        <p:nvCxnSpPr>
          <p:cNvPr id="7" name="a1u_l6"/>
          <p:cNvCxnSpPr/>
          <p:nvPr/>
        </p:nvCxnSpPr>
        <p:spPr>
          <a:xfrm>
            <a:off x="2203704" y="1481328"/>
            <a:ext cx="0" cy="164592"/>
          </a:xfrm>
          <a:prstGeom prst="line">
            <a:avLst/>
          </a:prstGeom>
          <a:ln w="15875">
            <a:solidFill>
              <a:srgbClr val="0F172A"/>
            </a:solidFill>
          </a:ln>
        </p:spPr>
      </p:cxnSp>
      <p:sp>
        <p:nvSpPr>
          <p:cNvPr id="8" name="a1u_s7"/>
          <p:cNvSpPr txBox="1"/>
          <p:nvPr/>
        </p:nvSpPr>
        <p:spPr>
          <a:xfrm>
            <a:off x="2606040" y="1380744"/>
            <a:ext cx="640080" cy="365760"/>
          </a:xfrm>
          <a:prstGeom prst="rect">
            <a:avLst/>
          </a:prstGeom>
          <a:noFill/>
          <a:ln/>
        </p:spPr>
        <p:txBody>
          <a:bodyPr wrap="square" lIns="0" tIns="0" rIns="0" bIns="0" rtlCol="0" anchor="ctr"/>
          <a:lstStyle/>
          <a:p>
            <a:pPr marL="0" indent="0" algn="ctr">
              <a:buNone/>
            </a:pPr>
            <a:r>
              <a:rPr lang="en-US" sz="1500" b="1" dirty="0">
                <a:solidFill>
                  <a:srgbClr val="6D28D9"/>
                </a:solidFill>
                <a:latin typeface="Courier New" pitchFamily="34" charset="0"/>
                <a:ea typeface="Courier New" pitchFamily="34" charset="-122"/>
                <a:cs typeface="Courier New" pitchFamily="34" charset="-120"/>
              </a:rPr>
              <a:t>||</a:t>
            </a:r>
            <a:endParaRPr lang="en-US" sz="1500" dirty="0"/>
          </a:p>
        </p:txBody>
      </p:sp>
      <p:sp>
        <p:nvSpPr>
          <p:cNvPr id="9" name="a1u_m8"/>
          <p:cNvSpPr txBox="1"/>
          <p:nvPr/>
        </p:nvSpPr>
        <p:spPr>
          <a:xfrm>
            <a:off x="3429000" y="1325880"/>
            <a:ext cx="2103120" cy="27432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Exactly one</a:t>
            </a:r>
            <a:endParaRPr lang="en-US" sz="1300" dirty="0"/>
          </a:p>
        </p:txBody>
      </p:sp>
      <p:sp>
        <p:nvSpPr>
          <p:cNvPr id="10" name="a1u_o9"/>
          <p:cNvSpPr txBox="1"/>
          <p:nvPr/>
        </p:nvSpPr>
        <p:spPr>
          <a:xfrm>
            <a:off x="3429000" y="1581912"/>
            <a:ext cx="2103120" cy="256032"/>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mandatory</a:t>
            </a:r>
            <a:endParaRPr lang="en-US" sz="1050" dirty="0"/>
          </a:p>
        </p:txBody>
      </p:sp>
      <p:sp>
        <p:nvSpPr>
          <p:cNvPr id="11" name="a1u_e10"/>
          <p:cNvSpPr txBox="1"/>
          <p:nvPr/>
        </p:nvSpPr>
        <p:spPr>
          <a:xfrm>
            <a:off x="5669280" y="1234440"/>
            <a:ext cx="2926080" cy="658368"/>
          </a:xfrm>
          <a:prstGeom prst="rect">
            <a:avLst/>
          </a:prstGeom>
          <a:noFill/>
          <a:ln/>
        </p:spPr>
        <p:txBody>
          <a:bodyPr wrap="square" lIns="0" tIns="0" rIns="0" bIns="0" rtlCol="0" anchor="ctr"/>
          <a:lstStyle/>
          <a:p>
            <a:pPr marL="0" indent="0">
              <a:buNone/>
            </a:pPr>
            <a:r>
              <a:rPr lang="en-US" sz="1150" dirty="0">
                <a:solidFill>
                  <a:srgbClr val="334155"/>
                </a:solidFill>
                <a:latin typeface="Calibri" pitchFamily="34" charset="0"/>
                <a:ea typeface="Calibri" pitchFamily="34" charset="-122"/>
                <a:cs typeface="Calibri" pitchFamily="34" charset="-120"/>
              </a:rPr>
              <a:t>An account has exactly one customer</a:t>
            </a:r>
            <a:endParaRPr lang="en-US" sz="1150" dirty="0"/>
          </a:p>
        </p:txBody>
      </p:sp>
      <p:sp>
        <p:nvSpPr>
          <p:cNvPr id="12" name="a2u_c11"/>
          <p:cNvSpPr/>
          <p:nvPr/>
        </p:nvSpPr>
        <p:spPr>
          <a:xfrm>
            <a:off x="457200" y="2011680"/>
            <a:ext cx="8229600" cy="658368"/>
          </a:xfrm>
          <a:prstGeom prst="roundRect">
            <a:avLst>
              <a:gd name="adj" fmla="val 6000"/>
            </a:avLst>
          </a:prstGeom>
          <a:solidFill>
            <a:srgbClr val="FFFFFF"/>
          </a:solidFill>
          <a:ln w="12700">
            <a:solidFill>
              <a:srgbClr val="E2E8F0"/>
            </a:solidFill>
            <a:prstDash val="solid"/>
          </a:ln>
        </p:spPr>
      </p:sp>
      <p:cxnSp>
        <p:nvCxnSpPr>
          <p:cNvPr id="13" name="a2u_l12"/>
          <p:cNvCxnSpPr/>
          <p:nvPr/>
        </p:nvCxnSpPr>
        <p:spPr>
          <a:xfrm>
            <a:off x="731520" y="2340864"/>
            <a:ext cx="1600200" cy="0"/>
          </a:xfrm>
          <a:prstGeom prst="line">
            <a:avLst/>
          </a:prstGeom>
          <a:ln w="15875">
            <a:solidFill>
              <a:srgbClr val="0F172A"/>
            </a:solidFill>
          </a:ln>
        </p:spPr>
      </p:cxnSp>
      <p:cxnSp>
        <p:nvCxnSpPr>
          <p:cNvPr id="14" name="a2u_l13"/>
          <p:cNvCxnSpPr/>
          <p:nvPr/>
        </p:nvCxnSpPr>
        <p:spPr>
          <a:xfrm>
            <a:off x="2258568" y="2258568"/>
            <a:ext cx="0" cy="164592"/>
          </a:xfrm>
          <a:prstGeom prst="line">
            <a:avLst/>
          </a:prstGeom>
          <a:ln w="15875">
            <a:solidFill>
              <a:srgbClr val="0F172A"/>
            </a:solidFill>
          </a:ln>
        </p:spPr>
      </p:cxnSp>
      <p:sp>
        <p:nvSpPr>
          <p:cNvPr id="15" name="a2u_l14"/>
          <p:cNvSpPr/>
          <p:nvPr/>
        </p:nvSpPr>
        <p:spPr>
          <a:xfrm>
            <a:off x="2071116" y="2290572"/>
            <a:ext cx="100584" cy="100584"/>
          </a:xfrm>
          <a:prstGeom prst="ellipse">
            <a:avLst/>
          </a:prstGeom>
          <a:solidFill>
            <a:srgbClr val="FFFFFF"/>
          </a:solidFill>
          <a:ln w="15875">
            <a:solidFill>
              <a:srgbClr val="0F172A"/>
            </a:solidFill>
            <a:prstDash val="solid"/>
          </a:ln>
        </p:spPr>
      </p:sp>
      <p:sp>
        <p:nvSpPr>
          <p:cNvPr id="16" name="a2u_s15"/>
          <p:cNvSpPr txBox="1"/>
          <p:nvPr/>
        </p:nvSpPr>
        <p:spPr>
          <a:xfrm>
            <a:off x="2606040" y="2157984"/>
            <a:ext cx="640080" cy="365760"/>
          </a:xfrm>
          <a:prstGeom prst="rect">
            <a:avLst/>
          </a:prstGeom>
          <a:noFill/>
          <a:ln/>
        </p:spPr>
        <p:txBody>
          <a:bodyPr wrap="square" lIns="0" tIns="0" rIns="0" bIns="0" rtlCol="0" anchor="ctr"/>
          <a:lstStyle/>
          <a:p>
            <a:pPr marL="0" indent="0" algn="ctr">
              <a:buNone/>
            </a:pPr>
            <a:r>
              <a:rPr lang="en-US" sz="1500" b="1" dirty="0">
                <a:solidFill>
                  <a:srgbClr val="6D28D9"/>
                </a:solidFill>
                <a:latin typeface="Courier New" pitchFamily="34" charset="0"/>
                <a:ea typeface="Courier New" pitchFamily="34" charset="-122"/>
                <a:cs typeface="Courier New" pitchFamily="34" charset="-120"/>
              </a:rPr>
              <a:t>o|</a:t>
            </a:r>
            <a:endParaRPr lang="en-US" sz="1500" dirty="0"/>
          </a:p>
        </p:txBody>
      </p:sp>
      <p:sp>
        <p:nvSpPr>
          <p:cNvPr id="17" name="a2u_m16"/>
          <p:cNvSpPr txBox="1"/>
          <p:nvPr/>
        </p:nvSpPr>
        <p:spPr>
          <a:xfrm>
            <a:off x="3429000" y="2103120"/>
            <a:ext cx="2103120" cy="27432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Zero or one</a:t>
            </a:r>
            <a:endParaRPr lang="en-US" sz="1300" dirty="0"/>
          </a:p>
        </p:txBody>
      </p:sp>
      <p:sp>
        <p:nvSpPr>
          <p:cNvPr id="18" name="a2u_o17"/>
          <p:cNvSpPr txBox="1"/>
          <p:nvPr/>
        </p:nvSpPr>
        <p:spPr>
          <a:xfrm>
            <a:off x="3429000" y="2359152"/>
            <a:ext cx="2103120" cy="256032"/>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optional</a:t>
            </a:r>
            <a:endParaRPr lang="en-US" sz="1050" dirty="0"/>
          </a:p>
        </p:txBody>
      </p:sp>
      <p:sp>
        <p:nvSpPr>
          <p:cNvPr id="19" name="a2u_e18"/>
          <p:cNvSpPr txBox="1"/>
          <p:nvPr/>
        </p:nvSpPr>
        <p:spPr>
          <a:xfrm>
            <a:off x="5669280" y="2011680"/>
            <a:ext cx="2926080" cy="658368"/>
          </a:xfrm>
          <a:prstGeom prst="rect">
            <a:avLst/>
          </a:prstGeom>
          <a:noFill/>
          <a:ln/>
        </p:spPr>
        <p:txBody>
          <a:bodyPr wrap="square" lIns="0" tIns="0" rIns="0" bIns="0" rtlCol="0" anchor="ctr"/>
          <a:lstStyle/>
          <a:p>
            <a:pPr marL="0" indent="0">
              <a:buNone/>
            </a:pPr>
            <a:r>
              <a:rPr lang="en-US" sz="1150" dirty="0">
                <a:solidFill>
                  <a:srgbClr val="334155"/>
                </a:solidFill>
                <a:latin typeface="Calibri" pitchFamily="34" charset="0"/>
                <a:ea typeface="Calibri" pitchFamily="34" charset="-122"/>
                <a:cs typeface="Calibri" pitchFamily="34" charset="-120"/>
              </a:rPr>
              <a:t>An employee has at most one manager</a:t>
            </a:r>
            <a:endParaRPr lang="en-US" sz="1150" dirty="0"/>
          </a:p>
        </p:txBody>
      </p:sp>
      <p:sp>
        <p:nvSpPr>
          <p:cNvPr id="20" name="a3u_c19"/>
          <p:cNvSpPr/>
          <p:nvPr/>
        </p:nvSpPr>
        <p:spPr>
          <a:xfrm>
            <a:off x="457200" y="2788920"/>
            <a:ext cx="8229600" cy="658368"/>
          </a:xfrm>
          <a:prstGeom prst="roundRect">
            <a:avLst>
              <a:gd name="adj" fmla="val 6000"/>
            </a:avLst>
          </a:prstGeom>
          <a:solidFill>
            <a:srgbClr val="FFFFFF"/>
          </a:solidFill>
          <a:ln w="12700">
            <a:solidFill>
              <a:srgbClr val="E2E8F0"/>
            </a:solidFill>
            <a:prstDash val="solid"/>
          </a:ln>
        </p:spPr>
      </p:sp>
      <p:cxnSp>
        <p:nvCxnSpPr>
          <p:cNvPr id="21" name="a3u_l20"/>
          <p:cNvCxnSpPr/>
          <p:nvPr/>
        </p:nvCxnSpPr>
        <p:spPr>
          <a:xfrm>
            <a:off x="731520" y="3118104"/>
            <a:ext cx="1600200" cy="0"/>
          </a:xfrm>
          <a:prstGeom prst="line">
            <a:avLst/>
          </a:prstGeom>
          <a:ln w="15875">
            <a:solidFill>
              <a:srgbClr val="0F172A"/>
            </a:solidFill>
          </a:ln>
        </p:spPr>
      </p:cxnSp>
      <p:cxnSp>
        <p:nvCxnSpPr>
          <p:cNvPr id="22" name="a3u_l21"/>
          <p:cNvCxnSpPr/>
          <p:nvPr/>
        </p:nvCxnSpPr>
        <p:spPr>
          <a:xfrm flipV="1">
            <a:off x="2167128" y="3026664"/>
            <a:ext cx="164592" cy="91440"/>
          </a:xfrm>
          <a:prstGeom prst="line">
            <a:avLst/>
          </a:prstGeom>
          <a:ln w="15875">
            <a:solidFill>
              <a:srgbClr val="0F172A"/>
            </a:solidFill>
          </a:ln>
        </p:spPr>
      </p:cxnSp>
      <p:cxnSp>
        <p:nvCxnSpPr>
          <p:cNvPr id="23" name="a3u_l22"/>
          <p:cNvCxnSpPr/>
          <p:nvPr/>
        </p:nvCxnSpPr>
        <p:spPr>
          <a:xfrm>
            <a:off x="2167128" y="3118104"/>
            <a:ext cx="164592" cy="91440"/>
          </a:xfrm>
          <a:prstGeom prst="line">
            <a:avLst/>
          </a:prstGeom>
          <a:ln w="15875">
            <a:solidFill>
              <a:srgbClr val="0F172A"/>
            </a:solidFill>
          </a:ln>
        </p:spPr>
      </p:cxnSp>
      <p:cxnSp>
        <p:nvCxnSpPr>
          <p:cNvPr id="24" name="a3u_l23"/>
          <p:cNvCxnSpPr/>
          <p:nvPr/>
        </p:nvCxnSpPr>
        <p:spPr>
          <a:xfrm>
            <a:off x="2084832" y="3035808"/>
            <a:ext cx="0" cy="164592"/>
          </a:xfrm>
          <a:prstGeom prst="line">
            <a:avLst/>
          </a:prstGeom>
          <a:ln w="15875">
            <a:solidFill>
              <a:srgbClr val="0F172A"/>
            </a:solidFill>
          </a:ln>
        </p:spPr>
      </p:cxnSp>
      <p:sp>
        <p:nvSpPr>
          <p:cNvPr id="25" name="a3u_s24"/>
          <p:cNvSpPr txBox="1"/>
          <p:nvPr/>
        </p:nvSpPr>
        <p:spPr>
          <a:xfrm>
            <a:off x="2606040" y="2935224"/>
            <a:ext cx="640080" cy="365760"/>
          </a:xfrm>
          <a:prstGeom prst="rect">
            <a:avLst/>
          </a:prstGeom>
          <a:noFill/>
          <a:ln/>
        </p:spPr>
        <p:txBody>
          <a:bodyPr wrap="square" lIns="0" tIns="0" rIns="0" bIns="0" rtlCol="0" anchor="ctr"/>
          <a:lstStyle/>
          <a:p>
            <a:pPr marL="0" indent="0" algn="ctr">
              <a:buNone/>
            </a:pPr>
            <a:r>
              <a:rPr lang="en-US" sz="1500" b="1" dirty="0">
                <a:solidFill>
                  <a:srgbClr val="6D28D9"/>
                </a:solidFill>
                <a:latin typeface="Courier New" pitchFamily="34" charset="0"/>
                <a:ea typeface="Courier New" pitchFamily="34" charset="-122"/>
                <a:cs typeface="Courier New" pitchFamily="34" charset="-120"/>
              </a:rPr>
              <a:t>|{</a:t>
            </a:r>
            <a:endParaRPr lang="en-US" sz="1500" dirty="0"/>
          </a:p>
        </p:txBody>
      </p:sp>
      <p:sp>
        <p:nvSpPr>
          <p:cNvPr id="26" name="a3u_m25"/>
          <p:cNvSpPr txBox="1"/>
          <p:nvPr/>
        </p:nvSpPr>
        <p:spPr>
          <a:xfrm>
            <a:off x="3429000" y="2880360"/>
            <a:ext cx="2103120" cy="27432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One or many</a:t>
            </a:r>
            <a:endParaRPr lang="en-US" sz="1300" dirty="0"/>
          </a:p>
        </p:txBody>
      </p:sp>
      <p:sp>
        <p:nvSpPr>
          <p:cNvPr id="27" name="a3u_o26"/>
          <p:cNvSpPr txBox="1"/>
          <p:nvPr/>
        </p:nvSpPr>
        <p:spPr>
          <a:xfrm>
            <a:off x="3429000" y="3136392"/>
            <a:ext cx="2103120" cy="256032"/>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mandatory</a:t>
            </a:r>
            <a:endParaRPr lang="en-US" sz="1050" dirty="0"/>
          </a:p>
        </p:txBody>
      </p:sp>
      <p:sp>
        <p:nvSpPr>
          <p:cNvPr id="28" name="a3u_e27"/>
          <p:cNvSpPr txBox="1"/>
          <p:nvPr/>
        </p:nvSpPr>
        <p:spPr>
          <a:xfrm>
            <a:off x="5669280" y="2788920"/>
            <a:ext cx="2926080" cy="658368"/>
          </a:xfrm>
          <a:prstGeom prst="rect">
            <a:avLst/>
          </a:prstGeom>
          <a:noFill/>
          <a:ln/>
        </p:spPr>
        <p:txBody>
          <a:bodyPr wrap="square" lIns="0" tIns="0" rIns="0" bIns="0" rtlCol="0" anchor="ctr"/>
          <a:lstStyle/>
          <a:p>
            <a:pPr marL="0" indent="0">
              <a:buNone/>
            </a:pPr>
            <a:r>
              <a:rPr lang="en-US" sz="1150" dirty="0">
                <a:solidFill>
                  <a:srgbClr val="334155"/>
                </a:solidFill>
                <a:latin typeface="Calibri" pitchFamily="34" charset="0"/>
                <a:ea typeface="Calibri" pitchFamily="34" charset="-122"/>
                <a:cs typeface="Calibri" pitchFamily="34" charset="-120"/>
              </a:rPr>
              <a:t>A loan has at least one instalment</a:t>
            </a:r>
            <a:endParaRPr lang="en-US" sz="1150" dirty="0"/>
          </a:p>
        </p:txBody>
      </p:sp>
      <p:sp>
        <p:nvSpPr>
          <p:cNvPr id="29" name="a4u_c28"/>
          <p:cNvSpPr/>
          <p:nvPr/>
        </p:nvSpPr>
        <p:spPr>
          <a:xfrm>
            <a:off x="457200" y="3566160"/>
            <a:ext cx="8229600" cy="658368"/>
          </a:xfrm>
          <a:prstGeom prst="roundRect">
            <a:avLst>
              <a:gd name="adj" fmla="val 6000"/>
            </a:avLst>
          </a:prstGeom>
          <a:solidFill>
            <a:srgbClr val="FFFFFF"/>
          </a:solidFill>
          <a:ln w="12700">
            <a:solidFill>
              <a:srgbClr val="E2E8F0"/>
            </a:solidFill>
            <a:prstDash val="solid"/>
          </a:ln>
        </p:spPr>
      </p:sp>
      <p:cxnSp>
        <p:nvCxnSpPr>
          <p:cNvPr id="30" name="a4u_l29"/>
          <p:cNvCxnSpPr/>
          <p:nvPr/>
        </p:nvCxnSpPr>
        <p:spPr>
          <a:xfrm>
            <a:off x="731520" y="3895344"/>
            <a:ext cx="1600200" cy="0"/>
          </a:xfrm>
          <a:prstGeom prst="line">
            <a:avLst/>
          </a:prstGeom>
          <a:ln w="15875">
            <a:solidFill>
              <a:srgbClr val="0F172A"/>
            </a:solidFill>
          </a:ln>
        </p:spPr>
      </p:cxnSp>
      <p:cxnSp>
        <p:nvCxnSpPr>
          <p:cNvPr id="31" name="a4u_l30"/>
          <p:cNvCxnSpPr/>
          <p:nvPr/>
        </p:nvCxnSpPr>
        <p:spPr>
          <a:xfrm flipV="1">
            <a:off x="2167128" y="3803904"/>
            <a:ext cx="164592" cy="91440"/>
          </a:xfrm>
          <a:prstGeom prst="line">
            <a:avLst/>
          </a:prstGeom>
          <a:ln w="15875">
            <a:solidFill>
              <a:srgbClr val="0F172A"/>
            </a:solidFill>
          </a:ln>
        </p:spPr>
      </p:cxnSp>
      <p:cxnSp>
        <p:nvCxnSpPr>
          <p:cNvPr id="32" name="a4u_l31"/>
          <p:cNvCxnSpPr/>
          <p:nvPr/>
        </p:nvCxnSpPr>
        <p:spPr>
          <a:xfrm>
            <a:off x="2167128" y="3895344"/>
            <a:ext cx="164592" cy="91440"/>
          </a:xfrm>
          <a:prstGeom prst="line">
            <a:avLst/>
          </a:prstGeom>
          <a:ln w="15875">
            <a:solidFill>
              <a:srgbClr val="0F172A"/>
            </a:solidFill>
          </a:ln>
        </p:spPr>
      </p:cxnSp>
      <p:sp>
        <p:nvSpPr>
          <p:cNvPr id="33" name="a4u_l32"/>
          <p:cNvSpPr/>
          <p:nvPr/>
        </p:nvSpPr>
        <p:spPr>
          <a:xfrm>
            <a:off x="2016252" y="3845052"/>
            <a:ext cx="100584" cy="100584"/>
          </a:xfrm>
          <a:prstGeom prst="ellipse">
            <a:avLst/>
          </a:prstGeom>
          <a:solidFill>
            <a:srgbClr val="FFFFFF"/>
          </a:solidFill>
          <a:ln w="15875">
            <a:solidFill>
              <a:srgbClr val="0F172A"/>
            </a:solidFill>
            <a:prstDash val="solid"/>
          </a:ln>
        </p:spPr>
      </p:sp>
      <p:sp>
        <p:nvSpPr>
          <p:cNvPr id="34" name="a4u_s33"/>
          <p:cNvSpPr txBox="1"/>
          <p:nvPr/>
        </p:nvSpPr>
        <p:spPr>
          <a:xfrm>
            <a:off x="2606040" y="3712464"/>
            <a:ext cx="640080" cy="365760"/>
          </a:xfrm>
          <a:prstGeom prst="rect">
            <a:avLst/>
          </a:prstGeom>
          <a:noFill/>
          <a:ln/>
        </p:spPr>
        <p:txBody>
          <a:bodyPr wrap="square" lIns="0" tIns="0" rIns="0" bIns="0" rtlCol="0" anchor="ctr"/>
          <a:lstStyle/>
          <a:p>
            <a:pPr marL="0" indent="0" algn="ctr">
              <a:buNone/>
            </a:pPr>
            <a:r>
              <a:rPr lang="en-US" sz="1500" b="1" dirty="0">
                <a:solidFill>
                  <a:srgbClr val="6D28D9"/>
                </a:solidFill>
                <a:latin typeface="Courier New" pitchFamily="34" charset="0"/>
                <a:ea typeface="Courier New" pitchFamily="34" charset="-122"/>
                <a:cs typeface="Courier New" pitchFamily="34" charset="-120"/>
              </a:rPr>
              <a:t>o{</a:t>
            </a:r>
            <a:endParaRPr lang="en-US" sz="1500" dirty="0"/>
          </a:p>
        </p:txBody>
      </p:sp>
      <p:sp>
        <p:nvSpPr>
          <p:cNvPr id="35" name="a4u_m34"/>
          <p:cNvSpPr txBox="1"/>
          <p:nvPr/>
        </p:nvSpPr>
        <p:spPr>
          <a:xfrm>
            <a:off x="3429000" y="3657600"/>
            <a:ext cx="2103120" cy="27432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Zero or many</a:t>
            </a:r>
            <a:endParaRPr lang="en-US" sz="1300" dirty="0"/>
          </a:p>
        </p:txBody>
      </p:sp>
      <p:sp>
        <p:nvSpPr>
          <p:cNvPr id="36" name="a4u_o35"/>
          <p:cNvSpPr txBox="1"/>
          <p:nvPr/>
        </p:nvSpPr>
        <p:spPr>
          <a:xfrm>
            <a:off x="3429000" y="3913632"/>
            <a:ext cx="2103120" cy="256032"/>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optional</a:t>
            </a:r>
            <a:endParaRPr lang="en-US" sz="1050" dirty="0"/>
          </a:p>
        </p:txBody>
      </p:sp>
      <p:sp>
        <p:nvSpPr>
          <p:cNvPr id="37" name="a4u_e36"/>
          <p:cNvSpPr txBox="1"/>
          <p:nvPr/>
        </p:nvSpPr>
        <p:spPr>
          <a:xfrm>
            <a:off x="5669280" y="3566160"/>
            <a:ext cx="2926080" cy="658368"/>
          </a:xfrm>
          <a:prstGeom prst="rect">
            <a:avLst/>
          </a:prstGeom>
          <a:noFill/>
          <a:ln/>
        </p:spPr>
        <p:txBody>
          <a:bodyPr wrap="square" lIns="0" tIns="0" rIns="0" bIns="0" rtlCol="0" anchor="ctr"/>
          <a:lstStyle/>
          <a:p>
            <a:pPr marL="0" indent="0">
              <a:buNone/>
            </a:pPr>
            <a:r>
              <a:rPr lang="en-US" sz="1150" dirty="0">
                <a:solidFill>
                  <a:srgbClr val="334155"/>
                </a:solidFill>
                <a:latin typeface="Calibri" pitchFamily="34" charset="0"/>
                <a:ea typeface="Calibri" pitchFamily="34" charset="-122"/>
                <a:cs typeface="Calibri" pitchFamily="34" charset="-120"/>
              </a:rPr>
              <a:t>A customer holds zero or more accounts</a:t>
            </a:r>
            <a:endParaRPr lang="en-US" sz="1150" dirty="0"/>
          </a:p>
        </p:txBody>
      </p:sp>
      <p:sp>
        <p:nvSpPr>
          <p:cNvPr id="38" name="a5f_t37"/>
          <p:cNvSpPr txBox="1"/>
          <p:nvPr/>
        </p:nvSpPr>
        <p:spPr>
          <a:xfrm>
            <a:off x="457200" y="4389120"/>
            <a:ext cx="8229600" cy="411480"/>
          </a:xfrm>
          <a:prstGeom prst="rect">
            <a:avLst/>
          </a:prstGeom>
          <a:noFill/>
          <a:ln/>
        </p:spPr>
        <p:txBody>
          <a:bodyPr wrap="square" lIns="0" tIns="0" rIns="0" bIns="0" rtlCol="0" anchor="t"/>
          <a:lstStyle/>
          <a:p>
            <a:pPr marL="0" indent="0">
              <a:buNone/>
            </a:pPr>
            <a:r>
              <a:rPr lang="en-US" sz="1200" b="1" dirty="0">
                <a:solidFill>
                  <a:srgbClr val="0F172A"/>
                </a:solidFill>
                <a:latin typeface="Calibri" pitchFamily="34" charset="0"/>
                <a:ea typeface="Calibri" pitchFamily="34" charset="-122"/>
                <a:cs typeface="Calibri" pitchFamily="34" charset="-120"/>
              </a:rPr>
              <a:t>Inner mark = maximum (| one, { many).  Outer mark = minimum (o zero, | one). </a:t>
            </a:r>
            <a:r>
              <a:rPr lang="en-US" sz="1200" dirty="0">
                <a:solidFill>
                  <a:srgbClr val="334155"/>
                </a:solidFill>
                <a:latin typeface="Calibri" pitchFamily="34" charset="0"/>
                <a:ea typeface="Calibri" pitchFamily="34" charset="-122"/>
                <a:cs typeface="Calibri" pitchFamily="34" charset="-120"/>
              </a:rPr>
              <a:t>Read the symbol next to the table you are counting.</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ppt_y+0.1"/>
                                          </p:val>
                                        </p:tav>
                                        <p:tav tm="100000">
                                          <p:val>
                                            <p:strVal val="#ppt_y"/>
                                          </p:val>
                                        </p:tav>
                                      </p:tavLst>
                                    </p:anim>
                                    <p:animEffect transition="in" filter="fade">
                                      <p:cBhvr>
                                        <p:cTn id="9" dur="500"/>
                                        <p:tgtEl>
                                          <p:spTgt spid="4"/>
                                        </p:tgtEl>
                                      </p:cBhvr>
                                    </p:animEffect>
                                  </p:childTnLst>
                                </p:cTn>
                              </p:par>
                              <p:par>
                                <p:cTn id="10" presetID="2" presetClass="entr" presetSubtype="4"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ppt_y+0.1"/>
                                          </p:val>
                                        </p:tav>
                                        <p:tav tm="100000">
                                          <p:val>
                                            <p:strVal val="#ppt_y"/>
                                          </p:val>
                                        </p:tav>
                                      </p:tavLst>
                                    </p:anim>
                                    <p:animEffect transition="in" filter="fade">
                                      <p:cBhvr>
                                        <p:cTn id="14" dur="500"/>
                                        <p:tgtEl>
                                          <p:spTgt spid="5"/>
                                        </p:tgtEl>
                                      </p:cBhvr>
                                    </p:animEffect>
                                  </p:childTnLst>
                                </p:cTn>
                              </p:par>
                              <p:par>
                                <p:cTn id="15" presetID="2" presetClass="entr" presetSubtype="4"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ppt_y+0.1"/>
                                          </p:val>
                                        </p:tav>
                                        <p:tav tm="100000">
                                          <p:val>
                                            <p:strVal val="#ppt_y"/>
                                          </p:val>
                                        </p:tav>
                                      </p:tavLst>
                                    </p:anim>
                                    <p:animEffect transition="in" filter="fade">
                                      <p:cBhvr>
                                        <p:cTn id="19" dur="500"/>
                                        <p:tgtEl>
                                          <p:spTgt spid="6"/>
                                        </p:tgtEl>
                                      </p:cBhvr>
                                    </p:animEffect>
                                  </p:childTnLst>
                                </p:cTn>
                              </p:par>
                              <p:par>
                                <p:cTn id="20" presetID="2" presetClass="entr" presetSubtype="4"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ppt_y+0.1"/>
                                          </p:val>
                                        </p:tav>
                                        <p:tav tm="100000">
                                          <p:val>
                                            <p:strVal val="#ppt_y"/>
                                          </p:val>
                                        </p:tav>
                                      </p:tavLst>
                                    </p:anim>
                                    <p:animEffect transition="in" filter="fade">
                                      <p:cBhvr>
                                        <p:cTn id="24" dur="500"/>
                                        <p:tgtEl>
                                          <p:spTgt spid="7"/>
                                        </p:tgtEl>
                                      </p:cBhvr>
                                    </p:animEffect>
                                  </p:childTnLst>
                                </p:cTn>
                              </p:par>
                              <p:par>
                                <p:cTn id="25" presetID="2" presetClass="entr" presetSubtype="4"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ppt_y+0.1"/>
                                          </p:val>
                                        </p:tav>
                                        <p:tav tm="100000">
                                          <p:val>
                                            <p:strVal val="#ppt_y"/>
                                          </p:val>
                                        </p:tav>
                                      </p:tavLst>
                                    </p:anim>
                                    <p:animEffect transition="in" filter="fade">
                                      <p:cBhvr>
                                        <p:cTn id="29" dur="500"/>
                                        <p:tgtEl>
                                          <p:spTgt spid="8"/>
                                        </p:tgtEl>
                                      </p:cBhvr>
                                    </p:animEffect>
                                  </p:childTnLst>
                                </p:cTn>
                              </p:par>
                              <p:par>
                                <p:cTn id="30" presetID="2" presetClass="entr" presetSubtype="4"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00" fill="hold"/>
                                        <p:tgtEl>
                                          <p:spTgt spid="9"/>
                                        </p:tgtEl>
                                        <p:attrNameLst>
                                          <p:attrName>ppt_x</p:attrName>
                                        </p:attrNameLst>
                                      </p:cBhvr>
                                      <p:tavLst>
                                        <p:tav tm="0">
                                          <p:val>
                                            <p:strVal val="#ppt_x"/>
                                          </p:val>
                                        </p:tav>
                                        <p:tav tm="100000">
                                          <p:val>
                                            <p:strVal val="#ppt_x"/>
                                          </p:val>
                                        </p:tav>
                                      </p:tavLst>
                                    </p:anim>
                                    <p:anim calcmode="lin" valueType="num">
                                      <p:cBhvr additive="base">
                                        <p:cTn id="33" dur="500" fill="hold"/>
                                        <p:tgtEl>
                                          <p:spTgt spid="9"/>
                                        </p:tgtEl>
                                        <p:attrNameLst>
                                          <p:attrName>ppt_y</p:attrName>
                                        </p:attrNameLst>
                                      </p:cBhvr>
                                      <p:tavLst>
                                        <p:tav tm="0">
                                          <p:val>
                                            <p:strVal val="#ppt_y+0.1"/>
                                          </p:val>
                                        </p:tav>
                                        <p:tav tm="100000">
                                          <p:val>
                                            <p:strVal val="#ppt_y"/>
                                          </p:val>
                                        </p:tav>
                                      </p:tavLst>
                                    </p:anim>
                                    <p:animEffect transition="in" filter="fade">
                                      <p:cBhvr>
                                        <p:cTn id="34" dur="500"/>
                                        <p:tgtEl>
                                          <p:spTgt spid="9"/>
                                        </p:tgtEl>
                                      </p:cBhvr>
                                    </p:animEffect>
                                  </p:childTnLst>
                                </p:cTn>
                              </p:par>
                              <p:par>
                                <p:cTn id="35" presetID="2" presetClass="entr" presetSubtype="4"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ppt_x"/>
                                          </p:val>
                                        </p:tav>
                                        <p:tav tm="100000">
                                          <p:val>
                                            <p:strVal val="#ppt_x"/>
                                          </p:val>
                                        </p:tav>
                                      </p:tavLst>
                                    </p:anim>
                                    <p:anim calcmode="lin" valueType="num">
                                      <p:cBhvr additive="base">
                                        <p:cTn id="38" dur="500" fill="hold"/>
                                        <p:tgtEl>
                                          <p:spTgt spid="10"/>
                                        </p:tgtEl>
                                        <p:attrNameLst>
                                          <p:attrName>ppt_y</p:attrName>
                                        </p:attrNameLst>
                                      </p:cBhvr>
                                      <p:tavLst>
                                        <p:tav tm="0">
                                          <p:val>
                                            <p:strVal val="#ppt_y+0.1"/>
                                          </p:val>
                                        </p:tav>
                                        <p:tav tm="100000">
                                          <p:val>
                                            <p:strVal val="#ppt_y"/>
                                          </p:val>
                                        </p:tav>
                                      </p:tavLst>
                                    </p:anim>
                                    <p:animEffect transition="in" filter="fade">
                                      <p:cBhvr>
                                        <p:cTn id="39" dur="500"/>
                                        <p:tgtEl>
                                          <p:spTgt spid="10"/>
                                        </p:tgtEl>
                                      </p:cBhvr>
                                    </p:animEffect>
                                  </p:childTnLst>
                                </p:cTn>
                              </p:par>
                              <p:par>
                                <p:cTn id="40" presetID="2" presetClass="entr" presetSubtype="4"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additive="base">
                                        <p:cTn id="42" dur="500" fill="hold"/>
                                        <p:tgtEl>
                                          <p:spTgt spid="11"/>
                                        </p:tgtEl>
                                        <p:attrNameLst>
                                          <p:attrName>ppt_x</p:attrName>
                                        </p:attrNameLst>
                                      </p:cBhvr>
                                      <p:tavLst>
                                        <p:tav tm="0">
                                          <p:val>
                                            <p:strVal val="#ppt_x"/>
                                          </p:val>
                                        </p:tav>
                                        <p:tav tm="100000">
                                          <p:val>
                                            <p:strVal val="#ppt_x"/>
                                          </p:val>
                                        </p:tav>
                                      </p:tavLst>
                                    </p:anim>
                                    <p:anim calcmode="lin" valueType="num">
                                      <p:cBhvr additive="base">
                                        <p:cTn id="43" dur="500" fill="hold"/>
                                        <p:tgtEl>
                                          <p:spTgt spid="11"/>
                                        </p:tgtEl>
                                        <p:attrNameLst>
                                          <p:attrName>ppt_y</p:attrName>
                                        </p:attrNameLst>
                                      </p:cBhvr>
                                      <p:tavLst>
                                        <p:tav tm="0">
                                          <p:val>
                                            <p:strVal val="#ppt_y+0.1"/>
                                          </p:val>
                                        </p:tav>
                                        <p:tav tm="100000">
                                          <p:val>
                                            <p:strVal val="#ppt_y"/>
                                          </p:val>
                                        </p:tav>
                                      </p:tavLst>
                                    </p:anim>
                                    <p:animEffect transition="in" filter="fade">
                                      <p:cBhvr>
                                        <p:cTn id="44" dur="500"/>
                                        <p:tgtEl>
                                          <p:spTgt spid="11"/>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additive="base">
                                        <p:cTn id="49" dur="500" fill="hold"/>
                                        <p:tgtEl>
                                          <p:spTgt spid="12"/>
                                        </p:tgtEl>
                                        <p:attrNameLst>
                                          <p:attrName>ppt_x</p:attrName>
                                        </p:attrNameLst>
                                      </p:cBhvr>
                                      <p:tavLst>
                                        <p:tav tm="0">
                                          <p:val>
                                            <p:strVal val="#ppt_x"/>
                                          </p:val>
                                        </p:tav>
                                        <p:tav tm="100000">
                                          <p:val>
                                            <p:strVal val="#ppt_x"/>
                                          </p:val>
                                        </p:tav>
                                      </p:tavLst>
                                    </p:anim>
                                    <p:anim calcmode="lin" valueType="num">
                                      <p:cBhvr additive="base">
                                        <p:cTn id="50" dur="500" fill="hold"/>
                                        <p:tgtEl>
                                          <p:spTgt spid="12"/>
                                        </p:tgtEl>
                                        <p:attrNameLst>
                                          <p:attrName>ppt_y</p:attrName>
                                        </p:attrNameLst>
                                      </p:cBhvr>
                                      <p:tavLst>
                                        <p:tav tm="0">
                                          <p:val>
                                            <p:strVal val="#ppt_y+0.1"/>
                                          </p:val>
                                        </p:tav>
                                        <p:tav tm="100000">
                                          <p:val>
                                            <p:strVal val="#ppt_y"/>
                                          </p:val>
                                        </p:tav>
                                      </p:tavLst>
                                    </p:anim>
                                    <p:animEffect transition="in" filter="fade">
                                      <p:cBhvr>
                                        <p:cTn id="51" dur="500"/>
                                        <p:tgtEl>
                                          <p:spTgt spid="12"/>
                                        </p:tgtEl>
                                      </p:cBhvr>
                                    </p:animEffect>
                                  </p:childTnLst>
                                </p:cTn>
                              </p:par>
                              <p:par>
                                <p:cTn id="52" presetID="2" presetClass="entr" presetSubtype="4" fill="hold" nodeType="withEffect">
                                  <p:stCondLst>
                                    <p:cond delay="0"/>
                                  </p:stCondLst>
                                  <p:childTnLst>
                                    <p:set>
                                      <p:cBhvr>
                                        <p:cTn id="53" dur="1" fill="hold">
                                          <p:stCondLst>
                                            <p:cond delay="0"/>
                                          </p:stCondLst>
                                        </p:cTn>
                                        <p:tgtEl>
                                          <p:spTgt spid="13"/>
                                        </p:tgtEl>
                                        <p:attrNameLst>
                                          <p:attrName>style.visibility</p:attrName>
                                        </p:attrNameLst>
                                      </p:cBhvr>
                                      <p:to>
                                        <p:strVal val="visible"/>
                                      </p:to>
                                    </p:set>
                                    <p:anim calcmode="lin" valueType="num">
                                      <p:cBhvr additive="base">
                                        <p:cTn id="54" dur="500" fill="hold"/>
                                        <p:tgtEl>
                                          <p:spTgt spid="13"/>
                                        </p:tgtEl>
                                        <p:attrNameLst>
                                          <p:attrName>ppt_x</p:attrName>
                                        </p:attrNameLst>
                                      </p:cBhvr>
                                      <p:tavLst>
                                        <p:tav tm="0">
                                          <p:val>
                                            <p:strVal val="#ppt_x"/>
                                          </p:val>
                                        </p:tav>
                                        <p:tav tm="100000">
                                          <p:val>
                                            <p:strVal val="#ppt_x"/>
                                          </p:val>
                                        </p:tav>
                                      </p:tavLst>
                                    </p:anim>
                                    <p:anim calcmode="lin" valueType="num">
                                      <p:cBhvr additive="base">
                                        <p:cTn id="55" dur="500" fill="hold"/>
                                        <p:tgtEl>
                                          <p:spTgt spid="13"/>
                                        </p:tgtEl>
                                        <p:attrNameLst>
                                          <p:attrName>ppt_y</p:attrName>
                                        </p:attrNameLst>
                                      </p:cBhvr>
                                      <p:tavLst>
                                        <p:tav tm="0">
                                          <p:val>
                                            <p:strVal val="#ppt_y+0.1"/>
                                          </p:val>
                                        </p:tav>
                                        <p:tav tm="100000">
                                          <p:val>
                                            <p:strVal val="#ppt_y"/>
                                          </p:val>
                                        </p:tav>
                                      </p:tavLst>
                                    </p:anim>
                                    <p:animEffect transition="in" filter="fade">
                                      <p:cBhvr>
                                        <p:cTn id="56" dur="500"/>
                                        <p:tgtEl>
                                          <p:spTgt spid="13"/>
                                        </p:tgtEl>
                                      </p:cBhvr>
                                    </p:animEffect>
                                  </p:childTnLst>
                                </p:cTn>
                              </p:par>
                              <p:par>
                                <p:cTn id="57" presetID="2" presetClass="entr" presetSubtype="4" fill="hold" nodeType="withEffect">
                                  <p:stCondLst>
                                    <p:cond delay="0"/>
                                  </p:stCondLst>
                                  <p:childTnLst>
                                    <p:set>
                                      <p:cBhvr>
                                        <p:cTn id="58" dur="1" fill="hold">
                                          <p:stCondLst>
                                            <p:cond delay="0"/>
                                          </p:stCondLst>
                                        </p:cTn>
                                        <p:tgtEl>
                                          <p:spTgt spid="14"/>
                                        </p:tgtEl>
                                        <p:attrNameLst>
                                          <p:attrName>style.visibility</p:attrName>
                                        </p:attrNameLst>
                                      </p:cBhvr>
                                      <p:to>
                                        <p:strVal val="visible"/>
                                      </p:to>
                                    </p:set>
                                    <p:anim calcmode="lin" valueType="num">
                                      <p:cBhvr additive="base">
                                        <p:cTn id="59" dur="500" fill="hold"/>
                                        <p:tgtEl>
                                          <p:spTgt spid="14"/>
                                        </p:tgtEl>
                                        <p:attrNameLst>
                                          <p:attrName>ppt_x</p:attrName>
                                        </p:attrNameLst>
                                      </p:cBhvr>
                                      <p:tavLst>
                                        <p:tav tm="0">
                                          <p:val>
                                            <p:strVal val="#ppt_x"/>
                                          </p:val>
                                        </p:tav>
                                        <p:tav tm="100000">
                                          <p:val>
                                            <p:strVal val="#ppt_x"/>
                                          </p:val>
                                        </p:tav>
                                      </p:tavLst>
                                    </p:anim>
                                    <p:anim calcmode="lin" valueType="num">
                                      <p:cBhvr additive="base">
                                        <p:cTn id="60" dur="500" fill="hold"/>
                                        <p:tgtEl>
                                          <p:spTgt spid="14"/>
                                        </p:tgtEl>
                                        <p:attrNameLst>
                                          <p:attrName>ppt_y</p:attrName>
                                        </p:attrNameLst>
                                      </p:cBhvr>
                                      <p:tavLst>
                                        <p:tav tm="0">
                                          <p:val>
                                            <p:strVal val="#ppt_y+0.1"/>
                                          </p:val>
                                        </p:tav>
                                        <p:tav tm="100000">
                                          <p:val>
                                            <p:strVal val="#ppt_y"/>
                                          </p:val>
                                        </p:tav>
                                      </p:tavLst>
                                    </p:anim>
                                    <p:animEffect transition="in" filter="fade">
                                      <p:cBhvr>
                                        <p:cTn id="61" dur="500"/>
                                        <p:tgtEl>
                                          <p:spTgt spid="14"/>
                                        </p:tgtEl>
                                      </p:cBhvr>
                                    </p:animEffect>
                                  </p:childTnLst>
                                </p:cTn>
                              </p:par>
                              <p:par>
                                <p:cTn id="62" presetID="2" presetClass="entr" presetSubtype="4" fill="hold" grpId="0" nodeType="withEffect">
                                  <p:stCondLst>
                                    <p:cond delay="0"/>
                                  </p:stCondLst>
                                  <p:childTnLst>
                                    <p:set>
                                      <p:cBhvr>
                                        <p:cTn id="63" dur="1" fill="hold">
                                          <p:stCondLst>
                                            <p:cond delay="0"/>
                                          </p:stCondLst>
                                        </p:cTn>
                                        <p:tgtEl>
                                          <p:spTgt spid="15"/>
                                        </p:tgtEl>
                                        <p:attrNameLst>
                                          <p:attrName>style.visibility</p:attrName>
                                        </p:attrNameLst>
                                      </p:cBhvr>
                                      <p:to>
                                        <p:strVal val="visible"/>
                                      </p:to>
                                    </p:set>
                                    <p:anim calcmode="lin" valueType="num">
                                      <p:cBhvr additive="base">
                                        <p:cTn id="64" dur="500" fill="hold"/>
                                        <p:tgtEl>
                                          <p:spTgt spid="15"/>
                                        </p:tgtEl>
                                        <p:attrNameLst>
                                          <p:attrName>ppt_x</p:attrName>
                                        </p:attrNameLst>
                                      </p:cBhvr>
                                      <p:tavLst>
                                        <p:tav tm="0">
                                          <p:val>
                                            <p:strVal val="#ppt_x"/>
                                          </p:val>
                                        </p:tav>
                                        <p:tav tm="100000">
                                          <p:val>
                                            <p:strVal val="#ppt_x"/>
                                          </p:val>
                                        </p:tav>
                                      </p:tavLst>
                                    </p:anim>
                                    <p:anim calcmode="lin" valueType="num">
                                      <p:cBhvr additive="base">
                                        <p:cTn id="65" dur="500" fill="hold"/>
                                        <p:tgtEl>
                                          <p:spTgt spid="15"/>
                                        </p:tgtEl>
                                        <p:attrNameLst>
                                          <p:attrName>ppt_y</p:attrName>
                                        </p:attrNameLst>
                                      </p:cBhvr>
                                      <p:tavLst>
                                        <p:tav tm="0">
                                          <p:val>
                                            <p:strVal val="#ppt_y+0.1"/>
                                          </p:val>
                                        </p:tav>
                                        <p:tav tm="100000">
                                          <p:val>
                                            <p:strVal val="#ppt_y"/>
                                          </p:val>
                                        </p:tav>
                                      </p:tavLst>
                                    </p:anim>
                                    <p:animEffect transition="in" filter="fade">
                                      <p:cBhvr>
                                        <p:cTn id="66" dur="500"/>
                                        <p:tgtEl>
                                          <p:spTgt spid="15"/>
                                        </p:tgtEl>
                                      </p:cBhvr>
                                    </p:animEffect>
                                  </p:childTnLst>
                                </p:cTn>
                              </p:par>
                              <p:par>
                                <p:cTn id="67" presetID="2" presetClass="entr" presetSubtype="4" fill="hold" grpId="0" nodeType="withEffect">
                                  <p:stCondLst>
                                    <p:cond delay="0"/>
                                  </p:stCondLst>
                                  <p:childTnLst>
                                    <p:set>
                                      <p:cBhvr>
                                        <p:cTn id="68" dur="1" fill="hold">
                                          <p:stCondLst>
                                            <p:cond delay="0"/>
                                          </p:stCondLst>
                                        </p:cTn>
                                        <p:tgtEl>
                                          <p:spTgt spid="16"/>
                                        </p:tgtEl>
                                        <p:attrNameLst>
                                          <p:attrName>style.visibility</p:attrName>
                                        </p:attrNameLst>
                                      </p:cBhvr>
                                      <p:to>
                                        <p:strVal val="visible"/>
                                      </p:to>
                                    </p:set>
                                    <p:anim calcmode="lin" valueType="num">
                                      <p:cBhvr additive="base">
                                        <p:cTn id="69" dur="500" fill="hold"/>
                                        <p:tgtEl>
                                          <p:spTgt spid="16"/>
                                        </p:tgtEl>
                                        <p:attrNameLst>
                                          <p:attrName>ppt_x</p:attrName>
                                        </p:attrNameLst>
                                      </p:cBhvr>
                                      <p:tavLst>
                                        <p:tav tm="0">
                                          <p:val>
                                            <p:strVal val="#ppt_x"/>
                                          </p:val>
                                        </p:tav>
                                        <p:tav tm="100000">
                                          <p:val>
                                            <p:strVal val="#ppt_x"/>
                                          </p:val>
                                        </p:tav>
                                      </p:tavLst>
                                    </p:anim>
                                    <p:anim calcmode="lin" valueType="num">
                                      <p:cBhvr additive="base">
                                        <p:cTn id="70" dur="500" fill="hold"/>
                                        <p:tgtEl>
                                          <p:spTgt spid="16"/>
                                        </p:tgtEl>
                                        <p:attrNameLst>
                                          <p:attrName>ppt_y</p:attrName>
                                        </p:attrNameLst>
                                      </p:cBhvr>
                                      <p:tavLst>
                                        <p:tav tm="0">
                                          <p:val>
                                            <p:strVal val="#ppt_y+0.1"/>
                                          </p:val>
                                        </p:tav>
                                        <p:tav tm="100000">
                                          <p:val>
                                            <p:strVal val="#ppt_y"/>
                                          </p:val>
                                        </p:tav>
                                      </p:tavLst>
                                    </p:anim>
                                    <p:animEffect transition="in" filter="fade">
                                      <p:cBhvr>
                                        <p:cTn id="71" dur="500"/>
                                        <p:tgtEl>
                                          <p:spTgt spid="16"/>
                                        </p:tgtEl>
                                      </p:cBhvr>
                                    </p:animEffect>
                                  </p:childTnLst>
                                </p:cTn>
                              </p:par>
                              <p:par>
                                <p:cTn id="72" presetID="2" presetClass="entr" presetSubtype="4" fill="hold" grpId="0" nodeType="withEffect">
                                  <p:stCondLst>
                                    <p:cond delay="0"/>
                                  </p:stCondLst>
                                  <p:childTnLst>
                                    <p:set>
                                      <p:cBhvr>
                                        <p:cTn id="73" dur="1" fill="hold">
                                          <p:stCondLst>
                                            <p:cond delay="0"/>
                                          </p:stCondLst>
                                        </p:cTn>
                                        <p:tgtEl>
                                          <p:spTgt spid="17"/>
                                        </p:tgtEl>
                                        <p:attrNameLst>
                                          <p:attrName>style.visibility</p:attrName>
                                        </p:attrNameLst>
                                      </p:cBhvr>
                                      <p:to>
                                        <p:strVal val="visible"/>
                                      </p:to>
                                    </p:set>
                                    <p:anim calcmode="lin" valueType="num">
                                      <p:cBhvr additive="base">
                                        <p:cTn id="74" dur="500" fill="hold"/>
                                        <p:tgtEl>
                                          <p:spTgt spid="17"/>
                                        </p:tgtEl>
                                        <p:attrNameLst>
                                          <p:attrName>ppt_x</p:attrName>
                                        </p:attrNameLst>
                                      </p:cBhvr>
                                      <p:tavLst>
                                        <p:tav tm="0">
                                          <p:val>
                                            <p:strVal val="#ppt_x"/>
                                          </p:val>
                                        </p:tav>
                                        <p:tav tm="100000">
                                          <p:val>
                                            <p:strVal val="#ppt_x"/>
                                          </p:val>
                                        </p:tav>
                                      </p:tavLst>
                                    </p:anim>
                                    <p:anim calcmode="lin" valueType="num">
                                      <p:cBhvr additive="base">
                                        <p:cTn id="75" dur="500" fill="hold"/>
                                        <p:tgtEl>
                                          <p:spTgt spid="17"/>
                                        </p:tgtEl>
                                        <p:attrNameLst>
                                          <p:attrName>ppt_y</p:attrName>
                                        </p:attrNameLst>
                                      </p:cBhvr>
                                      <p:tavLst>
                                        <p:tav tm="0">
                                          <p:val>
                                            <p:strVal val="#ppt_y+0.1"/>
                                          </p:val>
                                        </p:tav>
                                        <p:tav tm="100000">
                                          <p:val>
                                            <p:strVal val="#ppt_y"/>
                                          </p:val>
                                        </p:tav>
                                      </p:tavLst>
                                    </p:anim>
                                    <p:animEffect transition="in" filter="fade">
                                      <p:cBhvr>
                                        <p:cTn id="76" dur="500"/>
                                        <p:tgtEl>
                                          <p:spTgt spid="17"/>
                                        </p:tgtEl>
                                      </p:cBhvr>
                                    </p:animEffect>
                                  </p:childTnLst>
                                </p:cTn>
                              </p:par>
                              <p:par>
                                <p:cTn id="77" presetID="2" presetClass="entr" presetSubtype="4" fill="hold" grpId="0" nodeType="withEffect">
                                  <p:stCondLst>
                                    <p:cond delay="0"/>
                                  </p:stCondLst>
                                  <p:childTnLst>
                                    <p:set>
                                      <p:cBhvr>
                                        <p:cTn id="78" dur="1" fill="hold">
                                          <p:stCondLst>
                                            <p:cond delay="0"/>
                                          </p:stCondLst>
                                        </p:cTn>
                                        <p:tgtEl>
                                          <p:spTgt spid="18"/>
                                        </p:tgtEl>
                                        <p:attrNameLst>
                                          <p:attrName>style.visibility</p:attrName>
                                        </p:attrNameLst>
                                      </p:cBhvr>
                                      <p:to>
                                        <p:strVal val="visible"/>
                                      </p:to>
                                    </p:set>
                                    <p:anim calcmode="lin" valueType="num">
                                      <p:cBhvr additive="base">
                                        <p:cTn id="79" dur="500" fill="hold"/>
                                        <p:tgtEl>
                                          <p:spTgt spid="18"/>
                                        </p:tgtEl>
                                        <p:attrNameLst>
                                          <p:attrName>ppt_x</p:attrName>
                                        </p:attrNameLst>
                                      </p:cBhvr>
                                      <p:tavLst>
                                        <p:tav tm="0">
                                          <p:val>
                                            <p:strVal val="#ppt_x"/>
                                          </p:val>
                                        </p:tav>
                                        <p:tav tm="100000">
                                          <p:val>
                                            <p:strVal val="#ppt_x"/>
                                          </p:val>
                                        </p:tav>
                                      </p:tavLst>
                                    </p:anim>
                                    <p:anim calcmode="lin" valueType="num">
                                      <p:cBhvr additive="base">
                                        <p:cTn id="80" dur="500" fill="hold"/>
                                        <p:tgtEl>
                                          <p:spTgt spid="18"/>
                                        </p:tgtEl>
                                        <p:attrNameLst>
                                          <p:attrName>ppt_y</p:attrName>
                                        </p:attrNameLst>
                                      </p:cBhvr>
                                      <p:tavLst>
                                        <p:tav tm="0">
                                          <p:val>
                                            <p:strVal val="#ppt_y+0.1"/>
                                          </p:val>
                                        </p:tav>
                                        <p:tav tm="100000">
                                          <p:val>
                                            <p:strVal val="#ppt_y"/>
                                          </p:val>
                                        </p:tav>
                                      </p:tavLst>
                                    </p:anim>
                                    <p:animEffect transition="in" filter="fade">
                                      <p:cBhvr>
                                        <p:cTn id="81" dur="500"/>
                                        <p:tgtEl>
                                          <p:spTgt spid="18"/>
                                        </p:tgtEl>
                                      </p:cBhvr>
                                    </p:animEffect>
                                  </p:childTnLst>
                                </p:cTn>
                              </p:par>
                              <p:par>
                                <p:cTn id="82" presetID="2" presetClass="entr" presetSubtype="4" fill="hold" grpId="0" nodeType="withEffect">
                                  <p:stCondLst>
                                    <p:cond delay="0"/>
                                  </p:stCondLst>
                                  <p:childTnLst>
                                    <p:set>
                                      <p:cBhvr>
                                        <p:cTn id="83" dur="1" fill="hold">
                                          <p:stCondLst>
                                            <p:cond delay="0"/>
                                          </p:stCondLst>
                                        </p:cTn>
                                        <p:tgtEl>
                                          <p:spTgt spid="19"/>
                                        </p:tgtEl>
                                        <p:attrNameLst>
                                          <p:attrName>style.visibility</p:attrName>
                                        </p:attrNameLst>
                                      </p:cBhvr>
                                      <p:to>
                                        <p:strVal val="visible"/>
                                      </p:to>
                                    </p:set>
                                    <p:anim calcmode="lin" valueType="num">
                                      <p:cBhvr additive="base">
                                        <p:cTn id="84" dur="500" fill="hold"/>
                                        <p:tgtEl>
                                          <p:spTgt spid="19"/>
                                        </p:tgtEl>
                                        <p:attrNameLst>
                                          <p:attrName>ppt_x</p:attrName>
                                        </p:attrNameLst>
                                      </p:cBhvr>
                                      <p:tavLst>
                                        <p:tav tm="0">
                                          <p:val>
                                            <p:strVal val="#ppt_x"/>
                                          </p:val>
                                        </p:tav>
                                        <p:tav tm="100000">
                                          <p:val>
                                            <p:strVal val="#ppt_x"/>
                                          </p:val>
                                        </p:tav>
                                      </p:tavLst>
                                    </p:anim>
                                    <p:anim calcmode="lin" valueType="num">
                                      <p:cBhvr additive="base">
                                        <p:cTn id="85" dur="500" fill="hold"/>
                                        <p:tgtEl>
                                          <p:spTgt spid="19"/>
                                        </p:tgtEl>
                                        <p:attrNameLst>
                                          <p:attrName>ppt_y</p:attrName>
                                        </p:attrNameLst>
                                      </p:cBhvr>
                                      <p:tavLst>
                                        <p:tav tm="0">
                                          <p:val>
                                            <p:strVal val="#ppt_y+0.1"/>
                                          </p:val>
                                        </p:tav>
                                        <p:tav tm="100000">
                                          <p:val>
                                            <p:strVal val="#ppt_y"/>
                                          </p:val>
                                        </p:tav>
                                      </p:tavLst>
                                    </p:anim>
                                    <p:animEffect transition="in" filter="fade">
                                      <p:cBhvr>
                                        <p:cTn id="86" dur="500"/>
                                        <p:tgtEl>
                                          <p:spTgt spid="19"/>
                                        </p:tgtEl>
                                      </p:cBhvr>
                                    </p:animEffect>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20"/>
                                        </p:tgtEl>
                                        <p:attrNameLst>
                                          <p:attrName>style.visibility</p:attrName>
                                        </p:attrNameLst>
                                      </p:cBhvr>
                                      <p:to>
                                        <p:strVal val="visible"/>
                                      </p:to>
                                    </p:set>
                                    <p:anim calcmode="lin" valueType="num">
                                      <p:cBhvr additive="base">
                                        <p:cTn id="91" dur="500" fill="hold"/>
                                        <p:tgtEl>
                                          <p:spTgt spid="20"/>
                                        </p:tgtEl>
                                        <p:attrNameLst>
                                          <p:attrName>ppt_x</p:attrName>
                                        </p:attrNameLst>
                                      </p:cBhvr>
                                      <p:tavLst>
                                        <p:tav tm="0">
                                          <p:val>
                                            <p:strVal val="#ppt_x"/>
                                          </p:val>
                                        </p:tav>
                                        <p:tav tm="100000">
                                          <p:val>
                                            <p:strVal val="#ppt_x"/>
                                          </p:val>
                                        </p:tav>
                                      </p:tavLst>
                                    </p:anim>
                                    <p:anim calcmode="lin" valueType="num">
                                      <p:cBhvr additive="base">
                                        <p:cTn id="92" dur="500" fill="hold"/>
                                        <p:tgtEl>
                                          <p:spTgt spid="20"/>
                                        </p:tgtEl>
                                        <p:attrNameLst>
                                          <p:attrName>ppt_y</p:attrName>
                                        </p:attrNameLst>
                                      </p:cBhvr>
                                      <p:tavLst>
                                        <p:tav tm="0">
                                          <p:val>
                                            <p:strVal val="#ppt_y+0.1"/>
                                          </p:val>
                                        </p:tav>
                                        <p:tav tm="100000">
                                          <p:val>
                                            <p:strVal val="#ppt_y"/>
                                          </p:val>
                                        </p:tav>
                                      </p:tavLst>
                                    </p:anim>
                                    <p:animEffect transition="in" filter="fade">
                                      <p:cBhvr>
                                        <p:cTn id="93" dur="500"/>
                                        <p:tgtEl>
                                          <p:spTgt spid="20"/>
                                        </p:tgtEl>
                                      </p:cBhvr>
                                    </p:animEffect>
                                  </p:childTnLst>
                                </p:cTn>
                              </p:par>
                              <p:par>
                                <p:cTn id="94" presetID="2" presetClass="entr" presetSubtype="4" fill="hold" nodeType="withEffect">
                                  <p:stCondLst>
                                    <p:cond delay="0"/>
                                  </p:stCondLst>
                                  <p:childTnLst>
                                    <p:set>
                                      <p:cBhvr>
                                        <p:cTn id="95" dur="1" fill="hold">
                                          <p:stCondLst>
                                            <p:cond delay="0"/>
                                          </p:stCondLst>
                                        </p:cTn>
                                        <p:tgtEl>
                                          <p:spTgt spid="21"/>
                                        </p:tgtEl>
                                        <p:attrNameLst>
                                          <p:attrName>style.visibility</p:attrName>
                                        </p:attrNameLst>
                                      </p:cBhvr>
                                      <p:to>
                                        <p:strVal val="visible"/>
                                      </p:to>
                                    </p:set>
                                    <p:anim calcmode="lin" valueType="num">
                                      <p:cBhvr additive="base">
                                        <p:cTn id="96" dur="500" fill="hold"/>
                                        <p:tgtEl>
                                          <p:spTgt spid="21"/>
                                        </p:tgtEl>
                                        <p:attrNameLst>
                                          <p:attrName>ppt_x</p:attrName>
                                        </p:attrNameLst>
                                      </p:cBhvr>
                                      <p:tavLst>
                                        <p:tav tm="0">
                                          <p:val>
                                            <p:strVal val="#ppt_x"/>
                                          </p:val>
                                        </p:tav>
                                        <p:tav tm="100000">
                                          <p:val>
                                            <p:strVal val="#ppt_x"/>
                                          </p:val>
                                        </p:tav>
                                      </p:tavLst>
                                    </p:anim>
                                    <p:anim calcmode="lin" valueType="num">
                                      <p:cBhvr additive="base">
                                        <p:cTn id="97" dur="500" fill="hold"/>
                                        <p:tgtEl>
                                          <p:spTgt spid="21"/>
                                        </p:tgtEl>
                                        <p:attrNameLst>
                                          <p:attrName>ppt_y</p:attrName>
                                        </p:attrNameLst>
                                      </p:cBhvr>
                                      <p:tavLst>
                                        <p:tav tm="0">
                                          <p:val>
                                            <p:strVal val="#ppt_y+0.1"/>
                                          </p:val>
                                        </p:tav>
                                        <p:tav tm="100000">
                                          <p:val>
                                            <p:strVal val="#ppt_y"/>
                                          </p:val>
                                        </p:tav>
                                      </p:tavLst>
                                    </p:anim>
                                    <p:animEffect transition="in" filter="fade">
                                      <p:cBhvr>
                                        <p:cTn id="98" dur="500"/>
                                        <p:tgtEl>
                                          <p:spTgt spid="21"/>
                                        </p:tgtEl>
                                      </p:cBhvr>
                                    </p:animEffect>
                                  </p:childTnLst>
                                </p:cTn>
                              </p:par>
                              <p:par>
                                <p:cTn id="99" presetID="2" presetClass="entr" presetSubtype="4" fill="hold" nodeType="withEffect">
                                  <p:stCondLst>
                                    <p:cond delay="0"/>
                                  </p:stCondLst>
                                  <p:childTnLst>
                                    <p:set>
                                      <p:cBhvr>
                                        <p:cTn id="100" dur="1" fill="hold">
                                          <p:stCondLst>
                                            <p:cond delay="0"/>
                                          </p:stCondLst>
                                        </p:cTn>
                                        <p:tgtEl>
                                          <p:spTgt spid="22"/>
                                        </p:tgtEl>
                                        <p:attrNameLst>
                                          <p:attrName>style.visibility</p:attrName>
                                        </p:attrNameLst>
                                      </p:cBhvr>
                                      <p:to>
                                        <p:strVal val="visible"/>
                                      </p:to>
                                    </p:set>
                                    <p:anim calcmode="lin" valueType="num">
                                      <p:cBhvr additive="base">
                                        <p:cTn id="101" dur="500" fill="hold"/>
                                        <p:tgtEl>
                                          <p:spTgt spid="22"/>
                                        </p:tgtEl>
                                        <p:attrNameLst>
                                          <p:attrName>ppt_x</p:attrName>
                                        </p:attrNameLst>
                                      </p:cBhvr>
                                      <p:tavLst>
                                        <p:tav tm="0">
                                          <p:val>
                                            <p:strVal val="#ppt_x"/>
                                          </p:val>
                                        </p:tav>
                                        <p:tav tm="100000">
                                          <p:val>
                                            <p:strVal val="#ppt_x"/>
                                          </p:val>
                                        </p:tav>
                                      </p:tavLst>
                                    </p:anim>
                                    <p:anim calcmode="lin" valueType="num">
                                      <p:cBhvr additive="base">
                                        <p:cTn id="102" dur="500" fill="hold"/>
                                        <p:tgtEl>
                                          <p:spTgt spid="22"/>
                                        </p:tgtEl>
                                        <p:attrNameLst>
                                          <p:attrName>ppt_y</p:attrName>
                                        </p:attrNameLst>
                                      </p:cBhvr>
                                      <p:tavLst>
                                        <p:tav tm="0">
                                          <p:val>
                                            <p:strVal val="#ppt_y+0.1"/>
                                          </p:val>
                                        </p:tav>
                                        <p:tav tm="100000">
                                          <p:val>
                                            <p:strVal val="#ppt_y"/>
                                          </p:val>
                                        </p:tav>
                                      </p:tavLst>
                                    </p:anim>
                                    <p:animEffect transition="in" filter="fade">
                                      <p:cBhvr>
                                        <p:cTn id="103" dur="500"/>
                                        <p:tgtEl>
                                          <p:spTgt spid="22"/>
                                        </p:tgtEl>
                                      </p:cBhvr>
                                    </p:animEffect>
                                  </p:childTnLst>
                                </p:cTn>
                              </p:par>
                              <p:par>
                                <p:cTn id="104" presetID="2" presetClass="entr" presetSubtype="4" fill="hold" nodeType="withEffect">
                                  <p:stCondLst>
                                    <p:cond delay="0"/>
                                  </p:stCondLst>
                                  <p:childTnLst>
                                    <p:set>
                                      <p:cBhvr>
                                        <p:cTn id="105" dur="1" fill="hold">
                                          <p:stCondLst>
                                            <p:cond delay="0"/>
                                          </p:stCondLst>
                                        </p:cTn>
                                        <p:tgtEl>
                                          <p:spTgt spid="23"/>
                                        </p:tgtEl>
                                        <p:attrNameLst>
                                          <p:attrName>style.visibility</p:attrName>
                                        </p:attrNameLst>
                                      </p:cBhvr>
                                      <p:to>
                                        <p:strVal val="visible"/>
                                      </p:to>
                                    </p:set>
                                    <p:anim calcmode="lin" valueType="num">
                                      <p:cBhvr additive="base">
                                        <p:cTn id="106" dur="500" fill="hold"/>
                                        <p:tgtEl>
                                          <p:spTgt spid="23"/>
                                        </p:tgtEl>
                                        <p:attrNameLst>
                                          <p:attrName>ppt_x</p:attrName>
                                        </p:attrNameLst>
                                      </p:cBhvr>
                                      <p:tavLst>
                                        <p:tav tm="0">
                                          <p:val>
                                            <p:strVal val="#ppt_x"/>
                                          </p:val>
                                        </p:tav>
                                        <p:tav tm="100000">
                                          <p:val>
                                            <p:strVal val="#ppt_x"/>
                                          </p:val>
                                        </p:tav>
                                      </p:tavLst>
                                    </p:anim>
                                    <p:anim calcmode="lin" valueType="num">
                                      <p:cBhvr additive="base">
                                        <p:cTn id="107" dur="500" fill="hold"/>
                                        <p:tgtEl>
                                          <p:spTgt spid="23"/>
                                        </p:tgtEl>
                                        <p:attrNameLst>
                                          <p:attrName>ppt_y</p:attrName>
                                        </p:attrNameLst>
                                      </p:cBhvr>
                                      <p:tavLst>
                                        <p:tav tm="0">
                                          <p:val>
                                            <p:strVal val="#ppt_y+0.1"/>
                                          </p:val>
                                        </p:tav>
                                        <p:tav tm="100000">
                                          <p:val>
                                            <p:strVal val="#ppt_y"/>
                                          </p:val>
                                        </p:tav>
                                      </p:tavLst>
                                    </p:anim>
                                    <p:animEffect transition="in" filter="fade">
                                      <p:cBhvr>
                                        <p:cTn id="108" dur="500"/>
                                        <p:tgtEl>
                                          <p:spTgt spid="23"/>
                                        </p:tgtEl>
                                      </p:cBhvr>
                                    </p:animEffect>
                                  </p:childTnLst>
                                </p:cTn>
                              </p:par>
                              <p:par>
                                <p:cTn id="109" presetID="2" presetClass="entr" presetSubtype="4" fill="hold" nodeType="withEffect">
                                  <p:stCondLst>
                                    <p:cond delay="0"/>
                                  </p:stCondLst>
                                  <p:childTnLst>
                                    <p:set>
                                      <p:cBhvr>
                                        <p:cTn id="110" dur="1" fill="hold">
                                          <p:stCondLst>
                                            <p:cond delay="0"/>
                                          </p:stCondLst>
                                        </p:cTn>
                                        <p:tgtEl>
                                          <p:spTgt spid="24"/>
                                        </p:tgtEl>
                                        <p:attrNameLst>
                                          <p:attrName>style.visibility</p:attrName>
                                        </p:attrNameLst>
                                      </p:cBhvr>
                                      <p:to>
                                        <p:strVal val="visible"/>
                                      </p:to>
                                    </p:set>
                                    <p:anim calcmode="lin" valueType="num">
                                      <p:cBhvr additive="base">
                                        <p:cTn id="111" dur="500" fill="hold"/>
                                        <p:tgtEl>
                                          <p:spTgt spid="24"/>
                                        </p:tgtEl>
                                        <p:attrNameLst>
                                          <p:attrName>ppt_x</p:attrName>
                                        </p:attrNameLst>
                                      </p:cBhvr>
                                      <p:tavLst>
                                        <p:tav tm="0">
                                          <p:val>
                                            <p:strVal val="#ppt_x"/>
                                          </p:val>
                                        </p:tav>
                                        <p:tav tm="100000">
                                          <p:val>
                                            <p:strVal val="#ppt_x"/>
                                          </p:val>
                                        </p:tav>
                                      </p:tavLst>
                                    </p:anim>
                                    <p:anim calcmode="lin" valueType="num">
                                      <p:cBhvr additive="base">
                                        <p:cTn id="112" dur="500" fill="hold"/>
                                        <p:tgtEl>
                                          <p:spTgt spid="24"/>
                                        </p:tgtEl>
                                        <p:attrNameLst>
                                          <p:attrName>ppt_y</p:attrName>
                                        </p:attrNameLst>
                                      </p:cBhvr>
                                      <p:tavLst>
                                        <p:tav tm="0">
                                          <p:val>
                                            <p:strVal val="#ppt_y+0.1"/>
                                          </p:val>
                                        </p:tav>
                                        <p:tav tm="100000">
                                          <p:val>
                                            <p:strVal val="#ppt_y"/>
                                          </p:val>
                                        </p:tav>
                                      </p:tavLst>
                                    </p:anim>
                                    <p:animEffect transition="in" filter="fade">
                                      <p:cBhvr>
                                        <p:cTn id="113" dur="500"/>
                                        <p:tgtEl>
                                          <p:spTgt spid="24"/>
                                        </p:tgtEl>
                                      </p:cBhvr>
                                    </p:animEffect>
                                  </p:childTnLst>
                                </p:cTn>
                              </p:par>
                              <p:par>
                                <p:cTn id="114" presetID="2" presetClass="entr" presetSubtype="4" fill="hold" grpId="0" nodeType="withEffect">
                                  <p:stCondLst>
                                    <p:cond delay="0"/>
                                  </p:stCondLst>
                                  <p:childTnLst>
                                    <p:set>
                                      <p:cBhvr>
                                        <p:cTn id="115" dur="1" fill="hold">
                                          <p:stCondLst>
                                            <p:cond delay="0"/>
                                          </p:stCondLst>
                                        </p:cTn>
                                        <p:tgtEl>
                                          <p:spTgt spid="25"/>
                                        </p:tgtEl>
                                        <p:attrNameLst>
                                          <p:attrName>style.visibility</p:attrName>
                                        </p:attrNameLst>
                                      </p:cBhvr>
                                      <p:to>
                                        <p:strVal val="visible"/>
                                      </p:to>
                                    </p:set>
                                    <p:anim calcmode="lin" valueType="num">
                                      <p:cBhvr additive="base">
                                        <p:cTn id="116" dur="500" fill="hold"/>
                                        <p:tgtEl>
                                          <p:spTgt spid="25"/>
                                        </p:tgtEl>
                                        <p:attrNameLst>
                                          <p:attrName>ppt_x</p:attrName>
                                        </p:attrNameLst>
                                      </p:cBhvr>
                                      <p:tavLst>
                                        <p:tav tm="0">
                                          <p:val>
                                            <p:strVal val="#ppt_x"/>
                                          </p:val>
                                        </p:tav>
                                        <p:tav tm="100000">
                                          <p:val>
                                            <p:strVal val="#ppt_x"/>
                                          </p:val>
                                        </p:tav>
                                      </p:tavLst>
                                    </p:anim>
                                    <p:anim calcmode="lin" valueType="num">
                                      <p:cBhvr additive="base">
                                        <p:cTn id="117" dur="500" fill="hold"/>
                                        <p:tgtEl>
                                          <p:spTgt spid="25"/>
                                        </p:tgtEl>
                                        <p:attrNameLst>
                                          <p:attrName>ppt_y</p:attrName>
                                        </p:attrNameLst>
                                      </p:cBhvr>
                                      <p:tavLst>
                                        <p:tav tm="0">
                                          <p:val>
                                            <p:strVal val="#ppt_y+0.1"/>
                                          </p:val>
                                        </p:tav>
                                        <p:tav tm="100000">
                                          <p:val>
                                            <p:strVal val="#ppt_y"/>
                                          </p:val>
                                        </p:tav>
                                      </p:tavLst>
                                    </p:anim>
                                    <p:animEffect transition="in" filter="fade">
                                      <p:cBhvr>
                                        <p:cTn id="118" dur="500"/>
                                        <p:tgtEl>
                                          <p:spTgt spid="25"/>
                                        </p:tgtEl>
                                      </p:cBhvr>
                                    </p:animEffect>
                                  </p:childTnLst>
                                </p:cTn>
                              </p:par>
                              <p:par>
                                <p:cTn id="119" presetID="2" presetClass="entr" presetSubtype="4" fill="hold" grpId="0" nodeType="withEffect">
                                  <p:stCondLst>
                                    <p:cond delay="0"/>
                                  </p:stCondLst>
                                  <p:childTnLst>
                                    <p:set>
                                      <p:cBhvr>
                                        <p:cTn id="120" dur="1" fill="hold">
                                          <p:stCondLst>
                                            <p:cond delay="0"/>
                                          </p:stCondLst>
                                        </p:cTn>
                                        <p:tgtEl>
                                          <p:spTgt spid="26"/>
                                        </p:tgtEl>
                                        <p:attrNameLst>
                                          <p:attrName>style.visibility</p:attrName>
                                        </p:attrNameLst>
                                      </p:cBhvr>
                                      <p:to>
                                        <p:strVal val="visible"/>
                                      </p:to>
                                    </p:set>
                                    <p:anim calcmode="lin" valueType="num">
                                      <p:cBhvr additive="base">
                                        <p:cTn id="121" dur="500" fill="hold"/>
                                        <p:tgtEl>
                                          <p:spTgt spid="26"/>
                                        </p:tgtEl>
                                        <p:attrNameLst>
                                          <p:attrName>ppt_x</p:attrName>
                                        </p:attrNameLst>
                                      </p:cBhvr>
                                      <p:tavLst>
                                        <p:tav tm="0">
                                          <p:val>
                                            <p:strVal val="#ppt_x"/>
                                          </p:val>
                                        </p:tav>
                                        <p:tav tm="100000">
                                          <p:val>
                                            <p:strVal val="#ppt_x"/>
                                          </p:val>
                                        </p:tav>
                                      </p:tavLst>
                                    </p:anim>
                                    <p:anim calcmode="lin" valueType="num">
                                      <p:cBhvr additive="base">
                                        <p:cTn id="122" dur="500" fill="hold"/>
                                        <p:tgtEl>
                                          <p:spTgt spid="26"/>
                                        </p:tgtEl>
                                        <p:attrNameLst>
                                          <p:attrName>ppt_y</p:attrName>
                                        </p:attrNameLst>
                                      </p:cBhvr>
                                      <p:tavLst>
                                        <p:tav tm="0">
                                          <p:val>
                                            <p:strVal val="#ppt_y+0.1"/>
                                          </p:val>
                                        </p:tav>
                                        <p:tav tm="100000">
                                          <p:val>
                                            <p:strVal val="#ppt_y"/>
                                          </p:val>
                                        </p:tav>
                                      </p:tavLst>
                                    </p:anim>
                                    <p:animEffect transition="in" filter="fade">
                                      <p:cBhvr>
                                        <p:cTn id="123" dur="500"/>
                                        <p:tgtEl>
                                          <p:spTgt spid="26"/>
                                        </p:tgtEl>
                                      </p:cBhvr>
                                    </p:animEffect>
                                  </p:childTnLst>
                                </p:cTn>
                              </p:par>
                              <p:par>
                                <p:cTn id="124" presetID="2" presetClass="entr" presetSubtype="4" fill="hold" grpId="0" nodeType="withEffect">
                                  <p:stCondLst>
                                    <p:cond delay="0"/>
                                  </p:stCondLst>
                                  <p:childTnLst>
                                    <p:set>
                                      <p:cBhvr>
                                        <p:cTn id="125" dur="1" fill="hold">
                                          <p:stCondLst>
                                            <p:cond delay="0"/>
                                          </p:stCondLst>
                                        </p:cTn>
                                        <p:tgtEl>
                                          <p:spTgt spid="27"/>
                                        </p:tgtEl>
                                        <p:attrNameLst>
                                          <p:attrName>style.visibility</p:attrName>
                                        </p:attrNameLst>
                                      </p:cBhvr>
                                      <p:to>
                                        <p:strVal val="visible"/>
                                      </p:to>
                                    </p:set>
                                    <p:anim calcmode="lin" valueType="num">
                                      <p:cBhvr additive="base">
                                        <p:cTn id="126" dur="500" fill="hold"/>
                                        <p:tgtEl>
                                          <p:spTgt spid="27"/>
                                        </p:tgtEl>
                                        <p:attrNameLst>
                                          <p:attrName>ppt_x</p:attrName>
                                        </p:attrNameLst>
                                      </p:cBhvr>
                                      <p:tavLst>
                                        <p:tav tm="0">
                                          <p:val>
                                            <p:strVal val="#ppt_x"/>
                                          </p:val>
                                        </p:tav>
                                        <p:tav tm="100000">
                                          <p:val>
                                            <p:strVal val="#ppt_x"/>
                                          </p:val>
                                        </p:tav>
                                      </p:tavLst>
                                    </p:anim>
                                    <p:anim calcmode="lin" valueType="num">
                                      <p:cBhvr additive="base">
                                        <p:cTn id="127" dur="500" fill="hold"/>
                                        <p:tgtEl>
                                          <p:spTgt spid="27"/>
                                        </p:tgtEl>
                                        <p:attrNameLst>
                                          <p:attrName>ppt_y</p:attrName>
                                        </p:attrNameLst>
                                      </p:cBhvr>
                                      <p:tavLst>
                                        <p:tav tm="0">
                                          <p:val>
                                            <p:strVal val="#ppt_y+0.1"/>
                                          </p:val>
                                        </p:tav>
                                        <p:tav tm="100000">
                                          <p:val>
                                            <p:strVal val="#ppt_y"/>
                                          </p:val>
                                        </p:tav>
                                      </p:tavLst>
                                    </p:anim>
                                    <p:animEffect transition="in" filter="fade">
                                      <p:cBhvr>
                                        <p:cTn id="128" dur="500"/>
                                        <p:tgtEl>
                                          <p:spTgt spid="27"/>
                                        </p:tgtEl>
                                      </p:cBhvr>
                                    </p:animEffect>
                                  </p:childTnLst>
                                </p:cTn>
                              </p:par>
                              <p:par>
                                <p:cTn id="129" presetID="2" presetClass="entr" presetSubtype="4" fill="hold" grpId="0" nodeType="withEffect">
                                  <p:stCondLst>
                                    <p:cond delay="0"/>
                                  </p:stCondLst>
                                  <p:childTnLst>
                                    <p:set>
                                      <p:cBhvr>
                                        <p:cTn id="130" dur="1" fill="hold">
                                          <p:stCondLst>
                                            <p:cond delay="0"/>
                                          </p:stCondLst>
                                        </p:cTn>
                                        <p:tgtEl>
                                          <p:spTgt spid="28"/>
                                        </p:tgtEl>
                                        <p:attrNameLst>
                                          <p:attrName>style.visibility</p:attrName>
                                        </p:attrNameLst>
                                      </p:cBhvr>
                                      <p:to>
                                        <p:strVal val="visible"/>
                                      </p:to>
                                    </p:set>
                                    <p:anim calcmode="lin" valueType="num">
                                      <p:cBhvr additive="base">
                                        <p:cTn id="131" dur="500" fill="hold"/>
                                        <p:tgtEl>
                                          <p:spTgt spid="28"/>
                                        </p:tgtEl>
                                        <p:attrNameLst>
                                          <p:attrName>ppt_x</p:attrName>
                                        </p:attrNameLst>
                                      </p:cBhvr>
                                      <p:tavLst>
                                        <p:tav tm="0">
                                          <p:val>
                                            <p:strVal val="#ppt_x"/>
                                          </p:val>
                                        </p:tav>
                                        <p:tav tm="100000">
                                          <p:val>
                                            <p:strVal val="#ppt_x"/>
                                          </p:val>
                                        </p:tav>
                                      </p:tavLst>
                                    </p:anim>
                                    <p:anim calcmode="lin" valueType="num">
                                      <p:cBhvr additive="base">
                                        <p:cTn id="132" dur="500" fill="hold"/>
                                        <p:tgtEl>
                                          <p:spTgt spid="28"/>
                                        </p:tgtEl>
                                        <p:attrNameLst>
                                          <p:attrName>ppt_y</p:attrName>
                                        </p:attrNameLst>
                                      </p:cBhvr>
                                      <p:tavLst>
                                        <p:tav tm="0">
                                          <p:val>
                                            <p:strVal val="#ppt_y+0.1"/>
                                          </p:val>
                                        </p:tav>
                                        <p:tav tm="100000">
                                          <p:val>
                                            <p:strVal val="#ppt_y"/>
                                          </p:val>
                                        </p:tav>
                                      </p:tavLst>
                                    </p:anim>
                                    <p:animEffect transition="in" filter="fade">
                                      <p:cBhvr>
                                        <p:cTn id="133" dur="500"/>
                                        <p:tgtEl>
                                          <p:spTgt spid="28"/>
                                        </p:tgtEl>
                                      </p:cBhvr>
                                    </p:animEffect>
                                  </p:childTnLst>
                                </p:cTn>
                              </p:par>
                            </p:childTnLst>
                          </p:cTn>
                        </p:par>
                      </p:childTnLst>
                    </p:cTn>
                  </p:par>
                  <p:par>
                    <p:cTn id="134" fill="hold">
                      <p:stCondLst>
                        <p:cond delay="indefinite"/>
                      </p:stCondLst>
                      <p:childTnLst>
                        <p:par>
                          <p:cTn id="135" fill="hold">
                            <p:stCondLst>
                              <p:cond delay="0"/>
                            </p:stCondLst>
                            <p:childTnLst>
                              <p:par>
                                <p:cTn id="136" presetID="2" presetClass="entr" presetSubtype="4" fill="hold" grpId="0" nodeType="clickEffect">
                                  <p:stCondLst>
                                    <p:cond delay="0"/>
                                  </p:stCondLst>
                                  <p:childTnLst>
                                    <p:set>
                                      <p:cBhvr>
                                        <p:cTn id="137" dur="1" fill="hold">
                                          <p:stCondLst>
                                            <p:cond delay="0"/>
                                          </p:stCondLst>
                                        </p:cTn>
                                        <p:tgtEl>
                                          <p:spTgt spid="29"/>
                                        </p:tgtEl>
                                        <p:attrNameLst>
                                          <p:attrName>style.visibility</p:attrName>
                                        </p:attrNameLst>
                                      </p:cBhvr>
                                      <p:to>
                                        <p:strVal val="visible"/>
                                      </p:to>
                                    </p:set>
                                    <p:anim calcmode="lin" valueType="num">
                                      <p:cBhvr additive="base">
                                        <p:cTn id="138" dur="500" fill="hold"/>
                                        <p:tgtEl>
                                          <p:spTgt spid="29"/>
                                        </p:tgtEl>
                                        <p:attrNameLst>
                                          <p:attrName>ppt_x</p:attrName>
                                        </p:attrNameLst>
                                      </p:cBhvr>
                                      <p:tavLst>
                                        <p:tav tm="0">
                                          <p:val>
                                            <p:strVal val="#ppt_x"/>
                                          </p:val>
                                        </p:tav>
                                        <p:tav tm="100000">
                                          <p:val>
                                            <p:strVal val="#ppt_x"/>
                                          </p:val>
                                        </p:tav>
                                      </p:tavLst>
                                    </p:anim>
                                    <p:anim calcmode="lin" valueType="num">
                                      <p:cBhvr additive="base">
                                        <p:cTn id="139" dur="500" fill="hold"/>
                                        <p:tgtEl>
                                          <p:spTgt spid="29"/>
                                        </p:tgtEl>
                                        <p:attrNameLst>
                                          <p:attrName>ppt_y</p:attrName>
                                        </p:attrNameLst>
                                      </p:cBhvr>
                                      <p:tavLst>
                                        <p:tav tm="0">
                                          <p:val>
                                            <p:strVal val="#ppt_y+0.1"/>
                                          </p:val>
                                        </p:tav>
                                        <p:tav tm="100000">
                                          <p:val>
                                            <p:strVal val="#ppt_y"/>
                                          </p:val>
                                        </p:tav>
                                      </p:tavLst>
                                    </p:anim>
                                    <p:animEffect transition="in" filter="fade">
                                      <p:cBhvr>
                                        <p:cTn id="140" dur="500"/>
                                        <p:tgtEl>
                                          <p:spTgt spid="29"/>
                                        </p:tgtEl>
                                      </p:cBhvr>
                                    </p:animEffect>
                                  </p:childTnLst>
                                </p:cTn>
                              </p:par>
                              <p:par>
                                <p:cTn id="141" presetID="2" presetClass="entr" presetSubtype="4" fill="hold" nodeType="withEffect">
                                  <p:stCondLst>
                                    <p:cond delay="0"/>
                                  </p:stCondLst>
                                  <p:childTnLst>
                                    <p:set>
                                      <p:cBhvr>
                                        <p:cTn id="142" dur="1" fill="hold">
                                          <p:stCondLst>
                                            <p:cond delay="0"/>
                                          </p:stCondLst>
                                        </p:cTn>
                                        <p:tgtEl>
                                          <p:spTgt spid="30"/>
                                        </p:tgtEl>
                                        <p:attrNameLst>
                                          <p:attrName>style.visibility</p:attrName>
                                        </p:attrNameLst>
                                      </p:cBhvr>
                                      <p:to>
                                        <p:strVal val="visible"/>
                                      </p:to>
                                    </p:set>
                                    <p:anim calcmode="lin" valueType="num">
                                      <p:cBhvr additive="base">
                                        <p:cTn id="143" dur="500" fill="hold"/>
                                        <p:tgtEl>
                                          <p:spTgt spid="30"/>
                                        </p:tgtEl>
                                        <p:attrNameLst>
                                          <p:attrName>ppt_x</p:attrName>
                                        </p:attrNameLst>
                                      </p:cBhvr>
                                      <p:tavLst>
                                        <p:tav tm="0">
                                          <p:val>
                                            <p:strVal val="#ppt_x"/>
                                          </p:val>
                                        </p:tav>
                                        <p:tav tm="100000">
                                          <p:val>
                                            <p:strVal val="#ppt_x"/>
                                          </p:val>
                                        </p:tav>
                                      </p:tavLst>
                                    </p:anim>
                                    <p:anim calcmode="lin" valueType="num">
                                      <p:cBhvr additive="base">
                                        <p:cTn id="144" dur="500" fill="hold"/>
                                        <p:tgtEl>
                                          <p:spTgt spid="30"/>
                                        </p:tgtEl>
                                        <p:attrNameLst>
                                          <p:attrName>ppt_y</p:attrName>
                                        </p:attrNameLst>
                                      </p:cBhvr>
                                      <p:tavLst>
                                        <p:tav tm="0">
                                          <p:val>
                                            <p:strVal val="#ppt_y+0.1"/>
                                          </p:val>
                                        </p:tav>
                                        <p:tav tm="100000">
                                          <p:val>
                                            <p:strVal val="#ppt_y"/>
                                          </p:val>
                                        </p:tav>
                                      </p:tavLst>
                                    </p:anim>
                                    <p:animEffect transition="in" filter="fade">
                                      <p:cBhvr>
                                        <p:cTn id="145" dur="500"/>
                                        <p:tgtEl>
                                          <p:spTgt spid="30"/>
                                        </p:tgtEl>
                                      </p:cBhvr>
                                    </p:animEffect>
                                  </p:childTnLst>
                                </p:cTn>
                              </p:par>
                              <p:par>
                                <p:cTn id="146" presetID="2" presetClass="entr" presetSubtype="4" fill="hold" nodeType="withEffect">
                                  <p:stCondLst>
                                    <p:cond delay="0"/>
                                  </p:stCondLst>
                                  <p:childTnLst>
                                    <p:set>
                                      <p:cBhvr>
                                        <p:cTn id="147" dur="1" fill="hold">
                                          <p:stCondLst>
                                            <p:cond delay="0"/>
                                          </p:stCondLst>
                                        </p:cTn>
                                        <p:tgtEl>
                                          <p:spTgt spid="31"/>
                                        </p:tgtEl>
                                        <p:attrNameLst>
                                          <p:attrName>style.visibility</p:attrName>
                                        </p:attrNameLst>
                                      </p:cBhvr>
                                      <p:to>
                                        <p:strVal val="visible"/>
                                      </p:to>
                                    </p:set>
                                    <p:anim calcmode="lin" valueType="num">
                                      <p:cBhvr additive="base">
                                        <p:cTn id="148" dur="500" fill="hold"/>
                                        <p:tgtEl>
                                          <p:spTgt spid="31"/>
                                        </p:tgtEl>
                                        <p:attrNameLst>
                                          <p:attrName>ppt_x</p:attrName>
                                        </p:attrNameLst>
                                      </p:cBhvr>
                                      <p:tavLst>
                                        <p:tav tm="0">
                                          <p:val>
                                            <p:strVal val="#ppt_x"/>
                                          </p:val>
                                        </p:tav>
                                        <p:tav tm="100000">
                                          <p:val>
                                            <p:strVal val="#ppt_x"/>
                                          </p:val>
                                        </p:tav>
                                      </p:tavLst>
                                    </p:anim>
                                    <p:anim calcmode="lin" valueType="num">
                                      <p:cBhvr additive="base">
                                        <p:cTn id="149" dur="500" fill="hold"/>
                                        <p:tgtEl>
                                          <p:spTgt spid="31"/>
                                        </p:tgtEl>
                                        <p:attrNameLst>
                                          <p:attrName>ppt_y</p:attrName>
                                        </p:attrNameLst>
                                      </p:cBhvr>
                                      <p:tavLst>
                                        <p:tav tm="0">
                                          <p:val>
                                            <p:strVal val="#ppt_y+0.1"/>
                                          </p:val>
                                        </p:tav>
                                        <p:tav tm="100000">
                                          <p:val>
                                            <p:strVal val="#ppt_y"/>
                                          </p:val>
                                        </p:tav>
                                      </p:tavLst>
                                    </p:anim>
                                    <p:animEffect transition="in" filter="fade">
                                      <p:cBhvr>
                                        <p:cTn id="150" dur="500"/>
                                        <p:tgtEl>
                                          <p:spTgt spid="31"/>
                                        </p:tgtEl>
                                      </p:cBhvr>
                                    </p:animEffect>
                                  </p:childTnLst>
                                </p:cTn>
                              </p:par>
                              <p:par>
                                <p:cTn id="151" presetID="2" presetClass="entr" presetSubtype="4" fill="hold" nodeType="withEffect">
                                  <p:stCondLst>
                                    <p:cond delay="0"/>
                                  </p:stCondLst>
                                  <p:childTnLst>
                                    <p:set>
                                      <p:cBhvr>
                                        <p:cTn id="152" dur="1" fill="hold">
                                          <p:stCondLst>
                                            <p:cond delay="0"/>
                                          </p:stCondLst>
                                        </p:cTn>
                                        <p:tgtEl>
                                          <p:spTgt spid="32"/>
                                        </p:tgtEl>
                                        <p:attrNameLst>
                                          <p:attrName>style.visibility</p:attrName>
                                        </p:attrNameLst>
                                      </p:cBhvr>
                                      <p:to>
                                        <p:strVal val="visible"/>
                                      </p:to>
                                    </p:set>
                                    <p:anim calcmode="lin" valueType="num">
                                      <p:cBhvr additive="base">
                                        <p:cTn id="153" dur="500" fill="hold"/>
                                        <p:tgtEl>
                                          <p:spTgt spid="32"/>
                                        </p:tgtEl>
                                        <p:attrNameLst>
                                          <p:attrName>ppt_x</p:attrName>
                                        </p:attrNameLst>
                                      </p:cBhvr>
                                      <p:tavLst>
                                        <p:tav tm="0">
                                          <p:val>
                                            <p:strVal val="#ppt_x"/>
                                          </p:val>
                                        </p:tav>
                                        <p:tav tm="100000">
                                          <p:val>
                                            <p:strVal val="#ppt_x"/>
                                          </p:val>
                                        </p:tav>
                                      </p:tavLst>
                                    </p:anim>
                                    <p:anim calcmode="lin" valueType="num">
                                      <p:cBhvr additive="base">
                                        <p:cTn id="154" dur="500" fill="hold"/>
                                        <p:tgtEl>
                                          <p:spTgt spid="32"/>
                                        </p:tgtEl>
                                        <p:attrNameLst>
                                          <p:attrName>ppt_y</p:attrName>
                                        </p:attrNameLst>
                                      </p:cBhvr>
                                      <p:tavLst>
                                        <p:tav tm="0">
                                          <p:val>
                                            <p:strVal val="#ppt_y+0.1"/>
                                          </p:val>
                                        </p:tav>
                                        <p:tav tm="100000">
                                          <p:val>
                                            <p:strVal val="#ppt_y"/>
                                          </p:val>
                                        </p:tav>
                                      </p:tavLst>
                                    </p:anim>
                                    <p:animEffect transition="in" filter="fade">
                                      <p:cBhvr>
                                        <p:cTn id="155" dur="500"/>
                                        <p:tgtEl>
                                          <p:spTgt spid="32"/>
                                        </p:tgtEl>
                                      </p:cBhvr>
                                    </p:animEffect>
                                  </p:childTnLst>
                                </p:cTn>
                              </p:par>
                              <p:par>
                                <p:cTn id="156" presetID="2" presetClass="entr" presetSubtype="4" fill="hold" grpId="0" nodeType="withEffect">
                                  <p:stCondLst>
                                    <p:cond delay="0"/>
                                  </p:stCondLst>
                                  <p:childTnLst>
                                    <p:set>
                                      <p:cBhvr>
                                        <p:cTn id="157" dur="1" fill="hold">
                                          <p:stCondLst>
                                            <p:cond delay="0"/>
                                          </p:stCondLst>
                                        </p:cTn>
                                        <p:tgtEl>
                                          <p:spTgt spid="33"/>
                                        </p:tgtEl>
                                        <p:attrNameLst>
                                          <p:attrName>style.visibility</p:attrName>
                                        </p:attrNameLst>
                                      </p:cBhvr>
                                      <p:to>
                                        <p:strVal val="visible"/>
                                      </p:to>
                                    </p:set>
                                    <p:anim calcmode="lin" valueType="num">
                                      <p:cBhvr additive="base">
                                        <p:cTn id="158" dur="500" fill="hold"/>
                                        <p:tgtEl>
                                          <p:spTgt spid="33"/>
                                        </p:tgtEl>
                                        <p:attrNameLst>
                                          <p:attrName>ppt_x</p:attrName>
                                        </p:attrNameLst>
                                      </p:cBhvr>
                                      <p:tavLst>
                                        <p:tav tm="0">
                                          <p:val>
                                            <p:strVal val="#ppt_x"/>
                                          </p:val>
                                        </p:tav>
                                        <p:tav tm="100000">
                                          <p:val>
                                            <p:strVal val="#ppt_x"/>
                                          </p:val>
                                        </p:tav>
                                      </p:tavLst>
                                    </p:anim>
                                    <p:anim calcmode="lin" valueType="num">
                                      <p:cBhvr additive="base">
                                        <p:cTn id="159" dur="500" fill="hold"/>
                                        <p:tgtEl>
                                          <p:spTgt spid="33"/>
                                        </p:tgtEl>
                                        <p:attrNameLst>
                                          <p:attrName>ppt_y</p:attrName>
                                        </p:attrNameLst>
                                      </p:cBhvr>
                                      <p:tavLst>
                                        <p:tav tm="0">
                                          <p:val>
                                            <p:strVal val="#ppt_y+0.1"/>
                                          </p:val>
                                        </p:tav>
                                        <p:tav tm="100000">
                                          <p:val>
                                            <p:strVal val="#ppt_y"/>
                                          </p:val>
                                        </p:tav>
                                      </p:tavLst>
                                    </p:anim>
                                    <p:animEffect transition="in" filter="fade">
                                      <p:cBhvr>
                                        <p:cTn id="160" dur="500"/>
                                        <p:tgtEl>
                                          <p:spTgt spid="33"/>
                                        </p:tgtEl>
                                      </p:cBhvr>
                                    </p:animEffect>
                                  </p:childTnLst>
                                </p:cTn>
                              </p:par>
                              <p:par>
                                <p:cTn id="161" presetID="2" presetClass="entr" presetSubtype="4" fill="hold" grpId="0" nodeType="withEffect">
                                  <p:stCondLst>
                                    <p:cond delay="0"/>
                                  </p:stCondLst>
                                  <p:childTnLst>
                                    <p:set>
                                      <p:cBhvr>
                                        <p:cTn id="162" dur="1" fill="hold">
                                          <p:stCondLst>
                                            <p:cond delay="0"/>
                                          </p:stCondLst>
                                        </p:cTn>
                                        <p:tgtEl>
                                          <p:spTgt spid="34"/>
                                        </p:tgtEl>
                                        <p:attrNameLst>
                                          <p:attrName>style.visibility</p:attrName>
                                        </p:attrNameLst>
                                      </p:cBhvr>
                                      <p:to>
                                        <p:strVal val="visible"/>
                                      </p:to>
                                    </p:set>
                                    <p:anim calcmode="lin" valueType="num">
                                      <p:cBhvr additive="base">
                                        <p:cTn id="163" dur="500" fill="hold"/>
                                        <p:tgtEl>
                                          <p:spTgt spid="34"/>
                                        </p:tgtEl>
                                        <p:attrNameLst>
                                          <p:attrName>ppt_x</p:attrName>
                                        </p:attrNameLst>
                                      </p:cBhvr>
                                      <p:tavLst>
                                        <p:tav tm="0">
                                          <p:val>
                                            <p:strVal val="#ppt_x"/>
                                          </p:val>
                                        </p:tav>
                                        <p:tav tm="100000">
                                          <p:val>
                                            <p:strVal val="#ppt_x"/>
                                          </p:val>
                                        </p:tav>
                                      </p:tavLst>
                                    </p:anim>
                                    <p:anim calcmode="lin" valueType="num">
                                      <p:cBhvr additive="base">
                                        <p:cTn id="164" dur="500" fill="hold"/>
                                        <p:tgtEl>
                                          <p:spTgt spid="34"/>
                                        </p:tgtEl>
                                        <p:attrNameLst>
                                          <p:attrName>ppt_y</p:attrName>
                                        </p:attrNameLst>
                                      </p:cBhvr>
                                      <p:tavLst>
                                        <p:tav tm="0">
                                          <p:val>
                                            <p:strVal val="#ppt_y+0.1"/>
                                          </p:val>
                                        </p:tav>
                                        <p:tav tm="100000">
                                          <p:val>
                                            <p:strVal val="#ppt_y"/>
                                          </p:val>
                                        </p:tav>
                                      </p:tavLst>
                                    </p:anim>
                                    <p:animEffect transition="in" filter="fade">
                                      <p:cBhvr>
                                        <p:cTn id="165" dur="500"/>
                                        <p:tgtEl>
                                          <p:spTgt spid="34"/>
                                        </p:tgtEl>
                                      </p:cBhvr>
                                    </p:animEffect>
                                  </p:childTnLst>
                                </p:cTn>
                              </p:par>
                              <p:par>
                                <p:cTn id="166" presetID="2" presetClass="entr" presetSubtype="4" fill="hold" grpId="0" nodeType="withEffect">
                                  <p:stCondLst>
                                    <p:cond delay="0"/>
                                  </p:stCondLst>
                                  <p:childTnLst>
                                    <p:set>
                                      <p:cBhvr>
                                        <p:cTn id="167" dur="1" fill="hold">
                                          <p:stCondLst>
                                            <p:cond delay="0"/>
                                          </p:stCondLst>
                                        </p:cTn>
                                        <p:tgtEl>
                                          <p:spTgt spid="35"/>
                                        </p:tgtEl>
                                        <p:attrNameLst>
                                          <p:attrName>style.visibility</p:attrName>
                                        </p:attrNameLst>
                                      </p:cBhvr>
                                      <p:to>
                                        <p:strVal val="visible"/>
                                      </p:to>
                                    </p:set>
                                    <p:anim calcmode="lin" valueType="num">
                                      <p:cBhvr additive="base">
                                        <p:cTn id="168" dur="500" fill="hold"/>
                                        <p:tgtEl>
                                          <p:spTgt spid="35"/>
                                        </p:tgtEl>
                                        <p:attrNameLst>
                                          <p:attrName>ppt_x</p:attrName>
                                        </p:attrNameLst>
                                      </p:cBhvr>
                                      <p:tavLst>
                                        <p:tav tm="0">
                                          <p:val>
                                            <p:strVal val="#ppt_x"/>
                                          </p:val>
                                        </p:tav>
                                        <p:tav tm="100000">
                                          <p:val>
                                            <p:strVal val="#ppt_x"/>
                                          </p:val>
                                        </p:tav>
                                      </p:tavLst>
                                    </p:anim>
                                    <p:anim calcmode="lin" valueType="num">
                                      <p:cBhvr additive="base">
                                        <p:cTn id="169" dur="500" fill="hold"/>
                                        <p:tgtEl>
                                          <p:spTgt spid="35"/>
                                        </p:tgtEl>
                                        <p:attrNameLst>
                                          <p:attrName>ppt_y</p:attrName>
                                        </p:attrNameLst>
                                      </p:cBhvr>
                                      <p:tavLst>
                                        <p:tav tm="0">
                                          <p:val>
                                            <p:strVal val="#ppt_y+0.1"/>
                                          </p:val>
                                        </p:tav>
                                        <p:tav tm="100000">
                                          <p:val>
                                            <p:strVal val="#ppt_y"/>
                                          </p:val>
                                        </p:tav>
                                      </p:tavLst>
                                    </p:anim>
                                    <p:animEffect transition="in" filter="fade">
                                      <p:cBhvr>
                                        <p:cTn id="170" dur="500"/>
                                        <p:tgtEl>
                                          <p:spTgt spid="35"/>
                                        </p:tgtEl>
                                      </p:cBhvr>
                                    </p:animEffect>
                                  </p:childTnLst>
                                </p:cTn>
                              </p:par>
                              <p:par>
                                <p:cTn id="171" presetID="2" presetClass="entr" presetSubtype="4" fill="hold" grpId="0" nodeType="withEffect">
                                  <p:stCondLst>
                                    <p:cond delay="0"/>
                                  </p:stCondLst>
                                  <p:childTnLst>
                                    <p:set>
                                      <p:cBhvr>
                                        <p:cTn id="172" dur="1" fill="hold">
                                          <p:stCondLst>
                                            <p:cond delay="0"/>
                                          </p:stCondLst>
                                        </p:cTn>
                                        <p:tgtEl>
                                          <p:spTgt spid="36"/>
                                        </p:tgtEl>
                                        <p:attrNameLst>
                                          <p:attrName>style.visibility</p:attrName>
                                        </p:attrNameLst>
                                      </p:cBhvr>
                                      <p:to>
                                        <p:strVal val="visible"/>
                                      </p:to>
                                    </p:set>
                                    <p:anim calcmode="lin" valueType="num">
                                      <p:cBhvr additive="base">
                                        <p:cTn id="173" dur="500" fill="hold"/>
                                        <p:tgtEl>
                                          <p:spTgt spid="36"/>
                                        </p:tgtEl>
                                        <p:attrNameLst>
                                          <p:attrName>ppt_x</p:attrName>
                                        </p:attrNameLst>
                                      </p:cBhvr>
                                      <p:tavLst>
                                        <p:tav tm="0">
                                          <p:val>
                                            <p:strVal val="#ppt_x"/>
                                          </p:val>
                                        </p:tav>
                                        <p:tav tm="100000">
                                          <p:val>
                                            <p:strVal val="#ppt_x"/>
                                          </p:val>
                                        </p:tav>
                                      </p:tavLst>
                                    </p:anim>
                                    <p:anim calcmode="lin" valueType="num">
                                      <p:cBhvr additive="base">
                                        <p:cTn id="174" dur="500" fill="hold"/>
                                        <p:tgtEl>
                                          <p:spTgt spid="36"/>
                                        </p:tgtEl>
                                        <p:attrNameLst>
                                          <p:attrName>ppt_y</p:attrName>
                                        </p:attrNameLst>
                                      </p:cBhvr>
                                      <p:tavLst>
                                        <p:tav tm="0">
                                          <p:val>
                                            <p:strVal val="#ppt_y+0.1"/>
                                          </p:val>
                                        </p:tav>
                                        <p:tav tm="100000">
                                          <p:val>
                                            <p:strVal val="#ppt_y"/>
                                          </p:val>
                                        </p:tav>
                                      </p:tavLst>
                                    </p:anim>
                                    <p:animEffect transition="in" filter="fade">
                                      <p:cBhvr>
                                        <p:cTn id="175" dur="500"/>
                                        <p:tgtEl>
                                          <p:spTgt spid="36"/>
                                        </p:tgtEl>
                                      </p:cBhvr>
                                    </p:animEffect>
                                  </p:childTnLst>
                                </p:cTn>
                              </p:par>
                              <p:par>
                                <p:cTn id="176" presetID="2" presetClass="entr" presetSubtype="4" fill="hold" grpId="0" nodeType="withEffect">
                                  <p:stCondLst>
                                    <p:cond delay="0"/>
                                  </p:stCondLst>
                                  <p:childTnLst>
                                    <p:set>
                                      <p:cBhvr>
                                        <p:cTn id="177" dur="1" fill="hold">
                                          <p:stCondLst>
                                            <p:cond delay="0"/>
                                          </p:stCondLst>
                                        </p:cTn>
                                        <p:tgtEl>
                                          <p:spTgt spid="37"/>
                                        </p:tgtEl>
                                        <p:attrNameLst>
                                          <p:attrName>style.visibility</p:attrName>
                                        </p:attrNameLst>
                                      </p:cBhvr>
                                      <p:to>
                                        <p:strVal val="visible"/>
                                      </p:to>
                                    </p:set>
                                    <p:anim calcmode="lin" valueType="num">
                                      <p:cBhvr additive="base">
                                        <p:cTn id="178" dur="500" fill="hold"/>
                                        <p:tgtEl>
                                          <p:spTgt spid="37"/>
                                        </p:tgtEl>
                                        <p:attrNameLst>
                                          <p:attrName>ppt_x</p:attrName>
                                        </p:attrNameLst>
                                      </p:cBhvr>
                                      <p:tavLst>
                                        <p:tav tm="0">
                                          <p:val>
                                            <p:strVal val="#ppt_x"/>
                                          </p:val>
                                        </p:tav>
                                        <p:tav tm="100000">
                                          <p:val>
                                            <p:strVal val="#ppt_x"/>
                                          </p:val>
                                        </p:tav>
                                      </p:tavLst>
                                    </p:anim>
                                    <p:anim calcmode="lin" valueType="num">
                                      <p:cBhvr additive="base">
                                        <p:cTn id="179" dur="500" fill="hold"/>
                                        <p:tgtEl>
                                          <p:spTgt spid="37"/>
                                        </p:tgtEl>
                                        <p:attrNameLst>
                                          <p:attrName>ppt_y</p:attrName>
                                        </p:attrNameLst>
                                      </p:cBhvr>
                                      <p:tavLst>
                                        <p:tav tm="0">
                                          <p:val>
                                            <p:strVal val="#ppt_y+0.1"/>
                                          </p:val>
                                        </p:tav>
                                        <p:tav tm="100000">
                                          <p:val>
                                            <p:strVal val="#ppt_y"/>
                                          </p:val>
                                        </p:tav>
                                      </p:tavLst>
                                    </p:anim>
                                    <p:animEffect transition="in" filter="fade">
                                      <p:cBhvr>
                                        <p:cTn id="180" dur="500"/>
                                        <p:tgtEl>
                                          <p:spTgt spid="37"/>
                                        </p:tgtEl>
                                      </p:cBhvr>
                                    </p:animEffect>
                                  </p:childTnLst>
                                </p:cTn>
                              </p:par>
                            </p:childTnLst>
                          </p:cTn>
                        </p:par>
                      </p:childTnLst>
                    </p:cTn>
                  </p:par>
                  <p:par>
                    <p:cTn id="181" fill="hold">
                      <p:stCondLst>
                        <p:cond delay="indefinite"/>
                      </p:stCondLst>
                      <p:childTnLst>
                        <p:par>
                          <p:cTn id="182" fill="hold">
                            <p:stCondLst>
                              <p:cond delay="0"/>
                            </p:stCondLst>
                            <p:childTnLst>
                              <p:par>
                                <p:cTn id="183" presetID="10" presetClass="entr" presetSubtype="0" fill="hold" grpId="0" nodeType="clickEffect">
                                  <p:stCondLst>
                                    <p:cond delay="0"/>
                                  </p:stCondLst>
                                  <p:childTnLst>
                                    <p:set>
                                      <p:cBhvr>
                                        <p:cTn id="184" dur="1" fill="hold">
                                          <p:stCondLst>
                                            <p:cond delay="0"/>
                                          </p:stCondLst>
                                        </p:cTn>
                                        <p:tgtEl>
                                          <p:spTgt spid="38"/>
                                        </p:tgtEl>
                                        <p:attrNameLst>
                                          <p:attrName>style.visibility</p:attrName>
                                        </p:attrNameLst>
                                      </p:cBhvr>
                                      <p:to>
                                        <p:strVal val="visible"/>
                                      </p:to>
                                    </p:set>
                                    <p:animEffect transition="in" filter="fade">
                                      <p:cBhvr>
                                        <p:cTn id="185"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9" grpId="0" animBg="1"/>
      <p:bldP spid="10" grpId="0" animBg="1"/>
      <p:bldP spid="11" grpId="0" animBg="1"/>
      <p:bldP spid="12" grpId="0" animBg="1"/>
      <p:bldP spid="15" grpId="0" animBg="1"/>
      <p:bldP spid="16" grpId="0" animBg="1"/>
      <p:bldP spid="17" grpId="0" animBg="1"/>
      <p:bldP spid="18" grpId="0" animBg="1"/>
      <p:bldP spid="19" grpId="0" animBg="1"/>
      <p:bldP spid="20" grpId="0" animBg="1"/>
      <p:bldP spid="25" grpId="0" animBg="1"/>
      <p:bldP spid="26" grpId="0" animBg="1"/>
      <p:bldP spid="27" grpId="0" animBg="1"/>
      <p:bldP spid="28" grpId="0" animBg="1"/>
      <p:bldP spid="29" grpId="0" animBg="1"/>
      <p:bldP spid="33" grpId="0" animBg="1"/>
      <p:bldP spid="34" grpId="0" animBg="1"/>
      <p:bldP spid="35" grpId="0" animBg="1"/>
      <p:bldP spid="36" grpId="0" animBg="1"/>
      <p:bldP spid="37" grpId="0" animBg="1"/>
      <p:bldP spid="3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1"/>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Reading a Relationship</a:t>
            </a:r>
            <a:endParaRPr lang="en-US" sz="2800" dirty="0"/>
          </a:p>
        </p:txBody>
      </p:sp>
      <p:sp>
        <p:nvSpPr>
          <p:cNvPr id="3" name="Text 2"/>
          <p:cNvSpPr txBox="1"/>
          <p:nvPr/>
        </p:nvSpPr>
        <p:spPr>
          <a:xfrm>
            <a:off x="457200" y="749808"/>
            <a:ext cx="8229600" cy="320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CUSTOMER ||——o{ ACCOUNT, read in both directions</a:t>
            </a:r>
            <a:endParaRPr lang="en-US" sz="1300" dirty="0"/>
          </a:p>
        </p:txBody>
      </p:sp>
      <p:sp>
        <p:nvSpPr>
          <p:cNvPr id="4" name="a1f_e3"/>
          <p:cNvSpPr txBox="1"/>
          <p:nvPr/>
        </p:nvSpPr>
        <p:spPr>
          <a:xfrm>
            <a:off x="640080" y="1325880"/>
            <a:ext cx="2103120" cy="274320"/>
          </a:xfrm>
          <a:prstGeom prst="rect">
            <a:avLst/>
          </a:prstGeom>
          <a:solidFill>
            <a:srgbClr val="0F766E"/>
          </a:solidFill>
          <a:ln w="9525">
            <a:solidFill>
              <a:srgbClr val="0F766E"/>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CUSTOMER</a:t>
            </a:r>
            <a:endParaRPr lang="en-US" sz="1100" dirty="0"/>
          </a:p>
        </p:txBody>
      </p:sp>
      <p:sp>
        <p:nvSpPr>
          <p:cNvPr id="5" name="a1f_e4"/>
          <p:cNvSpPr txBox="1"/>
          <p:nvPr/>
        </p:nvSpPr>
        <p:spPr>
          <a:xfrm>
            <a:off x="640080" y="1600200"/>
            <a:ext cx="210312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customer_id</a:t>
            </a:r>
            <a:endParaRPr lang="en-US" sz="950" dirty="0"/>
          </a:p>
        </p:txBody>
      </p:sp>
      <p:sp>
        <p:nvSpPr>
          <p:cNvPr id="6" name="a1f_e5"/>
          <p:cNvSpPr txBox="1"/>
          <p:nvPr/>
        </p:nvSpPr>
        <p:spPr>
          <a:xfrm>
            <a:off x="2176272" y="1600200"/>
            <a:ext cx="512064" cy="219456"/>
          </a:xfrm>
          <a:prstGeom prst="rect">
            <a:avLst/>
          </a:prstGeom>
          <a:noFill/>
          <a:ln/>
        </p:spPr>
        <p:txBody>
          <a:bodyPr wrap="square" lIns="0" tIns="0" rIns="0" bIns="0" rtlCol="0" anchor="ctr"/>
          <a:lstStyle/>
          <a:p>
            <a:pPr marL="0" indent="0" algn="r">
              <a:buNone/>
            </a:pPr>
            <a:r>
              <a:rPr lang="en-US" sz="850" b="1" dirty="0">
                <a:solidFill>
                  <a:srgbClr val="6D28D9"/>
                </a:solidFill>
                <a:latin typeface="Calibri" pitchFamily="34" charset="0"/>
                <a:ea typeface="Calibri" pitchFamily="34" charset="-122"/>
                <a:cs typeface="Calibri" pitchFamily="34" charset="-120"/>
              </a:rPr>
              <a:t>PK</a:t>
            </a:r>
            <a:endParaRPr lang="en-US" sz="850" dirty="0"/>
          </a:p>
        </p:txBody>
      </p:sp>
      <p:sp>
        <p:nvSpPr>
          <p:cNvPr id="7" name="a1f_e6"/>
          <p:cNvSpPr txBox="1"/>
          <p:nvPr/>
        </p:nvSpPr>
        <p:spPr>
          <a:xfrm>
            <a:off x="640080" y="1819656"/>
            <a:ext cx="210312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first_name</a:t>
            </a:r>
            <a:endParaRPr lang="en-US" sz="950" dirty="0"/>
          </a:p>
        </p:txBody>
      </p:sp>
      <p:sp>
        <p:nvSpPr>
          <p:cNvPr id="8" name="a1f_e7"/>
          <p:cNvSpPr txBox="1"/>
          <p:nvPr/>
        </p:nvSpPr>
        <p:spPr>
          <a:xfrm>
            <a:off x="640080" y="2039112"/>
            <a:ext cx="210312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phone</a:t>
            </a:r>
            <a:endParaRPr lang="en-US" sz="950" dirty="0"/>
          </a:p>
        </p:txBody>
      </p:sp>
      <p:sp>
        <p:nvSpPr>
          <p:cNvPr id="9" name="a1f_e8"/>
          <p:cNvSpPr txBox="1"/>
          <p:nvPr/>
        </p:nvSpPr>
        <p:spPr>
          <a:xfrm>
            <a:off x="6309360" y="1325880"/>
            <a:ext cx="2194560" cy="274320"/>
          </a:xfrm>
          <a:prstGeom prst="rect">
            <a:avLst/>
          </a:prstGeom>
          <a:solidFill>
            <a:srgbClr val="B45309"/>
          </a:solidFill>
          <a:ln w="9525">
            <a:solidFill>
              <a:srgbClr val="B4530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ACCOUNT</a:t>
            </a:r>
            <a:endParaRPr lang="en-US" sz="1100" dirty="0"/>
          </a:p>
        </p:txBody>
      </p:sp>
      <p:sp>
        <p:nvSpPr>
          <p:cNvPr id="10" name="a1f_e9"/>
          <p:cNvSpPr txBox="1"/>
          <p:nvPr/>
        </p:nvSpPr>
        <p:spPr>
          <a:xfrm>
            <a:off x="6309360" y="1600200"/>
            <a:ext cx="219456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account_id</a:t>
            </a:r>
            <a:endParaRPr lang="en-US" sz="950" dirty="0"/>
          </a:p>
        </p:txBody>
      </p:sp>
      <p:sp>
        <p:nvSpPr>
          <p:cNvPr id="11" name="a1f_e10"/>
          <p:cNvSpPr txBox="1"/>
          <p:nvPr/>
        </p:nvSpPr>
        <p:spPr>
          <a:xfrm>
            <a:off x="7936992" y="1600200"/>
            <a:ext cx="512064" cy="219456"/>
          </a:xfrm>
          <a:prstGeom prst="rect">
            <a:avLst/>
          </a:prstGeom>
          <a:noFill/>
          <a:ln/>
        </p:spPr>
        <p:txBody>
          <a:bodyPr wrap="square" lIns="0" tIns="0" rIns="0" bIns="0" rtlCol="0" anchor="ctr"/>
          <a:lstStyle/>
          <a:p>
            <a:pPr marL="0" indent="0" algn="r">
              <a:buNone/>
            </a:pPr>
            <a:r>
              <a:rPr lang="en-US" sz="850" b="1" dirty="0">
                <a:solidFill>
                  <a:srgbClr val="6D28D9"/>
                </a:solidFill>
                <a:latin typeface="Calibri" pitchFamily="34" charset="0"/>
                <a:ea typeface="Calibri" pitchFamily="34" charset="-122"/>
                <a:cs typeface="Calibri" pitchFamily="34" charset="-120"/>
              </a:rPr>
              <a:t>PK</a:t>
            </a:r>
            <a:endParaRPr lang="en-US" sz="850" dirty="0"/>
          </a:p>
        </p:txBody>
      </p:sp>
      <p:sp>
        <p:nvSpPr>
          <p:cNvPr id="12" name="a1f_e11"/>
          <p:cNvSpPr txBox="1"/>
          <p:nvPr/>
        </p:nvSpPr>
        <p:spPr>
          <a:xfrm>
            <a:off x="6309360" y="1819656"/>
            <a:ext cx="219456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customer_id</a:t>
            </a:r>
            <a:endParaRPr lang="en-US" sz="950" dirty="0"/>
          </a:p>
        </p:txBody>
      </p:sp>
      <p:sp>
        <p:nvSpPr>
          <p:cNvPr id="13" name="a1f_e12"/>
          <p:cNvSpPr txBox="1"/>
          <p:nvPr/>
        </p:nvSpPr>
        <p:spPr>
          <a:xfrm>
            <a:off x="7936992" y="1819656"/>
            <a:ext cx="512064" cy="219456"/>
          </a:xfrm>
          <a:prstGeom prst="rect">
            <a:avLst/>
          </a:prstGeom>
          <a:noFill/>
          <a:ln/>
        </p:spPr>
        <p:txBody>
          <a:bodyPr wrap="square" lIns="0" tIns="0" rIns="0" bIns="0" rtlCol="0" anchor="ctr"/>
          <a:lstStyle/>
          <a:p>
            <a:pPr marL="0" indent="0" algn="r">
              <a:buNone/>
            </a:pPr>
            <a:r>
              <a:rPr lang="en-US" sz="850" b="1" dirty="0">
                <a:solidFill>
                  <a:srgbClr val="B45309"/>
                </a:solidFill>
                <a:latin typeface="Calibri" pitchFamily="34" charset="0"/>
                <a:ea typeface="Calibri" pitchFamily="34" charset="-122"/>
                <a:cs typeface="Calibri" pitchFamily="34" charset="-120"/>
              </a:rPr>
              <a:t>FK</a:t>
            </a:r>
            <a:endParaRPr lang="en-US" sz="850" dirty="0"/>
          </a:p>
        </p:txBody>
      </p:sp>
      <p:sp>
        <p:nvSpPr>
          <p:cNvPr id="14" name="a1f_e13"/>
          <p:cNvSpPr txBox="1"/>
          <p:nvPr/>
        </p:nvSpPr>
        <p:spPr>
          <a:xfrm>
            <a:off x="6309360" y="2039112"/>
            <a:ext cx="219456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balance</a:t>
            </a:r>
            <a:endParaRPr lang="en-US" sz="950" dirty="0"/>
          </a:p>
        </p:txBody>
      </p:sp>
      <p:cxnSp>
        <p:nvCxnSpPr>
          <p:cNvPr id="15" name="a1f_r14"/>
          <p:cNvCxnSpPr/>
          <p:nvPr/>
        </p:nvCxnSpPr>
        <p:spPr>
          <a:xfrm>
            <a:off x="2743200" y="1819656"/>
            <a:ext cx="3566160" cy="0"/>
          </a:xfrm>
          <a:prstGeom prst="line">
            <a:avLst/>
          </a:prstGeom>
          <a:ln w="15875">
            <a:solidFill>
              <a:srgbClr val="0F172A"/>
            </a:solidFill>
          </a:ln>
        </p:spPr>
      </p:cxnSp>
      <p:cxnSp>
        <p:nvCxnSpPr>
          <p:cNvPr id="16" name="a1f_r15"/>
          <p:cNvCxnSpPr/>
          <p:nvPr/>
        </p:nvCxnSpPr>
        <p:spPr>
          <a:xfrm flipV="1">
            <a:off x="2807208" y="1737360"/>
            <a:ext cx="0" cy="164592"/>
          </a:xfrm>
          <a:prstGeom prst="line">
            <a:avLst/>
          </a:prstGeom>
          <a:ln w="15875">
            <a:solidFill>
              <a:srgbClr val="0F172A"/>
            </a:solidFill>
          </a:ln>
        </p:spPr>
      </p:cxnSp>
      <p:cxnSp>
        <p:nvCxnSpPr>
          <p:cNvPr id="17" name="a1f_r16"/>
          <p:cNvCxnSpPr/>
          <p:nvPr/>
        </p:nvCxnSpPr>
        <p:spPr>
          <a:xfrm flipV="1">
            <a:off x="2871216" y="1737360"/>
            <a:ext cx="0" cy="164592"/>
          </a:xfrm>
          <a:prstGeom prst="line">
            <a:avLst/>
          </a:prstGeom>
          <a:ln w="15875">
            <a:solidFill>
              <a:srgbClr val="0F172A"/>
            </a:solidFill>
          </a:ln>
        </p:spPr>
      </p:cxnSp>
      <p:cxnSp>
        <p:nvCxnSpPr>
          <p:cNvPr id="18" name="a1f_r17"/>
          <p:cNvCxnSpPr/>
          <p:nvPr/>
        </p:nvCxnSpPr>
        <p:spPr>
          <a:xfrm flipV="1">
            <a:off x="6144768" y="1728216"/>
            <a:ext cx="164592" cy="91440"/>
          </a:xfrm>
          <a:prstGeom prst="line">
            <a:avLst/>
          </a:prstGeom>
          <a:ln w="15875">
            <a:solidFill>
              <a:srgbClr val="0F172A"/>
            </a:solidFill>
          </a:ln>
        </p:spPr>
      </p:cxnSp>
      <p:cxnSp>
        <p:nvCxnSpPr>
          <p:cNvPr id="19" name="a1f_r18"/>
          <p:cNvCxnSpPr/>
          <p:nvPr/>
        </p:nvCxnSpPr>
        <p:spPr>
          <a:xfrm>
            <a:off x="6144768" y="1819656"/>
            <a:ext cx="164592" cy="91440"/>
          </a:xfrm>
          <a:prstGeom prst="line">
            <a:avLst/>
          </a:prstGeom>
          <a:ln w="15875">
            <a:solidFill>
              <a:srgbClr val="0F172A"/>
            </a:solidFill>
          </a:ln>
        </p:spPr>
      </p:cxnSp>
      <p:sp>
        <p:nvSpPr>
          <p:cNvPr id="20" name="a1f_r19"/>
          <p:cNvSpPr/>
          <p:nvPr/>
        </p:nvSpPr>
        <p:spPr>
          <a:xfrm>
            <a:off x="5993892" y="1769364"/>
            <a:ext cx="100584" cy="100584"/>
          </a:xfrm>
          <a:prstGeom prst="ellipse">
            <a:avLst/>
          </a:prstGeom>
          <a:solidFill>
            <a:srgbClr val="FFFFFF"/>
          </a:solidFill>
          <a:ln w="15875">
            <a:solidFill>
              <a:srgbClr val="0F172A"/>
            </a:solidFill>
            <a:prstDash val="solid"/>
          </a:ln>
        </p:spPr>
      </p:sp>
      <p:sp>
        <p:nvSpPr>
          <p:cNvPr id="21" name="a1f_rt20"/>
          <p:cNvSpPr txBox="1"/>
          <p:nvPr/>
        </p:nvSpPr>
        <p:spPr>
          <a:xfrm>
            <a:off x="3840480" y="1463040"/>
            <a:ext cx="1371600" cy="274320"/>
          </a:xfrm>
          <a:prstGeom prst="rect">
            <a:avLst/>
          </a:prstGeom>
          <a:noFill/>
          <a:ln/>
        </p:spPr>
        <p:txBody>
          <a:bodyPr wrap="square" lIns="0" tIns="0" rIns="0" bIns="0" rtlCol="0" anchor="ctr"/>
          <a:lstStyle/>
          <a:p>
            <a:pPr marL="0" indent="0" algn="ctr">
              <a:buNone/>
            </a:pPr>
            <a:r>
              <a:rPr lang="en-US" sz="1100" b="1" i="1" dirty="0">
                <a:solidFill>
                  <a:srgbClr val="6D28D9"/>
                </a:solidFill>
                <a:latin typeface="Calibri" pitchFamily="34" charset="0"/>
                <a:ea typeface="Calibri" pitchFamily="34" charset="-122"/>
                <a:cs typeface="Calibri" pitchFamily="34" charset="-120"/>
              </a:rPr>
              <a:t>holds</a:t>
            </a:r>
            <a:endParaRPr lang="en-US" sz="1100" dirty="0"/>
          </a:p>
        </p:txBody>
      </p:sp>
      <p:sp>
        <p:nvSpPr>
          <p:cNvPr id="22" name="a2u_a21"/>
          <p:cNvSpPr txBox="1"/>
          <p:nvPr/>
        </p:nvSpPr>
        <p:spPr>
          <a:xfrm>
            <a:off x="640080" y="2606040"/>
            <a:ext cx="365760" cy="411480"/>
          </a:xfrm>
          <a:prstGeom prst="rect">
            <a:avLst/>
          </a:prstGeom>
          <a:noFill/>
          <a:ln/>
        </p:spPr>
        <p:txBody>
          <a:bodyPr wrap="square" lIns="0" tIns="0" rIns="0" bIns="0" rtlCol="0" anchor="ctr"/>
          <a:lstStyle/>
          <a:p>
            <a:pPr marL="0" indent="0" algn="ctr">
              <a:buNone/>
            </a:pPr>
            <a:r>
              <a:rPr lang="en-US" sz="1800" b="1" dirty="0">
                <a:solidFill>
                  <a:srgbClr val="6D28D9"/>
                </a:solidFill>
                <a:latin typeface="Calibri" pitchFamily="34" charset="0"/>
                <a:ea typeface="Calibri" pitchFamily="34" charset="-122"/>
                <a:cs typeface="Calibri" pitchFamily="34" charset="-120"/>
              </a:rPr>
              <a:t>→</a:t>
            </a:r>
            <a:endParaRPr lang="en-US" sz="1800" dirty="0"/>
          </a:p>
        </p:txBody>
      </p:sp>
      <p:sp>
        <p:nvSpPr>
          <p:cNvPr id="23" name="a2u_t22"/>
          <p:cNvSpPr txBox="1"/>
          <p:nvPr/>
        </p:nvSpPr>
        <p:spPr>
          <a:xfrm>
            <a:off x="1097280" y="2606040"/>
            <a:ext cx="4480560" cy="41148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A customer holds zero or many accounts</a:t>
            </a:r>
            <a:endParaRPr lang="en-US" sz="1300" dirty="0"/>
          </a:p>
        </p:txBody>
      </p:sp>
      <p:sp>
        <p:nvSpPr>
          <p:cNvPr id="24" name="a2u_s23"/>
          <p:cNvSpPr txBox="1"/>
          <p:nvPr/>
        </p:nvSpPr>
        <p:spPr>
          <a:xfrm>
            <a:off x="5669280" y="2606040"/>
            <a:ext cx="2926080" cy="411480"/>
          </a:xfrm>
          <a:prstGeom prst="rect">
            <a:avLst/>
          </a:prstGeom>
          <a:noFill/>
          <a:ln/>
        </p:spPr>
        <p:txBody>
          <a:bodyPr wrap="square" lIns="0" tIns="0" rIns="0" bIns="0" rtlCol="0" anchor="ctr"/>
          <a:lstStyle/>
          <a:p>
            <a:pPr marL="0" indent="0">
              <a:buNone/>
            </a:pPr>
            <a:r>
              <a:rPr lang="en-US" sz="1100" dirty="0">
                <a:solidFill>
                  <a:srgbClr val="64748B"/>
                </a:solidFill>
                <a:latin typeface="Courier New" pitchFamily="34" charset="0"/>
                <a:ea typeface="Courier New" pitchFamily="34" charset="-122"/>
                <a:cs typeface="Courier New" pitchFamily="34" charset="-120"/>
              </a:rPr>
              <a:t>o{  at the account end</a:t>
            </a:r>
            <a:endParaRPr lang="en-US" sz="1100" dirty="0"/>
          </a:p>
        </p:txBody>
      </p:sp>
      <p:sp>
        <p:nvSpPr>
          <p:cNvPr id="25" name="a3u_a24"/>
          <p:cNvSpPr txBox="1"/>
          <p:nvPr/>
        </p:nvSpPr>
        <p:spPr>
          <a:xfrm>
            <a:off x="640080" y="3154680"/>
            <a:ext cx="365760" cy="411480"/>
          </a:xfrm>
          <a:prstGeom prst="rect">
            <a:avLst/>
          </a:prstGeom>
          <a:noFill/>
          <a:ln/>
        </p:spPr>
        <p:txBody>
          <a:bodyPr wrap="square" lIns="0" tIns="0" rIns="0" bIns="0" rtlCol="0" anchor="ctr"/>
          <a:lstStyle/>
          <a:p>
            <a:pPr marL="0" indent="0" algn="ctr">
              <a:buNone/>
            </a:pPr>
            <a:r>
              <a:rPr lang="en-US" sz="1800" b="1" dirty="0">
                <a:solidFill>
                  <a:srgbClr val="6D28D9"/>
                </a:solidFill>
                <a:latin typeface="Calibri" pitchFamily="34" charset="0"/>
                <a:ea typeface="Calibri" pitchFamily="34" charset="-122"/>
                <a:cs typeface="Calibri" pitchFamily="34" charset="-120"/>
              </a:rPr>
              <a:t>←</a:t>
            </a:r>
            <a:endParaRPr lang="en-US" sz="1800" dirty="0"/>
          </a:p>
        </p:txBody>
      </p:sp>
      <p:sp>
        <p:nvSpPr>
          <p:cNvPr id="26" name="a3u_t25"/>
          <p:cNvSpPr txBox="1"/>
          <p:nvPr/>
        </p:nvSpPr>
        <p:spPr>
          <a:xfrm>
            <a:off x="1097280" y="3154680"/>
            <a:ext cx="4480560" cy="41148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An account belongs to exactly one customer</a:t>
            </a:r>
            <a:endParaRPr lang="en-US" sz="1300" dirty="0"/>
          </a:p>
        </p:txBody>
      </p:sp>
      <p:sp>
        <p:nvSpPr>
          <p:cNvPr id="27" name="a3u_s26"/>
          <p:cNvSpPr txBox="1"/>
          <p:nvPr/>
        </p:nvSpPr>
        <p:spPr>
          <a:xfrm>
            <a:off x="5669280" y="3154680"/>
            <a:ext cx="2926080" cy="411480"/>
          </a:xfrm>
          <a:prstGeom prst="rect">
            <a:avLst/>
          </a:prstGeom>
          <a:noFill/>
          <a:ln/>
        </p:spPr>
        <p:txBody>
          <a:bodyPr wrap="square" lIns="0" tIns="0" rIns="0" bIns="0" rtlCol="0" anchor="ctr"/>
          <a:lstStyle/>
          <a:p>
            <a:pPr marL="0" indent="0">
              <a:buNone/>
            </a:pPr>
            <a:r>
              <a:rPr lang="en-US" sz="1100" dirty="0">
                <a:solidFill>
                  <a:srgbClr val="64748B"/>
                </a:solidFill>
                <a:latin typeface="Courier New" pitchFamily="34" charset="0"/>
                <a:ea typeface="Courier New" pitchFamily="34" charset="-122"/>
                <a:cs typeface="Courier New" pitchFamily="34" charset="-120"/>
              </a:rPr>
              <a:t>||  at the customer end</a:t>
            </a:r>
            <a:endParaRPr lang="en-US" sz="1100" dirty="0"/>
          </a:p>
        </p:txBody>
      </p:sp>
      <p:sp>
        <p:nvSpPr>
          <p:cNvPr id="28" name="a4f_q27"/>
          <p:cNvSpPr txBox="1"/>
          <p:nvPr/>
        </p:nvSpPr>
        <p:spPr>
          <a:xfrm>
            <a:off x="640080" y="3794760"/>
            <a:ext cx="3200400" cy="274320"/>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Optionality decides nullability:</a:t>
            </a:r>
            <a:endParaRPr lang="en-US" sz="1200" dirty="0"/>
          </a:p>
        </p:txBody>
      </p:sp>
      <p:sp>
        <p:nvSpPr>
          <p:cNvPr id="29" name="a4fd150_c128"/>
          <p:cNvSpPr txBox="1"/>
          <p:nvPr/>
        </p:nvSpPr>
        <p:spPr>
          <a:xfrm>
            <a:off x="3246120" y="3767328"/>
            <a:ext cx="2697480" cy="329184"/>
          </a:xfrm>
          <a:prstGeom prst="roundRect">
            <a:avLst>
              <a:gd name="adj" fmla="val 50000"/>
            </a:avLst>
          </a:prstGeom>
          <a:solidFill>
            <a:srgbClr val="DCFCE7"/>
          </a:solidFill>
          <a:ln w="12700">
            <a:solidFill>
              <a:srgbClr val="DCFCE7"/>
            </a:solidFill>
            <a:prstDash val="solid"/>
          </a:ln>
        </p:spPr>
        <p:txBody>
          <a:bodyPr wrap="square" lIns="0" tIns="0" rIns="0" bIns="0" rtlCol="0" anchor="ctr"/>
          <a:lstStyle/>
          <a:p>
            <a:pPr marL="0" indent="0" algn="ctr">
              <a:buNone/>
            </a:pPr>
            <a:r>
              <a:rPr lang="en-US" sz="1000" b="1" dirty="0">
                <a:solidFill>
                  <a:srgbClr val="16A34A"/>
                </a:solidFill>
                <a:latin typeface="Courier New" pitchFamily="34" charset="0"/>
                <a:ea typeface="Courier New" pitchFamily="34" charset="-122"/>
                <a:cs typeface="Courier New" pitchFamily="34" charset="-120"/>
              </a:rPr>
              <a:t>account.customer_id NOT NULL</a:t>
            </a:r>
            <a:endParaRPr lang="en-US" sz="1000" dirty="0"/>
          </a:p>
        </p:txBody>
      </p:sp>
      <p:sp>
        <p:nvSpPr>
          <p:cNvPr id="30" name="a4fd300_c229"/>
          <p:cNvSpPr txBox="1"/>
          <p:nvPr/>
        </p:nvSpPr>
        <p:spPr>
          <a:xfrm>
            <a:off x="6126480" y="3767328"/>
            <a:ext cx="2377440" cy="329184"/>
          </a:xfrm>
          <a:prstGeom prst="roundRect">
            <a:avLst>
              <a:gd name="adj" fmla="val 50000"/>
            </a:avLst>
          </a:prstGeom>
          <a:solidFill>
            <a:srgbClr val="FFEDD5"/>
          </a:solidFill>
          <a:ln w="12700">
            <a:solidFill>
              <a:srgbClr val="FFEDD5"/>
            </a:solidFill>
            <a:prstDash val="solid"/>
          </a:ln>
        </p:spPr>
        <p:txBody>
          <a:bodyPr wrap="square" lIns="0" tIns="0" rIns="0" bIns="0" rtlCol="0" anchor="ctr"/>
          <a:lstStyle/>
          <a:p>
            <a:pPr marL="0" indent="0" algn="ctr">
              <a:buNone/>
            </a:pPr>
            <a:r>
              <a:rPr lang="en-US" sz="1000" b="1" dirty="0">
                <a:solidFill>
                  <a:srgbClr val="B45309"/>
                </a:solidFill>
                <a:latin typeface="Courier New" pitchFamily="34" charset="0"/>
                <a:ea typeface="Courier New" pitchFamily="34" charset="-122"/>
                <a:cs typeface="Courier New" pitchFamily="34" charset="-120"/>
              </a:rPr>
              <a:t>employee.manager_id NULL</a:t>
            </a:r>
            <a:endParaRPr lang="en-US" sz="1000" dirty="0"/>
          </a:p>
        </p:txBody>
      </p:sp>
      <p:sp>
        <p:nvSpPr>
          <p:cNvPr id="31" name="a4fd150_c330"/>
          <p:cNvSpPr txBox="1"/>
          <p:nvPr/>
        </p:nvSpPr>
        <p:spPr>
          <a:xfrm>
            <a:off x="3246120" y="4160520"/>
            <a:ext cx="2697480" cy="274320"/>
          </a:xfrm>
          <a:prstGeom prst="rect">
            <a:avLst/>
          </a:prstGeom>
          <a:noFill/>
          <a:ln/>
        </p:spPr>
        <p:txBody>
          <a:bodyPr wrap="square" lIns="0" tIns="0" rIns="0" bIns="0"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because of ||  (mandatory)</a:t>
            </a:r>
            <a:endParaRPr lang="en-US" sz="1000" dirty="0"/>
          </a:p>
        </p:txBody>
      </p:sp>
      <p:sp>
        <p:nvSpPr>
          <p:cNvPr id="32" name="a4fd300_c431"/>
          <p:cNvSpPr txBox="1"/>
          <p:nvPr/>
        </p:nvSpPr>
        <p:spPr>
          <a:xfrm>
            <a:off x="6126480" y="4160520"/>
            <a:ext cx="2377440" cy="274320"/>
          </a:xfrm>
          <a:prstGeom prst="rect">
            <a:avLst/>
          </a:prstGeom>
          <a:noFill/>
          <a:ln/>
        </p:spPr>
        <p:txBody>
          <a:bodyPr wrap="square" lIns="0" tIns="0" rIns="0" bIns="0"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because of o|  (optional)</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ntr" presetSubtype="0" fill="hold"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par>
                                <p:cTn id="47" presetID="10" presetClass="entr" presetSubtype="0" fill="hold"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500"/>
                                        <p:tgtEl>
                                          <p:spTgt spid="18"/>
                                        </p:tgtEl>
                                      </p:cBhvr>
                                    </p:animEffect>
                                  </p:childTnLst>
                                </p:cTn>
                              </p:par>
                              <p:par>
                                <p:cTn id="50" presetID="10" presetClass="entr" presetSubtype="0" fill="hold"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5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 calcmode="lin" valueType="num">
                                      <p:cBhvr additive="base">
                                        <p:cTn id="63" dur="500" fill="hold"/>
                                        <p:tgtEl>
                                          <p:spTgt spid="22"/>
                                        </p:tgtEl>
                                        <p:attrNameLst>
                                          <p:attrName>ppt_x</p:attrName>
                                        </p:attrNameLst>
                                      </p:cBhvr>
                                      <p:tavLst>
                                        <p:tav tm="0">
                                          <p:val>
                                            <p:strVal val="#ppt_x"/>
                                          </p:val>
                                        </p:tav>
                                        <p:tav tm="100000">
                                          <p:val>
                                            <p:strVal val="#ppt_x"/>
                                          </p:val>
                                        </p:tav>
                                      </p:tavLst>
                                    </p:anim>
                                    <p:anim calcmode="lin" valueType="num">
                                      <p:cBhvr additive="base">
                                        <p:cTn id="64" dur="500" fill="hold"/>
                                        <p:tgtEl>
                                          <p:spTgt spid="22"/>
                                        </p:tgtEl>
                                        <p:attrNameLst>
                                          <p:attrName>ppt_y</p:attrName>
                                        </p:attrNameLst>
                                      </p:cBhvr>
                                      <p:tavLst>
                                        <p:tav tm="0">
                                          <p:val>
                                            <p:strVal val="#ppt_y+0.1"/>
                                          </p:val>
                                        </p:tav>
                                        <p:tav tm="100000">
                                          <p:val>
                                            <p:strVal val="#ppt_y"/>
                                          </p:val>
                                        </p:tav>
                                      </p:tavLst>
                                    </p:anim>
                                    <p:animEffect transition="in" filter="fade">
                                      <p:cBhvr>
                                        <p:cTn id="65" dur="500"/>
                                        <p:tgtEl>
                                          <p:spTgt spid="22"/>
                                        </p:tgtEl>
                                      </p:cBhvr>
                                    </p:animEffect>
                                  </p:childTnLst>
                                </p:cTn>
                              </p:par>
                              <p:par>
                                <p:cTn id="66" presetID="2" presetClass="entr" presetSubtype="4" fill="hold" grpId="0" nodeType="withEffect">
                                  <p:stCondLst>
                                    <p:cond delay="0"/>
                                  </p:stCondLst>
                                  <p:childTnLst>
                                    <p:set>
                                      <p:cBhvr>
                                        <p:cTn id="67" dur="1" fill="hold">
                                          <p:stCondLst>
                                            <p:cond delay="0"/>
                                          </p:stCondLst>
                                        </p:cTn>
                                        <p:tgtEl>
                                          <p:spTgt spid="23"/>
                                        </p:tgtEl>
                                        <p:attrNameLst>
                                          <p:attrName>style.visibility</p:attrName>
                                        </p:attrNameLst>
                                      </p:cBhvr>
                                      <p:to>
                                        <p:strVal val="visible"/>
                                      </p:to>
                                    </p:set>
                                    <p:anim calcmode="lin" valueType="num">
                                      <p:cBhvr additive="base">
                                        <p:cTn id="68" dur="500" fill="hold"/>
                                        <p:tgtEl>
                                          <p:spTgt spid="23"/>
                                        </p:tgtEl>
                                        <p:attrNameLst>
                                          <p:attrName>ppt_x</p:attrName>
                                        </p:attrNameLst>
                                      </p:cBhvr>
                                      <p:tavLst>
                                        <p:tav tm="0">
                                          <p:val>
                                            <p:strVal val="#ppt_x"/>
                                          </p:val>
                                        </p:tav>
                                        <p:tav tm="100000">
                                          <p:val>
                                            <p:strVal val="#ppt_x"/>
                                          </p:val>
                                        </p:tav>
                                      </p:tavLst>
                                    </p:anim>
                                    <p:anim calcmode="lin" valueType="num">
                                      <p:cBhvr additive="base">
                                        <p:cTn id="69" dur="500" fill="hold"/>
                                        <p:tgtEl>
                                          <p:spTgt spid="23"/>
                                        </p:tgtEl>
                                        <p:attrNameLst>
                                          <p:attrName>ppt_y</p:attrName>
                                        </p:attrNameLst>
                                      </p:cBhvr>
                                      <p:tavLst>
                                        <p:tav tm="0">
                                          <p:val>
                                            <p:strVal val="#ppt_y+0.1"/>
                                          </p:val>
                                        </p:tav>
                                        <p:tav tm="100000">
                                          <p:val>
                                            <p:strVal val="#ppt_y"/>
                                          </p:val>
                                        </p:tav>
                                      </p:tavLst>
                                    </p:anim>
                                    <p:animEffect transition="in" filter="fade">
                                      <p:cBhvr>
                                        <p:cTn id="70" dur="500"/>
                                        <p:tgtEl>
                                          <p:spTgt spid="23"/>
                                        </p:tgtEl>
                                      </p:cBhvr>
                                    </p:animEffect>
                                  </p:childTnLst>
                                </p:cTn>
                              </p:par>
                              <p:par>
                                <p:cTn id="71" presetID="2" presetClass="entr" presetSubtype="4" fill="hold" grpId="0" nodeType="withEffect">
                                  <p:stCondLst>
                                    <p:cond delay="0"/>
                                  </p:stCondLst>
                                  <p:childTnLst>
                                    <p:set>
                                      <p:cBhvr>
                                        <p:cTn id="72" dur="1" fill="hold">
                                          <p:stCondLst>
                                            <p:cond delay="0"/>
                                          </p:stCondLst>
                                        </p:cTn>
                                        <p:tgtEl>
                                          <p:spTgt spid="24"/>
                                        </p:tgtEl>
                                        <p:attrNameLst>
                                          <p:attrName>style.visibility</p:attrName>
                                        </p:attrNameLst>
                                      </p:cBhvr>
                                      <p:to>
                                        <p:strVal val="visible"/>
                                      </p:to>
                                    </p:set>
                                    <p:anim calcmode="lin" valueType="num">
                                      <p:cBhvr additive="base">
                                        <p:cTn id="73" dur="500" fill="hold"/>
                                        <p:tgtEl>
                                          <p:spTgt spid="24"/>
                                        </p:tgtEl>
                                        <p:attrNameLst>
                                          <p:attrName>ppt_x</p:attrName>
                                        </p:attrNameLst>
                                      </p:cBhvr>
                                      <p:tavLst>
                                        <p:tav tm="0">
                                          <p:val>
                                            <p:strVal val="#ppt_x"/>
                                          </p:val>
                                        </p:tav>
                                        <p:tav tm="100000">
                                          <p:val>
                                            <p:strVal val="#ppt_x"/>
                                          </p:val>
                                        </p:tav>
                                      </p:tavLst>
                                    </p:anim>
                                    <p:anim calcmode="lin" valueType="num">
                                      <p:cBhvr additive="base">
                                        <p:cTn id="74" dur="500" fill="hold"/>
                                        <p:tgtEl>
                                          <p:spTgt spid="24"/>
                                        </p:tgtEl>
                                        <p:attrNameLst>
                                          <p:attrName>ppt_y</p:attrName>
                                        </p:attrNameLst>
                                      </p:cBhvr>
                                      <p:tavLst>
                                        <p:tav tm="0">
                                          <p:val>
                                            <p:strVal val="#ppt_y+0.1"/>
                                          </p:val>
                                        </p:tav>
                                        <p:tav tm="100000">
                                          <p:val>
                                            <p:strVal val="#ppt_y"/>
                                          </p:val>
                                        </p:tav>
                                      </p:tavLst>
                                    </p:anim>
                                    <p:animEffect transition="in" filter="fade">
                                      <p:cBhvr>
                                        <p:cTn id="75" dur="500"/>
                                        <p:tgtEl>
                                          <p:spTgt spid="24"/>
                                        </p:tgtEl>
                                      </p:cBhvr>
                                    </p:animEffect>
                                  </p:childTnLst>
                                </p:cTn>
                              </p:par>
                            </p:childTnLst>
                          </p:cTn>
                        </p:par>
                      </p:childTnLst>
                    </p:cTn>
                  </p:par>
                  <p:par>
                    <p:cTn id="76" fill="hold">
                      <p:stCondLst>
                        <p:cond delay="indefinite"/>
                      </p:stCondLst>
                      <p:childTnLst>
                        <p:par>
                          <p:cTn id="77" fill="hold">
                            <p:stCondLst>
                              <p:cond delay="0"/>
                            </p:stCondLst>
                            <p:childTnLst>
                              <p:par>
                                <p:cTn id="78" presetID="2" presetClass="entr" presetSubtype="4" fill="hold" grpId="0" nodeType="clickEffect">
                                  <p:stCondLst>
                                    <p:cond delay="0"/>
                                  </p:stCondLst>
                                  <p:childTnLst>
                                    <p:set>
                                      <p:cBhvr>
                                        <p:cTn id="79" dur="1" fill="hold">
                                          <p:stCondLst>
                                            <p:cond delay="0"/>
                                          </p:stCondLst>
                                        </p:cTn>
                                        <p:tgtEl>
                                          <p:spTgt spid="25"/>
                                        </p:tgtEl>
                                        <p:attrNameLst>
                                          <p:attrName>style.visibility</p:attrName>
                                        </p:attrNameLst>
                                      </p:cBhvr>
                                      <p:to>
                                        <p:strVal val="visible"/>
                                      </p:to>
                                    </p:set>
                                    <p:anim calcmode="lin" valueType="num">
                                      <p:cBhvr additive="base">
                                        <p:cTn id="80" dur="500" fill="hold"/>
                                        <p:tgtEl>
                                          <p:spTgt spid="25"/>
                                        </p:tgtEl>
                                        <p:attrNameLst>
                                          <p:attrName>ppt_x</p:attrName>
                                        </p:attrNameLst>
                                      </p:cBhvr>
                                      <p:tavLst>
                                        <p:tav tm="0">
                                          <p:val>
                                            <p:strVal val="#ppt_x"/>
                                          </p:val>
                                        </p:tav>
                                        <p:tav tm="100000">
                                          <p:val>
                                            <p:strVal val="#ppt_x"/>
                                          </p:val>
                                        </p:tav>
                                      </p:tavLst>
                                    </p:anim>
                                    <p:anim calcmode="lin" valueType="num">
                                      <p:cBhvr additive="base">
                                        <p:cTn id="81" dur="500" fill="hold"/>
                                        <p:tgtEl>
                                          <p:spTgt spid="25"/>
                                        </p:tgtEl>
                                        <p:attrNameLst>
                                          <p:attrName>ppt_y</p:attrName>
                                        </p:attrNameLst>
                                      </p:cBhvr>
                                      <p:tavLst>
                                        <p:tav tm="0">
                                          <p:val>
                                            <p:strVal val="#ppt_y+0.1"/>
                                          </p:val>
                                        </p:tav>
                                        <p:tav tm="100000">
                                          <p:val>
                                            <p:strVal val="#ppt_y"/>
                                          </p:val>
                                        </p:tav>
                                      </p:tavLst>
                                    </p:anim>
                                    <p:animEffect transition="in" filter="fade">
                                      <p:cBhvr>
                                        <p:cTn id="82" dur="500"/>
                                        <p:tgtEl>
                                          <p:spTgt spid="25"/>
                                        </p:tgtEl>
                                      </p:cBhvr>
                                    </p:animEffect>
                                  </p:childTnLst>
                                </p:cTn>
                              </p:par>
                              <p:par>
                                <p:cTn id="83" presetID="2" presetClass="entr" presetSubtype="4" fill="hold" grpId="0" nodeType="withEffect">
                                  <p:stCondLst>
                                    <p:cond delay="0"/>
                                  </p:stCondLst>
                                  <p:childTnLst>
                                    <p:set>
                                      <p:cBhvr>
                                        <p:cTn id="84" dur="1" fill="hold">
                                          <p:stCondLst>
                                            <p:cond delay="0"/>
                                          </p:stCondLst>
                                        </p:cTn>
                                        <p:tgtEl>
                                          <p:spTgt spid="26"/>
                                        </p:tgtEl>
                                        <p:attrNameLst>
                                          <p:attrName>style.visibility</p:attrName>
                                        </p:attrNameLst>
                                      </p:cBhvr>
                                      <p:to>
                                        <p:strVal val="visible"/>
                                      </p:to>
                                    </p:set>
                                    <p:anim calcmode="lin" valueType="num">
                                      <p:cBhvr additive="base">
                                        <p:cTn id="85" dur="500" fill="hold"/>
                                        <p:tgtEl>
                                          <p:spTgt spid="26"/>
                                        </p:tgtEl>
                                        <p:attrNameLst>
                                          <p:attrName>ppt_x</p:attrName>
                                        </p:attrNameLst>
                                      </p:cBhvr>
                                      <p:tavLst>
                                        <p:tav tm="0">
                                          <p:val>
                                            <p:strVal val="#ppt_x"/>
                                          </p:val>
                                        </p:tav>
                                        <p:tav tm="100000">
                                          <p:val>
                                            <p:strVal val="#ppt_x"/>
                                          </p:val>
                                        </p:tav>
                                      </p:tavLst>
                                    </p:anim>
                                    <p:anim calcmode="lin" valueType="num">
                                      <p:cBhvr additive="base">
                                        <p:cTn id="86" dur="500" fill="hold"/>
                                        <p:tgtEl>
                                          <p:spTgt spid="26"/>
                                        </p:tgtEl>
                                        <p:attrNameLst>
                                          <p:attrName>ppt_y</p:attrName>
                                        </p:attrNameLst>
                                      </p:cBhvr>
                                      <p:tavLst>
                                        <p:tav tm="0">
                                          <p:val>
                                            <p:strVal val="#ppt_y+0.1"/>
                                          </p:val>
                                        </p:tav>
                                        <p:tav tm="100000">
                                          <p:val>
                                            <p:strVal val="#ppt_y"/>
                                          </p:val>
                                        </p:tav>
                                      </p:tavLst>
                                    </p:anim>
                                    <p:animEffect transition="in" filter="fade">
                                      <p:cBhvr>
                                        <p:cTn id="87" dur="500"/>
                                        <p:tgtEl>
                                          <p:spTgt spid="26"/>
                                        </p:tgtEl>
                                      </p:cBhvr>
                                    </p:animEffect>
                                  </p:childTnLst>
                                </p:cTn>
                              </p:par>
                              <p:par>
                                <p:cTn id="88" presetID="2" presetClass="entr" presetSubtype="4" fill="hold" grpId="0" nodeType="withEffect">
                                  <p:stCondLst>
                                    <p:cond delay="0"/>
                                  </p:stCondLst>
                                  <p:childTnLst>
                                    <p:set>
                                      <p:cBhvr>
                                        <p:cTn id="89" dur="1" fill="hold">
                                          <p:stCondLst>
                                            <p:cond delay="0"/>
                                          </p:stCondLst>
                                        </p:cTn>
                                        <p:tgtEl>
                                          <p:spTgt spid="27"/>
                                        </p:tgtEl>
                                        <p:attrNameLst>
                                          <p:attrName>style.visibility</p:attrName>
                                        </p:attrNameLst>
                                      </p:cBhvr>
                                      <p:to>
                                        <p:strVal val="visible"/>
                                      </p:to>
                                    </p:set>
                                    <p:anim calcmode="lin" valueType="num">
                                      <p:cBhvr additive="base">
                                        <p:cTn id="90" dur="500" fill="hold"/>
                                        <p:tgtEl>
                                          <p:spTgt spid="27"/>
                                        </p:tgtEl>
                                        <p:attrNameLst>
                                          <p:attrName>ppt_x</p:attrName>
                                        </p:attrNameLst>
                                      </p:cBhvr>
                                      <p:tavLst>
                                        <p:tav tm="0">
                                          <p:val>
                                            <p:strVal val="#ppt_x"/>
                                          </p:val>
                                        </p:tav>
                                        <p:tav tm="100000">
                                          <p:val>
                                            <p:strVal val="#ppt_x"/>
                                          </p:val>
                                        </p:tav>
                                      </p:tavLst>
                                    </p:anim>
                                    <p:anim calcmode="lin" valueType="num">
                                      <p:cBhvr additive="base">
                                        <p:cTn id="91" dur="500" fill="hold"/>
                                        <p:tgtEl>
                                          <p:spTgt spid="27"/>
                                        </p:tgtEl>
                                        <p:attrNameLst>
                                          <p:attrName>ppt_y</p:attrName>
                                        </p:attrNameLst>
                                      </p:cBhvr>
                                      <p:tavLst>
                                        <p:tav tm="0">
                                          <p:val>
                                            <p:strVal val="#ppt_y+0.1"/>
                                          </p:val>
                                        </p:tav>
                                        <p:tav tm="100000">
                                          <p:val>
                                            <p:strVal val="#ppt_y"/>
                                          </p:val>
                                        </p:tav>
                                      </p:tavLst>
                                    </p:anim>
                                    <p:animEffect transition="in" filter="fade">
                                      <p:cBhvr>
                                        <p:cTn id="92" dur="500"/>
                                        <p:tgtEl>
                                          <p:spTgt spid="27"/>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28"/>
                                        </p:tgtEl>
                                        <p:attrNameLst>
                                          <p:attrName>style.visibility</p:attrName>
                                        </p:attrNameLst>
                                      </p:cBhvr>
                                      <p:to>
                                        <p:strVal val="visible"/>
                                      </p:to>
                                    </p:set>
                                    <p:animEffect transition="in" filter="fade">
                                      <p:cBhvr>
                                        <p:cTn id="97" dur="500"/>
                                        <p:tgtEl>
                                          <p:spTgt spid="28"/>
                                        </p:tgtEl>
                                      </p:cBhvr>
                                    </p:animEffect>
                                  </p:childTnLst>
                                </p:cTn>
                              </p:par>
                              <p:par>
                                <p:cTn id="98" presetID="10" presetClass="entr" presetSubtype="0" fill="hold" grpId="0" nodeType="withEffect">
                                  <p:stCondLst>
                                    <p:cond delay="150"/>
                                  </p:stCondLst>
                                  <p:childTnLst>
                                    <p:set>
                                      <p:cBhvr>
                                        <p:cTn id="99" dur="1" fill="hold">
                                          <p:stCondLst>
                                            <p:cond delay="0"/>
                                          </p:stCondLst>
                                        </p:cTn>
                                        <p:tgtEl>
                                          <p:spTgt spid="29"/>
                                        </p:tgtEl>
                                        <p:attrNameLst>
                                          <p:attrName>style.visibility</p:attrName>
                                        </p:attrNameLst>
                                      </p:cBhvr>
                                      <p:to>
                                        <p:strVal val="visible"/>
                                      </p:to>
                                    </p:set>
                                    <p:animEffect transition="in" filter="fade">
                                      <p:cBhvr>
                                        <p:cTn id="100" dur="500"/>
                                        <p:tgtEl>
                                          <p:spTgt spid="29"/>
                                        </p:tgtEl>
                                      </p:cBhvr>
                                    </p:animEffect>
                                  </p:childTnLst>
                                </p:cTn>
                              </p:par>
                              <p:par>
                                <p:cTn id="101" presetID="10" presetClass="entr" presetSubtype="0" fill="hold" grpId="0" nodeType="withEffect">
                                  <p:stCondLst>
                                    <p:cond delay="300"/>
                                  </p:stCondLst>
                                  <p:childTnLst>
                                    <p:set>
                                      <p:cBhvr>
                                        <p:cTn id="102" dur="1" fill="hold">
                                          <p:stCondLst>
                                            <p:cond delay="0"/>
                                          </p:stCondLst>
                                        </p:cTn>
                                        <p:tgtEl>
                                          <p:spTgt spid="30"/>
                                        </p:tgtEl>
                                        <p:attrNameLst>
                                          <p:attrName>style.visibility</p:attrName>
                                        </p:attrNameLst>
                                      </p:cBhvr>
                                      <p:to>
                                        <p:strVal val="visible"/>
                                      </p:to>
                                    </p:set>
                                    <p:animEffect transition="in" filter="fade">
                                      <p:cBhvr>
                                        <p:cTn id="103" dur="500"/>
                                        <p:tgtEl>
                                          <p:spTgt spid="30"/>
                                        </p:tgtEl>
                                      </p:cBhvr>
                                    </p:animEffect>
                                  </p:childTnLst>
                                </p:cTn>
                              </p:par>
                              <p:par>
                                <p:cTn id="104" presetID="10" presetClass="entr" presetSubtype="0" fill="hold" grpId="0" nodeType="withEffect">
                                  <p:stCondLst>
                                    <p:cond delay="150"/>
                                  </p:stCondLst>
                                  <p:childTnLst>
                                    <p:set>
                                      <p:cBhvr>
                                        <p:cTn id="105" dur="1" fill="hold">
                                          <p:stCondLst>
                                            <p:cond delay="0"/>
                                          </p:stCondLst>
                                        </p:cTn>
                                        <p:tgtEl>
                                          <p:spTgt spid="31"/>
                                        </p:tgtEl>
                                        <p:attrNameLst>
                                          <p:attrName>style.visibility</p:attrName>
                                        </p:attrNameLst>
                                      </p:cBhvr>
                                      <p:to>
                                        <p:strVal val="visible"/>
                                      </p:to>
                                    </p:set>
                                    <p:animEffect transition="in" filter="fade">
                                      <p:cBhvr>
                                        <p:cTn id="106" dur="500"/>
                                        <p:tgtEl>
                                          <p:spTgt spid="31"/>
                                        </p:tgtEl>
                                      </p:cBhvr>
                                    </p:animEffect>
                                  </p:childTnLst>
                                </p:cTn>
                              </p:par>
                              <p:par>
                                <p:cTn id="107" presetID="10" presetClass="entr" presetSubtype="0" fill="hold" grpId="0" nodeType="withEffect">
                                  <p:stCondLst>
                                    <p:cond delay="300"/>
                                  </p:stCondLst>
                                  <p:childTnLst>
                                    <p:set>
                                      <p:cBhvr>
                                        <p:cTn id="108" dur="1" fill="hold">
                                          <p:stCondLst>
                                            <p:cond delay="0"/>
                                          </p:stCondLst>
                                        </p:cTn>
                                        <p:tgtEl>
                                          <p:spTgt spid="32"/>
                                        </p:tgtEl>
                                        <p:attrNameLst>
                                          <p:attrName>style.visibility</p:attrName>
                                        </p:attrNameLst>
                                      </p:cBhvr>
                                      <p:to>
                                        <p:strVal val="visible"/>
                                      </p:to>
                                    </p:set>
                                    <p:animEffect transition="in" filter="fade">
                                      <p:cBhvr>
                                        <p:cTn id="10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1"/>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Three Kinds of Cardinality</a:t>
            </a:r>
            <a:endParaRPr lang="en-US" sz="2800" dirty="0"/>
          </a:p>
        </p:txBody>
      </p:sp>
      <p:sp>
        <p:nvSpPr>
          <p:cNvPr id="3" name="Text 2"/>
          <p:cNvSpPr txBox="1"/>
          <p:nvPr/>
        </p:nvSpPr>
        <p:spPr>
          <a:xfrm>
            <a:off x="457200" y="749808"/>
            <a:ext cx="8229600" cy="320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How many rows on each side — and how each one is implemented</a:t>
            </a:r>
            <a:endParaRPr lang="en-US" sz="1300" dirty="0"/>
          </a:p>
        </p:txBody>
      </p:sp>
      <p:sp>
        <p:nvSpPr>
          <p:cNvPr id="4" name="a1u_c3"/>
          <p:cNvSpPr/>
          <p:nvPr/>
        </p:nvSpPr>
        <p:spPr>
          <a:xfrm>
            <a:off x="457200" y="1234440"/>
            <a:ext cx="2606040" cy="3383280"/>
          </a:xfrm>
          <a:prstGeom prst="roundRect">
            <a:avLst>
              <a:gd name="adj" fmla="val 6000"/>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sp>
        <p:nvSpPr>
          <p:cNvPr id="5" name="a1u_k4"/>
          <p:cNvSpPr txBox="1"/>
          <p:nvPr/>
        </p:nvSpPr>
        <p:spPr>
          <a:xfrm>
            <a:off x="640080" y="1371600"/>
            <a:ext cx="1554480" cy="292608"/>
          </a:xfrm>
          <a:prstGeom prst="roundRect">
            <a:avLst>
              <a:gd name="adj" fmla="val 50000"/>
            </a:avLst>
          </a:prstGeom>
          <a:solidFill>
            <a:srgbClr val="0F766E"/>
          </a:solidFill>
          <a:ln w="12700">
            <a:solidFill>
              <a:srgbClr val="0F766E"/>
            </a:solidFill>
            <a:prstDash val="solid"/>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ONE TO ONE</a:t>
            </a:r>
            <a:endParaRPr lang="en-US" sz="1050" dirty="0"/>
          </a:p>
        </p:txBody>
      </p:sp>
      <p:sp>
        <p:nvSpPr>
          <p:cNvPr id="6" name="a1u_b5"/>
          <p:cNvSpPr txBox="1"/>
          <p:nvPr/>
        </p:nvSpPr>
        <p:spPr>
          <a:xfrm>
            <a:off x="594360" y="1874520"/>
            <a:ext cx="868680" cy="347472"/>
          </a:xfrm>
          <a:prstGeom prst="roundRect">
            <a:avLst>
              <a:gd name="adj" fmla="val 14000"/>
            </a:avLst>
          </a:prstGeom>
          <a:solidFill>
            <a:srgbClr val="EDE9FE"/>
          </a:solidFill>
          <a:ln w="9525">
            <a:solidFill>
              <a:srgbClr val="6D28D9"/>
            </a:solidFill>
            <a:prstDash val="solid"/>
          </a:ln>
        </p:spPr>
        <p:txBody>
          <a:bodyPr wrap="square" lIns="0" tIns="0" rIns="0" bIns="0" rtlCol="0" anchor="ctr"/>
          <a:lstStyle/>
          <a:p>
            <a:pPr marL="0" indent="0" algn="ctr">
              <a:buNone/>
            </a:pPr>
            <a:r>
              <a:rPr lang="en-US" sz="1000" b="1" dirty="0">
                <a:solidFill>
                  <a:srgbClr val="0F172A"/>
                </a:solidFill>
                <a:latin typeface="Calibri" pitchFamily="34" charset="0"/>
                <a:ea typeface="Calibri" pitchFamily="34" charset="-122"/>
                <a:cs typeface="Calibri" pitchFamily="34" charset="-120"/>
              </a:rPr>
              <a:t>ACCOUNT</a:t>
            </a:r>
            <a:endParaRPr lang="en-US" sz="1000" dirty="0"/>
          </a:p>
        </p:txBody>
      </p:sp>
      <p:sp>
        <p:nvSpPr>
          <p:cNvPr id="7" name="a1u_b6"/>
          <p:cNvSpPr txBox="1"/>
          <p:nvPr/>
        </p:nvSpPr>
        <p:spPr>
          <a:xfrm>
            <a:off x="2057400" y="1874520"/>
            <a:ext cx="868680" cy="347472"/>
          </a:xfrm>
          <a:prstGeom prst="roundRect">
            <a:avLst>
              <a:gd name="adj" fmla="val 14000"/>
            </a:avLst>
          </a:prstGeom>
          <a:solidFill>
            <a:srgbClr val="EDE9FE"/>
          </a:solidFill>
          <a:ln w="9525">
            <a:solidFill>
              <a:srgbClr val="6D28D9"/>
            </a:solidFill>
            <a:prstDash val="solid"/>
          </a:ln>
        </p:spPr>
        <p:txBody>
          <a:bodyPr wrap="square" lIns="0" tIns="0" rIns="0" bIns="0" rtlCol="0" anchor="ctr"/>
          <a:lstStyle/>
          <a:p>
            <a:pPr marL="0" indent="0" algn="ctr">
              <a:buNone/>
            </a:pPr>
            <a:r>
              <a:rPr lang="en-US" sz="1000" b="1" dirty="0">
                <a:solidFill>
                  <a:srgbClr val="0F172A"/>
                </a:solidFill>
                <a:latin typeface="Calibri" pitchFamily="34" charset="0"/>
                <a:ea typeface="Calibri" pitchFamily="34" charset="-122"/>
                <a:cs typeface="Calibri" pitchFamily="34" charset="-120"/>
              </a:rPr>
              <a:t>PASSBOOK</a:t>
            </a:r>
            <a:endParaRPr lang="en-US" sz="1000" dirty="0"/>
          </a:p>
        </p:txBody>
      </p:sp>
      <p:cxnSp>
        <p:nvCxnSpPr>
          <p:cNvPr id="8" name="a1u_r7"/>
          <p:cNvCxnSpPr/>
          <p:nvPr/>
        </p:nvCxnSpPr>
        <p:spPr>
          <a:xfrm>
            <a:off x="1463040" y="2048256"/>
            <a:ext cx="594360" cy="0"/>
          </a:xfrm>
          <a:prstGeom prst="line">
            <a:avLst/>
          </a:prstGeom>
          <a:ln w="15875">
            <a:solidFill>
              <a:srgbClr val="0F172A"/>
            </a:solidFill>
          </a:ln>
        </p:spPr>
      </p:cxnSp>
      <p:cxnSp>
        <p:nvCxnSpPr>
          <p:cNvPr id="9" name="a1u_r8"/>
          <p:cNvCxnSpPr/>
          <p:nvPr/>
        </p:nvCxnSpPr>
        <p:spPr>
          <a:xfrm flipV="1">
            <a:off x="1527048" y="1965960"/>
            <a:ext cx="0" cy="164592"/>
          </a:xfrm>
          <a:prstGeom prst="line">
            <a:avLst/>
          </a:prstGeom>
          <a:ln w="15875">
            <a:solidFill>
              <a:srgbClr val="0F172A"/>
            </a:solidFill>
          </a:ln>
        </p:spPr>
      </p:cxnSp>
      <p:cxnSp>
        <p:nvCxnSpPr>
          <p:cNvPr id="10" name="a1u_r9"/>
          <p:cNvCxnSpPr/>
          <p:nvPr/>
        </p:nvCxnSpPr>
        <p:spPr>
          <a:xfrm flipV="1">
            <a:off x="1591056" y="1965960"/>
            <a:ext cx="0" cy="164592"/>
          </a:xfrm>
          <a:prstGeom prst="line">
            <a:avLst/>
          </a:prstGeom>
          <a:ln w="15875">
            <a:solidFill>
              <a:srgbClr val="0F172A"/>
            </a:solidFill>
          </a:ln>
        </p:spPr>
      </p:cxnSp>
      <p:cxnSp>
        <p:nvCxnSpPr>
          <p:cNvPr id="11" name="a1u_r10"/>
          <p:cNvCxnSpPr/>
          <p:nvPr/>
        </p:nvCxnSpPr>
        <p:spPr>
          <a:xfrm>
            <a:off x="1984248" y="1965960"/>
            <a:ext cx="0" cy="164592"/>
          </a:xfrm>
          <a:prstGeom prst="line">
            <a:avLst/>
          </a:prstGeom>
          <a:ln w="15875">
            <a:solidFill>
              <a:srgbClr val="0F172A"/>
            </a:solidFill>
          </a:ln>
        </p:spPr>
      </p:cxnSp>
      <p:sp>
        <p:nvSpPr>
          <p:cNvPr id="12" name="a1u_r11"/>
          <p:cNvSpPr/>
          <p:nvPr/>
        </p:nvSpPr>
        <p:spPr>
          <a:xfrm>
            <a:off x="1796796" y="1997964"/>
            <a:ext cx="100584" cy="100584"/>
          </a:xfrm>
          <a:prstGeom prst="ellipse">
            <a:avLst/>
          </a:prstGeom>
          <a:solidFill>
            <a:srgbClr val="FFFFFF"/>
          </a:solidFill>
          <a:ln w="15875">
            <a:solidFill>
              <a:srgbClr val="0F172A"/>
            </a:solidFill>
            <a:prstDash val="solid"/>
          </a:ln>
        </p:spPr>
      </p:sp>
      <p:sp>
        <p:nvSpPr>
          <p:cNvPr id="13" name="a1u_e12"/>
          <p:cNvSpPr txBox="1"/>
          <p:nvPr/>
        </p:nvSpPr>
        <p:spPr>
          <a:xfrm>
            <a:off x="640080" y="2423160"/>
            <a:ext cx="2240280" cy="731520"/>
          </a:xfrm>
          <a:prstGeom prst="rect">
            <a:avLst/>
          </a:prstGeom>
          <a:noFill/>
          <a:ln/>
        </p:spPr>
        <p:txBody>
          <a:bodyPr wrap="square" lIns="0" tIns="0" rIns="0" bIns="0" rtlCol="0" anchor="t"/>
          <a:lstStyle/>
          <a:p>
            <a:pPr marL="0" indent="0">
              <a:buNone/>
            </a:pPr>
            <a:r>
              <a:rPr lang="en-US" sz="1150" dirty="0">
                <a:solidFill>
                  <a:srgbClr val="334155"/>
                </a:solidFill>
                <a:latin typeface="Calibri" pitchFamily="34" charset="0"/>
                <a:ea typeface="Calibri" pitchFamily="34" charset="-122"/>
                <a:cs typeface="Calibri" pitchFamily="34" charset="-120"/>
              </a:rPr>
              <a:t>An account and its passbook record</a:t>
            </a:r>
            <a:endParaRPr lang="en-US" sz="1150" dirty="0"/>
          </a:p>
        </p:txBody>
      </p:sp>
      <p:sp>
        <p:nvSpPr>
          <p:cNvPr id="14" name="a1u_i13"/>
          <p:cNvSpPr txBox="1"/>
          <p:nvPr/>
        </p:nvSpPr>
        <p:spPr>
          <a:xfrm>
            <a:off x="594360" y="3520440"/>
            <a:ext cx="2331720" cy="868680"/>
          </a:xfrm>
          <a:prstGeom prst="roundRect">
            <a:avLst>
              <a:gd name="adj" fmla="val 8000"/>
            </a:avLst>
          </a:prstGeom>
          <a:solidFill>
            <a:srgbClr val="F8FAFC"/>
          </a:solidFill>
          <a:ln w="12700">
            <a:solidFill>
              <a:srgbClr val="E2E8F0"/>
            </a:solidFill>
            <a:prstDash val="solid"/>
          </a:ln>
        </p:spPr>
        <p:txBody>
          <a:bodyPr wrap="square" lIns="109728" tIns="73152" rIns="91440" bIns="45720" rtlCol="0" anchor="t"/>
          <a:lstStyle/>
          <a:p>
            <a:pPr marL="0" indent="0">
              <a:buNone/>
            </a:pPr>
            <a:r>
              <a:rPr lang="en-US" sz="1000" dirty="0">
                <a:solidFill>
                  <a:srgbClr val="64748B"/>
                </a:solidFill>
                <a:latin typeface="Calibri" pitchFamily="34" charset="0"/>
                <a:ea typeface="Calibri" pitchFamily="34" charset="-122"/>
                <a:cs typeface="Calibri" pitchFamily="34" charset="-120"/>
              </a:rPr>
              <a:t>Implement as
</a:t>
            </a:r>
            <a:r>
              <a:rPr lang="en-US" sz="1250" b="1" dirty="0">
                <a:solidFill>
                  <a:srgbClr val="0F766E"/>
                </a:solidFill>
                <a:latin typeface="Calibri" pitchFamily="34" charset="0"/>
                <a:ea typeface="Calibri" pitchFamily="34" charset="-122"/>
                <a:cs typeface="Calibri" pitchFamily="34" charset="-120"/>
              </a:rPr>
              <a:t>FK + UNIQUE, or merge the tables</a:t>
            </a:r>
            <a:endParaRPr lang="en-US" sz="1000" dirty="0"/>
          </a:p>
        </p:txBody>
      </p:sp>
      <p:sp>
        <p:nvSpPr>
          <p:cNvPr id="15" name="a2u_c14"/>
          <p:cNvSpPr/>
          <p:nvPr/>
        </p:nvSpPr>
        <p:spPr>
          <a:xfrm>
            <a:off x="3268980" y="1234440"/>
            <a:ext cx="2606040" cy="3383280"/>
          </a:xfrm>
          <a:prstGeom prst="roundRect">
            <a:avLst>
              <a:gd name="adj" fmla="val 6000"/>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sp>
        <p:nvSpPr>
          <p:cNvPr id="16" name="a2u_k15"/>
          <p:cNvSpPr txBox="1"/>
          <p:nvPr/>
        </p:nvSpPr>
        <p:spPr>
          <a:xfrm>
            <a:off x="3451860" y="1371600"/>
            <a:ext cx="1554480" cy="292608"/>
          </a:xfrm>
          <a:prstGeom prst="roundRect">
            <a:avLst>
              <a:gd name="adj" fmla="val 50000"/>
            </a:avLst>
          </a:prstGeom>
          <a:solidFill>
            <a:srgbClr val="B45309"/>
          </a:solidFill>
          <a:ln w="12700">
            <a:solidFill>
              <a:srgbClr val="B45309"/>
            </a:solidFill>
            <a:prstDash val="solid"/>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ONE TO MANY</a:t>
            </a:r>
            <a:endParaRPr lang="en-US" sz="1050" dirty="0"/>
          </a:p>
        </p:txBody>
      </p:sp>
      <p:sp>
        <p:nvSpPr>
          <p:cNvPr id="17" name="a2u_b16"/>
          <p:cNvSpPr txBox="1"/>
          <p:nvPr/>
        </p:nvSpPr>
        <p:spPr>
          <a:xfrm>
            <a:off x="3406140" y="1874520"/>
            <a:ext cx="868680" cy="347472"/>
          </a:xfrm>
          <a:prstGeom prst="roundRect">
            <a:avLst>
              <a:gd name="adj" fmla="val 14000"/>
            </a:avLst>
          </a:prstGeom>
          <a:solidFill>
            <a:srgbClr val="EDE9FE"/>
          </a:solidFill>
          <a:ln w="9525">
            <a:solidFill>
              <a:srgbClr val="6D28D9"/>
            </a:solidFill>
            <a:prstDash val="solid"/>
          </a:ln>
        </p:spPr>
        <p:txBody>
          <a:bodyPr wrap="square" lIns="0" tIns="0" rIns="0" bIns="0" rtlCol="0" anchor="ctr"/>
          <a:lstStyle/>
          <a:p>
            <a:pPr marL="0" indent="0" algn="ctr">
              <a:buNone/>
            </a:pPr>
            <a:r>
              <a:rPr lang="en-US" sz="1000" b="1" dirty="0">
                <a:solidFill>
                  <a:srgbClr val="0F172A"/>
                </a:solidFill>
                <a:latin typeface="Calibri" pitchFamily="34" charset="0"/>
                <a:ea typeface="Calibri" pitchFamily="34" charset="-122"/>
                <a:cs typeface="Calibri" pitchFamily="34" charset="-120"/>
              </a:rPr>
              <a:t>CUSTOMER</a:t>
            </a:r>
            <a:endParaRPr lang="en-US" sz="1000" dirty="0"/>
          </a:p>
        </p:txBody>
      </p:sp>
      <p:sp>
        <p:nvSpPr>
          <p:cNvPr id="18" name="a2u_b17"/>
          <p:cNvSpPr txBox="1"/>
          <p:nvPr/>
        </p:nvSpPr>
        <p:spPr>
          <a:xfrm>
            <a:off x="4869180" y="1874520"/>
            <a:ext cx="868680" cy="347472"/>
          </a:xfrm>
          <a:prstGeom prst="roundRect">
            <a:avLst>
              <a:gd name="adj" fmla="val 14000"/>
            </a:avLst>
          </a:prstGeom>
          <a:solidFill>
            <a:srgbClr val="EDE9FE"/>
          </a:solidFill>
          <a:ln w="9525">
            <a:solidFill>
              <a:srgbClr val="6D28D9"/>
            </a:solidFill>
            <a:prstDash val="solid"/>
          </a:ln>
        </p:spPr>
        <p:txBody>
          <a:bodyPr wrap="square" lIns="0" tIns="0" rIns="0" bIns="0" rtlCol="0" anchor="ctr"/>
          <a:lstStyle/>
          <a:p>
            <a:pPr marL="0" indent="0" algn="ctr">
              <a:buNone/>
            </a:pPr>
            <a:r>
              <a:rPr lang="en-US" sz="1000" b="1" dirty="0">
                <a:solidFill>
                  <a:srgbClr val="0F172A"/>
                </a:solidFill>
                <a:latin typeface="Calibri" pitchFamily="34" charset="0"/>
                <a:ea typeface="Calibri" pitchFamily="34" charset="-122"/>
                <a:cs typeface="Calibri" pitchFamily="34" charset="-120"/>
              </a:rPr>
              <a:t>ACCOUNT</a:t>
            </a:r>
            <a:endParaRPr lang="en-US" sz="1000" dirty="0"/>
          </a:p>
        </p:txBody>
      </p:sp>
      <p:cxnSp>
        <p:nvCxnSpPr>
          <p:cNvPr id="19" name="a2u_r18"/>
          <p:cNvCxnSpPr/>
          <p:nvPr/>
        </p:nvCxnSpPr>
        <p:spPr>
          <a:xfrm>
            <a:off x="4274820" y="2048256"/>
            <a:ext cx="594360" cy="0"/>
          </a:xfrm>
          <a:prstGeom prst="line">
            <a:avLst/>
          </a:prstGeom>
          <a:ln w="15875">
            <a:solidFill>
              <a:srgbClr val="0F172A"/>
            </a:solidFill>
          </a:ln>
        </p:spPr>
      </p:cxnSp>
      <p:cxnSp>
        <p:nvCxnSpPr>
          <p:cNvPr id="20" name="a2u_r19"/>
          <p:cNvCxnSpPr/>
          <p:nvPr/>
        </p:nvCxnSpPr>
        <p:spPr>
          <a:xfrm flipV="1">
            <a:off x="4338828" y="1965960"/>
            <a:ext cx="0" cy="164592"/>
          </a:xfrm>
          <a:prstGeom prst="line">
            <a:avLst/>
          </a:prstGeom>
          <a:ln w="15875">
            <a:solidFill>
              <a:srgbClr val="0F172A"/>
            </a:solidFill>
          </a:ln>
        </p:spPr>
      </p:cxnSp>
      <p:cxnSp>
        <p:nvCxnSpPr>
          <p:cNvPr id="21" name="a2u_r20"/>
          <p:cNvCxnSpPr/>
          <p:nvPr/>
        </p:nvCxnSpPr>
        <p:spPr>
          <a:xfrm flipV="1">
            <a:off x="4402836" y="1965960"/>
            <a:ext cx="0" cy="164592"/>
          </a:xfrm>
          <a:prstGeom prst="line">
            <a:avLst/>
          </a:prstGeom>
          <a:ln w="15875">
            <a:solidFill>
              <a:srgbClr val="0F172A"/>
            </a:solidFill>
          </a:ln>
        </p:spPr>
      </p:cxnSp>
      <p:cxnSp>
        <p:nvCxnSpPr>
          <p:cNvPr id="22" name="a2u_r21"/>
          <p:cNvCxnSpPr/>
          <p:nvPr/>
        </p:nvCxnSpPr>
        <p:spPr>
          <a:xfrm flipV="1">
            <a:off x="4704588" y="1956816"/>
            <a:ext cx="164592" cy="91440"/>
          </a:xfrm>
          <a:prstGeom prst="line">
            <a:avLst/>
          </a:prstGeom>
          <a:ln w="15875">
            <a:solidFill>
              <a:srgbClr val="0F172A"/>
            </a:solidFill>
          </a:ln>
        </p:spPr>
      </p:cxnSp>
      <p:cxnSp>
        <p:nvCxnSpPr>
          <p:cNvPr id="23" name="a2u_r22"/>
          <p:cNvCxnSpPr/>
          <p:nvPr/>
        </p:nvCxnSpPr>
        <p:spPr>
          <a:xfrm>
            <a:off x="4704588" y="2048256"/>
            <a:ext cx="164592" cy="91440"/>
          </a:xfrm>
          <a:prstGeom prst="line">
            <a:avLst/>
          </a:prstGeom>
          <a:ln w="15875">
            <a:solidFill>
              <a:srgbClr val="0F172A"/>
            </a:solidFill>
          </a:ln>
        </p:spPr>
      </p:cxnSp>
      <p:sp>
        <p:nvSpPr>
          <p:cNvPr id="24" name="a2u_r23"/>
          <p:cNvSpPr/>
          <p:nvPr/>
        </p:nvSpPr>
        <p:spPr>
          <a:xfrm>
            <a:off x="4553712" y="1997964"/>
            <a:ext cx="100584" cy="100584"/>
          </a:xfrm>
          <a:prstGeom prst="ellipse">
            <a:avLst/>
          </a:prstGeom>
          <a:solidFill>
            <a:srgbClr val="FFFFFF"/>
          </a:solidFill>
          <a:ln w="15875">
            <a:solidFill>
              <a:srgbClr val="0F172A"/>
            </a:solidFill>
            <a:prstDash val="solid"/>
          </a:ln>
        </p:spPr>
      </p:sp>
      <p:sp>
        <p:nvSpPr>
          <p:cNvPr id="25" name="a2u_e24"/>
          <p:cNvSpPr txBox="1"/>
          <p:nvPr/>
        </p:nvSpPr>
        <p:spPr>
          <a:xfrm>
            <a:off x="3451860" y="2423160"/>
            <a:ext cx="2240280" cy="731520"/>
          </a:xfrm>
          <a:prstGeom prst="rect">
            <a:avLst/>
          </a:prstGeom>
          <a:noFill/>
          <a:ln/>
        </p:spPr>
        <p:txBody>
          <a:bodyPr wrap="square" lIns="0" tIns="0" rIns="0" bIns="0" rtlCol="0" anchor="t"/>
          <a:lstStyle/>
          <a:p>
            <a:pPr marL="0" indent="0">
              <a:buNone/>
            </a:pPr>
            <a:r>
              <a:rPr lang="en-US" sz="1150" dirty="0">
                <a:solidFill>
                  <a:srgbClr val="334155"/>
                </a:solidFill>
                <a:latin typeface="Calibri" pitchFamily="34" charset="0"/>
                <a:ea typeface="Calibri" pitchFamily="34" charset="-122"/>
                <a:cs typeface="Calibri" pitchFamily="34" charset="-120"/>
              </a:rPr>
              <a:t>One customer holds many accounts</a:t>
            </a:r>
            <a:endParaRPr lang="en-US" sz="1150" dirty="0"/>
          </a:p>
        </p:txBody>
      </p:sp>
      <p:sp>
        <p:nvSpPr>
          <p:cNvPr id="26" name="a2u_i25"/>
          <p:cNvSpPr txBox="1"/>
          <p:nvPr/>
        </p:nvSpPr>
        <p:spPr>
          <a:xfrm>
            <a:off x="3406140" y="3520440"/>
            <a:ext cx="2331720" cy="868680"/>
          </a:xfrm>
          <a:prstGeom prst="roundRect">
            <a:avLst>
              <a:gd name="adj" fmla="val 8000"/>
            </a:avLst>
          </a:prstGeom>
          <a:solidFill>
            <a:srgbClr val="F8FAFC"/>
          </a:solidFill>
          <a:ln w="12700">
            <a:solidFill>
              <a:srgbClr val="E2E8F0"/>
            </a:solidFill>
            <a:prstDash val="solid"/>
          </a:ln>
        </p:spPr>
        <p:txBody>
          <a:bodyPr wrap="square" lIns="109728" tIns="73152" rIns="91440" bIns="45720" rtlCol="0" anchor="t"/>
          <a:lstStyle/>
          <a:p>
            <a:pPr marL="0" indent="0">
              <a:buNone/>
            </a:pPr>
            <a:r>
              <a:rPr lang="en-US" sz="1000" dirty="0">
                <a:solidFill>
                  <a:srgbClr val="64748B"/>
                </a:solidFill>
                <a:latin typeface="Calibri" pitchFamily="34" charset="0"/>
                <a:ea typeface="Calibri" pitchFamily="34" charset="-122"/>
                <a:cs typeface="Calibri" pitchFamily="34" charset="-120"/>
              </a:rPr>
              <a:t>Implement as
</a:t>
            </a:r>
            <a:r>
              <a:rPr lang="en-US" sz="1250" b="1" dirty="0">
                <a:solidFill>
                  <a:srgbClr val="B45309"/>
                </a:solidFill>
                <a:latin typeface="Calibri" pitchFamily="34" charset="0"/>
                <a:ea typeface="Calibri" pitchFamily="34" charset="-122"/>
                <a:cs typeface="Calibri" pitchFamily="34" charset="-120"/>
              </a:rPr>
              <a:t>FK on the many side</a:t>
            </a:r>
            <a:endParaRPr lang="en-US" sz="1000" dirty="0"/>
          </a:p>
        </p:txBody>
      </p:sp>
      <p:sp>
        <p:nvSpPr>
          <p:cNvPr id="27" name="a3u_c26"/>
          <p:cNvSpPr/>
          <p:nvPr/>
        </p:nvSpPr>
        <p:spPr>
          <a:xfrm>
            <a:off x="6080760" y="1234440"/>
            <a:ext cx="2606040" cy="3383280"/>
          </a:xfrm>
          <a:prstGeom prst="roundRect">
            <a:avLst>
              <a:gd name="adj" fmla="val 6000"/>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sp>
        <p:nvSpPr>
          <p:cNvPr id="28" name="a3u_k27"/>
          <p:cNvSpPr txBox="1"/>
          <p:nvPr/>
        </p:nvSpPr>
        <p:spPr>
          <a:xfrm>
            <a:off x="6263640" y="1371600"/>
            <a:ext cx="1554480" cy="292608"/>
          </a:xfrm>
          <a:prstGeom prst="roundRect">
            <a:avLst>
              <a:gd name="adj" fmla="val 50000"/>
            </a:avLst>
          </a:prstGeom>
          <a:solidFill>
            <a:srgbClr val="6D28D9"/>
          </a:solidFill>
          <a:ln w="12700">
            <a:solidFill>
              <a:srgbClr val="6D28D9"/>
            </a:solidFill>
            <a:prstDash val="solid"/>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MANY TO MANY</a:t>
            </a:r>
            <a:endParaRPr lang="en-US" sz="1050" dirty="0"/>
          </a:p>
        </p:txBody>
      </p:sp>
      <p:sp>
        <p:nvSpPr>
          <p:cNvPr id="29" name="a3u_b28"/>
          <p:cNvSpPr txBox="1"/>
          <p:nvPr/>
        </p:nvSpPr>
        <p:spPr>
          <a:xfrm>
            <a:off x="6217920" y="1874520"/>
            <a:ext cx="868680" cy="347472"/>
          </a:xfrm>
          <a:prstGeom prst="roundRect">
            <a:avLst>
              <a:gd name="adj" fmla="val 14000"/>
            </a:avLst>
          </a:prstGeom>
          <a:solidFill>
            <a:srgbClr val="EDE9FE"/>
          </a:solidFill>
          <a:ln w="9525">
            <a:solidFill>
              <a:srgbClr val="6D28D9"/>
            </a:solidFill>
            <a:prstDash val="solid"/>
          </a:ln>
        </p:spPr>
        <p:txBody>
          <a:bodyPr wrap="square" lIns="0" tIns="0" rIns="0" bIns="0" rtlCol="0" anchor="ctr"/>
          <a:lstStyle/>
          <a:p>
            <a:pPr marL="0" indent="0" algn="ctr">
              <a:buNone/>
            </a:pPr>
            <a:r>
              <a:rPr lang="en-US" sz="1000" b="1" dirty="0">
                <a:solidFill>
                  <a:srgbClr val="0F172A"/>
                </a:solidFill>
                <a:latin typeface="Calibri" pitchFamily="34" charset="0"/>
                <a:ea typeface="Calibri" pitchFamily="34" charset="-122"/>
                <a:cs typeface="Calibri" pitchFamily="34" charset="-120"/>
              </a:rPr>
              <a:t>CUSTOMER</a:t>
            </a:r>
            <a:endParaRPr lang="en-US" sz="1000" dirty="0"/>
          </a:p>
        </p:txBody>
      </p:sp>
      <p:sp>
        <p:nvSpPr>
          <p:cNvPr id="30" name="a3u_b29"/>
          <p:cNvSpPr txBox="1"/>
          <p:nvPr/>
        </p:nvSpPr>
        <p:spPr>
          <a:xfrm>
            <a:off x="7680960" y="1874520"/>
            <a:ext cx="868680" cy="347472"/>
          </a:xfrm>
          <a:prstGeom prst="roundRect">
            <a:avLst>
              <a:gd name="adj" fmla="val 14000"/>
            </a:avLst>
          </a:prstGeom>
          <a:solidFill>
            <a:srgbClr val="EDE9FE"/>
          </a:solidFill>
          <a:ln w="9525">
            <a:solidFill>
              <a:srgbClr val="6D28D9"/>
            </a:solidFill>
            <a:prstDash val="solid"/>
          </a:ln>
        </p:spPr>
        <p:txBody>
          <a:bodyPr wrap="square" lIns="0" tIns="0" rIns="0" bIns="0" rtlCol="0" anchor="ctr"/>
          <a:lstStyle/>
          <a:p>
            <a:pPr marL="0" indent="0" algn="ctr">
              <a:buNone/>
            </a:pPr>
            <a:r>
              <a:rPr lang="en-US" sz="1000" b="1" dirty="0">
                <a:solidFill>
                  <a:srgbClr val="0F172A"/>
                </a:solidFill>
                <a:latin typeface="Calibri" pitchFamily="34" charset="0"/>
                <a:ea typeface="Calibri" pitchFamily="34" charset="-122"/>
                <a:cs typeface="Calibri" pitchFamily="34" charset="-120"/>
              </a:rPr>
              <a:t>PRODUCT</a:t>
            </a:r>
            <a:endParaRPr lang="en-US" sz="1000" dirty="0"/>
          </a:p>
        </p:txBody>
      </p:sp>
      <p:cxnSp>
        <p:nvCxnSpPr>
          <p:cNvPr id="31" name="a3u_r30"/>
          <p:cNvCxnSpPr/>
          <p:nvPr/>
        </p:nvCxnSpPr>
        <p:spPr>
          <a:xfrm>
            <a:off x="7086600" y="2048256"/>
            <a:ext cx="594360" cy="0"/>
          </a:xfrm>
          <a:prstGeom prst="line">
            <a:avLst/>
          </a:prstGeom>
          <a:ln w="15875">
            <a:solidFill>
              <a:srgbClr val="0F172A"/>
            </a:solidFill>
          </a:ln>
        </p:spPr>
      </p:cxnSp>
      <p:cxnSp>
        <p:nvCxnSpPr>
          <p:cNvPr id="32" name="a3u_r31"/>
          <p:cNvCxnSpPr/>
          <p:nvPr/>
        </p:nvCxnSpPr>
        <p:spPr>
          <a:xfrm flipH="1">
            <a:off x="7086600" y="2048256"/>
            <a:ext cx="164592" cy="91440"/>
          </a:xfrm>
          <a:prstGeom prst="line">
            <a:avLst/>
          </a:prstGeom>
          <a:ln w="15875">
            <a:solidFill>
              <a:srgbClr val="0F172A"/>
            </a:solidFill>
          </a:ln>
        </p:spPr>
      </p:cxnSp>
      <p:cxnSp>
        <p:nvCxnSpPr>
          <p:cNvPr id="33" name="a3u_r32"/>
          <p:cNvCxnSpPr/>
          <p:nvPr/>
        </p:nvCxnSpPr>
        <p:spPr>
          <a:xfrm flipH="1" flipV="1">
            <a:off x="7086600" y="1956816"/>
            <a:ext cx="164592" cy="91440"/>
          </a:xfrm>
          <a:prstGeom prst="line">
            <a:avLst/>
          </a:prstGeom>
          <a:ln w="15875">
            <a:solidFill>
              <a:srgbClr val="0F172A"/>
            </a:solidFill>
          </a:ln>
        </p:spPr>
      </p:cxnSp>
      <p:sp>
        <p:nvSpPr>
          <p:cNvPr id="34" name="a3u_r33"/>
          <p:cNvSpPr/>
          <p:nvPr/>
        </p:nvSpPr>
        <p:spPr>
          <a:xfrm>
            <a:off x="7301484" y="1997964"/>
            <a:ext cx="100584" cy="100584"/>
          </a:xfrm>
          <a:prstGeom prst="ellipse">
            <a:avLst/>
          </a:prstGeom>
          <a:solidFill>
            <a:srgbClr val="FFFFFF"/>
          </a:solidFill>
          <a:ln w="15875">
            <a:solidFill>
              <a:srgbClr val="0F172A"/>
            </a:solidFill>
            <a:prstDash val="solid"/>
          </a:ln>
        </p:spPr>
      </p:sp>
      <p:cxnSp>
        <p:nvCxnSpPr>
          <p:cNvPr id="35" name="a3u_r34"/>
          <p:cNvCxnSpPr/>
          <p:nvPr/>
        </p:nvCxnSpPr>
        <p:spPr>
          <a:xfrm flipV="1">
            <a:off x="7516368" y="1956816"/>
            <a:ext cx="164592" cy="91440"/>
          </a:xfrm>
          <a:prstGeom prst="line">
            <a:avLst/>
          </a:prstGeom>
          <a:ln w="15875">
            <a:solidFill>
              <a:srgbClr val="0F172A"/>
            </a:solidFill>
          </a:ln>
        </p:spPr>
      </p:cxnSp>
      <p:cxnSp>
        <p:nvCxnSpPr>
          <p:cNvPr id="36" name="a3u_r35"/>
          <p:cNvCxnSpPr/>
          <p:nvPr/>
        </p:nvCxnSpPr>
        <p:spPr>
          <a:xfrm>
            <a:off x="7516368" y="2048256"/>
            <a:ext cx="164592" cy="91440"/>
          </a:xfrm>
          <a:prstGeom prst="line">
            <a:avLst/>
          </a:prstGeom>
          <a:ln w="15875">
            <a:solidFill>
              <a:srgbClr val="0F172A"/>
            </a:solidFill>
          </a:ln>
        </p:spPr>
      </p:cxnSp>
      <p:sp>
        <p:nvSpPr>
          <p:cNvPr id="37" name="a3u_r36"/>
          <p:cNvSpPr/>
          <p:nvPr/>
        </p:nvSpPr>
        <p:spPr>
          <a:xfrm>
            <a:off x="7365492" y="1997964"/>
            <a:ext cx="100584" cy="100584"/>
          </a:xfrm>
          <a:prstGeom prst="ellipse">
            <a:avLst/>
          </a:prstGeom>
          <a:solidFill>
            <a:srgbClr val="FFFFFF"/>
          </a:solidFill>
          <a:ln w="15875">
            <a:solidFill>
              <a:srgbClr val="0F172A"/>
            </a:solidFill>
            <a:prstDash val="solid"/>
          </a:ln>
        </p:spPr>
      </p:sp>
      <p:sp>
        <p:nvSpPr>
          <p:cNvPr id="38" name="a3u_e37"/>
          <p:cNvSpPr txBox="1"/>
          <p:nvPr/>
        </p:nvSpPr>
        <p:spPr>
          <a:xfrm>
            <a:off x="6263640" y="2423160"/>
            <a:ext cx="2240280" cy="731520"/>
          </a:xfrm>
          <a:prstGeom prst="rect">
            <a:avLst/>
          </a:prstGeom>
          <a:noFill/>
          <a:ln/>
        </p:spPr>
        <p:txBody>
          <a:bodyPr wrap="square" lIns="0" tIns="0" rIns="0" bIns="0" rtlCol="0" anchor="t"/>
          <a:lstStyle/>
          <a:p>
            <a:pPr marL="0" indent="0">
              <a:buNone/>
            </a:pPr>
            <a:r>
              <a:rPr lang="en-US" sz="1150" dirty="0">
                <a:solidFill>
                  <a:srgbClr val="334155"/>
                </a:solidFill>
                <a:latin typeface="Calibri" pitchFamily="34" charset="0"/>
                <a:ea typeface="Calibri" pitchFamily="34" charset="-122"/>
                <a:cs typeface="Calibri" pitchFamily="34" charset="-120"/>
              </a:rPr>
              <a:t>Customers hold many products; products have many customers</a:t>
            </a:r>
            <a:endParaRPr lang="en-US" sz="1150" dirty="0"/>
          </a:p>
        </p:txBody>
      </p:sp>
      <p:sp>
        <p:nvSpPr>
          <p:cNvPr id="39" name="a3u_i38"/>
          <p:cNvSpPr txBox="1"/>
          <p:nvPr/>
        </p:nvSpPr>
        <p:spPr>
          <a:xfrm>
            <a:off x="6217920" y="3520440"/>
            <a:ext cx="2331720" cy="868680"/>
          </a:xfrm>
          <a:prstGeom prst="roundRect">
            <a:avLst>
              <a:gd name="adj" fmla="val 8000"/>
            </a:avLst>
          </a:prstGeom>
          <a:solidFill>
            <a:srgbClr val="F8FAFC"/>
          </a:solidFill>
          <a:ln w="12700">
            <a:solidFill>
              <a:srgbClr val="E2E8F0"/>
            </a:solidFill>
            <a:prstDash val="solid"/>
          </a:ln>
        </p:spPr>
        <p:txBody>
          <a:bodyPr wrap="square" lIns="109728" tIns="73152" rIns="91440" bIns="45720" rtlCol="0" anchor="t"/>
          <a:lstStyle/>
          <a:p>
            <a:pPr marL="0" indent="0">
              <a:buNone/>
            </a:pPr>
            <a:r>
              <a:rPr lang="en-US" sz="1000" dirty="0">
                <a:solidFill>
                  <a:srgbClr val="64748B"/>
                </a:solidFill>
                <a:latin typeface="Calibri" pitchFamily="34" charset="0"/>
                <a:ea typeface="Calibri" pitchFamily="34" charset="-122"/>
                <a:cs typeface="Calibri" pitchFamily="34" charset="-120"/>
              </a:rPr>
              <a:t>Implement as
</a:t>
            </a:r>
            <a:r>
              <a:rPr lang="en-US" sz="1250" b="1" dirty="0">
                <a:solidFill>
                  <a:srgbClr val="6D28D9"/>
                </a:solidFill>
                <a:latin typeface="Calibri" pitchFamily="34" charset="0"/>
                <a:ea typeface="Calibri" pitchFamily="34" charset="-122"/>
                <a:cs typeface="Calibri" pitchFamily="34" charset="-120"/>
              </a:rPr>
              <a:t>A junction table (Section 04)</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ppt_y+0.1"/>
                                          </p:val>
                                        </p:tav>
                                        <p:tav tm="100000">
                                          <p:val>
                                            <p:strVal val="#ppt_y"/>
                                          </p:val>
                                        </p:tav>
                                      </p:tavLst>
                                    </p:anim>
                                    <p:animEffect transition="in" filter="fade">
                                      <p:cBhvr>
                                        <p:cTn id="9" dur="500"/>
                                        <p:tgtEl>
                                          <p:spTgt spid="4"/>
                                        </p:tgtEl>
                                      </p:cBhvr>
                                    </p:animEffect>
                                  </p:childTnLst>
                                </p:cTn>
                              </p:par>
                              <p:par>
                                <p:cTn id="10" presetID="2" presetClass="entr" presetSubtype="4"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ppt_y+0.1"/>
                                          </p:val>
                                        </p:tav>
                                        <p:tav tm="100000">
                                          <p:val>
                                            <p:strVal val="#ppt_y"/>
                                          </p:val>
                                        </p:tav>
                                      </p:tavLst>
                                    </p:anim>
                                    <p:animEffect transition="in" filter="fade">
                                      <p:cBhvr>
                                        <p:cTn id="14" dur="500"/>
                                        <p:tgtEl>
                                          <p:spTgt spid="5"/>
                                        </p:tgtEl>
                                      </p:cBhvr>
                                    </p:animEffect>
                                  </p:childTnLst>
                                </p:cTn>
                              </p:par>
                              <p:par>
                                <p:cTn id="15" presetID="2" presetClass="entr" presetSubtype="4"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ppt_y+0.1"/>
                                          </p:val>
                                        </p:tav>
                                        <p:tav tm="100000">
                                          <p:val>
                                            <p:strVal val="#ppt_y"/>
                                          </p:val>
                                        </p:tav>
                                      </p:tavLst>
                                    </p:anim>
                                    <p:animEffect transition="in" filter="fade">
                                      <p:cBhvr>
                                        <p:cTn id="19" dur="500"/>
                                        <p:tgtEl>
                                          <p:spTgt spid="6"/>
                                        </p:tgtEl>
                                      </p:cBhvr>
                                    </p:animEffect>
                                  </p:childTnLst>
                                </p:cTn>
                              </p:par>
                              <p:par>
                                <p:cTn id="20" presetID="2" presetClass="entr" presetSubtype="4"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ppt_y+0.1"/>
                                          </p:val>
                                        </p:tav>
                                        <p:tav tm="100000">
                                          <p:val>
                                            <p:strVal val="#ppt_y"/>
                                          </p:val>
                                        </p:tav>
                                      </p:tavLst>
                                    </p:anim>
                                    <p:animEffect transition="in" filter="fade">
                                      <p:cBhvr>
                                        <p:cTn id="24" dur="500"/>
                                        <p:tgtEl>
                                          <p:spTgt spid="7"/>
                                        </p:tgtEl>
                                      </p:cBhvr>
                                    </p:animEffect>
                                  </p:childTnLst>
                                </p:cTn>
                              </p:par>
                              <p:par>
                                <p:cTn id="25" presetID="2" presetClass="entr" presetSubtype="4"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ppt_y+0.1"/>
                                          </p:val>
                                        </p:tav>
                                        <p:tav tm="100000">
                                          <p:val>
                                            <p:strVal val="#ppt_y"/>
                                          </p:val>
                                        </p:tav>
                                      </p:tavLst>
                                    </p:anim>
                                    <p:animEffect transition="in" filter="fade">
                                      <p:cBhvr>
                                        <p:cTn id="29" dur="500"/>
                                        <p:tgtEl>
                                          <p:spTgt spid="8"/>
                                        </p:tgtEl>
                                      </p:cBhvr>
                                    </p:animEffect>
                                  </p:childTnLst>
                                </p:cTn>
                              </p:par>
                              <p:par>
                                <p:cTn id="30" presetID="2" presetClass="entr" presetSubtype="4" fill="hold"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00" fill="hold"/>
                                        <p:tgtEl>
                                          <p:spTgt spid="9"/>
                                        </p:tgtEl>
                                        <p:attrNameLst>
                                          <p:attrName>ppt_x</p:attrName>
                                        </p:attrNameLst>
                                      </p:cBhvr>
                                      <p:tavLst>
                                        <p:tav tm="0">
                                          <p:val>
                                            <p:strVal val="#ppt_x"/>
                                          </p:val>
                                        </p:tav>
                                        <p:tav tm="100000">
                                          <p:val>
                                            <p:strVal val="#ppt_x"/>
                                          </p:val>
                                        </p:tav>
                                      </p:tavLst>
                                    </p:anim>
                                    <p:anim calcmode="lin" valueType="num">
                                      <p:cBhvr additive="base">
                                        <p:cTn id="33" dur="500" fill="hold"/>
                                        <p:tgtEl>
                                          <p:spTgt spid="9"/>
                                        </p:tgtEl>
                                        <p:attrNameLst>
                                          <p:attrName>ppt_y</p:attrName>
                                        </p:attrNameLst>
                                      </p:cBhvr>
                                      <p:tavLst>
                                        <p:tav tm="0">
                                          <p:val>
                                            <p:strVal val="#ppt_y+0.1"/>
                                          </p:val>
                                        </p:tav>
                                        <p:tav tm="100000">
                                          <p:val>
                                            <p:strVal val="#ppt_y"/>
                                          </p:val>
                                        </p:tav>
                                      </p:tavLst>
                                    </p:anim>
                                    <p:animEffect transition="in" filter="fade">
                                      <p:cBhvr>
                                        <p:cTn id="34" dur="500"/>
                                        <p:tgtEl>
                                          <p:spTgt spid="9"/>
                                        </p:tgtEl>
                                      </p:cBhvr>
                                    </p:animEffect>
                                  </p:childTnLst>
                                </p:cTn>
                              </p:par>
                              <p:par>
                                <p:cTn id="35" presetID="2" presetClass="entr" presetSubtype="4" fill="hold" nodeType="with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ppt_x"/>
                                          </p:val>
                                        </p:tav>
                                        <p:tav tm="100000">
                                          <p:val>
                                            <p:strVal val="#ppt_x"/>
                                          </p:val>
                                        </p:tav>
                                      </p:tavLst>
                                    </p:anim>
                                    <p:anim calcmode="lin" valueType="num">
                                      <p:cBhvr additive="base">
                                        <p:cTn id="38" dur="500" fill="hold"/>
                                        <p:tgtEl>
                                          <p:spTgt spid="10"/>
                                        </p:tgtEl>
                                        <p:attrNameLst>
                                          <p:attrName>ppt_y</p:attrName>
                                        </p:attrNameLst>
                                      </p:cBhvr>
                                      <p:tavLst>
                                        <p:tav tm="0">
                                          <p:val>
                                            <p:strVal val="#ppt_y+0.1"/>
                                          </p:val>
                                        </p:tav>
                                        <p:tav tm="100000">
                                          <p:val>
                                            <p:strVal val="#ppt_y"/>
                                          </p:val>
                                        </p:tav>
                                      </p:tavLst>
                                    </p:anim>
                                    <p:animEffect transition="in" filter="fade">
                                      <p:cBhvr>
                                        <p:cTn id="39" dur="500"/>
                                        <p:tgtEl>
                                          <p:spTgt spid="10"/>
                                        </p:tgtEl>
                                      </p:cBhvr>
                                    </p:animEffect>
                                  </p:childTnLst>
                                </p:cTn>
                              </p:par>
                              <p:par>
                                <p:cTn id="40" presetID="2" presetClass="entr" presetSubtype="4" fill="hold" nodeType="with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additive="base">
                                        <p:cTn id="42" dur="500" fill="hold"/>
                                        <p:tgtEl>
                                          <p:spTgt spid="11"/>
                                        </p:tgtEl>
                                        <p:attrNameLst>
                                          <p:attrName>ppt_x</p:attrName>
                                        </p:attrNameLst>
                                      </p:cBhvr>
                                      <p:tavLst>
                                        <p:tav tm="0">
                                          <p:val>
                                            <p:strVal val="#ppt_x"/>
                                          </p:val>
                                        </p:tav>
                                        <p:tav tm="100000">
                                          <p:val>
                                            <p:strVal val="#ppt_x"/>
                                          </p:val>
                                        </p:tav>
                                      </p:tavLst>
                                    </p:anim>
                                    <p:anim calcmode="lin" valueType="num">
                                      <p:cBhvr additive="base">
                                        <p:cTn id="43" dur="500" fill="hold"/>
                                        <p:tgtEl>
                                          <p:spTgt spid="11"/>
                                        </p:tgtEl>
                                        <p:attrNameLst>
                                          <p:attrName>ppt_y</p:attrName>
                                        </p:attrNameLst>
                                      </p:cBhvr>
                                      <p:tavLst>
                                        <p:tav tm="0">
                                          <p:val>
                                            <p:strVal val="#ppt_y+0.1"/>
                                          </p:val>
                                        </p:tav>
                                        <p:tav tm="100000">
                                          <p:val>
                                            <p:strVal val="#ppt_y"/>
                                          </p:val>
                                        </p:tav>
                                      </p:tavLst>
                                    </p:anim>
                                    <p:animEffect transition="in" filter="fade">
                                      <p:cBhvr>
                                        <p:cTn id="44" dur="500"/>
                                        <p:tgtEl>
                                          <p:spTgt spid="11"/>
                                        </p:tgtEl>
                                      </p:cBhvr>
                                    </p:animEffect>
                                  </p:childTnLst>
                                </p:cTn>
                              </p:par>
                              <p:par>
                                <p:cTn id="45" presetID="2" presetClass="entr" presetSubtype="4"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500" fill="hold"/>
                                        <p:tgtEl>
                                          <p:spTgt spid="12"/>
                                        </p:tgtEl>
                                        <p:attrNameLst>
                                          <p:attrName>ppt_x</p:attrName>
                                        </p:attrNameLst>
                                      </p:cBhvr>
                                      <p:tavLst>
                                        <p:tav tm="0">
                                          <p:val>
                                            <p:strVal val="#ppt_x"/>
                                          </p:val>
                                        </p:tav>
                                        <p:tav tm="100000">
                                          <p:val>
                                            <p:strVal val="#ppt_x"/>
                                          </p:val>
                                        </p:tav>
                                      </p:tavLst>
                                    </p:anim>
                                    <p:anim calcmode="lin" valueType="num">
                                      <p:cBhvr additive="base">
                                        <p:cTn id="48" dur="500" fill="hold"/>
                                        <p:tgtEl>
                                          <p:spTgt spid="12"/>
                                        </p:tgtEl>
                                        <p:attrNameLst>
                                          <p:attrName>ppt_y</p:attrName>
                                        </p:attrNameLst>
                                      </p:cBhvr>
                                      <p:tavLst>
                                        <p:tav tm="0">
                                          <p:val>
                                            <p:strVal val="#ppt_y+0.1"/>
                                          </p:val>
                                        </p:tav>
                                        <p:tav tm="100000">
                                          <p:val>
                                            <p:strVal val="#ppt_y"/>
                                          </p:val>
                                        </p:tav>
                                      </p:tavLst>
                                    </p:anim>
                                    <p:animEffect transition="in" filter="fade">
                                      <p:cBhvr>
                                        <p:cTn id="49" dur="500"/>
                                        <p:tgtEl>
                                          <p:spTgt spid="12"/>
                                        </p:tgtEl>
                                      </p:cBhvr>
                                    </p:animEffect>
                                  </p:childTnLst>
                                </p:cTn>
                              </p:par>
                              <p:par>
                                <p:cTn id="50" presetID="2" presetClass="entr" presetSubtype="4" fill="hold" grpId="0" nodeType="withEffect">
                                  <p:stCondLst>
                                    <p:cond delay="0"/>
                                  </p:stCondLst>
                                  <p:childTnLst>
                                    <p:set>
                                      <p:cBhvr>
                                        <p:cTn id="51" dur="1" fill="hold">
                                          <p:stCondLst>
                                            <p:cond delay="0"/>
                                          </p:stCondLst>
                                        </p:cTn>
                                        <p:tgtEl>
                                          <p:spTgt spid="13"/>
                                        </p:tgtEl>
                                        <p:attrNameLst>
                                          <p:attrName>style.visibility</p:attrName>
                                        </p:attrNameLst>
                                      </p:cBhvr>
                                      <p:to>
                                        <p:strVal val="visible"/>
                                      </p:to>
                                    </p:set>
                                    <p:anim calcmode="lin" valueType="num">
                                      <p:cBhvr additive="base">
                                        <p:cTn id="52" dur="500" fill="hold"/>
                                        <p:tgtEl>
                                          <p:spTgt spid="13"/>
                                        </p:tgtEl>
                                        <p:attrNameLst>
                                          <p:attrName>ppt_x</p:attrName>
                                        </p:attrNameLst>
                                      </p:cBhvr>
                                      <p:tavLst>
                                        <p:tav tm="0">
                                          <p:val>
                                            <p:strVal val="#ppt_x"/>
                                          </p:val>
                                        </p:tav>
                                        <p:tav tm="100000">
                                          <p:val>
                                            <p:strVal val="#ppt_x"/>
                                          </p:val>
                                        </p:tav>
                                      </p:tavLst>
                                    </p:anim>
                                    <p:anim calcmode="lin" valueType="num">
                                      <p:cBhvr additive="base">
                                        <p:cTn id="53" dur="500" fill="hold"/>
                                        <p:tgtEl>
                                          <p:spTgt spid="13"/>
                                        </p:tgtEl>
                                        <p:attrNameLst>
                                          <p:attrName>ppt_y</p:attrName>
                                        </p:attrNameLst>
                                      </p:cBhvr>
                                      <p:tavLst>
                                        <p:tav tm="0">
                                          <p:val>
                                            <p:strVal val="#ppt_y+0.1"/>
                                          </p:val>
                                        </p:tav>
                                        <p:tav tm="100000">
                                          <p:val>
                                            <p:strVal val="#ppt_y"/>
                                          </p:val>
                                        </p:tav>
                                      </p:tavLst>
                                    </p:anim>
                                    <p:animEffect transition="in" filter="fade">
                                      <p:cBhvr>
                                        <p:cTn id="54" dur="500"/>
                                        <p:tgtEl>
                                          <p:spTgt spid="13"/>
                                        </p:tgtEl>
                                      </p:cBhvr>
                                    </p:animEffect>
                                  </p:childTnLst>
                                </p:cTn>
                              </p:par>
                              <p:par>
                                <p:cTn id="55" presetID="2" presetClass="entr" presetSubtype="4" fill="hold" grpId="0" nodeType="withEffect">
                                  <p:stCondLst>
                                    <p:cond delay="0"/>
                                  </p:stCondLst>
                                  <p:childTnLst>
                                    <p:set>
                                      <p:cBhvr>
                                        <p:cTn id="56" dur="1" fill="hold">
                                          <p:stCondLst>
                                            <p:cond delay="0"/>
                                          </p:stCondLst>
                                        </p:cTn>
                                        <p:tgtEl>
                                          <p:spTgt spid="14"/>
                                        </p:tgtEl>
                                        <p:attrNameLst>
                                          <p:attrName>style.visibility</p:attrName>
                                        </p:attrNameLst>
                                      </p:cBhvr>
                                      <p:to>
                                        <p:strVal val="visible"/>
                                      </p:to>
                                    </p:set>
                                    <p:anim calcmode="lin" valueType="num">
                                      <p:cBhvr additive="base">
                                        <p:cTn id="57" dur="500" fill="hold"/>
                                        <p:tgtEl>
                                          <p:spTgt spid="14"/>
                                        </p:tgtEl>
                                        <p:attrNameLst>
                                          <p:attrName>ppt_x</p:attrName>
                                        </p:attrNameLst>
                                      </p:cBhvr>
                                      <p:tavLst>
                                        <p:tav tm="0">
                                          <p:val>
                                            <p:strVal val="#ppt_x"/>
                                          </p:val>
                                        </p:tav>
                                        <p:tav tm="100000">
                                          <p:val>
                                            <p:strVal val="#ppt_x"/>
                                          </p:val>
                                        </p:tav>
                                      </p:tavLst>
                                    </p:anim>
                                    <p:anim calcmode="lin" valueType="num">
                                      <p:cBhvr additive="base">
                                        <p:cTn id="58" dur="500" fill="hold"/>
                                        <p:tgtEl>
                                          <p:spTgt spid="14"/>
                                        </p:tgtEl>
                                        <p:attrNameLst>
                                          <p:attrName>ppt_y</p:attrName>
                                        </p:attrNameLst>
                                      </p:cBhvr>
                                      <p:tavLst>
                                        <p:tav tm="0">
                                          <p:val>
                                            <p:strVal val="#ppt_y+0.1"/>
                                          </p:val>
                                        </p:tav>
                                        <p:tav tm="100000">
                                          <p:val>
                                            <p:strVal val="#ppt_y"/>
                                          </p:val>
                                        </p:tav>
                                      </p:tavLst>
                                    </p:anim>
                                    <p:animEffect transition="in" filter="fade">
                                      <p:cBhvr>
                                        <p:cTn id="59" dur="500"/>
                                        <p:tgtEl>
                                          <p:spTgt spid="14"/>
                                        </p:tgtEl>
                                      </p:cBhvr>
                                    </p:animEffect>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grpId="0" nodeType="clickEffect">
                                  <p:stCondLst>
                                    <p:cond delay="0"/>
                                  </p:stCondLst>
                                  <p:childTnLst>
                                    <p:set>
                                      <p:cBhvr>
                                        <p:cTn id="63" dur="1" fill="hold">
                                          <p:stCondLst>
                                            <p:cond delay="0"/>
                                          </p:stCondLst>
                                        </p:cTn>
                                        <p:tgtEl>
                                          <p:spTgt spid="15"/>
                                        </p:tgtEl>
                                        <p:attrNameLst>
                                          <p:attrName>style.visibility</p:attrName>
                                        </p:attrNameLst>
                                      </p:cBhvr>
                                      <p:to>
                                        <p:strVal val="visible"/>
                                      </p:to>
                                    </p:set>
                                    <p:anim calcmode="lin" valueType="num">
                                      <p:cBhvr additive="base">
                                        <p:cTn id="64" dur="500" fill="hold"/>
                                        <p:tgtEl>
                                          <p:spTgt spid="15"/>
                                        </p:tgtEl>
                                        <p:attrNameLst>
                                          <p:attrName>ppt_x</p:attrName>
                                        </p:attrNameLst>
                                      </p:cBhvr>
                                      <p:tavLst>
                                        <p:tav tm="0">
                                          <p:val>
                                            <p:strVal val="#ppt_x"/>
                                          </p:val>
                                        </p:tav>
                                        <p:tav tm="100000">
                                          <p:val>
                                            <p:strVal val="#ppt_x"/>
                                          </p:val>
                                        </p:tav>
                                      </p:tavLst>
                                    </p:anim>
                                    <p:anim calcmode="lin" valueType="num">
                                      <p:cBhvr additive="base">
                                        <p:cTn id="65" dur="500" fill="hold"/>
                                        <p:tgtEl>
                                          <p:spTgt spid="15"/>
                                        </p:tgtEl>
                                        <p:attrNameLst>
                                          <p:attrName>ppt_y</p:attrName>
                                        </p:attrNameLst>
                                      </p:cBhvr>
                                      <p:tavLst>
                                        <p:tav tm="0">
                                          <p:val>
                                            <p:strVal val="#ppt_y+0.1"/>
                                          </p:val>
                                        </p:tav>
                                        <p:tav tm="100000">
                                          <p:val>
                                            <p:strVal val="#ppt_y"/>
                                          </p:val>
                                        </p:tav>
                                      </p:tavLst>
                                    </p:anim>
                                    <p:animEffect transition="in" filter="fade">
                                      <p:cBhvr>
                                        <p:cTn id="66" dur="500"/>
                                        <p:tgtEl>
                                          <p:spTgt spid="15"/>
                                        </p:tgtEl>
                                      </p:cBhvr>
                                    </p:animEffect>
                                  </p:childTnLst>
                                </p:cTn>
                              </p:par>
                              <p:par>
                                <p:cTn id="67" presetID="2" presetClass="entr" presetSubtype="4" fill="hold" grpId="0" nodeType="withEffect">
                                  <p:stCondLst>
                                    <p:cond delay="0"/>
                                  </p:stCondLst>
                                  <p:childTnLst>
                                    <p:set>
                                      <p:cBhvr>
                                        <p:cTn id="68" dur="1" fill="hold">
                                          <p:stCondLst>
                                            <p:cond delay="0"/>
                                          </p:stCondLst>
                                        </p:cTn>
                                        <p:tgtEl>
                                          <p:spTgt spid="16"/>
                                        </p:tgtEl>
                                        <p:attrNameLst>
                                          <p:attrName>style.visibility</p:attrName>
                                        </p:attrNameLst>
                                      </p:cBhvr>
                                      <p:to>
                                        <p:strVal val="visible"/>
                                      </p:to>
                                    </p:set>
                                    <p:anim calcmode="lin" valueType="num">
                                      <p:cBhvr additive="base">
                                        <p:cTn id="69" dur="500" fill="hold"/>
                                        <p:tgtEl>
                                          <p:spTgt spid="16"/>
                                        </p:tgtEl>
                                        <p:attrNameLst>
                                          <p:attrName>ppt_x</p:attrName>
                                        </p:attrNameLst>
                                      </p:cBhvr>
                                      <p:tavLst>
                                        <p:tav tm="0">
                                          <p:val>
                                            <p:strVal val="#ppt_x"/>
                                          </p:val>
                                        </p:tav>
                                        <p:tav tm="100000">
                                          <p:val>
                                            <p:strVal val="#ppt_x"/>
                                          </p:val>
                                        </p:tav>
                                      </p:tavLst>
                                    </p:anim>
                                    <p:anim calcmode="lin" valueType="num">
                                      <p:cBhvr additive="base">
                                        <p:cTn id="70" dur="500" fill="hold"/>
                                        <p:tgtEl>
                                          <p:spTgt spid="16"/>
                                        </p:tgtEl>
                                        <p:attrNameLst>
                                          <p:attrName>ppt_y</p:attrName>
                                        </p:attrNameLst>
                                      </p:cBhvr>
                                      <p:tavLst>
                                        <p:tav tm="0">
                                          <p:val>
                                            <p:strVal val="#ppt_y+0.1"/>
                                          </p:val>
                                        </p:tav>
                                        <p:tav tm="100000">
                                          <p:val>
                                            <p:strVal val="#ppt_y"/>
                                          </p:val>
                                        </p:tav>
                                      </p:tavLst>
                                    </p:anim>
                                    <p:animEffect transition="in" filter="fade">
                                      <p:cBhvr>
                                        <p:cTn id="71" dur="500"/>
                                        <p:tgtEl>
                                          <p:spTgt spid="16"/>
                                        </p:tgtEl>
                                      </p:cBhvr>
                                    </p:animEffect>
                                  </p:childTnLst>
                                </p:cTn>
                              </p:par>
                              <p:par>
                                <p:cTn id="72" presetID="2" presetClass="entr" presetSubtype="4" fill="hold" grpId="0" nodeType="withEffect">
                                  <p:stCondLst>
                                    <p:cond delay="0"/>
                                  </p:stCondLst>
                                  <p:childTnLst>
                                    <p:set>
                                      <p:cBhvr>
                                        <p:cTn id="73" dur="1" fill="hold">
                                          <p:stCondLst>
                                            <p:cond delay="0"/>
                                          </p:stCondLst>
                                        </p:cTn>
                                        <p:tgtEl>
                                          <p:spTgt spid="17"/>
                                        </p:tgtEl>
                                        <p:attrNameLst>
                                          <p:attrName>style.visibility</p:attrName>
                                        </p:attrNameLst>
                                      </p:cBhvr>
                                      <p:to>
                                        <p:strVal val="visible"/>
                                      </p:to>
                                    </p:set>
                                    <p:anim calcmode="lin" valueType="num">
                                      <p:cBhvr additive="base">
                                        <p:cTn id="74" dur="500" fill="hold"/>
                                        <p:tgtEl>
                                          <p:spTgt spid="17"/>
                                        </p:tgtEl>
                                        <p:attrNameLst>
                                          <p:attrName>ppt_x</p:attrName>
                                        </p:attrNameLst>
                                      </p:cBhvr>
                                      <p:tavLst>
                                        <p:tav tm="0">
                                          <p:val>
                                            <p:strVal val="#ppt_x"/>
                                          </p:val>
                                        </p:tav>
                                        <p:tav tm="100000">
                                          <p:val>
                                            <p:strVal val="#ppt_x"/>
                                          </p:val>
                                        </p:tav>
                                      </p:tavLst>
                                    </p:anim>
                                    <p:anim calcmode="lin" valueType="num">
                                      <p:cBhvr additive="base">
                                        <p:cTn id="75" dur="500" fill="hold"/>
                                        <p:tgtEl>
                                          <p:spTgt spid="17"/>
                                        </p:tgtEl>
                                        <p:attrNameLst>
                                          <p:attrName>ppt_y</p:attrName>
                                        </p:attrNameLst>
                                      </p:cBhvr>
                                      <p:tavLst>
                                        <p:tav tm="0">
                                          <p:val>
                                            <p:strVal val="#ppt_y+0.1"/>
                                          </p:val>
                                        </p:tav>
                                        <p:tav tm="100000">
                                          <p:val>
                                            <p:strVal val="#ppt_y"/>
                                          </p:val>
                                        </p:tav>
                                      </p:tavLst>
                                    </p:anim>
                                    <p:animEffect transition="in" filter="fade">
                                      <p:cBhvr>
                                        <p:cTn id="76" dur="500"/>
                                        <p:tgtEl>
                                          <p:spTgt spid="17"/>
                                        </p:tgtEl>
                                      </p:cBhvr>
                                    </p:animEffect>
                                  </p:childTnLst>
                                </p:cTn>
                              </p:par>
                              <p:par>
                                <p:cTn id="77" presetID="2" presetClass="entr" presetSubtype="4" fill="hold" grpId="0" nodeType="withEffect">
                                  <p:stCondLst>
                                    <p:cond delay="0"/>
                                  </p:stCondLst>
                                  <p:childTnLst>
                                    <p:set>
                                      <p:cBhvr>
                                        <p:cTn id="78" dur="1" fill="hold">
                                          <p:stCondLst>
                                            <p:cond delay="0"/>
                                          </p:stCondLst>
                                        </p:cTn>
                                        <p:tgtEl>
                                          <p:spTgt spid="18"/>
                                        </p:tgtEl>
                                        <p:attrNameLst>
                                          <p:attrName>style.visibility</p:attrName>
                                        </p:attrNameLst>
                                      </p:cBhvr>
                                      <p:to>
                                        <p:strVal val="visible"/>
                                      </p:to>
                                    </p:set>
                                    <p:anim calcmode="lin" valueType="num">
                                      <p:cBhvr additive="base">
                                        <p:cTn id="79" dur="500" fill="hold"/>
                                        <p:tgtEl>
                                          <p:spTgt spid="18"/>
                                        </p:tgtEl>
                                        <p:attrNameLst>
                                          <p:attrName>ppt_x</p:attrName>
                                        </p:attrNameLst>
                                      </p:cBhvr>
                                      <p:tavLst>
                                        <p:tav tm="0">
                                          <p:val>
                                            <p:strVal val="#ppt_x"/>
                                          </p:val>
                                        </p:tav>
                                        <p:tav tm="100000">
                                          <p:val>
                                            <p:strVal val="#ppt_x"/>
                                          </p:val>
                                        </p:tav>
                                      </p:tavLst>
                                    </p:anim>
                                    <p:anim calcmode="lin" valueType="num">
                                      <p:cBhvr additive="base">
                                        <p:cTn id="80" dur="500" fill="hold"/>
                                        <p:tgtEl>
                                          <p:spTgt spid="18"/>
                                        </p:tgtEl>
                                        <p:attrNameLst>
                                          <p:attrName>ppt_y</p:attrName>
                                        </p:attrNameLst>
                                      </p:cBhvr>
                                      <p:tavLst>
                                        <p:tav tm="0">
                                          <p:val>
                                            <p:strVal val="#ppt_y+0.1"/>
                                          </p:val>
                                        </p:tav>
                                        <p:tav tm="100000">
                                          <p:val>
                                            <p:strVal val="#ppt_y"/>
                                          </p:val>
                                        </p:tav>
                                      </p:tavLst>
                                    </p:anim>
                                    <p:animEffect transition="in" filter="fade">
                                      <p:cBhvr>
                                        <p:cTn id="81" dur="500"/>
                                        <p:tgtEl>
                                          <p:spTgt spid="18"/>
                                        </p:tgtEl>
                                      </p:cBhvr>
                                    </p:animEffect>
                                  </p:childTnLst>
                                </p:cTn>
                              </p:par>
                              <p:par>
                                <p:cTn id="82" presetID="2" presetClass="entr" presetSubtype="4" fill="hold" nodeType="withEffect">
                                  <p:stCondLst>
                                    <p:cond delay="0"/>
                                  </p:stCondLst>
                                  <p:childTnLst>
                                    <p:set>
                                      <p:cBhvr>
                                        <p:cTn id="83" dur="1" fill="hold">
                                          <p:stCondLst>
                                            <p:cond delay="0"/>
                                          </p:stCondLst>
                                        </p:cTn>
                                        <p:tgtEl>
                                          <p:spTgt spid="19"/>
                                        </p:tgtEl>
                                        <p:attrNameLst>
                                          <p:attrName>style.visibility</p:attrName>
                                        </p:attrNameLst>
                                      </p:cBhvr>
                                      <p:to>
                                        <p:strVal val="visible"/>
                                      </p:to>
                                    </p:set>
                                    <p:anim calcmode="lin" valueType="num">
                                      <p:cBhvr additive="base">
                                        <p:cTn id="84" dur="500" fill="hold"/>
                                        <p:tgtEl>
                                          <p:spTgt spid="19"/>
                                        </p:tgtEl>
                                        <p:attrNameLst>
                                          <p:attrName>ppt_x</p:attrName>
                                        </p:attrNameLst>
                                      </p:cBhvr>
                                      <p:tavLst>
                                        <p:tav tm="0">
                                          <p:val>
                                            <p:strVal val="#ppt_x"/>
                                          </p:val>
                                        </p:tav>
                                        <p:tav tm="100000">
                                          <p:val>
                                            <p:strVal val="#ppt_x"/>
                                          </p:val>
                                        </p:tav>
                                      </p:tavLst>
                                    </p:anim>
                                    <p:anim calcmode="lin" valueType="num">
                                      <p:cBhvr additive="base">
                                        <p:cTn id="85" dur="500" fill="hold"/>
                                        <p:tgtEl>
                                          <p:spTgt spid="19"/>
                                        </p:tgtEl>
                                        <p:attrNameLst>
                                          <p:attrName>ppt_y</p:attrName>
                                        </p:attrNameLst>
                                      </p:cBhvr>
                                      <p:tavLst>
                                        <p:tav tm="0">
                                          <p:val>
                                            <p:strVal val="#ppt_y+0.1"/>
                                          </p:val>
                                        </p:tav>
                                        <p:tav tm="100000">
                                          <p:val>
                                            <p:strVal val="#ppt_y"/>
                                          </p:val>
                                        </p:tav>
                                      </p:tavLst>
                                    </p:anim>
                                    <p:animEffect transition="in" filter="fade">
                                      <p:cBhvr>
                                        <p:cTn id="86" dur="500"/>
                                        <p:tgtEl>
                                          <p:spTgt spid="19"/>
                                        </p:tgtEl>
                                      </p:cBhvr>
                                    </p:animEffect>
                                  </p:childTnLst>
                                </p:cTn>
                              </p:par>
                              <p:par>
                                <p:cTn id="87" presetID="2" presetClass="entr" presetSubtype="4" fill="hold" nodeType="withEffect">
                                  <p:stCondLst>
                                    <p:cond delay="0"/>
                                  </p:stCondLst>
                                  <p:childTnLst>
                                    <p:set>
                                      <p:cBhvr>
                                        <p:cTn id="88" dur="1" fill="hold">
                                          <p:stCondLst>
                                            <p:cond delay="0"/>
                                          </p:stCondLst>
                                        </p:cTn>
                                        <p:tgtEl>
                                          <p:spTgt spid="20"/>
                                        </p:tgtEl>
                                        <p:attrNameLst>
                                          <p:attrName>style.visibility</p:attrName>
                                        </p:attrNameLst>
                                      </p:cBhvr>
                                      <p:to>
                                        <p:strVal val="visible"/>
                                      </p:to>
                                    </p:set>
                                    <p:anim calcmode="lin" valueType="num">
                                      <p:cBhvr additive="base">
                                        <p:cTn id="89" dur="500" fill="hold"/>
                                        <p:tgtEl>
                                          <p:spTgt spid="20"/>
                                        </p:tgtEl>
                                        <p:attrNameLst>
                                          <p:attrName>ppt_x</p:attrName>
                                        </p:attrNameLst>
                                      </p:cBhvr>
                                      <p:tavLst>
                                        <p:tav tm="0">
                                          <p:val>
                                            <p:strVal val="#ppt_x"/>
                                          </p:val>
                                        </p:tav>
                                        <p:tav tm="100000">
                                          <p:val>
                                            <p:strVal val="#ppt_x"/>
                                          </p:val>
                                        </p:tav>
                                      </p:tavLst>
                                    </p:anim>
                                    <p:anim calcmode="lin" valueType="num">
                                      <p:cBhvr additive="base">
                                        <p:cTn id="90" dur="500" fill="hold"/>
                                        <p:tgtEl>
                                          <p:spTgt spid="20"/>
                                        </p:tgtEl>
                                        <p:attrNameLst>
                                          <p:attrName>ppt_y</p:attrName>
                                        </p:attrNameLst>
                                      </p:cBhvr>
                                      <p:tavLst>
                                        <p:tav tm="0">
                                          <p:val>
                                            <p:strVal val="#ppt_y+0.1"/>
                                          </p:val>
                                        </p:tav>
                                        <p:tav tm="100000">
                                          <p:val>
                                            <p:strVal val="#ppt_y"/>
                                          </p:val>
                                        </p:tav>
                                      </p:tavLst>
                                    </p:anim>
                                    <p:animEffect transition="in" filter="fade">
                                      <p:cBhvr>
                                        <p:cTn id="91" dur="500"/>
                                        <p:tgtEl>
                                          <p:spTgt spid="20"/>
                                        </p:tgtEl>
                                      </p:cBhvr>
                                    </p:animEffect>
                                  </p:childTnLst>
                                </p:cTn>
                              </p:par>
                              <p:par>
                                <p:cTn id="92" presetID="2" presetClass="entr" presetSubtype="4" fill="hold" nodeType="withEffect">
                                  <p:stCondLst>
                                    <p:cond delay="0"/>
                                  </p:stCondLst>
                                  <p:childTnLst>
                                    <p:set>
                                      <p:cBhvr>
                                        <p:cTn id="93" dur="1" fill="hold">
                                          <p:stCondLst>
                                            <p:cond delay="0"/>
                                          </p:stCondLst>
                                        </p:cTn>
                                        <p:tgtEl>
                                          <p:spTgt spid="21"/>
                                        </p:tgtEl>
                                        <p:attrNameLst>
                                          <p:attrName>style.visibility</p:attrName>
                                        </p:attrNameLst>
                                      </p:cBhvr>
                                      <p:to>
                                        <p:strVal val="visible"/>
                                      </p:to>
                                    </p:set>
                                    <p:anim calcmode="lin" valueType="num">
                                      <p:cBhvr additive="base">
                                        <p:cTn id="94" dur="500" fill="hold"/>
                                        <p:tgtEl>
                                          <p:spTgt spid="21"/>
                                        </p:tgtEl>
                                        <p:attrNameLst>
                                          <p:attrName>ppt_x</p:attrName>
                                        </p:attrNameLst>
                                      </p:cBhvr>
                                      <p:tavLst>
                                        <p:tav tm="0">
                                          <p:val>
                                            <p:strVal val="#ppt_x"/>
                                          </p:val>
                                        </p:tav>
                                        <p:tav tm="100000">
                                          <p:val>
                                            <p:strVal val="#ppt_x"/>
                                          </p:val>
                                        </p:tav>
                                      </p:tavLst>
                                    </p:anim>
                                    <p:anim calcmode="lin" valueType="num">
                                      <p:cBhvr additive="base">
                                        <p:cTn id="95" dur="500" fill="hold"/>
                                        <p:tgtEl>
                                          <p:spTgt spid="21"/>
                                        </p:tgtEl>
                                        <p:attrNameLst>
                                          <p:attrName>ppt_y</p:attrName>
                                        </p:attrNameLst>
                                      </p:cBhvr>
                                      <p:tavLst>
                                        <p:tav tm="0">
                                          <p:val>
                                            <p:strVal val="#ppt_y+0.1"/>
                                          </p:val>
                                        </p:tav>
                                        <p:tav tm="100000">
                                          <p:val>
                                            <p:strVal val="#ppt_y"/>
                                          </p:val>
                                        </p:tav>
                                      </p:tavLst>
                                    </p:anim>
                                    <p:animEffect transition="in" filter="fade">
                                      <p:cBhvr>
                                        <p:cTn id="96" dur="500"/>
                                        <p:tgtEl>
                                          <p:spTgt spid="21"/>
                                        </p:tgtEl>
                                      </p:cBhvr>
                                    </p:animEffect>
                                  </p:childTnLst>
                                </p:cTn>
                              </p:par>
                              <p:par>
                                <p:cTn id="97" presetID="2" presetClass="entr" presetSubtype="4" fill="hold" nodeType="withEffect">
                                  <p:stCondLst>
                                    <p:cond delay="0"/>
                                  </p:stCondLst>
                                  <p:childTnLst>
                                    <p:set>
                                      <p:cBhvr>
                                        <p:cTn id="98" dur="1" fill="hold">
                                          <p:stCondLst>
                                            <p:cond delay="0"/>
                                          </p:stCondLst>
                                        </p:cTn>
                                        <p:tgtEl>
                                          <p:spTgt spid="22"/>
                                        </p:tgtEl>
                                        <p:attrNameLst>
                                          <p:attrName>style.visibility</p:attrName>
                                        </p:attrNameLst>
                                      </p:cBhvr>
                                      <p:to>
                                        <p:strVal val="visible"/>
                                      </p:to>
                                    </p:set>
                                    <p:anim calcmode="lin" valueType="num">
                                      <p:cBhvr additive="base">
                                        <p:cTn id="99" dur="500" fill="hold"/>
                                        <p:tgtEl>
                                          <p:spTgt spid="22"/>
                                        </p:tgtEl>
                                        <p:attrNameLst>
                                          <p:attrName>ppt_x</p:attrName>
                                        </p:attrNameLst>
                                      </p:cBhvr>
                                      <p:tavLst>
                                        <p:tav tm="0">
                                          <p:val>
                                            <p:strVal val="#ppt_x"/>
                                          </p:val>
                                        </p:tav>
                                        <p:tav tm="100000">
                                          <p:val>
                                            <p:strVal val="#ppt_x"/>
                                          </p:val>
                                        </p:tav>
                                      </p:tavLst>
                                    </p:anim>
                                    <p:anim calcmode="lin" valueType="num">
                                      <p:cBhvr additive="base">
                                        <p:cTn id="100" dur="500" fill="hold"/>
                                        <p:tgtEl>
                                          <p:spTgt spid="22"/>
                                        </p:tgtEl>
                                        <p:attrNameLst>
                                          <p:attrName>ppt_y</p:attrName>
                                        </p:attrNameLst>
                                      </p:cBhvr>
                                      <p:tavLst>
                                        <p:tav tm="0">
                                          <p:val>
                                            <p:strVal val="#ppt_y+0.1"/>
                                          </p:val>
                                        </p:tav>
                                        <p:tav tm="100000">
                                          <p:val>
                                            <p:strVal val="#ppt_y"/>
                                          </p:val>
                                        </p:tav>
                                      </p:tavLst>
                                    </p:anim>
                                    <p:animEffect transition="in" filter="fade">
                                      <p:cBhvr>
                                        <p:cTn id="101" dur="500"/>
                                        <p:tgtEl>
                                          <p:spTgt spid="22"/>
                                        </p:tgtEl>
                                      </p:cBhvr>
                                    </p:animEffect>
                                  </p:childTnLst>
                                </p:cTn>
                              </p:par>
                              <p:par>
                                <p:cTn id="102" presetID="2" presetClass="entr" presetSubtype="4" fill="hold" nodeType="withEffect">
                                  <p:stCondLst>
                                    <p:cond delay="0"/>
                                  </p:stCondLst>
                                  <p:childTnLst>
                                    <p:set>
                                      <p:cBhvr>
                                        <p:cTn id="103" dur="1" fill="hold">
                                          <p:stCondLst>
                                            <p:cond delay="0"/>
                                          </p:stCondLst>
                                        </p:cTn>
                                        <p:tgtEl>
                                          <p:spTgt spid="23"/>
                                        </p:tgtEl>
                                        <p:attrNameLst>
                                          <p:attrName>style.visibility</p:attrName>
                                        </p:attrNameLst>
                                      </p:cBhvr>
                                      <p:to>
                                        <p:strVal val="visible"/>
                                      </p:to>
                                    </p:set>
                                    <p:anim calcmode="lin" valueType="num">
                                      <p:cBhvr additive="base">
                                        <p:cTn id="104" dur="500" fill="hold"/>
                                        <p:tgtEl>
                                          <p:spTgt spid="23"/>
                                        </p:tgtEl>
                                        <p:attrNameLst>
                                          <p:attrName>ppt_x</p:attrName>
                                        </p:attrNameLst>
                                      </p:cBhvr>
                                      <p:tavLst>
                                        <p:tav tm="0">
                                          <p:val>
                                            <p:strVal val="#ppt_x"/>
                                          </p:val>
                                        </p:tav>
                                        <p:tav tm="100000">
                                          <p:val>
                                            <p:strVal val="#ppt_x"/>
                                          </p:val>
                                        </p:tav>
                                      </p:tavLst>
                                    </p:anim>
                                    <p:anim calcmode="lin" valueType="num">
                                      <p:cBhvr additive="base">
                                        <p:cTn id="105" dur="500" fill="hold"/>
                                        <p:tgtEl>
                                          <p:spTgt spid="23"/>
                                        </p:tgtEl>
                                        <p:attrNameLst>
                                          <p:attrName>ppt_y</p:attrName>
                                        </p:attrNameLst>
                                      </p:cBhvr>
                                      <p:tavLst>
                                        <p:tav tm="0">
                                          <p:val>
                                            <p:strVal val="#ppt_y+0.1"/>
                                          </p:val>
                                        </p:tav>
                                        <p:tav tm="100000">
                                          <p:val>
                                            <p:strVal val="#ppt_y"/>
                                          </p:val>
                                        </p:tav>
                                      </p:tavLst>
                                    </p:anim>
                                    <p:animEffect transition="in" filter="fade">
                                      <p:cBhvr>
                                        <p:cTn id="106" dur="500"/>
                                        <p:tgtEl>
                                          <p:spTgt spid="23"/>
                                        </p:tgtEl>
                                      </p:cBhvr>
                                    </p:animEffect>
                                  </p:childTnLst>
                                </p:cTn>
                              </p:par>
                              <p:par>
                                <p:cTn id="107" presetID="2" presetClass="entr" presetSubtype="4" fill="hold" grpId="0" nodeType="withEffect">
                                  <p:stCondLst>
                                    <p:cond delay="0"/>
                                  </p:stCondLst>
                                  <p:childTnLst>
                                    <p:set>
                                      <p:cBhvr>
                                        <p:cTn id="108" dur="1" fill="hold">
                                          <p:stCondLst>
                                            <p:cond delay="0"/>
                                          </p:stCondLst>
                                        </p:cTn>
                                        <p:tgtEl>
                                          <p:spTgt spid="24"/>
                                        </p:tgtEl>
                                        <p:attrNameLst>
                                          <p:attrName>style.visibility</p:attrName>
                                        </p:attrNameLst>
                                      </p:cBhvr>
                                      <p:to>
                                        <p:strVal val="visible"/>
                                      </p:to>
                                    </p:set>
                                    <p:anim calcmode="lin" valueType="num">
                                      <p:cBhvr additive="base">
                                        <p:cTn id="109" dur="500" fill="hold"/>
                                        <p:tgtEl>
                                          <p:spTgt spid="24"/>
                                        </p:tgtEl>
                                        <p:attrNameLst>
                                          <p:attrName>ppt_x</p:attrName>
                                        </p:attrNameLst>
                                      </p:cBhvr>
                                      <p:tavLst>
                                        <p:tav tm="0">
                                          <p:val>
                                            <p:strVal val="#ppt_x"/>
                                          </p:val>
                                        </p:tav>
                                        <p:tav tm="100000">
                                          <p:val>
                                            <p:strVal val="#ppt_x"/>
                                          </p:val>
                                        </p:tav>
                                      </p:tavLst>
                                    </p:anim>
                                    <p:anim calcmode="lin" valueType="num">
                                      <p:cBhvr additive="base">
                                        <p:cTn id="110" dur="500" fill="hold"/>
                                        <p:tgtEl>
                                          <p:spTgt spid="24"/>
                                        </p:tgtEl>
                                        <p:attrNameLst>
                                          <p:attrName>ppt_y</p:attrName>
                                        </p:attrNameLst>
                                      </p:cBhvr>
                                      <p:tavLst>
                                        <p:tav tm="0">
                                          <p:val>
                                            <p:strVal val="#ppt_y+0.1"/>
                                          </p:val>
                                        </p:tav>
                                        <p:tav tm="100000">
                                          <p:val>
                                            <p:strVal val="#ppt_y"/>
                                          </p:val>
                                        </p:tav>
                                      </p:tavLst>
                                    </p:anim>
                                    <p:animEffect transition="in" filter="fade">
                                      <p:cBhvr>
                                        <p:cTn id="111" dur="500"/>
                                        <p:tgtEl>
                                          <p:spTgt spid="24"/>
                                        </p:tgtEl>
                                      </p:cBhvr>
                                    </p:animEffect>
                                  </p:childTnLst>
                                </p:cTn>
                              </p:par>
                              <p:par>
                                <p:cTn id="112" presetID="2" presetClass="entr" presetSubtype="4" fill="hold" grpId="0" nodeType="withEffect">
                                  <p:stCondLst>
                                    <p:cond delay="0"/>
                                  </p:stCondLst>
                                  <p:childTnLst>
                                    <p:set>
                                      <p:cBhvr>
                                        <p:cTn id="113" dur="1" fill="hold">
                                          <p:stCondLst>
                                            <p:cond delay="0"/>
                                          </p:stCondLst>
                                        </p:cTn>
                                        <p:tgtEl>
                                          <p:spTgt spid="25"/>
                                        </p:tgtEl>
                                        <p:attrNameLst>
                                          <p:attrName>style.visibility</p:attrName>
                                        </p:attrNameLst>
                                      </p:cBhvr>
                                      <p:to>
                                        <p:strVal val="visible"/>
                                      </p:to>
                                    </p:set>
                                    <p:anim calcmode="lin" valueType="num">
                                      <p:cBhvr additive="base">
                                        <p:cTn id="114" dur="500" fill="hold"/>
                                        <p:tgtEl>
                                          <p:spTgt spid="25"/>
                                        </p:tgtEl>
                                        <p:attrNameLst>
                                          <p:attrName>ppt_x</p:attrName>
                                        </p:attrNameLst>
                                      </p:cBhvr>
                                      <p:tavLst>
                                        <p:tav tm="0">
                                          <p:val>
                                            <p:strVal val="#ppt_x"/>
                                          </p:val>
                                        </p:tav>
                                        <p:tav tm="100000">
                                          <p:val>
                                            <p:strVal val="#ppt_x"/>
                                          </p:val>
                                        </p:tav>
                                      </p:tavLst>
                                    </p:anim>
                                    <p:anim calcmode="lin" valueType="num">
                                      <p:cBhvr additive="base">
                                        <p:cTn id="115" dur="500" fill="hold"/>
                                        <p:tgtEl>
                                          <p:spTgt spid="25"/>
                                        </p:tgtEl>
                                        <p:attrNameLst>
                                          <p:attrName>ppt_y</p:attrName>
                                        </p:attrNameLst>
                                      </p:cBhvr>
                                      <p:tavLst>
                                        <p:tav tm="0">
                                          <p:val>
                                            <p:strVal val="#ppt_y+0.1"/>
                                          </p:val>
                                        </p:tav>
                                        <p:tav tm="100000">
                                          <p:val>
                                            <p:strVal val="#ppt_y"/>
                                          </p:val>
                                        </p:tav>
                                      </p:tavLst>
                                    </p:anim>
                                    <p:animEffect transition="in" filter="fade">
                                      <p:cBhvr>
                                        <p:cTn id="116" dur="500"/>
                                        <p:tgtEl>
                                          <p:spTgt spid="25"/>
                                        </p:tgtEl>
                                      </p:cBhvr>
                                    </p:animEffect>
                                  </p:childTnLst>
                                </p:cTn>
                              </p:par>
                              <p:par>
                                <p:cTn id="117" presetID="2" presetClass="entr" presetSubtype="4" fill="hold" grpId="0" nodeType="withEffect">
                                  <p:stCondLst>
                                    <p:cond delay="0"/>
                                  </p:stCondLst>
                                  <p:childTnLst>
                                    <p:set>
                                      <p:cBhvr>
                                        <p:cTn id="118" dur="1" fill="hold">
                                          <p:stCondLst>
                                            <p:cond delay="0"/>
                                          </p:stCondLst>
                                        </p:cTn>
                                        <p:tgtEl>
                                          <p:spTgt spid="26"/>
                                        </p:tgtEl>
                                        <p:attrNameLst>
                                          <p:attrName>style.visibility</p:attrName>
                                        </p:attrNameLst>
                                      </p:cBhvr>
                                      <p:to>
                                        <p:strVal val="visible"/>
                                      </p:to>
                                    </p:set>
                                    <p:anim calcmode="lin" valueType="num">
                                      <p:cBhvr additive="base">
                                        <p:cTn id="119" dur="500" fill="hold"/>
                                        <p:tgtEl>
                                          <p:spTgt spid="26"/>
                                        </p:tgtEl>
                                        <p:attrNameLst>
                                          <p:attrName>ppt_x</p:attrName>
                                        </p:attrNameLst>
                                      </p:cBhvr>
                                      <p:tavLst>
                                        <p:tav tm="0">
                                          <p:val>
                                            <p:strVal val="#ppt_x"/>
                                          </p:val>
                                        </p:tav>
                                        <p:tav tm="100000">
                                          <p:val>
                                            <p:strVal val="#ppt_x"/>
                                          </p:val>
                                        </p:tav>
                                      </p:tavLst>
                                    </p:anim>
                                    <p:anim calcmode="lin" valueType="num">
                                      <p:cBhvr additive="base">
                                        <p:cTn id="120" dur="500" fill="hold"/>
                                        <p:tgtEl>
                                          <p:spTgt spid="26"/>
                                        </p:tgtEl>
                                        <p:attrNameLst>
                                          <p:attrName>ppt_y</p:attrName>
                                        </p:attrNameLst>
                                      </p:cBhvr>
                                      <p:tavLst>
                                        <p:tav tm="0">
                                          <p:val>
                                            <p:strVal val="#ppt_y+0.1"/>
                                          </p:val>
                                        </p:tav>
                                        <p:tav tm="100000">
                                          <p:val>
                                            <p:strVal val="#ppt_y"/>
                                          </p:val>
                                        </p:tav>
                                      </p:tavLst>
                                    </p:anim>
                                    <p:animEffect transition="in" filter="fade">
                                      <p:cBhvr>
                                        <p:cTn id="121" dur="500"/>
                                        <p:tgtEl>
                                          <p:spTgt spid="26"/>
                                        </p:tgtEl>
                                      </p:cBhvr>
                                    </p:animEffect>
                                  </p:childTnLst>
                                </p:cTn>
                              </p:par>
                            </p:childTnLst>
                          </p:cTn>
                        </p:par>
                      </p:childTnLst>
                    </p:cTn>
                  </p:par>
                  <p:par>
                    <p:cTn id="122" fill="hold">
                      <p:stCondLst>
                        <p:cond delay="indefinite"/>
                      </p:stCondLst>
                      <p:childTnLst>
                        <p:par>
                          <p:cTn id="123" fill="hold">
                            <p:stCondLst>
                              <p:cond delay="0"/>
                            </p:stCondLst>
                            <p:childTnLst>
                              <p:par>
                                <p:cTn id="124" presetID="2" presetClass="entr" presetSubtype="4" fill="hold" grpId="0" nodeType="clickEffect">
                                  <p:stCondLst>
                                    <p:cond delay="0"/>
                                  </p:stCondLst>
                                  <p:childTnLst>
                                    <p:set>
                                      <p:cBhvr>
                                        <p:cTn id="125" dur="1" fill="hold">
                                          <p:stCondLst>
                                            <p:cond delay="0"/>
                                          </p:stCondLst>
                                        </p:cTn>
                                        <p:tgtEl>
                                          <p:spTgt spid="27"/>
                                        </p:tgtEl>
                                        <p:attrNameLst>
                                          <p:attrName>style.visibility</p:attrName>
                                        </p:attrNameLst>
                                      </p:cBhvr>
                                      <p:to>
                                        <p:strVal val="visible"/>
                                      </p:to>
                                    </p:set>
                                    <p:anim calcmode="lin" valueType="num">
                                      <p:cBhvr additive="base">
                                        <p:cTn id="126" dur="500" fill="hold"/>
                                        <p:tgtEl>
                                          <p:spTgt spid="27"/>
                                        </p:tgtEl>
                                        <p:attrNameLst>
                                          <p:attrName>ppt_x</p:attrName>
                                        </p:attrNameLst>
                                      </p:cBhvr>
                                      <p:tavLst>
                                        <p:tav tm="0">
                                          <p:val>
                                            <p:strVal val="#ppt_x"/>
                                          </p:val>
                                        </p:tav>
                                        <p:tav tm="100000">
                                          <p:val>
                                            <p:strVal val="#ppt_x"/>
                                          </p:val>
                                        </p:tav>
                                      </p:tavLst>
                                    </p:anim>
                                    <p:anim calcmode="lin" valueType="num">
                                      <p:cBhvr additive="base">
                                        <p:cTn id="127" dur="500" fill="hold"/>
                                        <p:tgtEl>
                                          <p:spTgt spid="27"/>
                                        </p:tgtEl>
                                        <p:attrNameLst>
                                          <p:attrName>ppt_y</p:attrName>
                                        </p:attrNameLst>
                                      </p:cBhvr>
                                      <p:tavLst>
                                        <p:tav tm="0">
                                          <p:val>
                                            <p:strVal val="#ppt_y+0.1"/>
                                          </p:val>
                                        </p:tav>
                                        <p:tav tm="100000">
                                          <p:val>
                                            <p:strVal val="#ppt_y"/>
                                          </p:val>
                                        </p:tav>
                                      </p:tavLst>
                                    </p:anim>
                                    <p:animEffect transition="in" filter="fade">
                                      <p:cBhvr>
                                        <p:cTn id="128" dur="500"/>
                                        <p:tgtEl>
                                          <p:spTgt spid="27"/>
                                        </p:tgtEl>
                                      </p:cBhvr>
                                    </p:animEffect>
                                  </p:childTnLst>
                                </p:cTn>
                              </p:par>
                              <p:par>
                                <p:cTn id="129" presetID="2" presetClass="entr" presetSubtype="4" fill="hold" grpId="0" nodeType="withEffect">
                                  <p:stCondLst>
                                    <p:cond delay="0"/>
                                  </p:stCondLst>
                                  <p:childTnLst>
                                    <p:set>
                                      <p:cBhvr>
                                        <p:cTn id="130" dur="1" fill="hold">
                                          <p:stCondLst>
                                            <p:cond delay="0"/>
                                          </p:stCondLst>
                                        </p:cTn>
                                        <p:tgtEl>
                                          <p:spTgt spid="28"/>
                                        </p:tgtEl>
                                        <p:attrNameLst>
                                          <p:attrName>style.visibility</p:attrName>
                                        </p:attrNameLst>
                                      </p:cBhvr>
                                      <p:to>
                                        <p:strVal val="visible"/>
                                      </p:to>
                                    </p:set>
                                    <p:anim calcmode="lin" valueType="num">
                                      <p:cBhvr additive="base">
                                        <p:cTn id="131" dur="500" fill="hold"/>
                                        <p:tgtEl>
                                          <p:spTgt spid="28"/>
                                        </p:tgtEl>
                                        <p:attrNameLst>
                                          <p:attrName>ppt_x</p:attrName>
                                        </p:attrNameLst>
                                      </p:cBhvr>
                                      <p:tavLst>
                                        <p:tav tm="0">
                                          <p:val>
                                            <p:strVal val="#ppt_x"/>
                                          </p:val>
                                        </p:tav>
                                        <p:tav tm="100000">
                                          <p:val>
                                            <p:strVal val="#ppt_x"/>
                                          </p:val>
                                        </p:tav>
                                      </p:tavLst>
                                    </p:anim>
                                    <p:anim calcmode="lin" valueType="num">
                                      <p:cBhvr additive="base">
                                        <p:cTn id="132" dur="500" fill="hold"/>
                                        <p:tgtEl>
                                          <p:spTgt spid="28"/>
                                        </p:tgtEl>
                                        <p:attrNameLst>
                                          <p:attrName>ppt_y</p:attrName>
                                        </p:attrNameLst>
                                      </p:cBhvr>
                                      <p:tavLst>
                                        <p:tav tm="0">
                                          <p:val>
                                            <p:strVal val="#ppt_y+0.1"/>
                                          </p:val>
                                        </p:tav>
                                        <p:tav tm="100000">
                                          <p:val>
                                            <p:strVal val="#ppt_y"/>
                                          </p:val>
                                        </p:tav>
                                      </p:tavLst>
                                    </p:anim>
                                    <p:animEffect transition="in" filter="fade">
                                      <p:cBhvr>
                                        <p:cTn id="133" dur="500"/>
                                        <p:tgtEl>
                                          <p:spTgt spid="28"/>
                                        </p:tgtEl>
                                      </p:cBhvr>
                                    </p:animEffect>
                                  </p:childTnLst>
                                </p:cTn>
                              </p:par>
                              <p:par>
                                <p:cTn id="134" presetID="2" presetClass="entr" presetSubtype="4" fill="hold" grpId="0" nodeType="withEffect">
                                  <p:stCondLst>
                                    <p:cond delay="0"/>
                                  </p:stCondLst>
                                  <p:childTnLst>
                                    <p:set>
                                      <p:cBhvr>
                                        <p:cTn id="135" dur="1" fill="hold">
                                          <p:stCondLst>
                                            <p:cond delay="0"/>
                                          </p:stCondLst>
                                        </p:cTn>
                                        <p:tgtEl>
                                          <p:spTgt spid="29"/>
                                        </p:tgtEl>
                                        <p:attrNameLst>
                                          <p:attrName>style.visibility</p:attrName>
                                        </p:attrNameLst>
                                      </p:cBhvr>
                                      <p:to>
                                        <p:strVal val="visible"/>
                                      </p:to>
                                    </p:set>
                                    <p:anim calcmode="lin" valueType="num">
                                      <p:cBhvr additive="base">
                                        <p:cTn id="136" dur="500" fill="hold"/>
                                        <p:tgtEl>
                                          <p:spTgt spid="29"/>
                                        </p:tgtEl>
                                        <p:attrNameLst>
                                          <p:attrName>ppt_x</p:attrName>
                                        </p:attrNameLst>
                                      </p:cBhvr>
                                      <p:tavLst>
                                        <p:tav tm="0">
                                          <p:val>
                                            <p:strVal val="#ppt_x"/>
                                          </p:val>
                                        </p:tav>
                                        <p:tav tm="100000">
                                          <p:val>
                                            <p:strVal val="#ppt_x"/>
                                          </p:val>
                                        </p:tav>
                                      </p:tavLst>
                                    </p:anim>
                                    <p:anim calcmode="lin" valueType="num">
                                      <p:cBhvr additive="base">
                                        <p:cTn id="137" dur="500" fill="hold"/>
                                        <p:tgtEl>
                                          <p:spTgt spid="29"/>
                                        </p:tgtEl>
                                        <p:attrNameLst>
                                          <p:attrName>ppt_y</p:attrName>
                                        </p:attrNameLst>
                                      </p:cBhvr>
                                      <p:tavLst>
                                        <p:tav tm="0">
                                          <p:val>
                                            <p:strVal val="#ppt_y+0.1"/>
                                          </p:val>
                                        </p:tav>
                                        <p:tav tm="100000">
                                          <p:val>
                                            <p:strVal val="#ppt_y"/>
                                          </p:val>
                                        </p:tav>
                                      </p:tavLst>
                                    </p:anim>
                                    <p:animEffect transition="in" filter="fade">
                                      <p:cBhvr>
                                        <p:cTn id="138" dur="500"/>
                                        <p:tgtEl>
                                          <p:spTgt spid="29"/>
                                        </p:tgtEl>
                                      </p:cBhvr>
                                    </p:animEffect>
                                  </p:childTnLst>
                                </p:cTn>
                              </p:par>
                              <p:par>
                                <p:cTn id="139" presetID="2" presetClass="entr" presetSubtype="4" fill="hold" grpId="0" nodeType="withEffect">
                                  <p:stCondLst>
                                    <p:cond delay="0"/>
                                  </p:stCondLst>
                                  <p:childTnLst>
                                    <p:set>
                                      <p:cBhvr>
                                        <p:cTn id="140" dur="1" fill="hold">
                                          <p:stCondLst>
                                            <p:cond delay="0"/>
                                          </p:stCondLst>
                                        </p:cTn>
                                        <p:tgtEl>
                                          <p:spTgt spid="30"/>
                                        </p:tgtEl>
                                        <p:attrNameLst>
                                          <p:attrName>style.visibility</p:attrName>
                                        </p:attrNameLst>
                                      </p:cBhvr>
                                      <p:to>
                                        <p:strVal val="visible"/>
                                      </p:to>
                                    </p:set>
                                    <p:anim calcmode="lin" valueType="num">
                                      <p:cBhvr additive="base">
                                        <p:cTn id="141" dur="500" fill="hold"/>
                                        <p:tgtEl>
                                          <p:spTgt spid="30"/>
                                        </p:tgtEl>
                                        <p:attrNameLst>
                                          <p:attrName>ppt_x</p:attrName>
                                        </p:attrNameLst>
                                      </p:cBhvr>
                                      <p:tavLst>
                                        <p:tav tm="0">
                                          <p:val>
                                            <p:strVal val="#ppt_x"/>
                                          </p:val>
                                        </p:tav>
                                        <p:tav tm="100000">
                                          <p:val>
                                            <p:strVal val="#ppt_x"/>
                                          </p:val>
                                        </p:tav>
                                      </p:tavLst>
                                    </p:anim>
                                    <p:anim calcmode="lin" valueType="num">
                                      <p:cBhvr additive="base">
                                        <p:cTn id="142" dur="500" fill="hold"/>
                                        <p:tgtEl>
                                          <p:spTgt spid="30"/>
                                        </p:tgtEl>
                                        <p:attrNameLst>
                                          <p:attrName>ppt_y</p:attrName>
                                        </p:attrNameLst>
                                      </p:cBhvr>
                                      <p:tavLst>
                                        <p:tav tm="0">
                                          <p:val>
                                            <p:strVal val="#ppt_y+0.1"/>
                                          </p:val>
                                        </p:tav>
                                        <p:tav tm="100000">
                                          <p:val>
                                            <p:strVal val="#ppt_y"/>
                                          </p:val>
                                        </p:tav>
                                      </p:tavLst>
                                    </p:anim>
                                    <p:animEffect transition="in" filter="fade">
                                      <p:cBhvr>
                                        <p:cTn id="143" dur="500"/>
                                        <p:tgtEl>
                                          <p:spTgt spid="30"/>
                                        </p:tgtEl>
                                      </p:cBhvr>
                                    </p:animEffect>
                                  </p:childTnLst>
                                </p:cTn>
                              </p:par>
                              <p:par>
                                <p:cTn id="144" presetID="2" presetClass="entr" presetSubtype="4" fill="hold" nodeType="withEffect">
                                  <p:stCondLst>
                                    <p:cond delay="0"/>
                                  </p:stCondLst>
                                  <p:childTnLst>
                                    <p:set>
                                      <p:cBhvr>
                                        <p:cTn id="145" dur="1" fill="hold">
                                          <p:stCondLst>
                                            <p:cond delay="0"/>
                                          </p:stCondLst>
                                        </p:cTn>
                                        <p:tgtEl>
                                          <p:spTgt spid="31"/>
                                        </p:tgtEl>
                                        <p:attrNameLst>
                                          <p:attrName>style.visibility</p:attrName>
                                        </p:attrNameLst>
                                      </p:cBhvr>
                                      <p:to>
                                        <p:strVal val="visible"/>
                                      </p:to>
                                    </p:set>
                                    <p:anim calcmode="lin" valueType="num">
                                      <p:cBhvr additive="base">
                                        <p:cTn id="146" dur="500" fill="hold"/>
                                        <p:tgtEl>
                                          <p:spTgt spid="31"/>
                                        </p:tgtEl>
                                        <p:attrNameLst>
                                          <p:attrName>ppt_x</p:attrName>
                                        </p:attrNameLst>
                                      </p:cBhvr>
                                      <p:tavLst>
                                        <p:tav tm="0">
                                          <p:val>
                                            <p:strVal val="#ppt_x"/>
                                          </p:val>
                                        </p:tav>
                                        <p:tav tm="100000">
                                          <p:val>
                                            <p:strVal val="#ppt_x"/>
                                          </p:val>
                                        </p:tav>
                                      </p:tavLst>
                                    </p:anim>
                                    <p:anim calcmode="lin" valueType="num">
                                      <p:cBhvr additive="base">
                                        <p:cTn id="147" dur="500" fill="hold"/>
                                        <p:tgtEl>
                                          <p:spTgt spid="31"/>
                                        </p:tgtEl>
                                        <p:attrNameLst>
                                          <p:attrName>ppt_y</p:attrName>
                                        </p:attrNameLst>
                                      </p:cBhvr>
                                      <p:tavLst>
                                        <p:tav tm="0">
                                          <p:val>
                                            <p:strVal val="#ppt_y+0.1"/>
                                          </p:val>
                                        </p:tav>
                                        <p:tav tm="100000">
                                          <p:val>
                                            <p:strVal val="#ppt_y"/>
                                          </p:val>
                                        </p:tav>
                                      </p:tavLst>
                                    </p:anim>
                                    <p:animEffect transition="in" filter="fade">
                                      <p:cBhvr>
                                        <p:cTn id="148" dur="500"/>
                                        <p:tgtEl>
                                          <p:spTgt spid="31"/>
                                        </p:tgtEl>
                                      </p:cBhvr>
                                    </p:animEffect>
                                  </p:childTnLst>
                                </p:cTn>
                              </p:par>
                              <p:par>
                                <p:cTn id="149" presetID="2" presetClass="entr" presetSubtype="4" fill="hold" nodeType="withEffect">
                                  <p:stCondLst>
                                    <p:cond delay="0"/>
                                  </p:stCondLst>
                                  <p:childTnLst>
                                    <p:set>
                                      <p:cBhvr>
                                        <p:cTn id="150" dur="1" fill="hold">
                                          <p:stCondLst>
                                            <p:cond delay="0"/>
                                          </p:stCondLst>
                                        </p:cTn>
                                        <p:tgtEl>
                                          <p:spTgt spid="32"/>
                                        </p:tgtEl>
                                        <p:attrNameLst>
                                          <p:attrName>style.visibility</p:attrName>
                                        </p:attrNameLst>
                                      </p:cBhvr>
                                      <p:to>
                                        <p:strVal val="visible"/>
                                      </p:to>
                                    </p:set>
                                    <p:anim calcmode="lin" valueType="num">
                                      <p:cBhvr additive="base">
                                        <p:cTn id="151" dur="500" fill="hold"/>
                                        <p:tgtEl>
                                          <p:spTgt spid="32"/>
                                        </p:tgtEl>
                                        <p:attrNameLst>
                                          <p:attrName>ppt_x</p:attrName>
                                        </p:attrNameLst>
                                      </p:cBhvr>
                                      <p:tavLst>
                                        <p:tav tm="0">
                                          <p:val>
                                            <p:strVal val="#ppt_x"/>
                                          </p:val>
                                        </p:tav>
                                        <p:tav tm="100000">
                                          <p:val>
                                            <p:strVal val="#ppt_x"/>
                                          </p:val>
                                        </p:tav>
                                      </p:tavLst>
                                    </p:anim>
                                    <p:anim calcmode="lin" valueType="num">
                                      <p:cBhvr additive="base">
                                        <p:cTn id="152" dur="500" fill="hold"/>
                                        <p:tgtEl>
                                          <p:spTgt spid="32"/>
                                        </p:tgtEl>
                                        <p:attrNameLst>
                                          <p:attrName>ppt_y</p:attrName>
                                        </p:attrNameLst>
                                      </p:cBhvr>
                                      <p:tavLst>
                                        <p:tav tm="0">
                                          <p:val>
                                            <p:strVal val="#ppt_y+0.1"/>
                                          </p:val>
                                        </p:tav>
                                        <p:tav tm="100000">
                                          <p:val>
                                            <p:strVal val="#ppt_y"/>
                                          </p:val>
                                        </p:tav>
                                      </p:tavLst>
                                    </p:anim>
                                    <p:animEffect transition="in" filter="fade">
                                      <p:cBhvr>
                                        <p:cTn id="153" dur="500"/>
                                        <p:tgtEl>
                                          <p:spTgt spid="32"/>
                                        </p:tgtEl>
                                      </p:cBhvr>
                                    </p:animEffect>
                                  </p:childTnLst>
                                </p:cTn>
                              </p:par>
                              <p:par>
                                <p:cTn id="154" presetID="2" presetClass="entr" presetSubtype="4" fill="hold" nodeType="withEffect">
                                  <p:stCondLst>
                                    <p:cond delay="0"/>
                                  </p:stCondLst>
                                  <p:childTnLst>
                                    <p:set>
                                      <p:cBhvr>
                                        <p:cTn id="155" dur="1" fill="hold">
                                          <p:stCondLst>
                                            <p:cond delay="0"/>
                                          </p:stCondLst>
                                        </p:cTn>
                                        <p:tgtEl>
                                          <p:spTgt spid="33"/>
                                        </p:tgtEl>
                                        <p:attrNameLst>
                                          <p:attrName>style.visibility</p:attrName>
                                        </p:attrNameLst>
                                      </p:cBhvr>
                                      <p:to>
                                        <p:strVal val="visible"/>
                                      </p:to>
                                    </p:set>
                                    <p:anim calcmode="lin" valueType="num">
                                      <p:cBhvr additive="base">
                                        <p:cTn id="156" dur="500" fill="hold"/>
                                        <p:tgtEl>
                                          <p:spTgt spid="33"/>
                                        </p:tgtEl>
                                        <p:attrNameLst>
                                          <p:attrName>ppt_x</p:attrName>
                                        </p:attrNameLst>
                                      </p:cBhvr>
                                      <p:tavLst>
                                        <p:tav tm="0">
                                          <p:val>
                                            <p:strVal val="#ppt_x"/>
                                          </p:val>
                                        </p:tav>
                                        <p:tav tm="100000">
                                          <p:val>
                                            <p:strVal val="#ppt_x"/>
                                          </p:val>
                                        </p:tav>
                                      </p:tavLst>
                                    </p:anim>
                                    <p:anim calcmode="lin" valueType="num">
                                      <p:cBhvr additive="base">
                                        <p:cTn id="157" dur="500" fill="hold"/>
                                        <p:tgtEl>
                                          <p:spTgt spid="33"/>
                                        </p:tgtEl>
                                        <p:attrNameLst>
                                          <p:attrName>ppt_y</p:attrName>
                                        </p:attrNameLst>
                                      </p:cBhvr>
                                      <p:tavLst>
                                        <p:tav tm="0">
                                          <p:val>
                                            <p:strVal val="#ppt_y+0.1"/>
                                          </p:val>
                                        </p:tav>
                                        <p:tav tm="100000">
                                          <p:val>
                                            <p:strVal val="#ppt_y"/>
                                          </p:val>
                                        </p:tav>
                                      </p:tavLst>
                                    </p:anim>
                                    <p:animEffect transition="in" filter="fade">
                                      <p:cBhvr>
                                        <p:cTn id="158" dur="500"/>
                                        <p:tgtEl>
                                          <p:spTgt spid="33"/>
                                        </p:tgtEl>
                                      </p:cBhvr>
                                    </p:animEffect>
                                  </p:childTnLst>
                                </p:cTn>
                              </p:par>
                              <p:par>
                                <p:cTn id="159" presetID="2" presetClass="entr" presetSubtype="4" fill="hold" grpId="0" nodeType="withEffect">
                                  <p:stCondLst>
                                    <p:cond delay="0"/>
                                  </p:stCondLst>
                                  <p:childTnLst>
                                    <p:set>
                                      <p:cBhvr>
                                        <p:cTn id="160" dur="1" fill="hold">
                                          <p:stCondLst>
                                            <p:cond delay="0"/>
                                          </p:stCondLst>
                                        </p:cTn>
                                        <p:tgtEl>
                                          <p:spTgt spid="34"/>
                                        </p:tgtEl>
                                        <p:attrNameLst>
                                          <p:attrName>style.visibility</p:attrName>
                                        </p:attrNameLst>
                                      </p:cBhvr>
                                      <p:to>
                                        <p:strVal val="visible"/>
                                      </p:to>
                                    </p:set>
                                    <p:anim calcmode="lin" valueType="num">
                                      <p:cBhvr additive="base">
                                        <p:cTn id="161" dur="500" fill="hold"/>
                                        <p:tgtEl>
                                          <p:spTgt spid="34"/>
                                        </p:tgtEl>
                                        <p:attrNameLst>
                                          <p:attrName>ppt_x</p:attrName>
                                        </p:attrNameLst>
                                      </p:cBhvr>
                                      <p:tavLst>
                                        <p:tav tm="0">
                                          <p:val>
                                            <p:strVal val="#ppt_x"/>
                                          </p:val>
                                        </p:tav>
                                        <p:tav tm="100000">
                                          <p:val>
                                            <p:strVal val="#ppt_x"/>
                                          </p:val>
                                        </p:tav>
                                      </p:tavLst>
                                    </p:anim>
                                    <p:anim calcmode="lin" valueType="num">
                                      <p:cBhvr additive="base">
                                        <p:cTn id="162" dur="500" fill="hold"/>
                                        <p:tgtEl>
                                          <p:spTgt spid="34"/>
                                        </p:tgtEl>
                                        <p:attrNameLst>
                                          <p:attrName>ppt_y</p:attrName>
                                        </p:attrNameLst>
                                      </p:cBhvr>
                                      <p:tavLst>
                                        <p:tav tm="0">
                                          <p:val>
                                            <p:strVal val="#ppt_y+0.1"/>
                                          </p:val>
                                        </p:tav>
                                        <p:tav tm="100000">
                                          <p:val>
                                            <p:strVal val="#ppt_y"/>
                                          </p:val>
                                        </p:tav>
                                      </p:tavLst>
                                    </p:anim>
                                    <p:animEffect transition="in" filter="fade">
                                      <p:cBhvr>
                                        <p:cTn id="163" dur="500"/>
                                        <p:tgtEl>
                                          <p:spTgt spid="34"/>
                                        </p:tgtEl>
                                      </p:cBhvr>
                                    </p:animEffect>
                                  </p:childTnLst>
                                </p:cTn>
                              </p:par>
                              <p:par>
                                <p:cTn id="164" presetID="2" presetClass="entr" presetSubtype="4" fill="hold" nodeType="withEffect">
                                  <p:stCondLst>
                                    <p:cond delay="0"/>
                                  </p:stCondLst>
                                  <p:childTnLst>
                                    <p:set>
                                      <p:cBhvr>
                                        <p:cTn id="165" dur="1" fill="hold">
                                          <p:stCondLst>
                                            <p:cond delay="0"/>
                                          </p:stCondLst>
                                        </p:cTn>
                                        <p:tgtEl>
                                          <p:spTgt spid="35"/>
                                        </p:tgtEl>
                                        <p:attrNameLst>
                                          <p:attrName>style.visibility</p:attrName>
                                        </p:attrNameLst>
                                      </p:cBhvr>
                                      <p:to>
                                        <p:strVal val="visible"/>
                                      </p:to>
                                    </p:set>
                                    <p:anim calcmode="lin" valueType="num">
                                      <p:cBhvr additive="base">
                                        <p:cTn id="166" dur="500" fill="hold"/>
                                        <p:tgtEl>
                                          <p:spTgt spid="35"/>
                                        </p:tgtEl>
                                        <p:attrNameLst>
                                          <p:attrName>ppt_x</p:attrName>
                                        </p:attrNameLst>
                                      </p:cBhvr>
                                      <p:tavLst>
                                        <p:tav tm="0">
                                          <p:val>
                                            <p:strVal val="#ppt_x"/>
                                          </p:val>
                                        </p:tav>
                                        <p:tav tm="100000">
                                          <p:val>
                                            <p:strVal val="#ppt_x"/>
                                          </p:val>
                                        </p:tav>
                                      </p:tavLst>
                                    </p:anim>
                                    <p:anim calcmode="lin" valueType="num">
                                      <p:cBhvr additive="base">
                                        <p:cTn id="167" dur="500" fill="hold"/>
                                        <p:tgtEl>
                                          <p:spTgt spid="35"/>
                                        </p:tgtEl>
                                        <p:attrNameLst>
                                          <p:attrName>ppt_y</p:attrName>
                                        </p:attrNameLst>
                                      </p:cBhvr>
                                      <p:tavLst>
                                        <p:tav tm="0">
                                          <p:val>
                                            <p:strVal val="#ppt_y+0.1"/>
                                          </p:val>
                                        </p:tav>
                                        <p:tav tm="100000">
                                          <p:val>
                                            <p:strVal val="#ppt_y"/>
                                          </p:val>
                                        </p:tav>
                                      </p:tavLst>
                                    </p:anim>
                                    <p:animEffect transition="in" filter="fade">
                                      <p:cBhvr>
                                        <p:cTn id="168" dur="500"/>
                                        <p:tgtEl>
                                          <p:spTgt spid="35"/>
                                        </p:tgtEl>
                                      </p:cBhvr>
                                    </p:animEffect>
                                  </p:childTnLst>
                                </p:cTn>
                              </p:par>
                              <p:par>
                                <p:cTn id="169" presetID="2" presetClass="entr" presetSubtype="4" fill="hold" nodeType="withEffect">
                                  <p:stCondLst>
                                    <p:cond delay="0"/>
                                  </p:stCondLst>
                                  <p:childTnLst>
                                    <p:set>
                                      <p:cBhvr>
                                        <p:cTn id="170" dur="1" fill="hold">
                                          <p:stCondLst>
                                            <p:cond delay="0"/>
                                          </p:stCondLst>
                                        </p:cTn>
                                        <p:tgtEl>
                                          <p:spTgt spid="36"/>
                                        </p:tgtEl>
                                        <p:attrNameLst>
                                          <p:attrName>style.visibility</p:attrName>
                                        </p:attrNameLst>
                                      </p:cBhvr>
                                      <p:to>
                                        <p:strVal val="visible"/>
                                      </p:to>
                                    </p:set>
                                    <p:anim calcmode="lin" valueType="num">
                                      <p:cBhvr additive="base">
                                        <p:cTn id="171" dur="500" fill="hold"/>
                                        <p:tgtEl>
                                          <p:spTgt spid="36"/>
                                        </p:tgtEl>
                                        <p:attrNameLst>
                                          <p:attrName>ppt_x</p:attrName>
                                        </p:attrNameLst>
                                      </p:cBhvr>
                                      <p:tavLst>
                                        <p:tav tm="0">
                                          <p:val>
                                            <p:strVal val="#ppt_x"/>
                                          </p:val>
                                        </p:tav>
                                        <p:tav tm="100000">
                                          <p:val>
                                            <p:strVal val="#ppt_x"/>
                                          </p:val>
                                        </p:tav>
                                      </p:tavLst>
                                    </p:anim>
                                    <p:anim calcmode="lin" valueType="num">
                                      <p:cBhvr additive="base">
                                        <p:cTn id="172" dur="500" fill="hold"/>
                                        <p:tgtEl>
                                          <p:spTgt spid="36"/>
                                        </p:tgtEl>
                                        <p:attrNameLst>
                                          <p:attrName>ppt_y</p:attrName>
                                        </p:attrNameLst>
                                      </p:cBhvr>
                                      <p:tavLst>
                                        <p:tav tm="0">
                                          <p:val>
                                            <p:strVal val="#ppt_y+0.1"/>
                                          </p:val>
                                        </p:tav>
                                        <p:tav tm="100000">
                                          <p:val>
                                            <p:strVal val="#ppt_y"/>
                                          </p:val>
                                        </p:tav>
                                      </p:tavLst>
                                    </p:anim>
                                    <p:animEffect transition="in" filter="fade">
                                      <p:cBhvr>
                                        <p:cTn id="173" dur="500"/>
                                        <p:tgtEl>
                                          <p:spTgt spid="36"/>
                                        </p:tgtEl>
                                      </p:cBhvr>
                                    </p:animEffect>
                                  </p:childTnLst>
                                </p:cTn>
                              </p:par>
                              <p:par>
                                <p:cTn id="174" presetID="2" presetClass="entr" presetSubtype="4" fill="hold" grpId="0" nodeType="withEffect">
                                  <p:stCondLst>
                                    <p:cond delay="0"/>
                                  </p:stCondLst>
                                  <p:childTnLst>
                                    <p:set>
                                      <p:cBhvr>
                                        <p:cTn id="175" dur="1" fill="hold">
                                          <p:stCondLst>
                                            <p:cond delay="0"/>
                                          </p:stCondLst>
                                        </p:cTn>
                                        <p:tgtEl>
                                          <p:spTgt spid="37"/>
                                        </p:tgtEl>
                                        <p:attrNameLst>
                                          <p:attrName>style.visibility</p:attrName>
                                        </p:attrNameLst>
                                      </p:cBhvr>
                                      <p:to>
                                        <p:strVal val="visible"/>
                                      </p:to>
                                    </p:set>
                                    <p:anim calcmode="lin" valueType="num">
                                      <p:cBhvr additive="base">
                                        <p:cTn id="176" dur="500" fill="hold"/>
                                        <p:tgtEl>
                                          <p:spTgt spid="37"/>
                                        </p:tgtEl>
                                        <p:attrNameLst>
                                          <p:attrName>ppt_x</p:attrName>
                                        </p:attrNameLst>
                                      </p:cBhvr>
                                      <p:tavLst>
                                        <p:tav tm="0">
                                          <p:val>
                                            <p:strVal val="#ppt_x"/>
                                          </p:val>
                                        </p:tav>
                                        <p:tav tm="100000">
                                          <p:val>
                                            <p:strVal val="#ppt_x"/>
                                          </p:val>
                                        </p:tav>
                                      </p:tavLst>
                                    </p:anim>
                                    <p:anim calcmode="lin" valueType="num">
                                      <p:cBhvr additive="base">
                                        <p:cTn id="177" dur="500" fill="hold"/>
                                        <p:tgtEl>
                                          <p:spTgt spid="37"/>
                                        </p:tgtEl>
                                        <p:attrNameLst>
                                          <p:attrName>ppt_y</p:attrName>
                                        </p:attrNameLst>
                                      </p:cBhvr>
                                      <p:tavLst>
                                        <p:tav tm="0">
                                          <p:val>
                                            <p:strVal val="#ppt_y+0.1"/>
                                          </p:val>
                                        </p:tav>
                                        <p:tav tm="100000">
                                          <p:val>
                                            <p:strVal val="#ppt_y"/>
                                          </p:val>
                                        </p:tav>
                                      </p:tavLst>
                                    </p:anim>
                                    <p:animEffect transition="in" filter="fade">
                                      <p:cBhvr>
                                        <p:cTn id="178" dur="500"/>
                                        <p:tgtEl>
                                          <p:spTgt spid="37"/>
                                        </p:tgtEl>
                                      </p:cBhvr>
                                    </p:animEffect>
                                  </p:childTnLst>
                                </p:cTn>
                              </p:par>
                              <p:par>
                                <p:cTn id="179" presetID="2" presetClass="entr" presetSubtype="4" fill="hold" grpId="0" nodeType="withEffect">
                                  <p:stCondLst>
                                    <p:cond delay="0"/>
                                  </p:stCondLst>
                                  <p:childTnLst>
                                    <p:set>
                                      <p:cBhvr>
                                        <p:cTn id="180" dur="1" fill="hold">
                                          <p:stCondLst>
                                            <p:cond delay="0"/>
                                          </p:stCondLst>
                                        </p:cTn>
                                        <p:tgtEl>
                                          <p:spTgt spid="38"/>
                                        </p:tgtEl>
                                        <p:attrNameLst>
                                          <p:attrName>style.visibility</p:attrName>
                                        </p:attrNameLst>
                                      </p:cBhvr>
                                      <p:to>
                                        <p:strVal val="visible"/>
                                      </p:to>
                                    </p:set>
                                    <p:anim calcmode="lin" valueType="num">
                                      <p:cBhvr additive="base">
                                        <p:cTn id="181" dur="500" fill="hold"/>
                                        <p:tgtEl>
                                          <p:spTgt spid="38"/>
                                        </p:tgtEl>
                                        <p:attrNameLst>
                                          <p:attrName>ppt_x</p:attrName>
                                        </p:attrNameLst>
                                      </p:cBhvr>
                                      <p:tavLst>
                                        <p:tav tm="0">
                                          <p:val>
                                            <p:strVal val="#ppt_x"/>
                                          </p:val>
                                        </p:tav>
                                        <p:tav tm="100000">
                                          <p:val>
                                            <p:strVal val="#ppt_x"/>
                                          </p:val>
                                        </p:tav>
                                      </p:tavLst>
                                    </p:anim>
                                    <p:anim calcmode="lin" valueType="num">
                                      <p:cBhvr additive="base">
                                        <p:cTn id="182" dur="500" fill="hold"/>
                                        <p:tgtEl>
                                          <p:spTgt spid="38"/>
                                        </p:tgtEl>
                                        <p:attrNameLst>
                                          <p:attrName>ppt_y</p:attrName>
                                        </p:attrNameLst>
                                      </p:cBhvr>
                                      <p:tavLst>
                                        <p:tav tm="0">
                                          <p:val>
                                            <p:strVal val="#ppt_y+0.1"/>
                                          </p:val>
                                        </p:tav>
                                        <p:tav tm="100000">
                                          <p:val>
                                            <p:strVal val="#ppt_y"/>
                                          </p:val>
                                        </p:tav>
                                      </p:tavLst>
                                    </p:anim>
                                    <p:animEffect transition="in" filter="fade">
                                      <p:cBhvr>
                                        <p:cTn id="183" dur="500"/>
                                        <p:tgtEl>
                                          <p:spTgt spid="38"/>
                                        </p:tgtEl>
                                      </p:cBhvr>
                                    </p:animEffect>
                                  </p:childTnLst>
                                </p:cTn>
                              </p:par>
                              <p:par>
                                <p:cTn id="184" presetID="2" presetClass="entr" presetSubtype="4" fill="hold" grpId="0" nodeType="withEffect">
                                  <p:stCondLst>
                                    <p:cond delay="0"/>
                                  </p:stCondLst>
                                  <p:childTnLst>
                                    <p:set>
                                      <p:cBhvr>
                                        <p:cTn id="185" dur="1" fill="hold">
                                          <p:stCondLst>
                                            <p:cond delay="0"/>
                                          </p:stCondLst>
                                        </p:cTn>
                                        <p:tgtEl>
                                          <p:spTgt spid="39"/>
                                        </p:tgtEl>
                                        <p:attrNameLst>
                                          <p:attrName>style.visibility</p:attrName>
                                        </p:attrNameLst>
                                      </p:cBhvr>
                                      <p:to>
                                        <p:strVal val="visible"/>
                                      </p:to>
                                    </p:set>
                                    <p:anim calcmode="lin" valueType="num">
                                      <p:cBhvr additive="base">
                                        <p:cTn id="186" dur="500" fill="hold"/>
                                        <p:tgtEl>
                                          <p:spTgt spid="39"/>
                                        </p:tgtEl>
                                        <p:attrNameLst>
                                          <p:attrName>ppt_x</p:attrName>
                                        </p:attrNameLst>
                                      </p:cBhvr>
                                      <p:tavLst>
                                        <p:tav tm="0">
                                          <p:val>
                                            <p:strVal val="#ppt_x"/>
                                          </p:val>
                                        </p:tav>
                                        <p:tav tm="100000">
                                          <p:val>
                                            <p:strVal val="#ppt_x"/>
                                          </p:val>
                                        </p:tav>
                                      </p:tavLst>
                                    </p:anim>
                                    <p:anim calcmode="lin" valueType="num">
                                      <p:cBhvr additive="base">
                                        <p:cTn id="187" dur="500" fill="hold"/>
                                        <p:tgtEl>
                                          <p:spTgt spid="39"/>
                                        </p:tgtEl>
                                        <p:attrNameLst>
                                          <p:attrName>ppt_y</p:attrName>
                                        </p:attrNameLst>
                                      </p:cBhvr>
                                      <p:tavLst>
                                        <p:tav tm="0">
                                          <p:val>
                                            <p:strVal val="#ppt_y+0.1"/>
                                          </p:val>
                                        </p:tav>
                                        <p:tav tm="100000">
                                          <p:val>
                                            <p:strVal val="#ppt_y"/>
                                          </p:val>
                                        </p:tav>
                                      </p:tavLst>
                                    </p:anim>
                                    <p:animEffect transition="in" filter="fade">
                                      <p:cBhvr>
                                        <p:cTn id="188"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12" grpId="0" animBg="1"/>
      <p:bldP spid="13" grpId="0" animBg="1"/>
      <p:bldP spid="14" grpId="0" animBg="1"/>
      <p:bldP spid="15" grpId="0" animBg="1"/>
      <p:bldP spid="16" grpId="0" animBg="1"/>
      <p:bldP spid="17" grpId="0" animBg="1"/>
      <p:bldP spid="18" grpId="0" animBg="1"/>
      <p:bldP spid="24" grpId="0" animBg="1"/>
      <p:bldP spid="25" grpId="0" animBg="1"/>
      <p:bldP spid="26" grpId="0" animBg="1"/>
      <p:bldP spid="27" grpId="0" animBg="1"/>
      <p:bldP spid="28" grpId="0" animBg="1"/>
      <p:bldP spid="29" grpId="0" animBg="1"/>
      <p:bldP spid="30" grpId="0" animBg="1"/>
      <p:bldP spid="34" grpId="0" animBg="1"/>
      <p:bldP spid="37" grpId="0" animBg="1"/>
      <p:bldP spid="38" grpId="0" animBg="1"/>
      <p:bldP spid="3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1"/>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The ICICI Bank ER Model</a:t>
            </a:r>
            <a:endParaRPr lang="en-US" sz="2800" dirty="0"/>
          </a:p>
        </p:txBody>
      </p:sp>
      <p:sp>
        <p:nvSpPr>
          <p:cNvPr id="3" name="Text 2"/>
          <p:cNvSpPr txBox="1"/>
          <p:nvPr/>
        </p:nvSpPr>
        <p:spPr>
          <a:xfrm>
            <a:off x="457200" y="749808"/>
            <a:ext cx="8229600" cy="320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Ten entities — every join you wrote in Module 3 walks one of these lines</a:t>
            </a:r>
            <a:endParaRPr lang="en-US" sz="1300" dirty="0"/>
          </a:p>
        </p:txBody>
      </p:sp>
      <p:sp>
        <p:nvSpPr>
          <p:cNvPr id="4" name="a1f_b3"/>
          <p:cNvSpPr txBox="1"/>
          <p:nvPr/>
        </p:nvSpPr>
        <p:spPr>
          <a:xfrm>
            <a:off x="457200" y="1234440"/>
            <a:ext cx="1325880" cy="384048"/>
          </a:xfrm>
          <a:prstGeom prst="roundRect">
            <a:avLst>
              <a:gd name="adj" fmla="val 14000"/>
            </a:avLst>
          </a:prstGeom>
          <a:solidFill>
            <a:srgbClr val="EDE9FE"/>
          </a:solidFill>
          <a:ln w="9525">
            <a:solidFill>
              <a:srgbClr val="6D28D9"/>
            </a:solidFill>
            <a:prstDash val="solid"/>
          </a:ln>
        </p:spPr>
        <p:txBody>
          <a:bodyPr wrap="square" lIns="0" tIns="0" rIns="0" bIns="0" rtlCol="0" anchor="ctr"/>
          <a:lstStyle/>
          <a:p>
            <a:pPr marL="0" indent="0" algn="ctr">
              <a:buNone/>
            </a:pPr>
            <a:r>
              <a:rPr lang="en-US" sz="1000" b="1" dirty="0">
                <a:solidFill>
                  <a:srgbClr val="0F172A"/>
                </a:solidFill>
                <a:latin typeface="Calibri" pitchFamily="34" charset="0"/>
                <a:ea typeface="Calibri" pitchFamily="34" charset="-122"/>
                <a:cs typeface="Calibri" pitchFamily="34" charset="-120"/>
              </a:rPr>
              <a:t>BRANCH</a:t>
            </a:r>
            <a:endParaRPr lang="en-US" sz="1000" dirty="0"/>
          </a:p>
        </p:txBody>
      </p:sp>
      <p:sp>
        <p:nvSpPr>
          <p:cNvPr id="5" name="a1f_b4"/>
          <p:cNvSpPr txBox="1"/>
          <p:nvPr/>
        </p:nvSpPr>
        <p:spPr>
          <a:xfrm>
            <a:off x="3017520" y="1234440"/>
            <a:ext cx="1325880" cy="384048"/>
          </a:xfrm>
          <a:prstGeom prst="roundRect">
            <a:avLst>
              <a:gd name="adj" fmla="val 14000"/>
            </a:avLst>
          </a:prstGeom>
          <a:solidFill>
            <a:srgbClr val="EDE9FE"/>
          </a:solidFill>
          <a:ln w="9525">
            <a:solidFill>
              <a:srgbClr val="6D28D9"/>
            </a:solidFill>
            <a:prstDash val="solid"/>
          </a:ln>
        </p:spPr>
        <p:txBody>
          <a:bodyPr wrap="square" lIns="0" tIns="0" rIns="0" bIns="0" rtlCol="0" anchor="ctr"/>
          <a:lstStyle/>
          <a:p>
            <a:pPr marL="0" indent="0" algn="ctr">
              <a:buNone/>
            </a:pPr>
            <a:r>
              <a:rPr lang="en-US" sz="1000" b="1" dirty="0">
                <a:solidFill>
                  <a:srgbClr val="0F172A"/>
                </a:solidFill>
                <a:latin typeface="Calibri" pitchFamily="34" charset="0"/>
                <a:ea typeface="Calibri" pitchFamily="34" charset="-122"/>
                <a:cs typeface="Calibri" pitchFamily="34" charset="-120"/>
              </a:rPr>
              <a:t>CUSTOMER</a:t>
            </a:r>
            <a:endParaRPr lang="en-US" sz="1000" dirty="0"/>
          </a:p>
        </p:txBody>
      </p:sp>
      <p:sp>
        <p:nvSpPr>
          <p:cNvPr id="6" name="a1f_b5"/>
          <p:cNvSpPr txBox="1"/>
          <p:nvPr/>
        </p:nvSpPr>
        <p:spPr>
          <a:xfrm>
            <a:off x="5440680" y="1234440"/>
            <a:ext cx="1234440" cy="384048"/>
          </a:xfrm>
          <a:prstGeom prst="roundRect">
            <a:avLst>
              <a:gd name="adj" fmla="val 14000"/>
            </a:avLst>
          </a:prstGeom>
          <a:solidFill>
            <a:srgbClr val="EDE9FE"/>
          </a:solidFill>
          <a:ln w="9525">
            <a:solidFill>
              <a:srgbClr val="6D28D9"/>
            </a:solidFill>
            <a:prstDash val="solid"/>
          </a:ln>
        </p:spPr>
        <p:txBody>
          <a:bodyPr wrap="square" lIns="0" tIns="0" rIns="0" bIns="0" rtlCol="0" anchor="ctr"/>
          <a:lstStyle/>
          <a:p>
            <a:pPr marL="0" indent="0" algn="ctr">
              <a:buNone/>
            </a:pPr>
            <a:r>
              <a:rPr lang="en-US" sz="1000" b="1" dirty="0">
                <a:solidFill>
                  <a:srgbClr val="0F172A"/>
                </a:solidFill>
                <a:latin typeface="Calibri" pitchFamily="34" charset="0"/>
                <a:ea typeface="Calibri" pitchFamily="34" charset="-122"/>
                <a:cs typeface="Calibri" pitchFamily="34" charset="-120"/>
              </a:rPr>
              <a:t>ACCOUNT</a:t>
            </a:r>
            <a:endParaRPr lang="en-US" sz="1000" dirty="0"/>
          </a:p>
        </p:txBody>
      </p:sp>
      <p:sp>
        <p:nvSpPr>
          <p:cNvPr id="7" name="a2f_b6"/>
          <p:cNvSpPr txBox="1"/>
          <p:nvPr/>
        </p:nvSpPr>
        <p:spPr>
          <a:xfrm>
            <a:off x="7315200" y="1234440"/>
            <a:ext cx="1371600" cy="384048"/>
          </a:xfrm>
          <a:prstGeom prst="roundRect">
            <a:avLst>
              <a:gd name="adj" fmla="val 14000"/>
            </a:avLst>
          </a:prstGeom>
          <a:solidFill>
            <a:srgbClr val="EDE9FE"/>
          </a:solidFill>
          <a:ln w="9525">
            <a:solidFill>
              <a:srgbClr val="6D28D9"/>
            </a:solidFill>
            <a:prstDash val="solid"/>
          </a:ln>
        </p:spPr>
        <p:txBody>
          <a:bodyPr wrap="square" lIns="0" tIns="0" rIns="0" bIns="0" rtlCol="0" anchor="ctr"/>
          <a:lstStyle/>
          <a:p>
            <a:pPr marL="0" indent="0" algn="ctr">
              <a:buNone/>
            </a:pPr>
            <a:r>
              <a:rPr lang="en-US" sz="1000" b="1" dirty="0">
                <a:solidFill>
                  <a:srgbClr val="0F172A"/>
                </a:solidFill>
                <a:latin typeface="Calibri" pitchFamily="34" charset="0"/>
                <a:ea typeface="Calibri" pitchFamily="34" charset="-122"/>
                <a:cs typeface="Calibri" pitchFamily="34" charset="-120"/>
              </a:rPr>
              <a:t>ACCOUNT_TXN</a:t>
            </a:r>
            <a:endParaRPr lang="en-US" sz="1000" dirty="0"/>
          </a:p>
        </p:txBody>
      </p:sp>
      <p:sp>
        <p:nvSpPr>
          <p:cNvPr id="8" name="a4f_b7"/>
          <p:cNvSpPr txBox="1"/>
          <p:nvPr/>
        </p:nvSpPr>
        <p:spPr>
          <a:xfrm>
            <a:off x="457200" y="2468880"/>
            <a:ext cx="1325880" cy="384048"/>
          </a:xfrm>
          <a:prstGeom prst="roundRect">
            <a:avLst>
              <a:gd name="adj" fmla="val 14000"/>
            </a:avLst>
          </a:prstGeom>
          <a:solidFill>
            <a:srgbClr val="EDE9FE"/>
          </a:solidFill>
          <a:ln w="9525">
            <a:solidFill>
              <a:srgbClr val="6D28D9"/>
            </a:solidFill>
            <a:prstDash val="solid"/>
          </a:ln>
        </p:spPr>
        <p:txBody>
          <a:bodyPr wrap="square" lIns="0" tIns="0" rIns="0" bIns="0" rtlCol="0" anchor="ctr"/>
          <a:lstStyle/>
          <a:p>
            <a:pPr marL="0" indent="0" algn="ctr">
              <a:buNone/>
            </a:pPr>
            <a:r>
              <a:rPr lang="en-US" sz="1000" b="1" dirty="0">
                <a:solidFill>
                  <a:srgbClr val="0F172A"/>
                </a:solidFill>
                <a:latin typeface="Calibri" pitchFamily="34" charset="0"/>
                <a:ea typeface="Calibri" pitchFamily="34" charset="-122"/>
                <a:cs typeface="Calibri" pitchFamily="34" charset="-120"/>
              </a:rPr>
              <a:t>EMPLOYEE</a:t>
            </a:r>
            <a:endParaRPr lang="en-US" sz="1000" dirty="0"/>
          </a:p>
        </p:txBody>
      </p:sp>
      <p:sp>
        <p:nvSpPr>
          <p:cNvPr id="9" name="a2f_b8"/>
          <p:cNvSpPr txBox="1"/>
          <p:nvPr/>
        </p:nvSpPr>
        <p:spPr>
          <a:xfrm>
            <a:off x="5440680" y="2468880"/>
            <a:ext cx="1234440" cy="384048"/>
          </a:xfrm>
          <a:prstGeom prst="roundRect">
            <a:avLst>
              <a:gd name="adj" fmla="val 14000"/>
            </a:avLst>
          </a:prstGeom>
          <a:solidFill>
            <a:srgbClr val="EDE9FE"/>
          </a:solidFill>
          <a:ln w="9525">
            <a:solidFill>
              <a:srgbClr val="6D28D9"/>
            </a:solidFill>
            <a:prstDash val="solid"/>
          </a:ln>
        </p:spPr>
        <p:txBody>
          <a:bodyPr wrap="square" lIns="0" tIns="0" rIns="0" bIns="0" rtlCol="0" anchor="ctr"/>
          <a:lstStyle/>
          <a:p>
            <a:pPr marL="0" indent="0" algn="ctr">
              <a:buNone/>
            </a:pPr>
            <a:r>
              <a:rPr lang="en-US" sz="1000" b="1" dirty="0">
                <a:solidFill>
                  <a:srgbClr val="0F172A"/>
                </a:solidFill>
                <a:latin typeface="Calibri" pitchFamily="34" charset="0"/>
                <a:ea typeface="Calibri" pitchFamily="34" charset="-122"/>
                <a:cs typeface="Calibri" pitchFamily="34" charset="-120"/>
              </a:rPr>
              <a:t>CARD</a:t>
            </a:r>
            <a:endParaRPr lang="en-US" sz="1000" dirty="0"/>
          </a:p>
        </p:txBody>
      </p:sp>
      <p:sp>
        <p:nvSpPr>
          <p:cNvPr id="10" name="a3f_b9"/>
          <p:cNvSpPr txBox="1"/>
          <p:nvPr/>
        </p:nvSpPr>
        <p:spPr>
          <a:xfrm>
            <a:off x="457200" y="3429000"/>
            <a:ext cx="1417320" cy="384048"/>
          </a:xfrm>
          <a:prstGeom prst="roundRect">
            <a:avLst>
              <a:gd name="adj" fmla="val 14000"/>
            </a:avLst>
          </a:prstGeom>
          <a:solidFill>
            <a:srgbClr val="EDE9FE"/>
          </a:solidFill>
          <a:ln w="9525">
            <a:solidFill>
              <a:srgbClr val="6D28D9"/>
            </a:solidFill>
            <a:prstDash val="solid"/>
          </a:ln>
        </p:spPr>
        <p:txBody>
          <a:bodyPr wrap="square" lIns="0" tIns="0" rIns="0" bIns="0" rtlCol="0" anchor="ctr"/>
          <a:lstStyle/>
          <a:p>
            <a:pPr marL="0" indent="0" algn="ctr">
              <a:buNone/>
            </a:pPr>
            <a:r>
              <a:rPr lang="en-US" sz="1000" b="1" dirty="0">
                <a:solidFill>
                  <a:srgbClr val="0F172A"/>
                </a:solidFill>
                <a:latin typeface="Calibri" pitchFamily="34" charset="0"/>
                <a:ea typeface="Calibri" pitchFamily="34" charset="-122"/>
                <a:cs typeface="Calibri" pitchFamily="34" charset="-120"/>
              </a:rPr>
              <a:t>LOAN_PAYMENT</a:t>
            </a:r>
            <a:endParaRPr lang="en-US" sz="1000" dirty="0"/>
          </a:p>
        </p:txBody>
      </p:sp>
      <p:sp>
        <p:nvSpPr>
          <p:cNvPr id="11" name="a3f_b10"/>
          <p:cNvSpPr txBox="1"/>
          <p:nvPr/>
        </p:nvSpPr>
        <p:spPr>
          <a:xfrm>
            <a:off x="2423160" y="3429000"/>
            <a:ext cx="1097280" cy="384048"/>
          </a:xfrm>
          <a:prstGeom prst="roundRect">
            <a:avLst>
              <a:gd name="adj" fmla="val 14000"/>
            </a:avLst>
          </a:prstGeom>
          <a:solidFill>
            <a:srgbClr val="EDE9FE"/>
          </a:solidFill>
          <a:ln w="9525">
            <a:solidFill>
              <a:srgbClr val="6D28D9"/>
            </a:solidFill>
            <a:prstDash val="solid"/>
          </a:ln>
        </p:spPr>
        <p:txBody>
          <a:bodyPr wrap="square" lIns="0" tIns="0" rIns="0" bIns="0" rtlCol="0" anchor="ctr"/>
          <a:lstStyle/>
          <a:p>
            <a:pPr marL="0" indent="0" algn="ctr">
              <a:buNone/>
            </a:pPr>
            <a:r>
              <a:rPr lang="en-US" sz="1000" b="1" dirty="0">
                <a:solidFill>
                  <a:srgbClr val="0F172A"/>
                </a:solidFill>
                <a:latin typeface="Calibri" pitchFamily="34" charset="0"/>
                <a:ea typeface="Calibri" pitchFamily="34" charset="-122"/>
                <a:cs typeface="Calibri" pitchFamily="34" charset="-120"/>
              </a:rPr>
              <a:t>LOAN</a:t>
            </a:r>
            <a:endParaRPr lang="en-US" sz="1000" dirty="0"/>
          </a:p>
        </p:txBody>
      </p:sp>
      <p:sp>
        <p:nvSpPr>
          <p:cNvPr id="12" name="a3f_b11"/>
          <p:cNvSpPr txBox="1"/>
          <p:nvPr/>
        </p:nvSpPr>
        <p:spPr>
          <a:xfrm>
            <a:off x="3611880" y="3429000"/>
            <a:ext cx="1280160" cy="384048"/>
          </a:xfrm>
          <a:prstGeom prst="roundRect">
            <a:avLst>
              <a:gd name="adj" fmla="val 14000"/>
            </a:avLst>
          </a:prstGeom>
          <a:solidFill>
            <a:srgbClr val="EDE9FE"/>
          </a:solidFill>
          <a:ln w="9525">
            <a:solidFill>
              <a:srgbClr val="6D28D9"/>
            </a:solidFill>
            <a:prstDash val="solid"/>
          </a:ln>
        </p:spPr>
        <p:txBody>
          <a:bodyPr wrap="square" lIns="0" tIns="0" rIns="0" bIns="0" rtlCol="0" anchor="ctr"/>
          <a:lstStyle/>
          <a:p>
            <a:pPr marL="0" indent="0" algn="ctr">
              <a:buNone/>
            </a:pPr>
            <a:r>
              <a:rPr lang="en-US" sz="1000" b="1" dirty="0">
                <a:solidFill>
                  <a:srgbClr val="0F172A"/>
                </a:solidFill>
                <a:latin typeface="Calibri" pitchFamily="34" charset="0"/>
                <a:ea typeface="Calibri" pitchFamily="34" charset="-122"/>
                <a:cs typeface="Calibri" pitchFamily="34" charset="-120"/>
              </a:rPr>
              <a:t>BENEFICIARY</a:t>
            </a:r>
            <a:endParaRPr lang="en-US" sz="1000" dirty="0"/>
          </a:p>
        </p:txBody>
      </p:sp>
      <p:sp>
        <p:nvSpPr>
          <p:cNvPr id="13" name="a3f_b12"/>
          <p:cNvSpPr txBox="1"/>
          <p:nvPr/>
        </p:nvSpPr>
        <p:spPr>
          <a:xfrm>
            <a:off x="5120640" y="3429000"/>
            <a:ext cx="1463040" cy="384048"/>
          </a:xfrm>
          <a:prstGeom prst="roundRect">
            <a:avLst>
              <a:gd name="adj" fmla="val 14000"/>
            </a:avLst>
          </a:prstGeom>
          <a:solidFill>
            <a:srgbClr val="EDE9FE"/>
          </a:solidFill>
          <a:ln w="9525">
            <a:solidFill>
              <a:srgbClr val="6D28D9"/>
            </a:solidFill>
            <a:prstDash val="solid"/>
          </a:ln>
        </p:spPr>
        <p:txBody>
          <a:bodyPr wrap="square" lIns="0" tIns="0" rIns="0" bIns="0" rtlCol="0" anchor="ctr"/>
          <a:lstStyle/>
          <a:p>
            <a:pPr marL="0" indent="0" algn="ctr">
              <a:buNone/>
            </a:pPr>
            <a:r>
              <a:rPr lang="en-US" sz="1000" b="1" dirty="0">
                <a:solidFill>
                  <a:srgbClr val="0F172A"/>
                </a:solidFill>
                <a:latin typeface="Calibri" pitchFamily="34" charset="0"/>
                <a:ea typeface="Calibri" pitchFamily="34" charset="-122"/>
                <a:cs typeface="Calibri" pitchFamily="34" charset="-120"/>
              </a:rPr>
              <a:t>FIXED_DEPOSIT</a:t>
            </a:r>
            <a:endParaRPr lang="en-US" sz="1000" dirty="0"/>
          </a:p>
        </p:txBody>
      </p:sp>
      <p:cxnSp>
        <p:nvCxnSpPr>
          <p:cNvPr id="14" name="a1f_r13"/>
          <p:cNvCxnSpPr/>
          <p:nvPr/>
        </p:nvCxnSpPr>
        <p:spPr>
          <a:xfrm>
            <a:off x="1783080" y="1426464"/>
            <a:ext cx="1234440" cy="0"/>
          </a:xfrm>
          <a:prstGeom prst="line">
            <a:avLst/>
          </a:prstGeom>
          <a:ln w="15875">
            <a:solidFill>
              <a:srgbClr val="334155"/>
            </a:solidFill>
          </a:ln>
        </p:spPr>
      </p:cxnSp>
      <p:cxnSp>
        <p:nvCxnSpPr>
          <p:cNvPr id="15" name="a1f_r14"/>
          <p:cNvCxnSpPr/>
          <p:nvPr/>
        </p:nvCxnSpPr>
        <p:spPr>
          <a:xfrm flipV="1">
            <a:off x="1847088" y="1344168"/>
            <a:ext cx="0" cy="164592"/>
          </a:xfrm>
          <a:prstGeom prst="line">
            <a:avLst/>
          </a:prstGeom>
          <a:ln w="15875">
            <a:solidFill>
              <a:srgbClr val="334155"/>
            </a:solidFill>
          </a:ln>
        </p:spPr>
      </p:cxnSp>
      <p:cxnSp>
        <p:nvCxnSpPr>
          <p:cNvPr id="16" name="a1f_r15"/>
          <p:cNvCxnSpPr/>
          <p:nvPr/>
        </p:nvCxnSpPr>
        <p:spPr>
          <a:xfrm flipV="1">
            <a:off x="1911096" y="1344168"/>
            <a:ext cx="0" cy="164592"/>
          </a:xfrm>
          <a:prstGeom prst="line">
            <a:avLst/>
          </a:prstGeom>
          <a:ln w="15875">
            <a:solidFill>
              <a:srgbClr val="334155"/>
            </a:solidFill>
          </a:ln>
        </p:spPr>
      </p:cxnSp>
      <p:cxnSp>
        <p:nvCxnSpPr>
          <p:cNvPr id="17" name="a1f_r16"/>
          <p:cNvCxnSpPr/>
          <p:nvPr/>
        </p:nvCxnSpPr>
        <p:spPr>
          <a:xfrm flipV="1">
            <a:off x="2852928" y="1335024"/>
            <a:ext cx="164592" cy="91440"/>
          </a:xfrm>
          <a:prstGeom prst="line">
            <a:avLst/>
          </a:prstGeom>
          <a:ln w="15875">
            <a:solidFill>
              <a:srgbClr val="334155"/>
            </a:solidFill>
          </a:ln>
        </p:spPr>
      </p:cxnSp>
      <p:cxnSp>
        <p:nvCxnSpPr>
          <p:cNvPr id="18" name="a1f_r17"/>
          <p:cNvCxnSpPr/>
          <p:nvPr/>
        </p:nvCxnSpPr>
        <p:spPr>
          <a:xfrm>
            <a:off x="2852928" y="1426464"/>
            <a:ext cx="164592" cy="91440"/>
          </a:xfrm>
          <a:prstGeom prst="line">
            <a:avLst/>
          </a:prstGeom>
          <a:ln w="15875">
            <a:solidFill>
              <a:srgbClr val="334155"/>
            </a:solidFill>
          </a:ln>
        </p:spPr>
      </p:cxnSp>
      <p:sp>
        <p:nvSpPr>
          <p:cNvPr id="19" name="a1f_r18"/>
          <p:cNvSpPr/>
          <p:nvPr/>
        </p:nvSpPr>
        <p:spPr>
          <a:xfrm>
            <a:off x="2702052" y="1376172"/>
            <a:ext cx="100584" cy="100584"/>
          </a:xfrm>
          <a:prstGeom prst="ellipse">
            <a:avLst/>
          </a:prstGeom>
          <a:solidFill>
            <a:srgbClr val="FFFFFF"/>
          </a:solidFill>
          <a:ln w="15875">
            <a:solidFill>
              <a:srgbClr val="334155"/>
            </a:solidFill>
            <a:prstDash val="solid"/>
          </a:ln>
        </p:spPr>
      </p:sp>
      <p:cxnSp>
        <p:nvCxnSpPr>
          <p:cNvPr id="20" name="a1f_r19"/>
          <p:cNvCxnSpPr/>
          <p:nvPr/>
        </p:nvCxnSpPr>
        <p:spPr>
          <a:xfrm>
            <a:off x="4343400" y="1426464"/>
            <a:ext cx="1097280" cy="0"/>
          </a:xfrm>
          <a:prstGeom prst="line">
            <a:avLst/>
          </a:prstGeom>
          <a:ln w="15875">
            <a:solidFill>
              <a:srgbClr val="334155"/>
            </a:solidFill>
          </a:ln>
        </p:spPr>
      </p:cxnSp>
      <p:cxnSp>
        <p:nvCxnSpPr>
          <p:cNvPr id="21" name="a1f_r20"/>
          <p:cNvCxnSpPr/>
          <p:nvPr/>
        </p:nvCxnSpPr>
        <p:spPr>
          <a:xfrm flipV="1">
            <a:off x="4407408" y="1344168"/>
            <a:ext cx="0" cy="164592"/>
          </a:xfrm>
          <a:prstGeom prst="line">
            <a:avLst/>
          </a:prstGeom>
          <a:ln w="15875">
            <a:solidFill>
              <a:srgbClr val="334155"/>
            </a:solidFill>
          </a:ln>
        </p:spPr>
      </p:cxnSp>
      <p:cxnSp>
        <p:nvCxnSpPr>
          <p:cNvPr id="22" name="a1f_r21"/>
          <p:cNvCxnSpPr/>
          <p:nvPr/>
        </p:nvCxnSpPr>
        <p:spPr>
          <a:xfrm flipV="1">
            <a:off x="4471416" y="1344168"/>
            <a:ext cx="0" cy="164592"/>
          </a:xfrm>
          <a:prstGeom prst="line">
            <a:avLst/>
          </a:prstGeom>
          <a:ln w="15875">
            <a:solidFill>
              <a:srgbClr val="334155"/>
            </a:solidFill>
          </a:ln>
        </p:spPr>
      </p:cxnSp>
      <p:cxnSp>
        <p:nvCxnSpPr>
          <p:cNvPr id="23" name="a1f_r22"/>
          <p:cNvCxnSpPr/>
          <p:nvPr/>
        </p:nvCxnSpPr>
        <p:spPr>
          <a:xfrm flipV="1">
            <a:off x="5276088" y="1335024"/>
            <a:ext cx="164592" cy="91440"/>
          </a:xfrm>
          <a:prstGeom prst="line">
            <a:avLst/>
          </a:prstGeom>
          <a:ln w="15875">
            <a:solidFill>
              <a:srgbClr val="334155"/>
            </a:solidFill>
          </a:ln>
        </p:spPr>
      </p:cxnSp>
      <p:cxnSp>
        <p:nvCxnSpPr>
          <p:cNvPr id="24" name="a1f_r23"/>
          <p:cNvCxnSpPr/>
          <p:nvPr/>
        </p:nvCxnSpPr>
        <p:spPr>
          <a:xfrm>
            <a:off x="5276088" y="1426464"/>
            <a:ext cx="164592" cy="91440"/>
          </a:xfrm>
          <a:prstGeom prst="line">
            <a:avLst/>
          </a:prstGeom>
          <a:ln w="15875">
            <a:solidFill>
              <a:srgbClr val="334155"/>
            </a:solidFill>
          </a:ln>
        </p:spPr>
      </p:cxnSp>
      <p:sp>
        <p:nvSpPr>
          <p:cNvPr id="25" name="a1f_r24"/>
          <p:cNvSpPr/>
          <p:nvPr/>
        </p:nvSpPr>
        <p:spPr>
          <a:xfrm>
            <a:off x="5125212" y="1376172"/>
            <a:ext cx="100584" cy="100584"/>
          </a:xfrm>
          <a:prstGeom prst="ellipse">
            <a:avLst/>
          </a:prstGeom>
          <a:solidFill>
            <a:srgbClr val="FFFFFF"/>
          </a:solidFill>
          <a:ln w="15875">
            <a:solidFill>
              <a:srgbClr val="334155"/>
            </a:solidFill>
            <a:prstDash val="solid"/>
          </a:ln>
        </p:spPr>
      </p:sp>
      <p:cxnSp>
        <p:nvCxnSpPr>
          <p:cNvPr id="26" name="a2f_r25"/>
          <p:cNvCxnSpPr/>
          <p:nvPr/>
        </p:nvCxnSpPr>
        <p:spPr>
          <a:xfrm>
            <a:off x="6675120" y="1426464"/>
            <a:ext cx="640080" cy="0"/>
          </a:xfrm>
          <a:prstGeom prst="line">
            <a:avLst/>
          </a:prstGeom>
          <a:ln w="15875">
            <a:solidFill>
              <a:srgbClr val="334155"/>
            </a:solidFill>
          </a:ln>
        </p:spPr>
      </p:cxnSp>
      <p:cxnSp>
        <p:nvCxnSpPr>
          <p:cNvPr id="27" name="a2f_r26"/>
          <p:cNvCxnSpPr/>
          <p:nvPr/>
        </p:nvCxnSpPr>
        <p:spPr>
          <a:xfrm flipV="1">
            <a:off x="6739128" y="1344168"/>
            <a:ext cx="0" cy="164592"/>
          </a:xfrm>
          <a:prstGeom prst="line">
            <a:avLst/>
          </a:prstGeom>
          <a:ln w="15875">
            <a:solidFill>
              <a:srgbClr val="334155"/>
            </a:solidFill>
          </a:ln>
        </p:spPr>
      </p:cxnSp>
      <p:cxnSp>
        <p:nvCxnSpPr>
          <p:cNvPr id="28" name="a2f_r27"/>
          <p:cNvCxnSpPr/>
          <p:nvPr/>
        </p:nvCxnSpPr>
        <p:spPr>
          <a:xfrm flipV="1">
            <a:off x="6803136" y="1344168"/>
            <a:ext cx="0" cy="164592"/>
          </a:xfrm>
          <a:prstGeom prst="line">
            <a:avLst/>
          </a:prstGeom>
          <a:ln w="15875">
            <a:solidFill>
              <a:srgbClr val="334155"/>
            </a:solidFill>
          </a:ln>
        </p:spPr>
      </p:cxnSp>
      <p:cxnSp>
        <p:nvCxnSpPr>
          <p:cNvPr id="29" name="a2f_r28"/>
          <p:cNvCxnSpPr/>
          <p:nvPr/>
        </p:nvCxnSpPr>
        <p:spPr>
          <a:xfrm flipV="1">
            <a:off x="7150608" y="1335024"/>
            <a:ext cx="164592" cy="91440"/>
          </a:xfrm>
          <a:prstGeom prst="line">
            <a:avLst/>
          </a:prstGeom>
          <a:ln w="15875">
            <a:solidFill>
              <a:srgbClr val="334155"/>
            </a:solidFill>
          </a:ln>
        </p:spPr>
      </p:cxnSp>
      <p:cxnSp>
        <p:nvCxnSpPr>
          <p:cNvPr id="30" name="a2f_r29"/>
          <p:cNvCxnSpPr/>
          <p:nvPr/>
        </p:nvCxnSpPr>
        <p:spPr>
          <a:xfrm>
            <a:off x="7150608" y="1426464"/>
            <a:ext cx="164592" cy="91440"/>
          </a:xfrm>
          <a:prstGeom prst="line">
            <a:avLst/>
          </a:prstGeom>
          <a:ln w="15875">
            <a:solidFill>
              <a:srgbClr val="334155"/>
            </a:solidFill>
          </a:ln>
        </p:spPr>
      </p:cxnSp>
      <p:sp>
        <p:nvSpPr>
          <p:cNvPr id="31" name="a2f_r30"/>
          <p:cNvSpPr/>
          <p:nvPr/>
        </p:nvSpPr>
        <p:spPr>
          <a:xfrm>
            <a:off x="6999732" y="1376172"/>
            <a:ext cx="100584" cy="100584"/>
          </a:xfrm>
          <a:prstGeom prst="ellipse">
            <a:avLst/>
          </a:prstGeom>
          <a:solidFill>
            <a:srgbClr val="FFFFFF"/>
          </a:solidFill>
          <a:ln w="15875">
            <a:solidFill>
              <a:srgbClr val="334155"/>
            </a:solidFill>
            <a:prstDash val="solid"/>
          </a:ln>
        </p:spPr>
      </p:sp>
      <p:cxnSp>
        <p:nvCxnSpPr>
          <p:cNvPr id="32" name="a2f_r31"/>
          <p:cNvCxnSpPr/>
          <p:nvPr/>
        </p:nvCxnSpPr>
        <p:spPr>
          <a:xfrm>
            <a:off x="6057900" y="1618488"/>
            <a:ext cx="0" cy="850392"/>
          </a:xfrm>
          <a:prstGeom prst="line">
            <a:avLst/>
          </a:prstGeom>
          <a:ln w="15875">
            <a:solidFill>
              <a:srgbClr val="334155"/>
            </a:solidFill>
          </a:ln>
        </p:spPr>
      </p:cxnSp>
      <p:cxnSp>
        <p:nvCxnSpPr>
          <p:cNvPr id="33" name="a2f_r32"/>
          <p:cNvCxnSpPr/>
          <p:nvPr/>
        </p:nvCxnSpPr>
        <p:spPr>
          <a:xfrm>
            <a:off x="5975604" y="1682496"/>
            <a:ext cx="164592" cy="0"/>
          </a:xfrm>
          <a:prstGeom prst="line">
            <a:avLst/>
          </a:prstGeom>
          <a:ln w="15875">
            <a:solidFill>
              <a:srgbClr val="334155"/>
            </a:solidFill>
          </a:ln>
        </p:spPr>
      </p:cxnSp>
      <p:cxnSp>
        <p:nvCxnSpPr>
          <p:cNvPr id="34" name="a2f_r33"/>
          <p:cNvCxnSpPr/>
          <p:nvPr/>
        </p:nvCxnSpPr>
        <p:spPr>
          <a:xfrm>
            <a:off x="5975604" y="1746504"/>
            <a:ext cx="164592" cy="0"/>
          </a:xfrm>
          <a:prstGeom prst="line">
            <a:avLst/>
          </a:prstGeom>
          <a:ln w="15875">
            <a:solidFill>
              <a:srgbClr val="334155"/>
            </a:solidFill>
          </a:ln>
        </p:spPr>
      </p:cxnSp>
      <p:cxnSp>
        <p:nvCxnSpPr>
          <p:cNvPr id="35" name="a2f_r34"/>
          <p:cNvCxnSpPr/>
          <p:nvPr/>
        </p:nvCxnSpPr>
        <p:spPr>
          <a:xfrm>
            <a:off x="6057900" y="2304288"/>
            <a:ext cx="91440" cy="164592"/>
          </a:xfrm>
          <a:prstGeom prst="line">
            <a:avLst/>
          </a:prstGeom>
          <a:ln w="15875">
            <a:solidFill>
              <a:srgbClr val="334155"/>
            </a:solidFill>
          </a:ln>
        </p:spPr>
      </p:cxnSp>
      <p:cxnSp>
        <p:nvCxnSpPr>
          <p:cNvPr id="36" name="a2f_r35"/>
          <p:cNvCxnSpPr/>
          <p:nvPr/>
        </p:nvCxnSpPr>
        <p:spPr>
          <a:xfrm flipH="1">
            <a:off x="5966460" y="2304288"/>
            <a:ext cx="91440" cy="164592"/>
          </a:xfrm>
          <a:prstGeom prst="line">
            <a:avLst/>
          </a:prstGeom>
          <a:ln w="15875">
            <a:solidFill>
              <a:srgbClr val="334155"/>
            </a:solidFill>
          </a:ln>
        </p:spPr>
      </p:cxnSp>
      <p:sp>
        <p:nvSpPr>
          <p:cNvPr id="37" name="a2f_r36"/>
          <p:cNvSpPr/>
          <p:nvPr/>
        </p:nvSpPr>
        <p:spPr>
          <a:xfrm>
            <a:off x="6007608" y="2153412"/>
            <a:ext cx="100584" cy="100584"/>
          </a:xfrm>
          <a:prstGeom prst="ellipse">
            <a:avLst/>
          </a:prstGeom>
          <a:solidFill>
            <a:srgbClr val="FFFFFF"/>
          </a:solidFill>
          <a:ln w="15875">
            <a:solidFill>
              <a:srgbClr val="334155"/>
            </a:solidFill>
            <a:prstDash val="solid"/>
          </a:ln>
        </p:spPr>
      </p:sp>
      <p:cxnSp>
        <p:nvCxnSpPr>
          <p:cNvPr id="38" name="a4f_r37"/>
          <p:cNvCxnSpPr/>
          <p:nvPr/>
        </p:nvCxnSpPr>
        <p:spPr>
          <a:xfrm>
            <a:off x="1120140" y="1618488"/>
            <a:ext cx="0" cy="850392"/>
          </a:xfrm>
          <a:prstGeom prst="line">
            <a:avLst/>
          </a:prstGeom>
          <a:ln w="15875">
            <a:solidFill>
              <a:srgbClr val="334155"/>
            </a:solidFill>
          </a:ln>
        </p:spPr>
      </p:cxnSp>
      <p:cxnSp>
        <p:nvCxnSpPr>
          <p:cNvPr id="39" name="a4f_r38"/>
          <p:cNvCxnSpPr/>
          <p:nvPr/>
        </p:nvCxnSpPr>
        <p:spPr>
          <a:xfrm>
            <a:off x="1037844" y="1682496"/>
            <a:ext cx="164592" cy="0"/>
          </a:xfrm>
          <a:prstGeom prst="line">
            <a:avLst/>
          </a:prstGeom>
          <a:ln w="15875">
            <a:solidFill>
              <a:srgbClr val="334155"/>
            </a:solidFill>
          </a:ln>
        </p:spPr>
      </p:cxnSp>
      <p:cxnSp>
        <p:nvCxnSpPr>
          <p:cNvPr id="40" name="a4f_r39"/>
          <p:cNvCxnSpPr/>
          <p:nvPr/>
        </p:nvCxnSpPr>
        <p:spPr>
          <a:xfrm>
            <a:off x="1037844" y="1746504"/>
            <a:ext cx="164592" cy="0"/>
          </a:xfrm>
          <a:prstGeom prst="line">
            <a:avLst/>
          </a:prstGeom>
          <a:ln w="15875">
            <a:solidFill>
              <a:srgbClr val="334155"/>
            </a:solidFill>
          </a:ln>
        </p:spPr>
      </p:cxnSp>
      <p:cxnSp>
        <p:nvCxnSpPr>
          <p:cNvPr id="41" name="a4f_r40"/>
          <p:cNvCxnSpPr/>
          <p:nvPr/>
        </p:nvCxnSpPr>
        <p:spPr>
          <a:xfrm>
            <a:off x="1120140" y="2304288"/>
            <a:ext cx="91440" cy="164592"/>
          </a:xfrm>
          <a:prstGeom prst="line">
            <a:avLst/>
          </a:prstGeom>
          <a:ln w="15875">
            <a:solidFill>
              <a:srgbClr val="334155"/>
            </a:solidFill>
          </a:ln>
        </p:spPr>
      </p:cxnSp>
      <p:cxnSp>
        <p:nvCxnSpPr>
          <p:cNvPr id="42" name="a4f_r41"/>
          <p:cNvCxnSpPr/>
          <p:nvPr/>
        </p:nvCxnSpPr>
        <p:spPr>
          <a:xfrm flipH="1">
            <a:off x="1028700" y="2304288"/>
            <a:ext cx="91440" cy="164592"/>
          </a:xfrm>
          <a:prstGeom prst="line">
            <a:avLst/>
          </a:prstGeom>
          <a:ln w="15875">
            <a:solidFill>
              <a:srgbClr val="334155"/>
            </a:solidFill>
          </a:ln>
        </p:spPr>
      </p:cxnSp>
      <p:sp>
        <p:nvSpPr>
          <p:cNvPr id="43" name="a4f_r42"/>
          <p:cNvSpPr/>
          <p:nvPr/>
        </p:nvSpPr>
        <p:spPr>
          <a:xfrm>
            <a:off x="1069848" y="2153412"/>
            <a:ext cx="100584" cy="100584"/>
          </a:xfrm>
          <a:prstGeom prst="ellipse">
            <a:avLst/>
          </a:prstGeom>
          <a:solidFill>
            <a:srgbClr val="FFFFFF"/>
          </a:solidFill>
          <a:ln w="15875">
            <a:solidFill>
              <a:srgbClr val="334155"/>
            </a:solidFill>
            <a:prstDash val="solid"/>
          </a:ln>
        </p:spPr>
      </p:sp>
      <p:cxnSp>
        <p:nvCxnSpPr>
          <p:cNvPr id="44" name="a4f_r43"/>
          <p:cNvCxnSpPr/>
          <p:nvPr/>
        </p:nvCxnSpPr>
        <p:spPr>
          <a:xfrm>
            <a:off x="777240" y="2852928"/>
            <a:ext cx="0" cy="256032"/>
          </a:xfrm>
          <a:prstGeom prst="line">
            <a:avLst/>
          </a:prstGeom>
          <a:ln w="15875">
            <a:solidFill>
              <a:srgbClr val="334155"/>
            </a:solidFill>
          </a:ln>
        </p:spPr>
      </p:cxnSp>
      <p:cxnSp>
        <p:nvCxnSpPr>
          <p:cNvPr id="45" name="a4f_r44"/>
          <p:cNvCxnSpPr/>
          <p:nvPr/>
        </p:nvCxnSpPr>
        <p:spPr>
          <a:xfrm>
            <a:off x="777240" y="3108960"/>
            <a:ext cx="685800" cy="0"/>
          </a:xfrm>
          <a:prstGeom prst="line">
            <a:avLst/>
          </a:prstGeom>
          <a:ln w="15875">
            <a:solidFill>
              <a:srgbClr val="334155"/>
            </a:solidFill>
          </a:ln>
        </p:spPr>
      </p:cxnSp>
      <p:cxnSp>
        <p:nvCxnSpPr>
          <p:cNvPr id="46" name="a4f_r45"/>
          <p:cNvCxnSpPr/>
          <p:nvPr/>
        </p:nvCxnSpPr>
        <p:spPr>
          <a:xfrm flipV="1">
            <a:off x="1463040" y="2852928"/>
            <a:ext cx="0" cy="256032"/>
          </a:xfrm>
          <a:prstGeom prst="line">
            <a:avLst/>
          </a:prstGeom>
          <a:ln w="15875">
            <a:solidFill>
              <a:srgbClr val="334155"/>
            </a:solidFill>
          </a:ln>
        </p:spPr>
      </p:cxnSp>
      <p:sp>
        <p:nvSpPr>
          <p:cNvPr id="47" name="a4f_rt46"/>
          <p:cNvSpPr txBox="1"/>
          <p:nvPr/>
        </p:nvSpPr>
        <p:spPr>
          <a:xfrm>
            <a:off x="1554480" y="2926080"/>
            <a:ext cx="1188720" cy="27432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manages (optional)</a:t>
            </a:r>
            <a:endParaRPr lang="en-US" sz="900" dirty="0"/>
          </a:p>
        </p:txBody>
      </p:sp>
      <p:cxnSp>
        <p:nvCxnSpPr>
          <p:cNvPr id="48" name="a3f_r47"/>
          <p:cNvCxnSpPr/>
          <p:nvPr/>
        </p:nvCxnSpPr>
        <p:spPr>
          <a:xfrm>
            <a:off x="3680460" y="1618488"/>
            <a:ext cx="0" cy="1536192"/>
          </a:xfrm>
          <a:prstGeom prst="line">
            <a:avLst/>
          </a:prstGeom>
          <a:ln w="15875">
            <a:solidFill>
              <a:srgbClr val="334155"/>
            </a:solidFill>
          </a:ln>
        </p:spPr>
      </p:cxnSp>
      <p:cxnSp>
        <p:nvCxnSpPr>
          <p:cNvPr id="49" name="a3f_r48"/>
          <p:cNvCxnSpPr/>
          <p:nvPr/>
        </p:nvCxnSpPr>
        <p:spPr>
          <a:xfrm>
            <a:off x="3598164" y="1682496"/>
            <a:ext cx="164592" cy="0"/>
          </a:xfrm>
          <a:prstGeom prst="line">
            <a:avLst/>
          </a:prstGeom>
          <a:ln w="15875">
            <a:solidFill>
              <a:srgbClr val="334155"/>
            </a:solidFill>
          </a:ln>
        </p:spPr>
      </p:cxnSp>
      <p:cxnSp>
        <p:nvCxnSpPr>
          <p:cNvPr id="50" name="a3f_r49"/>
          <p:cNvCxnSpPr/>
          <p:nvPr/>
        </p:nvCxnSpPr>
        <p:spPr>
          <a:xfrm>
            <a:off x="3598164" y="1746504"/>
            <a:ext cx="164592" cy="0"/>
          </a:xfrm>
          <a:prstGeom prst="line">
            <a:avLst/>
          </a:prstGeom>
          <a:ln w="15875">
            <a:solidFill>
              <a:srgbClr val="334155"/>
            </a:solidFill>
          </a:ln>
        </p:spPr>
      </p:cxnSp>
      <p:cxnSp>
        <p:nvCxnSpPr>
          <p:cNvPr id="51" name="a3f_r50"/>
          <p:cNvCxnSpPr/>
          <p:nvPr/>
        </p:nvCxnSpPr>
        <p:spPr>
          <a:xfrm>
            <a:off x="2971800" y="3154680"/>
            <a:ext cx="2880360" cy="0"/>
          </a:xfrm>
          <a:prstGeom prst="line">
            <a:avLst/>
          </a:prstGeom>
          <a:ln w="15875">
            <a:solidFill>
              <a:srgbClr val="334155"/>
            </a:solidFill>
          </a:ln>
        </p:spPr>
      </p:cxnSp>
      <p:cxnSp>
        <p:nvCxnSpPr>
          <p:cNvPr id="52" name="a3f_r51"/>
          <p:cNvCxnSpPr/>
          <p:nvPr/>
        </p:nvCxnSpPr>
        <p:spPr>
          <a:xfrm>
            <a:off x="2971800" y="3154680"/>
            <a:ext cx="0" cy="274320"/>
          </a:xfrm>
          <a:prstGeom prst="line">
            <a:avLst/>
          </a:prstGeom>
          <a:ln w="15875">
            <a:solidFill>
              <a:srgbClr val="334155"/>
            </a:solidFill>
          </a:ln>
        </p:spPr>
      </p:cxnSp>
      <p:cxnSp>
        <p:nvCxnSpPr>
          <p:cNvPr id="53" name="a3f_r52"/>
          <p:cNvCxnSpPr/>
          <p:nvPr/>
        </p:nvCxnSpPr>
        <p:spPr>
          <a:xfrm>
            <a:off x="2971800" y="3264408"/>
            <a:ext cx="91440" cy="164592"/>
          </a:xfrm>
          <a:prstGeom prst="line">
            <a:avLst/>
          </a:prstGeom>
          <a:ln w="15875">
            <a:solidFill>
              <a:srgbClr val="334155"/>
            </a:solidFill>
          </a:ln>
        </p:spPr>
      </p:cxnSp>
      <p:cxnSp>
        <p:nvCxnSpPr>
          <p:cNvPr id="54" name="a3f_r53"/>
          <p:cNvCxnSpPr/>
          <p:nvPr/>
        </p:nvCxnSpPr>
        <p:spPr>
          <a:xfrm flipH="1">
            <a:off x="2880360" y="3264408"/>
            <a:ext cx="91440" cy="164592"/>
          </a:xfrm>
          <a:prstGeom prst="line">
            <a:avLst/>
          </a:prstGeom>
          <a:ln w="15875">
            <a:solidFill>
              <a:srgbClr val="334155"/>
            </a:solidFill>
          </a:ln>
        </p:spPr>
      </p:cxnSp>
      <p:sp>
        <p:nvSpPr>
          <p:cNvPr id="55" name="a3f_r54"/>
          <p:cNvSpPr/>
          <p:nvPr/>
        </p:nvSpPr>
        <p:spPr>
          <a:xfrm>
            <a:off x="2921508" y="3113532"/>
            <a:ext cx="100584" cy="100584"/>
          </a:xfrm>
          <a:prstGeom prst="ellipse">
            <a:avLst/>
          </a:prstGeom>
          <a:solidFill>
            <a:srgbClr val="FFFFFF"/>
          </a:solidFill>
          <a:ln w="15875">
            <a:solidFill>
              <a:srgbClr val="334155"/>
            </a:solidFill>
            <a:prstDash val="solid"/>
          </a:ln>
        </p:spPr>
      </p:sp>
      <p:cxnSp>
        <p:nvCxnSpPr>
          <p:cNvPr id="56" name="a3f_r55"/>
          <p:cNvCxnSpPr/>
          <p:nvPr/>
        </p:nvCxnSpPr>
        <p:spPr>
          <a:xfrm>
            <a:off x="4251960" y="3154680"/>
            <a:ext cx="0" cy="274320"/>
          </a:xfrm>
          <a:prstGeom prst="line">
            <a:avLst/>
          </a:prstGeom>
          <a:ln w="15875">
            <a:solidFill>
              <a:srgbClr val="334155"/>
            </a:solidFill>
          </a:ln>
        </p:spPr>
      </p:cxnSp>
      <p:cxnSp>
        <p:nvCxnSpPr>
          <p:cNvPr id="57" name="a3f_r56"/>
          <p:cNvCxnSpPr/>
          <p:nvPr/>
        </p:nvCxnSpPr>
        <p:spPr>
          <a:xfrm>
            <a:off x="4251960" y="3264408"/>
            <a:ext cx="91440" cy="164592"/>
          </a:xfrm>
          <a:prstGeom prst="line">
            <a:avLst/>
          </a:prstGeom>
          <a:ln w="15875">
            <a:solidFill>
              <a:srgbClr val="334155"/>
            </a:solidFill>
          </a:ln>
        </p:spPr>
      </p:cxnSp>
      <p:cxnSp>
        <p:nvCxnSpPr>
          <p:cNvPr id="58" name="a3f_r57"/>
          <p:cNvCxnSpPr/>
          <p:nvPr/>
        </p:nvCxnSpPr>
        <p:spPr>
          <a:xfrm flipH="1">
            <a:off x="4160520" y="3264408"/>
            <a:ext cx="91440" cy="164592"/>
          </a:xfrm>
          <a:prstGeom prst="line">
            <a:avLst/>
          </a:prstGeom>
          <a:ln w="15875">
            <a:solidFill>
              <a:srgbClr val="334155"/>
            </a:solidFill>
          </a:ln>
        </p:spPr>
      </p:cxnSp>
      <p:sp>
        <p:nvSpPr>
          <p:cNvPr id="59" name="a3f_r58"/>
          <p:cNvSpPr/>
          <p:nvPr/>
        </p:nvSpPr>
        <p:spPr>
          <a:xfrm>
            <a:off x="4201668" y="3113532"/>
            <a:ext cx="100584" cy="100584"/>
          </a:xfrm>
          <a:prstGeom prst="ellipse">
            <a:avLst/>
          </a:prstGeom>
          <a:solidFill>
            <a:srgbClr val="FFFFFF"/>
          </a:solidFill>
          <a:ln w="15875">
            <a:solidFill>
              <a:srgbClr val="334155"/>
            </a:solidFill>
            <a:prstDash val="solid"/>
          </a:ln>
        </p:spPr>
      </p:sp>
      <p:cxnSp>
        <p:nvCxnSpPr>
          <p:cNvPr id="60" name="a3f_r59"/>
          <p:cNvCxnSpPr/>
          <p:nvPr/>
        </p:nvCxnSpPr>
        <p:spPr>
          <a:xfrm>
            <a:off x="5852160" y="3154680"/>
            <a:ext cx="0" cy="274320"/>
          </a:xfrm>
          <a:prstGeom prst="line">
            <a:avLst/>
          </a:prstGeom>
          <a:ln w="15875">
            <a:solidFill>
              <a:srgbClr val="334155"/>
            </a:solidFill>
          </a:ln>
        </p:spPr>
      </p:cxnSp>
      <p:cxnSp>
        <p:nvCxnSpPr>
          <p:cNvPr id="61" name="a3f_r60"/>
          <p:cNvCxnSpPr/>
          <p:nvPr/>
        </p:nvCxnSpPr>
        <p:spPr>
          <a:xfrm>
            <a:off x="5852160" y="3264408"/>
            <a:ext cx="91440" cy="164592"/>
          </a:xfrm>
          <a:prstGeom prst="line">
            <a:avLst/>
          </a:prstGeom>
          <a:ln w="15875">
            <a:solidFill>
              <a:srgbClr val="334155"/>
            </a:solidFill>
          </a:ln>
        </p:spPr>
      </p:cxnSp>
      <p:cxnSp>
        <p:nvCxnSpPr>
          <p:cNvPr id="62" name="a3f_r61"/>
          <p:cNvCxnSpPr/>
          <p:nvPr/>
        </p:nvCxnSpPr>
        <p:spPr>
          <a:xfrm flipH="1">
            <a:off x="5760720" y="3264408"/>
            <a:ext cx="91440" cy="164592"/>
          </a:xfrm>
          <a:prstGeom prst="line">
            <a:avLst/>
          </a:prstGeom>
          <a:ln w="15875">
            <a:solidFill>
              <a:srgbClr val="334155"/>
            </a:solidFill>
          </a:ln>
        </p:spPr>
      </p:cxnSp>
      <p:sp>
        <p:nvSpPr>
          <p:cNvPr id="63" name="a3f_r62"/>
          <p:cNvSpPr/>
          <p:nvPr/>
        </p:nvSpPr>
        <p:spPr>
          <a:xfrm>
            <a:off x="5801868" y="3113532"/>
            <a:ext cx="100584" cy="100584"/>
          </a:xfrm>
          <a:prstGeom prst="ellipse">
            <a:avLst/>
          </a:prstGeom>
          <a:solidFill>
            <a:srgbClr val="FFFFFF"/>
          </a:solidFill>
          <a:ln w="15875">
            <a:solidFill>
              <a:srgbClr val="334155"/>
            </a:solidFill>
            <a:prstDash val="solid"/>
          </a:ln>
        </p:spPr>
      </p:sp>
      <p:cxnSp>
        <p:nvCxnSpPr>
          <p:cNvPr id="64" name="a3f_r63"/>
          <p:cNvCxnSpPr/>
          <p:nvPr/>
        </p:nvCxnSpPr>
        <p:spPr>
          <a:xfrm>
            <a:off x="1874520" y="3621024"/>
            <a:ext cx="548640" cy="0"/>
          </a:xfrm>
          <a:prstGeom prst="line">
            <a:avLst/>
          </a:prstGeom>
          <a:ln w="15875">
            <a:solidFill>
              <a:srgbClr val="334155"/>
            </a:solidFill>
          </a:ln>
        </p:spPr>
      </p:cxnSp>
      <p:cxnSp>
        <p:nvCxnSpPr>
          <p:cNvPr id="65" name="a3f_r64"/>
          <p:cNvCxnSpPr/>
          <p:nvPr/>
        </p:nvCxnSpPr>
        <p:spPr>
          <a:xfrm flipH="1">
            <a:off x="1874520" y="3621024"/>
            <a:ext cx="164592" cy="91440"/>
          </a:xfrm>
          <a:prstGeom prst="line">
            <a:avLst/>
          </a:prstGeom>
          <a:ln w="15875">
            <a:solidFill>
              <a:srgbClr val="334155"/>
            </a:solidFill>
          </a:ln>
        </p:spPr>
      </p:cxnSp>
      <p:cxnSp>
        <p:nvCxnSpPr>
          <p:cNvPr id="66" name="a3f_r65"/>
          <p:cNvCxnSpPr/>
          <p:nvPr/>
        </p:nvCxnSpPr>
        <p:spPr>
          <a:xfrm flipH="1" flipV="1">
            <a:off x="1874520" y="3529584"/>
            <a:ext cx="164592" cy="91440"/>
          </a:xfrm>
          <a:prstGeom prst="line">
            <a:avLst/>
          </a:prstGeom>
          <a:ln w="15875">
            <a:solidFill>
              <a:srgbClr val="334155"/>
            </a:solidFill>
          </a:ln>
        </p:spPr>
      </p:cxnSp>
      <p:cxnSp>
        <p:nvCxnSpPr>
          <p:cNvPr id="67" name="a3f_r66"/>
          <p:cNvCxnSpPr/>
          <p:nvPr/>
        </p:nvCxnSpPr>
        <p:spPr>
          <a:xfrm flipV="1">
            <a:off x="2121408" y="3538728"/>
            <a:ext cx="0" cy="164592"/>
          </a:xfrm>
          <a:prstGeom prst="line">
            <a:avLst/>
          </a:prstGeom>
          <a:ln w="15875">
            <a:solidFill>
              <a:srgbClr val="334155"/>
            </a:solidFill>
          </a:ln>
        </p:spPr>
      </p:cxnSp>
      <p:cxnSp>
        <p:nvCxnSpPr>
          <p:cNvPr id="68" name="a3f_r67"/>
          <p:cNvCxnSpPr/>
          <p:nvPr/>
        </p:nvCxnSpPr>
        <p:spPr>
          <a:xfrm>
            <a:off x="2359152" y="3538728"/>
            <a:ext cx="0" cy="164592"/>
          </a:xfrm>
          <a:prstGeom prst="line">
            <a:avLst/>
          </a:prstGeom>
          <a:ln w="15875">
            <a:solidFill>
              <a:srgbClr val="334155"/>
            </a:solidFill>
          </a:ln>
        </p:spPr>
      </p:cxnSp>
      <p:cxnSp>
        <p:nvCxnSpPr>
          <p:cNvPr id="69" name="a3f_r68"/>
          <p:cNvCxnSpPr/>
          <p:nvPr/>
        </p:nvCxnSpPr>
        <p:spPr>
          <a:xfrm>
            <a:off x="2295144" y="3538728"/>
            <a:ext cx="0" cy="164592"/>
          </a:xfrm>
          <a:prstGeom prst="line">
            <a:avLst/>
          </a:prstGeom>
          <a:ln w="15875">
            <a:solidFill>
              <a:srgbClr val="334155"/>
            </a:solidFill>
          </a:ln>
        </p:spPr>
      </p:cxnSp>
      <p:sp>
        <p:nvSpPr>
          <p:cNvPr id="70" name="a5u_lg69"/>
          <p:cNvSpPr txBox="1"/>
          <p:nvPr/>
        </p:nvSpPr>
        <p:spPr>
          <a:xfrm>
            <a:off x="6812280" y="2468880"/>
            <a:ext cx="1874520" cy="1344168"/>
          </a:xfrm>
          <a:prstGeom prst="roundRect">
            <a:avLst>
              <a:gd name="adj" fmla="val 6000"/>
            </a:avLst>
          </a:prstGeom>
          <a:solidFill>
            <a:srgbClr val="FFFFFF"/>
          </a:solidFill>
          <a:ln w="12700">
            <a:solidFill>
              <a:srgbClr val="E2E8F0"/>
            </a:solidFill>
            <a:prstDash val="solid"/>
          </a:ln>
        </p:spPr>
        <p:txBody>
          <a:bodyPr wrap="square" lIns="109728" tIns="73152" rIns="91440" bIns="45720" rtlCol="0" anchor="t"/>
          <a:lstStyle/>
          <a:p>
            <a:pPr marL="0" indent="0">
              <a:spcAft>
                <a:spcPts val="300"/>
              </a:spcAft>
              <a:buNone/>
            </a:pPr>
            <a:r>
              <a:rPr lang="en-US" sz="900" b="1" kern="0" spc="150" dirty="0">
                <a:solidFill>
                  <a:srgbClr val="64748B"/>
                </a:solidFill>
                <a:latin typeface="Calibri" pitchFamily="34" charset="0"/>
                <a:ea typeface="Calibri" pitchFamily="34" charset="-122"/>
                <a:cs typeface="Calibri" pitchFamily="34" charset="-120"/>
              </a:rPr>
              <a:t>LEGEND</a:t>
            </a:r>
            <a:endParaRPr lang="en-US" sz="900" dirty="0"/>
          </a:p>
          <a:p>
            <a:pPr marL="0" indent="0">
              <a:buNone/>
            </a:pPr>
            <a:r>
              <a:rPr lang="en-US" sz="1000" dirty="0">
                <a:solidFill>
                  <a:srgbClr val="0F172A"/>
                </a:solidFill>
                <a:latin typeface="Courier New" pitchFamily="34" charset="0"/>
                <a:ea typeface="Courier New" pitchFamily="34" charset="-122"/>
                <a:cs typeface="Courier New" pitchFamily="34" charset="-120"/>
              </a:rPr>
              <a:t>||  exactly one</a:t>
            </a:r>
            <a:endParaRPr lang="en-US" sz="1000" dirty="0"/>
          </a:p>
          <a:p>
            <a:pPr marL="0" indent="0">
              <a:buNone/>
            </a:pPr>
            <a:r>
              <a:rPr lang="en-US" sz="1000" dirty="0">
                <a:solidFill>
                  <a:srgbClr val="0F172A"/>
                </a:solidFill>
                <a:latin typeface="Courier New" pitchFamily="34" charset="0"/>
                <a:ea typeface="Courier New" pitchFamily="34" charset="-122"/>
                <a:cs typeface="Courier New" pitchFamily="34" charset="-120"/>
              </a:rPr>
              <a:t>o{  zero or many</a:t>
            </a:r>
            <a:endParaRPr lang="en-US" sz="1000" dirty="0"/>
          </a:p>
          <a:p>
            <a:pPr marL="0" indent="0">
              <a:buNone/>
            </a:pPr>
            <a:r>
              <a:rPr lang="en-US" sz="1000" dirty="0">
                <a:solidFill>
                  <a:srgbClr val="0F172A"/>
                </a:solidFill>
                <a:latin typeface="Courier New" pitchFamily="34" charset="0"/>
                <a:ea typeface="Courier New" pitchFamily="34" charset="-122"/>
                <a:cs typeface="Courier New" pitchFamily="34" charset="-120"/>
              </a:rPr>
              <a:t>|{  one or many</a:t>
            </a:r>
            <a:endParaRPr lang="en-US" sz="1000" dirty="0"/>
          </a:p>
          <a:p>
            <a:pPr marL="0" indent="0">
              <a:buNone/>
            </a:pPr>
            <a:r>
              <a:rPr lang="en-US" sz="900" i="1" dirty="0">
                <a:solidFill>
                  <a:srgbClr val="64748B"/>
                </a:solidFill>
                <a:latin typeface="Calibri" pitchFamily="34" charset="0"/>
                <a:ea typeface="Calibri" pitchFamily="34" charset="-122"/>
                <a:cs typeface="Calibri" pitchFamily="34" charset="-120"/>
              </a:rPr>
              <a:t>LOAN ||—|{ LOAN_PAYMENT: a loan always has a schedule</a:t>
            </a:r>
            <a:endParaRPr lang="en-US" sz="900" dirty="0"/>
          </a:p>
        </p:txBody>
      </p:sp>
      <p:sp>
        <p:nvSpPr>
          <p:cNvPr id="71" name="a5u_ft70"/>
          <p:cNvSpPr txBox="1"/>
          <p:nvPr/>
        </p:nvSpPr>
        <p:spPr>
          <a:xfrm>
            <a:off x="457200" y="4114800"/>
            <a:ext cx="8229600" cy="548640"/>
          </a:xfrm>
          <a:prstGeom prst="rect">
            <a:avLst/>
          </a:prstGeom>
          <a:noFill/>
          <a:ln/>
        </p:spPr>
        <p:txBody>
          <a:bodyPr wrap="square" lIns="0" tIns="0" rIns="0" bIns="0" rtlCol="0" anchor="t"/>
          <a:lstStyle/>
          <a:p>
            <a:pPr marL="0" indent="0">
              <a:buNone/>
            </a:pPr>
            <a:r>
              <a:rPr lang="en-US" sz="1200" b="1" dirty="0">
                <a:solidFill>
                  <a:srgbClr val="0F172A"/>
                </a:solidFill>
                <a:latin typeface="Calibri" pitchFamily="34" charset="0"/>
                <a:ea typeface="Calibri" pitchFamily="34" charset="-122"/>
                <a:cs typeface="Calibri" pitchFamily="34" charset="-120"/>
              </a:rPr>
              <a:t>Nine core entities + fixed_deposit from Module 2. </a:t>
            </a:r>
            <a:r>
              <a:rPr lang="en-US" sz="1200" dirty="0">
                <a:solidFill>
                  <a:srgbClr val="334155"/>
                </a:solidFill>
                <a:latin typeface="Calibri" pitchFamily="34" charset="0"/>
                <a:ea typeface="Calibri" pitchFamily="34" charset="-122"/>
                <a:cs typeface="Calibri" pitchFamily="34" charset="-120"/>
              </a:rPr>
              <a:t>One relationship is mandatory on the many side: a loan must have at least one row in its schedule.</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par>
                                <p:cTn id="32" presetID="10" presetClass="entr" presetSubtype="0" fill="hold"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500"/>
                                        <p:tgtEl>
                                          <p:spTgt spid="20"/>
                                        </p:tgtEl>
                                      </p:cBhvr>
                                    </p:animEffect>
                                  </p:childTnLst>
                                </p:cTn>
                              </p:par>
                              <p:par>
                                <p:cTn id="35" presetID="10" presetClass="entr" presetSubtype="0" fill="hold" nodeType="with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500"/>
                                        <p:tgtEl>
                                          <p:spTgt spid="21"/>
                                        </p:tgtEl>
                                      </p:cBhvr>
                                    </p:animEffect>
                                  </p:childTnLst>
                                </p:cTn>
                              </p:par>
                              <p:par>
                                <p:cTn id="38" presetID="10" presetClass="entr" presetSubtype="0" fill="hold" nodeType="with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500"/>
                                        <p:tgtEl>
                                          <p:spTgt spid="22"/>
                                        </p:tgtEl>
                                      </p:cBhvr>
                                    </p:animEffect>
                                  </p:childTnLst>
                                </p:cTn>
                              </p:par>
                              <p:par>
                                <p:cTn id="41" presetID="10" presetClass="entr" presetSubtype="0" fill="hold" nodeType="with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500"/>
                                        <p:tgtEl>
                                          <p:spTgt spid="23"/>
                                        </p:tgtEl>
                                      </p:cBhvr>
                                    </p:animEffect>
                                  </p:childTnLst>
                                </p:cTn>
                              </p:par>
                              <p:par>
                                <p:cTn id="44" presetID="10" presetClass="entr" presetSubtype="0" fill="hold"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500"/>
                                        <p:tgtEl>
                                          <p:spTgt spid="2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500"/>
                                        <p:tgtEl>
                                          <p:spTgt spid="25"/>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7"/>
                                        </p:tgtEl>
                                        <p:attrNameLst>
                                          <p:attrName>style.visibility</p:attrName>
                                        </p:attrNameLst>
                                      </p:cBhvr>
                                      <p:to>
                                        <p:strVal val="visible"/>
                                      </p:to>
                                    </p:set>
                                    <p:animEffect transition="in" filter="fade">
                                      <p:cBhvr>
                                        <p:cTn id="54" dur="500"/>
                                        <p:tgtEl>
                                          <p:spTgt spid="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fade">
                                      <p:cBhvr>
                                        <p:cTn id="57" dur="500"/>
                                        <p:tgtEl>
                                          <p:spTgt spid="9"/>
                                        </p:tgtEl>
                                      </p:cBhvr>
                                    </p:animEffect>
                                  </p:childTnLst>
                                </p:cTn>
                              </p:par>
                              <p:par>
                                <p:cTn id="58" presetID="10" presetClass="entr" presetSubtype="0" fill="hold" nodeType="withEffect">
                                  <p:stCondLst>
                                    <p:cond delay="0"/>
                                  </p:stCondLst>
                                  <p:childTnLst>
                                    <p:set>
                                      <p:cBhvr>
                                        <p:cTn id="59" dur="1" fill="hold">
                                          <p:stCondLst>
                                            <p:cond delay="0"/>
                                          </p:stCondLst>
                                        </p:cTn>
                                        <p:tgtEl>
                                          <p:spTgt spid="26"/>
                                        </p:tgtEl>
                                        <p:attrNameLst>
                                          <p:attrName>style.visibility</p:attrName>
                                        </p:attrNameLst>
                                      </p:cBhvr>
                                      <p:to>
                                        <p:strVal val="visible"/>
                                      </p:to>
                                    </p:set>
                                    <p:animEffect transition="in" filter="fade">
                                      <p:cBhvr>
                                        <p:cTn id="60" dur="500"/>
                                        <p:tgtEl>
                                          <p:spTgt spid="26"/>
                                        </p:tgtEl>
                                      </p:cBhvr>
                                    </p:animEffect>
                                  </p:childTnLst>
                                </p:cTn>
                              </p:par>
                              <p:par>
                                <p:cTn id="61" presetID="10" presetClass="entr" presetSubtype="0" fill="hold" nodeType="withEffect">
                                  <p:stCondLst>
                                    <p:cond delay="0"/>
                                  </p:stCondLst>
                                  <p:childTnLst>
                                    <p:set>
                                      <p:cBhvr>
                                        <p:cTn id="62" dur="1" fill="hold">
                                          <p:stCondLst>
                                            <p:cond delay="0"/>
                                          </p:stCondLst>
                                        </p:cTn>
                                        <p:tgtEl>
                                          <p:spTgt spid="27"/>
                                        </p:tgtEl>
                                        <p:attrNameLst>
                                          <p:attrName>style.visibility</p:attrName>
                                        </p:attrNameLst>
                                      </p:cBhvr>
                                      <p:to>
                                        <p:strVal val="visible"/>
                                      </p:to>
                                    </p:set>
                                    <p:animEffect transition="in" filter="fade">
                                      <p:cBhvr>
                                        <p:cTn id="63" dur="500"/>
                                        <p:tgtEl>
                                          <p:spTgt spid="27"/>
                                        </p:tgtEl>
                                      </p:cBhvr>
                                    </p:animEffect>
                                  </p:childTnLst>
                                </p:cTn>
                              </p:par>
                              <p:par>
                                <p:cTn id="64" presetID="10" presetClass="entr" presetSubtype="0" fill="hold" nodeType="withEffect">
                                  <p:stCondLst>
                                    <p:cond delay="0"/>
                                  </p:stCondLst>
                                  <p:childTnLst>
                                    <p:set>
                                      <p:cBhvr>
                                        <p:cTn id="65" dur="1" fill="hold">
                                          <p:stCondLst>
                                            <p:cond delay="0"/>
                                          </p:stCondLst>
                                        </p:cTn>
                                        <p:tgtEl>
                                          <p:spTgt spid="28"/>
                                        </p:tgtEl>
                                        <p:attrNameLst>
                                          <p:attrName>style.visibility</p:attrName>
                                        </p:attrNameLst>
                                      </p:cBhvr>
                                      <p:to>
                                        <p:strVal val="visible"/>
                                      </p:to>
                                    </p:set>
                                    <p:animEffect transition="in" filter="fade">
                                      <p:cBhvr>
                                        <p:cTn id="66" dur="500"/>
                                        <p:tgtEl>
                                          <p:spTgt spid="28"/>
                                        </p:tgtEl>
                                      </p:cBhvr>
                                    </p:animEffect>
                                  </p:childTnLst>
                                </p:cTn>
                              </p:par>
                              <p:par>
                                <p:cTn id="67" presetID="10" presetClass="entr" presetSubtype="0" fill="hold" nodeType="withEffect">
                                  <p:stCondLst>
                                    <p:cond delay="0"/>
                                  </p:stCondLst>
                                  <p:childTnLst>
                                    <p:set>
                                      <p:cBhvr>
                                        <p:cTn id="68" dur="1" fill="hold">
                                          <p:stCondLst>
                                            <p:cond delay="0"/>
                                          </p:stCondLst>
                                        </p:cTn>
                                        <p:tgtEl>
                                          <p:spTgt spid="29"/>
                                        </p:tgtEl>
                                        <p:attrNameLst>
                                          <p:attrName>style.visibility</p:attrName>
                                        </p:attrNameLst>
                                      </p:cBhvr>
                                      <p:to>
                                        <p:strVal val="visible"/>
                                      </p:to>
                                    </p:set>
                                    <p:animEffect transition="in" filter="fade">
                                      <p:cBhvr>
                                        <p:cTn id="69" dur="500"/>
                                        <p:tgtEl>
                                          <p:spTgt spid="29"/>
                                        </p:tgtEl>
                                      </p:cBhvr>
                                    </p:animEffect>
                                  </p:childTnLst>
                                </p:cTn>
                              </p:par>
                              <p:par>
                                <p:cTn id="70" presetID="10" presetClass="entr" presetSubtype="0" fill="hold" nodeType="withEffect">
                                  <p:stCondLst>
                                    <p:cond delay="0"/>
                                  </p:stCondLst>
                                  <p:childTnLst>
                                    <p:set>
                                      <p:cBhvr>
                                        <p:cTn id="71" dur="1" fill="hold">
                                          <p:stCondLst>
                                            <p:cond delay="0"/>
                                          </p:stCondLst>
                                        </p:cTn>
                                        <p:tgtEl>
                                          <p:spTgt spid="30"/>
                                        </p:tgtEl>
                                        <p:attrNameLst>
                                          <p:attrName>style.visibility</p:attrName>
                                        </p:attrNameLst>
                                      </p:cBhvr>
                                      <p:to>
                                        <p:strVal val="visible"/>
                                      </p:to>
                                    </p:set>
                                    <p:animEffect transition="in" filter="fade">
                                      <p:cBhvr>
                                        <p:cTn id="72" dur="500"/>
                                        <p:tgtEl>
                                          <p:spTgt spid="30"/>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1"/>
                                        </p:tgtEl>
                                        <p:attrNameLst>
                                          <p:attrName>style.visibility</p:attrName>
                                        </p:attrNameLst>
                                      </p:cBhvr>
                                      <p:to>
                                        <p:strVal val="visible"/>
                                      </p:to>
                                    </p:set>
                                    <p:animEffect transition="in" filter="fade">
                                      <p:cBhvr>
                                        <p:cTn id="75" dur="500"/>
                                        <p:tgtEl>
                                          <p:spTgt spid="31"/>
                                        </p:tgtEl>
                                      </p:cBhvr>
                                    </p:animEffect>
                                  </p:childTnLst>
                                </p:cTn>
                              </p:par>
                              <p:par>
                                <p:cTn id="76" presetID="10" presetClass="entr" presetSubtype="0" fill="hold" nodeType="withEffect">
                                  <p:stCondLst>
                                    <p:cond delay="0"/>
                                  </p:stCondLst>
                                  <p:childTnLst>
                                    <p:set>
                                      <p:cBhvr>
                                        <p:cTn id="77" dur="1" fill="hold">
                                          <p:stCondLst>
                                            <p:cond delay="0"/>
                                          </p:stCondLst>
                                        </p:cTn>
                                        <p:tgtEl>
                                          <p:spTgt spid="32"/>
                                        </p:tgtEl>
                                        <p:attrNameLst>
                                          <p:attrName>style.visibility</p:attrName>
                                        </p:attrNameLst>
                                      </p:cBhvr>
                                      <p:to>
                                        <p:strVal val="visible"/>
                                      </p:to>
                                    </p:set>
                                    <p:animEffect transition="in" filter="fade">
                                      <p:cBhvr>
                                        <p:cTn id="78" dur="500"/>
                                        <p:tgtEl>
                                          <p:spTgt spid="32"/>
                                        </p:tgtEl>
                                      </p:cBhvr>
                                    </p:animEffect>
                                  </p:childTnLst>
                                </p:cTn>
                              </p:par>
                              <p:par>
                                <p:cTn id="79" presetID="10" presetClass="entr" presetSubtype="0" fill="hold" nodeType="withEffect">
                                  <p:stCondLst>
                                    <p:cond delay="0"/>
                                  </p:stCondLst>
                                  <p:childTnLst>
                                    <p:set>
                                      <p:cBhvr>
                                        <p:cTn id="80" dur="1" fill="hold">
                                          <p:stCondLst>
                                            <p:cond delay="0"/>
                                          </p:stCondLst>
                                        </p:cTn>
                                        <p:tgtEl>
                                          <p:spTgt spid="33"/>
                                        </p:tgtEl>
                                        <p:attrNameLst>
                                          <p:attrName>style.visibility</p:attrName>
                                        </p:attrNameLst>
                                      </p:cBhvr>
                                      <p:to>
                                        <p:strVal val="visible"/>
                                      </p:to>
                                    </p:set>
                                    <p:animEffect transition="in" filter="fade">
                                      <p:cBhvr>
                                        <p:cTn id="81" dur="500"/>
                                        <p:tgtEl>
                                          <p:spTgt spid="33"/>
                                        </p:tgtEl>
                                      </p:cBhvr>
                                    </p:animEffect>
                                  </p:childTnLst>
                                </p:cTn>
                              </p:par>
                              <p:par>
                                <p:cTn id="82" presetID="10" presetClass="entr" presetSubtype="0" fill="hold" nodeType="with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500"/>
                                        <p:tgtEl>
                                          <p:spTgt spid="34"/>
                                        </p:tgtEl>
                                      </p:cBhvr>
                                    </p:animEffect>
                                  </p:childTnLst>
                                </p:cTn>
                              </p:par>
                              <p:par>
                                <p:cTn id="85" presetID="10" presetClass="entr" presetSubtype="0" fill="hold" nodeType="withEffect">
                                  <p:stCondLst>
                                    <p:cond delay="0"/>
                                  </p:stCondLst>
                                  <p:childTnLst>
                                    <p:set>
                                      <p:cBhvr>
                                        <p:cTn id="86" dur="1" fill="hold">
                                          <p:stCondLst>
                                            <p:cond delay="0"/>
                                          </p:stCondLst>
                                        </p:cTn>
                                        <p:tgtEl>
                                          <p:spTgt spid="35"/>
                                        </p:tgtEl>
                                        <p:attrNameLst>
                                          <p:attrName>style.visibility</p:attrName>
                                        </p:attrNameLst>
                                      </p:cBhvr>
                                      <p:to>
                                        <p:strVal val="visible"/>
                                      </p:to>
                                    </p:set>
                                    <p:animEffect transition="in" filter="fade">
                                      <p:cBhvr>
                                        <p:cTn id="87" dur="500"/>
                                        <p:tgtEl>
                                          <p:spTgt spid="35"/>
                                        </p:tgtEl>
                                      </p:cBhvr>
                                    </p:animEffect>
                                  </p:childTnLst>
                                </p:cTn>
                              </p:par>
                              <p:par>
                                <p:cTn id="88" presetID="10" presetClass="entr" presetSubtype="0" fill="hold" nodeType="withEffect">
                                  <p:stCondLst>
                                    <p:cond delay="0"/>
                                  </p:stCondLst>
                                  <p:childTnLst>
                                    <p:set>
                                      <p:cBhvr>
                                        <p:cTn id="89" dur="1" fill="hold">
                                          <p:stCondLst>
                                            <p:cond delay="0"/>
                                          </p:stCondLst>
                                        </p:cTn>
                                        <p:tgtEl>
                                          <p:spTgt spid="36"/>
                                        </p:tgtEl>
                                        <p:attrNameLst>
                                          <p:attrName>style.visibility</p:attrName>
                                        </p:attrNameLst>
                                      </p:cBhvr>
                                      <p:to>
                                        <p:strVal val="visible"/>
                                      </p:to>
                                    </p:set>
                                    <p:animEffect transition="in" filter="fade">
                                      <p:cBhvr>
                                        <p:cTn id="90" dur="500"/>
                                        <p:tgtEl>
                                          <p:spTgt spid="36"/>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7"/>
                                        </p:tgtEl>
                                        <p:attrNameLst>
                                          <p:attrName>style.visibility</p:attrName>
                                        </p:attrNameLst>
                                      </p:cBhvr>
                                      <p:to>
                                        <p:strVal val="visible"/>
                                      </p:to>
                                    </p:set>
                                    <p:animEffect transition="in" filter="fade">
                                      <p:cBhvr>
                                        <p:cTn id="93" dur="500"/>
                                        <p:tgtEl>
                                          <p:spTgt spid="37"/>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10"/>
                                        </p:tgtEl>
                                        <p:attrNameLst>
                                          <p:attrName>style.visibility</p:attrName>
                                        </p:attrNameLst>
                                      </p:cBhvr>
                                      <p:to>
                                        <p:strVal val="visible"/>
                                      </p:to>
                                    </p:set>
                                    <p:animEffect transition="in" filter="fade">
                                      <p:cBhvr>
                                        <p:cTn id="98" dur="500"/>
                                        <p:tgtEl>
                                          <p:spTgt spid="10"/>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11"/>
                                        </p:tgtEl>
                                        <p:attrNameLst>
                                          <p:attrName>style.visibility</p:attrName>
                                        </p:attrNameLst>
                                      </p:cBhvr>
                                      <p:to>
                                        <p:strVal val="visible"/>
                                      </p:to>
                                    </p:set>
                                    <p:animEffect transition="in" filter="fade">
                                      <p:cBhvr>
                                        <p:cTn id="101" dur="500"/>
                                        <p:tgtEl>
                                          <p:spTgt spid="11"/>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12"/>
                                        </p:tgtEl>
                                        <p:attrNameLst>
                                          <p:attrName>style.visibility</p:attrName>
                                        </p:attrNameLst>
                                      </p:cBhvr>
                                      <p:to>
                                        <p:strVal val="visible"/>
                                      </p:to>
                                    </p:set>
                                    <p:animEffect transition="in" filter="fade">
                                      <p:cBhvr>
                                        <p:cTn id="104" dur="500"/>
                                        <p:tgtEl>
                                          <p:spTgt spid="12"/>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13"/>
                                        </p:tgtEl>
                                        <p:attrNameLst>
                                          <p:attrName>style.visibility</p:attrName>
                                        </p:attrNameLst>
                                      </p:cBhvr>
                                      <p:to>
                                        <p:strVal val="visible"/>
                                      </p:to>
                                    </p:set>
                                    <p:animEffect transition="in" filter="fade">
                                      <p:cBhvr>
                                        <p:cTn id="107" dur="500"/>
                                        <p:tgtEl>
                                          <p:spTgt spid="13"/>
                                        </p:tgtEl>
                                      </p:cBhvr>
                                    </p:animEffect>
                                  </p:childTnLst>
                                </p:cTn>
                              </p:par>
                              <p:par>
                                <p:cTn id="108" presetID="10" presetClass="entr" presetSubtype="0" fill="hold" nodeType="withEffect">
                                  <p:stCondLst>
                                    <p:cond delay="0"/>
                                  </p:stCondLst>
                                  <p:childTnLst>
                                    <p:set>
                                      <p:cBhvr>
                                        <p:cTn id="109" dur="1" fill="hold">
                                          <p:stCondLst>
                                            <p:cond delay="0"/>
                                          </p:stCondLst>
                                        </p:cTn>
                                        <p:tgtEl>
                                          <p:spTgt spid="48"/>
                                        </p:tgtEl>
                                        <p:attrNameLst>
                                          <p:attrName>style.visibility</p:attrName>
                                        </p:attrNameLst>
                                      </p:cBhvr>
                                      <p:to>
                                        <p:strVal val="visible"/>
                                      </p:to>
                                    </p:set>
                                    <p:animEffect transition="in" filter="fade">
                                      <p:cBhvr>
                                        <p:cTn id="110" dur="500"/>
                                        <p:tgtEl>
                                          <p:spTgt spid="48"/>
                                        </p:tgtEl>
                                      </p:cBhvr>
                                    </p:animEffect>
                                  </p:childTnLst>
                                </p:cTn>
                              </p:par>
                              <p:par>
                                <p:cTn id="111" presetID="10" presetClass="entr" presetSubtype="0" fill="hold" nodeType="withEffect">
                                  <p:stCondLst>
                                    <p:cond delay="0"/>
                                  </p:stCondLst>
                                  <p:childTnLst>
                                    <p:set>
                                      <p:cBhvr>
                                        <p:cTn id="112" dur="1" fill="hold">
                                          <p:stCondLst>
                                            <p:cond delay="0"/>
                                          </p:stCondLst>
                                        </p:cTn>
                                        <p:tgtEl>
                                          <p:spTgt spid="49"/>
                                        </p:tgtEl>
                                        <p:attrNameLst>
                                          <p:attrName>style.visibility</p:attrName>
                                        </p:attrNameLst>
                                      </p:cBhvr>
                                      <p:to>
                                        <p:strVal val="visible"/>
                                      </p:to>
                                    </p:set>
                                    <p:animEffect transition="in" filter="fade">
                                      <p:cBhvr>
                                        <p:cTn id="113" dur="500"/>
                                        <p:tgtEl>
                                          <p:spTgt spid="49"/>
                                        </p:tgtEl>
                                      </p:cBhvr>
                                    </p:animEffect>
                                  </p:childTnLst>
                                </p:cTn>
                              </p:par>
                              <p:par>
                                <p:cTn id="114" presetID="10" presetClass="entr" presetSubtype="0" fill="hold" nodeType="withEffect">
                                  <p:stCondLst>
                                    <p:cond delay="0"/>
                                  </p:stCondLst>
                                  <p:childTnLst>
                                    <p:set>
                                      <p:cBhvr>
                                        <p:cTn id="115" dur="1" fill="hold">
                                          <p:stCondLst>
                                            <p:cond delay="0"/>
                                          </p:stCondLst>
                                        </p:cTn>
                                        <p:tgtEl>
                                          <p:spTgt spid="50"/>
                                        </p:tgtEl>
                                        <p:attrNameLst>
                                          <p:attrName>style.visibility</p:attrName>
                                        </p:attrNameLst>
                                      </p:cBhvr>
                                      <p:to>
                                        <p:strVal val="visible"/>
                                      </p:to>
                                    </p:set>
                                    <p:animEffect transition="in" filter="fade">
                                      <p:cBhvr>
                                        <p:cTn id="116" dur="500"/>
                                        <p:tgtEl>
                                          <p:spTgt spid="50"/>
                                        </p:tgtEl>
                                      </p:cBhvr>
                                    </p:animEffect>
                                  </p:childTnLst>
                                </p:cTn>
                              </p:par>
                              <p:par>
                                <p:cTn id="117" presetID="10" presetClass="entr" presetSubtype="0" fill="hold" nodeType="withEffect">
                                  <p:stCondLst>
                                    <p:cond delay="0"/>
                                  </p:stCondLst>
                                  <p:childTnLst>
                                    <p:set>
                                      <p:cBhvr>
                                        <p:cTn id="118" dur="1" fill="hold">
                                          <p:stCondLst>
                                            <p:cond delay="0"/>
                                          </p:stCondLst>
                                        </p:cTn>
                                        <p:tgtEl>
                                          <p:spTgt spid="51"/>
                                        </p:tgtEl>
                                        <p:attrNameLst>
                                          <p:attrName>style.visibility</p:attrName>
                                        </p:attrNameLst>
                                      </p:cBhvr>
                                      <p:to>
                                        <p:strVal val="visible"/>
                                      </p:to>
                                    </p:set>
                                    <p:animEffect transition="in" filter="fade">
                                      <p:cBhvr>
                                        <p:cTn id="119" dur="500"/>
                                        <p:tgtEl>
                                          <p:spTgt spid="51"/>
                                        </p:tgtEl>
                                      </p:cBhvr>
                                    </p:animEffect>
                                  </p:childTnLst>
                                </p:cTn>
                              </p:par>
                              <p:par>
                                <p:cTn id="120" presetID="10" presetClass="entr" presetSubtype="0" fill="hold" nodeType="withEffect">
                                  <p:stCondLst>
                                    <p:cond delay="0"/>
                                  </p:stCondLst>
                                  <p:childTnLst>
                                    <p:set>
                                      <p:cBhvr>
                                        <p:cTn id="121" dur="1" fill="hold">
                                          <p:stCondLst>
                                            <p:cond delay="0"/>
                                          </p:stCondLst>
                                        </p:cTn>
                                        <p:tgtEl>
                                          <p:spTgt spid="52"/>
                                        </p:tgtEl>
                                        <p:attrNameLst>
                                          <p:attrName>style.visibility</p:attrName>
                                        </p:attrNameLst>
                                      </p:cBhvr>
                                      <p:to>
                                        <p:strVal val="visible"/>
                                      </p:to>
                                    </p:set>
                                    <p:animEffect transition="in" filter="fade">
                                      <p:cBhvr>
                                        <p:cTn id="122" dur="500"/>
                                        <p:tgtEl>
                                          <p:spTgt spid="52"/>
                                        </p:tgtEl>
                                      </p:cBhvr>
                                    </p:animEffect>
                                  </p:childTnLst>
                                </p:cTn>
                              </p:par>
                              <p:par>
                                <p:cTn id="123" presetID="10" presetClass="entr" presetSubtype="0" fill="hold" nodeType="withEffect">
                                  <p:stCondLst>
                                    <p:cond delay="0"/>
                                  </p:stCondLst>
                                  <p:childTnLst>
                                    <p:set>
                                      <p:cBhvr>
                                        <p:cTn id="124" dur="1" fill="hold">
                                          <p:stCondLst>
                                            <p:cond delay="0"/>
                                          </p:stCondLst>
                                        </p:cTn>
                                        <p:tgtEl>
                                          <p:spTgt spid="53"/>
                                        </p:tgtEl>
                                        <p:attrNameLst>
                                          <p:attrName>style.visibility</p:attrName>
                                        </p:attrNameLst>
                                      </p:cBhvr>
                                      <p:to>
                                        <p:strVal val="visible"/>
                                      </p:to>
                                    </p:set>
                                    <p:animEffect transition="in" filter="fade">
                                      <p:cBhvr>
                                        <p:cTn id="125" dur="500"/>
                                        <p:tgtEl>
                                          <p:spTgt spid="53"/>
                                        </p:tgtEl>
                                      </p:cBhvr>
                                    </p:animEffect>
                                  </p:childTnLst>
                                </p:cTn>
                              </p:par>
                              <p:par>
                                <p:cTn id="126" presetID="10" presetClass="entr" presetSubtype="0" fill="hold" nodeType="withEffect">
                                  <p:stCondLst>
                                    <p:cond delay="0"/>
                                  </p:stCondLst>
                                  <p:childTnLst>
                                    <p:set>
                                      <p:cBhvr>
                                        <p:cTn id="127" dur="1" fill="hold">
                                          <p:stCondLst>
                                            <p:cond delay="0"/>
                                          </p:stCondLst>
                                        </p:cTn>
                                        <p:tgtEl>
                                          <p:spTgt spid="54"/>
                                        </p:tgtEl>
                                        <p:attrNameLst>
                                          <p:attrName>style.visibility</p:attrName>
                                        </p:attrNameLst>
                                      </p:cBhvr>
                                      <p:to>
                                        <p:strVal val="visible"/>
                                      </p:to>
                                    </p:set>
                                    <p:animEffect transition="in" filter="fade">
                                      <p:cBhvr>
                                        <p:cTn id="128" dur="500"/>
                                        <p:tgtEl>
                                          <p:spTgt spid="54"/>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55"/>
                                        </p:tgtEl>
                                        <p:attrNameLst>
                                          <p:attrName>style.visibility</p:attrName>
                                        </p:attrNameLst>
                                      </p:cBhvr>
                                      <p:to>
                                        <p:strVal val="visible"/>
                                      </p:to>
                                    </p:set>
                                    <p:animEffect transition="in" filter="fade">
                                      <p:cBhvr>
                                        <p:cTn id="131" dur="500"/>
                                        <p:tgtEl>
                                          <p:spTgt spid="55"/>
                                        </p:tgtEl>
                                      </p:cBhvr>
                                    </p:animEffect>
                                  </p:childTnLst>
                                </p:cTn>
                              </p:par>
                              <p:par>
                                <p:cTn id="132" presetID="10" presetClass="entr" presetSubtype="0" fill="hold" nodeType="withEffect">
                                  <p:stCondLst>
                                    <p:cond delay="0"/>
                                  </p:stCondLst>
                                  <p:childTnLst>
                                    <p:set>
                                      <p:cBhvr>
                                        <p:cTn id="133" dur="1" fill="hold">
                                          <p:stCondLst>
                                            <p:cond delay="0"/>
                                          </p:stCondLst>
                                        </p:cTn>
                                        <p:tgtEl>
                                          <p:spTgt spid="56"/>
                                        </p:tgtEl>
                                        <p:attrNameLst>
                                          <p:attrName>style.visibility</p:attrName>
                                        </p:attrNameLst>
                                      </p:cBhvr>
                                      <p:to>
                                        <p:strVal val="visible"/>
                                      </p:to>
                                    </p:set>
                                    <p:animEffect transition="in" filter="fade">
                                      <p:cBhvr>
                                        <p:cTn id="134" dur="500"/>
                                        <p:tgtEl>
                                          <p:spTgt spid="56"/>
                                        </p:tgtEl>
                                      </p:cBhvr>
                                    </p:animEffect>
                                  </p:childTnLst>
                                </p:cTn>
                              </p:par>
                              <p:par>
                                <p:cTn id="135" presetID="10" presetClass="entr" presetSubtype="0" fill="hold" nodeType="withEffect">
                                  <p:stCondLst>
                                    <p:cond delay="0"/>
                                  </p:stCondLst>
                                  <p:childTnLst>
                                    <p:set>
                                      <p:cBhvr>
                                        <p:cTn id="136" dur="1" fill="hold">
                                          <p:stCondLst>
                                            <p:cond delay="0"/>
                                          </p:stCondLst>
                                        </p:cTn>
                                        <p:tgtEl>
                                          <p:spTgt spid="57"/>
                                        </p:tgtEl>
                                        <p:attrNameLst>
                                          <p:attrName>style.visibility</p:attrName>
                                        </p:attrNameLst>
                                      </p:cBhvr>
                                      <p:to>
                                        <p:strVal val="visible"/>
                                      </p:to>
                                    </p:set>
                                    <p:animEffect transition="in" filter="fade">
                                      <p:cBhvr>
                                        <p:cTn id="137" dur="500"/>
                                        <p:tgtEl>
                                          <p:spTgt spid="57"/>
                                        </p:tgtEl>
                                      </p:cBhvr>
                                    </p:animEffect>
                                  </p:childTnLst>
                                </p:cTn>
                              </p:par>
                              <p:par>
                                <p:cTn id="138" presetID="10" presetClass="entr" presetSubtype="0" fill="hold" nodeType="withEffect">
                                  <p:stCondLst>
                                    <p:cond delay="0"/>
                                  </p:stCondLst>
                                  <p:childTnLst>
                                    <p:set>
                                      <p:cBhvr>
                                        <p:cTn id="139" dur="1" fill="hold">
                                          <p:stCondLst>
                                            <p:cond delay="0"/>
                                          </p:stCondLst>
                                        </p:cTn>
                                        <p:tgtEl>
                                          <p:spTgt spid="58"/>
                                        </p:tgtEl>
                                        <p:attrNameLst>
                                          <p:attrName>style.visibility</p:attrName>
                                        </p:attrNameLst>
                                      </p:cBhvr>
                                      <p:to>
                                        <p:strVal val="visible"/>
                                      </p:to>
                                    </p:set>
                                    <p:animEffect transition="in" filter="fade">
                                      <p:cBhvr>
                                        <p:cTn id="140" dur="500"/>
                                        <p:tgtEl>
                                          <p:spTgt spid="58"/>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59"/>
                                        </p:tgtEl>
                                        <p:attrNameLst>
                                          <p:attrName>style.visibility</p:attrName>
                                        </p:attrNameLst>
                                      </p:cBhvr>
                                      <p:to>
                                        <p:strVal val="visible"/>
                                      </p:to>
                                    </p:set>
                                    <p:animEffect transition="in" filter="fade">
                                      <p:cBhvr>
                                        <p:cTn id="143" dur="500"/>
                                        <p:tgtEl>
                                          <p:spTgt spid="59"/>
                                        </p:tgtEl>
                                      </p:cBhvr>
                                    </p:animEffect>
                                  </p:childTnLst>
                                </p:cTn>
                              </p:par>
                              <p:par>
                                <p:cTn id="144" presetID="10" presetClass="entr" presetSubtype="0" fill="hold" nodeType="withEffect">
                                  <p:stCondLst>
                                    <p:cond delay="0"/>
                                  </p:stCondLst>
                                  <p:childTnLst>
                                    <p:set>
                                      <p:cBhvr>
                                        <p:cTn id="145" dur="1" fill="hold">
                                          <p:stCondLst>
                                            <p:cond delay="0"/>
                                          </p:stCondLst>
                                        </p:cTn>
                                        <p:tgtEl>
                                          <p:spTgt spid="60"/>
                                        </p:tgtEl>
                                        <p:attrNameLst>
                                          <p:attrName>style.visibility</p:attrName>
                                        </p:attrNameLst>
                                      </p:cBhvr>
                                      <p:to>
                                        <p:strVal val="visible"/>
                                      </p:to>
                                    </p:set>
                                    <p:animEffect transition="in" filter="fade">
                                      <p:cBhvr>
                                        <p:cTn id="146" dur="500"/>
                                        <p:tgtEl>
                                          <p:spTgt spid="60"/>
                                        </p:tgtEl>
                                      </p:cBhvr>
                                    </p:animEffect>
                                  </p:childTnLst>
                                </p:cTn>
                              </p:par>
                              <p:par>
                                <p:cTn id="147" presetID="10" presetClass="entr" presetSubtype="0" fill="hold" nodeType="withEffect">
                                  <p:stCondLst>
                                    <p:cond delay="0"/>
                                  </p:stCondLst>
                                  <p:childTnLst>
                                    <p:set>
                                      <p:cBhvr>
                                        <p:cTn id="148" dur="1" fill="hold">
                                          <p:stCondLst>
                                            <p:cond delay="0"/>
                                          </p:stCondLst>
                                        </p:cTn>
                                        <p:tgtEl>
                                          <p:spTgt spid="61"/>
                                        </p:tgtEl>
                                        <p:attrNameLst>
                                          <p:attrName>style.visibility</p:attrName>
                                        </p:attrNameLst>
                                      </p:cBhvr>
                                      <p:to>
                                        <p:strVal val="visible"/>
                                      </p:to>
                                    </p:set>
                                    <p:animEffect transition="in" filter="fade">
                                      <p:cBhvr>
                                        <p:cTn id="149" dur="500"/>
                                        <p:tgtEl>
                                          <p:spTgt spid="61"/>
                                        </p:tgtEl>
                                      </p:cBhvr>
                                    </p:animEffect>
                                  </p:childTnLst>
                                </p:cTn>
                              </p:par>
                              <p:par>
                                <p:cTn id="150" presetID="10" presetClass="entr" presetSubtype="0" fill="hold" nodeType="withEffect">
                                  <p:stCondLst>
                                    <p:cond delay="0"/>
                                  </p:stCondLst>
                                  <p:childTnLst>
                                    <p:set>
                                      <p:cBhvr>
                                        <p:cTn id="151" dur="1" fill="hold">
                                          <p:stCondLst>
                                            <p:cond delay="0"/>
                                          </p:stCondLst>
                                        </p:cTn>
                                        <p:tgtEl>
                                          <p:spTgt spid="62"/>
                                        </p:tgtEl>
                                        <p:attrNameLst>
                                          <p:attrName>style.visibility</p:attrName>
                                        </p:attrNameLst>
                                      </p:cBhvr>
                                      <p:to>
                                        <p:strVal val="visible"/>
                                      </p:to>
                                    </p:set>
                                    <p:animEffect transition="in" filter="fade">
                                      <p:cBhvr>
                                        <p:cTn id="152" dur="500"/>
                                        <p:tgtEl>
                                          <p:spTgt spid="62"/>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63"/>
                                        </p:tgtEl>
                                        <p:attrNameLst>
                                          <p:attrName>style.visibility</p:attrName>
                                        </p:attrNameLst>
                                      </p:cBhvr>
                                      <p:to>
                                        <p:strVal val="visible"/>
                                      </p:to>
                                    </p:set>
                                    <p:animEffect transition="in" filter="fade">
                                      <p:cBhvr>
                                        <p:cTn id="155" dur="500"/>
                                        <p:tgtEl>
                                          <p:spTgt spid="63"/>
                                        </p:tgtEl>
                                      </p:cBhvr>
                                    </p:animEffect>
                                  </p:childTnLst>
                                </p:cTn>
                              </p:par>
                              <p:par>
                                <p:cTn id="156" presetID="10" presetClass="entr" presetSubtype="0" fill="hold" nodeType="withEffect">
                                  <p:stCondLst>
                                    <p:cond delay="0"/>
                                  </p:stCondLst>
                                  <p:childTnLst>
                                    <p:set>
                                      <p:cBhvr>
                                        <p:cTn id="157" dur="1" fill="hold">
                                          <p:stCondLst>
                                            <p:cond delay="0"/>
                                          </p:stCondLst>
                                        </p:cTn>
                                        <p:tgtEl>
                                          <p:spTgt spid="64"/>
                                        </p:tgtEl>
                                        <p:attrNameLst>
                                          <p:attrName>style.visibility</p:attrName>
                                        </p:attrNameLst>
                                      </p:cBhvr>
                                      <p:to>
                                        <p:strVal val="visible"/>
                                      </p:to>
                                    </p:set>
                                    <p:animEffect transition="in" filter="fade">
                                      <p:cBhvr>
                                        <p:cTn id="158" dur="500"/>
                                        <p:tgtEl>
                                          <p:spTgt spid="64"/>
                                        </p:tgtEl>
                                      </p:cBhvr>
                                    </p:animEffect>
                                  </p:childTnLst>
                                </p:cTn>
                              </p:par>
                              <p:par>
                                <p:cTn id="159" presetID="10" presetClass="entr" presetSubtype="0" fill="hold" nodeType="withEffect">
                                  <p:stCondLst>
                                    <p:cond delay="0"/>
                                  </p:stCondLst>
                                  <p:childTnLst>
                                    <p:set>
                                      <p:cBhvr>
                                        <p:cTn id="160" dur="1" fill="hold">
                                          <p:stCondLst>
                                            <p:cond delay="0"/>
                                          </p:stCondLst>
                                        </p:cTn>
                                        <p:tgtEl>
                                          <p:spTgt spid="65"/>
                                        </p:tgtEl>
                                        <p:attrNameLst>
                                          <p:attrName>style.visibility</p:attrName>
                                        </p:attrNameLst>
                                      </p:cBhvr>
                                      <p:to>
                                        <p:strVal val="visible"/>
                                      </p:to>
                                    </p:set>
                                    <p:animEffect transition="in" filter="fade">
                                      <p:cBhvr>
                                        <p:cTn id="161" dur="500"/>
                                        <p:tgtEl>
                                          <p:spTgt spid="65"/>
                                        </p:tgtEl>
                                      </p:cBhvr>
                                    </p:animEffect>
                                  </p:childTnLst>
                                </p:cTn>
                              </p:par>
                              <p:par>
                                <p:cTn id="162" presetID="10" presetClass="entr" presetSubtype="0" fill="hold" nodeType="withEffect">
                                  <p:stCondLst>
                                    <p:cond delay="0"/>
                                  </p:stCondLst>
                                  <p:childTnLst>
                                    <p:set>
                                      <p:cBhvr>
                                        <p:cTn id="163" dur="1" fill="hold">
                                          <p:stCondLst>
                                            <p:cond delay="0"/>
                                          </p:stCondLst>
                                        </p:cTn>
                                        <p:tgtEl>
                                          <p:spTgt spid="66"/>
                                        </p:tgtEl>
                                        <p:attrNameLst>
                                          <p:attrName>style.visibility</p:attrName>
                                        </p:attrNameLst>
                                      </p:cBhvr>
                                      <p:to>
                                        <p:strVal val="visible"/>
                                      </p:to>
                                    </p:set>
                                    <p:animEffect transition="in" filter="fade">
                                      <p:cBhvr>
                                        <p:cTn id="164" dur="500"/>
                                        <p:tgtEl>
                                          <p:spTgt spid="66"/>
                                        </p:tgtEl>
                                      </p:cBhvr>
                                    </p:animEffect>
                                  </p:childTnLst>
                                </p:cTn>
                              </p:par>
                              <p:par>
                                <p:cTn id="165" presetID="10" presetClass="entr" presetSubtype="0" fill="hold" nodeType="withEffect">
                                  <p:stCondLst>
                                    <p:cond delay="0"/>
                                  </p:stCondLst>
                                  <p:childTnLst>
                                    <p:set>
                                      <p:cBhvr>
                                        <p:cTn id="166" dur="1" fill="hold">
                                          <p:stCondLst>
                                            <p:cond delay="0"/>
                                          </p:stCondLst>
                                        </p:cTn>
                                        <p:tgtEl>
                                          <p:spTgt spid="67"/>
                                        </p:tgtEl>
                                        <p:attrNameLst>
                                          <p:attrName>style.visibility</p:attrName>
                                        </p:attrNameLst>
                                      </p:cBhvr>
                                      <p:to>
                                        <p:strVal val="visible"/>
                                      </p:to>
                                    </p:set>
                                    <p:animEffect transition="in" filter="fade">
                                      <p:cBhvr>
                                        <p:cTn id="167" dur="500"/>
                                        <p:tgtEl>
                                          <p:spTgt spid="67"/>
                                        </p:tgtEl>
                                      </p:cBhvr>
                                    </p:animEffect>
                                  </p:childTnLst>
                                </p:cTn>
                              </p:par>
                              <p:par>
                                <p:cTn id="168" presetID="10" presetClass="entr" presetSubtype="0" fill="hold" nodeType="withEffect">
                                  <p:stCondLst>
                                    <p:cond delay="0"/>
                                  </p:stCondLst>
                                  <p:childTnLst>
                                    <p:set>
                                      <p:cBhvr>
                                        <p:cTn id="169" dur="1" fill="hold">
                                          <p:stCondLst>
                                            <p:cond delay="0"/>
                                          </p:stCondLst>
                                        </p:cTn>
                                        <p:tgtEl>
                                          <p:spTgt spid="68"/>
                                        </p:tgtEl>
                                        <p:attrNameLst>
                                          <p:attrName>style.visibility</p:attrName>
                                        </p:attrNameLst>
                                      </p:cBhvr>
                                      <p:to>
                                        <p:strVal val="visible"/>
                                      </p:to>
                                    </p:set>
                                    <p:animEffect transition="in" filter="fade">
                                      <p:cBhvr>
                                        <p:cTn id="170" dur="500"/>
                                        <p:tgtEl>
                                          <p:spTgt spid="68"/>
                                        </p:tgtEl>
                                      </p:cBhvr>
                                    </p:animEffect>
                                  </p:childTnLst>
                                </p:cTn>
                              </p:par>
                              <p:par>
                                <p:cTn id="171" presetID="10" presetClass="entr" presetSubtype="0" fill="hold" nodeType="withEffect">
                                  <p:stCondLst>
                                    <p:cond delay="0"/>
                                  </p:stCondLst>
                                  <p:childTnLst>
                                    <p:set>
                                      <p:cBhvr>
                                        <p:cTn id="172" dur="1" fill="hold">
                                          <p:stCondLst>
                                            <p:cond delay="0"/>
                                          </p:stCondLst>
                                        </p:cTn>
                                        <p:tgtEl>
                                          <p:spTgt spid="69"/>
                                        </p:tgtEl>
                                        <p:attrNameLst>
                                          <p:attrName>style.visibility</p:attrName>
                                        </p:attrNameLst>
                                      </p:cBhvr>
                                      <p:to>
                                        <p:strVal val="visible"/>
                                      </p:to>
                                    </p:set>
                                    <p:animEffect transition="in" filter="fade">
                                      <p:cBhvr>
                                        <p:cTn id="173" dur="500"/>
                                        <p:tgtEl>
                                          <p:spTgt spid="69"/>
                                        </p:tgtEl>
                                      </p:cBhvr>
                                    </p:animEffect>
                                  </p:childTnLst>
                                </p:cTn>
                              </p:par>
                            </p:childTnLst>
                          </p:cTn>
                        </p:par>
                      </p:childTnLst>
                    </p:cTn>
                  </p:par>
                  <p:par>
                    <p:cTn id="174" fill="hold">
                      <p:stCondLst>
                        <p:cond delay="indefinite"/>
                      </p:stCondLst>
                      <p:childTnLst>
                        <p:par>
                          <p:cTn id="175" fill="hold">
                            <p:stCondLst>
                              <p:cond delay="0"/>
                            </p:stCondLst>
                            <p:childTnLst>
                              <p:par>
                                <p:cTn id="176" presetID="10" presetClass="entr" presetSubtype="0" fill="hold" grpId="0" nodeType="clickEffect">
                                  <p:stCondLst>
                                    <p:cond delay="0"/>
                                  </p:stCondLst>
                                  <p:childTnLst>
                                    <p:set>
                                      <p:cBhvr>
                                        <p:cTn id="177" dur="1" fill="hold">
                                          <p:stCondLst>
                                            <p:cond delay="0"/>
                                          </p:stCondLst>
                                        </p:cTn>
                                        <p:tgtEl>
                                          <p:spTgt spid="8"/>
                                        </p:tgtEl>
                                        <p:attrNameLst>
                                          <p:attrName>style.visibility</p:attrName>
                                        </p:attrNameLst>
                                      </p:cBhvr>
                                      <p:to>
                                        <p:strVal val="visible"/>
                                      </p:to>
                                    </p:set>
                                    <p:animEffect transition="in" filter="fade">
                                      <p:cBhvr>
                                        <p:cTn id="178" dur="500"/>
                                        <p:tgtEl>
                                          <p:spTgt spid="8"/>
                                        </p:tgtEl>
                                      </p:cBhvr>
                                    </p:animEffect>
                                  </p:childTnLst>
                                </p:cTn>
                              </p:par>
                              <p:par>
                                <p:cTn id="179" presetID="10" presetClass="entr" presetSubtype="0" fill="hold" nodeType="withEffect">
                                  <p:stCondLst>
                                    <p:cond delay="0"/>
                                  </p:stCondLst>
                                  <p:childTnLst>
                                    <p:set>
                                      <p:cBhvr>
                                        <p:cTn id="180" dur="1" fill="hold">
                                          <p:stCondLst>
                                            <p:cond delay="0"/>
                                          </p:stCondLst>
                                        </p:cTn>
                                        <p:tgtEl>
                                          <p:spTgt spid="38"/>
                                        </p:tgtEl>
                                        <p:attrNameLst>
                                          <p:attrName>style.visibility</p:attrName>
                                        </p:attrNameLst>
                                      </p:cBhvr>
                                      <p:to>
                                        <p:strVal val="visible"/>
                                      </p:to>
                                    </p:set>
                                    <p:animEffect transition="in" filter="fade">
                                      <p:cBhvr>
                                        <p:cTn id="181" dur="500"/>
                                        <p:tgtEl>
                                          <p:spTgt spid="38"/>
                                        </p:tgtEl>
                                      </p:cBhvr>
                                    </p:animEffect>
                                  </p:childTnLst>
                                </p:cTn>
                              </p:par>
                              <p:par>
                                <p:cTn id="182" presetID="10" presetClass="entr" presetSubtype="0" fill="hold" nodeType="withEffect">
                                  <p:stCondLst>
                                    <p:cond delay="0"/>
                                  </p:stCondLst>
                                  <p:childTnLst>
                                    <p:set>
                                      <p:cBhvr>
                                        <p:cTn id="183" dur="1" fill="hold">
                                          <p:stCondLst>
                                            <p:cond delay="0"/>
                                          </p:stCondLst>
                                        </p:cTn>
                                        <p:tgtEl>
                                          <p:spTgt spid="39"/>
                                        </p:tgtEl>
                                        <p:attrNameLst>
                                          <p:attrName>style.visibility</p:attrName>
                                        </p:attrNameLst>
                                      </p:cBhvr>
                                      <p:to>
                                        <p:strVal val="visible"/>
                                      </p:to>
                                    </p:set>
                                    <p:animEffect transition="in" filter="fade">
                                      <p:cBhvr>
                                        <p:cTn id="184" dur="500"/>
                                        <p:tgtEl>
                                          <p:spTgt spid="39"/>
                                        </p:tgtEl>
                                      </p:cBhvr>
                                    </p:animEffect>
                                  </p:childTnLst>
                                </p:cTn>
                              </p:par>
                              <p:par>
                                <p:cTn id="185" presetID="10" presetClass="entr" presetSubtype="0" fill="hold" nodeType="withEffect">
                                  <p:stCondLst>
                                    <p:cond delay="0"/>
                                  </p:stCondLst>
                                  <p:childTnLst>
                                    <p:set>
                                      <p:cBhvr>
                                        <p:cTn id="186" dur="1" fill="hold">
                                          <p:stCondLst>
                                            <p:cond delay="0"/>
                                          </p:stCondLst>
                                        </p:cTn>
                                        <p:tgtEl>
                                          <p:spTgt spid="40"/>
                                        </p:tgtEl>
                                        <p:attrNameLst>
                                          <p:attrName>style.visibility</p:attrName>
                                        </p:attrNameLst>
                                      </p:cBhvr>
                                      <p:to>
                                        <p:strVal val="visible"/>
                                      </p:to>
                                    </p:set>
                                    <p:animEffect transition="in" filter="fade">
                                      <p:cBhvr>
                                        <p:cTn id="187" dur="500"/>
                                        <p:tgtEl>
                                          <p:spTgt spid="40"/>
                                        </p:tgtEl>
                                      </p:cBhvr>
                                    </p:animEffect>
                                  </p:childTnLst>
                                </p:cTn>
                              </p:par>
                              <p:par>
                                <p:cTn id="188" presetID="10" presetClass="entr" presetSubtype="0" fill="hold" nodeType="withEffect">
                                  <p:stCondLst>
                                    <p:cond delay="0"/>
                                  </p:stCondLst>
                                  <p:childTnLst>
                                    <p:set>
                                      <p:cBhvr>
                                        <p:cTn id="189" dur="1" fill="hold">
                                          <p:stCondLst>
                                            <p:cond delay="0"/>
                                          </p:stCondLst>
                                        </p:cTn>
                                        <p:tgtEl>
                                          <p:spTgt spid="41"/>
                                        </p:tgtEl>
                                        <p:attrNameLst>
                                          <p:attrName>style.visibility</p:attrName>
                                        </p:attrNameLst>
                                      </p:cBhvr>
                                      <p:to>
                                        <p:strVal val="visible"/>
                                      </p:to>
                                    </p:set>
                                    <p:animEffect transition="in" filter="fade">
                                      <p:cBhvr>
                                        <p:cTn id="190" dur="500"/>
                                        <p:tgtEl>
                                          <p:spTgt spid="41"/>
                                        </p:tgtEl>
                                      </p:cBhvr>
                                    </p:animEffect>
                                  </p:childTnLst>
                                </p:cTn>
                              </p:par>
                              <p:par>
                                <p:cTn id="191" presetID="10" presetClass="entr" presetSubtype="0" fill="hold" nodeType="withEffect">
                                  <p:stCondLst>
                                    <p:cond delay="0"/>
                                  </p:stCondLst>
                                  <p:childTnLst>
                                    <p:set>
                                      <p:cBhvr>
                                        <p:cTn id="192" dur="1" fill="hold">
                                          <p:stCondLst>
                                            <p:cond delay="0"/>
                                          </p:stCondLst>
                                        </p:cTn>
                                        <p:tgtEl>
                                          <p:spTgt spid="42"/>
                                        </p:tgtEl>
                                        <p:attrNameLst>
                                          <p:attrName>style.visibility</p:attrName>
                                        </p:attrNameLst>
                                      </p:cBhvr>
                                      <p:to>
                                        <p:strVal val="visible"/>
                                      </p:to>
                                    </p:set>
                                    <p:animEffect transition="in" filter="fade">
                                      <p:cBhvr>
                                        <p:cTn id="193" dur="500"/>
                                        <p:tgtEl>
                                          <p:spTgt spid="42"/>
                                        </p:tgtEl>
                                      </p:cBhvr>
                                    </p:animEffect>
                                  </p:childTnLst>
                                </p:cTn>
                              </p:par>
                              <p:par>
                                <p:cTn id="194" presetID="10" presetClass="entr" presetSubtype="0" fill="hold" grpId="0" nodeType="withEffect">
                                  <p:stCondLst>
                                    <p:cond delay="0"/>
                                  </p:stCondLst>
                                  <p:childTnLst>
                                    <p:set>
                                      <p:cBhvr>
                                        <p:cTn id="195" dur="1" fill="hold">
                                          <p:stCondLst>
                                            <p:cond delay="0"/>
                                          </p:stCondLst>
                                        </p:cTn>
                                        <p:tgtEl>
                                          <p:spTgt spid="43"/>
                                        </p:tgtEl>
                                        <p:attrNameLst>
                                          <p:attrName>style.visibility</p:attrName>
                                        </p:attrNameLst>
                                      </p:cBhvr>
                                      <p:to>
                                        <p:strVal val="visible"/>
                                      </p:to>
                                    </p:set>
                                    <p:animEffect transition="in" filter="fade">
                                      <p:cBhvr>
                                        <p:cTn id="196" dur="500"/>
                                        <p:tgtEl>
                                          <p:spTgt spid="43"/>
                                        </p:tgtEl>
                                      </p:cBhvr>
                                    </p:animEffect>
                                  </p:childTnLst>
                                </p:cTn>
                              </p:par>
                              <p:par>
                                <p:cTn id="197" presetID="10" presetClass="entr" presetSubtype="0" fill="hold" nodeType="withEffect">
                                  <p:stCondLst>
                                    <p:cond delay="0"/>
                                  </p:stCondLst>
                                  <p:childTnLst>
                                    <p:set>
                                      <p:cBhvr>
                                        <p:cTn id="198" dur="1" fill="hold">
                                          <p:stCondLst>
                                            <p:cond delay="0"/>
                                          </p:stCondLst>
                                        </p:cTn>
                                        <p:tgtEl>
                                          <p:spTgt spid="44"/>
                                        </p:tgtEl>
                                        <p:attrNameLst>
                                          <p:attrName>style.visibility</p:attrName>
                                        </p:attrNameLst>
                                      </p:cBhvr>
                                      <p:to>
                                        <p:strVal val="visible"/>
                                      </p:to>
                                    </p:set>
                                    <p:animEffect transition="in" filter="fade">
                                      <p:cBhvr>
                                        <p:cTn id="199" dur="500"/>
                                        <p:tgtEl>
                                          <p:spTgt spid="44"/>
                                        </p:tgtEl>
                                      </p:cBhvr>
                                    </p:animEffect>
                                  </p:childTnLst>
                                </p:cTn>
                              </p:par>
                              <p:par>
                                <p:cTn id="200" presetID="10" presetClass="entr" presetSubtype="0" fill="hold" nodeType="withEffect">
                                  <p:stCondLst>
                                    <p:cond delay="0"/>
                                  </p:stCondLst>
                                  <p:childTnLst>
                                    <p:set>
                                      <p:cBhvr>
                                        <p:cTn id="201" dur="1" fill="hold">
                                          <p:stCondLst>
                                            <p:cond delay="0"/>
                                          </p:stCondLst>
                                        </p:cTn>
                                        <p:tgtEl>
                                          <p:spTgt spid="45"/>
                                        </p:tgtEl>
                                        <p:attrNameLst>
                                          <p:attrName>style.visibility</p:attrName>
                                        </p:attrNameLst>
                                      </p:cBhvr>
                                      <p:to>
                                        <p:strVal val="visible"/>
                                      </p:to>
                                    </p:set>
                                    <p:animEffect transition="in" filter="fade">
                                      <p:cBhvr>
                                        <p:cTn id="202" dur="500"/>
                                        <p:tgtEl>
                                          <p:spTgt spid="45"/>
                                        </p:tgtEl>
                                      </p:cBhvr>
                                    </p:animEffect>
                                  </p:childTnLst>
                                </p:cTn>
                              </p:par>
                              <p:par>
                                <p:cTn id="203" presetID="10" presetClass="entr" presetSubtype="0" fill="hold" nodeType="withEffect">
                                  <p:stCondLst>
                                    <p:cond delay="0"/>
                                  </p:stCondLst>
                                  <p:childTnLst>
                                    <p:set>
                                      <p:cBhvr>
                                        <p:cTn id="204" dur="1" fill="hold">
                                          <p:stCondLst>
                                            <p:cond delay="0"/>
                                          </p:stCondLst>
                                        </p:cTn>
                                        <p:tgtEl>
                                          <p:spTgt spid="46"/>
                                        </p:tgtEl>
                                        <p:attrNameLst>
                                          <p:attrName>style.visibility</p:attrName>
                                        </p:attrNameLst>
                                      </p:cBhvr>
                                      <p:to>
                                        <p:strVal val="visible"/>
                                      </p:to>
                                    </p:set>
                                    <p:animEffect transition="in" filter="fade">
                                      <p:cBhvr>
                                        <p:cTn id="205" dur="500"/>
                                        <p:tgtEl>
                                          <p:spTgt spid="46"/>
                                        </p:tgtEl>
                                      </p:cBhvr>
                                    </p:animEffect>
                                  </p:childTnLst>
                                </p:cTn>
                              </p:par>
                              <p:par>
                                <p:cTn id="206" presetID="10" presetClass="entr" presetSubtype="0" fill="hold" grpId="0" nodeType="withEffect">
                                  <p:stCondLst>
                                    <p:cond delay="0"/>
                                  </p:stCondLst>
                                  <p:childTnLst>
                                    <p:set>
                                      <p:cBhvr>
                                        <p:cTn id="207" dur="1" fill="hold">
                                          <p:stCondLst>
                                            <p:cond delay="0"/>
                                          </p:stCondLst>
                                        </p:cTn>
                                        <p:tgtEl>
                                          <p:spTgt spid="47"/>
                                        </p:tgtEl>
                                        <p:attrNameLst>
                                          <p:attrName>style.visibility</p:attrName>
                                        </p:attrNameLst>
                                      </p:cBhvr>
                                      <p:to>
                                        <p:strVal val="visible"/>
                                      </p:to>
                                    </p:set>
                                    <p:animEffect transition="in" filter="fade">
                                      <p:cBhvr>
                                        <p:cTn id="208" dur="500"/>
                                        <p:tgtEl>
                                          <p:spTgt spid="47"/>
                                        </p:tgtEl>
                                      </p:cBhvr>
                                    </p:animEffect>
                                  </p:childTnLst>
                                </p:cTn>
                              </p:par>
                            </p:childTnLst>
                          </p:cTn>
                        </p:par>
                      </p:childTnLst>
                    </p:cTn>
                  </p:par>
                  <p:par>
                    <p:cTn id="209" fill="hold">
                      <p:stCondLst>
                        <p:cond delay="indefinite"/>
                      </p:stCondLst>
                      <p:childTnLst>
                        <p:par>
                          <p:cTn id="210" fill="hold">
                            <p:stCondLst>
                              <p:cond delay="0"/>
                            </p:stCondLst>
                            <p:childTnLst>
                              <p:par>
                                <p:cTn id="211" presetID="2" presetClass="entr" presetSubtype="4" fill="hold" grpId="0" nodeType="clickEffect">
                                  <p:stCondLst>
                                    <p:cond delay="0"/>
                                  </p:stCondLst>
                                  <p:childTnLst>
                                    <p:set>
                                      <p:cBhvr>
                                        <p:cTn id="212" dur="1" fill="hold">
                                          <p:stCondLst>
                                            <p:cond delay="0"/>
                                          </p:stCondLst>
                                        </p:cTn>
                                        <p:tgtEl>
                                          <p:spTgt spid="70"/>
                                        </p:tgtEl>
                                        <p:attrNameLst>
                                          <p:attrName>style.visibility</p:attrName>
                                        </p:attrNameLst>
                                      </p:cBhvr>
                                      <p:to>
                                        <p:strVal val="visible"/>
                                      </p:to>
                                    </p:set>
                                    <p:anim calcmode="lin" valueType="num">
                                      <p:cBhvr additive="base">
                                        <p:cTn id="213" dur="500" fill="hold"/>
                                        <p:tgtEl>
                                          <p:spTgt spid="70"/>
                                        </p:tgtEl>
                                        <p:attrNameLst>
                                          <p:attrName>ppt_x</p:attrName>
                                        </p:attrNameLst>
                                      </p:cBhvr>
                                      <p:tavLst>
                                        <p:tav tm="0">
                                          <p:val>
                                            <p:strVal val="#ppt_x"/>
                                          </p:val>
                                        </p:tav>
                                        <p:tav tm="100000">
                                          <p:val>
                                            <p:strVal val="#ppt_x"/>
                                          </p:val>
                                        </p:tav>
                                      </p:tavLst>
                                    </p:anim>
                                    <p:anim calcmode="lin" valueType="num">
                                      <p:cBhvr additive="base">
                                        <p:cTn id="214" dur="500" fill="hold"/>
                                        <p:tgtEl>
                                          <p:spTgt spid="70"/>
                                        </p:tgtEl>
                                        <p:attrNameLst>
                                          <p:attrName>ppt_y</p:attrName>
                                        </p:attrNameLst>
                                      </p:cBhvr>
                                      <p:tavLst>
                                        <p:tav tm="0">
                                          <p:val>
                                            <p:strVal val="#ppt_y+0.1"/>
                                          </p:val>
                                        </p:tav>
                                        <p:tav tm="100000">
                                          <p:val>
                                            <p:strVal val="#ppt_y"/>
                                          </p:val>
                                        </p:tav>
                                      </p:tavLst>
                                    </p:anim>
                                    <p:animEffect transition="in" filter="fade">
                                      <p:cBhvr>
                                        <p:cTn id="215" dur="500"/>
                                        <p:tgtEl>
                                          <p:spTgt spid="70"/>
                                        </p:tgtEl>
                                      </p:cBhvr>
                                    </p:animEffect>
                                  </p:childTnLst>
                                </p:cTn>
                              </p:par>
                              <p:par>
                                <p:cTn id="216" presetID="2" presetClass="entr" presetSubtype="4" fill="hold" grpId="0" nodeType="withEffect">
                                  <p:stCondLst>
                                    <p:cond delay="0"/>
                                  </p:stCondLst>
                                  <p:childTnLst>
                                    <p:set>
                                      <p:cBhvr>
                                        <p:cTn id="217" dur="1" fill="hold">
                                          <p:stCondLst>
                                            <p:cond delay="0"/>
                                          </p:stCondLst>
                                        </p:cTn>
                                        <p:tgtEl>
                                          <p:spTgt spid="71"/>
                                        </p:tgtEl>
                                        <p:attrNameLst>
                                          <p:attrName>style.visibility</p:attrName>
                                        </p:attrNameLst>
                                      </p:cBhvr>
                                      <p:to>
                                        <p:strVal val="visible"/>
                                      </p:to>
                                    </p:set>
                                    <p:anim calcmode="lin" valueType="num">
                                      <p:cBhvr additive="base">
                                        <p:cTn id="218" dur="500" fill="hold"/>
                                        <p:tgtEl>
                                          <p:spTgt spid="71"/>
                                        </p:tgtEl>
                                        <p:attrNameLst>
                                          <p:attrName>ppt_x</p:attrName>
                                        </p:attrNameLst>
                                      </p:cBhvr>
                                      <p:tavLst>
                                        <p:tav tm="0">
                                          <p:val>
                                            <p:strVal val="#ppt_x"/>
                                          </p:val>
                                        </p:tav>
                                        <p:tav tm="100000">
                                          <p:val>
                                            <p:strVal val="#ppt_x"/>
                                          </p:val>
                                        </p:tav>
                                      </p:tavLst>
                                    </p:anim>
                                    <p:anim calcmode="lin" valueType="num">
                                      <p:cBhvr additive="base">
                                        <p:cTn id="219" dur="500" fill="hold"/>
                                        <p:tgtEl>
                                          <p:spTgt spid="71"/>
                                        </p:tgtEl>
                                        <p:attrNameLst>
                                          <p:attrName>ppt_y</p:attrName>
                                        </p:attrNameLst>
                                      </p:cBhvr>
                                      <p:tavLst>
                                        <p:tav tm="0">
                                          <p:val>
                                            <p:strVal val="#ppt_y+0.1"/>
                                          </p:val>
                                        </p:tav>
                                        <p:tav tm="100000">
                                          <p:val>
                                            <p:strVal val="#ppt_y"/>
                                          </p:val>
                                        </p:tav>
                                      </p:tavLst>
                                    </p:anim>
                                    <p:animEffect transition="in" filter="fade">
                                      <p:cBhvr>
                                        <p:cTn id="220"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9" grpId="0" animBg="1"/>
      <p:bldP spid="25" grpId="0" animBg="1"/>
      <p:bldP spid="31" grpId="0" animBg="1"/>
      <p:bldP spid="37" grpId="0" animBg="1"/>
      <p:bldP spid="43" grpId="0" animBg="1"/>
      <p:bldP spid="47" grpId="0" animBg="1"/>
      <p:bldP spid="55" grpId="0" animBg="1"/>
      <p:bldP spid="59" grpId="0" animBg="1"/>
      <p:bldP spid="63" grpId="0" animBg="1"/>
      <p:bldP spid="70" grpId="0" animBg="1"/>
      <p:bldP spid="7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1"/>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From ER Model to Physical Tables</a:t>
            </a:r>
            <a:endParaRPr lang="en-US" sz="2800" dirty="0"/>
          </a:p>
        </p:txBody>
      </p:sp>
      <p:sp>
        <p:nvSpPr>
          <p:cNvPr id="3" name="Text 2"/>
          <p:cNvSpPr txBox="1"/>
          <p:nvPr/>
        </p:nvSpPr>
        <p:spPr>
          <a:xfrm>
            <a:off x="457200" y="749808"/>
            <a:ext cx="8229600" cy="320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Seven steps — the last two are the ones skipped under deadline pressure</a:t>
            </a:r>
            <a:endParaRPr lang="en-US" sz="1300" dirty="0"/>
          </a:p>
        </p:txBody>
      </p:sp>
      <p:sp>
        <p:nvSpPr>
          <p:cNvPr id="4" name="a1u_n3"/>
          <p:cNvSpPr txBox="1"/>
          <p:nvPr/>
        </p:nvSpPr>
        <p:spPr>
          <a:xfrm>
            <a:off x="457200" y="1280160"/>
            <a:ext cx="420624" cy="420624"/>
          </a:xfrm>
          <a:prstGeom prst="ellipse">
            <a:avLst/>
          </a:prstGeom>
          <a:solidFill>
            <a:srgbClr val="8B5CF6"/>
          </a:solidFill>
          <a:ln w="12700">
            <a:solidFill>
              <a:srgbClr val="8B5CF6"/>
            </a:solidFill>
            <a:prstDash val="solid"/>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a1u_t4"/>
          <p:cNvSpPr txBox="1"/>
          <p:nvPr/>
        </p:nvSpPr>
        <p:spPr>
          <a:xfrm>
            <a:off x="1005840" y="1243584"/>
            <a:ext cx="3520440" cy="502920"/>
          </a:xfrm>
          <a:prstGeom prst="rect">
            <a:avLst/>
          </a:prstGeom>
          <a:noFill/>
          <a:ln/>
        </p:spPr>
        <p:txBody>
          <a:bodyPr wrap="square" lIns="0" tIns="0" rIns="0" bIns="0" rtlCol="0" anchor="ctr"/>
          <a:lstStyle/>
          <a:p>
            <a:pPr marL="0" indent="0">
              <a:buNone/>
            </a:pPr>
            <a:r>
              <a:rPr lang="en-US" sz="1250" dirty="0">
                <a:solidFill>
                  <a:srgbClr val="0F172A"/>
                </a:solidFill>
                <a:latin typeface="Calibri" pitchFamily="34" charset="0"/>
                <a:ea typeface="Calibri" pitchFamily="34" charset="-122"/>
                <a:cs typeface="Calibri" pitchFamily="34" charset="-120"/>
              </a:rPr>
              <a:t>Every entity becomes a table</a:t>
            </a:r>
            <a:endParaRPr lang="en-US" sz="1250" dirty="0"/>
          </a:p>
        </p:txBody>
      </p:sp>
      <p:sp>
        <p:nvSpPr>
          <p:cNvPr id="6" name="a2u_n5"/>
          <p:cNvSpPr txBox="1"/>
          <p:nvPr/>
        </p:nvSpPr>
        <p:spPr>
          <a:xfrm>
            <a:off x="457200" y="2011680"/>
            <a:ext cx="420624" cy="420624"/>
          </a:xfrm>
          <a:prstGeom prst="ellipse">
            <a:avLst/>
          </a:prstGeom>
          <a:solidFill>
            <a:srgbClr val="8B5CF6"/>
          </a:solidFill>
          <a:ln w="12700">
            <a:solidFill>
              <a:srgbClr val="8B5CF6"/>
            </a:solidFill>
            <a:prstDash val="solid"/>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7" name="a2u_t6"/>
          <p:cNvSpPr txBox="1"/>
          <p:nvPr/>
        </p:nvSpPr>
        <p:spPr>
          <a:xfrm>
            <a:off x="1005840" y="1975104"/>
            <a:ext cx="3520440" cy="502920"/>
          </a:xfrm>
          <a:prstGeom prst="rect">
            <a:avLst/>
          </a:prstGeom>
          <a:noFill/>
          <a:ln/>
        </p:spPr>
        <p:txBody>
          <a:bodyPr wrap="square" lIns="0" tIns="0" rIns="0" bIns="0" rtlCol="0" anchor="ctr"/>
          <a:lstStyle/>
          <a:p>
            <a:pPr marL="0" indent="0">
              <a:buNone/>
            </a:pPr>
            <a:r>
              <a:rPr lang="en-US" sz="1250" dirty="0">
                <a:solidFill>
                  <a:srgbClr val="0F172A"/>
                </a:solidFill>
                <a:latin typeface="Calibri" pitchFamily="34" charset="0"/>
                <a:ea typeface="Calibri" pitchFamily="34" charset="-122"/>
                <a:cs typeface="Calibri" pitchFamily="34" charset="-120"/>
              </a:rPr>
              <a:t>Every attribute becomes a column — with a type and a NULL decision</a:t>
            </a:r>
            <a:endParaRPr lang="en-US" sz="1250" dirty="0"/>
          </a:p>
        </p:txBody>
      </p:sp>
      <p:sp>
        <p:nvSpPr>
          <p:cNvPr id="8" name="a3u_n7"/>
          <p:cNvSpPr txBox="1"/>
          <p:nvPr/>
        </p:nvSpPr>
        <p:spPr>
          <a:xfrm>
            <a:off x="457200" y="2743200"/>
            <a:ext cx="420624" cy="420624"/>
          </a:xfrm>
          <a:prstGeom prst="ellipse">
            <a:avLst/>
          </a:prstGeom>
          <a:solidFill>
            <a:srgbClr val="8B5CF6"/>
          </a:solidFill>
          <a:ln w="12700">
            <a:solidFill>
              <a:srgbClr val="8B5CF6"/>
            </a:solidFill>
            <a:prstDash val="solid"/>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9" name="a3u_t8"/>
          <p:cNvSpPr txBox="1"/>
          <p:nvPr/>
        </p:nvSpPr>
        <p:spPr>
          <a:xfrm>
            <a:off x="1005840" y="2706624"/>
            <a:ext cx="3520440" cy="502920"/>
          </a:xfrm>
          <a:prstGeom prst="rect">
            <a:avLst/>
          </a:prstGeom>
          <a:noFill/>
          <a:ln/>
        </p:spPr>
        <p:txBody>
          <a:bodyPr wrap="square" lIns="0" tIns="0" rIns="0" bIns="0" rtlCol="0" anchor="ctr"/>
          <a:lstStyle/>
          <a:p>
            <a:pPr marL="0" indent="0">
              <a:buNone/>
            </a:pPr>
            <a:r>
              <a:rPr lang="en-US" sz="1250" dirty="0">
                <a:solidFill>
                  <a:srgbClr val="0F172A"/>
                </a:solidFill>
                <a:latin typeface="Calibri" pitchFamily="34" charset="0"/>
                <a:ea typeface="Calibri" pitchFamily="34" charset="-122"/>
                <a:cs typeface="Calibri" pitchFamily="34" charset="-120"/>
              </a:rPr>
              <a:t>Choose a primary key for each table, preferring a surrogate</a:t>
            </a:r>
            <a:endParaRPr lang="en-US" sz="1250" dirty="0"/>
          </a:p>
        </p:txBody>
      </p:sp>
      <p:sp>
        <p:nvSpPr>
          <p:cNvPr id="10" name="a4u_n9"/>
          <p:cNvSpPr txBox="1"/>
          <p:nvPr/>
        </p:nvSpPr>
        <p:spPr>
          <a:xfrm>
            <a:off x="457200" y="3474720"/>
            <a:ext cx="420624" cy="420624"/>
          </a:xfrm>
          <a:prstGeom prst="ellipse">
            <a:avLst/>
          </a:prstGeom>
          <a:solidFill>
            <a:srgbClr val="8B5CF6"/>
          </a:solidFill>
          <a:ln w="12700">
            <a:solidFill>
              <a:srgbClr val="8B5CF6"/>
            </a:solidFill>
            <a:prstDash val="solid"/>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1" name="a4u_t10"/>
          <p:cNvSpPr txBox="1"/>
          <p:nvPr/>
        </p:nvSpPr>
        <p:spPr>
          <a:xfrm>
            <a:off x="1005840" y="3438144"/>
            <a:ext cx="3520440" cy="502920"/>
          </a:xfrm>
          <a:prstGeom prst="rect">
            <a:avLst/>
          </a:prstGeom>
          <a:noFill/>
          <a:ln/>
        </p:spPr>
        <p:txBody>
          <a:bodyPr wrap="square" lIns="0" tIns="0" rIns="0" bIns="0" rtlCol="0" anchor="ctr"/>
          <a:lstStyle/>
          <a:p>
            <a:pPr marL="0" indent="0">
              <a:buNone/>
            </a:pPr>
            <a:r>
              <a:rPr lang="en-US" sz="1250" dirty="0">
                <a:solidFill>
                  <a:srgbClr val="0F172A"/>
                </a:solidFill>
                <a:latin typeface="Calibri" pitchFamily="34" charset="0"/>
                <a:ea typeface="Calibri" pitchFamily="34" charset="-122"/>
                <a:cs typeface="Calibri" pitchFamily="34" charset="-120"/>
              </a:rPr>
              <a:t>Every one-to-many becomes a FK on the many side</a:t>
            </a:r>
            <a:endParaRPr lang="en-US" sz="1250" dirty="0"/>
          </a:p>
        </p:txBody>
      </p:sp>
      <p:sp>
        <p:nvSpPr>
          <p:cNvPr id="12" name="a5u_n11"/>
          <p:cNvSpPr txBox="1"/>
          <p:nvPr/>
        </p:nvSpPr>
        <p:spPr>
          <a:xfrm>
            <a:off x="4709160" y="1280160"/>
            <a:ext cx="420624" cy="420624"/>
          </a:xfrm>
          <a:prstGeom prst="ellipse">
            <a:avLst/>
          </a:prstGeom>
          <a:solidFill>
            <a:srgbClr val="8B5CF6"/>
          </a:solidFill>
          <a:ln w="12700">
            <a:solidFill>
              <a:srgbClr val="8B5CF6"/>
            </a:solidFill>
            <a:prstDash val="solid"/>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3" name="a5u_t12"/>
          <p:cNvSpPr txBox="1"/>
          <p:nvPr/>
        </p:nvSpPr>
        <p:spPr>
          <a:xfrm>
            <a:off x="5257800" y="1243584"/>
            <a:ext cx="3520440" cy="502920"/>
          </a:xfrm>
          <a:prstGeom prst="rect">
            <a:avLst/>
          </a:prstGeom>
          <a:noFill/>
          <a:ln/>
        </p:spPr>
        <p:txBody>
          <a:bodyPr wrap="square" lIns="0" tIns="0" rIns="0" bIns="0" rtlCol="0" anchor="ctr"/>
          <a:lstStyle/>
          <a:p>
            <a:pPr marL="0" indent="0">
              <a:buNone/>
            </a:pPr>
            <a:r>
              <a:rPr lang="en-US" sz="1250" dirty="0">
                <a:solidFill>
                  <a:srgbClr val="0F172A"/>
                </a:solidFill>
                <a:latin typeface="Calibri" pitchFamily="34" charset="0"/>
                <a:ea typeface="Calibri" pitchFamily="34" charset="-122"/>
                <a:cs typeface="Calibri" pitchFamily="34" charset="-120"/>
              </a:rPr>
              <a:t>Every many-to-many becomes a junction table with a composite PK</a:t>
            </a:r>
            <a:endParaRPr lang="en-US" sz="1250" dirty="0"/>
          </a:p>
        </p:txBody>
      </p:sp>
      <p:sp>
        <p:nvSpPr>
          <p:cNvPr id="14" name="a6u_n13"/>
          <p:cNvSpPr txBox="1"/>
          <p:nvPr/>
        </p:nvSpPr>
        <p:spPr>
          <a:xfrm>
            <a:off x="4709160" y="2011680"/>
            <a:ext cx="420624" cy="420624"/>
          </a:xfrm>
          <a:prstGeom prst="ellipse">
            <a:avLst/>
          </a:prstGeom>
          <a:solidFill>
            <a:srgbClr val="DC2626"/>
          </a:solidFill>
          <a:ln w="12700">
            <a:solidFill>
              <a:srgbClr val="DC2626"/>
            </a:solidFill>
            <a:prstDash val="solid"/>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15" name="a6u_t14"/>
          <p:cNvSpPr txBox="1"/>
          <p:nvPr/>
        </p:nvSpPr>
        <p:spPr>
          <a:xfrm>
            <a:off x="5257800" y="1975104"/>
            <a:ext cx="3520440" cy="502920"/>
          </a:xfrm>
          <a:prstGeom prst="rect">
            <a:avLst/>
          </a:prstGeom>
          <a:noFill/>
          <a:ln/>
        </p:spPr>
        <p:txBody>
          <a:bodyPr wrap="square" lIns="0" tIns="0" rIns="0" bIns="0" rtlCol="0" anchor="ctr"/>
          <a:lstStyle/>
          <a:p>
            <a:pPr marL="0" indent="0">
              <a:buNone/>
            </a:pPr>
            <a:r>
              <a:rPr lang="en-US" sz="1250" b="1" dirty="0">
                <a:solidFill>
                  <a:srgbClr val="DC2626"/>
                </a:solidFill>
                <a:latin typeface="Calibri" pitchFamily="34" charset="0"/>
                <a:ea typeface="Calibri" pitchFamily="34" charset="-122"/>
                <a:cs typeface="Calibri" pitchFamily="34" charset="-120"/>
              </a:rPr>
              <a:t>Set a cascading rule on every FK — deliberately</a:t>
            </a:r>
            <a:endParaRPr lang="en-US" sz="1250" dirty="0"/>
          </a:p>
        </p:txBody>
      </p:sp>
      <p:sp>
        <p:nvSpPr>
          <p:cNvPr id="16" name="a7u_n15"/>
          <p:cNvSpPr txBox="1"/>
          <p:nvPr/>
        </p:nvSpPr>
        <p:spPr>
          <a:xfrm>
            <a:off x="4709160" y="2743200"/>
            <a:ext cx="420624" cy="420624"/>
          </a:xfrm>
          <a:prstGeom prst="ellipse">
            <a:avLst/>
          </a:prstGeom>
          <a:solidFill>
            <a:srgbClr val="DC2626"/>
          </a:solidFill>
          <a:ln w="12700">
            <a:solidFill>
              <a:srgbClr val="DC2626"/>
            </a:solidFill>
            <a:prstDash val="solid"/>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17" name="a7u_t16"/>
          <p:cNvSpPr txBox="1"/>
          <p:nvPr/>
        </p:nvSpPr>
        <p:spPr>
          <a:xfrm>
            <a:off x="5257800" y="2706624"/>
            <a:ext cx="3520440" cy="502920"/>
          </a:xfrm>
          <a:prstGeom prst="rect">
            <a:avLst/>
          </a:prstGeom>
          <a:noFill/>
          <a:ln/>
        </p:spPr>
        <p:txBody>
          <a:bodyPr wrap="square" lIns="0" tIns="0" rIns="0" bIns="0" rtlCol="0" anchor="ctr"/>
          <a:lstStyle/>
          <a:p>
            <a:pPr marL="0" indent="0">
              <a:buNone/>
            </a:pPr>
            <a:r>
              <a:rPr lang="en-US" sz="1250" b="1" dirty="0">
                <a:solidFill>
                  <a:srgbClr val="DC2626"/>
                </a:solidFill>
                <a:latin typeface="Calibri" pitchFamily="34" charset="0"/>
                <a:ea typeface="Calibri" pitchFamily="34" charset="-122"/>
                <a:cs typeface="Calibri" pitchFamily="34" charset="-120"/>
              </a:rPr>
              <a:t>Add a CHECK for every business rule that fits on one row</a:t>
            </a:r>
            <a:endParaRPr lang="en-US" sz="1250" dirty="0"/>
          </a:p>
        </p:txBody>
      </p:sp>
      <p:sp>
        <p:nvSpPr>
          <p:cNvPr id="18" name="a8u_a17"/>
          <p:cNvSpPr txBox="1"/>
          <p:nvPr/>
        </p:nvSpPr>
        <p:spPr>
          <a:xfrm>
            <a:off x="4709160" y="3566160"/>
            <a:ext cx="3566160" cy="365760"/>
          </a:xfrm>
          <a:prstGeom prst="roundRect">
            <a:avLst>
              <a:gd name="adj" fmla="val 50000"/>
            </a:avLst>
          </a:prstGeom>
          <a:solidFill>
            <a:srgbClr val="FEE2E2"/>
          </a:solidFill>
          <a:ln w="12700">
            <a:solidFill>
              <a:srgbClr val="FEE2E2"/>
            </a:solidFill>
            <a:prstDash val="solid"/>
          </a:ln>
        </p:spPr>
        <p:txBody>
          <a:bodyPr wrap="square" lIns="0" tIns="0" rIns="0" bIns="0" rtlCol="0" anchor="ctr"/>
          <a:lstStyle/>
          <a:p>
            <a:pPr marL="0" indent="0" algn="ctr">
              <a:buNone/>
            </a:pPr>
            <a:r>
              <a:rPr lang="en-US" sz="1150" b="1" dirty="0">
                <a:solidFill>
                  <a:srgbClr val="DC2626"/>
                </a:solidFill>
                <a:latin typeface="Calibri" pitchFamily="34" charset="0"/>
                <a:ea typeface="Calibri" pitchFamily="34" charset="-122"/>
                <a:cs typeface="Calibri" pitchFamily="34" charset="-120"/>
              </a:rPr>
              <a:t>Steps 6 and 7 are what the auditor asks about</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ppt_y+0.1"/>
                                          </p:val>
                                        </p:tav>
                                        <p:tav tm="100000">
                                          <p:val>
                                            <p:strVal val="#ppt_y"/>
                                          </p:val>
                                        </p:tav>
                                      </p:tavLst>
                                    </p:anim>
                                    <p:animEffect transition="in" filter="fade">
                                      <p:cBhvr>
                                        <p:cTn id="9" dur="500"/>
                                        <p:tgtEl>
                                          <p:spTgt spid="4"/>
                                        </p:tgtEl>
                                      </p:cBhvr>
                                    </p:animEffect>
                                  </p:childTnLst>
                                </p:cTn>
                              </p:par>
                              <p:par>
                                <p:cTn id="10" presetID="2" presetClass="entr" presetSubtype="4"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ppt_y+0.1"/>
                                          </p:val>
                                        </p:tav>
                                        <p:tav tm="100000">
                                          <p:val>
                                            <p:strVal val="#ppt_y"/>
                                          </p:val>
                                        </p:tav>
                                      </p:tavLst>
                                    </p:anim>
                                    <p:animEffect transition="in" filter="fade">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ppt_y+0.1"/>
                                          </p:val>
                                        </p:tav>
                                        <p:tav tm="100000">
                                          <p:val>
                                            <p:strVal val="#ppt_y"/>
                                          </p:val>
                                        </p:tav>
                                      </p:tavLst>
                                    </p:anim>
                                    <p:animEffect transition="in" filter="fade">
                                      <p:cBhvr>
                                        <p:cTn id="21" dur="500"/>
                                        <p:tgtEl>
                                          <p:spTgt spid="6"/>
                                        </p:tgtEl>
                                      </p:cBhvr>
                                    </p:animEffect>
                                  </p:childTnLst>
                                </p:cTn>
                              </p:par>
                              <p:par>
                                <p:cTn id="22" presetID="2" presetClass="entr" presetSubtype="4"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ppt_x</p:attrName>
                                        </p:attrNameLst>
                                      </p:cBhvr>
                                      <p:tavLst>
                                        <p:tav tm="0">
                                          <p:val>
                                            <p:strVal val="#ppt_x"/>
                                          </p:val>
                                        </p:tav>
                                        <p:tav tm="100000">
                                          <p:val>
                                            <p:strVal val="#ppt_x"/>
                                          </p:val>
                                        </p:tav>
                                      </p:tavLst>
                                    </p:anim>
                                    <p:anim calcmode="lin" valueType="num">
                                      <p:cBhvr additive="base">
                                        <p:cTn id="25" dur="500" fill="hold"/>
                                        <p:tgtEl>
                                          <p:spTgt spid="7"/>
                                        </p:tgtEl>
                                        <p:attrNameLst>
                                          <p:attrName>ppt_y</p:attrName>
                                        </p:attrNameLst>
                                      </p:cBhvr>
                                      <p:tavLst>
                                        <p:tav tm="0">
                                          <p:val>
                                            <p:strVal val="#ppt_y+0.1"/>
                                          </p:val>
                                        </p:tav>
                                        <p:tav tm="100000">
                                          <p:val>
                                            <p:strVal val="#ppt_y"/>
                                          </p:val>
                                        </p:tav>
                                      </p:tavLst>
                                    </p:anim>
                                    <p:animEffect transition="in" filter="fade">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ppt_y+0.1"/>
                                          </p:val>
                                        </p:tav>
                                        <p:tav tm="100000">
                                          <p:val>
                                            <p:strVal val="#ppt_y"/>
                                          </p:val>
                                        </p:tav>
                                      </p:tavLst>
                                    </p:anim>
                                    <p:animEffect transition="in" filter="fade">
                                      <p:cBhvr>
                                        <p:cTn id="33" dur="500"/>
                                        <p:tgtEl>
                                          <p:spTgt spid="8"/>
                                        </p:tgtEl>
                                      </p:cBhvr>
                                    </p:animEffect>
                                  </p:childTnLst>
                                </p:cTn>
                              </p:par>
                              <p:par>
                                <p:cTn id="34" presetID="2" presetClass="entr" presetSubtype="4"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 calcmode="lin" valueType="num">
                                      <p:cBhvr additive="base">
                                        <p:cTn id="36" dur="500" fill="hold"/>
                                        <p:tgtEl>
                                          <p:spTgt spid="9"/>
                                        </p:tgtEl>
                                        <p:attrNameLst>
                                          <p:attrName>ppt_x</p:attrName>
                                        </p:attrNameLst>
                                      </p:cBhvr>
                                      <p:tavLst>
                                        <p:tav tm="0">
                                          <p:val>
                                            <p:strVal val="#ppt_x"/>
                                          </p:val>
                                        </p:tav>
                                        <p:tav tm="100000">
                                          <p:val>
                                            <p:strVal val="#ppt_x"/>
                                          </p:val>
                                        </p:tav>
                                      </p:tavLst>
                                    </p:anim>
                                    <p:anim calcmode="lin" valueType="num">
                                      <p:cBhvr additive="base">
                                        <p:cTn id="37" dur="500" fill="hold"/>
                                        <p:tgtEl>
                                          <p:spTgt spid="9"/>
                                        </p:tgtEl>
                                        <p:attrNameLst>
                                          <p:attrName>ppt_y</p:attrName>
                                        </p:attrNameLst>
                                      </p:cBhvr>
                                      <p:tavLst>
                                        <p:tav tm="0">
                                          <p:val>
                                            <p:strVal val="#ppt_y+0.1"/>
                                          </p:val>
                                        </p:tav>
                                        <p:tav tm="100000">
                                          <p:val>
                                            <p:strVal val="#ppt_y"/>
                                          </p:val>
                                        </p:tav>
                                      </p:tavLst>
                                    </p:anim>
                                    <p:animEffect transition="in" filter="fade">
                                      <p:cBhvr>
                                        <p:cTn id="38" dur="500"/>
                                        <p:tgtEl>
                                          <p:spTgt spid="9"/>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additive="base">
                                        <p:cTn id="43" dur="500" fill="hold"/>
                                        <p:tgtEl>
                                          <p:spTgt spid="10"/>
                                        </p:tgtEl>
                                        <p:attrNameLst>
                                          <p:attrName>ppt_x</p:attrName>
                                        </p:attrNameLst>
                                      </p:cBhvr>
                                      <p:tavLst>
                                        <p:tav tm="0">
                                          <p:val>
                                            <p:strVal val="#ppt_x"/>
                                          </p:val>
                                        </p:tav>
                                        <p:tav tm="100000">
                                          <p:val>
                                            <p:strVal val="#ppt_x"/>
                                          </p:val>
                                        </p:tav>
                                      </p:tavLst>
                                    </p:anim>
                                    <p:anim calcmode="lin" valueType="num">
                                      <p:cBhvr additive="base">
                                        <p:cTn id="44" dur="500" fill="hold"/>
                                        <p:tgtEl>
                                          <p:spTgt spid="10"/>
                                        </p:tgtEl>
                                        <p:attrNameLst>
                                          <p:attrName>ppt_y</p:attrName>
                                        </p:attrNameLst>
                                      </p:cBhvr>
                                      <p:tavLst>
                                        <p:tav tm="0">
                                          <p:val>
                                            <p:strVal val="#ppt_y+0.1"/>
                                          </p:val>
                                        </p:tav>
                                        <p:tav tm="100000">
                                          <p:val>
                                            <p:strVal val="#ppt_y"/>
                                          </p:val>
                                        </p:tav>
                                      </p:tavLst>
                                    </p:anim>
                                    <p:animEffect transition="in" filter="fade">
                                      <p:cBhvr>
                                        <p:cTn id="45" dur="500"/>
                                        <p:tgtEl>
                                          <p:spTgt spid="10"/>
                                        </p:tgtEl>
                                      </p:cBhvr>
                                    </p:animEffect>
                                  </p:childTnLst>
                                </p:cTn>
                              </p:par>
                              <p:par>
                                <p:cTn id="46" presetID="2" presetClass="entr" presetSubtype="4"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 calcmode="lin" valueType="num">
                                      <p:cBhvr additive="base">
                                        <p:cTn id="48" dur="500" fill="hold"/>
                                        <p:tgtEl>
                                          <p:spTgt spid="11"/>
                                        </p:tgtEl>
                                        <p:attrNameLst>
                                          <p:attrName>ppt_x</p:attrName>
                                        </p:attrNameLst>
                                      </p:cBhvr>
                                      <p:tavLst>
                                        <p:tav tm="0">
                                          <p:val>
                                            <p:strVal val="#ppt_x"/>
                                          </p:val>
                                        </p:tav>
                                        <p:tav tm="100000">
                                          <p:val>
                                            <p:strVal val="#ppt_x"/>
                                          </p:val>
                                        </p:tav>
                                      </p:tavLst>
                                    </p:anim>
                                    <p:anim calcmode="lin" valueType="num">
                                      <p:cBhvr additive="base">
                                        <p:cTn id="49" dur="500" fill="hold"/>
                                        <p:tgtEl>
                                          <p:spTgt spid="11"/>
                                        </p:tgtEl>
                                        <p:attrNameLst>
                                          <p:attrName>ppt_y</p:attrName>
                                        </p:attrNameLst>
                                      </p:cBhvr>
                                      <p:tavLst>
                                        <p:tav tm="0">
                                          <p:val>
                                            <p:strVal val="#ppt_y+0.1"/>
                                          </p:val>
                                        </p:tav>
                                        <p:tav tm="100000">
                                          <p:val>
                                            <p:strVal val="#ppt_y"/>
                                          </p:val>
                                        </p:tav>
                                      </p:tavLst>
                                    </p:anim>
                                    <p:animEffect transition="in" filter="fade">
                                      <p:cBhvr>
                                        <p:cTn id="50" dur="500"/>
                                        <p:tgtEl>
                                          <p:spTgt spid="11"/>
                                        </p:tgtEl>
                                      </p:cBhvr>
                                    </p:animEffec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 calcmode="lin" valueType="num">
                                      <p:cBhvr additive="base">
                                        <p:cTn id="55" dur="500" fill="hold"/>
                                        <p:tgtEl>
                                          <p:spTgt spid="12"/>
                                        </p:tgtEl>
                                        <p:attrNameLst>
                                          <p:attrName>ppt_x</p:attrName>
                                        </p:attrNameLst>
                                      </p:cBhvr>
                                      <p:tavLst>
                                        <p:tav tm="0">
                                          <p:val>
                                            <p:strVal val="#ppt_x"/>
                                          </p:val>
                                        </p:tav>
                                        <p:tav tm="100000">
                                          <p:val>
                                            <p:strVal val="#ppt_x"/>
                                          </p:val>
                                        </p:tav>
                                      </p:tavLst>
                                    </p:anim>
                                    <p:anim calcmode="lin" valueType="num">
                                      <p:cBhvr additive="base">
                                        <p:cTn id="56" dur="500" fill="hold"/>
                                        <p:tgtEl>
                                          <p:spTgt spid="12"/>
                                        </p:tgtEl>
                                        <p:attrNameLst>
                                          <p:attrName>ppt_y</p:attrName>
                                        </p:attrNameLst>
                                      </p:cBhvr>
                                      <p:tavLst>
                                        <p:tav tm="0">
                                          <p:val>
                                            <p:strVal val="#ppt_y+0.1"/>
                                          </p:val>
                                        </p:tav>
                                        <p:tav tm="100000">
                                          <p:val>
                                            <p:strVal val="#ppt_y"/>
                                          </p:val>
                                        </p:tav>
                                      </p:tavLst>
                                    </p:anim>
                                    <p:animEffect transition="in" filter="fade">
                                      <p:cBhvr>
                                        <p:cTn id="57" dur="500"/>
                                        <p:tgtEl>
                                          <p:spTgt spid="12"/>
                                        </p:tgtEl>
                                      </p:cBhvr>
                                    </p:animEffect>
                                  </p:childTnLst>
                                </p:cTn>
                              </p:par>
                              <p:par>
                                <p:cTn id="58" presetID="2" presetClass="entr" presetSubtype="4" fill="hold" grpId="0" nodeType="withEffect">
                                  <p:stCondLst>
                                    <p:cond delay="0"/>
                                  </p:stCondLst>
                                  <p:childTnLst>
                                    <p:set>
                                      <p:cBhvr>
                                        <p:cTn id="59" dur="1" fill="hold">
                                          <p:stCondLst>
                                            <p:cond delay="0"/>
                                          </p:stCondLst>
                                        </p:cTn>
                                        <p:tgtEl>
                                          <p:spTgt spid="13"/>
                                        </p:tgtEl>
                                        <p:attrNameLst>
                                          <p:attrName>style.visibility</p:attrName>
                                        </p:attrNameLst>
                                      </p:cBhvr>
                                      <p:to>
                                        <p:strVal val="visible"/>
                                      </p:to>
                                    </p:set>
                                    <p:anim calcmode="lin" valueType="num">
                                      <p:cBhvr additive="base">
                                        <p:cTn id="60" dur="500" fill="hold"/>
                                        <p:tgtEl>
                                          <p:spTgt spid="13"/>
                                        </p:tgtEl>
                                        <p:attrNameLst>
                                          <p:attrName>ppt_x</p:attrName>
                                        </p:attrNameLst>
                                      </p:cBhvr>
                                      <p:tavLst>
                                        <p:tav tm="0">
                                          <p:val>
                                            <p:strVal val="#ppt_x"/>
                                          </p:val>
                                        </p:tav>
                                        <p:tav tm="100000">
                                          <p:val>
                                            <p:strVal val="#ppt_x"/>
                                          </p:val>
                                        </p:tav>
                                      </p:tavLst>
                                    </p:anim>
                                    <p:anim calcmode="lin" valueType="num">
                                      <p:cBhvr additive="base">
                                        <p:cTn id="61" dur="500" fill="hold"/>
                                        <p:tgtEl>
                                          <p:spTgt spid="13"/>
                                        </p:tgtEl>
                                        <p:attrNameLst>
                                          <p:attrName>ppt_y</p:attrName>
                                        </p:attrNameLst>
                                      </p:cBhvr>
                                      <p:tavLst>
                                        <p:tav tm="0">
                                          <p:val>
                                            <p:strVal val="#ppt_y+0.1"/>
                                          </p:val>
                                        </p:tav>
                                        <p:tav tm="100000">
                                          <p:val>
                                            <p:strVal val="#ppt_y"/>
                                          </p:val>
                                        </p:tav>
                                      </p:tavLst>
                                    </p:anim>
                                    <p:animEffect transition="in" filter="fade">
                                      <p:cBhvr>
                                        <p:cTn id="62" dur="500"/>
                                        <p:tgtEl>
                                          <p:spTgt spid="13"/>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500" fill="hold"/>
                                        <p:tgtEl>
                                          <p:spTgt spid="14"/>
                                        </p:tgtEl>
                                        <p:attrNameLst>
                                          <p:attrName>ppt_x</p:attrName>
                                        </p:attrNameLst>
                                      </p:cBhvr>
                                      <p:tavLst>
                                        <p:tav tm="0">
                                          <p:val>
                                            <p:strVal val="#ppt_x"/>
                                          </p:val>
                                        </p:tav>
                                        <p:tav tm="100000">
                                          <p:val>
                                            <p:strVal val="#ppt_x"/>
                                          </p:val>
                                        </p:tav>
                                      </p:tavLst>
                                    </p:anim>
                                    <p:anim calcmode="lin" valueType="num">
                                      <p:cBhvr additive="base">
                                        <p:cTn id="68" dur="500" fill="hold"/>
                                        <p:tgtEl>
                                          <p:spTgt spid="14"/>
                                        </p:tgtEl>
                                        <p:attrNameLst>
                                          <p:attrName>ppt_y</p:attrName>
                                        </p:attrNameLst>
                                      </p:cBhvr>
                                      <p:tavLst>
                                        <p:tav tm="0">
                                          <p:val>
                                            <p:strVal val="#ppt_y+0.1"/>
                                          </p:val>
                                        </p:tav>
                                        <p:tav tm="100000">
                                          <p:val>
                                            <p:strVal val="#ppt_y"/>
                                          </p:val>
                                        </p:tav>
                                      </p:tavLst>
                                    </p:anim>
                                    <p:animEffect transition="in" filter="fade">
                                      <p:cBhvr>
                                        <p:cTn id="69" dur="500"/>
                                        <p:tgtEl>
                                          <p:spTgt spid="14"/>
                                        </p:tgtEl>
                                      </p:cBhvr>
                                    </p:animEffect>
                                  </p:childTnLst>
                                </p:cTn>
                              </p:par>
                              <p:par>
                                <p:cTn id="70" presetID="2" presetClass="entr" presetSubtype="4" fill="hold" grpId="0" nodeType="withEffect">
                                  <p:stCondLst>
                                    <p:cond delay="0"/>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500" fill="hold"/>
                                        <p:tgtEl>
                                          <p:spTgt spid="15"/>
                                        </p:tgtEl>
                                        <p:attrNameLst>
                                          <p:attrName>ppt_x</p:attrName>
                                        </p:attrNameLst>
                                      </p:cBhvr>
                                      <p:tavLst>
                                        <p:tav tm="0">
                                          <p:val>
                                            <p:strVal val="#ppt_x"/>
                                          </p:val>
                                        </p:tav>
                                        <p:tav tm="100000">
                                          <p:val>
                                            <p:strVal val="#ppt_x"/>
                                          </p:val>
                                        </p:tav>
                                      </p:tavLst>
                                    </p:anim>
                                    <p:anim calcmode="lin" valueType="num">
                                      <p:cBhvr additive="base">
                                        <p:cTn id="73" dur="500" fill="hold"/>
                                        <p:tgtEl>
                                          <p:spTgt spid="15"/>
                                        </p:tgtEl>
                                        <p:attrNameLst>
                                          <p:attrName>ppt_y</p:attrName>
                                        </p:attrNameLst>
                                      </p:cBhvr>
                                      <p:tavLst>
                                        <p:tav tm="0">
                                          <p:val>
                                            <p:strVal val="#ppt_y+0.1"/>
                                          </p:val>
                                        </p:tav>
                                        <p:tav tm="100000">
                                          <p:val>
                                            <p:strVal val="#ppt_y"/>
                                          </p:val>
                                        </p:tav>
                                      </p:tavLst>
                                    </p:anim>
                                    <p:animEffect transition="in" filter="fade">
                                      <p:cBhvr>
                                        <p:cTn id="74" dur="500"/>
                                        <p:tgtEl>
                                          <p:spTgt spid="15"/>
                                        </p:tgtEl>
                                      </p:cBhvr>
                                    </p:animEffect>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16"/>
                                        </p:tgtEl>
                                        <p:attrNameLst>
                                          <p:attrName>style.visibility</p:attrName>
                                        </p:attrNameLst>
                                      </p:cBhvr>
                                      <p:to>
                                        <p:strVal val="visible"/>
                                      </p:to>
                                    </p:set>
                                    <p:anim calcmode="lin" valueType="num">
                                      <p:cBhvr additive="base">
                                        <p:cTn id="79" dur="500" fill="hold"/>
                                        <p:tgtEl>
                                          <p:spTgt spid="16"/>
                                        </p:tgtEl>
                                        <p:attrNameLst>
                                          <p:attrName>ppt_x</p:attrName>
                                        </p:attrNameLst>
                                      </p:cBhvr>
                                      <p:tavLst>
                                        <p:tav tm="0">
                                          <p:val>
                                            <p:strVal val="#ppt_x"/>
                                          </p:val>
                                        </p:tav>
                                        <p:tav tm="100000">
                                          <p:val>
                                            <p:strVal val="#ppt_x"/>
                                          </p:val>
                                        </p:tav>
                                      </p:tavLst>
                                    </p:anim>
                                    <p:anim calcmode="lin" valueType="num">
                                      <p:cBhvr additive="base">
                                        <p:cTn id="80" dur="500" fill="hold"/>
                                        <p:tgtEl>
                                          <p:spTgt spid="16"/>
                                        </p:tgtEl>
                                        <p:attrNameLst>
                                          <p:attrName>ppt_y</p:attrName>
                                        </p:attrNameLst>
                                      </p:cBhvr>
                                      <p:tavLst>
                                        <p:tav tm="0">
                                          <p:val>
                                            <p:strVal val="#ppt_y+0.1"/>
                                          </p:val>
                                        </p:tav>
                                        <p:tav tm="100000">
                                          <p:val>
                                            <p:strVal val="#ppt_y"/>
                                          </p:val>
                                        </p:tav>
                                      </p:tavLst>
                                    </p:anim>
                                    <p:animEffect transition="in" filter="fade">
                                      <p:cBhvr>
                                        <p:cTn id="81" dur="500"/>
                                        <p:tgtEl>
                                          <p:spTgt spid="16"/>
                                        </p:tgtEl>
                                      </p:cBhvr>
                                    </p:animEffect>
                                  </p:childTnLst>
                                </p:cTn>
                              </p:par>
                              <p:par>
                                <p:cTn id="82" presetID="2" presetClass="entr" presetSubtype="4" fill="hold" grpId="0" nodeType="withEffect">
                                  <p:stCondLst>
                                    <p:cond delay="0"/>
                                  </p:stCondLst>
                                  <p:childTnLst>
                                    <p:set>
                                      <p:cBhvr>
                                        <p:cTn id="83" dur="1" fill="hold">
                                          <p:stCondLst>
                                            <p:cond delay="0"/>
                                          </p:stCondLst>
                                        </p:cTn>
                                        <p:tgtEl>
                                          <p:spTgt spid="17"/>
                                        </p:tgtEl>
                                        <p:attrNameLst>
                                          <p:attrName>style.visibility</p:attrName>
                                        </p:attrNameLst>
                                      </p:cBhvr>
                                      <p:to>
                                        <p:strVal val="visible"/>
                                      </p:to>
                                    </p:set>
                                    <p:anim calcmode="lin" valueType="num">
                                      <p:cBhvr additive="base">
                                        <p:cTn id="84" dur="500" fill="hold"/>
                                        <p:tgtEl>
                                          <p:spTgt spid="17"/>
                                        </p:tgtEl>
                                        <p:attrNameLst>
                                          <p:attrName>ppt_x</p:attrName>
                                        </p:attrNameLst>
                                      </p:cBhvr>
                                      <p:tavLst>
                                        <p:tav tm="0">
                                          <p:val>
                                            <p:strVal val="#ppt_x"/>
                                          </p:val>
                                        </p:tav>
                                        <p:tav tm="100000">
                                          <p:val>
                                            <p:strVal val="#ppt_x"/>
                                          </p:val>
                                        </p:tav>
                                      </p:tavLst>
                                    </p:anim>
                                    <p:anim calcmode="lin" valueType="num">
                                      <p:cBhvr additive="base">
                                        <p:cTn id="85" dur="500" fill="hold"/>
                                        <p:tgtEl>
                                          <p:spTgt spid="17"/>
                                        </p:tgtEl>
                                        <p:attrNameLst>
                                          <p:attrName>ppt_y</p:attrName>
                                        </p:attrNameLst>
                                      </p:cBhvr>
                                      <p:tavLst>
                                        <p:tav tm="0">
                                          <p:val>
                                            <p:strVal val="#ppt_y+0.1"/>
                                          </p:val>
                                        </p:tav>
                                        <p:tav tm="100000">
                                          <p:val>
                                            <p:strVal val="#ppt_y"/>
                                          </p:val>
                                        </p:tav>
                                      </p:tavLst>
                                    </p:anim>
                                    <p:animEffect transition="in" filter="fade">
                                      <p:cBhvr>
                                        <p:cTn id="86" dur="500"/>
                                        <p:tgtEl>
                                          <p:spTgt spid="17"/>
                                        </p:tgtEl>
                                      </p:cBhvr>
                                    </p:animEffect>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18"/>
                                        </p:tgtEl>
                                        <p:attrNameLst>
                                          <p:attrName>style.visibility</p:attrName>
                                        </p:attrNameLst>
                                      </p:cBhvr>
                                      <p:to>
                                        <p:strVal val="visible"/>
                                      </p:to>
                                    </p:set>
                                    <p:anim calcmode="lin" valueType="num">
                                      <p:cBhvr additive="base">
                                        <p:cTn id="91" dur="500" fill="hold"/>
                                        <p:tgtEl>
                                          <p:spTgt spid="18"/>
                                        </p:tgtEl>
                                        <p:attrNameLst>
                                          <p:attrName>ppt_x</p:attrName>
                                        </p:attrNameLst>
                                      </p:cBhvr>
                                      <p:tavLst>
                                        <p:tav tm="0">
                                          <p:val>
                                            <p:strVal val="#ppt_x"/>
                                          </p:val>
                                        </p:tav>
                                        <p:tav tm="100000">
                                          <p:val>
                                            <p:strVal val="#ppt_x"/>
                                          </p:val>
                                        </p:tav>
                                      </p:tavLst>
                                    </p:anim>
                                    <p:anim calcmode="lin" valueType="num">
                                      <p:cBhvr additive="base">
                                        <p:cTn id="92" dur="500" fill="hold"/>
                                        <p:tgtEl>
                                          <p:spTgt spid="18"/>
                                        </p:tgtEl>
                                        <p:attrNameLst>
                                          <p:attrName>ppt_y</p:attrName>
                                        </p:attrNameLst>
                                      </p:cBhvr>
                                      <p:tavLst>
                                        <p:tav tm="0">
                                          <p:val>
                                            <p:strVal val="#ppt_y+0.1"/>
                                          </p:val>
                                        </p:tav>
                                        <p:tav tm="100000">
                                          <p:val>
                                            <p:strVal val="#ppt_y"/>
                                          </p:val>
                                        </p:tav>
                                      </p:tavLst>
                                    </p:anim>
                                    <p:animEffect transition="in" filter="fade">
                                      <p:cBhvr>
                                        <p:cTn id="9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1"/>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In Practice: Model → CREATE TABLE</a:t>
            </a:r>
            <a:endParaRPr lang="en-US" sz="2800" dirty="0"/>
          </a:p>
        </p:txBody>
      </p:sp>
      <p:sp>
        <p:nvSpPr>
          <p:cNvPr id="3" name="Text 2"/>
          <p:cNvSpPr txBox="1"/>
          <p:nvPr/>
        </p:nvSpPr>
        <p:spPr>
          <a:xfrm>
            <a:off x="457200" y="914400"/>
            <a:ext cx="8229600" cy="502920"/>
          </a:xfrm>
          <a:prstGeom prst="roundRect">
            <a:avLst>
              <a:gd name="adj" fmla="val 14545"/>
            </a:avLst>
          </a:prstGeom>
          <a:solidFill>
            <a:srgbClr val="EDE9FE"/>
          </a:solidFill>
          <a:ln w="12700">
            <a:solidFill>
              <a:srgbClr val="EDE9FE"/>
            </a:solidFill>
            <a:prstDash val="solid"/>
          </a:ln>
        </p:spPr>
        <p:txBody>
          <a:bodyPr wrap="square" lIns="164592" tIns="0" rIns="164592" bIns="0" rtlCol="0" anchor="ctr"/>
          <a:lstStyle/>
          <a:p>
            <a:pPr marL="0" indent="0">
              <a:buNone/>
            </a:pPr>
            <a:r>
              <a:rPr lang="en-US" sz="1400" b="1" dirty="0">
                <a:solidFill>
                  <a:srgbClr val="6D28D9"/>
                </a:solidFill>
                <a:latin typeface="Calibri" pitchFamily="34" charset="0"/>
                <a:ea typeface="Calibri" pitchFamily="34" charset="-122"/>
                <a:cs typeface="Calibri" pitchFamily="34" charset="-120"/>
              </a:rPr>
              <a:t>TASK   </a:t>
            </a:r>
            <a:r>
              <a:rPr lang="en-US" sz="1400" dirty="0">
                <a:solidFill>
                  <a:srgbClr val="0F172A"/>
                </a:solidFill>
                <a:latin typeface="Calibri" pitchFamily="34" charset="0"/>
                <a:ea typeface="Calibri" pitchFamily="34" charset="-122"/>
                <a:cs typeface="Calibri" pitchFamily="34" charset="-120"/>
              </a:rPr>
              <a:t>Turn CUSTOMER ||——o{ ACCOUNT into a physical table.</a:t>
            </a:r>
            <a:endParaRPr lang="en-US" sz="1400" dirty="0"/>
          </a:p>
        </p:txBody>
      </p:sp>
      <p:sp>
        <p:nvSpPr>
          <p:cNvPr id="4" name="a1f_e3"/>
          <p:cNvSpPr txBox="1"/>
          <p:nvPr/>
        </p:nvSpPr>
        <p:spPr>
          <a:xfrm>
            <a:off x="457200" y="1645920"/>
            <a:ext cx="1600200" cy="274320"/>
          </a:xfrm>
          <a:prstGeom prst="rect">
            <a:avLst/>
          </a:prstGeom>
          <a:solidFill>
            <a:srgbClr val="0F766E"/>
          </a:solidFill>
          <a:ln w="9525">
            <a:solidFill>
              <a:srgbClr val="0F766E"/>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CUSTOMER</a:t>
            </a:r>
            <a:endParaRPr lang="en-US" sz="1100" dirty="0"/>
          </a:p>
        </p:txBody>
      </p:sp>
      <p:sp>
        <p:nvSpPr>
          <p:cNvPr id="5" name="a1f_e4"/>
          <p:cNvSpPr txBox="1"/>
          <p:nvPr/>
        </p:nvSpPr>
        <p:spPr>
          <a:xfrm>
            <a:off x="457200" y="1920240"/>
            <a:ext cx="160020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customer_id</a:t>
            </a:r>
            <a:endParaRPr lang="en-US" sz="950" dirty="0"/>
          </a:p>
        </p:txBody>
      </p:sp>
      <p:sp>
        <p:nvSpPr>
          <p:cNvPr id="6" name="a1f_e5"/>
          <p:cNvSpPr txBox="1"/>
          <p:nvPr/>
        </p:nvSpPr>
        <p:spPr>
          <a:xfrm>
            <a:off x="1490472" y="1920240"/>
            <a:ext cx="512064" cy="219456"/>
          </a:xfrm>
          <a:prstGeom prst="rect">
            <a:avLst/>
          </a:prstGeom>
          <a:noFill/>
          <a:ln/>
        </p:spPr>
        <p:txBody>
          <a:bodyPr wrap="square" lIns="0" tIns="0" rIns="0" bIns="0" rtlCol="0" anchor="ctr"/>
          <a:lstStyle/>
          <a:p>
            <a:pPr marL="0" indent="0" algn="r">
              <a:buNone/>
            </a:pPr>
            <a:r>
              <a:rPr lang="en-US" sz="850" b="1" dirty="0">
                <a:solidFill>
                  <a:srgbClr val="6D28D9"/>
                </a:solidFill>
                <a:latin typeface="Calibri" pitchFamily="34" charset="0"/>
                <a:ea typeface="Calibri" pitchFamily="34" charset="-122"/>
                <a:cs typeface="Calibri" pitchFamily="34" charset="-120"/>
              </a:rPr>
              <a:t>PK</a:t>
            </a:r>
            <a:endParaRPr lang="en-US" sz="850" dirty="0"/>
          </a:p>
        </p:txBody>
      </p:sp>
      <p:sp>
        <p:nvSpPr>
          <p:cNvPr id="7" name="a1f_e6"/>
          <p:cNvSpPr txBox="1"/>
          <p:nvPr/>
        </p:nvSpPr>
        <p:spPr>
          <a:xfrm>
            <a:off x="457200" y="2139696"/>
            <a:ext cx="160020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first_name</a:t>
            </a:r>
            <a:endParaRPr lang="en-US" sz="950" dirty="0"/>
          </a:p>
        </p:txBody>
      </p:sp>
      <p:sp>
        <p:nvSpPr>
          <p:cNvPr id="8" name="a1f_e7"/>
          <p:cNvSpPr txBox="1"/>
          <p:nvPr/>
        </p:nvSpPr>
        <p:spPr>
          <a:xfrm>
            <a:off x="2788920" y="1645920"/>
            <a:ext cx="1600200" cy="274320"/>
          </a:xfrm>
          <a:prstGeom prst="rect">
            <a:avLst/>
          </a:prstGeom>
          <a:solidFill>
            <a:srgbClr val="B45309"/>
          </a:solidFill>
          <a:ln w="9525">
            <a:solidFill>
              <a:srgbClr val="B4530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ACCOUNT</a:t>
            </a:r>
            <a:endParaRPr lang="en-US" sz="1100" dirty="0"/>
          </a:p>
        </p:txBody>
      </p:sp>
      <p:sp>
        <p:nvSpPr>
          <p:cNvPr id="9" name="a1f_e8"/>
          <p:cNvSpPr txBox="1"/>
          <p:nvPr/>
        </p:nvSpPr>
        <p:spPr>
          <a:xfrm>
            <a:off x="2788920" y="1920240"/>
            <a:ext cx="160020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account_id</a:t>
            </a:r>
            <a:endParaRPr lang="en-US" sz="950" dirty="0"/>
          </a:p>
        </p:txBody>
      </p:sp>
      <p:sp>
        <p:nvSpPr>
          <p:cNvPr id="10" name="a1f_e9"/>
          <p:cNvSpPr txBox="1"/>
          <p:nvPr/>
        </p:nvSpPr>
        <p:spPr>
          <a:xfrm>
            <a:off x="3822192" y="1920240"/>
            <a:ext cx="512064" cy="219456"/>
          </a:xfrm>
          <a:prstGeom prst="rect">
            <a:avLst/>
          </a:prstGeom>
          <a:noFill/>
          <a:ln/>
        </p:spPr>
        <p:txBody>
          <a:bodyPr wrap="square" lIns="0" tIns="0" rIns="0" bIns="0" rtlCol="0" anchor="ctr"/>
          <a:lstStyle/>
          <a:p>
            <a:pPr marL="0" indent="0" algn="r">
              <a:buNone/>
            </a:pPr>
            <a:r>
              <a:rPr lang="en-US" sz="850" b="1" dirty="0">
                <a:solidFill>
                  <a:srgbClr val="6D28D9"/>
                </a:solidFill>
                <a:latin typeface="Calibri" pitchFamily="34" charset="0"/>
                <a:ea typeface="Calibri" pitchFamily="34" charset="-122"/>
                <a:cs typeface="Calibri" pitchFamily="34" charset="-120"/>
              </a:rPr>
              <a:t>PK</a:t>
            </a:r>
            <a:endParaRPr lang="en-US" sz="850" dirty="0"/>
          </a:p>
        </p:txBody>
      </p:sp>
      <p:sp>
        <p:nvSpPr>
          <p:cNvPr id="11" name="a1f_e10"/>
          <p:cNvSpPr txBox="1"/>
          <p:nvPr/>
        </p:nvSpPr>
        <p:spPr>
          <a:xfrm>
            <a:off x="2788920" y="2139696"/>
            <a:ext cx="160020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customer_id</a:t>
            </a:r>
            <a:endParaRPr lang="en-US" sz="950" dirty="0"/>
          </a:p>
        </p:txBody>
      </p:sp>
      <p:sp>
        <p:nvSpPr>
          <p:cNvPr id="12" name="a1f_e11"/>
          <p:cNvSpPr txBox="1"/>
          <p:nvPr/>
        </p:nvSpPr>
        <p:spPr>
          <a:xfrm>
            <a:off x="3822192" y="2139696"/>
            <a:ext cx="512064" cy="219456"/>
          </a:xfrm>
          <a:prstGeom prst="rect">
            <a:avLst/>
          </a:prstGeom>
          <a:noFill/>
          <a:ln/>
        </p:spPr>
        <p:txBody>
          <a:bodyPr wrap="square" lIns="0" tIns="0" rIns="0" bIns="0" rtlCol="0" anchor="ctr"/>
          <a:lstStyle/>
          <a:p>
            <a:pPr marL="0" indent="0" algn="r">
              <a:buNone/>
            </a:pPr>
            <a:r>
              <a:rPr lang="en-US" sz="850" b="1" dirty="0">
                <a:solidFill>
                  <a:srgbClr val="B45309"/>
                </a:solidFill>
                <a:latin typeface="Calibri" pitchFamily="34" charset="0"/>
                <a:ea typeface="Calibri" pitchFamily="34" charset="-122"/>
                <a:cs typeface="Calibri" pitchFamily="34" charset="-120"/>
              </a:rPr>
              <a:t>FK</a:t>
            </a:r>
            <a:endParaRPr lang="en-US" sz="850" dirty="0"/>
          </a:p>
        </p:txBody>
      </p:sp>
      <p:sp>
        <p:nvSpPr>
          <p:cNvPr id="13" name="a1f_e12"/>
          <p:cNvSpPr txBox="1"/>
          <p:nvPr/>
        </p:nvSpPr>
        <p:spPr>
          <a:xfrm>
            <a:off x="2788920" y="2359152"/>
            <a:ext cx="160020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balance</a:t>
            </a:r>
            <a:endParaRPr lang="en-US" sz="950" dirty="0"/>
          </a:p>
        </p:txBody>
      </p:sp>
      <p:cxnSp>
        <p:nvCxnSpPr>
          <p:cNvPr id="14" name="a1f_r13"/>
          <p:cNvCxnSpPr/>
          <p:nvPr/>
        </p:nvCxnSpPr>
        <p:spPr>
          <a:xfrm>
            <a:off x="2057400" y="2029968"/>
            <a:ext cx="731520" cy="0"/>
          </a:xfrm>
          <a:prstGeom prst="line">
            <a:avLst/>
          </a:prstGeom>
          <a:ln w="15875">
            <a:solidFill>
              <a:srgbClr val="0F172A"/>
            </a:solidFill>
          </a:ln>
        </p:spPr>
      </p:cxnSp>
      <p:cxnSp>
        <p:nvCxnSpPr>
          <p:cNvPr id="15" name="a1f_r14"/>
          <p:cNvCxnSpPr/>
          <p:nvPr/>
        </p:nvCxnSpPr>
        <p:spPr>
          <a:xfrm flipV="1">
            <a:off x="2121408" y="1947672"/>
            <a:ext cx="0" cy="164592"/>
          </a:xfrm>
          <a:prstGeom prst="line">
            <a:avLst/>
          </a:prstGeom>
          <a:ln w="15875">
            <a:solidFill>
              <a:srgbClr val="0F172A"/>
            </a:solidFill>
          </a:ln>
        </p:spPr>
      </p:cxnSp>
      <p:cxnSp>
        <p:nvCxnSpPr>
          <p:cNvPr id="16" name="a1f_r15"/>
          <p:cNvCxnSpPr/>
          <p:nvPr/>
        </p:nvCxnSpPr>
        <p:spPr>
          <a:xfrm flipV="1">
            <a:off x="2185416" y="1947672"/>
            <a:ext cx="0" cy="164592"/>
          </a:xfrm>
          <a:prstGeom prst="line">
            <a:avLst/>
          </a:prstGeom>
          <a:ln w="15875">
            <a:solidFill>
              <a:srgbClr val="0F172A"/>
            </a:solidFill>
          </a:ln>
        </p:spPr>
      </p:cxnSp>
      <p:cxnSp>
        <p:nvCxnSpPr>
          <p:cNvPr id="17" name="a1f_r16"/>
          <p:cNvCxnSpPr/>
          <p:nvPr/>
        </p:nvCxnSpPr>
        <p:spPr>
          <a:xfrm flipV="1">
            <a:off x="2624328" y="1938528"/>
            <a:ext cx="164592" cy="91440"/>
          </a:xfrm>
          <a:prstGeom prst="line">
            <a:avLst/>
          </a:prstGeom>
          <a:ln w="15875">
            <a:solidFill>
              <a:srgbClr val="0F172A"/>
            </a:solidFill>
          </a:ln>
        </p:spPr>
      </p:cxnSp>
      <p:cxnSp>
        <p:nvCxnSpPr>
          <p:cNvPr id="18" name="a1f_r17"/>
          <p:cNvCxnSpPr/>
          <p:nvPr/>
        </p:nvCxnSpPr>
        <p:spPr>
          <a:xfrm>
            <a:off x="2624328" y="2029968"/>
            <a:ext cx="164592" cy="91440"/>
          </a:xfrm>
          <a:prstGeom prst="line">
            <a:avLst/>
          </a:prstGeom>
          <a:ln w="15875">
            <a:solidFill>
              <a:srgbClr val="0F172A"/>
            </a:solidFill>
          </a:ln>
        </p:spPr>
      </p:cxnSp>
      <p:sp>
        <p:nvSpPr>
          <p:cNvPr id="19" name="a1f_r18"/>
          <p:cNvSpPr/>
          <p:nvPr/>
        </p:nvSpPr>
        <p:spPr>
          <a:xfrm>
            <a:off x="2473452" y="1979676"/>
            <a:ext cx="100584" cy="100584"/>
          </a:xfrm>
          <a:prstGeom prst="ellipse">
            <a:avLst/>
          </a:prstGeom>
          <a:solidFill>
            <a:srgbClr val="FFFFFF"/>
          </a:solidFill>
          <a:ln w="15875">
            <a:solidFill>
              <a:srgbClr val="0F172A"/>
            </a:solidFill>
            <a:prstDash val="solid"/>
          </a:ln>
        </p:spPr>
      </p:sp>
      <p:sp>
        <p:nvSpPr>
          <p:cNvPr id="20" name="a3u_a19"/>
          <p:cNvSpPr txBox="1"/>
          <p:nvPr/>
        </p:nvSpPr>
        <p:spPr>
          <a:xfrm>
            <a:off x="457200" y="2834640"/>
            <a:ext cx="3931920"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 on the customer side</a:t>
            </a:r>
            <a:endParaRPr lang="en-US" sz="1100" dirty="0"/>
          </a:p>
        </p:txBody>
      </p:sp>
      <p:sp>
        <p:nvSpPr>
          <p:cNvPr id="21" name="a3u_b20"/>
          <p:cNvSpPr txBox="1"/>
          <p:nvPr/>
        </p:nvSpPr>
        <p:spPr>
          <a:xfrm>
            <a:off x="457200" y="3072384"/>
            <a:ext cx="3931920" cy="274320"/>
          </a:xfrm>
          <a:prstGeom prst="rect">
            <a:avLst/>
          </a:prstGeom>
          <a:noFill/>
          <a:ln/>
        </p:spPr>
        <p:txBody>
          <a:bodyPr wrap="square" lIns="0" tIns="0" rIns="0" bIns="0" rtlCol="0" anchor="ctr"/>
          <a:lstStyle/>
          <a:p>
            <a:pPr marL="0" indent="0">
              <a:buNone/>
            </a:pPr>
            <a:r>
              <a:rPr lang="en-US" sz="1200" b="1" dirty="0">
                <a:solidFill>
                  <a:srgbClr val="6D28D9"/>
                </a:solidFill>
                <a:latin typeface="Courier New" pitchFamily="34" charset="0"/>
                <a:ea typeface="Courier New" pitchFamily="34" charset="-122"/>
                <a:cs typeface="Courier New" pitchFamily="34" charset="-120"/>
              </a:rPr>
              <a:t>→  customer_id NOT NULL</a:t>
            </a:r>
            <a:endParaRPr lang="en-US" sz="1200" dirty="0"/>
          </a:p>
        </p:txBody>
      </p:sp>
      <p:sp>
        <p:nvSpPr>
          <p:cNvPr id="22" name="a4u_a21"/>
          <p:cNvSpPr txBox="1"/>
          <p:nvPr/>
        </p:nvSpPr>
        <p:spPr>
          <a:xfrm>
            <a:off x="457200" y="3383280"/>
            <a:ext cx="3931920"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o{ on the account side</a:t>
            </a:r>
            <a:endParaRPr lang="en-US" sz="1100" dirty="0"/>
          </a:p>
        </p:txBody>
      </p:sp>
      <p:sp>
        <p:nvSpPr>
          <p:cNvPr id="23" name="a4u_b22"/>
          <p:cNvSpPr txBox="1"/>
          <p:nvPr/>
        </p:nvSpPr>
        <p:spPr>
          <a:xfrm>
            <a:off x="457200" y="3621024"/>
            <a:ext cx="3931920" cy="274320"/>
          </a:xfrm>
          <a:prstGeom prst="rect">
            <a:avLst/>
          </a:prstGeom>
          <a:noFill/>
          <a:ln/>
        </p:spPr>
        <p:txBody>
          <a:bodyPr wrap="square" lIns="0" tIns="0" rIns="0" bIns="0" rtlCol="0" anchor="ctr"/>
          <a:lstStyle/>
          <a:p>
            <a:pPr marL="0" indent="0">
              <a:buNone/>
            </a:pPr>
            <a:r>
              <a:rPr lang="en-US" sz="1200" b="1" dirty="0">
                <a:solidFill>
                  <a:srgbClr val="6D28D9"/>
                </a:solidFill>
                <a:latin typeface="Courier New" pitchFamily="34" charset="0"/>
                <a:ea typeface="Courier New" pitchFamily="34" charset="-122"/>
                <a:cs typeface="Courier New" pitchFamily="34" charset="-120"/>
              </a:rPr>
              <a:t>→  the FK lives in account</a:t>
            </a:r>
            <a:endParaRPr lang="en-US" sz="1200" dirty="0"/>
          </a:p>
        </p:txBody>
      </p:sp>
      <p:sp>
        <p:nvSpPr>
          <p:cNvPr id="24" name="a5u_a23"/>
          <p:cNvSpPr txBox="1"/>
          <p:nvPr/>
        </p:nvSpPr>
        <p:spPr>
          <a:xfrm>
            <a:off x="457200" y="3931920"/>
            <a:ext cx="3931920"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account is a financial record</a:t>
            </a:r>
            <a:endParaRPr lang="en-US" sz="1100" dirty="0"/>
          </a:p>
        </p:txBody>
      </p:sp>
      <p:sp>
        <p:nvSpPr>
          <p:cNvPr id="25" name="a5u_b24"/>
          <p:cNvSpPr txBox="1"/>
          <p:nvPr/>
        </p:nvSpPr>
        <p:spPr>
          <a:xfrm>
            <a:off x="457200" y="4169664"/>
            <a:ext cx="3931920" cy="274320"/>
          </a:xfrm>
          <a:prstGeom prst="rect">
            <a:avLst/>
          </a:prstGeom>
          <a:noFill/>
          <a:ln/>
        </p:spPr>
        <p:txBody>
          <a:bodyPr wrap="square" lIns="0" tIns="0" rIns="0" bIns="0" rtlCol="0" anchor="ctr"/>
          <a:lstStyle/>
          <a:p>
            <a:pPr marL="0" indent="0">
              <a:buNone/>
            </a:pPr>
            <a:r>
              <a:rPr lang="en-US" sz="1200" b="1" dirty="0">
                <a:solidFill>
                  <a:srgbClr val="6D28D9"/>
                </a:solidFill>
                <a:latin typeface="Courier New" pitchFamily="34" charset="0"/>
                <a:ea typeface="Courier New" pitchFamily="34" charset="-122"/>
                <a:cs typeface="Courier New" pitchFamily="34" charset="-120"/>
              </a:rPr>
              <a:t>→  ON DELETE RESTRICT</a:t>
            </a:r>
            <a:endParaRPr lang="en-US" sz="1200" dirty="0"/>
          </a:p>
        </p:txBody>
      </p:sp>
      <p:sp>
        <p:nvSpPr>
          <p:cNvPr id="26" name="a2f_codebg25"/>
          <p:cNvSpPr/>
          <p:nvPr/>
        </p:nvSpPr>
        <p:spPr>
          <a:xfrm>
            <a:off x="4617720" y="1645920"/>
            <a:ext cx="4069080" cy="2788920"/>
          </a:xfrm>
          <a:prstGeom prst="roundRect">
            <a:avLst>
              <a:gd name="adj" fmla="val 3150"/>
            </a:avLst>
          </a:prstGeom>
          <a:solidFill>
            <a:srgbClr val="1E293B"/>
          </a:solidFill>
          <a:ln w="12700">
            <a:solidFill>
              <a:srgbClr val="1E293B"/>
            </a:solidFill>
            <a:prstDash val="solid"/>
          </a:ln>
        </p:spPr>
      </p:sp>
      <p:sp>
        <p:nvSpPr>
          <p:cNvPr id="27" name="a2wd0_code26"/>
          <p:cNvSpPr txBox="1"/>
          <p:nvPr/>
        </p:nvSpPr>
        <p:spPr>
          <a:xfrm>
            <a:off x="4800600" y="1783080"/>
            <a:ext cx="3749040" cy="228600"/>
          </a:xfrm>
          <a:prstGeom prst="rect">
            <a:avLst/>
          </a:prstGeom>
          <a:noFill/>
          <a:ln/>
        </p:spPr>
        <p:txBody>
          <a:bodyPr wrap="square" lIns="0" tIns="0" rIns="0" bIns="0" rtlCol="0" anchor="ctr"/>
          <a:lstStyle/>
          <a:p>
            <a:pPr marL="0" indent="0">
              <a:buNone/>
            </a:pPr>
            <a:r>
              <a:rPr lang="en-US" sz="1050" b="1" dirty="0">
                <a:solidFill>
                  <a:srgbClr val="C4B5FD"/>
                </a:solidFill>
                <a:latin typeface="Courier New" pitchFamily="34" charset="0"/>
                <a:ea typeface="Courier New" pitchFamily="34" charset="-122"/>
                <a:cs typeface="Courier New" pitchFamily="34" charset="-120"/>
              </a:rPr>
              <a:t>CREATE</a:t>
            </a: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TABLE</a:t>
            </a:r>
            <a:r>
              <a:rPr lang="en-US" sz="1050" dirty="0">
                <a:solidFill>
                  <a:srgbClr val="E2E8F0"/>
                </a:solidFill>
                <a:latin typeface="Courier New" pitchFamily="34" charset="0"/>
                <a:ea typeface="Courier New" pitchFamily="34" charset="-122"/>
                <a:cs typeface="Courier New" pitchFamily="34" charset="-120"/>
              </a:rPr>
              <a:t> account (</a:t>
            </a:r>
            <a:endParaRPr lang="en-US" sz="1050" dirty="0"/>
          </a:p>
        </p:txBody>
      </p:sp>
      <p:sp>
        <p:nvSpPr>
          <p:cNvPr id="28" name="a2wd150_code27"/>
          <p:cNvSpPr txBox="1"/>
          <p:nvPr/>
        </p:nvSpPr>
        <p:spPr>
          <a:xfrm>
            <a:off x="4800600" y="2011680"/>
            <a:ext cx="3749040" cy="228600"/>
          </a:xfrm>
          <a:prstGeom prst="rect">
            <a:avLst/>
          </a:prstGeom>
          <a:noFill/>
          <a:ln/>
        </p:spPr>
        <p:txBody>
          <a:bodyPr wrap="square" lIns="0" tIns="0" rIns="0" bIns="0" rtlCol="0" anchor="ctr"/>
          <a:lstStyle/>
          <a:p>
            <a:pPr marL="0" indent="0">
              <a:buNone/>
            </a:pPr>
            <a:r>
              <a:rPr lang="en-US" sz="1050" dirty="0">
                <a:solidFill>
                  <a:srgbClr val="E2E8F0"/>
                </a:solidFill>
                <a:latin typeface="Courier New" pitchFamily="34" charset="0"/>
                <a:ea typeface="Courier New" pitchFamily="34" charset="-122"/>
                <a:cs typeface="Courier New" pitchFamily="34" charset="-120"/>
              </a:rPr>
              <a:t>  account_id  </a:t>
            </a:r>
            <a:r>
              <a:rPr lang="en-US" sz="1050" dirty="0">
                <a:solidFill>
                  <a:srgbClr val="93C5FD"/>
                </a:solidFill>
                <a:latin typeface="Courier New" pitchFamily="34" charset="0"/>
                <a:ea typeface="Courier New" pitchFamily="34" charset="-122"/>
                <a:cs typeface="Courier New" pitchFamily="34" charset="-120"/>
              </a:rPr>
              <a:t>INTEGER</a:t>
            </a: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NOT</a:t>
            </a: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NULL</a:t>
            </a:r>
            <a:r>
              <a:rPr lang="en-US" sz="1050" dirty="0">
                <a:solidFill>
                  <a:srgbClr val="E2E8F0"/>
                </a:solidFill>
                <a:latin typeface="Courier New" pitchFamily="34" charset="0"/>
                <a:ea typeface="Courier New" pitchFamily="34" charset="-122"/>
                <a:cs typeface="Courier New" pitchFamily="34" charset="-120"/>
              </a:rPr>
              <a:t>,</a:t>
            </a:r>
            <a:endParaRPr lang="en-US" sz="1050" dirty="0"/>
          </a:p>
        </p:txBody>
      </p:sp>
      <p:sp>
        <p:nvSpPr>
          <p:cNvPr id="29" name="a2wd300_code28"/>
          <p:cNvSpPr txBox="1"/>
          <p:nvPr/>
        </p:nvSpPr>
        <p:spPr>
          <a:xfrm>
            <a:off x="4800600" y="2240280"/>
            <a:ext cx="3749040" cy="228600"/>
          </a:xfrm>
          <a:prstGeom prst="rect">
            <a:avLst/>
          </a:prstGeom>
          <a:noFill/>
          <a:ln/>
        </p:spPr>
        <p:txBody>
          <a:bodyPr wrap="square" lIns="0" tIns="0" rIns="0" bIns="0" rtlCol="0" anchor="ctr"/>
          <a:lstStyle/>
          <a:p>
            <a:pPr marL="0" indent="0">
              <a:buNone/>
            </a:pPr>
            <a:r>
              <a:rPr lang="en-US" sz="1050" dirty="0">
                <a:solidFill>
                  <a:srgbClr val="E2E8F0"/>
                </a:solidFill>
                <a:latin typeface="Courier New" pitchFamily="34" charset="0"/>
                <a:ea typeface="Courier New" pitchFamily="34" charset="-122"/>
                <a:cs typeface="Courier New" pitchFamily="34" charset="-120"/>
              </a:rPr>
              <a:t>  customer_id </a:t>
            </a:r>
            <a:r>
              <a:rPr lang="en-US" sz="1050" dirty="0">
                <a:solidFill>
                  <a:srgbClr val="93C5FD"/>
                </a:solidFill>
                <a:latin typeface="Courier New" pitchFamily="34" charset="0"/>
                <a:ea typeface="Courier New" pitchFamily="34" charset="-122"/>
                <a:cs typeface="Courier New" pitchFamily="34" charset="-120"/>
              </a:rPr>
              <a:t>INTEGER</a:t>
            </a: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NOT</a:t>
            </a: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NULL</a:t>
            </a:r>
            <a:r>
              <a:rPr lang="en-US" sz="1050" dirty="0">
                <a:solidFill>
                  <a:srgbClr val="E2E8F0"/>
                </a:solidFill>
                <a:latin typeface="Courier New" pitchFamily="34" charset="0"/>
                <a:ea typeface="Courier New" pitchFamily="34" charset="-122"/>
                <a:cs typeface="Courier New" pitchFamily="34" charset="-120"/>
              </a:rPr>
              <a:t>,</a:t>
            </a:r>
            <a:endParaRPr lang="en-US" sz="1050" dirty="0"/>
          </a:p>
        </p:txBody>
      </p:sp>
      <p:sp>
        <p:nvSpPr>
          <p:cNvPr id="30" name="a2wd450_code29"/>
          <p:cNvSpPr txBox="1"/>
          <p:nvPr/>
        </p:nvSpPr>
        <p:spPr>
          <a:xfrm>
            <a:off x="4800600" y="2468880"/>
            <a:ext cx="3749040" cy="228600"/>
          </a:xfrm>
          <a:prstGeom prst="rect">
            <a:avLst/>
          </a:prstGeom>
          <a:noFill/>
          <a:ln/>
        </p:spPr>
        <p:txBody>
          <a:bodyPr wrap="square" lIns="0" tIns="0" rIns="0" bIns="0" rtlCol="0" anchor="ctr"/>
          <a:lstStyle/>
          <a:p>
            <a:pPr marL="0" indent="0">
              <a:buNone/>
            </a:pPr>
            <a:r>
              <a:rPr lang="en-US" sz="1050" dirty="0">
                <a:solidFill>
                  <a:srgbClr val="E2E8F0"/>
                </a:solidFill>
                <a:latin typeface="Courier New" pitchFamily="34" charset="0"/>
                <a:ea typeface="Courier New" pitchFamily="34" charset="-122"/>
                <a:cs typeface="Courier New" pitchFamily="34" charset="-120"/>
              </a:rPr>
              <a:t>  balance     </a:t>
            </a:r>
            <a:r>
              <a:rPr lang="en-US" sz="1050" dirty="0">
                <a:solidFill>
                  <a:srgbClr val="93C5FD"/>
                </a:solidFill>
                <a:latin typeface="Courier New" pitchFamily="34" charset="0"/>
                <a:ea typeface="Courier New" pitchFamily="34" charset="-122"/>
                <a:cs typeface="Courier New" pitchFamily="34" charset="-120"/>
              </a:rPr>
              <a:t>NUMERIC</a:t>
            </a:r>
            <a:r>
              <a:rPr lang="en-US" sz="1050" dirty="0">
                <a:solidFill>
                  <a:srgbClr val="E2E8F0"/>
                </a:solidFill>
                <a:latin typeface="Courier New" pitchFamily="34" charset="0"/>
                <a:ea typeface="Courier New" pitchFamily="34" charset="-122"/>
                <a:cs typeface="Courier New" pitchFamily="34" charset="-120"/>
              </a:rPr>
              <a:t>(</a:t>
            </a:r>
            <a:r>
              <a:rPr lang="en-US" sz="1050" dirty="0">
                <a:solidFill>
                  <a:srgbClr val="FDBA74"/>
                </a:solidFill>
                <a:latin typeface="Courier New" pitchFamily="34" charset="0"/>
                <a:ea typeface="Courier New" pitchFamily="34" charset="-122"/>
                <a:cs typeface="Courier New" pitchFamily="34" charset="-120"/>
              </a:rPr>
              <a:t>15</a:t>
            </a:r>
            <a:r>
              <a:rPr lang="en-US" sz="1050" dirty="0">
                <a:solidFill>
                  <a:srgbClr val="E2E8F0"/>
                </a:solidFill>
                <a:latin typeface="Courier New" pitchFamily="34" charset="0"/>
                <a:ea typeface="Courier New" pitchFamily="34" charset="-122"/>
                <a:cs typeface="Courier New" pitchFamily="34" charset="-120"/>
              </a:rPr>
              <a:t>,</a:t>
            </a:r>
            <a:r>
              <a:rPr lang="en-US" sz="1050" dirty="0">
                <a:solidFill>
                  <a:srgbClr val="FDBA74"/>
                </a:solidFill>
                <a:latin typeface="Courier New" pitchFamily="34" charset="0"/>
                <a:ea typeface="Courier New" pitchFamily="34" charset="-122"/>
                <a:cs typeface="Courier New" pitchFamily="34" charset="-120"/>
              </a:rPr>
              <a:t>2</a:t>
            </a: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NOT</a:t>
            </a: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NULL</a:t>
            </a:r>
            <a:r>
              <a:rPr lang="en-US" sz="1050" dirty="0">
                <a:solidFill>
                  <a:srgbClr val="E2E8F0"/>
                </a:solidFill>
                <a:latin typeface="Courier New" pitchFamily="34" charset="0"/>
                <a:ea typeface="Courier New" pitchFamily="34" charset="-122"/>
                <a:cs typeface="Courier New" pitchFamily="34" charset="-120"/>
              </a:rPr>
              <a:t>,</a:t>
            </a:r>
            <a:endParaRPr lang="en-US" sz="1050" dirty="0"/>
          </a:p>
        </p:txBody>
      </p:sp>
      <p:sp>
        <p:nvSpPr>
          <p:cNvPr id="31" name="a2wd600_code30"/>
          <p:cNvSpPr txBox="1"/>
          <p:nvPr/>
        </p:nvSpPr>
        <p:spPr>
          <a:xfrm>
            <a:off x="4800600" y="2697480"/>
            <a:ext cx="3749040" cy="228600"/>
          </a:xfrm>
          <a:prstGeom prst="rect">
            <a:avLst/>
          </a:prstGeom>
          <a:noFill/>
          <a:ln/>
        </p:spPr>
        <p:txBody>
          <a:bodyPr wrap="square" lIns="0" tIns="0" rIns="0" bIns="0" rtlCol="0" anchor="ctr"/>
          <a:lstStyle/>
          <a:p>
            <a:pPr marL="0" indent="0">
              <a:buNone/>
            </a:pP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CONSTRAINT</a:t>
            </a:r>
            <a:r>
              <a:rPr lang="en-US" sz="1050" dirty="0">
                <a:solidFill>
                  <a:srgbClr val="E2E8F0"/>
                </a:solidFill>
                <a:latin typeface="Courier New" pitchFamily="34" charset="0"/>
                <a:ea typeface="Courier New" pitchFamily="34" charset="-122"/>
                <a:cs typeface="Courier New" pitchFamily="34" charset="-120"/>
              </a:rPr>
              <a:t> pk_account</a:t>
            </a:r>
            <a:endParaRPr lang="en-US" sz="1050" dirty="0"/>
          </a:p>
        </p:txBody>
      </p:sp>
      <p:sp>
        <p:nvSpPr>
          <p:cNvPr id="32" name="a2wd750_code31"/>
          <p:cNvSpPr txBox="1"/>
          <p:nvPr/>
        </p:nvSpPr>
        <p:spPr>
          <a:xfrm>
            <a:off x="4800600" y="2926080"/>
            <a:ext cx="3749040" cy="228600"/>
          </a:xfrm>
          <a:prstGeom prst="rect">
            <a:avLst/>
          </a:prstGeom>
          <a:noFill/>
          <a:ln/>
        </p:spPr>
        <p:txBody>
          <a:bodyPr wrap="square" lIns="0" tIns="0" rIns="0" bIns="0" rtlCol="0" anchor="ctr"/>
          <a:lstStyle/>
          <a:p>
            <a:pPr marL="0" indent="0">
              <a:buNone/>
            </a:pP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PRIMARY</a:t>
            </a: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KEY</a:t>
            </a:r>
            <a:r>
              <a:rPr lang="en-US" sz="1050" dirty="0">
                <a:solidFill>
                  <a:srgbClr val="E2E8F0"/>
                </a:solidFill>
                <a:latin typeface="Courier New" pitchFamily="34" charset="0"/>
                <a:ea typeface="Courier New" pitchFamily="34" charset="-122"/>
                <a:cs typeface="Courier New" pitchFamily="34" charset="-120"/>
              </a:rPr>
              <a:t> (account_id),</a:t>
            </a:r>
            <a:endParaRPr lang="en-US" sz="1050" dirty="0"/>
          </a:p>
        </p:txBody>
      </p:sp>
      <p:sp>
        <p:nvSpPr>
          <p:cNvPr id="33" name="a2wd900_code32"/>
          <p:cNvSpPr txBox="1"/>
          <p:nvPr/>
        </p:nvSpPr>
        <p:spPr>
          <a:xfrm>
            <a:off x="4800600" y="3154680"/>
            <a:ext cx="3749040" cy="228600"/>
          </a:xfrm>
          <a:prstGeom prst="rect">
            <a:avLst/>
          </a:prstGeom>
          <a:noFill/>
          <a:ln/>
        </p:spPr>
        <p:txBody>
          <a:bodyPr wrap="square" lIns="0" tIns="0" rIns="0" bIns="0" rtlCol="0" anchor="ctr"/>
          <a:lstStyle/>
          <a:p>
            <a:pPr marL="0" indent="0">
              <a:buNone/>
            </a:pP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CONSTRAINT</a:t>
            </a:r>
            <a:r>
              <a:rPr lang="en-US" sz="1050" dirty="0">
                <a:solidFill>
                  <a:srgbClr val="E2E8F0"/>
                </a:solidFill>
                <a:latin typeface="Courier New" pitchFamily="34" charset="0"/>
                <a:ea typeface="Courier New" pitchFamily="34" charset="-122"/>
                <a:cs typeface="Courier New" pitchFamily="34" charset="-120"/>
              </a:rPr>
              <a:t> fk_account_customer</a:t>
            </a:r>
            <a:endParaRPr lang="en-US" sz="1050" dirty="0"/>
          </a:p>
        </p:txBody>
      </p:sp>
      <p:sp>
        <p:nvSpPr>
          <p:cNvPr id="34" name="a2wd1050_code33"/>
          <p:cNvSpPr txBox="1"/>
          <p:nvPr/>
        </p:nvSpPr>
        <p:spPr>
          <a:xfrm>
            <a:off x="4800600" y="3383280"/>
            <a:ext cx="3749040" cy="228600"/>
          </a:xfrm>
          <a:prstGeom prst="rect">
            <a:avLst/>
          </a:prstGeom>
          <a:noFill/>
          <a:ln/>
        </p:spPr>
        <p:txBody>
          <a:bodyPr wrap="square" lIns="0" tIns="0" rIns="0" bIns="0" rtlCol="0" anchor="ctr"/>
          <a:lstStyle/>
          <a:p>
            <a:pPr marL="0" indent="0">
              <a:buNone/>
            </a:pP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FOREIGN</a:t>
            </a: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KEY</a:t>
            </a:r>
            <a:r>
              <a:rPr lang="en-US" sz="1050" dirty="0">
                <a:solidFill>
                  <a:srgbClr val="E2E8F0"/>
                </a:solidFill>
                <a:latin typeface="Courier New" pitchFamily="34" charset="0"/>
                <a:ea typeface="Courier New" pitchFamily="34" charset="-122"/>
                <a:cs typeface="Courier New" pitchFamily="34" charset="-120"/>
              </a:rPr>
              <a:t> (customer_id)</a:t>
            </a:r>
            <a:endParaRPr lang="en-US" sz="1050" dirty="0"/>
          </a:p>
        </p:txBody>
      </p:sp>
      <p:sp>
        <p:nvSpPr>
          <p:cNvPr id="35" name="a2wd1200_code34"/>
          <p:cNvSpPr txBox="1"/>
          <p:nvPr/>
        </p:nvSpPr>
        <p:spPr>
          <a:xfrm>
            <a:off x="4800600" y="3611880"/>
            <a:ext cx="3749040" cy="228600"/>
          </a:xfrm>
          <a:prstGeom prst="rect">
            <a:avLst/>
          </a:prstGeom>
          <a:noFill/>
          <a:ln/>
        </p:spPr>
        <p:txBody>
          <a:bodyPr wrap="square" lIns="0" tIns="0" rIns="0" bIns="0" rtlCol="0" anchor="ctr"/>
          <a:lstStyle/>
          <a:p>
            <a:pPr marL="0" indent="0">
              <a:buNone/>
            </a:pP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REFERENCES</a:t>
            </a:r>
            <a:r>
              <a:rPr lang="en-US" sz="1050" dirty="0">
                <a:solidFill>
                  <a:srgbClr val="E2E8F0"/>
                </a:solidFill>
                <a:latin typeface="Courier New" pitchFamily="34" charset="0"/>
                <a:ea typeface="Courier New" pitchFamily="34" charset="-122"/>
                <a:cs typeface="Courier New" pitchFamily="34" charset="-120"/>
              </a:rPr>
              <a:t> customer (customer_id)</a:t>
            </a:r>
            <a:endParaRPr lang="en-US" sz="1050" dirty="0"/>
          </a:p>
        </p:txBody>
      </p:sp>
      <p:sp>
        <p:nvSpPr>
          <p:cNvPr id="36" name="a2wd1350_code35"/>
          <p:cNvSpPr txBox="1"/>
          <p:nvPr/>
        </p:nvSpPr>
        <p:spPr>
          <a:xfrm>
            <a:off x="4800600" y="3840480"/>
            <a:ext cx="3749040" cy="228600"/>
          </a:xfrm>
          <a:prstGeom prst="rect">
            <a:avLst/>
          </a:prstGeom>
          <a:noFill/>
          <a:ln/>
        </p:spPr>
        <p:txBody>
          <a:bodyPr wrap="square" lIns="0" tIns="0" rIns="0" bIns="0" rtlCol="0" anchor="ctr"/>
          <a:lstStyle/>
          <a:p>
            <a:pPr marL="0" indent="0">
              <a:buNone/>
            </a:pP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ON</a:t>
            </a: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DELETE</a:t>
            </a: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RESTRICT</a:t>
            </a:r>
            <a:endParaRPr lang="en-US" sz="1050" dirty="0"/>
          </a:p>
        </p:txBody>
      </p:sp>
      <p:sp>
        <p:nvSpPr>
          <p:cNvPr id="37" name="a2wd1500_code36"/>
          <p:cNvSpPr txBox="1"/>
          <p:nvPr/>
        </p:nvSpPr>
        <p:spPr>
          <a:xfrm>
            <a:off x="4800600" y="4069080"/>
            <a:ext cx="3749040" cy="228600"/>
          </a:xfrm>
          <a:prstGeom prst="rect">
            <a:avLst/>
          </a:prstGeom>
          <a:noFill/>
          <a:ln/>
        </p:spPr>
        <p:txBody>
          <a:bodyPr wrap="square" lIns="0" tIns="0" rIns="0" bIns="0" rtlCol="0" anchor="ctr"/>
          <a:lstStyle/>
          <a:p>
            <a:pPr marL="0" indent="0">
              <a:buNone/>
            </a:pPr>
            <a:r>
              <a:rPr lang="en-US" sz="1050" dirty="0">
                <a:solidFill>
                  <a:srgbClr val="E2E8F0"/>
                </a:solidFill>
                <a:latin typeface="Courier New" pitchFamily="34" charset="0"/>
                <a:ea typeface="Courier New" pitchFamily="34" charset="-122"/>
                <a:cs typeface="Courier New" pitchFamily="34" charset="-120"/>
              </a:rPr>
              <a:t>);</a:t>
            </a:r>
            <a:endParaRPr lang="en-US" sz="10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ntr" presetSubtype="0" fill="hold"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par>
                                <p:cTn id="47" presetID="10" presetClass="entr" presetSubtype="0" fill="hold"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50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500"/>
                                        <p:tgtEl>
                                          <p:spTgt spid="26"/>
                                        </p:tgtEl>
                                      </p:cBhvr>
                                    </p:animEffect>
                                  </p:childTnLst>
                                </p:cTn>
                              </p:par>
                              <p:par>
                                <p:cTn id="58" presetID="22" presetClass="entr" presetSubtype="8" fill="hold" grpId="0" nodeType="with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wipe(left)">
                                      <p:cBhvr>
                                        <p:cTn id="60" dur="500"/>
                                        <p:tgtEl>
                                          <p:spTgt spid="27"/>
                                        </p:tgtEl>
                                      </p:cBhvr>
                                    </p:animEffect>
                                  </p:childTnLst>
                                </p:cTn>
                              </p:par>
                              <p:par>
                                <p:cTn id="61" presetID="22" presetClass="entr" presetSubtype="8" fill="hold" grpId="0" nodeType="withEffect">
                                  <p:stCondLst>
                                    <p:cond delay="150"/>
                                  </p:stCondLst>
                                  <p:childTnLst>
                                    <p:set>
                                      <p:cBhvr>
                                        <p:cTn id="62" dur="1" fill="hold">
                                          <p:stCondLst>
                                            <p:cond delay="0"/>
                                          </p:stCondLst>
                                        </p:cTn>
                                        <p:tgtEl>
                                          <p:spTgt spid="28"/>
                                        </p:tgtEl>
                                        <p:attrNameLst>
                                          <p:attrName>style.visibility</p:attrName>
                                        </p:attrNameLst>
                                      </p:cBhvr>
                                      <p:to>
                                        <p:strVal val="visible"/>
                                      </p:to>
                                    </p:set>
                                    <p:animEffect transition="in" filter="wipe(left)">
                                      <p:cBhvr>
                                        <p:cTn id="63" dur="500"/>
                                        <p:tgtEl>
                                          <p:spTgt spid="28"/>
                                        </p:tgtEl>
                                      </p:cBhvr>
                                    </p:animEffect>
                                  </p:childTnLst>
                                </p:cTn>
                              </p:par>
                              <p:par>
                                <p:cTn id="64" presetID="22" presetClass="entr" presetSubtype="8" fill="hold" grpId="0" nodeType="withEffect">
                                  <p:stCondLst>
                                    <p:cond delay="300"/>
                                  </p:stCondLst>
                                  <p:childTnLst>
                                    <p:set>
                                      <p:cBhvr>
                                        <p:cTn id="65" dur="1" fill="hold">
                                          <p:stCondLst>
                                            <p:cond delay="0"/>
                                          </p:stCondLst>
                                        </p:cTn>
                                        <p:tgtEl>
                                          <p:spTgt spid="29"/>
                                        </p:tgtEl>
                                        <p:attrNameLst>
                                          <p:attrName>style.visibility</p:attrName>
                                        </p:attrNameLst>
                                      </p:cBhvr>
                                      <p:to>
                                        <p:strVal val="visible"/>
                                      </p:to>
                                    </p:set>
                                    <p:animEffect transition="in" filter="wipe(left)">
                                      <p:cBhvr>
                                        <p:cTn id="66" dur="500"/>
                                        <p:tgtEl>
                                          <p:spTgt spid="29"/>
                                        </p:tgtEl>
                                      </p:cBhvr>
                                    </p:animEffect>
                                  </p:childTnLst>
                                </p:cTn>
                              </p:par>
                              <p:par>
                                <p:cTn id="67" presetID="22" presetClass="entr" presetSubtype="8" fill="hold" grpId="0" nodeType="withEffect">
                                  <p:stCondLst>
                                    <p:cond delay="450"/>
                                  </p:stCondLst>
                                  <p:childTnLst>
                                    <p:set>
                                      <p:cBhvr>
                                        <p:cTn id="68" dur="1" fill="hold">
                                          <p:stCondLst>
                                            <p:cond delay="0"/>
                                          </p:stCondLst>
                                        </p:cTn>
                                        <p:tgtEl>
                                          <p:spTgt spid="30"/>
                                        </p:tgtEl>
                                        <p:attrNameLst>
                                          <p:attrName>style.visibility</p:attrName>
                                        </p:attrNameLst>
                                      </p:cBhvr>
                                      <p:to>
                                        <p:strVal val="visible"/>
                                      </p:to>
                                    </p:set>
                                    <p:animEffect transition="in" filter="wipe(left)">
                                      <p:cBhvr>
                                        <p:cTn id="69" dur="500"/>
                                        <p:tgtEl>
                                          <p:spTgt spid="30"/>
                                        </p:tgtEl>
                                      </p:cBhvr>
                                    </p:animEffect>
                                  </p:childTnLst>
                                </p:cTn>
                              </p:par>
                              <p:par>
                                <p:cTn id="70" presetID="22" presetClass="entr" presetSubtype="8" fill="hold" grpId="0" nodeType="withEffect">
                                  <p:stCondLst>
                                    <p:cond delay="600"/>
                                  </p:stCondLst>
                                  <p:childTnLst>
                                    <p:set>
                                      <p:cBhvr>
                                        <p:cTn id="71" dur="1" fill="hold">
                                          <p:stCondLst>
                                            <p:cond delay="0"/>
                                          </p:stCondLst>
                                        </p:cTn>
                                        <p:tgtEl>
                                          <p:spTgt spid="31"/>
                                        </p:tgtEl>
                                        <p:attrNameLst>
                                          <p:attrName>style.visibility</p:attrName>
                                        </p:attrNameLst>
                                      </p:cBhvr>
                                      <p:to>
                                        <p:strVal val="visible"/>
                                      </p:to>
                                    </p:set>
                                    <p:animEffect transition="in" filter="wipe(left)">
                                      <p:cBhvr>
                                        <p:cTn id="72" dur="500"/>
                                        <p:tgtEl>
                                          <p:spTgt spid="31"/>
                                        </p:tgtEl>
                                      </p:cBhvr>
                                    </p:animEffect>
                                  </p:childTnLst>
                                </p:cTn>
                              </p:par>
                              <p:par>
                                <p:cTn id="73" presetID="22" presetClass="entr" presetSubtype="8" fill="hold" grpId="0" nodeType="withEffect">
                                  <p:stCondLst>
                                    <p:cond delay="750"/>
                                  </p:stCondLst>
                                  <p:childTnLst>
                                    <p:set>
                                      <p:cBhvr>
                                        <p:cTn id="74" dur="1" fill="hold">
                                          <p:stCondLst>
                                            <p:cond delay="0"/>
                                          </p:stCondLst>
                                        </p:cTn>
                                        <p:tgtEl>
                                          <p:spTgt spid="32"/>
                                        </p:tgtEl>
                                        <p:attrNameLst>
                                          <p:attrName>style.visibility</p:attrName>
                                        </p:attrNameLst>
                                      </p:cBhvr>
                                      <p:to>
                                        <p:strVal val="visible"/>
                                      </p:to>
                                    </p:set>
                                    <p:animEffect transition="in" filter="wipe(left)">
                                      <p:cBhvr>
                                        <p:cTn id="75" dur="500"/>
                                        <p:tgtEl>
                                          <p:spTgt spid="32"/>
                                        </p:tgtEl>
                                      </p:cBhvr>
                                    </p:animEffect>
                                  </p:childTnLst>
                                </p:cTn>
                              </p:par>
                              <p:par>
                                <p:cTn id="76" presetID="22" presetClass="entr" presetSubtype="8" fill="hold" grpId="0" nodeType="withEffect">
                                  <p:stCondLst>
                                    <p:cond delay="900"/>
                                  </p:stCondLst>
                                  <p:childTnLst>
                                    <p:set>
                                      <p:cBhvr>
                                        <p:cTn id="77" dur="1" fill="hold">
                                          <p:stCondLst>
                                            <p:cond delay="0"/>
                                          </p:stCondLst>
                                        </p:cTn>
                                        <p:tgtEl>
                                          <p:spTgt spid="33"/>
                                        </p:tgtEl>
                                        <p:attrNameLst>
                                          <p:attrName>style.visibility</p:attrName>
                                        </p:attrNameLst>
                                      </p:cBhvr>
                                      <p:to>
                                        <p:strVal val="visible"/>
                                      </p:to>
                                    </p:set>
                                    <p:animEffect transition="in" filter="wipe(left)">
                                      <p:cBhvr>
                                        <p:cTn id="78" dur="500"/>
                                        <p:tgtEl>
                                          <p:spTgt spid="33"/>
                                        </p:tgtEl>
                                      </p:cBhvr>
                                    </p:animEffect>
                                  </p:childTnLst>
                                </p:cTn>
                              </p:par>
                              <p:par>
                                <p:cTn id="79" presetID="22" presetClass="entr" presetSubtype="8" fill="hold" grpId="0" nodeType="withEffect">
                                  <p:stCondLst>
                                    <p:cond delay="1050"/>
                                  </p:stCondLst>
                                  <p:childTnLst>
                                    <p:set>
                                      <p:cBhvr>
                                        <p:cTn id="80" dur="1" fill="hold">
                                          <p:stCondLst>
                                            <p:cond delay="0"/>
                                          </p:stCondLst>
                                        </p:cTn>
                                        <p:tgtEl>
                                          <p:spTgt spid="34"/>
                                        </p:tgtEl>
                                        <p:attrNameLst>
                                          <p:attrName>style.visibility</p:attrName>
                                        </p:attrNameLst>
                                      </p:cBhvr>
                                      <p:to>
                                        <p:strVal val="visible"/>
                                      </p:to>
                                    </p:set>
                                    <p:animEffect transition="in" filter="wipe(left)">
                                      <p:cBhvr>
                                        <p:cTn id="81" dur="500"/>
                                        <p:tgtEl>
                                          <p:spTgt spid="34"/>
                                        </p:tgtEl>
                                      </p:cBhvr>
                                    </p:animEffect>
                                  </p:childTnLst>
                                </p:cTn>
                              </p:par>
                              <p:par>
                                <p:cTn id="82" presetID="22" presetClass="entr" presetSubtype="8" fill="hold" grpId="0" nodeType="withEffect">
                                  <p:stCondLst>
                                    <p:cond delay="1200"/>
                                  </p:stCondLst>
                                  <p:childTnLst>
                                    <p:set>
                                      <p:cBhvr>
                                        <p:cTn id="83" dur="1" fill="hold">
                                          <p:stCondLst>
                                            <p:cond delay="0"/>
                                          </p:stCondLst>
                                        </p:cTn>
                                        <p:tgtEl>
                                          <p:spTgt spid="35"/>
                                        </p:tgtEl>
                                        <p:attrNameLst>
                                          <p:attrName>style.visibility</p:attrName>
                                        </p:attrNameLst>
                                      </p:cBhvr>
                                      <p:to>
                                        <p:strVal val="visible"/>
                                      </p:to>
                                    </p:set>
                                    <p:animEffect transition="in" filter="wipe(left)">
                                      <p:cBhvr>
                                        <p:cTn id="84" dur="500"/>
                                        <p:tgtEl>
                                          <p:spTgt spid="35"/>
                                        </p:tgtEl>
                                      </p:cBhvr>
                                    </p:animEffect>
                                  </p:childTnLst>
                                </p:cTn>
                              </p:par>
                              <p:par>
                                <p:cTn id="85" presetID="22" presetClass="entr" presetSubtype="8" fill="hold" grpId="0" nodeType="withEffect">
                                  <p:stCondLst>
                                    <p:cond delay="1350"/>
                                  </p:stCondLst>
                                  <p:childTnLst>
                                    <p:set>
                                      <p:cBhvr>
                                        <p:cTn id="86" dur="1" fill="hold">
                                          <p:stCondLst>
                                            <p:cond delay="0"/>
                                          </p:stCondLst>
                                        </p:cTn>
                                        <p:tgtEl>
                                          <p:spTgt spid="36"/>
                                        </p:tgtEl>
                                        <p:attrNameLst>
                                          <p:attrName>style.visibility</p:attrName>
                                        </p:attrNameLst>
                                      </p:cBhvr>
                                      <p:to>
                                        <p:strVal val="visible"/>
                                      </p:to>
                                    </p:set>
                                    <p:animEffect transition="in" filter="wipe(left)">
                                      <p:cBhvr>
                                        <p:cTn id="87" dur="500"/>
                                        <p:tgtEl>
                                          <p:spTgt spid="36"/>
                                        </p:tgtEl>
                                      </p:cBhvr>
                                    </p:animEffect>
                                  </p:childTnLst>
                                </p:cTn>
                              </p:par>
                              <p:par>
                                <p:cTn id="88" presetID="22" presetClass="entr" presetSubtype="8" fill="hold" grpId="0" nodeType="withEffect">
                                  <p:stCondLst>
                                    <p:cond delay="1500"/>
                                  </p:stCondLst>
                                  <p:childTnLst>
                                    <p:set>
                                      <p:cBhvr>
                                        <p:cTn id="89" dur="1" fill="hold">
                                          <p:stCondLst>
                                            <p:cond delay="0"/>
                                          </p:stCondLst>
                                        </p:cTn>
                                        <p:tgtEl>
                                          <p:spTgt spid="37"/>
                                        </p:tgtEl>
                                        <p:attrNameLst>
                                          <p:attrName>style.visibility</p:attrName>
                                        </p:attrNameLst>
                                      </p:cBhvr>
                                      <p:to>
                                        <p:strVal val="visible"/>
                                      </p:to>
                                    </p:set>
                                    <p:animEffect transition="in" filter="wipe(left)">
                                      <p:cBhvr>
                                        <p:cTn id="90" dur="500"/>
                                        <p:tgtEl>
                                          <p:spTgt spid="37"/>
                                        </p:tgtEl>
                                      </p:cBhvr>
                                    </p:animEffect>
                                  </p:childTnLst>
                                </p:cTn>
                              </p:par>
                            </p:childTnLst>
                          </p:cTn>
                        </p:par>
                      </p:childTnLst>
                    </p:cTn>
                  </p:par>
                  <p:par>
                    <p:cTn id="91" fill="hold">
                      <p:stCondLst>
                        <p:cond delay="indefinite"/>
                      </p:stCondLst>
                      <p:childTnLst>
                        <p:par>
                          <p:cTn id="92" fill="hold">
                            <p:stCondLst>
                              <p:cond delay="0"/>
                            </p:stCondLst>
                            <p:childTnLst>
                              <p:par>
                                <p:cTn id="93" presetID="2" presetClass="entr" presetSubtype="4" fill="hold" grpId="0" nodeType="clickEffect">
                                  <p:stCondLst>
                                    <p:cond delay="0"/>
                                  </p:stCondLst>
                                  <p:childTnLst>
                                    <p:set>
                                      <p:cBhvr>
                                        <p:cTn id="94" dur="1" fill="hold">
                                          <p:stCondLst>
                                            <p:cond delay="0"/>
                                          </p:stCondLst>
                                        </p:cTn>
                                        <p:tgtEl>
                                          <p:spTgt spid="20"/>
                                        </p:tgtEl>
                                        <p:attrNameLst>
                                          <p:attrName>style.visibility</p:attrName>
                                        </p:attrNameLst>
                                      </p:cBhvr>
                                      <p:to>
                                        <p:strVal val="visible"/>
                                      </p:to>
                                    </p:set>
                                    <p:anim calcmode="lin" valueType="num">
                                      <p:cBhvr additive="base">
                                        <p:cTn id="95" dur="500" fill="hold"/>
                                        <p:tgtEl>
                                          <p:spTgt spid="20"/>
                                        </p:tgtEl>
                                        <p:attrNameLst>
                                          <p:attrName>ppt_x</p:attrName>
                                        </p:attrNameLst>
                                      </p:cBhvr>
                                      <p:tavLst>
                                        <p:tav tm="0">
                                          <p:val>
                                            <p:strVal val="#ppt_x"/>
                                          </p:val>
                                        </p:tav>
                                        <p:tav tm="100000">
                                          <p:val>
                                            <p:strVal val="#ppt_x"/>
                                          </p:val>
                                        </p:tav>
                                      </p:tavLst>
                                    </p:anim>
                                    <p:anim calcmode="lin" valueType="num">
                                      <p:cBhvr additive="base">
                                        <p:cTn id="96" dur="500" fill="hold"/>
                                        <p:tgtEl>
                                          <p:spTgt spid="20"/>
                                        </p:tgtEl>
                                        <p:attrNameLst>
                                          <p:attrName>ppt_y</p:attrName>
                                        </p:attrNameLst>
                                      </p:cBhvr>
                                      <p:tavLst>
                                        <p:tav tm="0">
                                          <p:val>
                                            <p:strVal val="#ppt_y+0.1"/>
                                          </p:val>
                                        </p:tav>
                                        <p:tav tm="100000">
                                          <p:val>
                                            <p:strVal val="#ppt_y"/>
                                          </p:val>
                                        </p:tav>
                                      </p:tavLst>
                                    </p:anim>
                                    <p:animEffect transition="in" filter="fade">
                                      <p:cBhvr>
                                        <p:cTn id="97" dur="500"/>
                                        <p:tgtEl>
                                          <p:spTgt spid="20"/>
                                        </p:tgtEl>
                                      </p:cBhvr>
                                    </p:animEffect>
                                  </p:childTnLst>
                                </p:cTn>
                              </p:par>
                              <p:par>
                                <p:cTn id="98" presetID="2" presetClass="entr" presetSubtype="4" fill="hold" grpId="0" nodeType="withEffect">
                                  <p:stCondLst>
                                    <p:cond delay="0"/>
                                  </p:stCondLst>
                                  <p:childTnLst>
                                    <p:set>
                                      <p:cBhvr>
                                        <p:cTn id="99" dur="1" fill="hold">
                                          <p:stCondLst>
                                            <p:cond delay="0"/>
                                          </p:stCondLst>
                                        </p:cTn>
                                        <p:tgtEl>
                                          <p:spTgt spid="21"/>
                                        </p:tgtEl>
                                        <p:attrNameLst>
                                          <p:attrName>style.visibility</p:attrName>
                                        </p:attrNameLst>
                                      </p:cBhvr>
                                      <p:to>
                                        <p:strVal val="visible"/>
                                      </p:to>
                                    </p:set>
                                    <p:anim calcmode="lin" valueType="num">
                                      <p:cBhvr additive="base">
                                        <p:cTn id="100" dur="500" fill="hold"/>
                                        <p:tgtEl>
                                          <p:spTgt spid="21"/>
                                        </p:tgtEl>
                                        <p:attrNameLst>
                                          <p:attrName>ppt_x</p:attrName>
                                        </p:attrNameLst>
                                      </p:cBhvr>
                                      <p:tavLst>
                                        <p:tav tm="0">
                                          <p:val>
                                            <p:strVal val="#ppt_x"/>
                                          </p:val>
                                        </p:tav>
                                        <p:tav tm="100000">
                                          <p:val>
                                            <p:strVal val="#ppt_x"/>
                                          </p:val>
                                        </p:tav>
                                      </p:tavLst>
                                    </p:anim>
                                    <p:anim calcmode="lin" valueType="num">
                                      <p:cBhvr additive="base">
                                        <p:cTn id="101" dur="500" fill="hold"/>
                                        <p:tgtEl>
                                          <p:spTgt spid="21"/>
                                        </p:tgtEl>
                                        <p:attrNameLst>
                                          <p:attrName>ppt_y</p:attrName>
                                        </p:attrNameLst>
                                      </p:cBhvr>
                                      <p:tavLst>
                                        <p:tav tm="0">
                                          <p:val>
                                            <p:strVal val="#ppt_y+0.1"/>
                                          </p:val>
                                        </p:tav>
                                        <p:tav tm="100000">
                                          <p:val>
                                            <p:strVal val="#ppt_y"/>
                                          </p:val>
                                        </p:tav>
                                      </p:tavLst>
                                    </p:anim>
                                    <p:animEffect transition="in" filter="fade">
                                      <p:cBhvr>
                                        <p:cTn id="102" dur="500"/>
                                        <p:tgtEl>
                                          <p:spTgt spid="21"/>
                                        </p:tgtEl>
                                      </p:cBhvr>
                                    </p:animEffect>
                                  </p:childTnLst>
                                </p:cTn>
                              </p:par>
                            </p:childTnLst>
                          </p:cTn>
                        </p:par>
                      </p:childTnLst>
                    </p:cTn>
                  </p:par>
                  <p:par>
                    <p:cTn id="103" fill="hold">
                      <p:stCondLst>
                        <p:cond delay="indefinite"/>
                      </p:stCondLst>
                      <p:childTnLst>
                        <p:par>
                          <p:cTn id="104" fill="hold">
                            <p:stCondLst>
                              <p:cond delay="0"/>
                            </p:stCondLst>
                            <p:childTnLst>
                              <p:par>
                                <p:cTn id="105" presetID="2" presetClass="entr" presetSubtype="4" fill="hold" grpId="0" nodeType="clickEffect">
                                  <p:stCondLst>
                                    <p:cond delay="0"/>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500" fill="hold"/>
                                        <p:tgtEl>
                                          <p:spTgt spid="22"/>
                                        </p:tgtEl>
                                        <p:attrNameLst>
                                          <p:attrName>ppt_x</p:attrName>
                                        </p:attrNameLst>
                                      </p:cBhvr>
                                      <p:tavLst>
                                        <p:tav tm="0">
                                          <p:val>
                                            <p:strVal val="#ppt_x"/>
                                          </p:val>
                                        </p:tav>
                                        <p:tav tm="100000">
                                          <p:val>
                                            <p:strVal val="#ppt_x"/>
                                          </p:val>
                                        </p:tav>
                                      </p:tavLst>
                                    </p:anim>
                                    <p:anim calcmode="lin" valueType="num">
                                      <p:cBhvr additive="base">
                                        <p:cTn id="108" dur="500" fill="hold"/>
                                        <p:tgtEl>
                                          <p:spTgt spid="22"/>
                                        </p:tgtEl>
                                        <p:attrNameLst>
                                          <p:attrName>ppt_y</p:attrName>
                                        </p:attrNameLst>
                                      </p:cBhvr>
                                      <p:tavLst>
                                        <p:tav tm="0">
                                          <p:val>
                                            <p:strVal val="#ppt_y+0.1"/>
                                          </p:val>
                                        </p:tav>
                                        <p:tav tm="100000">
                                          <p:val>
                                            <p:strVal val="#ppt_y"/>
                                          </p:val>
                                        </p:tav>
                                      </p:tavLst>
                                    </p:anim>
                                    <p:animEffect transition="in" filter="fade">
                                      <p:cBhvr>
                                        <p:cTn id="109" dur="500"/>
                                        <p:tgtEl>
                                          <p:spTgt spid="22"/>
                                        </p:tgtEl>
                                      </p:cBhvr>
                                    </p:animEffect>
                                  </p:childTnLst>
                                </p:cTn>
                              </p:par>
                              <p:par>
                                <p:cTn id="110" presetID="2" presetClass="entr" presetSubtype="4" fill="hold" grpId="0" nodeType="withEffect">
                                  <p:stCondLst>
                                    <p:cond delay="0"/>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500" fill="hold"/>
                                        <p:tgtEl>
                                          <p:spTgt spid="23"/>
                                        </p:tgtEl>
                                        <p:attrNameLst>
                                          <p:attrName>ppt_x</p:attrName>
                                        </p:attrNameLst>
                                      </p:cBhvr>
                                      <p:tavLst>
                                        <p:tav tm="0">
                                          <p:val>
                                            <p:strVal val="#ppt_x"/>
                                          </p:val>
                                        </p:tav>
                                        <p:tav tm="100000">
                                          <p:val>
                                            <p:strVal val="#ppt_x"/>
                                          </p:val>
                                        </p:tav>
                                      </p:tavLst>
                                    </p:anim>
                                    <p:anim calcmode="lin" valueType="num">
                                      <p:cBhvr additive="base">
                                        <p:cTn id="113" dur="500" fill="hold"/>
                                        <p:tgtEl>
                                          <p:spTgt spid="23"/>
                                        </p:tgtEl>
                                        <p:attrNameLst>
                                          <p:attrName>ppt_y</p:attrName>
                                        </p:attrNameLst>
                                      </p:cBhvr>
                                      <p:tavLst>
                                        <p:tav tm="0">
                                          <p:val>
                                            <p:strVal val="#ppt_y+0.1"/>
                                          </p:val>
                                        </p:tav>
                                        <p:tav tm="100000">
                                          <p:val>
                                            <p:strVal val="#ppt_y"/>
                                          </p:val>
                                        </p:tav>
                                      </p:tavLst>
                                    </p:anim>
                                    <p:animEffect transition="in" filter="fade">
                                      <p:cBhvr>
                                        <p:cTn id="114" dur="500"/>
                                        <p:tgtEl>
                                          <p:spTgt spid="23"/>
                                        </p:tgtEl>
                                      </p:cBhvr>
                                    </p:animEffect>
                                  </p:childTnLst>
                                </p:cTn>
                              </p:par>
                            </p:childTnLst>
                          </p:cTn>
                        </p:par>
                      </p:childTnLst>
                    </p:cTn>
                  </p:par>
                  <p:par>
                    <p:cTn id="115" fill="hold">
                      <p:stCondLst>
                        <p:cond delay="indefinite"/>
                      </p:stCondLst>
                      <p:childTnLst>
                        <p:par>
                          <p:cTn id="116" fill="hold">
                            <p:stCondLst>
                              <p:cond delay="0"/>
                            </p:stCondLst>
                            <p:childTnLst>
                              <p:par>
                                <p:cTn id="117" presetID="2" presetClass="entr" presetSubtype="4" fill="hold" grpId="0" nodeType="clickEffect">
                                  <p:stCondLst>
                                    <p:cond delay="0"/>
                                  </p:stCondLst>
                                  <p:childTnLst>
                                    <p:set>
                                      <p:cBhvr>
                                        <p:cTn id="118" dur="1" fill="hold">
                                          <p:stCondLst>
                                            <p:cond delay="0"/>
                                          </p:stCondLst>
                                        </p:cTn>
                                        <p:tgtEl>
                                          <p:spTgt spid="24"/>
                                        </p:tgtEl>
                                        <p:attrNameLst>
                                          <p:attrName>style.visibility</p:attrName>
                                        </p:attrNameLst>
                                      </p:cBhvr>
                                      <p:to>
                                        <p:strVal val="visible"/>
                                      </p:to>
                                    </p:set>
                                    <p:anim calcmode="lin" valueType="num">
                                      <p:cBhvr additive="base">
                                        <p:cTn id="119" dur="500" fill="hold"/>
                                        <p:tgtEl>
                                          <p:spTgt spid="24"/>
                                        </p:tgtEl>
                                        <p:attrNameLst>
                                          <p:attrName>ppt_x</p:attrName>
                                        </p:attrNameLst>
                                      </p:cBhvr>
                                      <p:tavLst>
                                        <p:tav tm="0">
                                          <p:val>
                                            <p:strVal val="#ppt_x"/>
                                          </p:val>
                                        </p:tav>
                                        <p:tav tm="100000">
                                          <p:val>
                                            <p:strVal val="#ppt_x"/>
                                          </p:val>
                                        </p:tav>
                                      </p:tavLst>
                                    </p:anim>
                                    <p:anim calcmode="lin" valueType="num">
                                      <p:cBhvr additive="base">
                                        <p:cTn id="120" dur="500" fill="hold"/>
                                        <p:tgtEl>
                                          <p:spTgt spid="24"/>
                                        </p:tgtEl>
                                        <p:attrNameLst>
                                          <p:attrName>ppt_y</p:attrName>
                                        </p:attrNameLst>
                                      </p:cBhvr>
                                      <p:tavLst>
                                        <p:tav tm="0">
                                          <p:val>
                                            <p:strVal val="#ppt_y+0.1"/>
                                          </p:val>
                                        </p:tav>
                                        <p:tav tm="100000">
                                          <p:val>
                                            <p:strVal val="#ppt_y"/>
                                          </p:val>
                                        </p:tav>
                                      </p:tavLst>
                                    </p:anim>
                                    <p:animEffect transition="in" filter="fade">
                                      <p:cBhvr>
                                        <p:cTn id="121" dur="500"/>
                                        <p:tgtEl>
                                          <p:spTgt spid="24"/>
                                        </p:tgtEl>
                                      </p:cBhvr>
                                    </p:animEffect>
                                  </p:childTnLst>
                                </p:cTn>
                              </p:par>
                              <p:par>
                                <p:cTn id="122" presetID="2" presetClass="entr" presetSubtype="4" fill="hold" grpId="0" nodeType="withEffect">
                                  <p:stCondLst>
                                    <p:cond delay="0"/>
                                  </p:stCondLst>
                                  <p:childTnLst>
                                    <p:set>
                                      <p:cBhvr>
                                        <p:cTn id="123" dur="1" fill="hold">
                                          <p:stCondLst>
                                            <p:cond delay="0"/>
                                          </p:stCondLst>
                                        </p:cTn>
                                        <p:tgtEl>
                                          <p:spTgt spid="25"/>
                                        </p:tgtEl>
                                        <p:attrNameLst>
                                          <p:attrName>style.visibility</p:attrName>
                                        </p:attrNameLst>
                                      </p:cBhvr>
                                      <p:to>
                                        <p:strVal val="visible"/>
                                      </p:to>
                                    </p:set>
                                    <p:anim calcmode="lin" valueType="num">
                                      <p:cBhvr additive="base">
                                        <p:cTn id="124" dur="500" fill="hold"/>
                                        <p:tgtEl>
                                          <p:spTgt spid="25"/>
                                        </p:tgtEl>
                                        <p:attrNameLst>
                                          <p:attrName>ppt_x</p:attrName>
                                        </p:attrNameLst>
                                      </p:cBhvr>
                                      <p:tavLst>
                                        <p:tav tm="0">
                                          <p:val>
                                            <p:strVal val="#ppt_x"/>
                                          </p:val>
                                        </p:tav>
                                        <p:tav tm="100000">
                                          <p:val>
                                            <p:strVal val="#ppt_x"/>
                                          </p:val>
                                        </p:tav>
                                      </p:tavLst>
                                    </p:anim>
                                    <p:anim calcmode="lin" valueType="num">
                                      <p:cBhvr additive="base">
                                        <p:cTn id="125" dur="500" fill="hold"/>
                                        <p:tgtEl>
                                          <p:spTgt spid="25"/>
                                        </p:tgtEl>
                                        <p:attrNameLst>
                                          <p:attrName>ppt_y</p:attrName>
                                        </p:attrNameLst>
                                      </p:cBhvr>
                                      <p:tavLst>
                                        <p:tav tm="0">
                                          <p:val>
                                            <p:strVal val="#ppt_y+0.1"/>
                                          </p:val>
                                        </p:tav>
                                        <p:tav tm="100000">
                                          <p:val>
                                            <p:strVal val="#ppt_y"/>
                                          </p:val>
                                        </p:tav>
                                      </p:tavLst>
                                    </p:anim>
                                    <p:animEffect transition="in" filter="fade">
                                      <p:cBhvr>
                                        <p:cTn id="126"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a0f_n1"/>
          <p:cNvSpPr txBox="1"/>
          <p:nvPr/>
        </p:nvSpPr>
        <p:spPr>
          <a:xfrm>
            <a:off x="548640" y="1188720"/>
            <a:ext cx="4114800" cy="822960"/>
          </a:xfrm>
          <a:prstGeom prst="rect">
            <a:avLst/>
          </a:prstGeom>
          <a:noFill/>
          <a:ln/>
        </p:spPr>
        <p:txBody>
          <a:bodyPr wrap="square" lIns="0" tIns="0" rIns="0" bIns="0" rtlCol="0" anchor="ctr"/>
          <a:lstStyle/>
          <a:p>
            <a:pPr marL="0" indent="0">
              <a:buNone/>
            </a:pPr>
            <a:r>
              <a:rPr lang="en-US" sz="6000" b="1" dirty="0">
                <a:solidFill>
                  <a:srgbClr val="A78BFA"/>
                </a:solidFill>
                <a:latin typeface="Calibri" pitchFamily="34" charset="0"/>
                <a:ea typeface="Calibri" pitchFamily="34" charset="-122"/>
                <a:cs typeface="Calibri" pitchFamily="34" charset="-120"/>
              </a:rPr>
              <a:t>04</a:t>
            </a:r>
            <a:endParaRPr lang="en-US" sz="6000" dirty="0"/>
          </a:p>
        </p:txBody>
      </p:sp>
      <p:sp>
        <p:nvSpPr>
          <p:cNvPr id="3" name="a0ud200_h2"/>
          <p:cNvSpPr txBox="1"/>
          <p:nvPr/>
        </p:nvSpPr>
        <p:spPr>
          <a:xfrm>
            <a:off x="548640" y="2011680"/>
            <a:ext cx="4572000" cy="82296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MANY-TO-MANY</a:t>
            </a:r>
            <a:endParaRPr lang="en-US" sz="4400" dirty="0"/>
          </a:p>
        </p:txBody>
      </p:sp>
      <p:sp>
        <p:nvSpPr>
          <p:cNvPr id="4" name="a0fd450_t3"/>
          <p:cNvSpPr txBox="1"/>
          <p:nvPr/>
        </p:nvSpPr>
        <p:spPr>
          <a:xfrm>
            <a:off x="548640" y="2834640"/>
            <a:ext cx="4389120" cy="731520"/>
          </a:xfrm>
          <a:prstGeom prst="rect">
            <a:avLst/>
          </a:prstGeom>
          <a:noFill/>
          <a:ln/>
        </p:spPr>
        <p:txBody>
          <a:bodyPr wrap="square" lIns="0" tIns="0" rIns="0" bIns="0" rtlCol="0" anchor="t"/>
          <a:lstStyle/>
          <a:p>
            <a:pPr marL="0" indent="0">
              <a:buNone/>
            </a:pPr>
            <a:r>
              <a:rPr lang="en-US" sz="1700" dirty="0">
                <a:solidFill>
                  <a:srgbClr val="CBD5E1"/>
                </a:solidFill>
                <a:latin typeface="Calibri" pitchFamily="34" charset="0"/>
                <a:ea typeface="Calibri" pitchFamily="34" charset="-122"/>
                <a:cs typeface="Calibri" pitchFamily="34" charset="-120"/>
              </a:rPr>
              <a:t>There is no side to put the foreign key on — so add a table in the middle</a:t>
            </a:r>
            <a:endParaRPr lang="en-US" sz="1700" dirty="0"/>
          </a:p>
        </p:txBody>
      </p:sp>
      <p:sp>
        <p:nvSpPr>
          <p:cNvPr id="5" name="a0fd300_v4"/>
          <p:cNvSpPr/>
          <p:nvPr/>
        </p:nvSpPr>
        <p:spPr>
          <a:xfrm>
            <a:off x="5162595" y="1863762"/>
            <a:ext cx="943984" cy="943984"/>
          </a:xfrm>
          <a:prstGeom prst="roundRect">
            <a:avLst>
              <a:gd name="adj" fmla="val 16000"/>
            </a:avLst>
          </a:prstGeom>
          <a:solidFill>
            <a:srgbClr val="14B8A6"/>
          </a:solidFill>
          <a:ln>
            <a:noFill/>
          </a:ln>
        </p:spPr>
      </p:sp>
      <p:sp>
        <p:nvSpPr>
          <p:cNvPr id="6" name="a0fd300_v5"/>
          <p:cNvSpPr/>
          <p:nvPr/>
        </p:nvSpPr>
        <p:spPr>
          <a:xfrm>
            <a:off x="6106578" y="2304288"/>
            <a:ext cx="314661" cy="62932"/>
          </a:xfrm>
          <a:prstGeom prst="rect">
            <a:avLst/>
          </a:prstGeom>
          <a:solidFill>
            <a:srgbClr val="94A3B8"/>
          </a:solidFill>
          <a:ln>
            <a:noFill/>
          </a:ln>
        </p:spPr>
      </p:sp>
      <p:sp>
        <p:nvSpPr>
          <p:cNvPr id="7" name="a0fd300_v6"/>
          <p:cNvSpPr/>
          <p:nvPr/>
        </p:nvSpPr>
        <p:spPr>
          <a:xfrm>
            <a:off x="6421240" y="1989627"/>
            <a:ext cx="964961" cy="713232"/>
          </a:xfrm>
          <a:prstGeom prst="roundRect">
            <a:avLst>
              <a:gd name="adj" fmla="val 16000"/>
            </a:avLst>
          </a:prstGeom>
          <a:solidFill>
            <a:srgbClr val="8B5CF6"/>
          </a:solidFill>
          <a:ln>
            <a:noFill/>
          </a:ln>
        </p:spPr>
      </p:sp>
      <p:sp>
        <p:nvSpPr>
          <p:cNvPr id="8" name="a0fd300_v7"/>
          <p:cNvSpPr/>
          <p:nvPr/>
        </p:nvSpPr>
        <p:spPr>
          <a:xfrm>
            <a:off x="7386200" y="2304288"/>
            <a:ext cx="314661" cy="62932"/>
          </a:xfrm>
          <a:prstGeom prst="rect">
            <a:avLst/>
          </a:prstGeom>
          <a:solidFill>
            <a:srgbClr val="94A3B8"/>
          </a:solidFill>
          <a:ln>
            <a:noFill/>
          </a:ln>
        </p:spPr>
      </p:sp>
      <p:sp>
        <p:nvSpPr>
          <p:cNvPr id="9" name="a0fd300_v8"/>
          <p:cNvSpPr/>
          <p:nvPr/>
        </p:nvSpPr>
        <p:spPr>
          <a:xfrm>
            <a:off x="7700862" y="1863762"/>
            <a:ext cx="943984" cy="943984"/>
          </a:xfrm>
          <a:prstGeom prst="roundRect">
            <a:avLst>
              <a:gd name="adj" fmla="val 16000"/>
            </a:avLst>
          </a:prstGeom>
          <a:solidFill>
            <a:srgbClr val="F59E0B"/>
          </a:solidFill>
          <a:ln>
            <a:noFill/>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 presetClass="entr" presetSubtype="4" fill="hold" grpId="0" nodeType="withEffect">
                                  <p:stCondLst>
                                    <p:cond delay="20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fill="hold"/>
                                        <p:tgtEl>
                                          <p:spTgt spid="3"/>
                                        </p:tgtEl>
                                        <p:attrNameLst>
                                          <p:attrName>ppt_x</p:attrName>
                                        </p:attrNameLst>
                                      </p:cBhvr>
                                      <p:tavLst>
                                        <p:tav tm="0">
                                          <p:val>
                                            <p:strVal val="#ppt_x"/>
                                          </p:val>
                                        </p:tav>
                                        <p:tav tm="100000">
                                          <p:val>
                                            <p:strVal val="#ppt_x"/>
                                          </p:val>
                                        </p:tav>
                                      </p:tavLst>
                                    </p:anim>
                                    <p:anim calcmode="lin" valueType="num">
                                      <p:cBhvr additive="base">
                                        <p:cTn id="11" dur="500" fill="hold"/>
                                        <p:tgtEl>
                                          <p:spTgt spid="3"/>
                                        </p:tgtEl>
                                        <p:attrNameLst>
                                          <p:attrName>ppt_y</p:attrName>
                                        </p:attrNameLst>
                                      </p:cBhvr>
                                      <p:tavLst>
                                        <p:tav tm="0">
                                          <p:val>
                                            <p:strVal val="#ppt_y+0.1"/>
                                          </p:val>
                                        </p:tav>
                                        <p:tav tm="100000">
                                          <p:val>
                                            <p:strVal val="#ppt_y"/>
                                          </p:val>
                                        </p:tav>
                                      </p:tavLst>
                                    </p:anim>
                                    <p:animEffect transition="in" filter="fade">
                                      <p:cBhvr>
                                        <p:cTn id="12" dur="500"/>
                                        <p:tgtEl>
                                          <p:spTgt spid="3"/>
                                        </p:tgtEl>
                                      </p:cBhvr>
                                    </p:animEffect>
                                  </p:childTnLst>
                                </p:cTn>
                              </p:par>
                              <p:par>
                                <p:cTn id="13" presetID="10" presetClass="entr" presetSubtype="0" fill="hold" grpId="0" nodeType="withEffect">
                                  <p:stCondLst>
                                    <p:cond delay="45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10" presetClass="entr" presetSubtype="0" fill="hold" grpId="0" nodeType="withEffect">
                                  <p:stCondLst>
                                    <p:cond delay="3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par>
                                <p:cTn id="19" presetID="10" presetClass="entr" presetSubtype="0" fill="hold" grpId="0" nodeType="withEffect">
                                  <p:stCondLst>
                                    <p:cond delay="30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par>
                                <p:cTn id="22" presetID="10" presetClass="entr" presetSubtype="0" fill="hold" grpId="0" nodeType="withEffect">
                                  <p:stCondLst>
                                    <p:cond delay="30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par>
                                <p:cTn id="25" presetID="10" presetClass="entr" presetSubtype="0" fill="hold" grpId="0" nodeType="withEffect">
                                  <p:stCondLst>
                                    <p:cond delay="30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ntr" presetSubtype="0" fill="hold" grpId="0" nodeType="withEffect">
                                  <p:stCondLst>
                                    <p:cond delay="30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1"/>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Why Many-to-Many Can't Be Stored Directly</a:t>
            </a:r>
            <a:endParaRPr lang="en-US" sz="2800" dirty="0"/>
          </a:p>
        </p:txBody>
      </p:sp>
      <p:sp>
        <p:nvSpPr>
          <p:cNvPr id="3" name="Text 2"/>
          <p:cNvSpPr txBox="1"/>
          <p:nvPr/>
        </p:nvSpPr>
        <p:spPr>
          <a:xfrm>
            <a:off x="457200" y="749808"/>
            <a:ext cx="8229600" cy="320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Customers hold many products; each product is held by many customers</a:t>
            </a:r>
            <a:endParaRPr lang="en-US" sz="1300" dirty="0"/>
          </a:p>
        </p:txBody>
      </p:sp>
      <p:sp>
        <p:nvSpPr>
          <p:cNvPr id="4" name="a1f_b3"/>
          <p:cNvSpPr txBox="1"/>
          <p:nvPr/>
        </p:nvSpPr>
        <p:spPr>
          <a:xfrm>
            <a:off x="2377440" y="1234440"/>
            <a:ext cx="1371600" cy="384048"/>
          </a:xfrm>
          <a:prstGeom prst="roundRect">
            <a:avLst>
              <a:gd name="adj" fmla="val 14000"/>
            </a:avLst>
          </a:prstGeom>
          <a:solidFill>
            <a:srgbClr val="EDE9FE"/>
          </a:solidFill>
          <a:ln w="9525">
            <a:solidFill>
              <a:srgbClr val="6D28D9"/>
            </a:solidFill>
            <a:prstDash val="solid"/>
          </a:ln>
        </p:spPr>
        <p:txBody>
          <a:bodyPr wrap="square" lIns="0" tIns="0" rIns="0" bIns="0" rtlCol="0" anchor="ctr"/>
          <a:lstStyle/>
          <a:p>
            <a:pPr marL="0" indent="0" algn="ctr">
              <a:buNone/>
            </a:pPr>
            <a:r>
              <a:rPr lang="en-US" sz="1000" b="1" dirty="0">
                <a:solidFill>
                  <a:srgbClr val="0F172A"/>
                </a:solidFill>
                <a:latin typeface="Calibri" pitchFamily="34" charset="0"/>
                <a:ea typeface="Calibri" pitchFamily="34" charset="-122"/>
                <a:cs typeface="Calibri" pitchFamily="34" charset="-120"/>
              </a:rPr>
              <a:t>CUSTOMER</a:t>
            </a:r>
            <a:endParaRPr lang="en-US" sz="1000" dirty="0"/>
          </a:p>
        </p:txBody>
      </p:sp>
      <p:sp>
        <p:nvSpPr>
          <p:cNvPr id="5" name="a1f_b4"/>
          <p:cNvSpPr txBox="1"/>
          <p:nvPr/>
        </p:nvSpPr>
        <p:spPr>
          <a:xfrm>
            <a:off x="5394960" y="1234440"/>
            <a:ext cx="1371600" cy="384048"/>
          </a:xfrm>
          <a:prstGeom prst="roundRect">
            <a:avLst>
              <a:gd name="adj" fmla="val 14000"/>
            </a:avLst>
          </a:prstGeom>
          <a:solidFill>
            <a:srgbClr val="EDE9FE"/>
          </a:solidFill>
          <a:ln w="9525">
            <a:solidFill>
              <a:srgbClr val="6D28D9"/>
            </a:solidFill>
            <a:prstDash val="solid"/>
          </a:ln>
        </p:spPr>
        <p:txBody>
          <a:bodyPr wrap="square" lIns="0" tIns="0" rIns="0" bIns="0" rtlCol="0" anchor="ctr"/>
          <a:lstStyle/>
          <a:p>
            <a:pPr marL="0" indent="0" algn="ctr">
              <a:buNone/>
            </a:pPr>
            <a:r>
              <a:rPr lang="en-US" sz="1000" b="1" dirty="0">
                <a:solidFill>
                  <a:srgbClr val="0F172A"/>
                </a:solidFill>
                <a:latin typeface="Calibri" pitchFamily="34" charset="0"/>
                <a:ea typeface="Calibri" pitchFamily="34" charset="-122"/>
                <a:cs typeface="Calibri" pitchFamily="34" charset="-120"/>
              </a:rPr>
              <a:t>PRODUCT</a:t>
            </a:r>
            <a:endParaRPr lang="en-US" sz="1000" dirty="0"/>
          </a:p>
        </p:txBody>
      </p:sp>
      <p:cxnSp>
        <p:nvCxnSpPr>
          <p:cNvPr id="6" name="a1f_r5"/>
          <p:cNvCxnSpPr/>
          <p:nvPr/>
        </p:nvCxnSpPr>
        <p:spPr>
          <a:xfrm>
            <a:off x="3749040" y="1426464"/>
            <a:ext cx="1645920" cy="0"/>
          </a:xfrm>
          <a:prstGeom prst="line">
            <a:avLst/>
          </a:prstGeom>
          <a:ln w="15875">
            <a:solidFill>
              <a:srgbClr val="0F172A"/>
            </a:solidFill>
          </a:ln>
        </p:spPr>
      </p:cxnSp>
      <p:cxnSp>
        <p:nvCxnSpPr>
          <p:cNvPr id="7" name="a1f_r6"/>
          <p:cNvCxnSpPr/>
          <p:nvPr/>
        </p:nvCxnSpPr>
        <p:spPr>
          <a:xfrm flipH="1">
            <a:off x="3749040" y="1426464"/>
            <a:ext cx="164592" cy="91440"/>
          </a:xfrm>
          <a:prstGeom prst="line">
            <a:avLst/>
          </a:prstGeom>
          <a:ln w="15875">
            <a:solidFill>
              <a:srgbClr val="0F172A"/>
            </a:solidFill>
          </a:ln>
        </p:spPr>
      </p:cxnSp>
      <p:cxnSp>
        <p:nvCxnSpPr>
          <p:cNvPr id="8" name="a1f_r7"/>
          <p:cNvCxnSpPr/>
          <p:nvPr/>
        </p:nvCxnSpPr>
        <p:spPr>
          <a:xfrm flipH="1" flipV="1">
            <a:off x="3749040" y="1335024"/>
            <a:ext cx="164592" cy="91440"/>
          </a:xfrm>
          <a:prstGeom prst="line">
            <a:avLst/>
          </a:prstGeom>
          <a:ln w="15875">
            <a:solidFill>
              <a:srgbClr val="0F172A"/>
            </a:solidFill>
          </a:ln>
        </p:spPr>
      </p:cxnSp>
      <p:sp>
        <p:nvSpPr>
          <p:cNvPr id="9" name="a1f_r8"/>
          <p:cNvSpPr/>
          <p:nvPr/>
        </p:nvSpPr>
        <p:spPr>
          <a:xfrm>
            <a:off x="3963924" y="1376172"/>
            <a:ext cx="100584" cy="100584"/>
          </a:xfrm>
          <a:prstGeom prst="ellipse">
            <a:avLst/>
          </a:prstGeom>
          <a:solidFill>
            <a:srgbClr val="FFFFFF"/>
          </a:solidFill>
          <a:ln w="15875">
            <a:solidFill>
              <a:srgbClr val="0F172A"/>
            </a:solidFill>
            <a:prstDash val="solid"/>
          </a:ln>
        </p:spPr>
      </p:sp>
      <p:cxnSp>
        <p:nvCxnSpPr>
          <p:cNvPr id="10" name="a1f_r9"/>
          <p:cNvCxnSpPr/>
          <p:nvPr/>
        </p:nvCxnSpPr>
        <p:spPr>
          <a:xfrm flipV="1">
            <a:off x="5230368" y="1335024"/>
            <a:ext cx="164592" cy="91440"/>
          </a:xfrm>
          <a:prstGeom prst="line">
            <a:avLst/>
          </a:prstGeom>
          <a:ln w="15875">
            <a:solidFill>
              <a:srgbClr val="0F172A"/>
            </a:solidFill>
          </a:ln>
        </p:spPr>
      </p:cxnSp>
      <p:cxnSp>
        <p:nvCxnSpPr>
          <p:cNvPr id="11" name="a1f_r10"/>
          <p:cNvCxnSpPr/>
          <p:nvPr/>
        </p:nvCxnSpPr>
        <p:spPr>
          <a:xfrm>
            <a:off x="5230368" y="1426464"/>
            <a:ext cx="164592" cy="91440"/>
          </a:xfrm>
          <a:prstGeom prst="line">
            <a:avLst/>
          </a:prstGeom>
          <a:ln w="15875">
            <a:solidFill>
              <a:srgbClr val="0F172A"/>
            </a:solidFill>
          </a:ln>
        </p:spPr>
      </p:cxnSp>
      <p:sp>
        <p:nvSpPr>
          <p:cNvPr id="12" name="a1f_r11"/>
          <p:cNvSpPr/>
          <p:nvPr/>
        </p:nvSpPr>
        <p:spPr>
          <a:xfrm>
            <a:off x="5079492" y="1376172"/>
            <a:ext cx="100584" cy="100584"/>
          </a:xfrm>
          <a:prstGeom prst="ellipse">
            <a:avLst/>
          </a:prstGeom>
          <a:solidFill>
            <a:srgbClr val="FFFFFF"/>
          </a:solidFill>
          <a:ln w="15875">
            <a:solidFill>
              <a:srgbClr val="0F172A"/>
            </a:solidFill>
            <a:prstDash val="solid"/>
          </a:ln>
        </p:spPr>
      </p:sp>
      <p:sp>
        <p:nvSpPr>
          <p:cNvPr id="13" name="a2u_c12"/>
          <p:cNvSpPr/>
          <p:nvPr/>
        </p:nvSpPr>
        <p:spPr>
          <a:xfrm>
            <a:off x="457200" y="2011680"/>
            <a:ext cx="4023360" cy="2697480"/>
          </a:xfrm>
          <a:prstGeom prst="roundRect">
            <a:avLst>
              <a:gd name="adj" fmla="val 6000"/>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sp>
        <p:nvSpPr>
          <p:cNvPr id="14" name="a2u_h13"/>
          <p:cNvSpPr txBox="1"/>
          <p:nvPr/>
        </p:nvSpPr>
        <p:spPr>
          <a:xfrm>
            <a:off x="640080" y="2103120"/>
            <a:ext cx="3657600" cy="320040"/>
          </a:xfrm>
          <a:prstGeom prst="rect">
            <a:avLst/>
          </a:prstGeom>
          <a:noFill/>
          <a:ln/>
        </p:spPr>
        <p:txBody>
          <a:bodyPr wrap="square" lIns="0" tIns="0" rIns="0" bIns="0" rtlCol="0" anchor="ctr"/>
          <a:lstStyle/>
          <a:p>
            <a:pPr marL="0" indent="0">
              <a:buNone/>
            </a:pPr>
            <a:r>
              <a:rPr lang="en-US" sz="1300" b="1" dirty="0">
                <a:solidFill>
                  <a:srgbClr val="DC2626"/>
                </a:solidFill>
                <a:latin typeface="Calibri" pitchFamily="34" charset="0"/>
                <a:ea typeface="Calibri" pitchFamily="34" charset="-122"/>
                <a:cs typeface="Calibri" pitchFamily="34" charset="-120"/>
              </a:rPr>
              <a:t>✘  Attempt 1: FK in product</a:t>
            </a:r>
            <a:endParaRPr lang="en-US" sz="1300" dirty="0"/>
          </a:p>
        </p:txBody>
      </p:sp>
      <p:sp>
        <p:nvSpPr>
          <p:cNvPr id="15" name="a2f_cell14"/>
          <p:cNvSpPr txBox="1"/>
          <p:nvPr/>
        </p:nvSpPr>
        <p:spPr>
          <a:xfrm>
            <a:off x="640080" y="2514600"/>
            <a:ext cx="1188720" cy="246888"/>
          </a:xfrm>
          <a:prstGeom prst="rect">
            <a:avLst/>
          </a:prstGeom>
          <a:solidFill>
            <a:srgbClr val="B45309"/>
          </a:solidFill>
          <a:ln w="9525">
            <a:solidFill>
              <a:srgbClr val="B4530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product_code</a:t>
            </a:r>
            <a:endParaRPr lang="en-US" sz="1100" dirty="0"/>
          </a:p>
        </p:txBody>
      </p:sp>
      <p:sp>
        <p:nvSpPr>
          <p:cNvPr id="16" name="a2wd200_cell15"/>
          <p:cNvSpPr txBox="1"/>
          <p:nvPr/>
        </p:nvSpPr>
        <p:spPr>
          <a:xfrm>
            <a:off x="640080" y="2761488"/>
            <a:ext cx="1188720" cy="246888"/>
          </a:xfrm>
          <a:prstGeom prst="rect">
            <a:avLst/>
          </a:prstGeom>
          <a:solidFill>
            <a:srgbClr val="FEE2E2"/>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FD</a:t>
            </a:r>
            <a:endParaRPr lang="en-US" sz="1100" dirty="0"/>
          </a:p>
        </p:txBody>
      </p:sp>
      <p:sp>
        <p:nvSpPr>
          <p:cNvPr id="17" name="a2wd400_cell16"/>
          <p:cNvSpPr txBox="1"/>
          <p:nvPr/>
        </p:nvSpPr>
        <p:spPr>
          <a:xfrm>
            <a:off x="640080" y="3008376"/>
            <a:ext cx="118872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FD</a:t>
            </a:r>
            <a:endParaRPr lang="en-US" sz="1100" dirty="0"/>
          </a:p>
        </p:txBody>
      </p:sp>
      <p:sp>
        <p:nvSpPr>
          <p:cNvPr id="18" name="a2wd600_cell17"/>
          <p:cNvSpPr txBox="1"/>
          <p:nvPr/>
        </p:nvSpPr>
        <p:spPr>
          <a:xfrm>
            <a:off x="640080" y="3255264"/>
            <a:ext cx="118872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LOAN</a:t>
            </a:r>
            <a:endParaRPr lang="en-US" sz="1100" dirty="0"/>
          </a:p>
        </p:txBody>
      </p:sp>
      <p:sp>
        <p:nvSpPr>
          <p:cNvPr id="19" name="a2f_cell18"/>
          <p:cNvSpPr txBox="1"/>
          <p:nvPr/>
        </p:nvSpPr>
        <p:spPr>
          <a:xfrm>
            <a:off x="1828800" y="2514600"/>
            <a:ext cx="1097280" cy="246888"/>
          </a:xfrm>
          <a:prstGeom prst="rect">
            <a:avLst/>
          </a:prstGeom>
          <a:solidFill>
            <a:srgbClr val="B45309"/>
          </a:solidFill>
          <a:ln w="9525">
            <a:solidFill>
              <a:srgbClr val="B4530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customer_id</a:t>
            </a:r>
            <a:endParaRPr lang="en-US" sz="1100" dirty="0"/>
          </a:p>
        </p:txBody>
      </p:sp>
      <p:sp>
        <p:nvSpPr>
          <p:cNvPr id="20" name="a2wd200_cell19"/>
          <p:cNvSpPr txBox="1"/>
          <p:nvPr/>
        </p:nvSpPr>
        <p:spPr>
          <a:xfrm>
            <a:off x="1828800" y="2761488"/>
            <a:ext cx="109728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1003</a:t>
            </a:r>
            <a:endParaRPr lang="en-US" sz="1100" dirty="0"/>
          </a:p>
        </p:txBody>
      </p:sp>
      <p:sp>
        <p:nvSpPr>
          <p:cNvPr id="21" name="a2wd400_cell20"/>
          <p:cNvSpPr txBox="1"/>
          <p:nvPr/>
        </p:nvSpPr>
        <p:spPr>
          <a:xfrm>
            <a:off x="1828800" y="3008376"/>
            <a:ext cx="109728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1005</a:t>
            </a:r>
            <a:endParaRPr lang="en-US" sz="1100" dirty="0"/>
          </a:p>
        </p:txBody>
      </p:sp>
      <p:sp>
        <p:nvSpPr>
          <p:cNvPr id="22" name="a2wd600_cell21"/>
          <p:cNvSpPr txBox="1"/>
          <p:nvPr/>
        </p:nvSpPr>
        <p:spPr>
          <a:xfrm>
            <a:off x="1828800" y="3255264"/>
            <a:ext cx="109728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1003</a:t>
            </a:r>
            <a:endParaRPr lang="en-US" sz="1100" dirty="0"/>
          </a:p>
        </p:txBody>
      </p:sp>
      <p:sp>
        <p:nvSpPr>
          <p:cNvPr id="23" name="a2u_m22"/>
          <p:cNvSpPr txBox="1"/>
          <p:nvPr/>
        </p:nvSpPr>
        <p:spPr>
          <a:xfrm>
            <a:off x="640080" y="3611880"/>
            <a:ext cx="3657600" cy="1005840"/>
          </a:xfrm>
          <a:prstGeom prst="rect">
            <a:avLst/>
          </a:prstGeom>
          <a:noFill/>
          <a:ln/>
        </p:spPr>
        <p:txBody>
          <a:bodyPr wrap="square" lIns="0" tIns="0" rIns="0" bIns="0" rtlCol="0" anchor="t"/>
          <a:lstStyle/>
          <a:p>
            <a:pPr marL="0" indent="0">
              <a:buNone/>
            </a:pPr>
            <a:r>
              <a:rPr lang="en-US" sz="1150" dirty="0">
                <a:solidFill>
                  <a:srgbClr val="334155"/>
                </a:solidFill>
                <a:latin typeface="Calibri" pitchFamily="34" charset="0"/>
                <a:ea typeface="Calibri" pitchFamily="34" charset="-122"/>
                <a:cs typeface="Calibri" pitchFamily="34" charset="-120"/>
              </a:rPr>
              <a:t>FD must appear once per holder — so product_code can no longer be the key, and product facts repeat.</a:t>
            </a:r>
            <a:endParaRPr lang="en-US" sz="1150" dirty="0"/>
          </a:p>
        </p:txBody>
      </p:sp>
      <p:sp>
        <p:nvSpPr>
          <p:cNvPr id="24" name="a3u_c23"/>
          <p:cNvSpPr/>
          <p:nvPr/>
        </p:nvSpPr>
        <p:spPr>
          <a:xfrm>
            <a:off x="4663440" y="2011680"/>
            <a:ext cx="4023360" cy="2697480"/>
          </a:xfrm>
          <a:prstGeom prst="roundRect">
            <a:avLst>
              <a:gd name="adj" fmla="val 6000"/>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sp>
        <p:nvSpPr>
          <p:cNvPr id="25" name="a3u_h24"/>
          <p:cNvSpPr txBox="1"/>
          <p:nvPr/>
        </p:nvSpPr>
        <p:spPr>
          <a:xfrm>
            <a:off x="4846320" y="2103120"/>
            <a:ext cx="3657600" cy="320040"/>
          </a:xfrm>
          <a:prstGeom prst="rect">
            <a:avLst/>
          </a:prstGeom>
          <a:noFill/>
          <a:ln/>
        </p:spPr>
        <p:txBody>
          <a:bodyPr wrap="square" lIns="0" tIns="0" rIns="0" bIns="0" rtlCol="0" anchor="ctr"/>
          <a:lstStyle/>
          <a:p>
            <a:pPr marL="0" indent="0">
              <a:buNone/>
            </a:pPr>
            <a:r>
              <a:rPr lang="en-US" sz="1300" b="1" dirty="0">
                <a:solidFill>
                  <a:srgbClr val="DC2626"/>
                </a:solidFill>
                <a:latin typeface="Calibri" pitchFamily="34" charset="0"/>
                <a:ea typeface="Calibri" pitchFamily="34" charset="-122"/>
                <a:cs typeface="Calibri" pitchFamily="34" charset="-120"/>
              </a:rPr>
              <a:t>✘  Attempt 2: a list in customer</a:t>
            </a:r>
            <a:endParaRPr lang="en-US" sz="1300" dirty="0"/>
          </a:p>
        </p:txBody>
      </p:sp>
      <p:sp>
        <p:nvSpPr>
          <p:cNvPr id="26" name="a3f_cell25"/>
          <p:cNvSpPr txBox="1"/>
          <p:nvPr/>
        </p:nvSpPr>
        <p:spPr>
          <a:xfrm>
            <a:off x="4846320" y="2514600"/>
            <a:ext cx="822960" cy="246888"/>
          </a:xfrm>
          <a:prstGeom prst="rect">
            <a:avLst/>
          </a:prstGeom>
          <a:solidFill>
            <a:srgbClr val="0F766E"/>
          </a:solidFill>
          <a:ln w="9525">
            <a:solidFill>
              <a:srgbClr val="0F766E"/>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cust_id</a:t>
            </a:r>
            <a:endParaRPr lang="en-US" sz="1100" dirty="0"/>
          </a:p>
        </p:txBody>
      </p:sp>
      <p:sp>
        <p:nvSpPr>
          <p:cNvPr id="27" name="a3wd200_cell26"/>
          <p:cNvSpPr txBox="1"/>
          <p:nvPr/>
        </p:nvSpPr>
        <p:spPr>
          <a:xfrm>
            <a:off x="4846320" y="2761488"/>
            <a:ext cx="82296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1003</a:t>
            </a:r>
            <a:endParaRPr lang="en-US" sz="1100" dirty="0"/>
          </a:p>
        </p:txBody>
      </p:sp>
      <p:sp>
        <p:nvSpPr>
          <p:cNvPr id="28" name="a3wd400_cell27"/>
          <p:cNvSpPr txBox="1"/>
          <p:nvPr/>
        </p:nvSpPr>
        <p:spPr>
          <a:xfrm>
            <a:off x="4846320" y="3008376"/>
            <a:ext cx="82296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1011</a:t>
            </a:r>
            <a:endParaRPr lang="en-US" sz="1100" dirty="0"/>
          </a:p>
        </p:txBody>
      </p:sp>
      <p:sp>
        <p:nvSpPr>
          <p:cNvPr id="29" name="a3wd600_cell28"/>
          <p:cNvSpPr txBox="1"/>
          <p:nvPr/>
        </p:nvSpPr>
        <p:spPr>
          <a:xfrm>
            <a:off x="4846320" y="3255264"/>
            <a:ext cx="82296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1027</a:t>
            </a:r>
            <a:endParaRPr lang="en-US" sz="1100" dirty="0"/>
          </a:p>
        </p:txBody>
      </p:sp>
      <p:sp>
        <p:nvSpPr>
          <p:cNvPr id="30" name="a3f_cell29"/>
          <p:cNvSpPr txBox="1"/>
          <p:nvPr/>
        </p:nvSpPr>
        <p:spPr>
          <a:xfrm>
            <a:off x="5669280" y="2514600"/>
            <a:ext cx="1463040" cy="246888"/>
          </a:xfrm>
          <a:prstGeom prst="rect">
            <a:avLst/>
          </a:prstGeom>
          <a:solidFill>
            <a:srgbClr val="0F766E"/>
          </a:solidFill>
          <a:ln w="9525">
            <a:solidFill>
              <a:srgbClr val="0F766E"/>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products</a:t>
            </a:r>
            <a:endParaRPr lang="en-US" sz="1100" dirty="0"/>
          </a:p>
        </p:txBody>
      </p:sp>
      <p:sp>
        <p:nvSpPr>
          <p:cNvPr id="31" name="a3wd200_cell30"/>
          <p:cNvSpPr txBox="1"/>
          <p:nvPr/>
        </p:nvSpPr>
        <p:spPr>
          <a:xfrm>
            <a:off x="5669280" y="2761488"/>
            <a:ext cx="1463040" cy="246888"/>
          </a:xfrm>
          <a:prstGeom prst="rect">
            <a:avLst/>
          </a:prstGeom>
          <a:solidFill>
            <a:srgbClr val="EDE9FE"/>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FD,LOAN,CARD</a:t>
            </a:r>
            <a:endParaRPr lang="en-US" sz="1100" dirty="0"/>
          </a:p>
        </p:txBody>
      </p:sp>
      <p:sp>
        <p:nvSpPr>
          <p:cNvPr id="32" name="a3wd400_cell31"/>
          <p:cNvSpPr txBox="1"/>
          <p:nvPr/>
        </p:nvSpPr>
        <p:spPr>
          <a:xfrm>
            <a:off x="5669280" y="3008376"/>
            <a:ext cx="1463040" cy="246888"/>
          </a:xfrm>
          <a:prstGeom prst="rect">
            <a:avLst/>
          </a:prstGeom>
          <a:solidFill>
            <a:srgbClr val="EDE9FE"/>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LOAN,CARD</a:t>
            </a:r>
            <a:endParaRPr lang="en-US" sz="1100" dirty="0"/>
          </a:p>
        </p:txBody>
      </p:sp>
      <p:sp>
        <p:nvSpPr>
          <p:cNvPr id="33" name="a3wd600_cell32"/>
          <p:cNvSpPr txBox="1"/>
          <p:nvPr/>
        </p:nvSpPr>
        <p:spPr>
          <a:xfrm>
            <a:off x="5669280" y="3255264"/>
            <a:ext cx="1463040" cy="246888"/>
          </a:xfrm>
          <a:prstGeom prst="rect">
            <a:avLst/>
          </a:prstGeom>
          <a:solidFill>
            <a:srgbClr val="EDE9FE"/>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CARD</a:t>
            </a:r>
            <a:endParaRPr lang="en-US" sz="1100" dirty="0"/>
          </a:p>
        </p:txBody>
      </p:sp>
      <p:sp>
        <p:nvSpPr>
          <p:cNvPr id="34" name="a3u_m33"/>
          <p:cNvSpPr txBox="1"/>
          <p:nvPr/>
        </p:nvSpPr>
        <p:spPr>
          <a:xfrm>
            <a:off x="4846320" y="3611880"/>
            <a:ext cx="3657600" cy="1005840"/>
          </a:xfrm>
          <a:prstGeom prst="rect">
            <a:avLst/>
          </a:prstGeom>
          <a:noFill/>
          <a:ln/>
        </p:spPr>
        <p:txBody>
          <a:bodyPr wrap="square" lIns="0" tIns="0" rIns="0" bIns="0" rtlCol="0" anchor="t"/>
          <a:lstStyle/>
          <a:p>
            <a:pPr marL="0" indent="0">
              <a:buNone/>
            </a:pPr>
            <a:r>
              <a:rPr lang="en-US" sz="1150" dirty="0">
                <a:solidFill>
                  <a:srgbClr val="334155"/>
                </a:solidFill>
                <a:latin typeface="Calibri" pitchFamily="34" charset="0"/>
                <a:ea typeface="Calibri" pitchFamily="34" charset="-122"/>
                <a:cs typeface="Calibri" pitchFamily="34" charset="-120"/>
              </a:rPr>
              <a:t>The flat table's answer: no index, no join, no date, LIKE '%LOAN%' guesswork.</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 calcmode="lin" valueType="num">
                                      <p:cBhvr additive="base">
                                        <p:cTn id="36" dur="500" fill="hold"/>
                                        <p:tgtEl>
                                          <p:spTgt spid="13"/>
                                        </p:tgtEl>
                                        <p:attrNameLst>
                                          <p:attrName>ppt_x</p:attrName>
                                        </p:attrNameLst>
                                      </p:cBhvr>
                                      <p:tavLst>
                                        <p:tav tm="0">
                                          <p:val>
                                            <p:strVal val="#ppt_x"/>
                                          </p:val>
                                        </p:tav>
                                        <p:tav tm="100000">
                                          <p:val>
                                            <p:strVal val="#ppt_x"/>
                                          </p:val>
                                        </p:tav>
                                      </p:tavLst>
                                    </p:anim>
                                    <p:anim calcmode="lin" valueType="num">
                                      <p:cBhvr additive="base">
                                        <p:cTn id="37" dur="500" fill="hold"/>
                                        <p:tgtEl>
                                          <p:spTgt spid="13"/>
                                        </p:tgtEl>
                                        <p:attrNameLst>
                                          <p:attrName>ppt_y</p:attrName>
                                        </p:attrNameLst>
                                      </p:cBhvr>
                                      <p:tavLst>
                                        <p:tav tm="0">
                                          <p:val>
                                            <p:strVal val="#ppt_y+0.1"/>
                                          </p:val>
                                        </p:tav>
                                        <p:tav tm="100000">
                                          <p:val>
                                            <p:strVal val="#ppt_y"/>
                                          </p:val>
                                        </p:tav>
                                      </p:tavLst>
                                    </p:anim>
                                    <p:animEffect transition="in" filter="fade">
                                      <p:cBhvr>
                                        <p:cTn id="38" dur="500"/>
                                        <p:tgtEl>
                                          <p:spTgt spid="13"/>
                                        </p:tgtEl>
                                      </p:cBhvr>
                                    </p:animEffect>
                                  </p:childTnLst>
                                </p:cTn>
                              </p:par>
                              <p:par>
                                <p:cTn id="39" presetID="2" presetClass="entr" presetSubtype="4"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500" fill="hold"/>
                                        <p:tgtEl>
                                          <p:spTgt spid="14"/>
                                        </p:tgtEl>
                                        <p:attrNameLst>
                                          <p:attrName>ppt_x</p:attrName>
                                        </p:attrNameLst>
                                      </p:cBhvr>
                                      <p:tavLst>
                                        <p:tav tm="0">
                                          <p:val>
                                            <p:strVal val="#ppt_x"/>
                                          </p:val>
                                        </p:tav>
                                        <p:tav tm="100000">
                                          <p:val>
                                            <p:strVal val="#ppt_x"/>
                                          </p:val>
                                        </p:tav>
                                      </p:tavLst>
                                    </p:anim>
                                    <p:anim calcmode="lin" valueType="num">
                                      <p:cBhvr additive="base">
                                        <p:cTn id="42" dur="500" fill="hold"/>
                                        <p:tgtEl>
                                          <p:spTgt spid="14"/>
                                        </p:tgtEl>
                                        <p:attrNameLst>
                                          <p:attrName>ppt_y</p:attrName>
                                        </p:attrNameLst>
                                      </p:cBhvr>
                                      <p:tavLst>
                                        <p:tav tm="0">
                                          <p:val>
                                            <p:strVal val="#ppt_y+0.1"/>
                                          </p:val>
                                        </p:tav>
                                        <p:tav tm="100000">
                                          <p:val>
                                            <p:strVal val="#ppt_y"/>
                                          </p:val>
                                        </p:tav>
                                      </p:tavLst>
                                    </p:anim>
                                    <p:animEffect transition="in" filter="fade">
                                      <p:cBhvr>
                                        <p:cTn id="43" dur="500"/>
                                        <p:tgtEl>
                                          <p:spTgt spid="1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22" presetClass="entr" presetSubtype="8" fill="hold" grpId="0" nodeType="withEffect">
                                  <p:stCondLst>
                                    <p:cond delay="200"/>
                                  </p:stCondLst>
                                  <p:childTnLst>
                                    <p:set>
                                      <p:cBhvr>
                                        <p:cTn id="48" dur="1" fill="hold">
                                          <p:stCondLst>
                                            <p:cond delay="0"/>
                                          </p:stCondLst>
                                        </p:cTn>
                                        <p:tgtEl>
                                          <p:spTgt spid="16"/>
                                        </p:tgtEl>
                                        <p:attrNameLst>
                                          <p:attrName>style.visibility</p:attrName>
                                        </p:attrNameLst>
                                      </p:cBhvr>
                                      <p:to>
                                        <p:strVal val="visible"/>
                                      </p:to>
                                    </p:set>
                                    <p:animEffect transition="in" filter="wipe(left)">
                                      <p:cBhvr>
                                        <p:cTn id="49" dur="500"/>
                                        <p:tgtEl>
                                          <p:spTgt spid="16"/>
                                        </p:tgtEl>
                                      </p:cBhvr>
                                    </p:animEffect>
                                  </p:childTnLst>
                                </p:cTn>
                              </p:par>
                              <p:par>
                                <p:cTn id="50" presetID="22" presetClass="entr" presetSubtype="8" fill="hold" grpId="0" nodeType="withEffect">
                                  <p:stCondLst>
                                    <p:cond delay="400"/>
                                  </p:stCondLst>
                                  <p:childTnLst>
                                    <p:set>
                                      <p:cBhvr>
                                        <p:cTn id="51" dur="1" fill="hold">
                                          <p:stCondLst>
                                            <p:cond delay="0"/>
                                          </p:stCondLst>
                                        </p:cTn>
                                        <p:tgtEl>
                                          <p:spTgt spid="17"/>
                                        </p:tgtEl>
                                        <p:attrNameLst>
                                          <p:attrName>style.visibility</p:attrName>
                                        </p:attrNameLst>
                                      </p:cBhvr>
                                      <p:to>
                                        <p:strVal val="visible"/>
                                      </p:to>
                                    </p:set>
                                    <p:animEffect transition="in" filter="wipe(left)">
                                      <p:cBhvr>
                                        <p:cTn id="52" dur="500"/>
                                        <p:tgtEl>
                                          <p:spTgt spid="17"/>
                                        </p:tgtEl>
                                      </p:cBhvr>
                                    </p:animEffect>
                                  </p:childTnLst>
                                </p:cTn>
                              </p:par>
                              <p:par>
                                <p:cTn id="53" presetID="22" presetClass="entr" presetSubtype="8" fill="hold" grpId="0" nodeType="withEffect">
                                  <p:stCondLst>
                                    <p:cond delay="600"/>
                                  </p:stCondLst>
                                  <p:childTnLst>
                                    <p:set>
                                      <p:cBhvr>
                                        <p:cTn id="54" dur="1" fill="hold">
                                          <p:stCondLst>
                                            <p:cond delay="0"/>
                                          </p:stCondLst>
                                        </p:cTn>
                                        <p:tgtEl>
                                          <p:spTgt spid="18"/>
                                        </p:tgtEl>
                                        <p:attrNameLst>
                                          <p:attrName>style.visibility</p:attrName>
                                        </p:attrNameLst>
                                      </p:cBhvr>
                                      <p:to>
                                        <p:strVal val="visible"/>
                                      </p:to>
                                    </p:set>
                                    <p:animEffect transition="in" filter="wipe(left)">
                                      <p:cBhvr>
                                        <p:cTn id="55" dur="500"/>
                                        <p:tgtEl>
                                          <p:spTgt spid="1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22" presetClass="entr" presetSubtype="8" fill="hold" grpId="0" nodeType="withEffect">
                                  <p:stCondLst>
                                    <p:cond delay="200"/>
                                  </p:stCondLst>
                                  <p:childTnLst>
                                    <p:set>
                                      <p:cBhvr>
                                        <p:cTn id="60" dur="1" fill="hold">
                                          <p:stCondLst>
                                            <p:cond delay="0"/>
                                          </p:stCondLst>
                                        </p:cTn>
                                        <p:tgtEl>
                                          <p:spTgt spid="20"/>
                                        </p:tgtEl>
                                        <p:attrNameLst>
                                          <p:attrName>style.visibility</p:attrName>
                                        </p:attrNameLst>
                                      </p:cBhvr>
                                      <p:to>
                                        <p:strVal val="visible"/>
                                      </p:to>
                                    </p:set>
                                    <p:animEffect transition="in" filter="wipe(left)">
                                      <p:cBhvr>
                                        <p:cTn id="61" dur="500"/>
                                        <p:tgtEl>
                                          <p:spTgt spid="20"/>
                                        </p:tgtEl>
                                      </p:cBhvr>
                                    </p:animEffect>
                                  </p:childTnLst>
                                </p:cTn>
                              </p:par>
                              <p:par>
                                <p:cTn id="62" presetID="22" presetClass="entr" presetSubtype="8" fill="hold" grpId="0" nodeType="withEffect">
                                  <p:stCondLst>
                                    <p:cond delay="400"/>
                                  </p:stCondLst>
                                  <p:childTnLst>
                                    <p:set>
                                      <p:cBhvr>
                                        <p:cTn id="63" dur="1" fill="hold">
                                          <p:stCondLst>
                                            <p:cond delay="0"/>
                                          </p:stCondLst>
                                        </p:cTn>
                                        <p:tgtEl>
                                          <p:spTgt spid="21"/>
                                        </p:tgtEl>
                                        <p:attrNameLst>
                                          <p:attrName>style.visibility</p:attrName>
                                        </p:attrNameLst>
                                      </p:cBhvr>
                                      <p:to>
                                        <p:strVal val="visible"/>
                                      </p:to>
                                    </p:set>
                                    <p:animEffect transition="in" filter="wipe(left)">
                                      <p:cBhvr>
                                        <p:cTn id="64" dur="500"/>
                                        <p:tgtEl>
                                          <p:spTgt spid="21"/>
                                        </p:tgtEl>
                                      </p:cBhvr>
                                    </p:animEffect>
                                  </p:childTnLst>
                                </p:cTn>
                              </p:par>
                              <p:par>
                                <p:cTn id="65" presetID="22" presetClass="entr" presetSubtype="8" fill="hold" grpId="0" nodeType="withEffect">
                                  <p:stCondLst>
                                    <p:cond delay="600"/>
                                  </p:stCondLst>
                                  <p:childTnLst>
                                    <p:set>
                                      <p:cBhvr>
                                        <p:cTn id="66" dur="1" fill="hold">
                                          <p:stCondLst>
                                            <p:cond delay="0"/>
                                          </p:stCondLst>
                                        </p:cTn>
                                        <p:tgtEl>
                                          <p:spTgt spid="22"/>
                                        </p:tgtEl>
                                        <p:attrNameLst>
                                          <p:attrName>style.visibility</p:attrName>
                                        </p:attrNameLst>
                                      </p:cBhvr>
                                      <p:to>
                                        <p:strVal val="visible"/>
                                      </p:to>
                                    </p:set>
                                    <p:animEffect transition="in" filter="wipe(left)">
                                      <p:cBhvr>
                                        <p:cTn id="67" dur="500"/>
                                        <p:tgtEl>
                                          <p:spTgt spid="22"/>
                                        </p:tgtEl>
                                      </p:cBhvr>
                                    </p:animEffect>
                                  </p:childTnLst>
                                </p:cTn>
                              </p:par>
                              <p:par>
                                <p:cTn id="68" presetID="2" presetClass="entr" presetSubtype="4"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anim calcmode="lin" valueType="num">
                                      <p:cBhvr additive="base">
                                        <p:cTn id="70" dur="500" fill="hold"/>
                                        <p:tgtEl>
                                          <p:spTgt spid="23"/>
                                        </p:tgtEl>
                                        <p:attrNameLst>
                                          <p:attrName>ppt_x</p:attrName>
                                        </p:attrNameLst>
                                      </p:cBhvr>
                                      <p:tavLst>
                                        <p:tav tm="0">
                                          <p:val>
                                            <p:strVal val="#ppt_x"/>
                                          </p:val>
                                        </p:tav>
                                        <p:tav tm="100000">
                                          <p:val>
                                            <p:strVal val="#ppt_x"/>
                                          </p:val>
                                        </p:tav>
                                      </p:tavLst>
                                    </p:anim>
                                    <p:anim calcmode="lin" valueType="num">
                                      <p:cBhvr additive="base">
                                        <p:cTn id="71" dur="500" fill="hold"/>
                                        <p:tgtEl>
                                          <p:spTgt spid="23"/>
                                        </p:tgtEl>
                                        <p:attrNameLst>
                                          <p:attrName>ppt_y</p:attrName>
                                        </p:attrNameLst>
                                      </p:cBhvr>
                                      <p:tavLst>
                                        <p:tav tm="0">
                                          <p:val>
                                            <p:strVal val="#ppt_y+0.1"/>
                                          </p:val>
                                        </p:tav>
                                        <p:tav tm="100000">
                                          <p:val>
                                            <p:strVal val="#ppt_y"/>
                                          </p:val>
                                        </p:tav>
                                      </p:tavLst>
                                    </p:anim>
                                    <p:animEffect transition="in" filter="fade">
                                      <p:cBhvr>
                                        <p:cTn id="72" dur="500"/>
                                        <p:tgtEl>
                                          <p:spTgt spid="23"/>
                                        </p:tgtEl>
                                      </p:cBhvr>
                                    </p:animEffect>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24"/>
                                        </p:tgtEl>
                                        <p:attrNameLst>
                                          <p:attrName>style.visibility</p:attrName>
                                        </p:attrNameLst>
                                      </p:cBhvr>
                                      <p:to>
                                        <p:strVal val="visible"/>
                                      </p:to>
                                    </p:set>
                                    <p:anim calcmode="lin" valueType="num">
                                      <p:cBhvr additive="base">
                                        <p:cTn id="77" dur="500" fill="hold"/>
                                        <p:tgtEl>
                                          <p:spTgt spid="24"/>
                                        </p:tgtEl>
                                        <p:attrNameLst>
                                          <p:attrName>ppt_x</p:attrName>
                                        </p:attrNameLst>
                                      </p:cBhvr>
                                      <p:tavLst>
                                        <p:tav tm="0">
                                          <p:val>
                                            <p:strVal val="#ppt_x"/>
                                          </p:val>
                                        </p:tav>
                                        <p:tav tm="100000">
                                          <p:val>
                                            <p:strVal val="#ppt_x"/>
                                          </p:val>
                                        </p:tav>
                                      </p:tavLst>
                                    </p:anim>
                                    <p:anim calcmode="lin" valueType="num">
                                      <p:cBhvr additive="base">
                                        <p:cTn id="78" dur="500" fill="hold"/>
                                        <p:tgtEl>
                                          <p:spTgt spid="24"/>
                                        </p:tgtEl>
                                        <p:attrNameLst>
                                          <p:attrName>ppt_y</p:attrName>
                                        </p:attrNameLst>
                                      </p:cBhvr>
                                      <p:tavLst>
                                        <p:tav tm="0">
                                          <p:val>
                                            <p:strVal val="#ppt_y+0.1"/>
                                          </p:val>
                                        </p:tav>
                                        <p:tav tm="100000">
                                          <p:val>
                                            <p:strVal val="#ppt_y"/>
                                          </p:val>
                                        </p:tav>
                                      </p:tavLst>
                                    </p:anim>
                                    <p:animEffect transition="in" filter="fade">
                                      <p:cBhvr>
                                        <p:cTn id="79" dur="500"/>
                                        <p:tgtEl>
                                          <p:spTgt spid="24"/>
                                        </p:tgtEl>
                                      </p:cBhvr>
                                    </p:animEffect>
                                  </p:childTnLst>
                                </p:cTn>
                              </p:par>
                              <p:par>
                                <p:cTn id="80" presetID="2" presetClass="entr" presetSubtype="4" fill="hold" grpId="0" nodeType="withEffect">
                                  <p:stCondLst>
                                    <p:cond delay="0"/>
                                  </p:stCondLst>
                                  <p:childTnLst>
                                    <p:set>
                                      <p:cBhvr>
                                        <p:cTn id="81" dur="1" fill="hold">
                                          <p:stCondLst>
                                            <p:cond delay="0"/>
                                          </p:stCondLst>
                                        </p:cTn>
                                        <p:tgtEl>
                                          <p:spTgt spid="25"/>
                                        </p:tgtEl>
                                        <p:attrNameLst>
                                          <p:attrName>style.visibility</p:attrName>
                                        </p:attrNameLst>
                                      </p:cBhvr>
                                      <p:to>
                                        <p:strVal val="visible"/>
                                      </p:to>
                                    </p:set>
                                    <p:anim calcmode="lin" valueType="num">
                                      <p:cBhvr additive="base">
                                        <p:cTn id="82" dur="500" fill="hold"/>
                                        <p:tgtEl>
                                          <p:spTgt spid="25"/>
                                        </p:tgtEl>
                                        <p:attrNameLst>
                                          <p:attrName>ppt_x</p:attrName>
                                        </p:attrNameLst>
                                      </p:cBhvr>
                                      <p:tavLst>
                                        <p:tav tm="0">
                                          <p:val>
                                            <p:strVal val="#ppt_x"/>
                                          </p:val>
                                        </p:tav>
                                        <p:tav tm="100000">
                                          <p:val>
                                            <p:strVal val="#ppt_x"/>
                                          </p:val>
                                        </p:tav>
                                      </p:tavLst>
                                    </p:anim>
                                    <p:anim calcmode="lin" valueType="num">
                                      <p:cBhvr additive="base">
                                        <p:cTn id="83" dur="500" fill="hold"/>
                                        <p:tgtEl>
                                          <p:spTgt spid="25"/>
                                        </p:tgtEl>
                                        <p:attrNameLst>
                                          <p:attrName>ppt_y</p:attrName>
                                        </p:attrNameLst>
                                      </p:cBhvr>
                                      <p:tavLst>
                                        <p:tav tm="0">
                                          <p:val>
                                            <p:strVal val="#ppt_y+0.1"/>
                                          </p:val>
                                        </p:tav>
                                        <p:tav tm="100000">
                                          <p:val>
                                            <p:strVal val="#ppt_y"/>
                                          </p:val>
                                        </p:tav>
                                      </p:tavLst>
                                    </p:anim>
                                    <p:animEffect transition="in" filter="fade">
                                      <p:cBhvr>
                                        <p:cTn id="84" dur="500"/>
                                        <p:tgtEl>
                                          <p:spTgt spid="25"/>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6"/>
                                        </p:tgtEl>
                                        <p:attrNameLst>
                                          <p:attrName>style.visibility</p:attrName>
                                        </p:attrNameLst>
                                      </p:cBhvr>
                                      <p:to>
                                        <p:strVal val="visible"/>
                                      </p:to>
                                    </p:set>
                                    <p:animEffect transition="in" filter="fade">
                                      <p:cBhvr>
                                        <p:cTn id="87" dur="500"/>
                                        <p:tgtEl>
                                          <p:spTgt spid="26"/>
                                        </p:tgtEl>
                                      </p:cBhvr>
                                    </p:animEffect>
                                  </p:childTnLst>
                                </p:cTn>
                              </p:par>
                              <p:par>
                                <p:cTn id="88" presetID="22" presetClass="entr" presetSubtype="8" fill="hold" grpId="0" nodeType="withEffect">
                                  <p:stCondLst>
                                    <p:cond delay="200"/>
                                  </p:stCondLst>
                                  <p:childTnLst>
                                    <p:set>
                                      <p:cBhvr>
                                        <p:cTn id="89" dur="1" fill="hold">
                                          <p:stCondLst>
                                            <p:cond delay="0"/>
                                          </p:stCondLst>
                                        </p:cTn>
                                        <p:tgtEl>
                                          <p:spTgt spid="27"/>
                                        </p:tgtEl>
                                        <p:attrNameLst>
                                          <p:attrName>style.visibility</p:attrName>
                                        </p:attrNameLst>
                                      </p:cBhvr>
                                      <p:to>
                                        <p:strVal val="visible"/>
                                      </p:to>
                                    </p:set>
                                    <p:animEffect transition="in" filter="wipe(left)">
                                      <p:cBhvr>
                                        <p:cTn id="90" dur="500"/>
                                        <p:tgtEl>
                                          <p:spTgt spid="27"/>
                                        </p:tgtEl>
                                      </p:cBhvr>
                                    </p:animEffect>
                                  </p:childTnLst>
                                </p:cTn>
                              </p:par>
                              <p:par>
                                <p:cTn id="91" presetID="22" presetClass="entr" presetSubtype="8" fill="hold" grpId="0" nodeType="withEffect">
                                  <p:stCondLst>
                                    <p:cond delay="400"/>
                                  </p:stCondLst>
                                  <p:childTnLst>
                                    <p:set>
                                      <p:cBhvr>
                                        <p:cTn id="92" dur="1" fill="hold">
                                          <p:stCondLst>
                                            <p:cond delay="0"/>
                                          </p:stCondLst>
                                        </p:cTn>
                                        <p:tgtEl>
                                          <p:spTgt spid="28"/>
                                        </p:tgtEl>
                                        <p:attrNameLst>
                                          <p:attrName>style.visibility</p:attrName>
                                        </p:attrNameLst>
                                      </p:cBhvr>
                                      <p:to>
                                        <p:strVal val="visible"/>
                                      </p:to>
                                    </p:set>
                                    <p:animEffect transition="in" filter="wipe(left)">
                                      <p:cBhvr>
                                        <p:cTn id="93" dur="500"/>
                                        <p:tgtEl>
                                          <p:spTgt spid="28"/>
                                        </p:tgtEl>
                                      </p:cBhvr>
                                    </p:animEffect>
                                  </p:childTnLst>
                                </p:cTn>
                              </p:par>
                              <p:par>
                                <p:cTn id="94" presetID="22" presetClass="entr" presetSubtype="8" fill="hold" grpId="0" nodeType="withEffect">
                                  <p:stCondLst>
                                    <p:cond delay="600"/>
                                  </p:stCondLst>
                                  <p:childTnLst>
                                    <p:set>
                                      <p:cBhvr>
                                        <p:cTn id="95" dur="1" fill="hold">
                                          <p:stCondLst>
                                            <p:cond delay="0"/>
                                          </p:stCondLst>
                                        </p:cTn>
                                        <p:tgtEl>
                                          <p:spTgt spid="29"/>
                                        </p:tgtEl>
                                        <p:attrNameLst>
                                          <p:attrName>style.visibility</p:attrName>
                                        </p:attrNameLst>
                                      </p:cBhvr>
                                      <p:to>
                                        <p:strVal val="visible"/>
                                      </p:to>
                                    </p:set>
                                    <p:animEffect transition="in" filter="wipe(left)">
                                      <p:cBhvr>
                                        <p:cTn id="96" dur="500"/>
                                        <p:tgtEl>
                                          <p:spTgt spid="29"/>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0"/>
                                        </p:tgtEl>
                                        <p:attrNameLst>
                                          <p:attrName>style.visibility</p:attrName>
                                        </p:attrNameLst>
                                      </p:cBhvr>
                                      <p:to>
                                        <p:strVal val="visible"/>
                                      </p:to>
                                    </p:set>
                                    <p:animEffect transition="in" filter="fade">
                                      <p:cBhvr>
                                        <p:cTn id="99" dur="500"/>
                                        <p:tgtEl>
                                          <p:spTgt spid="30"/>
                                        </p:tgtEl>
                                      </p:cBhvr>
                                    </p:animEffect>
                                  </p:childTnLst>
                                </p:cTn>
                              </p:par>
                              <p:par>
                                <p:cTn id="100" presetID="22" presetClass="entr" presetSubtype="8" fill="hold" grpId="0" nodeType="withEffect">
                                  <p:stCondLst>
                                    <p:cond delay="200"/>
                                  </p:stCondLst>
                                  <p:childTnLst>
                                    <p:set>
                                      <p:cBhvr>
                                        <p:cTn id="101" dur="1" fill="hold">
                                          <p:stCondLst>
                                            <p:cond delay="0"/>
                                          </p:stCondLst>
                                        </p:cTn>
                                        <p:tgtEl>
                                          <p:spTgt spid="31"/>
                                        </p:tgtEl>
                                        <p:attrNameLst>
                                          <p:attrName>style.visibility</p:attrName>
                                        </p:attrNameLst>
                                      </p:cBhvr>
                                      <p:to>
                                        <p:strVal val="visible"/>
                                      </p:to>
                                    </p:set>
                                    <p:animEffect transition="in" filter="wipe(left)">
                                      <p:cBhvr>
                                        <p:cTn id="102" dur="500"/>
                                        <p:tgtEl>
                                          <p:spTgt spid="31"/>
                                        </p:tgtEl>
                                      </p:cBhvr>
                                    </p:animEffect>
                                  </p:childTnLst>
                                </p:cTn>
                              </p:par>
                              <p:par>
                                <p:cTn id="103" presetID="22" presetClass="entr" presetSubtype="8" fill="hold" grpId="0" nodeType="withEffect">
                                  <p:stCondLst>
                                    <p:cond delay="400"/>
                                  </p:stCondLst>
                                  <p:childTnLst>
                                    <p:set>
                                      <p:cBhvr>
                                        <p:cTn id="104" dur="1" fill="hold">
                                          <p:stCondLst>
                                            <p:cond delay="0"/>
                                          </p:stCondLst>
                                        </p:cTn>
                                        <p:tgtEl>
                                          <p:spTgt spid="32"/>
                                        </p:tgtEl>
                                        <p:attrNameLst>
                                          <p:attrName>style.visibility</p:attrName>
                                        </p:attrNameLst>
                                      </p:cBhvr>
                                      <p:to>
                                        <p:strVal val="visible"/>
                                      </p:to>
                                    </p:set>
                                    <p:animEffect transition="in" filter="wipe(left)">
                                      <p:cBhvr>
                                        <p:cTn id="105" dur="500"/>
                                        <p:tgtEl>
                                          <p:spTgt spid="32"/>
                                        </p:tgtEl>
                                      </p:cBhvr>
                                    </p:animEffect>
                                  </p:childTnLst>
                                </p:cTn>
                              </p:par>
                              <p:par>
                                <p:cTn id="106" presetID="22" presetClass="entr" presetSubtype="8" fill="hold" grpId="0" nodeType="withEffect">
                                  <p:stCondLst>
                                    <p:cond delay="600"/>
                                  </p:stCondLst>
                                  <p:childTnLst>
                                    <p:set>
                                      <p:cBhvr>
                                        <p:cTn id="107" dur="1" fill="hold">
                                          <p:stCondLst>
                                            <p:cond delay="0"/>
                                          </p:stCondLst>
                                        </p:cTn>
                                        <p:tgtEl>
                                          <p:spTgt spid="33"/>
                                        </p:tgtEl>
                                        <p:attrNameLst>
                                          <p:attrName>style.visibility</p:attrName>
                                        </p:attrNameLst>
                                      </p:cBhvr>
                                      <p:to>
                                        <p:strVal val="visible"/>
                                      </p:to>
                                    </p:set>
                                    <p:animEffect transition="in" filter="wipe(left)">
                                      <p:cBhvr>
                                        <p:cTn id="108" dur="500"/>
                                        <p:tgtEl>
                                          <p:spTgt spid="33"/>
                                        </p:tgtEl>
                                      </p:cBhvr>
                                    </p:animEffect>
                                  </p:childTnLst>
                                </p:cTn>
                              </p:par>
                              <p:par>
                                <p:cTn id="109" presetID="2" presetClass="entr" presetSubtype="4" fill="hold" grpId="0" nodeType="withEffect">
                                  <p:stCondLst>
                                    <p:cond delay="0"/>
                                  </p:stCondLst>
                                  <p:childTnLst>
                                    <p:set>
                                      <p:cBhvr>
                                        <p:cTn id="110" dur="1" fill="hold">
                                          <p:stCondLst>
                                            <p:cond delay="0"/>
                                          </p:stCondLst>
                                        </p:cTn>
                                        <p:tgtEl>
                                          <p:spTgt spid="34"/>
                                        </p:tgtEl>
                                        <p:attrNameLst>
                                          <p:attrName>style.visibility</p:attrName>
                                        </p:attrNameLst>
                                      </p:cBhvr>
                                      <p:to>
                                        <p:strVal val="visible"/>
                                      </p:to>
                                    </p:set>
                                    <p:anim calcmode="lin" valueType="num">
                                      <p:cBhvr additive="base">
                                        <p:cTn id="111" dur="500" fill="hold"/>
                                        <p:tgtEl>
                                          <p:spTgt spid="34"/>
                                        </p:tgtEl>
                                        <p:attrNameLst>
                                          <p:attrName>ppt_x</p:attrName>
                                        </p:attrNameLst>
                                      </p:cBhvr>
                                      <p:tavLst>
                                        <p:tav tm="0">
                                          <p:val>
                                            <p:strVal val="#ppt_x"/>
                                          </p:val>
                                        </p:tav>
                                        <p:tav tm="100000">
                                          <p:val>
                                            <p:strVal val="#ppt_x"/>
                                          </p:val>
                                        </p:tav>
                                      </p:tavLst>
                                    </p:anim>
                                    <p:anim calcmode="lin" valueType="num">
                                      <p:cBhvr additive="base">
                                        <p:cTn id="112" dur="500" fill="hold"/>
                                        <p:tgtEl>
                                          <p:spTgt spid="34"/>
                                        </p:tgtEl>
                                        <p:attrNameLst>
                                          <p:attrName>ppt_y</p:attrName>
                                        </p:attrNameLst>
                                      </p:cBhvr>
                                      <p:tavLst>
                                        <p:tav tm="0">
                                          <p:val>
                                            <p:strVal val="#ppt_y+0.1"/>
                                          </p:val>
                                        </p:tav>
                                        <p:tav tm="100000">
                                          <p:val>
                                            <p:strVal val="#ppt_y"/>
                                          </p:val>
                                        </p:tav>
                                      </p:tavLst>
                                    </p:anim>
                                    <p:animEffect transition="in" filter="fade">
                                      <p:cBhvr>
                                        <p:cTn id="113"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9"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1"/>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The Junction Table</a:t>
            </a:r>
            <a:endParaRPr lang="en-US" sz="2800" dirty="0"/>
          </a:p>
        </p:txBody>
      </p:sp>
      <p:sp>
        <p:nvSpPr>
          <p:cNvPr id="3" name="Text 2"/>
          <p:cNvSpPr txBox="1"/>
          <p:nvPr/>
        </p:nvSpPr>
        <p:spPr>
          <a:xfrm>
            <a:off x="457200" y="749808"/>
            <a:ext cx="8229600" cy="320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One many-to-many becomes two one-to-many relationships around a table in the middle</a:t>
            </a:r>
            <a:endParaRPr lang="en-US" sz="1300" dirty="0"/>
          </a:p>
        </p:txBody>
      </p:sp>
      <p:sp>
        <p:nvSpPr>
          <p:cNvPr id="4" name="a1f_e3"/>
          <p:cNvSpPr txBox="1"/>
          <p:nvPr/>
        </p:nvSpPr>
        <p:spPr>
          <a:xfrm>
            <a:off x="457200" y="1280160"/>
            <a:ext cx="1920240" cy="274320"/>
          </a:xfrm>
          <a:prstGeom prst="rect">
            <a:avLst/>
          </a:prstGeom>
          <a:solidFill>
            <a:srgbClr val="0F766E"/>
          </a:solidFill>
          <a:ln w="9525">
            <a:solidFill>
              <a:srgbClr val="0F766E"/>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CUSTOMER</a:t>
            </a:r>
            <a:endParaRPr lang="en-US" sz="1100" dirty="0"/>
          </a:p>
        </p:txBody>
      </p:sp>
      <p:sp>
        <p:nvSpPr>
          <p:cNvPr id="5" name="a1f_e4"/>
          <p:cNvSpPr txBox="1"/>
          <p:nvPr/>
        </p:nvSpPr>
        <p:spPr>
          <a:xfrm>
            <a:off x="457200" y="1554480"/>
            <a:ext cx="192024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customer_id</a:t>
            </a:r>
            <a:endParaRPr lang="en-US" sz="950" dirty="0"/>
          </a:p>
        </p:txBody>
      </p:sp>
      <p:sp>
        <p:nvSpPr>
          <p:cNvPr id="6" name="a1f_e5"/>
          <p:cNvSpPr txBox="1"/>
          <p:nvPr/>
        </p:nvSpPr>
        <p:spPr>
          <a:xfrm>
            <a:off x="1810512" y="1554480"/>
            <a:ext cx="512064" cy="219456"/>
          </a:xfrm>
          <a:prstGeom prst="rect">
            <a:avLst/>
          </a:prstGeom>
          <a:noFill/>
          <a:ln/>
        </p:spPr>
        <p:txBody>
          <a:bodyPr wrap="square" lIns="0" tIns="0" rIns="0" bIns="0" rtlCol="0" anchor="ctr"/>
          <a:lstStyle/>
          <a:p>
            <a:pPr marL="0" indent="0" algn="r">
              <a:buNone/>
            </a:pPr>
            <a:r>
              <a:rPr lang="en-US" sz="850" b="1" dirty="0">
                <a:solidFill>
                  <a:srgbClr val="6D28D9"/>
                </a:solidFill>
                <a:latin typeface="Calibri" pitchFamily="34" charset="0"/>
                <a:ea typeface="Calibri" pitchFamily="34" charset="-122"/>
                <a:cs typeface="Calibri" pitchFamily="34" charset="-120"/>
              </a:rPr>
              <a:t>PK</a:t>
            </a:r>
            <a:endParaRPr lang="en-US" sz="850" dirty="0"/>
          </a:p>
        </p:txBody>
      </p:sp>
      <p:sp>
        <p:nvSpPr>
          <p:cNvPr id="7" name="a1f_e6"/>
          <p:cNvSpPr txBox="1"/>
          <p:nvPr/>
        </p:nvSpPr>
        <p:spPr>
          <a:xfrm>
            <a:off x="457200" y="1773936"/>
            <a:ext cx="192024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first_name</a:t>
            </a:r>
            <a:endParaRPr lang="en-US" sz="950" dirty="0"/>
          </a:p>
        </p:txBody>
      </p:sp>
      <p:sp>
        <p:nvSpPr>
          <p:cNvPr id="8" name="a2f_e7"/>
          <p:cNvSpPr txBox="1"/>
          <p:nvPr/>
        </p:nvSpPr>
        <p:spPr>
          <a:xfrm>
            <a:off x="3246120" y="1280160"/>
            <a:ext cx="2651760" cy="274320"/>
          </a:xfrm>
          <a:prstGeom prst="rect">
            <a:avLst/>
          </a:prstGeom>
          <a:solidFill>
            <a:srgbClr val="6D28D9"/>
          </a:solidFill>
          <a:ln w="9525">
            <a:solidFill>
              <a:srgbClr val="6D28D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CUSTOMER_PRODUCT</a:t>
            </a:r>
            <a:endParaRPr lang="en-US" sz="1100" dirty="0"/>
          </a:p>
        </p:txBody>
      </p:sp>
      <p:sp>
        <p:nvSpPr>
          <p:cNvPr id="9" name="a2f_e8"/>
          <p:cNvSpPr txBox="1"/>
          <p:nvPr/>
        </p:nvSpPr>
        <p:spPr>
          <a:xfrm>
            <a:off x="3246120" y="1554480"/>
            <a:ext cx="265176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customer_id</a:t>
            </a:r>
            <a:endParaRPr lang="en-US" sz="950" dirty="0"/>
          </a:p>
        </p:txBody>
      </p:sp>
      <p:sp>
        <p:nvSpPr>
          <p:cNvPr id="10" name="a2f_e9"/>
          <p:cNvSpPr txBox="1"/>
          <p:nvPr/>
        </p:nvSpPr>
        <p:spPr>
          <a:xfrm>
            <a:off x="5330952" y="1554480"/>
            <a:ext cx="512064" cy="219456"/>
          </a:xfrm>
          <a:prstGeom prst="rect">
            <a:avLst/>
          </a:prstGeom>
          <a:noFill/>
          <a:ln/>
        </p:spPr>
        <p:txBody>
          <a:bodyPr wrap="square" lIns="0" tIns="0" rIns="0" bIns="0" rtlCol="0" anchor="ctr"/>
          <a:lstStyle/>
          <a:p>
            <a:pPr marL="0" indent="0" algn="r">
              <a:buNone/>
            </a:pPr>
            <a:r>
              <a:rPr lang="en-US" sz="850" b="1" dirty="0">
                <a:solidFill>
                  <a:srgbClr val="6D28D9"/>
                </a:solidFill>
                <a:latin typeface="Calibri" pitchFamily="34" charset="0"/>
                <a:ea typeface="Calibri" pitchFamily="34" charset="-122"/>
                <a:cs typeface="Calibri" pitchFamily="34" charset="-120"/>
              </a:rPr>
              <a:t>PK FK</a:t>
            </a:r>
            <a:endParaRPr lang="en-US" sz="850" dirty="0"/>
          </a:p>
        </p:txBody>
      </p:sp>
      <p:sp>
        <p:nvSpPr>
          <p:cNvPr id="11" name="a2f_e10"/>
          <p:cNvSpPr txBox="1"/>
          <p:nvPr/>
        </p:nvSpPr>
        <p:spPr>
          <a:xfrm>
            <a:off x="3246120" y="1773936"/>
            <a:ext cx="265176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product_code</a:t>
            </a:r>
            <a:endParaRPr lang="en-US" sz="950" dirty="0"/>
          </a:p>
        </p:txBody>
      </p:sp>
      <p:sp>
        <p:nvSpPr>
          <p:cNvPr id="12" name="a2f_e11"/>
          <p:cNvSpPr txBox="1"/>
          <p:nvPr/>
        </p:nvSpPr>
        <p:spPr>
          <a:xfrm>
            <a:off x="5330952" y="1773936"/>
            <a:ext cx="512064" cy="219456"/>
          </a:xfrm>
          <a:prstGeom prst="rect">
            <a:avLst/>
          </a:prstGeom>
          <a:noFill/>
          <a:ln/>
        </p:spPr>
        <p:txBody>
          <a:bodyPr wrap="square" lIns="0" tIns="0" rIns="0" bIns="0" rtlCol="0" anchor="ctr"/>
          <a:lstStyle/>
          <a:p>
            <a:pPr marL="0" indent="0" algn="r">
              <a:buNone/>
            </a:pPr>
            <a:r>
              <a:rPr lang="en-US" sz="850" b="1" dirty="0">
                <a:solidFill>
                  <a:srgbClr val="6D28D9"/>
                </a:solidFill>
                <a:latin typeface="Calibri" pitchFamily="34" charset="0"/>
                <a:ea typeface="Calibri" pitchFamily="34" charset="-122"/>
                <a:cs typeface="Calibri" pitchFamily="34" charset="-120"/>
              </a:rPr>
              <a:t>PK FK</a:t>
            </a:r>
            <a:endParaRPr lang="en-US" sz="850" dirty="0"/>
          </a:p>
        </p:txBody>
      </p:sp>
      <p:sp>
        <p:nvSpPr>
          <p:cNvPr id="13" name="a2f_e12"/>
          <p:cNvSpPr txBox="1"/>
          <p:nvPr/>
        </p:nvSpPr>
        <p:spPr>
          <a:xfrm>
            <a:off x="3246120" y="1993392"/>
            <a:ext cx="265176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enrolled_on</a:t>
            </a:r>
            <a:endParaRPr lang="en-US" sz="950" dirty="0"/>
          </a:p>
        </p:txBody>
      </p:sp>
      <p:sp>
        <p:nvSpPr>
          <p:cNvPr id="14" name="a2f_e13"/>
          <p:cNvSpPr txBox="1"/>
          <p:nvPr/>
        </p:nvSpPr>
        <p:spPr>
          <a:xfrm>
            <a:off x="3246120" y="2212848"/>
            <a:ext cx="265176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status</a:t>
            </a:r>
            <a:endParaRPr lang="en-US" sz="950" dirty="0"/>
          </a:p>
        </p:txBody>
      </p:sp>
      <p:sp>
        <p:nvSpPr>
          <p:cNvPr id="15" name="a1f_e14"/>
          <p:cNvSpPr txBox="1"/>
          <p:nvPr/>
        </p:nvSpPr>
        <p:spPr>
          <a:xfrm>
            <a:off x="6766560" y="1280160"/>
            <a:ext cx="1920240" cy="274320"/>
          </a:xfrm>
          <a:prstGeom prst="rect">
            <a:avLst/>
          </a:prstGeom>
          <a:solidFill>
            <a:srgbClr val="B45309"/>
          </a:solidFill>
          <a:ln w="9525">
            <a:solidFill>
              <a:srgbClr val="B4530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PRODUCT</a:t>
            </a:r>
            <a:endParaRPr lang="en-US" sz="1100" dirty="0"/>
          </a:p>
        </p:txBody>
      </p:sp>
      <p:sp>
        <p:nvSpPr>
          <p:cNvPr id="16" name="a1f_e15"/>
          <p:cNvSpPr txBox="1"/>
          <p:nvPr/>
        </p:nvSpPr>
        <p:spPr>
          <a:xfrm>
            <a:off x="6766560" y="1554480"/>
            <a:ext cx="192024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product_code</a:t>
            </a:r>
            <a:endParaRPr lang="en-US" sz="950" dirty="0"/>
          </a:p>
        </p:txBody>
      </p:sp>
      <p:sp>
        <p:nvSpPr>
          <p:cNvPr id="17" name="a1f_e16"/>
          <p:cNvSpPr txBox="1"/>
          <p:nvPr/>
        </p:nvSpPr>
        <p:spPr>
          <a:xfrm>
            <a:off x="8119872" y="1554480"/>
            <a:ext cx="512064" cy="219456"/>
          </a:xfrm>
          <a:prstGeom prst="rect">
            <a:avLst/>
          </a:prstGeom>
          <a:noFill/>
          <a:ln/>
        </p:spPr>
        <p:txBody>
          <a:bodyPr wrap="square" lIns="0" tIns="0" rIns="0" bIns="0" rtlCol="0" anchor="ctr"/>
          <a:lstStyle/>
          <a:p>
            <a:pPr marL="0" indent="0" algn="r">
              <a:buNone/>
            </a:pPr>
            <a:r>
              <a:rPr lang="en-US" sz="850" b="1" dirty="0">
                <a:solidFill>
                  <a:srgbClr val="6D28D9"/>
                </a:solidFill>
                <a:latin typeface="Calibri" pitchFamily="34" charset="0"/>
                <a:ea typeface="Calibri" pitchFamily="34" charset="-122"/>
                <a:cs typeface="Calibri" pitchFamily="34" charset="-120"/>
              </a:rPr>
              <a:t>PK</a:t>
            </a:r>
            <a:endParaRPr lang="en-US" sz="850" dirty="0"/>
          </a:p>
        </p:txBody>
      </p:sp>
      <p:sp>
        <p:nvSpPr>
          <p:cNvPr id="18" name="a1f_e17"/>
          <p:cNvSpPr txBox="1"/>
          <p:nvPr/>
        </p:nvSpPr>
        <p:spPr>
          <a:xfrm>
            <a:off x="6766560" y="1773936"/>
            <a:ext cx="192024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product_name</a:t>
            </a:r>
            <a:endParaRPr lang="en-US" sz="950" dirty="0"/>
          </a:p>
        </p:txBody>
      </p:sp>
      <p:cxnSp>
        <p:nvCxnSpPr>
          <p:cNvPr id="19" name="a3f_r18"/>
          <p:cNvCxnSpPr/>
          <p:nvPr/>
        </p:nvCxnSpPr>
        <p:spPr>
          <a:xfrm>
            <a:off x="2377440" y="1664208"/>
            <a:ext cx="868680" cy="0"/>
          </a:xfrm>
          <a:prstGeom prst="line">
            <a:avLst/>
          </a:prstGeom>
          <a:ln w="15875">
            <a:solidFill>
              <a:srgbClr val="0F172A"/>
            </a:solidFill>
          </a:ln>
        </p:spPr>
      </p:cxnSp>
      <p:cxnSp>
        <p:nvCxnSpPr>
          <p:cNvPr id="20" name="a3f_r19"/>
          <p:cNvCxnSpPr/>
          <p:nvPr/>
        </p:nvCxnSpPr>
        <p:spPr>
          <a:xfrm flipV="1">
            <a:off x="2441448" y="1581912"/>
            <a:ext cx="0" cy="164592"/>
          </a:xfrm>
          <a:prstGeom prst="line">
            <a:avLst/>
          </a:prstGeom>
          <a:ln w="15875">
            <a:solidFill>
              <a:srgbClr val="0F172A"/>
            </a:solidFill>
          </a:ln>
        </p:spPr>
      </p:cxnSp>
      <p:cxnSp>
        <p:nvCxnSpPr>
          <p:cNvPr id="21" name="a3f_r20"/>
          <p:cNvCxnSpPr/>
          <p:nvPr/>
        </p:nvCxnSpPr>
        <p:spPr>
          <a:xfrm flipV="1">
            <a:off x="2505456" y="1581912"/>
            <a:ext cx="0" cy="164592"/>
          </a:xfrm>
          <a:prstGeom prst="line">
            <a:avLst/>
          </a:prstGeom>
          <a:ln w="15875">
            <a:solidFill>
              <a:srgbClr val="0F172A"/>
            </a:solidFill>
          </a:ln>
        </p:spPr>
      </p:cxnSp>
      <p:cxnSp>
        <p:nvCxnSpPr>
          <p:cNvPr id="22" name="a3f_r21"/>
          <p:cNvCxnSpPr/>
          <p:nvPr/>
        </p:nvCxnSpPr>
        <p:spPr>
          <a:xfrm flipV="1">
            <a:off x="3081528" y="1572768"/>
            <a:ext cx="164592" cy="91440"/>
          </a:xfrm>
          <a:prstGeom prst="line">
            <a:avLst/>
          </a:prstGeom>
          <a:ln w="15875">
            <a:solidFill>
              <a:srgbClr val="0F172A"/>
            </a:solidFill>
          </a:ln>
        </p:spPr>
      </p:cxnSp>
      <p:cxnSp>
        <p:nvCxnSpPr>
          <p:cNvPr id="23" name="a3f_r22"/>
          <p:cNvCxnSpPr/>
          <p:nvPr/>
        </p:nvCxnSpPr>
        <p:spPr>
          <a:xfrm>
            <a:off x="3081528" y="1664208"/>
            <a:ext cx="164592" cy="91440"/>
          </a:xfrm>
          <a:prstGeom prst="line">
            <a:avLst/>
          </a:prstGeom>
          <a:ln w="15875">
            <a:solidFill>
              <a:srgbClr val="0F172A"/>
            </a:solidFill>
          </a:ln>
        </p:spPr>
      </p:cxnSp>
      <p:sp>
        <p:nvSpPr>
          <p:cNvPr id="24" name="a3f_r23"/>
          <p:cNvSpPr/>
          <p:nvPr/>
        </p:nvSpPr>
        <p:spPr>
          <a:xfrm>
            <a:off x="2930652" y="1613916"/>
            <a:ext cx="100584" cy="100584"/>
          </a:xfrm>
          <a:prstGeom prst="ellipse">
            <a:avLst/>
          </a:prstGeom>
          <a:solidFill>
            <a:srgbClr val="FFFFFF"/>
          </a:solidFill>
          <a:ln w="15875">
            <a:solidFill>
              <a:srgbClr val="0F172A"/>
            </a:solidFill>
            <a:prstDash val="solid"/>
          </a:ln>
        </p:spPr>
      </p:sp>
      <p:cxnSp>
        <p:nvCxnSpPr>
          <p:cNvPr id="25" name="a3f_r24"/>
          <p:cNvCxnSpPr/>
          <p:nvPr/>
        </p:nvCxnSpPr>
        <p:spPr>
          <a:xfrm>
            <a:off x="5897880" y="1883664"/>
            <a:ext cx="868680" cy="0"/>
          </a:xfrm>
          <a:prstGeom prst="line">
            <a:avLst/>
          </a:prstGeom>
          <a:ln w="15875">
            <a:solidFill>
              <a:srgbClr val="0F172A"/>
            </a:solidFill>
          </a:ln>
        </p:spPr>
      </p:cxnSp>
      <p:cxnSp>
        <p:nvCxnSpPr>
          <p:cNvPr id="26" name="a3f_r25"/>
          <p:cNvCxnSpPr/>
          <p:nvPr/>
        </p:nvCxnSpPr>
        <p:spPr>
          <a:xfrm flipH="1">
            <a:off x="5897880" y="1883664"/>
            <a:ext cx="164592" cy="91440"/>
          </a:xfrm>
          <a:prstGeom prst="line">
            <a:avLst/>
          </a:prstGeom>
          <a:ln w="15875">
            <a:solidFill>
              <a:srgbClr val="0F172A"/>
            </a:solidFill>
          </a:ln>
        </p:spPr>
      </p:cxnSp>
      <p:cxnSp>
        <p:nvCxnSpPr>
          <p:cNvPr id="27" name="a3f_r26"/>
          <p:cNvCxnSpPr/>
          <p:nvPr/>
        </p:nvCxnSpPr>
        <p:spPr>
          <a:xfrm flipH="1" flipV="1">
            <a:off x="5897880" y="1792224"/>
            <a:ext cx="164592" cy="91440"/>
          </a:xfrm>
          <a:prstGeom prst="line">
            <a:avLst/>
          </a:prstGeom>
          <a:ln w="15875">
            <a:solidFill>
              <a:srgbClr val="0F172A"/>
            </a:solidFill>
          </a:ln>
        </p:spPr>
      </p:cxnSp>
      <p:sp>
        <p:nvSpPr>
          <p:cNvPr id="28" name="a3f_r27"/>
          <p:cNvSpPr/>
          <p:nvPr/>
        </p:nvSpPr>
        <p:spPr>
          <a:xfrm>
            <a:off x="6112764" y="1833372"/>
            <a:ext cx="100584" cy="100584"/>
          </a:xfrm>
          <a:prstGeom prst="ellipse">
            <a:avLst/>
          </a:prstGeom>
          <a:solidFill>
            <a:srgbClr val="FFFFFF"/>
          </a:solidFill>
          <a:ln w="15875">
            <a:solidFill>
              <a:srgbClr val="0F172A"/>
            </a:solidFill>
            <a:prstDash val="solid"/>
          </a:ln>
        </p:spPr>
      </p:sp>
      <p:cxnSp>
        <p:nvCxnSpPr>
          <p:cNvPr id="29" name="a3f_r28"/>
          <p:cNvCxnSpPr/>
          <p:nvPr/>
        </p:nvCxnSpPr>
        <p:spPr>
          <a:xfrm>
            <a:off x="6702552" y="1801368"/>
            <a:ext cx="0" cy="164592"/>
          </a:xfrm>
          <a:prstGeom prst="line">
            <a:avLst/>
          </a:prstGeom>
          <a:ln w="15875">
            <a:solidFill>
              <a:srgbClr val="0F172A"/>
            </a:solidFill>
          </a:ln>
        </p:spPr>
      </p:cxnSp>
      <p:cxnSp>
        <p:nvCxnSpPr>
          <p:cNvPr id="30" name="a3f_r29"/>
          <p:cNvCxnSpPr/>
          <p:nvPr/>
        </p:nvCxnSpPr>
        <p:spPr>
          <a:xfrm>
            <a:off x="6638544" y="1801368"/>
            <a:ext cx="0" cy="164592"/>
          </a:xfrm>
          <a:prstGeom prst="line">
            <a:avLst/>
          </a:prstGeom>
          <a:ln w="15875">
            <a:solidFill>
              <a:srgbClr val="0F172A"/>
            </a:solidFill>
          </a:ln>
        </p:spPr>
      </p:cxnSp>
      <p:sp>
        <p:nvSpPr>
          <p:cNvPr id="31" name="a4f_cell30"/>
          <p:cNvSpPr txBox="1"/>
          <p:nvPr/>
        </p:nvSpPr>
        <p:spPr>
          <a:xfrm>
            <a:off x="3017520" y="2697480"/>
            <a:ext cx="868680" cy="246888"/>
          </a:xfrm>
          <a:prstGeom prst="rect">
            <a:avLst/>
          </a:prstGeom>
          <a:solidFill>
            <a:srgbClr val="6D28D9"/>
          </a:solidFill>
          <a:ln w="9525">
            <a:solidFill>
              <a:srgbClr val="6D28D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customer_id</a:t>
            </a:r>
            <a:endParaRPr lang="en-US" sz="1100" dirty="0"/>
          </a:p>
        </p:txBody>
      </p:sp>
      <p:sp>
        <p:nvSpPr>
          <p:cNvPr id="32" name="a4wd200_cell31"/>
          <p:cNvSpPr txBox="1"/>
          <p:nvPr/>
        </p:nvSpPr>
        <p:spPr>
          <a:xfrm>
            <a:off x="3017520" y="2944368"/>
            <a:ext cx="86868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1003</a:t>
            </a:r>
            <a:endParaRPr lang="en-US" sz="1100" dirty="0"/>
          </a:p>
        </p:txBody>
      </p:sp>
      <p:sp>
        <p:nvSpPr>
          <p:cNvPr id="33" name="a4wd400_cell32"/>
          <p:cNvSpPr txBox="1"/>
          <p:nvPr/>
        </p:nvSpPr>
        <p:spPr>
          <a:xfrm>
            <a:off x="3017520" y="3191256"/>
            <a:ext cx="86868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1003</a:t>
            </a:r>
            <a:endParaRPr lang="en-US" sz="1100" dirty="0"/>
          </a:p>
        </p:txBody>
      </p:sp>
      <p:sp>
        <p:nvSpPr>
          <p:cNvPr id="34" name="a4wd600_cell33"/>
          <p:cNvSpPr txBox="1"/>
          <p:nvPr/>
        </p:nvSpPr>
        <p:spPr>
          <a:xfrm>
            <a:off x="3017520" y="3438144"/>
            <a:ext cx="86868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1003</a:t>
            </a:r>
            <a:endParaRPr lang="en-US" sz="1100" dirty="0"/>
          </a:p>
        </p:txBody>
      </p:sp>
      <p:sp>
        <p:nvSpPr>
          <p:cNvPr id="35" name="a4wd800_cell34"/>
          <p:cNvSpPr txBox="1"/>
          <p:nvPr/>
        </p:nvSpPr>
        <p:spPr>
          <a:xfrm>
            <a:off x="3017520" y="3685032"/>
            <a:ext cx="86868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1011</a:t>
            </a:r>
            <a:endParaRPr lang="en-US" sz="1100" dirty="0"/>
          </a:p>
        </p:txBody>
      </p:sp>
      <p:sp>
        <p:nvSpPr>
          <p:cNvPr id="36" name="a4wd1000_cell35"/>
          <p:cNvSpPr txBox="1"/>
          <p:nvPr/>
        </p:nvSpPr>
        <p:spPr>
          <a:xfrm>
            <a:off x="3017520" y="3931920"/>
            <a:ext cx="86868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1011</a:t>
            </a:r>
            <a:endParaRPr lang="en-US" sz="1100" dirty="0"/>
          </a:p>
        </p:txBody>
      </p:sp>
      <p:sp>
        <p:nvSpPr>
          <p:cNvPr id="37" name="a4f_cell36"/>
          <p:cNvSpPr txBox="1"/>
          <p:nvPr/>
        </p:nvSpPr>
        <p:spPr>
          <a:xfrm>
            <a:off x="3886200" y="2697480"/>
            <a:ext cx="914400" cy="246888"/>
          </a:xfrm>
          <a:prstGeom prst="rect">
            <a:avLst/>
          </a:prstGeom>
          <a:solidFill>
            <a:srgbClr val="6D28D9"/>
          </a:solidFill>
          <a:ln w="9525">
            <a:solidFill>
              <a:srgbClr val="6D28D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product_code</a:t>
            </a:r>
            <a:endParaRPr lang="en-US" sz="1100" dirty="0"/>
          </a:p>
        </p:txBody>
      </p:sp>
      <p:sp>
        <p:nvSpPr>
          <p:cNvPr id="38" name="a4wd200_cell37"/>
          <p:cNvSpPr txBox="1"/>
          <p:nvPr/>
        </p:nvSpPr>
        <p:spPr>
          <a:xfrm>
            <a:off x="3886200" y="2944368"/>
            <a:ext cx="91440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FD</a:t>
            </a:r>
            <a:endParaRPr lang="en-US" sz="1100" dirty="0"/>
          </a:p>
        </p:txBody>
      </p:sp>
      <p:sp>
        <p:nvSpPr>
          <p:cNvPr id="39" name="a4wd400_cell38"/>
          <p:cNvSpPr txBox="1"/>
          <p:nvPr/>
        </p:nvSpPr>
        <p:spPr>
          <a:xfrm>
            <a:off x="3886200" y="3191256"/>
            <a:ext cx="91440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LOAN</a:t>
            </a:r>
            <a:endParaRPr lang="en-US" sz="1100" dirty="0"/>
          </a:p>
        </p:txBody>
      </p:sp>
      <p:sp>
        <p:nvSpPr>
          <p:cNvPr id="40" name="a4wd600_cell39"/>
          <p:cNvSpPr txBox="1"/>
          <p:nvPr/>
        </p:nvSpPr>
        <p:spPr>
          <a:xfrm>
            <a:off x="3886200" y="3438144"/>
            <a:ext cx="91440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CARD</a:t>
            </a:r>
            <a:endParaRPr lang="en-US" sz="1100" dirty="0"/>
          </a:p>
        </p:txBody>
      </p:sp>
      <p:sp>
        <p:nvSpPr>
          <p:cNvPr id="41" name="a4wd800_cell40"/>
          <p:cNvSpPr txBox="1"/>
          <p:nvPr/>
        </p:nvSpPr>
        <p:spPr>
          <a:xfrm>
            <a:off x="3886200" y="3685032"/>
            <a:ext cx="91440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LOAN</a:t>
            </a:r>
            <a:endParaRPr lang="en-US" sz="1100" dirty="0"/>
          </a:p>
        </p:txBody>
      </p:sp>
      <p:sp>
        <p:nvSpPr>
          <p:cNvPr id="42" name="a4wd1000_cell41"/>
          <p:cNvSpPr txBox="1"/>
          <p:nvPr/>
        </p:nvSpPr>
        <p:spPr>
          <a:xfrm>
            <a:off x="3886200" y="3931920"/>
            <a:ext cx="91440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CARD</a:t>
            </a:r>
            <a:endParaRPr lang="en-US" sz="1100" dirty="0"/>
          </a:p>
        </p:txBody>
      </p:sp>
      <p:sp>
        <p:nvSpPr>
          <p:cNvPr id="43" name="a4f_cell42"/>
          <p:cNvSpPr txBox="1"/>
          <p:nvPr/>
        </p:nvSpPr>
        <p:spPr>
          <a:xfrm>
            <a:off x="4800600" y="2697480"/>
            <a:ext cx="868680" cy="246888"/>
          </a:xfrm>
          <a:prstGeom prst="rect">
            <a:avLst/>
          </a:prstGeom>
          <a:solidFill>
            <a:srgbClr val="475569"/>
          </a:solidFill>
          <a:ln w="9525">
            <a:solidFill>
              <a:srgbClr val="47556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enrolled_on</a:t>
            </a:r>
            <a:endParaRPr lang="en-US" sz="1100" dirty="0"/>
          </a:p>
        </p:txBody>
      </p:sp>
      <p:sp>
        <p:nvSpPr>
          <p:cNvPr id="44" name="a4wd200_cell43"/>
          <p:cNvSpPr txBox="1"/>
          <p:nvPr/>
        </p:nvSpPr>
        <p:spPr>
          <a:xfrm>
            <a:off x="4800600" y="2944368"/>
            <a:ext cx="86868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2019-06-01</a:t>
            </a:r>
            <a:endParaRPr lang="en-US" sz="1100" dirty="0"/>
          </a:p>
        </p:txBody>
      </p:sp>
      <p:sp>
        <p:nvSpPr>
          <p:cNvPr id="45" name="a4wd400_cell44"/>
          <p:cNvSpPr txBox="1"/>
          <p:nvPr/>
        </p:nvSpPr>
        <p:spPr>
          <a:xfrm>
            <a:off x="4800600" y="3191256"/>
            <a:ext cx="86868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2021-02-15</a:t>
            </a:r>
            <a:endParaRPr lang="en-US" sz="1100" dirty="0"/>
          </a:p>
        </p:txBody>
      </p:sp>
      <p:sp>
        <p:nvSpPr>
          <p:cNvPr id="46" name="a4wd600_cell45"/>
          <p:cNvSpPr txBox="1"/>
          <p:nvPr/>
        </p:nvSpPr>
        <p:spPr>
          <a:xfrm>
            <a:off x="4800600" y="3438144"/>
            <a:ext cx="86868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2019-06-01</a:t>
            </a:r>
            <a:endParaRPr lang="en-US" sz="1100" dirty="0"/>
          </a:p>
        </p:txBody>
      </p:sp>
      <p:sp>
        <p:nvSpPr>
          <p:cNvPr id="47" name="a4wd800_cell46"/>
          <p:cNvSpPr txBox="1"/>
          <p:nvPr/>
        </p:nvSpPr>
        <p:spPr>
          <a:xfrm>
            <a:off x="4800600" y="3685032"/>
            <a:ext cx="86868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2022-09-10</a:t>
            </a:r>
            <a:endParaRPr lang="en-US" sz="1100" dirty="0"/>
          </a:p>
        </p:txBody>
      </p:sp>
      <p:sp>
        <p:nvSpPr>
          <p:cNvPr id="48" name="a4wd1000_cell47"/>
          <p:cNvSpPr txBox="1"/>
          <p:nvPr/>
        </p:nvSpPr>
        <p:spPr>
          <a:xfrm>
            <a:off x="4800600" y="3931920"/>
            <a:ext cx="86868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2020-01-20</a:t>
            </a:r>
            <a:endParaRPr lang="en-US" sz="1100" dirty="0"/>
          </a:p>
        </p:txBody>
      </p:sp>
      <p:sp>
        <p:nvSpPr>
          <p:cNvPr id="49" name="a4f_cell48"/>
          <p:cNvSpPr txBox="1"/>
          <p:nvPr/>
        </p:nvSpPr>
        <p:spPr>
          <a:xfrm>
            <a:off x="5669280" y="2697480"/>
            <a:ext cx="685800" cy="246888"/>
          </a:xfrm>
          <a:prstGeom prst="rect">
            <a:avLst/>
          </a:prstGeom>
          <a:solidFill>
            <a:srgbClr val="475569"/>
          </a:solidFill>
          <a:ln w="9525">
            <a:solidFill>
              <a:srgbClr val="47556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status</a:t>
            </a:r>
            <a:endParaRPr lang="en-US" sz="1100" dirty="0"/>
          </a:p>
        </p:txBody>
      </p:sp>
      <p:sp>
        <p:nvSpPr>
          <p:cNvPr id="50" name="a4wd200_cell49"/>
          <p:cNvSpPr txBox="1"/>
          <p:nvPr/>
        </p:nvSpPr>
        <p:spPr>
          <a:xfrm>
            <a:off x="5669280" y="2944368"/>
            <a:ext cx="68580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ACTIVE</a:t>
            </a:r>
            <a:endParaRPr lang="en-US" sz="1100" dirty="0"/>
          </a:p>
        </p:txBody>
      </p:sp>
      <p:sp>
        <p:nvSpPr>
          <p:cNvPr id="51" name="a4wd400_cell50"/>
          <p:cNvSpPr txBox="1"/>
          <p:nvPr/>
        </p:nvSpPr>
        <p:spPr>
          <a:xfrm>
            <a:off x="5669280" y="3191256"/>
            <a:ext cx="68580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ACTIVE</a:t>
            </a:r>
            <a:endParaRPr lang="en-US" sz="1100" dirty="0"/>
          </a:p>
        </p:txBody>
      </p:sp>
      <p:sp>
        <p:nvSpPr>
          <p:cNvPr id="52" name="a4wd600_cell51"/>
          <p:cNvSpPr txBox="1"/>
          <p:nvPr/>
        </p:nvSpPr>
        <p:spPr>
          <a:xfrm>
            <a:off x="5669280" y="3438144"/>
            <a:ext cx="68580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ACTIVE</a:t>
            </a:r>
            <a:endParaRPr lang="en-US" sz="1100" dirty="0"/>
          </a:p>
        </p:txBody>
      </p:sp>
      <p:sp>
        <p:nvSpPr>
          <p:cNvPr id="53" name="a4wd800_cell52"/>
          <p:cNvSpPr txBox="1"/>
          <p:nvPr/>
        </p:nvSpPr>
        <p:spPr>
          <a:xfrm>
            <a:off x="5669280" y="3685032"/>
            <a:ext cx="68580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ACTIVE</a:t>
            </a:r>
            <a:endParaRPr lang="en-US" sz="1100" dirty="0"/>
          </a:p>
        </p:txBody>
      </p:sp>
      <p:sp>
        <p:nvSpPr>
          <p:cNvPr id="54" name="a4wd1000_cell53"/>
          <p:cNvSpPr txBox="1"/>
          <p:nvPr/>
        </p:nvSpPr>
        <p:spPr>
          <a:xfrm>
            <a:off x="5669280" y="3931920"/>
            <a:ext cx="68580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CLOSED</a:t>
            </a:r>
            <a:endParaRPr lang="en-US" sz="1100" dirty="0"/>
          </a:p>
        </p:txBody>
      </p:sp>
      <p:sp>
        <p:nvSpPr>
          <p:cNvPr id="55" name="a5u_l54"/>
          <p:cNvSpPr txBox="1"/>
          <p:nvPr/>
        </p:nvSpPr>
        <p:spPr>
          <a:xfrm>
            <a:off x="457200" y="2743200"/>
            <a:ext cx="2331720" cy="1463040"/>
          </a:xfrm>
          <a:prstGeom prst="roundRect">
            <a:avLst>
              <a:gd name="adj" fmla="val 8000"/>
            </a:avLst>
          </a:prstGeom>
          <a:solidFill>
            <a:srgbClr val="EDE9FE"/>
          </a:solidFill>
          <a:ln w="12700">
            <a:solidFill>
              <a:srgbClr val="EDE9FE"/>
            </a:solidFill>
            <a:prstDash val="solid"/>
          </a:ln>
        </p:spPr>
        <p:txBody>
          <a:bodyPr wrap="square" lIns="137160" tIns="109728" rIns="109728" bIns="91440" rtlCol="0" anchor="t"/>
          <a:lstStyle/>
          <a:p>
            <a:pPr marL="0" indent="0">
              <a:spcAft>
                <a:spcPts val="400"/>
              </a:spcAft>
              <a:buNone/>
            </a:pPr>
            <a:r>
              <a:rPr lang="en-US" sz="1200" b="1" dirty="0">
                <a:solidFill>
                  <a:srgbClr val="6D28D9"/>
                </a:solidFill>
                <a:latin typeface="Calibri" pitchFamily="34" charset="0"/>
                <a:ea typeface="Calibri" pitchFamily="34" charset="-122"/>
                <a:cs typeface="Calibri" pitchFamily="34" charset="-120"/>
              </a:rPr>
              <a:t>Composite PK = both FKs</a:t>
            </a:r>
            <a:endParaRPr lang="en-US" sz="1200" dirty="0"/>
          </a:p>
          <a:p>
            <a:pPr marL="0" indent="0">
              <a:buNone/>
            </a:pPr>
            <a:r>
              <a:rPr lang="en-US" sz="1100" dirty="0">
                <a:solidFill>
                  <a:srgbClr val="334155"/>
                </a:solidFill>
                <a:latin typeface="Calibri" pitchFamily="34" charset="0"/>
                <a:ea typeface="Calibri" pitchFamily="34" charset="-122"/>
                <a:cs typeface="Calibri" pitchFamily="34" charset="-120"/>
              </a:rPr>
              <a:t>The same customer cannot enrol in the same product twice.</a:t>
            </a:r>
            <a:endParaRPr lang="en-US" sz="1100" dirty="0"/>
          </a:p>
        </p:txBody>
      </p:sp>
      <p:sp>
        <p:nvSpPr>
          <p:cNvPr id="56" name="a6u_r55"/>
          <p:cNvSpPr txBox="1"/>
          <p:nvPr/>
        </p:nvSpPr>
        <p:spPr>
          <a:xfrm>
            <a:off x="6583680" y="2743200"/>
            <a:ext cx="2103120" cy="1463040"/>
          </a:xfrm>
          <a:prstGeom prst="roundRect">
            <a:avLst>
              <a:gd name="adj" fmla="val 8000"/>
            </a:avLst>
          </a:prstGeom>
          <a:solidFill>
            <a:srgbClr val="FFEDD5"/>
          </a:solidFill>
          <a:ln w="12700">
            <a:solidFill>
              <a:srgbClr val="FFEDD5"/>
            </a:solidFill>
            <a:prstDash val="solid"/>
          </a:ln>
        </p:spPr>
        <p:txBody>
          <a:bodyPr wrap="square" lIns="137160" tIns="109728" rIns="109728" bIns="91440" rtlCol="0" anchor="t"/>
          <a:lstStyle/>
          <a:p>
            <a:pPr marL="0" indent="0">
              <a:spcAft>
                <a:spcPts val="400"/>
              </a:spcAft>
              <a:buNone/>
            </a:pPr>
            <a:r>
              <a:rPr lang="en-US" sz="1200" b="1" dirty="0">
                <a:solidFill>
                  <a:srgbClr val="B45309"/>
                </a:solidFill>
                <a:latin typeface="Calibri" pitchFamily="34" charset="0"/>
                <a:ea typeface="Calibri" pitchFamily="34" charset="-122"/>
                <a:cs typeface="Calibri" pitchFamily="34" charset="-120"/>
              </a:rPr>
              <a:t>Relationship attributes</a:t>
            </a:r>
            <a:endParaRPr lang="en-US" sz="1200" dirty="0"/>
          </a:p>
          <a:p>
            <a:pPr marL="0" indent="0">
              <a:buNone/>
            </a:pPr>
            <a:r>
              <a:rPr lang="en-US" sz="1100" dirty="0">
                <a:solidFill>
                  <a:srgbClr val="334155"/>
                </a:solidFill>
                <a:latin typeface="Calibri" pitchFamily="34" charset="0"/>
                <a:ea typeface="Calibri" pitchFamily="34" charset="-122"/>
                <a:cs typeface="Calibri" pitchFamily="34" charset="-120"/>
              </a:rPr>
              <a:t>enrolled_on and status describe the enrolment — there is nowhere else to put them.</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00"/>
                                        <p:tgtEl>
                                          <p:spTgt spid="1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500"/>
                                        <p:tgtEl>
                                          <p:spTgt spid="1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500"/>
                                        <p:tgtEl>
                                          <p:spTgt spid="14"/>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fill="hold"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par>
                                <p:cTn id="60" presetID="10" presetClass="entr" presetSubtype="0" fill="hold"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500"/>
                                        <p:tgtEl>
                                          <p:spTgt spid="21"/>
                                        </p:tgtEl>
                                      </p:cBhvr>
                                    </p:animEffect>
                                  </p:childTnLst>
                                </p:cTn>
                              </p:par>
                              <p:par>
                                <p:cTn id="63" presetID="10" presetClass="entr" presetSubtype="0" fill="hold"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500"/>
                                        <p:tgtEl>
                                          <p:spTgt spid="22"/>
                                        </p:tgtEl>
                                      </p:cBhvr>
                                    </p:animEffect>
                                  </p:childTnLst>
                                </p:cTn>
                              </p:par>
                              <p:par>
                                <p:cTn id="66" presetID="10" presetClass="entr" presetSubtype="0" fill="hold"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500"/>
                                        <p:tgtEl>
                                          <p:spTgt spid="23"/>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500"/>
                                        <p:tgtEl>
                                          <p:spTgt spid="24"/>
                                        </p:tgtEl>
                                      </p:cBhvr>
                                    </p:animEffect>
                                  </p:childTnLst>
                                </p:cTn>
                              </p:par>
                              <p:par>
                                <p:cTn id="72" presetID="10" presetClass="entr" presetSubtype="0" fill="hold"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500"/>
                                        <p:tgtEl>
                                          <p:spTgt spid="25"/>
                                        </p:tgtEl>
                                      </p:cBhvr>
                                    </p:animEffect>
                                  </p:childTnLst>
                                </p:cTn>
                              </p:par>
                              <p:par>
                                <p:cTn id="75" presetID="10" presetClass="entr" presetSubtype="0" fill="hold"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500"/>
                                        <p:tgtEl>
                                          <p:spTgt spid="26"/>
                                        </p:tgtEl>
                                      </p:cBhvr>
                                    </p:animEffect>
                                  </p:childTnLst>
                                </p:cTn>
                              </p:par>
                              <p:par>
                                <p:cTn id="78" presetID="10" presetClass="entr" presetSubtype="0" fill="hold"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500"/>
                                        <p:tgtEl>
                                          <p:spTgt spid="27"/>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500"/>
                                        <p:tgtEl>
                                          <p:spTgt spid="28"/>
                                        </p:tgtEl>
                                      </p:cBhvr>
                                    </p:animEffect>
                                  </p:childTnLst>
                                </p:cTn>
                              </p:par>
                              <p:par>
                                <p:cTn id="84" presetID="10" presetClass="entr" presetSubtype="0" fill="hold" nodeType="with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fade">
                                      <p:cBhvr>
                                        <p:cTn id="86" dur="500"/>
                                        <p:tgtEl>
                                          <p:spTgt spid="29"/>
                                        </p:tgtEl>
                                      </p:cBhvr>
                                    </p:animEffect>
                                  </p:childTnLst>
                                </p:cTn>
                              </p:par>
                              <p:par>
                                <p:cTn id="87" presetID="10" presetClass="entr" presetSubtype="0" fill="hold" nodeType="with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9" dur="500"/>
                                        <p:tgtEl>
                                          <p:spTgt spid="30"/>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500"/>
                                        <p:tgtEl>
                                          <p:spTgt spid="31"/>
                                        </p:tgtEl>
                                      </p:cBhvr>
                                    </p:animEffect>
                                  </p:childTnLst>
                                </p:cTn>
                              </p:par>
                              <p:par>
                                <p:cTn id="95" presetID="22" presetClass="entr" presetSubtype="8" fill="hold" grpId="0" nodeType="withEffect">
                                  <p:stCondLst>
                                    <p:cond delay="200"/>
                                  </p:stCondLst>
                                  <p:childTnLst>
                                    <p:set>
                                      <p:cBhvr>
                                        <p:cTn id="96" dur="1" fill="hold">
                                          <p:stCondLst>
                                            <p:cond delay="0"/>
                                          </p:stCondLst>
                                        </p:cTn>
                                        <p:tgtEl>
                                          <p:spTgt spid="32"/>
                                        </p:tgtEl>
                                        <p:attrNameLst>
                                          <p:attrName>style.visibility</p:attrName>
                                        </p:attrNameLst>
                                      </p:cBhvr>
                                      <p:to>
                                        <p:strVal val="visible"/>
                                      </p:to>
                                    </p:set>
                                    <p:animEffect transition="in" filter="wipe(left)">
                                      <p:cBhvr>
                                        <p:cTn id="97" dur="500"/>
                                        <p:tgtEl>
                                          <p:spTgt spid="32"/>
                                        </p:tgtEl>
                                      </p:cBhvr>
                                    </p:animEffect>
                                  </p:childTnLst>
                                </p:cTn>
                              </p:par>
                              <p:par>
                                <p:cTn id="98" presetID="22" presetClass="entr" presetSubtype="8" fill="hold" grpId="0" nodeType="withEffect">
                                  <p:stCondLst>
                                    <p:cond delay="400"/>
                                  </p:stCondLst>
                                  <p:childTnLst>
                                    <p:set>
                                      <p:cBhvr>
                                        <p:cTn id="99" dur="1" fill="hold">
                                          <p:stCondLst>
                                            <p:cond delay="0"/>
                                          </p:stCondLst>
                                        </p:cTn>
                                        <p:tgtEl>
                                          <p:spTgt spid="33"/>
                                        </p:tgtEl>
                                        <p:attrNameLst>
                                          <p:attrName>style.visibility</p:attrName>
                                        </p:attrNameLst>
                                      </p:cBhvr>
                                      <p:to>
                                        <p:strVal val="visible"/>
                                      </p:to>
                                    </p:set>
                                    <p:animEffect transition="in" filter="wipe(left)">
                                      <p:cBhvr>
                                        <p:cTn id="100" dur="500"/>
                                        <p:tgtEl>
                                          <p:spTgt spid="33"/>
                                        </p:tgtEl>
                                      </p:cBhvr>
                                    </p:animEffect>
                                  </p:childTnLst>
                                </p:cTn>
                              </p:par>
                              <p:par>
                                <p:cTn id="101" presetID="22" presetClass="entr" presetSubtype="8" fill="hold" grpId="0" nodeType="withEffect">
                                  <p:stCondLst>
                                    <p:cond delay="600"/>
                                  </p:stCondLst>
                                  <p:childTnLst>
                                    <p:set>
                                      <p:cBhvr>
                                        <p:cTn id="102" dur="1" fill="hold">
                                          <p:stCondLst>
                                            <p:cond delay="0"/>
                                          </p:stCondLst>
                                        </p:cTn>
                                        <p:tgtEl>
                                          <p:spTgt spid="34"/>
                                        </p:tgtEl>
                                        <p:attrNameLst>
                                          <p:attrName>style.visibility</p:attrName>
                                        </p:attrNameLst>
                                      </p:cBhvr>
                                      <p:to>
                                        <p:strVal val="visible"/>
                                      </p:to>
                                    </p:set>
                                    <p:animEffect transition="in" filter="wipe(left)">
                                      <p:cBhvr>
                                        <p:cTn id="103" dur="500"/>
                                        <p:tgtEl>
                                          <p:spTgt spid="34"/>
                                        </p:tgtEl>
                                      </p:cBhvr>
                                    </p:animEffect>
                                  </p:childTnLst>
                                </p:cTn>
                              </p:par>
                              <p:par>
                                <p:cTn id="104" presetID="22" presetClass="entr" presetSubtype="8" fill="hold" grpId="0" nodeType="withEffect">
                                  <p:stCondLst>
                                    <p:cond delay="800"/>
                                  </p:stCondLst>
                                  <p:childTnLst>
                                    <p:set>
                                      <p:cBhvr>
                                        <p:cTn id="105" dur="1" fill="hold">
                                          <p:stCondLst>
                                            <p:cond delay="0"/>
                                          </p:stCondLst>
                                        </p:cTn>
                                        <p:tgtEl>
                                          <p:spTgt spid="35"/>
                                        </p:tgtEl>
                                        <p:attrNameLst>
                                          <p:attrName>style.visibility</p:attrName>
                                        </p:attrNameLst>
                                      </p:cBhvr>
                                      <p:to>
                                        <p:strVal val="visible"/>
                                      </p:to>
                                    </p:set>
                                    <p:animEffect transition="in" filter="wipe(left)">
                                      <p:cBhvr>
                                        <p:cTn id="106" dur="500"/>
                                        <p:tgtEl>
                                          <p:spTgt spid="35"/>
                                        </p:tgtEl>
                                      </p:cBhvr>
                                    </p:animEffect>
                                  </p:childTnLst>
                                </p:cTn>
                              </p:par>
                              <p:par>
                                <p:cTn id="107" presetID="22" presetClass="entr" presetSubtype="8" fill="hold" grpId="0" nodeType="withEffect">
                                  <p:stCondLst>
                                    <p:cond delay="1000"/>
                                  </p:stCondLst>
                                  <p:childTnLst>
                                    <p:set>
                                      <p:cBhvr>
                                        <p:cTn id="108" dur="1" fill="hold">
                                          <p:stCondLst>
                                            <p:cond delay="0"/>
                                          </p:stCondLst>
                                        </p:cTn>
                                        <p:tgtEl>
                                          <p:spTgt spid="36"/>
                                        </p:tgtEl>
                                        <p:attrNameLst>
                                          <p:attrName>style.visibility</p:attrName>
                                        </p:attrNameLst>
                                      </p:cBhvr>
                                      <p:to>
                                        <p:strVal val="visible"/>
                                      </p:to>
                                    </p:set>
                                    <p:animEffect transition="in" filter="wipe(left)">
                                      <p:cBhvr>
                                        <p:cTn id="109" dur="500"/>
                                        <p:tgtEl>
                                          <p:spTgt spid="36"/>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7"/>
                                        </p:tgtEl>
                                        <p:attrNameLst>
                                          <p:attrName>style.visibility</p:attrName>
                                        </p:attrNameLst>
                                      </p:cBhvr>
                                      <p:to>
                                        <p:strVal val="visible"/>
                                      </p:to>
                                    </p:set>
                                    <p:animEffect transition="in" filter="fade">
                                      <p:cBhvr>
                                        <p:cTn id="112" dur="500"/>
                                        <p:tgtEl>
                                          <p:spTgt spid="37"/>
                                        </p:tgtEl>
                                      </p:cBhvr>
                                    </p:animEffect>
                                  </p:childTnLst>
                                </p:cTn>
                              </p:par>
                              <p:par>
                                <p:cTn id="113" presetID="22" presetClass="entr" presetSubtype="8" fill="hold" grpId="0" nodeType="withEffect">
                                  <p:stCondLst>
                                    <p:cond delay="200"/>
                                  </p:stCondLst>
                                  <p:childTnLst>
                                    <p:set>
                                      <p:cBhvr>
                                        <p:cTn id="114" dur="1" fill="hold">
                                          <p:stCondLst>
                                            <p:cond delay="0"/>
                                          </p:stCondLst>
                                        </p:cTn>
                                        <p:tgtEl>
                                          <p:spTgt spid="38"/>
                                        </p:tgtEl>
                                        <p:attrNameLst>
                                          <p:attrName>style.visibility</p:attrName>
                                        </p:attrNameLst>
                                      </p:cBhvr>
                                      <p:to>
                                        <p:strVal val="visible"/>
                                      </p:to>
                                    </p:set>
                                    <p:animEffect transition="in" filter="wipe(left)">
                                      <p:cBhvr>
                                        <p:cTn id="115" dur="500"/>
                                        <p:tgtEl>
                                          <p:spTgt spid="38"/>
                                        </p:tgtEl>
                                      </p:cBhvr>
                                    </p:animEffect>
                                  </p:childTnLst>
                                </p:cTn>
                              </p:par>
                              <p:par>
                                <p:cTn id="116" presetID="22" presetClass="entr" presetSubtype="8" fill="hold" grpId="0" nodeType="withEffect">
                                  <p:stCondLst>
                                    <p:cond delay="400"/>
                                  </p:stCondLst>
                                  <p:childTnLst>
                                    <p:set>
                                      <p:cBhvr>
                                        <p:cTn id="117" dur="1" fill="hold">
                                          <p:stCondLst>
                                            <p:cond delay="0"/>
                                          </p:stCondLst>
                                        </p:cTn>
                                        <p:tgtEl>
                                          <p:spTgt spid="39"/>
                                        </p:tgtEl>
                                        <p:attrNameLst>
                                          <p:attrName>style.visibility</p:attrName>
                                        </p:attrNameLst>
                                      </p:cBhvr>
                                      <p:to>
                                        <p:strVal val="visible"/>
                                      </p:to>
                                    </p:set>
                                    <p:animEffect transition="in" filter="wipe(left)">
                                      <p:cBhvr>
                                        <p:cTn id="118" dur="500"/>
                                        <p:tgtEl>
                                          <p:spTgt spid="39"/>
                                        </p:tgtEl>
                                      </p:cBhvr>
                                    </p:animEffect>
                                  </p:childTnLst>
                                </p:cTn>
                              </p:par>
                              <p:par>
                                <p:cTn id="119" presetID="22" presetClass="entr" presetSubtype="8" fill="hold" grpId="0" nodeType="withEffect">
                                  <p:stCondLst>
                                    <p:cond delay="600"/>
                                  </p:stCondLst>
                                  <p:childTnLst>
                                    <p:set>
                                      <p:cBhvr>
                                        <p:cTn id="120" dur="1" fill="hold">
                                          <p:stCondLst>
                                            <p:cond delay="0"/>
                                          </p:stCondLst>
                                        </p:cTn>
                                        <p:tgtEl>
                                          <p:spTgt spid="40"/>
                                        </p:tgtEl>
                                        <p:attrNameLst>
                                          <p:attrName>style.visibility</p:attrName>
                                        </p:attrNameLst>
                                      </p:cBhvr>
                                      <p:to>
                                        <p:strVal val="visible"/>
                                      </p:to>
                                    </p:set>
                                    <p:animEffect transition="in" filter="wipe(left)">
                                      <p:cBhvr>
                                        <p:cTn id="121" dur="500"/>
                                        <p:tgtEl>
                                          <p:spTgt spid="40"/>
                                        </p:tgtEl>
                                      </p:cBhvr>
                                    </p:animEffect>
                                  </p:childTnLst>
                                </p:cTn>
                              </p:par>
                              <p:par>
                                <p:cTn id="122" presetID="22" presetClass="entr" presetSubtype="8" fill="hold" grpId="0" nodeType="withEffect">
                                  <p:stCondLst>
                                    <p:cond delay="800"/>
                                  </p:stCondLst>
                                  <p:childTnLst>
                                    <p:set>
                                      <p:cBhvr>
                                        <p:cTn id="123" dur="1" fill="hold">
                                          <p:stCondLst>
                                            <p:cond delay="0"/>
                                          </p:stCondLst>
                                        </p:cTn>
                                        <p:tgtEl>
                                          <p:spTgt spid="41"/>
                                        </p:tgtEl>
                                        <p:attrNameLst>
                                          <p:attrName>style.visibility</p:attrName>
                                        </p:attrNameLst>
                                      </p:cBhvr>
                                      <p:to>
                                        <p:strVal val="visible"/>
                                      </p:to>
                                    </p:set>
                                    <p:animEffect transition="in" filter="wipe(left)">
                                      <p:cBhvr>
                                        <p:cTn id="124" dur="500"/>
                                        <p:tgtEl>
                                          <p:spTgt spid="41"/>
                                        </p:tgtEl>
                                      </p:cBhvr>
                                    </p:animEffect>
                                  </p:childTnLst>
                                </p:cTn>
                              </p:par>
                              <p:par>
                                <p:cTn id="125" presetID="22" presetClass="entr" presetSubtype="8" fill="hold" grpId="0" nodeType="withEffect">
                                  <p:stCondLst>
                                    <p:cond delay="1000"/>
                                  </p:stCondLst>
                                  <p:childTnLst>
                                    <p:set>
                                      <p:cBhvr>
                                        <p:cTn id="126" dur="1" fill="hold">
                                          <p:stCondLst>
                                            <p:cond delay="0"/>
                                          </p:stCondLst>
                                        </p:cTn>
                                        <p:tgtEl>
                                          <p:spTgt spid="42"/>
                                        </p:tgtEl>
                                        <p:attrNameLst>
                                          <p:attrName>style.visibility</p:attrName>
                                        </p:attrNameLst>
                                      </p:cBhvr>
                                      <p:to>
                                        <p:strVal val="visible"/>
                                      </p:to>
                                    </p:set>
                                    <p:animEffect transition="in" filter="wipe(left)">
                                      <p:cBhvr>
                                        <p:cTn id="127" dur="500"/>
                                        <p:tgtEl>
                                          <p:spTgt spid="42"/>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3"/>
                                        </p:tgtEl>
                                        <p:attrNameLst>
                                          <p:attrName>style.visibility</p:attrName>
                                        </p:attrNameLst>
                                      </p:cBhvr>
                                      <p:to>
                                        <p:strVal val="visible"/>
                                      </p:to>
                                    </p:set>
                                    <p:animEffect transition="in" filter="fade">
                                      <p:cBhvr>
                                        <p:cTn id="130" dur="500"/>
                                        <p:tgtEl>
                                          <p:spTgt spid="43"/>
                                        </p:tgtEl>
                                      </p:cBhvr>
                                    </p:animEffect>
                                  </p:childTnLst>
                                </p:cTn>
                              </p:par>
                              <p:par>
                                <p:cTn id="131" presetID="22" presetClass="entr" presetSubtype="8" fill="hold" grpId="0" nodeType="withEffect">
                                  <p:stCondLst>
                                    <p:cond delay="200"/>
                                  </p:stCondLst>
                                  <p:childTnLst>
                                    <p:set>
                                      <p:cBhvr>
                                        <p:cTn id="132" dur="1" fill="hold">
                                          <p:stCondLst>
                                            <p:cond delay="0"/>
                                          </p:stCondLst>
                                        </p:cTn>
                                        <p:tgtEl>
                                          <p:spTgt spid="44"/>
                                        </p:tgtEl>
                                        <p:attrNameLst>
                                          <p:attrName>style.visibility</p:attrName>
                                        </p:attrNameLst>
                                      </p:cBhvr>
                                      <p:to>
                                        <p:strVal val="visible"/>
                                      </p:to>
                                    </p:set>
                                    <p:animEffect transition="in" filter="wipe(left)">
                                      <p:cBhvr>
                                        <p:cTn id="133" dur="500"/>
                                        <p:tgtEl>
                                          <p:spTgt spid="44"/>
                                        </p:tgtEl>
                                      </p:cBhvr>
                                    </p:animEffect>
                                  </p:childTnLst>
                                </p:cTn>
                              </p:par>
                              <p:par>
                                <p:cTn id="134" presetID="22" presetClass="entr" presetSubtype="8" fill="hold" grpId="0" nodeType="withEffect">
                                  <p:stCondLst>
                                    <p:cond delay="400"/>
                                  </p:stCondLst>
                                  <p:childTnLst>
                                    <p:set>
                                      <p:cBhvr>
                                        <p:cTn id="135" dur="1" fill="hold">
                                          <p:stCondLst>
                                            <p:cond delay="0"/>
                                          </p:stCondLst>
                                        </p:cTn>
                                        <p:tgtEl>
                                          <p:spTgt spid="45"/>
                                        </p:tgtEl>
                                        <p:attrNameLst>
                                          <p:attrName>style.visibility</p:attrName>
                                        </p:attrNameLst>
                                      </p:cBhvr>
                                      <p:to>
                                        <p:strVal val="visible"/>
                                      </p:to>
                                    </p:set>
                                    <p:animEffect transition="in" filter="wipe(left)">
                                      <p:cBhvr>
                                        <p:cTn id="136" dur="500"/>
                                        <p:tgtEl>
                                          <p:spTgt spid="45"/>
                                        </p:tgtEl>
                                      </p:cBhvr>
                                    </p:animEffect>
                                  </p:childTnLst>
                                </p:cTn>
                              </p:par>
                              <p:par>
                                <p:cTn id="137" presetID="22" presetClass="entr" presetSubtype="8" fill="hold" grpId="0" nodeType="withEffect">
                                  <p:stCondLst>
                                    <p:cond delay="600"/>
                                  </p:stCondLst>
                                  <p:childTnLst>
                                    <p:set>
                                      <p:cBhvr>
                                        <p:cTn id="138" dur="1" fill="hold">
                                          <p:stCondLst>
                                            <p:cond delay="0"/>
                                          </p:stCondLst>
                                        </p:cTn>
                                        <p:tgtEl>
                                          <p:spTgt spid="46"/>
                                        </p:tgtEl>
                                        <p:attrNameLst>
                                          <p:attrName>style.visibility</p:attrName>
                                        </p:attrNameLst>
                                      </p:cBhvr>
                                      <p:to>
                                        <p:strVal val="visible"/>
                                      </p:to>
                                    </p:set>
                                    <p:animEffect transition="in" filter="wipe(left)">
                                      <p:cBhvr>
                                        <p:cTn id="139" dur="500"/>
                                        <p:tgtEl>
                                          <p:spTgt spid="46"/>
                                        </p:tgtEl>
                                      </p:cBhvr>
                                    </p:animEffect>
                                  </p:childTnLst>
                                </p:cTn>
                              </p:par>
                              <p:par>
                                <p:cTn id="140" presetID="22" presetClass="entr" presetSubtype="8" fill="hold" grpId="0" nodeType="withEffect">
                                  <p:stCondLst>
                                    <p:cond delay="800"/>
                                  </p:stCondLst>
                                  <p:childTnLst>
                                    <p:set>
                                      <p:cBhvr>
                                        <p:cTn id="141" dur="1" fill="hold">
                                          <p:stCondLst>
                                            <p:cond delay="0"/>
                                          </p:stCondLst>
                                        </p:cTn>
                                        <p:tgtEl>
                                          <p:spTgt spid="47"/>
                                        </p:tgtEl>
                                        <p:attrNameLst>
                                          <p:attrName>style.visibility</p:attrName>
                                        </p:attrNameLst>
                                      </p:cBhvr>
                                      <p:to>
                                        <p:strVal val="visible"/>
                                      </p:to>
                                    </p:set>
                                    <p:animEffect transition="in" filter="wipe(left)">
                                      <p:cBhvr>
                                        <p:cTn id="142" dur="500"/>
                                        <p:tgtEl>
                                          <p:spTgt spid="47"/>
                                        </p:tgtEl>
                                      </p:cBhvr>
                                    </p:animEffect>
                                  </p:childTnLst>
                                </p:cTn>
                              </p:par>
                              <p:par>
                                <p:cTn id="143" presetID="22" presetClass="entr" presetSubtype="8" fill="hold" grpId="0" nodeType="withEffect">
                                  <p:stCondLst>
                                    <p:cond delay="1000"/>
                                  </p:stCondLst>
                                  <p:childTnLst>
                                    <p:set>
                                      <p:cBhvr>
                                        <p:cTn id="144" dur="1" fill="hold">
                                          <p:stCondLst>
                                            <p:cond delay="0"/>
                                          </p:stCondLst>
                                        </p:cTn>
                                        <p:tgtEl>
                                          <p:spTgt spid="48"/>
                                        </p:tgtEl>
                                        <p:attrNameLst>
                                          <p:attrName>style.visibility</p:attrName>
                                        </p:attrNameLst>
                                      </p:cBhvr>
                                      <p:to>
                                        <p:strVal val="visible"/>
                                      </p:to>
                                    </p:set>
                                    <p:animEffect transition="in" filter="wipe(left)">
                                      <p:cBhvr>
                                        <p:cTn id="145" dur="500"/>
                                        <p:tgtEl>
                                          <p:spTgt spid="48"/>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49"/>
                                        </p:tgtEl>
                                        <p:attrNameLst>
                                          <p:attrName>style.visibility</p:attrName>
                                        </p:attrNameLst>
                                      </p:cBhvr>
                                      <p:to>
                                        <p:strVal val="visible"/>
                                      </p:to>
                                    </p:set>
                                    <p:animEffect transition="in" filter="fade">
                                      <p:cBhvr>
                                        <p:cTn id="148" dur="500"/>
                                        <p:tgtEl>
                                          <p:spTgt spid="49"/>
                                        </p:tgtEl>
                                      </p:cBhvr>
                                    </p:animEffect>
                                  </p:childTnLst>
                                </p:cTn>
                              </p:par>
                              <p:par>
                                <p:cTn id="149" presetID="22" presetClass="entr" presetSubtype="8" fill="hold" grpId="0" nodeType="withEffect">
                                  <p:stCondLst>
                                    <p:cond delay="200"/>
                                  </p:stCondLst>
                                  <p:childTnLst>
                                    <p:set>
                                      <p:cBhvr>
                                        <p:cTn id="150" dur="1" fill="hold">
                                          <p:stCondLst>
                                            <p:cond delay="0"/>
                                          </p:stCondLst>
                                        </p:cTn>
                                        <p:tgtEl>
                                          <p:spTgt spid="50"/>
                                        </p:tgtEl>
                                        <p:attrNameLst>
                                          <p:attrName>style.visibility</p:attrName>
                                        </p:attrNameLst>
                                      </p:cBhvr>
                                      <p:to>
                                        <p:strVal val="visible"/>
                                      </p:to>
                                    </p:set>
                                    <p:animEffect transition="in" filter="wipe(left)">
                                      <p:cBhvr>
                                        <p:cTn id="151" dur="500"/>
                                        <p:tgtEl>
                                          <p:spTgt spid="50"/>
                                        </p:tgtEl>
                                      </p:cBhvr>
                                    </p:animEffect>
                                  </p:childTnLst>
                                </p:cTn>
                              </p:par>
                              <p:par>
                                <p:cTn id="152" presetID="22" presetClass="entr" presetSubtype="8" fill="hold" grpId="0" nodeType="withEffect">
                                  <p:stCondLst>
                                    <p:cond delay="400"/>
                                  </p:stCondLst>
                                  <p:childTnLst>
                                    <p:set>
                                      <p:cBhvr>
                                        <p:cTn id="153" dur="1" fill="hold">
                                          <p:stCondLst>
                                            <p:cond delay="0"/>
                                          </p:stCondLst>
                                        </p:cTn>
                                        <p:tgtEl>
                                          <p:spTgt spid="51"/>
                                        </p:tgtEl>
                                        <p:attrNameLst>
                                          <p:attrName>style.visibility</p:attrName>
                                        </p:attrNameLst>
                                      </p:cBhvr>
                                      <p:to>
                                        <p:strVal val="visible"/>
                                      </p:to>
                                    </p:set>
                                    <p:animEffect transition="in" filter="wipe(left)">
                                      <p:cBhvr>
                                        <p:cTn id="154" dur="500"/>
                                        <p:tgtEl>
                                          <p:spTgt spid="51"/>
                                        </p:tgtEl>
                                      </p:cBhvr>
                                    </p:animEffect>
                                  </p:childTnLst>
                                </p:cTn>
                              </p:par>
                              <p:par>
                                <p:cTn id="155" presetID="22" presetClass="entr" presetSubtype="8" fill="hold" grpId="0" nodeType="withEffect">
                                  <p:stCondLst>
                                    <p:cond delay="600"/>
                                  </p:stCondLst>
                                  <p:childTnLst>
                                    <p:set>
                                      <p:cBhvr>
                                        <p:cTn id="156" dur="1" fill="hold">
                                          <p:stCondLst>
                                            <p:cond delay="0"/>
                                          </p:stCondLst>
                                        </p:cTn>
                                        <p:tgtEl>
                                          <p:spTgt spid="52"/>
                                        </p:tgtEl>
                                        <p:attrNameLst>
                                          <p:attrName>style.visibility</p:attrName>
                                        </p:attrNameLst>
                                      </p:cBhvr>
                                      <p:to>
                                        <p:strVal val="visible"/>
                                      </p:to>
                                    </p:set>
                                    <p:animEffect transition="in" filter="wipe(left)">
                                      <p:cBhvr>
                                        <p:cTn id="157" dur="500"/>
                                        <p:tgtEl>
                                          <p:spTgt spid="52"/>
                                        </p:tgtEl>
                                      </p:cBhvr>
                                    </p:animEffect>
                                  </p:childTnLst>
                                </p:cTn>
                              </p:par>
                              <p:par>
                                <p:cTn id="158" presetID="22" presetClass="entr" presetSubtype="8" fill="hold" grpId="0" nodeType="withEffect">
                                  <p:stCondLst>
                                    <p:cond delay="800"/>
                                  </p:stCondLst>
                                  <p:childTnLst>
                                    <p:set>
                                      <p:cBhvr>
                                        <p:cTn id="159" dur="1" fill="hold">
                                          <p:stCondLst>
                                            <p:cond delay="0"/>
                                          </p:stCondLst>
                                        </p:cTn>
                                        <p:tgtEl>
                                          <p:spTgt spid="53"/>
                                        </p:tgtEl>
                                        <p:attrNameLst>
                                          <p:attrName>style.visibility</p:attrName>
                                        </p:attrNameLst>
                                      </p:cBhvr>
                                      <p:to>
                                        <p:strVal val="visible"/>
                                      </p:to>
                                    </p:set>
                                    <p:animEffect transition="in" filter="wipe(left)">
                                      <p:cBhvr>
                                        <p:cTn id="160" dur="500"/>
                                        <p:tgtEl>
                                          <p:spTgt spid="53"/>
                                        </p:tgtEl>
                                      </p:cBhvr>
                                    </p:animEffect>
                                  </p:childTnLst>
                                </p:cTn>
                              </p:par>
                              <p:par>
                                <p:cTn id="161" presetID="22" presetClass="entr" presetSubtype="8" fill="hold" grpId="0" nodeType="withEffect">
                                  <p:stCondLst>
                                    <p:cond delay="1000"/>
                                  </p:stCondLst>
                                  <p:childTnLst>
                                    <p:set>
                                      <p:cBhvr>
                                        <p:cTn id="162" dur="1" fill="hold">
                                          <p:stCondLst>
                                            <p:cond delay="0"/>
                                          </p:stCondLst>
                                        </p:cTn>
                                        <p:tgtEl>
                                          <p:spTgt spid="54"/>
                                        </p:tgtEl>
                                        <p:attrNameLst>
                                          <p:attrName>style.visibility</p:attrName>
                                        </p:attrNameLst>
                                      </p:cBhvr>
                                      <p:to>
                                        <p:strVal val="visible"/>
                                      </p:to>
                                    </p:set>
                                    <p:animEffect transition="in" filter="wipe(left)">
                                      <p:cBhvr>
                                        <p:cTn id="163" dur="500"/>
                                        <p:tgtEl>
                                          <p:spTgt spid="54"/>
                                        </p:tgtEl>
                                      </p:cBhvr>
                                    </p:animEffect>
                                  </p:childTnLst>
                                </p:cTn>
                              </p:par>
                            </p:childTnLst>
                          </p:cTn>
                        </p:par>
                      </p:childTnLst>
                    </p:cTn>
                  </p:par>
                  <p:par>
                    <p:cTn id="164" fill="hold">
                      <p:stCondLst>
                        <p:cond delay="indefinite"/>
                      </p:stCondLst>
                      <p:childTnLst>
                        <p:par>
                          <p:cTn id="165" fill="hold">
                            <p:stCondLst>
                              <p:cond delay="0"/>
                            </p:stCondLst>
                            <p:childTnLst>
                              <p:par>
                                <p:cTn id="166" presetID="2" presetClass="entr" presetSubtype="4" fill="hold" grpId="0" nodeType="clickEffect">
                                  <p:stCondLst>
                                    <p:cond delay="0"/>
                                  </p:stCondLst>
                                  <p:childTnLst>
                                    <p:set>
                                      <p:cBhvr>
                                        <p:cTn id="167" dur="1" fill="hold">
                                          <p:stCondLst>
                                            <p:cond delay="0"/>
                                          </p:stCondLst>
                                        </p:cTn>
                                        <p:tgtEl>
                                          <p:spTgt spid="55"/>
                                        </p:tgtEl>
                                        <p:attrNameLst>
                                          <p:attrName>style.visibility</p:attrName>
                                        </p:attrNameLst>
                                      </p:cBhvr>
                                      <p:to>
                                        <p:strVal val="visible"/>
                                      </p:to>
                                    </p:set>
                                    <p:anim calcmode="lin" valueType="num">
                                      <p:cBhvr additive="base">
                                        <p:cTn id="168" dur="500" fill="hold"/>
                                        <p:tgtEl>
                                          <p:spTgt spid="55"/>
                                        </p:tgtEl>
                                        <p:attrNameLst>
                                          <p:attrName>ppt_x</p:attrName>
                                        </p:attrNameLst>
                                      </p:cBhvr>
                                      <p:tavLst>
                                        <p:tav tm="0">
                                          <p:val>
                                            <p:strVal val="#ppt_x"/>
                                          </p:val>
                                        </p:tav>
                                        <p:tav tm="100000">
                                          <p:val>
                                            <p:strVal val="#ppt_x"/>
                                          </p:val>
                                        </p:tav>
                                      </p:tavLst>
                                    </p:anim>
                                    <p:anim calcmode="lin" valueType="num">
                                      <p:cBhvr additive="base">
                                        <p:cTn id="169" dur="500" fill="hold"/>
                                        <p:tgtEl>
                                          <p:spTgt spid="55"/>
                                        </p:tgtEl>
                                        <p:attrNameLst>
                                          <p:attrName>ppt_y</p:attrName>
                                        </p:attrNameLst>
                                      </p:cBhvr>
                                      <p:tavLst>
                                        <p:tav tm="0">
                                          <p:val>
                                            <p:strVal val="#ppt_y+0.1"/>
                                          </p:val>
                                        </p:tav>
                                        <p:tav tm="100000">
                                          <p:val>
                                            <p:strVal val="#ppt_y"/>
                                          </p:val>
                                        </p:tav>
                                      </p:tavLst>
                                    </p:anim>
                                    <p:animEffect transition="in" filter="fade">
                                      <p:cBhvr>
                                        <p:cTn id="170" dur="500"/>
                                        <p:tgtEl>
                                          <p:spTgt spid="55"/>
                                        </p:tgtEl>
                                      </p:cBhvr>
                                    </p:animEffect>
                                  </p:childTnLst>
                                </p:cTn>
                              </p:par>
                            </p:childTnLst>
                          </p:cTn>
                        </p:par>
                      </p:childTnLst>
                    </p:cTn>
                  </p:par>
                  <p:par>
                    <p:cTn id="171" fill="hold">
                      <p:stCondLst>
                        <p:cond delay="indefinite"/>
                      </p:stCondLst>
                      <p:childTnLst>
                        <p:par>
                          <p:cTn id="172" fill="hold">
                            <p:stCondLst>
                              <p:cond delay="0"/>
                            </p:stCondLst>
                            <p:childTnLst>
                              <p:par>
                                <p:cTn id="173" presetID="2" presetClass="entr" presetSubtype="4" fill="hold" grpId="0" nodeType="clickEffect">
                                  <p:stCondLst>
                                    <p:cond delay="0"/>
                                  </p:stCondLst>
                                  <p:childTnLst>
                                    <p:set>
                                      <p:cBhvr>
                                        <p:cTn id="174" dur="1" fill="hold">
                                          <p:stCondLst>
                                            <p:cond delay="0"/>
                                          </p:stCondLst>
                                        </p:cTn>
                                        <p:tgtEl>
                                          <p:spTgt spid="56"/>
                                        </p:tgtEl>
                                        <p:attrNameLst>
                                          <p:attrName>style.visibility</p:attrName>
                                        </p:attrNameLst>
                                      </p:cBhvr>
                                      <p:to>
                                        <p:strVal val="visible"/>
                                      </p:to>
                                    </p:set>
                                    <p:anim calcmode="lin" valueType="num">
                                      <p:cBhvr additive="base">
                                        <p:cTn id="175" dur="500" fill="hold"/>
                                        <p:tgtEl>
                                          <p:spTgt spid="56"/>
                                        </p:tgtEl>
                                        <p:attrNameLst>
                                          <p:attrName>ppt_x</p:attrName>
                                        </p:attrNameLst>
                                      </p:cBhvr>
                                      <p:tavLst>
                                        <p:tav tm="0">
                                          <p:val>
                                            <p:strVal val="#ppt_x"/>
                                          </p:val>
                                        </p:tav>
                                        <p:tav tm="100000">
                                          <p:val>
                                            <p:strVal val="#ppt_x"/>
                                          </p:val>
                                        </p:tav>
                                      </p:tavLst>
                                    </p:anim>
                                    <p:anim calcmode="lin" valueType="num">
                                      <p:cBhvr additive="base">
                                        <p:cTn id="176" dur="500" fill="hold"/>
                                        <p:tgtEl>
                                          <p:spTgt spid="56"/>
                                        </p:tgtEl>
                                        <p:attrNameLst>
                                          <p:attrName>ppt_y</p:attrName>
                                        </p:attrNameLst>
                                      </p:cBhvr>
                                      <p:tavLst>
                                        <p:tav tm="0">
                                          <p:val>
                                            <p:strVal val="#ppt_y+0.1"/>
                                          </p:val>
                                        </p:tav>
                                        <p:tav tm="100000">
                                          <p:val>
                                            <p:strVal val="#ppt_y"/>
                                          </p:val>
                                        </p:tav>
                                      </p:tavLst>
                                    </p:anim>
                                    <p:animEffect transition="in" filter="fade">
                                      <p:cBhvr>
                                        <p:cTn id="177"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24" grpId="0" animBg="1"/>
      <p:bldP spid="28"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1"/>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In Practice: Create the Junction Table</a:t>
            </a:r>
            <a:endParaRPr lang="en-US" sz="2800" dirty="0"/>
          </a:p>
        </p:txBody>
      </p:sp>
      <p:sp>
        <p:nvSpPr>
          <p:cNvPr id="3" name="Text 2"/>
          <p:cNvSpPr txBox="1"/>
          <p:nvPr/>
        </p:nvSpPr>
        <p:spPr>
          <a:xfrm>
            <a:off x="457200" y="914400"/>
            <a:ext cx="8229600" cy="502920"/>
          </a:xfrm>
          <a:prstGeom prst="roundRect">
            <a:avLst>
              <a:gd name="adj" fmla="val 14545"/>
            </a:avLst>
          </a:prstGeom>
          <a:solidFill>
            <a:srgbClr val="EDE9FE"/>
          </a:solidFill>
          <a:ln w="12700">
            <a:solidFill>
              <a:srgbClr val="EDE9FE"/>
            </a:solidFill>
            <a:prstDash val="solid"/>
          </a:ln>
        </p:spPr>
        <p:txBody>
          <a:bodyPr wrap="square" lIns="164592" tIns="0" rIns="164592" bIns="0" rtlCol="0" anchor="ctr"/>
          <a:lstStyle/>
          <a:p>
            <a:pPr marL="0" indent="0">
              <a:buNone/>
            </a:pPr>
            <a:r>
              <a:rPr lang="en-US" sz="1400" b="1" dirty="0">
                <a:solidFill>
                  <a:srgbClr val="6D28D9"/>
                </a:solidFill>
                <a:latin typeface="Calibri" pitchFamily="34" charset="0"/>
                <a:ea typeface="Calibri" pitchFamily="34" charset="-122"/>
                <a:cs typeface="Calibri" pitchFamily="34" charset="-120"/>
              </a:rPr>
              <a:t>TASK   </a:t>
            </a:r>
            <a:r>
              <a:rPr lang="en-US" sz="1400" dirty="0">
                <a:solidFill>
                  <a:srgbClr val="0F172A"/>
                </a:solidFill>
                <a:latin typeface="Calibri" pitchFamily="34" charset="0"/>
                <a:ea typeface="Calibri" pitchFamily="34" charset="-122"/>
                <a:cs typeface="Calibri" pitchFamily="34" charset="-120"/>
              </a:rPr>
              <a:t>Record which products each customer holds — and since when.</a:t>
            </a:r>
            <a:endParaRPr lang="en-US" sz="1400" dirty="0"/>
          </a:p>
        </p:txBody>
      </p:sp>
      <p:sp>
        <p:nvSpPr>
          <p:cNvPr id="4" name="a1f_codebg3"/>
          <p:cNvSpPr/>
          <p:nvPr/>
        </p:nvSpPr>
        <p:spPr>
          <a:xfrm>
            <a:off x="457200" y="1645920"/>
            <a:ext cx="5074920" cy="3127248"/>
          </a:xfrm>
          <a:prstGeom prst="roundRect">
            <a:avLst>
              <a:gd name="adj" fmla="val 3150"/>
            </a:avLst>
          </a:prstGeom>
          <a:solidFill>
            <a:srgbClr val="1E293B"/>
          </a:solidFill>
          <a:ln w="12700">
            <a:solidFill>
              <a:srgbClr val="1E293B"/>
            </a:solidFill>
            <a:prstDash val="solid"/>
          </a:ln>
        </p:spPr>
      </p:sp>
      <p:sp>
        <p:nvSpPr>
          <p:cNvPr id="5" name="a1wd0_code4"/>
          <p:cNvSpPr txBox="1"/>
          <p:nvPr/>
        </p:nvSpPr>
        <p:spPr>
          <a:xfrm>
            <a:off x="640080" y="1783080"/>
            <a:ext cx="4754880" cy="237744"/>
          </a:xfrm>
          <a:prstGeom prst="rect">
            <a:avLst/>
          </a:prstGeom>
          <a:noFill/>
          <a:ln/>
        </p:spPr>
        <p:txBody>
          <a:bodyPr wrap="square" lIns="0" tIns="0" rIns="0" bIns="0" rtlCol="0" anchor="ctr"/>
          <a:lstStyle/>
          <a:p>
            <a:pPr marL="0" indent="0">
              <a:buNone/>
            </a:pPr>
            <a:r>
              <a:rPr lang="en-US" sz="1050" b="1" dirty="0">
                <a:solidFill>
                  <a:srgbClr val="C4B5FD"/>
                </a:solidFill>
                <a:latin typeface="Courier New" pitchFamily="34" charset="0"/>
                <a:ea typeface="Courier New" pitchFamily="34" charset="-122"/>
                <a:cs typeface="Courier New" pitchFamily="34" charset="-120"/>
              </a:rPr>
              <a:t>CREATE</a:t>
            </a: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TABLE</a:t>
            </a:r>
            <a:r>
              <a:rPr lang="en-US" sz="1050" dirty="0">
                <a:solidFill>
                  <a:srgbClr val="E2E8F0"/>
                </a:solidFill>
                <a:latin typeface="Courier New" pitchFamily="34" charset="0"/>
                <a:ea typeface="Courier New" pitchFamily="34" charset="-122"/>
                <a:cs typeface="Courier New" pitchFamily="34" charset="-120"/>
              </a:rPr>
              <a:t> customer_product (</a:t>
            </a:r>
            <a:endParaRPr lang="en-US" sz="1050" dirty="0"/>
          </a:p>
        </p:txBody>
      </p:sp>
      <p:sp>
        <p:nvSpPr>
          <p:cNvPr id="6" name="a1wd150_code5"/>
          <p:cNvSpPr txBox="1"/>
          <p:nvPr/>
        </p:nvSpPr>
        <p:spPr>
          <a:xfrm>
            <a:off x="640080" y="2020824"/>
            <a:ext cx="4754880" cy="237744"/>
          </a:xfrm>
          <a:prstGeom prst="rect">
            <a:avLst/>
          </a:prstGeom>
          <a:noFill/>
          <a:ln/>
        </p:spPr>
        <p:txBody>
          <a:bodyPr wrap="square" lIns="0" tIns="0" rIns="0" bIns="0" rtlCol="0" anchor="ctr"/>
          <a:lstStyle/>
          <a:p>
            <a:pPr marL="0" indent="0">
              <a:buNone/>
            </a:pPr>
            <a:r>
              <a:rPr lang="en-US" sz="1050" dirty="0">
                <a:solidFill>
                  <a:srgbClr val="E2E8F0"/>
                </a:solidFill>
                <a:latin typeface="Courier New" pitchFamily="34" charset="0"/>
                <a:ea typeface="Courier New" pitchFamily="34" charset="-122"/>
                <a:cs typeface="Courier New" pitchFamily="34" charset="-120"/>
              </a:rPr>
              <a:t>  customer_id  </a:t>
            </a:r>
            <a:r>
              <a:rPr lang="en-US" sz="1050" dirty="0">
                <a:solidFill>
                  <a:srgbClr val="93C5FD"/>
                </a:solidFill>
                <a:latin typeface="Courier New" pitchFamily="34" charset="0"/>
                <a:ea typeface="Courier New" pitchFamily="34" charset="-122"/>
                <a:cs typeface="Courier New" pitchFamily="34" charset="-120"/>
              </a:rPr>
              <a:t>INTEGER</a:t>
            </a: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NOT</a:t>
            </a: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NULL</a:t>
            </a:r>
            <a:r>
              <a:rPr lang="en-US" sz="1050" dirty="0">
                <a:solidFill>
                  <a:srgbClr val="E2E8F0"/>
                </a:solidFill>
                <a:latin typeface="Courier New" pitchFamily="34" charset="0"/>
                <a:ea typeface="Courier New" pitchFamily="34" charset="-122"/>
                <a:cs typeface="Courier New" pitchFamily="34" charset="-120"/>
              </a:rPr>
              <a:t>,</a:t>
            </a:r>
            <a:endParaRPr lang="en-US" sz="1050" dirty="0"/>
          </a:p>
        </p:txBody>
      </p:sp>
      <p:sp>
        <p:nvSpPr>
          <p:cNvPr id="7" name="a1wd300_code6"/>
          <p:cNvSpPr txBox="1"/>
          <p:nvPr/>
        </p:nvSpPr>
        <p:spPr>
          <a:xfrm>
            <a:off x="640080" y="2258568"/>
            <a:ext cx="4754880" cy="237744"/>
          </a:xfrm>
          <a:prstGeom prst="rect">
            <a:avLst/>
          </a:prstGeom>
          <a:noFill/>
          <a:ln/>
        </p:spPr>
        <p:txBody>
          <a:bodyPr wrap="square" lIns="0" tIns="0" rIns="0" bIns="0" rtlCol="0" anchor="ctr"/>
          <a:lstStyle/>
          <a:p>
            <a:pPr marL="0" indent="0">
              <a:buNone/>
            </a:pPr>
            <a:r>
              <a:rPr lang="en-US" sz="1050" dirty="0">
                <a:solidFill>
                  <a:srgbClr val="E2E8F0"/>
                </a:solidFill>
                <a:latin typeface="Courier New" pitchFamily="34" charset="0"/>
                <a:ea typeface="Courier New" pitchFamily="34" charset="-122"/>
                <a:cs typeface="Courier New" pitchFamily="34" charset="-120"/>
              </a:rPr>
              <a:t>  product_code </a:t>
            </a:r>
            <a:r>
              <a:rPr lang="en-US" sz="1050" dirty="0">
                <a:solidFill>
                  <a:srgbClr val="93C5FD"/>
                </a:solidFill>
                <a:latin typeface="Courier New" pitchFamily="34" charset="0"/>
                <a:ea typeface="Courier New" pitchFamily="34" charset="-122"/>
                <a:cs typeface="Courier New" pitchFamily="34" charset="-120"/>
              </a:rPr>
              <a:t>VARCHAR</a:t>
            </a:r>
            <a:r>
              <a:rPr lang="en-US" sz="1050" dirty="0">
                <a:solidFill>
                  <a:srgbClr val="E2E8F0"/>
                </a:solidFill>
                <a:latin typeface="Courier New" pitchFamily="34" charset="0"/>
                <a:ea typeface="Courier New" pitchFamily="34" charset="-122"/>
                <a:cs typeface="Courier New" pitchFamily="34" charset="-120"/>
              </a:rPr>
              <a:t>(</a:t>
            </a:r>
            <a:r>
              <a:rPr lang="en-US" sz="1050" dirty="0">
                <a:solidFill>
                  <a:srgbClr val="FDBA74"/>
                </a:solidFill>
                <a:latin typeface="Courier New" pitchFamily="34" charset="0"/>
                <a:ea typeface="Courier New" pitchFamily="34" charset="-122"/>
                <a:cs typeface="Courier New" pitchFamily="34" charset="-120"/>
              </a:rPr>
              <a:t>10</a:t>
            </a: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NOT</a:t>
            </a: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NULL</a:t>
            </a:r>
            <a:r>
              <a:rPr lang="en-US" sz="1050" dirty="0">
                <a:solidFill>
                  <a:srgbClr val="E2E8F0"/>
                </a:solidFill>
                <a:latin typeface="Courier New" pitchFamily="34" charset="0"/>
                <a:ea typeface="Courier New" pitchFamily="34" charset="-122"/>
                <a:cs typeface="Courier New" pitchFamily="34" charset="-120"/>
              </a:rPr>
              <a:t>,</a:t>
            </a:r>
            <a:endParaRPr lang="en-US" sz="1050" dirty="0"/>
          </a:p>
        </p:txBody>
      </p:sp>
      <p:sp>
        <p:nvSpPr>
          <p:cNvPr id="8" name="a1wd450_code7"/>
          <p:cNvSpPr txBox="1"/>
          <p:nvPr/>
        </p:nvSpPr>
        <p:spPr>
          <a:xfrm>
            <a:off x="640080" y="2496312"/>
            <a:ext cx="4754880" cy="237744"/>
          </a:xfrm>
          <a:prstGeom prst="rect">
            <a:avLst/>
          </a:prstGeom>
          <a:noFill/>
          <a:ln/>
        </p:spPr>
        <p:txBody>
          <a:bodyPr wrap="square" lIns="0" tIns="0" rIns="0" bIns="0" rtlCol="0" anchor="ctr"/>
          <a:lstStyle/>
          <a:p>
            <a:pPr marL="0" indent="0">
              <a:buNone/>
            </a:pPr>
            <a:r>
              <a:rPr lang="en-US" sz="1050" dirty="0">
                <a:solidFill>
                  <a:srgbClr val="E2E8F0"/>
                </a:solidFill>
                <a:latin typeface="Courier New" pitchFamily="34" charset="0"/>
                <a:ea typeface="Courier New" pitchFamily="34" charset="-122"/>
                <a:cs typeface="Courier New" pitchFamily="34" charset="-120"/>
              </a:rPr>
              <a:t>  enrolled_on  </a:t>
            </a:r>
            <a:r>
              <a:rPr lang="en-US" sz="1050" dirty="0">
                <a:solidFill>
                  <a:srgbClr val="93C5FD"/>
                </a:solidFill>
                <a:latin typeface="Courier New" pitchFamily="34" charset="0"/>
                <a:ea typeface="Courier New" pitchFamily="34" charset="-122"/>
                <a:cs typeface="Courier New" pitchFamily="34" charset="-120"/>
              </a:rPr>
              <a:t>DATE</a:t>
            </a: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NOT</a:t>
            </a: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NULL</a:t>
            </a:r>
            <a:r>
              <a:rPr lang="en-US" sz="1050" dirty="0">
                <a:solidFill>
                  <a:srgbClr val="E2E8F0"/>
                </a:solidFill>
                <a:latin typeface="Courier New" pitchFamily="34" charset="0"/>
                <a:ea typeface="Courier New" pitchFamily="34" charset="-122"/>
                <a:cs typeface="Courier New" pitchFamily="34" charset="-120"/>
              </a:rPr>
              <a:t>,</a:t>
            </a:r>
            <a:endParaRPr lang="en-US" sz="1050" dirty="0"/>
          </a:p>
        </p:txBody>
      </p:sp>
      <p:sp>
        <p:nvSpPr>
          <p:cNvPr id="9" name="a1wd600_code8"/>
          <p:cNvSpPr txBox="1"/>
          <p:nvPr/>
        </p:nvSpPr>
        <p:spPr>
          <a:xfrm>
            <a:off x="640080" y="2734056"/>
            <a:ext cx="4754880" cy="237744"/>
          </a:xfrm>
          <a:prstGeom prst="rect">
            <a:avLst/>
          </a:prstGeom>
          <a:noFill/>
          <a:ln/>
        </p:spPr>
        <p:txBody>
          <a:bodyPr wrap="square" lIns="0" tIns="0" rIns="0" bIns="0" rtlCol="0" anchor="ctr"/>
          <a:lstStyle/>
          <a:p>
            <a:pPr marL="0" indent="0">
              <a:buNone/>
            </a:pPr>
            <a:r>
              <a:rPr lang="en-US" sz="1050" dirty="0">
                <a:solidFill>
                  <a:srgbClr val="E2E8F0"/>
                </a:solidFill>
                <a:latin typeface="Courier New" pitchFamily="34" charset="0"/>
                <a:ea typeface="Courier New" pitchFamily="34" charset="-122"/>
                <a:cs typeface="Courier New" pitchFamily="34" charset="-120"/>
              </a:rPr>
              <a:t>  status       </a:t>
            </a:r>
            <a:r>
              <a:rPr lang="en-US" sz="1050" dirty="0">
                <a:solidFill>
                  <a:srgbClr val="93C5FD"/>
                </a:solidFill>
                <a:latin typeface="Courier New" pitchFamily="34" charset="0"/>
                <a:ea typeface="Courier New" pitchFamily="34" charset="-122"/>
                <a:cs typeface="Courier New" pitchFamily="34" charset="-120"/>
              </a:rPr>
              <a:t>VARCHAR</a:t>
            </a:r>
            <a:r>
              <a:rPr lang="en-US" sz="1050" dirty="0">
                <a:solidFill>
                  <a:srgbClr val="E2E8F0"/>
                </a:solidFill>
                <a:latin typeface="Courier New" pitchFamily="34" charset="0"/>
                <a:ea typeface="Courier New" pitchFamily="34" charset="-122"/>
                <a:cs typeface="Courier New" pitchFamily="34" charset="-120"/>
              </a:rPr>
              <a:t>(</a:t>
            </a:r>
            <a:r>
              <a:rPr lang="en-US" sz="1050" dirty="0">
                <a:solidFill>
                  <a:srgbClr val="FDBA74"/>
                </a:solidFill>
                <a:latin typeface="Courier New" pitchFamily="34" charset="0"/>
                <a:ea typeface="Courier New" pitchFamily="34" charset="-122"/>
                <a:cs typeface="Courier New" pitchFamily="34" charset="-120"/>
              </a:rPr>
              <a:t>10</a:t>
            </a: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NOT</a:t>
            </a: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NULL</a:t>
            </a:r>
            <a:r>
              <a:rPr lang="en-US" sz="1050" dirty="0">
                <a:solidFill>
                  <a:srgbClr val="E2E8F0"/>
                </a:solidFill>
                <a:latin typeface="Courier New" pitchFamily="34" charset="0"/>
                <a:ea typeface="Courier New" pitchFamily="34" charset="-122"/>
                <a:cs typeface="Courier New" pitchFamily="34" charset="-120"/>
              </a:rPr>
              <a:t>,</a:t>
            </a:r>
            <a:endParaRPr lang="en-US" sz="1050" dirty="0"/>
          </a:p>
        </p:txBody>
      </p:sp>
      <p:sp>
        <p:nvSpPr>
          <p:cNvPr id="10" name="a1wd750_code9"/>
          <p:cNvSpPr txBox="1"/>
          <p:nvPr/>
        </p:nvSpPr>
        <p:spPr>
          <a:xfrm>
            <a:off x="640080" y="2971800"/>
            <a:ext cx="4754880" cy="237744"/>
          </a:xfrm>
          <a:prstGeom prst="rect">
            <a:avLst/>
          </a:prstGeom>
          <a:noFill/>
          <a:ln/>
        </p:spPr>
        <p:txBody>
          <a:bodyPr wrap="square" lIns="0" tIns="0" rIns="0" bIns="0" rtlCol="0" anchor="ctr"/>
          <a:lstStyle/>
          <a:p>
            <a:pPr marL="0" indent="0">
              <a:buNone/>
            </a:pP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CONSTRAINT</a:t>
            </a:r>
            <a:r>
              <a:rPr lang="en-US" sz="1050" dirty="0">
                <a:solidFill>
                  <a:srgbClr val="E2E8F0"/>
                </a:solidFill>
                <a:latin typeface="Courier New" pitchFamily="34" charset="0"/>
                <a:ea typeface="Courier New" pitchFamily="34" charset="-122"/>
                <a:cs typeface="Courier New" pitchFamily="34" charset="-120"/>
              </a:rPr>
              <a:t> pk_customer_product</a:t>
            </a:r>
            <a:endParaRPr lang="en-US" sz="1050" dirty="0"/>
          </a:p>
        </p:txBody>
      </p:sp>
      <p:sp>
        <p:nvSpPr>
          <p:cNvPr id="11" name="a1wd900_code10"/>
          <p:cNvSpPr txBox="1"/>
          <p:nvPr/>
        </p:nvSpPr>
        <p:spPr>
          <a:xfrm>
            <a:off x="640080" y="3209544"/>
            <a:ext cx="4754880" cy="237744"/>
          </a:xfrm>
          <a:prstGeom prst="rect">
            <a:avLst/>
          </a:prstGeom>
          <a:noFill/>
          <a:ln/>
        </p:spPr>
        <p:txBody>
          <a:bodyPr wrap="square" lIns="0" tIns="0" rIns="0" bIns="0" rtlCol="0" anchor="ctr"/>
          <a:lstStyle/>
          <a:p>
            <a:pPr marL="0" indent="0">
              <a:buNone/>
            </a:pP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PRIMARY</a:t>
            </a: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KEY</a:t>
            </a:r>
            <a:r>
              <a:rPr lang="en-US" sz="1050" dirty="0">
                <a:solidFill>
                  <a:srgbClr val="E2E8F0"/>
                </a:solidFill>
                <a:latin typeface="Courier New" pitchFamily="34" charset="0"/>
                <a:ea typeface="Courier New" pitchFamily="34" charset="-122"/>
                <a:cs typeface="Courier New" pitchFamily="34" charset="-120"/>
              </a:rPr>
              <a:t> (customer_id, product_code),</a:t>
            </a:r>
            <a:endParaRPr lang="en-US" sz="1050" dirty="0"/>
          </a:p>
        </p:txBody>
      </p:sp>
      <p:sp>
        <p:nvSpPr>
          <p:cNvPr id="12" name="a1wd1050_code11"/>
          <p:cNvSpPr txBox="1"/>
          <p:nvPr/>
        </p:nvSpPr>
        <p:spPr>
          <a:xfrm>
            <a:off x="640080" y="3447288"/>
            <a:ext cx="4754880" cy="237744"/>
          </a:xfrm>
          <a:prstGeom prst="rect">
            <a:avLst/>
          </a:prstGeom>
          <a:noFill/>
          <a:ln/>
        </p:spPr>
        <p:txBody>
          <a:bodyPr wrap="square" lIns="0" tIns="0" rIns="0" bIns="0" rtlCol="0" anchor="ctr"/>
          <a:lstStyle/>
          <a:p>
            <a:pPr marL="0" indent="0">
              <a:buNone/>
            </a:pP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CONSTRAINT</a:t>
            </a:r>
            <a:r>
              <a:rPr lang="en-US" sz="1050" dirty="0">
                <a:solidFill>
                  <a:srgbClr val="E2E8F0"/>
                </a:solidFill>
                <a:latin typeface="Courier New" pitchFamily="34" charset="0"/>
                <a:ea typeface="Courier New" pitchFamily="34" charset="-122"/>
                <a:cs typeface="Courier New" pitchFamily="34" charset="-120"/>
              </a:rPr>
              <a:t> fk_cp_customer </a:t>
            </a:r>
            <a:r>
              <a:rPr lang="en-US" sz="1050" b="1" dirty="0">
                <a:solidFill>
                  <a:srgbClr val="C4B5FD"/>
                </a:solidFill>
                <a:latin typeface="Courier New" pitchFamily="34" charset="0"/>
                <a:ea typeface="Courier New" pitchFamily="34" charset="-122"/>
                <a:cs typeface="Courier New" pitchFamily="34" charset="-120"/>
              </a:rPr>
              <a:t>FOREIGN</a:t>
            </a: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KEY</a:t>
            </a:r>
            <a:r>
              <a:rPr lang="en-US" sz="1050" dirty="0">
                <a:solidFill>
                  <a:srgbClr val="E2E8F0"/>
                </a:solidFill>
                <a:latin typeface="Courier New" pitchFamily="34" charset="0"/>
                <a:ea typeface="Courier New" pitchFamily="34" charset="-122"/>
                <a:cs typeface="Courier New" pitchFamily="34" charset="-120"/>
              </a:rPr>
              <a:t> (customer_id)</a:t>
            </a:r>
            <a:endParaRPr lang="en-US" sz="1050" dirty="0"/>
          </a:p>
        </p:txBody>
      </p:sp>
      <p:sp>
        <p:nvSpPr>
          <p:cNvPr id="13" name="a1wd1200_code12"/>
          <p:cNvSpPr txBox="1"/>
          <p:nvPr/>
        </p:nvSpPr>
        <p:spPr>
          <a:xfrm>
            <a:off x="640080" y="3685032"/>
            <a:ext cx="4754880" cy="237744"/>
          </a:xfrm>
          <a:prstGeom prst="rect">
            <a:avLst/>
          </a:prstGeom>
          <a:noFill/>
          <a:ln/>
        </p:spPr>
        <p:txBody>
          <a:bodyPr wrap="square" lIns="0" tIns="0" rIns="0" bIns="0" rtlCol="0" anchor="ctr"/>
          <a:lstStyle/>
          <a:p>
            <a:pPr marL="0" indent="0">
              <a:buNone/>
            </a:pP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REFERENCES</a:t>
            </a:r>
            <a:r>
              <a:rPr lang="en-US" sz="1050" dirty="0">
                <a:solidFill>
                  <a:srgbClr val="E2E8F0"/>
                </a:solidFill>
                <a:latin typeface="Courier New" pitchFamily="34" charset="0"/>
                <a:ea typeface="Courier New" pitchFamily="34" charset="-122"/>
                <a:cs typeface="Courier New" pitchFamily="34" charset="-120"/>
              </a:rPr>
              <a:t> customer (customer_id),</a:t>
            </a:r>
            <a:endParaRPr lang="en-US" sz="1050" dirty="0"/>
          </a:p>
        </p:txBody>
      </p:sp>
      <p:sp>
        <p:nvSpPr>
          <p:cNvPr id="14" name="a1wd1350_code13"/>
          <p:cNvSpPr txBox="1"/>
          <p:nvPr/>
        </p:nvSpPr>
        <p:spPr>
          <a:xfrm>
            <a:off x="640080" y="3922776"/>
            <a:ext cx="4754880" cy="237744"/>
          </a:xfrm>
          <a:prstGeom prst="rect">
            <a:avLst/>
          </a:prstGeom>
          <a:noFill/>
          <a:ln/>
        </p:spPr>
        <p:txBody>
          <a:bodyPr wrap="square" lIns="0" tIns="0" rIns="0" bIns="0" rtlCol="0" anchor="ctr"/>
          <a:lstStyle/>
          <a:p>
            <a:pPr marL="0" indent="0">
              <a:buNone/>
            </a:pP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CONSTRAINT</a:t>
            </a:r>
            <a:r>
              <a:rPr lang="en-US" sz="1050" dirty="0">
                <a:solidFill>
                  <a:srgbClr val="E2E8F0"/>
                </a:solidFill>
                <a:latin typeface="Courier New" pitchFamily="34" charset="0"/>
                <a:ea typeface="Courier New" pitchFamily="34" charset="-122"/>
                <a:cs typeface="Courier New" pitchFamily="34" charset="-120"/>
              </a:rPr>
              <a:t> fk_cp_product </a:t>
            </a:r>
            <a:r>
              <a:rPr lang="en-US" sz="1050" b="1" dirty="0">
                <a:solidFill>
                  <a:srgbClr val="C4B5FD"/>
                </a:solidFill>
                <a:latin typeface="Courier New" pitchFamily="34" charset="0"/>
                <a:ea typeface="Courier New" pitchFamily="34" charset="-122"/>
                <a:cs typeface="Courier New" pitchFamily="34" charset="-120"/>
              </a:rPr>
              <a:t>FOREIGN</a:t>
            </a: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KEY</a:t>
            </a:r>
            <a:r>
              <a:rPr lang="en-US" sz="1050" dirty="0">
                <a:solidFill>
                  <a:srgbClr val="E2E8F0"/>
                </a:solidFill>
                <a:latin typeface="Courier New" pitchFamily="34" charset="0"/>
                <a:ea typeface="Courier New" pitchFamily="34" charset="-122"/>
                <a:cs typeface="Courier New" pitchFamily="34" charset="-120"/>
              </a:rPr>
              <a:t> (product_code)</a:t>
            </a:r>
            <a:endParaRPr lang="en-US" sz="1050" dirty="0"/>
          </a:p>
        </p:txBody>
      </p:sp>
      <p:sp>
        <p:nvSpPr>
          <p:cNvPr id="15" name="a1wd1500_code14"/>
          <p:cNvSpPr txBox="1"/>
          <p:nvPr/>
        </p:nvSpPr>
        <p:spPr>
          <a:xfrm>
            <a:off x="640080" y="4160520"/>
            <a:ext cx="4754880" cy="237744"/>
          </a:xfrm>
          <a:prstGeom prst="rect">
            <a:avLst/>
          </a:prstGeom>
          <a:noFill/>
          <a:ln/>
        </p:spPr>
        <p:txBody>
          <a:bodyPr wrap="square" lIns="0" tIns="0" rIns="0" bIns="0" rtlCol="0" anchor="ctr"/>
          <a:lstStyle/>
          <a:p>
            <a:pPr marL="0" indent="0">
              <a:buNone/>
            </a:pPr>
            <a:r>
              <a:rPr lang="en-US" sz="1050" dirty="0">
                <a:solidFill>
                  <a:srgbClr val="E2E8F0"/>
                </a:solidFill>
                <a:latin typeface="Courier New" pitchFamily="34" charset="0"/>
                <a:ea typeface="Courier New" pitchFamily="34" charset="-122"/>
                <a:cs typeface="Courier New" pitchFamily="34" charset="-120"/>
              </a:rPr>
              <a:t>    </a:t>
            </a:r>
            <a:r>
              <a:rPr lang="en-US" sz="1050" b="1" dirty="0">
                <a:solidFill>
                  <a:srgbClr val="C4B5FD"/>
                </a:solidFill>
                <a:latin typeface="Courier New" pitchFamily="34" charset="0"/>
                <a:ea typeface="Courier New" pitchFamily="34" charset="-122"/>
                <a:cs typeface="Courier New" pitchFamily="34" charset="-120"/>
              </a:rPr>
              <a:t>REFERENCES</a:t>
            </a:r>
            <a:r>
              <a:rPr lang="en-US" sz="1050" dirty="0">
                <a:solidFill>
                  <a:srgbClr val="E2E8F0"/>
                </a:solidFill>
                <a:latin typeface="Courier New" pitchFamily="34" charset="0"/>
                <a:ea typeface="Courier New" pitchFamily="34" charset="-122"/>
                <a:cs typeface="Courier New" pitchFamily="34" charset="-120"/>
              </a:rPr>
              <a:t> product (product_code)</a:t>
            </a:r>
            <a:endParaRPr lang="en-US" sz="1050" dirty="0"/>
          </a:p>
        </p:txBody>
      </p:sp>
      <p:sp>
        <p:nvSpPr>
          <p:cNvPr id="16" name="a1wd1650_code15"/>
          <p:cNvSpPr txBox="1"/>
          <p:nvPr/>
        </p:nvSpPr>
        <p:spPr>
          <a:xfrm>
            <a:off x="640080" y="4398264"/>
            <a:ext cx="4754880" cy="237744"/>
          </a:xfrm>
          <a:prstGeom prst="rect">
            <a:avLst/>
          </a:prstGeom>
          <a:noFill/>
          <a:ln/>
        </p:spPr>
        <p:txBody>
          <a:bodyPr wrap="square" lIns="0" tIns="0" rIns="0" bIns="0" rtlCol="0" anchor="ctr"/>
          <a:lstStyle/>
          <a:p>
            <a:pPr marL="0" indent="0">
              <a:buNone/>
            </a:pPr>
            <a:r>
              <a:rPr lang="en-US" sz="1050" dirty="0">
                <a:solidFill>
                  <a:srgbClr val="E2E8F0"/>
                </a:solidFill>
                <a:latin typeface="Courier New" pitchFamily="34" charset="0"/>
                <a:ea typeface="Courier New" pitchFamily="34" charset="-122"/>
                <a:cs typeface="Courier New" pitchFamily="34" charset="-120"/>
              </a:rPr>
              <a:t>);</a:t>
            </a:r>
            <a:endParaRPr lang="en-US" sz="1050" dirty="0"/>
          </a:p>
        </p:txBody>
      </p:sp>
      <p:sp>
        <p:nvSpPr>
          <p:cNvPr id="17" name="a2f_l16"/>
          <p:cNvSpPr txBox="1"/>
          <p:nvPr/>
        </p:nvSpPr>
        <p:spPr>
          <a:xfrm>
            <a:off x="5806440" y="1645920"/>
            <a:ext cx="2926080" cy="274320"/>
          </a:xfrm>
          <a:prstGeom prst="rect">
            <a:avLst/>
          </a:prstGeom>
          <a:noFill/>
          <a:ln/>
        </p:spPr>
        <p:txBody>
          <a:bodyPr wrap="square" lIns="0" tIns="0" rIns="0" bIns="0" rtlCol="0" anchor="ctr"/>
          <a:lstStyle/>
          <a:p>
            <a:pPr marL="0" indent="0">
              <a:buNone/>
            </a:pPr>
            <a:r>
              <a:rPr lang="en-US" sz="1200" b="1" dirty="0">
                <a:solidFill>
                  <a:srgbClr val="6D28D9"/>
                </a:solidFill>
                <a:latin typeface="Calibri" pitchFamily="34" charset="0"/>
                <a:ea typeface="Calibri" pitchFamily="34" charset="-122"/>
                <a:cs typeface="Calibri" pitchFamily="34" charset="-120"/>
              </a:rPr>
              <a:t>Enrol customer 1003 in FD twice</a:t>
            </a:r>
            <a:endParaRPr lang="en-US" sz="1200" dirty="0"/>
          </a:p>
        </p:txBody>
      </p:sp>
      <p:sp>
        <p:nvSpPr>
          <p:cNvPr id="18" name="a2u_err17"/>
          <p:cNvSpPr txBox="1"/>
          <p:nvPr/>
        </p:nvSpPr>
        <p:spPr>
          <a:xfrm>
            <a:off x="5806440" y="1938528"/>
            <a:ext cx="2880360" cy="1234440"/>
          </a:xfrm>
          <a:prstGeom prst="roundRect">
            <a:avLst>
              <a:gd name="adj" fmla="val 6000"/>
            </a:avLst>
          </a:prstGeom>
          <a:solidFill>
            <a:srgbClr val="FEF2F2"/>
          </a:solidFill>
          <a:ln w="12700">
            <a:solidFill>
              <a:srgbClr val="FCA5A5"/>
            </a:solidFill>
            <a:prstDash val="solid"/>
          </a:ln>
        </p:spPr>
        <p:txBody>
          <a:bodyPr wrap="square" lIns="137160" tIns="109728" rIns="137160" bIns="91440" rtlCol="0" anchor="t"/>
          <a:lstStyle/>
          <a:p>
            <a:pPr marL="0" indent="0">
              <a:buNone/>
            </a:pPr>
            <a:r>
              <a:rPr lang="en-US" sz="1000" b="1" dirty="0">
                <a:solidFill>
                  <a:srgbClr val="DC2626"/>
                </a:solidFill>
                <a:latin typeface="Courier New" pitchFamily="34" charset="0"/>
                <a:ea typeface="Courier New" pitchFamily="34" charset="-122"/>
                <a:cs typeface="Courier New" pitchFamily="34" charset="-120"/>
              </a:rPr>
              <a:t>ERROR: duplicate key value violates</a:t>
            </a:r>
            <a:endParaRPr lang="en-US" sz="1000" dirty="0"/>
          </a:p>
          <a:p>
            <a:pPr marL="0" indent="0">
              <a:buNone/>
            </a:pPr>
            <a:r>
              <a:rPr lang="en-US" sz="1000" dirty="0">
                <a:solidFill>
                  <a:srgbClr val="DC2626"/>
                </a:solidFill>
                <a:latin typeface="Courier New" pitchFamily="34" charset="0"/>
                <a:ea typeface="Courier New" pitchFamily="34" charset="-122"/>
                <a:cs typeface="Courier New" pitchFamily="34" charset="-120"/>
              </a:rPr>
              <a:t>unique constraint "pk_customer_product"</a:t>
            </a:r>
            <a:endParaRPr lang="en-US" sz="1000" dirty="0"/>
          </a:p>
          <a:p>
            <a:pPr marL="0" indent="0">
              <a:buNone/>
            </a:pPr>
            <a:r>
              <a:rPr lang="en-US" sz="950" dirty="0">
                <a:solidFill>
                  <a:srgbClr val="7F1D1D"/>
                </a:solidFill>
                <a:latin typeface="Courier New" pitchFamily="34" charset="0"/>
                <a:ea typeface="Courier New" pitchFamily="34" charset="-122"/>
                <a:cs typeface="Courier New" pitchFamily="34" charset="-120"/>
              </a:rPr>
              <a:t>DETAIL: Key (customer_id, product_code)=(1003, FD) already exists.</a:t>
            </a:r>
            <a:endParaRPr lang="en-US" sz="950" dirty="0"/>
          </a:p>
        </p:txBody>
      </p:sp>
      <p:sp>
        <p:nvSpPr>
          <p:cNvPr id="19" name="a3u_nb18"/>
          <p:cNvSpPr/>
          <p:nvPr/>
        </p:nvSpPr>
        <p:spPr>
          <a:xfrm>
            <a:off x="5806440" y="3383280"/>
            <a:ext cx="2880360" cy="1280160"/>
          </a:xfrm>
          <a:prstGeom prst="roundRect">
            <a:avLst>
              <a:gd name="adj" fmla="val 9412"/>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pic>
        <p:nvPicPr>
          <p:cNvPr id="20" name="a3u_ni19" descr="image.png"/>
          <p:cNvPicPr>
            <a:picLocks noChangeAspect="1"/>
          </p:cNvPicPr>
          <p:nvPr/>
        </p:nvPicPr>
        <p:blipFill>
          <a:blip r:embed="rId3"/>
          <a:stretch>
            <a:fillRect/>
          </a:stretch>
        </p:blipFill>
        <p:spPr>
          <a:xfrm>
            <a:off x="5943600" y="3863340"/>
            <a:ext cx="320040" cy="320040"/>
          </a:xfrm>
          <a:prstGeom prst="rect">
            <a:avLst/>
          </a:prstGeom>
        </p:spPr>
      </p:pic>
      <p:sp>
        <p:nvSpPr>
          <p:cNvPr id="21" name="a3u_nt20"/>
          <p:cNvSpPr txBox="1"/>
          <p:nvPr/>
        </p:nvSpPr>
        <p:spPr>
          <a:xfrm>
            <a:off x="6355080" y="3383280"/>
            <a:ext cx="2194560" cy="1280160"/>
          </a:xfrm>
          <a:prstGeom prst="rect">
            <a:avLst/>
          </a:prstGeom>
          <a:noFill/>
          <a:ln/>
        </p:spPr>
        <p:txBody>
          <a:bodyPr wrap="square" lIns="0" tIns="0" rIns="0" bIns="0" rtlCol="0" anchor="ctr"/>
          <a:lstStyle/>
          <a:p>
            <a:pPr marL="0" indent="0">
              <a:buNone/>
            </a:pPr>
            <a:r>
              <a:rPr lang="en-US" sz="1200" b="1" dirty="0">
                <a:solidFill>
                  <a:srgbClr val="334155"/>
                </a:solidFill>
                <a:latin typeface="Calibri" pitchFamily="34" charset="0"/>
                <a:ea typeface="Calibri" pitchFamily="34" charset="-122"/>
                <a:cs typeface="Calibri" pitchFamily="34" charset="-120"/>
              </a:rPr>
              <a:t>Cascading rule? </a:t>
            </a:r>
            <a:r>
              <a:rPr lang="en-US" sz="1150" dirty="0">
                <a:solidFill>
                  <a:srgbClr val="334155"/>
                </a:solidFill>
                <a:latin typeface="Calibri" pitchFamily="34" charset="0"/>
                <a:ea typeface="Calibri" pitchFamily="34" charset="-122"/>
                <a:cs typeface="Calibri" pitchFamily="34" charset="-120"/>
              </a:rPr>
              <a:t>An enrolment is owned by both parents — CASCADE is defensible from customer; RESTRICT from product.</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par>
                                <p:cTn id="11" presetID="22" presetClass="entr" presetSubtype="8" fill="hold" grpId="0" nodeType="withEffect">
                                  <p:stCondLst>
                                    <p:cond delay="15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par>
                                <p:cTn id="14" presetID="22" presetClass="entr" presetSubtype="8" fill="hold" grpId="0" nodeType="withEffect">
                                  <p:stCondLst>
                                    <p:cond delay="30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par>
                                <p:cTn id="17" presetID="22" presetClass="entr" presetSubtype="8" fill="hold" grpId="0" nodeType="withEffect">
                                  <p:stCondLst>
                                    <p:cond delay="45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par>
                                <p:cTn id="20" presetID="22" presetClass="entr" presetSubtype="8" fill="hold" grpId="0" nodeType="withEffect">
                                  <p:stCondLst>
                                    <p:cond delay="60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par>
                                <p:cTn id="23" presetID="22" presetClass="entr" presetSubtype="8" fill="hold" grpId="0" nodeType="withEffect">
                                  <p:stCondLst>
                                    <p:cond delay="75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500"/>
                                        <p:tgtEl>
                                          <p:spTgt spid="10"/>
                                        </p:tgtEl>
                                      </p:cBhvr>
                                    </p:animEffect>
                                  </p:childTnLst>
                                </p:cTn>
                              </p:par>
                              <p:par>
                                <p:cTn id="26" presetID="22" presetClass="entr" presetSubtype="8" fill="hold" grpId="0" nodeType="withEffect">
                                  <p:stCondLst>
                                    <p:cond delay="90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500"/>
                                        <p:tgtEl>
                                          <p:spTgt spid="11"/>
                                        </p:tgtEl>
                                      </p:cBhvr>
                                    </p:animEffect>
                                  </p:childTnLst>
                                </p:cTn>
                              </p:par>
                              <p:par>
                                <p:cTn id="29" presetID="22" presetClass="entr" presetSubtype="8" fill="hold" grpId="0" nodeType="withEffect">
                                  <p:stCondLst>
                                    <p:cond delay="105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500"/>
                                        <p:tgtEl>
                                          <p:spTgt spid="12"/>
                                        </p:tgtEl>
                                      </p:cBhvr>
                                    </p:animEffect>
                                  </p:childTnLst>
                                </p:cTn>
                              </p:par>
                              <p:par>
                                <p:cTn id="32" presetID="22" presetClass="entr" presetSubtype="8" fill="hold" grpId="0" nodeType="withEffect">
                                  <p:stCondLst>
                                    <p:cond delay="1200"/>
                                  </p:stCondLst>
                                  <p:childTnLst>
                                    <p:set>
                                      <p:cBhvr>
                                        <p:cTn id="33" dur="1" fill="hold">
                                          <p:stCondLst>
                                            <p:cond delay="0"/>
                                          </p:stCondLst>
                                        </p:cTn>
                                        <p:tgtEl>
                                          <p:spTgt spid="13"/>
                                        </p:tgtEl>
                                        <p:attrNameLst>
                                          <p:attrName>style.visibility</p:attrName>
                                        </p:attrNameLst>
                                      </p:cBhvr>
                                      <p:to>
                                        <p:strVal val="visible"/>
                                      </p:to>
                                    </p:set>
                                    <p:animEffect transition="in" filter="wipe(left)">
                                      <p:cBhvr>
                                        <p:cTn id="34" dur="500"/>
                                        <p:tgtEl>
                                          <p:spTgt spid="13"/>
                                        </p:tgtEl>
                                      </p:cBhvr>
                                    </p:animEffect>
                                  </p:childTnLst>
                                </p:cTn>
                              </p:par>
                              <p:par>
                                <p:cTn id="35" presetID="22" presetClass="entr" presetSubtype="8" fill="hold" grpId="0" nodeType="withEffect">
                                  <p:stCondLst>
                                    <p:cond delay="1350"/>
                                  </p:stCondLst>
                                  <p:childTnLst>
                                    <p:set>
                                      <p:cBhvr>
                                        <p:cTn id="36" dur="1" fill="hold">
                                          <p:stCondLst>
                                            <p:cond delay="0"/>
                                          </p:stCondLst>
                                        </p:cTn>
                                        <p:tgtEl>
                                          <p:spTgt spid="14"/>
                                        </p:tgtEl>
                                        <p:attrNameLst>
                                          <p:attrName>style.visibility</p:attrName>
                                        </p:attrNameLst>
                                      </p:cBhvr>
                                      <p:to>
                                        <p:strVal val="visible"/>
                                      </p:to>
                                    </p:set>
                                    <p:animEffect transition="in" filter="wipe(left)">
                                      <p:cBhvr>
                                        <p:cTn id="37" dur="500"/>
                                        <p:tgtEl>
                                          <p:spTgt spid="14"/>
                                        </p:tgtEl>
                                      </p:cBhvr>
                                    </p:animEffect>
                                  </p:childTnLst>
                                </p:cTn>
                              </p:par>
                              <p:par>
                                <p:cTn id="38" presetID="22" presetClass="entr" presetSubtype="8" fill="hold" grpId="0" nodeType="withEffect">
                                  <p:stCondLst>
                                    <p:cond delay="1500"/>
                                  </p:stCondLst>
                                  <p:childTnLst>
                                    <p:set>
                                      <p:cBhvr>
                                        <p:cTn id="39" dur="1" fill="hold">
                                          <p:stCondLst>
                                            <p:cond delay="0"/>
                                          </p:stCondLst>
                                        </p:cTn>
                                        <p:tgtEl>
                                          <p:spTgt spid="15"/>
                                        </p:tgtEl>
                                        <p:attrNameLst>
                                          <p:attrName>style.visibility</p:attrName>
                                        </p:attrNameLst>
                                      </p:cBhvr>
                                      <p:to>
                                        <p:strVal val="visible"/>
                                      </p:to>
                                    </p:set>
                                    <p:animEffect transition="in" filter="wipe(left)">
                                      <p:cBhvr>
                                        <p:cTn id="40" dur="500"/>
                                        <p:tgtEl>
                                          <p:spTgt spid="15"/>
                                        </p:tgtEl>
                                      </p:cBhvr>
                                    </p:animEffect>
                                  </p:childTnLst>
                                </p:cTn>
                              </p:par>
                              <p:par>
                                <p:cTn id="41" presetID="22" presetClass="entr" presetSubtype="8" fill="hold" grpId="0" nodeType="withEffect">
                                  <p:stCondLst>
                                    <p:cond delay="1650"/>
                                  </p:stCondLst>
                                  <p:childTnLst>
                                    <p:set>
                                      <p:cBhvr>
                                        <p:cTn id="42" dur="1" fill="hold">
                                          <p:stCondLst>
                                            <p:cond delay="0"/>
                                          </p:stCondLst>
                                        </p:cTn>
                                        <p:tgtEl>
                                          <p:spTgt spid="16"/>
                                        </p:tgtEl>
                                        <p:attrNameLst>
                                          <p:attrName>style.visibility</p:attrName>
                                        </p:attrNameLst>
                                      </p:cBhvr>
                                      <p:to>
                                        <p:strVal val="visible"/>
                                      </p:to>
                                    </p:set>
                                    <p:animEffect transition="in" filter="wipe(left)">
                                      <p:cBhvr>
                                        <p:cTn id="43" dur="500"/>
                                        <p:tgtEl>
                                          <p:spTgt spid="16"/>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par>
                                <p:cTn id="49" presetID="2" presetClass="entr" presetSubtype="4"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 calcmode="lin" valueType="num">
                                      <p:cBhvr additive="base">
                                        <p:cTn id="51" dur="500" fill="hold"/>
                                        <p:tgtEl>
                                          <p:spTgt spid="18"/>
                                        </p:tgtEl>
                                        <p:attrNameLst>
                                          <p:attrName>ppt_x</p:attrName>
                                        </p:attrNameLst>
                                      </p:cBhvr>
                                      <p:tavLst>
                                        <p:tav tm="0">
                                          <p:val>
                                            <p:strVal val="#ppt_x"/>
                                          </p:val>
                                        </p:tav>
                                        <p:tav tm="100000">
                                          <p:val>
                                            <p:strVal val="#ppt_x"/>
                                          </p:val>
                                        </p:tav>
                                      </p:tavLst>
                                    </p:anim>
                                    <p:anim calcmode="lin" valueType="num">
                                      <p:cBhvr additive="base">
                                        <p:cTn id="52" dur="500" fill="hold"/>
                                        <p:tgtEl>
                                          <p:spTgt spid="18"/>
                                        </p:tgtEl>
                                        <p:attrNameLst>
                                          <p:attrName>ppt_y</p:attrName>
                                        </p:attrNameLst>
                                      </p:cBhvr>
                                      <p:tavLst>
                                        <p:tav tm="0">
                                          <p:val>
                                            <p:strVal val="#ppt_y+0.1"/>
                                          </p:val>
                                        </p:tav>
                                        <p:tav tm="100000">
                                          <p:val>
                                            <p:strVal val="#ppt_y"/>
                                          </p:val>
                                        </p:tav>
                                      </p:tavLst>
                                    </p:anim>
                                    <p:animEffect transition="in" filter="fade">
                                      <p:cBhvr>
                                        <p:cTn id="53" dur="500"/>
                                        <p:tgtEl>
                                          <p:spTgt spid="18"/>
                                        </p:tgtEl>
                                      </p:cBhvr>
                                    </p:animEffect>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19"/>
                                        </p:tgtEl>
                                        <p:attrNameLst>
                                          <p:attrName>style.visibility</p:attrName>
                                        </p:attrNameLst>
                                      </p:cBhvr>
                                      <p:to>
                                        <p:strVal val="visible"/>
                                      </p:to>
                                    </p:set>
                                    <p:anim calcmode="lin" valueType="num">
                                      <p:cBhvr additive="base">
                                        <p:cTn id="58" dur="500" fill="hold"/>
                                        <p:tgtEl>
                                          <p:spTgt spid="19"/>
                                        </p:tgtEl>
                                        <p:attrNameLst>
                                          <p:attrName>ppt_x</p:attrName>
                                        </p:attrNameLst>
                                      </p:cBhvr>
                                      <p:tavLst>
                                        <p:tav tm="0">
                                          <p:val>
                                            <p:strVal val="#ppt_x"/>
                                          </p:val>
                                        </p:tav>
                                        <p:tav tm="100000">
                                          <p:val>
                                            <p:strVal val="#ppt_x"/>
                                          </p:val>
                                        </p:tav>
                                      </p:tavLst>
                                    </p:anim>
                                    <p:anim calcmode="lin" valueType="num">
                                      <p:cBhvr additive="base">
                                        <p:cTn id="59" dur="500" fill="hold"/>
                                        <p:tgtEl>
                                          <p:spTgt spid="19"/>
                                        </p:tgtEl>
                                        <p:attrNameLst>
                                          <p:attrName>ppt_y</p:attrName>
                                        </p:attrNameLst>
                                      </p:cBhvr>
                                      <p:tavLst>
                                        <p:tav tm="0">
                                          <p:val>
                                            <p:strVal val="#ppt_y+0.1"/>
                                          </p:val>
                                        </p:tav>
                                        <p:tav tm="100000">
                                          <p:val>
                                            <p:strVal val="#ppt_y"/>
                                          </p:val>
                                        </p:tav>
                                      </p:tavLst>
                                    </p:anim>
                                    <p:animEffect transition="in" filter="fade">
                                      <p:cBhvr>
                                        <p:cTn id="60" dur="500"/>
                                        <p:tgtEl>
                                          <p:spTgt spid="19"/>
                                        </p:tgtEl>
                                      </p:cBhvr>
                                    </p:animEffect>
                                  </p:childTnLst>
                                </p:cTn>
                              </p:par>
                              <p:par>
                                <p:cTn id="61" presetID="2" presetClass="entr" presetSubtype="4" fill="hold" nodeType="withEffect">
                                  <p:stCondLst>
                                    <p:cond delay="0"/>
                                  </p:stCondLst>
                                  <p:childTnLst>
                                    <p:set>
                                      <p:cBhvr>
                                        <p:cTn id="62" dur="1" fill="hold">
                                          <p:stCondLst>
                                            <p:cond delay="0"/>
                                          </p:stCondLst>
                                        </p:cTn>
                                        <p:tgtEl>
                                          <p:spTgt spid="20"/>
                                        </p:tgtEl>
                                        <p:attrNameLst>
                                          <p:attrName>style.visibility</p:attrName>
                                        </p:attrNameLst>
                                      </p:cBhvr>
                                      <p:to>
                                        <p:strVal val="visible"/>
                                      </p:to>
                                    </p:set>
                                    <p:anim calcmode="lin" valueType="num">
                                      <p:cBhvr additive="base">
                                        <p:cTn id="63" dur="500" fill="hold"/>
                                        <p:tgtEl>
                                          <p:spTgt spid="20"/>
                                        </p:tgtEl>
                                        <p:attrNameLst>
                                          <p:attrName>ppt_x</p:attrName>
                                        </p:attrNameLst>
                                      </p:cBhvr>
                                      <p:tavLst>
                                        <p:tav tm="0">
                                          <p:val>
                                            <p:strVal val="#ppt_x"/>
                                          </p:val>
                                        </p:tav>
                                        <p:tav tm="100000">
                                          <p:val>
                                            <p:strVal val="#ppt_x"/>
                                          </p:val>
                                        </p:tav>
                                      </p:tavLst>
                                    </p:anim>
                                    <p:anim calcmode="lin" valueType="num">
                                      <p:cBhvr additive="base">
                                        <p:cTn id="64" dur="500" fill="hold"/>
                                        <p:tgtEl>
                                          <p:spTgt spid="20"/>
                                        </p:tgtEl>
                                        <p:attrNameLst>
                                          <p:attrName>ppt_y</p:attrName>
                                        </p:attrNameLst>
                                      </p:cBhvr>
                                      <p:tavLst>
                                        <p:tav tm="0">
                                          <p:val>
                                            <p:strVal val="#ppt_y+0.1"/>
                                          </p:val>
                                        </p:tav>
                                        <p:tav tm="100000">
                                          <p:val>
                                            <p:strVal val="#ppt_y"/>
                                          </p:val>
                                        </p:tav>
                                      </p:tavLst>
                                    </p:anim>
                                    <p:animEffect transition="in" filter="fade">
                                      <p:cBhvr>
                                        <p:cTn id="65" dur="500"/>
                                        <p:tgtEl>
                                          <p:spTgt spid="20"/>
                                        </p:tgtEl>
                                      </p:cBhvr>
                                    </p:animEffect>
                                  </p:childTnLst>
                                </p:cTn>
                              </p:par>
                              <p:par>
                                <p:cTn id="66" presetID="2" presetClass="entr" presetSubtype="4" fill="hold" grpId="0" nodeType="withEffect">
                                  <p:stCondLst>
                                    <p:cond delay="0"/>
                                  </p:stCondLst>
                                  <p:childTnLst>
                                    <p:set>
                                      <p:cBhvr>
                                        <p:cTn id="67" dur="1" fill="hold">
                                          <p:stCondLst>
                                            <p:cond delay="0"/>
                                          </p:stCondLst>
                                        </p:cTn>
                                        <p:tgtEl>
                                          <p:spTgt spid="21"/>
                                        </p:tgtEl>
                                        <p:attrNameLst>
                                          <p:attrName>style.visibility</p:attrName>
                                        </p:attrNameLst>
                                      </p:cBhvr>
                                      <p:to>
                                        <p:strVal val="visible"/>
                                      </p:to>
                                    </p:set>
                                    <p:anim calcmode="lin" valueType="num">
                                      <p:cBhvr additive="base">
                                        <p:cTn id="68" dur="500" fill="hold"/>
                                        <p:tgtEl>
                                          <p:spTgt spid="21"/>
                                        </p:tgtEl>
                                        <p:attrNameLst>
                                          <p:attrName>ppt_x</p:attrName>
                                        </p:attrNameLst>
                                      </p:cBhvr>
                                      <p:tavLst>
                                        <p:tav tm="0">
                                          <p:val>
                                            <p:strVal val="#ppt_x"/>
                                          </p:val>
                                        </p:tav>
                                        <p:tav tm="100000">
                                          <p:val>
                                            <p:strVal val="#ppt_x"/>
                                          </p:val>
                                        </p:tav>
                                      </p:tavLst>
                                    </p:anim>
                                    <p:anim calcmode="lin" valueType="num">
                                      <p:cBhvr additive="base">
                                        <p:cTn id="69" dur="500" fill="hold"/>
                                        <p:tgtEl>
                                          <p:spTgt spid="21"/>
                                        </p:tgtEl>
                                        <p:attrNameLst>
                                          <p:attrName>ppt_y</p:attrName>
                                        </p:attrNameLst>
                                      </p:cBhvr>
                                      <p:tavLst>
                                        <p:tav tm="0">
                                          <p:val>
                                            <p:strVal val="#ppt_y+0.1"/>
                                          </p:val>
                                        </p:tav>
                                        <p:tav tm="100000">
                                          <p:val>
                                            <p:strVal val="#ppt_y"/>
                                          </p:val>
                                        </p:tav>
                                      </p:tavLst>
                                    </p:anim>
                                    <p:animEffect transition="in" filter="fade">
                                      <p:cBhvr>
                                        <p:cTn id="7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1"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1"/>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Querying Through a Junction Table</a:t>
            </a:r>
            <a:endParaRPr lang="en-US" sz="2800" dirty="0"/>
          </a:p>
        </p:txBody>
      </p:sp>
      <p:sp>
        <p:nvSpPr>
          <p:cNvPr id="3" name="Text 2"/>
          <p:cNvSpPr txBox="1"/>
          <p:nvPr/>
        </p:nvSpPr>
        <p:spPr>
          <a:xfrm>
            <a:off x="457200" y="914400"/>
            <a:ext cx="8229600" cy="502920"/>
          </a:xfrm>
          <a:prstGeom prst="roundRect">
            <a:avLst>
              <a:gd name="adj" fmla="val 14545"/>
            </a:avLst>
          </a:prstGeom>
          <a:solidFill>
            <a:srgbClr val="EDE9FE"/>
          </a:solidFill>
          <a:ln w="12700">
            <a:solidFill>
              <a:srgbClr val="EDE9FE"/>
            </a:solidFill>
            <a:prstDash val="solid"/>
          </a:ln>
        </p:spPr>
        <p:txBody>
          <a:bodyPr wrap="square" lIns="164592" tIns="0" rIns="164592" bIns="0" rtlCol="0" anchor="ctr"/>
          <a:lstStyle/>
          <a:p>
            <a:pPr marL="0" indent="0">
              <a:buNone/>
            </a:pPr>
            <a:r>
              <a:rPr lang="en-US" sz="1400" b="1" dirty="0">
                <a:solidFill>
                  <a:srgbClr val="6D28D9"/>
                </a:solidFill>
                <a:latin typeface="Calibri" pitchFamily="34" charset="0"/>
                <a:ea typeface="Calibri" pitchFamily="34" charset="-122"/>
                <a:cs typeface="Calibri" pitchFamily="34" charset="-120"/>
              </a:rPr>
              <a:t>TASK   </a:t>
            </a:r>
            <a:r>
              <a:rPr lang="en-US" sz="1400" dirty="0">
                <a:solidFill>
                  <a:srgbClr val="0F172A"/>
                </a:solidFill>
                <a:latin typeface="Calibri" pitchFamily="34" charset="0"/>
                <a:ea typeface="Calibri" pitchFamily="34" charset="-122"/>
                <a:cs typeface="Calibri" pitchFamily="34" charset="-120"/>
              </a:rPr>
              <a:t>List each customer with the names of the products they hold.</a:t>
            </a:r>
            <a:endParaRPr lang="en-US" sz="1400" dirty="0"/>
          </a:p>
        </p:txBody>
      </p:sp>
      <p:sp>
        <p:nvSpPr>
          <p:cNvPr id="4" name="a1f_codebg3"/>
          <p:cNvSpPr/>
          <p:nvPr/>
        </p:nvSpPr>
        <p:spPr>
          <a:xfrm>
            <a:off x="457200" y="1645920"/>
            <a:ext cx="4114800" cy="2496312"/>
          </a:xfrm>
          <a:prstGeom prst="roundRect">
            <a:avLst>
              <a:gd name="adj" fmla="val 3150"/>
            </a:avLst>
          </a:prstGeom>
          <a:solidFill>
            <a:srgbClr val="1E293B"/>
          </a:solidFill>
          <a:ln w="12700">
            <a:solidFill>
              <a:srgbClr val="1E293B"/>
            </a:solidFill>
            <a:prstDash val="solid"/>
          </a:ln>
        </p:spPr>
      </p:sp>
      <p:sp>
        <p:nvSpPr>
          <p:cNvPr id="5" name="a1wd0_code4"/>
          <p:cNvSpPr txBox="1"/>
          <p:nvPr/>
        </p:nvSpPr>
        <p:spPr>
          <a:xfrm>
            <a:off x="640080" y="1783080"/>
            <a:ext cx="3794760" cy="246888"/>
          </a:xfrm>
          <a:prstGeom prst="rect">
            <a:avLst/>
          </a:prstGeom>
          <a:noFill/>
          <a:ln/>
        </p:spPr>
        <p:txBody>
          <a:bodyPr wrap="square" lIns="0" tIns="0" rIns="0" bIns="0" rtlCol="0" anchor="ctr"/>
          <a:lstStyle/>
          <a:p>
            <a:pPr marL="0" indent="0">
              <a:buNone/>
            </a:pPr>
            <a:r>
              <a:rPr lang="en-US" sz="1100" b="1" dirty="0">
                <a:solidFill>
                  <a:srgbClr val="C4B5FD"/>
                </a:solidFill>
                <a:latin typeface="Courier New" pitchFamily="34" charset="0"/>
                <a:ea typeface="Courier New" pitchFamily="34" charset="-122"/>
                <a:cs typeface="Courier New" pitchFamily="34" charset="-120"/>
              </a:rPr>
              <a:t>SELECT</a:t>
            </a:r>
            <a:endParaRPr lang="en-US" sz="1100" dirty="0"/>
          </a:p>
        </p:txBody>
      </p:sp>
      <p:sp>
        <p:nvSpPr>
          <p:cNvPr id="6" name="a1wd150_code5"/>
          <p:cNvSpPr txBox="1"/>
          <p:nvPr/>
        </p:nvSpPr>
        <p:spPr>
          <a:xfrm>
            <a:off x="640080" y="2029968"/>
            <a:ext cx="3794760" cy="246888"/>
          </a:xfrm>
          <a:prstGeom prst="rect">
            <a:avLst/>
          </a:prstGeom>
          <a:noFill/>
          <a:ln/>
        </p:spPr>
        <p:txBody>
          <a:bodyPr wrap="square" lIns="0" tIns="0" rIns="0" bIns="0" rtlCol="0" anchor="ctr"/>
          <a:lstStyle/>
          <a:p>
            <a:pPr marL="0" indent="0">
              <a:buNone/>
            </a:pPr>
            <a:r>
              <a:rPr lang="en-US" sz="1100" dirty="0">
                <a:solidFill>
                  <a:srgbClr val="E2E8F0"/>
                </a:solidFill>
                <a:latin typeface="Courier New" pitchFamily="34" charset="0"/>
                <a:ea typeface="Courier New" pitchFamily="34" charset="-122"/>
                <a:cs typeface="Courier New" pitchFamily="34" charset="-120"/>
              </a:rPr>
              <a:t>  </a:t>
            </a:r>
            <a:r>
              <a:rPr lang="en-US" sz="1100" dirty="0">
                <a:solidFill>
                  <a:srgbClr val="5EEAD4"/>
                </a:solidFill>
                <a:latin typeface="Courier New" pitchFamily="34" charset="0"/>
                <a:ea typeface="Courier New" pitchFamily="34" charset="-122"/>
                <a:cs typeface="Courier New" pitchFamily="34" charset="-120"/>
              </a:rPr>
              <a:t>c</a:t>
            </a:r>
            <a:r>
              <a:rPr lang="en-US" sz="1100" dirty="0">
                <a:solidFill>
                  <a:srgbClr val="E2E8F0"/>
                </a:solidFill>
                <a:latin typeface="Courier New" pitchFamily="34" charset="0"/>
                <a:ea typeface="Courier New" pitchFamily="34" charset="-122"/>
                <a:cs typeface="Courier New" pitchFamily="34" charset="-120"/>
              </a:rPr>
              <a:t>.first_name,</a:t>
            </a:r>
            <a:endParaRPr lang="en-US" sz="1100" dirty="0"/>
          </a:p>
        </p:txBody>
      </p:sp>
      <p:sp>
        <p:nvSpPr>
          <p:cNvPr id="7" name="a1wd300_code6"/>
          <p:cNvSpPr txBox="1"/>
          <p:nvPr/>
        </p:nvSpPr>
        <p:spPr>
          <a:xfrm>
            <a:off x="640080" y="2276856"/>
            <a:ext cx="3794760" cy="246888"/>
          </a:xfrm>
          <a:prstGeom prst="rect">
            <a:avLst/>
          </a:prstGeom>
          <a:noFill/>
          <a:ln/>
        </p:spPr>
        <p:txBody>
          <a:bodyPr wrap="square" lIns="0" tIns="0" rIns="0" bIns="0" rtlCol="0" anchor="ctr"/>
          <a:lstStyle/>
          <a:p>
            <a:pPr marL="0" indent="0">
              <a:buNone/>
            </a:pPr>
            <a:r>
              <a:rPr lang="en-US" sz="1100" dirty="0">
                <a:solidFill>
                  <a:srgbClr val="E2E8F0"/>
                </a:solidFill>
                <a:latin typeface="Courier New" pitchFamily="34" charset="0"/>
                <a:ea typeface="Courier New" pitchFamily="34" charset="-122"/>
                <a:cs typeface="Courier New" pitchFamily="34" charset="-120"/>
              </a:rPr>
              <a:t>  p.product_name,</a:t>
            </a:r>
            <a:endParaRPr lang="en-US" sz="1100" dirty="0"/>
          </a:p>
        </p:txBody>
      </p:sp>
      <p:sp>
        <p:nvSpPr>
          <p:cNvPr id="8" name="a1wd450_code7"/>
          <p:cNvSpPr txBox="1"/>
          <p:nvPr/>
        </p:nvSpPr>
        <p:spPr>
          <a:xfrm>
            <a:off x="640080" y="2523744"/>
            <a:ext cx="3794760" cy="246888"/>
          </a:xfrm>
          <a:prstGeom prst="rect">
            <a:avLst/>
          </a:prstGeom>
          <a:noFill/>
          <a:ln/>
        </p:spPr>
        <p:txBody>
          <a:bodyPr wrap="square" lIns="0" tIns="0" rIns="0" bIns="0" rtlCol="0" anchor="ctr"/>
          <a:lstStyle/>
          <a:p>
            <a:pPr marL="0" indent="0">
              <a:buNone/>
            </a:pPr>
            <a:r>
              <a:rPr lang="en-US" sz="1100" dirty="0">
                <a:solidFill>
                  <a:srgbClr val="E2E8F0"/>
                </a:solidFill>
                <a:latin typeface="Courier New" pitchFamily="34" charset="0"/>
                <a:ea typeface="Courier New" pitchFamily="34" charset="-122"/>
                <a:cs typeface="Courier New" pitchFamily="34" charset="-120"/>
              </a:rPr>
              <a:t>  cp.enrolled_on</a:t>
            </a:r>
            <a:endParaRPr lang="en-US" sz="1100" dirty="0"/>
          </a:p>
        </p:txBody>
      </p:sp>
      <p:sp>
        <p:nvSpPr>
          <p:cNvPr id="9" name="a1wd600_code8"/>
          <p:cNvSpPr txBox="1"/>
          <p:nvPr/>
        </p:nvSpPr>
        <p:spPr>
          <a:xfrm>
            <a:off x="640080" y="2770632"/>
            <a:ext cx="3794760" cy="246888"/>
          </a:xfrm>
          <a:prstGeom prst="rect">
            <a:avLst/>
          </a:prstGeom>
          <a:noFill/>
          <a:ln/>
        </p:spPr>
        <p:txBody>
          <a:bodyPr wrap="square" lIns="0" tIns="0" rIns="0" bIns="0" rtlCol="0" anchor="ctr"/>
          <a:lstStyle/>
          <a:p>
            <a:pPr marL="0" indent="0">
              <a:buNone/>
            </a:pPr>
            <a:r>
              <a:rPr lang="en-US" sz="1100" b="1" dirty="0">
                <a:solidFill>
                  <a:srgbClr val="C4B5FD"/>
                </a:solidFill>
                <a:latin typeface="Courier New" pitchFamily="34" charset="0"/>
                <a:ea typeface="Courier New" pitchFamily="34" charset="-122"/>
                <a:cs typeface="Courier New" pitchFamily="34" charset="-120"/>
              </a:rPr>
              <a:t>FROM</a:t>
            </a:r>
            <a:r>
              <a:rPr lang="en-US" sz="1100" dirty="0">
                <a:solidFill>
                  <a:srgbClr val="E2E8F0"/>
                </a:solidFill>
                <a:latin typeface="Courier New" pitchFamily="34" charset="0"/>
                <a:ea typeface="Courier New" pitchFamily="34" charset="-122"/>
                <a:cs typeface="Courier New" pitchFamily="34" charset="-120"/>
              </a:rPr>
              <a:t> customer </a:t>
            </a:r>
            <a:r>
              <a:rPr lang="en-US" sz="1100" b="1" dirty="0">
                <a:solidFill>
                  <a:srgbClr val="C4B5FD"/>
                </a:solidFill>
                <a:latin typeface="Courier New" pitchFamily="34" charset="0"/>
                <a:ea typeface="Courier New" pitchFamily="34" charset="-122"/>
                <a:cs typeface="Courier New" pitchFamily="34" charset="-120"/>
              </a:rPr>
              <a:t>AS</a:t>
            </a:r>
            <a:r>
              <a:rPr lang="en-US" sz="1100" dirty="0">
                <a:solidFill>
                  <a:srgbClr val="E2E8F0"/>
                </a:solidFill>
                <a:latin typeface="Courier New" pitchFamily="34" charset="0"/>
                <a:ea typeface="Courier New" pitchFamily="34" charset="-122"/>
                <a:cs typeface="Courier New" pitchFamily="34" charset="-120"/>
              </a:rPr>
              <a:t> </a:t>
            </a:r>
            <a:r>
              <a:rPr lang="en-US" sz="1100" dirty="0">
                <a:solidFill>
                  <a:srgbClr val="5EEAD4"/>
                </a:solidFill>
                <a:latin typeface="Courier New" pitchFamily="34" charset="0"/>
                <a:ea typeface="Courier New" pitchFamily="34" charset="-122"/>
                <a:cs typeface="Courier New" pitchFamily="34" charset="-120"/>
              </a:rPr>
              <a:t>c</a:t>
            </a:r>
            <a:endParaRPr lang="en-US" sz="1100" dirty="0"/>
          </a:p>
        </p:txBody>
      </p:sp>
      <p:sp>
        <p:nvSpPr>
          <p:cNvPr id="10" name="a1wd750_code9"/>
          <p:cNvSpPr txBox="1"/>
          <p:nvPr/>
        </p:nvSpPr>
        <p:spPr>
          <a:xfrm>
            <a:off x="640080" y="3017520"/>
            <a:ext cx="3794760" cy="246888"/>
          </a:xfrm>
          <a:prstGeom prst="rect">
            <a:avLst/>
          </a:prstGeom>
          <a:noFill/>
          <a:ln/>
        </p:spPr>
        <p:txBody>
          <a:bodyPr wrap="square" lIns="0" tIns="0" rIns="0" bIns="0" rtlCol="0" anchor="ctr"/>
          <a:lstStyle/>
          <a:p>
            <a:pPr marL="0" indent="0">
              <a:buNone/>
            </a:pPr>
            <a:r>
              <a:rPr lang="en-US" sz="1100" b="1" dirty="0">
                <a:solidFill>
                  <a:srgbClr val="C4B5FD"/>
                </a:solidFill>
                <a:latin typeface="Courier New" pitchFamily="34" charset="0"/>
                <a:ea typeface="Courier New" pitchFamily="34" charset="-122"/>
                <a:cs typeface="Courier New" pitchFamily="34" charset="-120"/>
              </a:rPr>
              <a:t>JOIN</a:t>
            </a:r>
            <a:r>
              <a:rPr lang="en-US" sz="1100" dirty="0">
                <a:solidFill>
                  <a:srgbClr val="E2E8F0"/>
                </a:solidFill>
                <a:latin typeface="Courier New" pitchFamily="34" charset="0"/>
                <a:ea typeface="Courier New" pitchFamily="34" charset="-122"/>
                <a:cs typeface="Courier New" pitchFamily="34" charset="-120"/>
              </a:rPr>
              <a:t> customer_product </a:t>
            </a:r>
            <a:r>
              <a:rPr lang="en-US" sz="1100" b="1" dirty="0">
                <a:solidFill>
                  <a:srgbClr val="C4B5FD"/>
                </a:solidFill>
                <a:latin typeface="Courier New" pitchFamily="34" charset="0"/>
                <a:ea typeface="Courier New" pitchFamily="34" charset="-122"/>
                <a:cs typeface="Courier New" pitchFamily="34" charset="-120"/>
              </a:rPr>
              <a:t>AS</a:t>
            </a:r>
            <a:r>
              <a:rPr lang="en-US" sz="1100" dirty="0">
                <a:solidFill>
                  <a:srgbClr val="E2E8F0"/>
                </a:solidFill>
                <a:latin typeface="Courier New" pitchFamily="34" charset="0"/>
                <a:ea typeface="Courier New" pitchFamily="34" charset="-122"/>
                <a:cs typeface="Courier New" pitchFamily="34" charset="-120"/>
              </a:rPr>
              <a:t> cp</a:t>
            </a:r>
            <a:endParaRPr lang="en-US" sz="1100" dirty="0"/>
          </a:p>
        </p:txBody>
      </p:sp>
      <p:sp>
        <p:nvSpPr>
          <p:cNvPr id="11" name="a1wd900_code10"/>
          <p:cNvSpPr txBox="1"/>
          <p:nvPr/>
        </p:nvSpPr>
        <p:spPr>
          <a:xfrm>
            <a:off x="640080" y="3264408"/>
            <a:ext cx="3794760" cy="246888"/>
          </a:xfrm>
          <a:prstGeom prst="rect">
            <a:avLst/>
          </a:prstGeom>
          <a:noFill/>
          <a:ln/>
        </p:spPr>
        <p:txBody>
          <a:bodyPr wrap="square" lIns="0" tIns="0" rIns="0" bIns="0" rtlCol="0" anchor="ctr"/>
          <a:lstStyle/>
          <a:p>
            <a:pPr marL="0" indent="0">
              <a:buNone/>
            </a:pPr>
            <a:r>
              <a:rPr lang="en-US" sz="1100" dirty="0">
                <a:solidFill>
                  <a:srgbClr val="E2E8F0"/>
                </a:solidFill>
                <a:latin typeface="Courier New" pitchFamily="34" charset="0"/>
                <a:ea typeface="Courier New" pitchFamily="34" charset="-122"/>
                <a:cs typeface="Courier New" pitchFamily="34" charset="-120"/>
              </a:rPr>
              <a:t>  </a:t>
            </a:r>
            <a:r>
              <a:rPr lang="en-US" sz="1100" b="1" dirty="0">
                <a:solidFill>
                  <a:srgbClr val="C4B5FD"/>
                </a:solidFill>
                <a:latin typeface="Courier New" pitchFamily="34" charset="0"/>
                <a:ea typeface="Courier New" pitchFamily="34" charset="-122"/>
                <a:cs typeface="Courier New" pitchFamily="34" charset="-120"/>
              </a:rPr>
              <a:t>ON</a:t>
            </a:r>
            <a:r>
              <a:rPr lang="en-US" sz="1100" dirty="0">
                <a:solidFill>
                  <a:srgbClr val="E2E8F0"/>
                </a:solidFill>
                <a:latin typeface="Courier New" pitchFamily="34" charset="0"/>
                <a:ea typeface="Courier New" pitchFamily="34" charset="-122"/>
                <a:cs typeface="Courier New" pitchFamily="34" charset="-120"/>
              </a:rPr>
              <a:t> cp.customer_id = </a:t>
            </a:r>
            <a:r>
              <a:rPr lang="en-US" sz="1100" dirty="0">
                <a:solidFill>
                  <a:srgbClr val="5EEAD4"/>
                </a:solidFill>
                <a:latin typeface="Courier New" pitchFamily="34" charset="0"/>
                <a:ea typeface="Courier New" pitchFamily="34" charset="-122"/>
                <a:cs typeface="Courier New" pitchFamily="34" charset="-120"/>
              </a:rPr>
              <a:t>c</a:t>
            </a:r>
            <a:r>
              <a:rPr lang="en-US" sz="1100" dirty="0">
                <a:solidFill>
                  <a:srgbClr val="E2E8F0"/>
                </a:solidFill>
                <a:latin typeface="Courier New" pitchFamily="34" charset="0"/>
                <a:ea typeface="Courier New" pitchFamily="34" charset="-122"/>
                <a:cs typeface="Courier New" pitchFamily="34" charset="-120"/>
              </a:rPr>
              <a:t>.customer_id</a:t>
            </a:r>
            <a:endParaRPr lang="en-US" sz="1100" dirty="0"/>
          </a:p>
        </p:txBody>
      </p:sp>
      <p:sp>
        <p:nvSpPr>
          <p:cNvPr id="12" name="a1wd1050_code11"/>
          <p:cNvSpPr txBox="1"/>
          <p:nvPr/>
        </p:nvSpPr>
        <p:spPr>
          <a:xfrm>
            <a:off x="640080" y="3511296"/>
            <a:ext cx="3794760" cy="246888"/>
          </a:xfrm>
          <a:prstGeom prst="rect">
            <a:avLst/>
          </a:prstGeom>
          <a:noFill/>
          <a:ln/>
        </p:spPr>
        <p:txBody>
          <a:bodyPr wrap="square" lIns="0" tIns="0" rIns="0" bIns="0" rtlCol="0" anchor="ctr"/>
          <a:lstStyle/>
          <a:p>
            <a:pPr marL="0" indent="0">
              <a:buNone/>
            </a:pPr>
            <a:r>
              <a:rPr lang="en-US" sz="1100" b="1" dirty="0">
                <a:solidFill>
                  <a:srgbClr val="C4B5FD"/>
                </a:solidFill>
                <a:latin typeface="Courier New" pitchFamily="34" charset="0"/>
                <a:ea typeface="Courier New" pitchFamily="34" charset="-122"/>
                <a:cs typeface="Courier New" pitchFamily="34" charset="-120"/>
              </a:rPr>
              <a:t>JOIN</a:t>
            </a:r>
            <a:r>
              <a:rPr lang="en-US" sz="1100" dirty="0">
                <a:solidFill>
                  <a:srgbClr val="E2E8F0"/>
                </a:solidFill>
                <a:latin typeface="Courier New" pitchFamily="34" charset="0"/>
                <a:ea typeface="Courier New" pitchFamily="34" charset="-122"/>
                <a:cs typeface="Courier New" pitchFamily="34" charset="-120"/>
              </a:rPr>
              <a:t> product </a:t>
            </a:r>
            <a:r>
              <a:rPr lang="en-US" sz="1100" b="1" dirty="0">
                <a:solidFill>
                  <a:srgbClr val="C4B5FD"/>
                </a:solidFill>
                <a:latin typeface="Courier New" pitchFamily="34" charset="0"/>
                <a:ea typeface="Courier New" pitchFamily="34" charset="-122"/>
                <a:cs typeface="Courier New" pitchFamily="34" charset="-120"/>
              </a:rPr>
              <a:t>AS</a:t>
            </a:r>
            <a:r>
              <a:rPr lang="en-US" sz="1100" dirty="0">
                <a:solidFill>
                  <a:srgbClr val="E2E8F0"/>
                </a:solidFill>
                <a:latin typeface="Courier New" pitchFamily="34" charset="0"/>
                <a:ea typeface="Courier New" pitchFamily="34" charset="-122"/>
                <a:cs typeface="Courier New" pitchFamily="34" charset="-120"/>
              </a:rPr>
              <a:t> p</a:t>
            </a:r>
            <a:endParaRPr lang="en-US" sz="1100" dirty="0"/>
          </a:p>
        </p:txBody>
      </p:sp>
      <p:sp>
        <p:nvSpPr>
          <p:cNvPr id="13" name="a1wd1200_code12"/>
          <p:cNvSpPr txBox="1"/>
          <p:nvPr/>
        </p:nvSpPr>
        <p:spPr>
          <a:xfrm>
            <a:off x="640080" y="3758184"/>
            <a:ext cx="3794760" cy="246888"/>
          </a:xfrm>
          <a:prstGeom prst="rect">
            <a:avLst/>
          </a:prstGeom>
          <a:noFill/>
          <a:ln/>
        </p:spPr>
        <p:txBody>
          <a:bodyPr wrap="square" lIns="0" tIns="0" rIns="0" bIns="0" rtlCol="0" anchor="ctr"/>
          <a:lstStyle/>
          <a:p>
            <a:pPr marL="0" indent="0">
              <a:buNone/>
            </a:pPr>
            <a:r>
              <a:rPr lang="en-US" sz="1100" dirty="0">
                <a:solidFill>
                  <a:srgbClr val="E2E8F0"/>
                </a:solidFill>
                <a:latin typeface="Courier New" pitchFamily="34" charset="0"/>
                <a:ea typeface="Courier New" pitchFamily="34" charset="-122"/>
                <a:cs typeface="Courier New" pitchFamily="34" charset="-120"/>
              </a:rPr>
              <a:t>  </a:t>
            </a:r>
            <a:r>
              <a:rPr lang="en-US" sz="1100" b="1" dirty="0">
                <a:solidFill>
                  <a:srgbClr val="C4B5FD"/>
                </a:solidFill>
                <a:latin typeface="Courier New" pitchFamily="34" charset="0"/>
                <a:ea typeface="Courier New" pitchFamily="34" charset="-122"/>
                <a:cs typeface="Courier New" pitchFamily="34" charset="-120"/>
              </a:rPr>
              <a:t>ON</a:t>
            </a:r>
            <a:r>
              <a:rPr lang="en-US" sz="1100" dirty="0">
                <a:solidFill>
                  <a:srgbClr val="E2E8F0"/>
                </a:solidFill>
                <a:latin typeface="Courier New" pitchFamily="34" charset="0"/>
                <a:ea typeface="Courier New" pitchFamily="34" charset="-122"/>
                <a:cs typeface="Courier New" pitchFamily="34" charset="-120"/>
              </a:rPr>
              <a:t> p.product_code = cp.product_code;</a:t>
            </a:r>
            <a:endParaRPr lang="en-US" sz="1100" dirty="0"/>
          </a:p>
        </p:txBody>
      </p:sp>
      <p:sp>
        <p:nvSpPr>
          <p:cNvPr id="14" name="a2f_l13"/>
          <p:cNvSpPr txBox="1"/>
          <p:nvPr/>
        </p:nvSpPr>
        <p:spPr>
          <a:xfrm>
            <a:off x="4846320" y="1645920"/>
            <a:ext cx="2743200" cy="256032"/>
          </a:xfrm>
          <a:prstGeom prst="rect">
            <a:avLst/>
          </a:prstGeom>
          <a:noFill/>
          <a:ln/>
        </p:spPr>
        <p:txBody>
          <a:bodyPr wrap="square" lIns="0" tIns="0" rIns="0" bIns="0" rtlCol="0" anchor="ctr"/>
          <a:lstStyle/>
          <a:p>
            <a:pPr marL="0" indent="0">
              <a:buNone/>
            </a:pPr>
            <a:r>
              <a:rPr lang="en-US" sz="1200" b="1" dirty="0">
                <a:solidFill>
                  <a:srgbClr val="6D28D9"/>
                </a:solidFill>
                <a:latin typeface="Calibri" pitchFamily="34" charset="0"/>
                <a:ea typeface="Calibri" pitchFamily="34" charset="-122"/>
                <a:cs typeface="Calibri" pitchFamily="34" charset="-120"/>
              </a:rPr>
              <a:t>Result</a:t>
            </a:r>
            <a:endParaRPr lang="en-US" sz="1200" dirty="0"/>
          </a:p>
        </p:txBody>
      </p:sp>
      <p:sp>
        <p:nvSpPr>
          <p:cNvPr id="15" name="a2f_cell14"/>
          <p:cNvSpPr txBox="1"/>
          <p:nvPr/>
        </p:nvSpPr>
        <p:spPr>
          <a:xfrm>
            <a:off x="4846320" y="1920240"/>
            <a:ext cx="914400" cy="256032"/>
          </a:xfrm>
          <a:prstGeom prst="rect">
            <a:avLst/>
          </a:prstGeom>
          <a:solidFill>
            <a:srgbClr val="0F766E"/>
          </a:solidFill>
          <a:ln w="9525">
            <a:solidFill>
              <a:srgbClr val="0F766E"/>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first_name</a:t>
            </a:r>
            <a:endParaRPr lang="en-US" sz="1100" dirty="0"/>
          </a:p>
        </p:txBody>
      </p:sp>
      <p:sp>
        <p:nvSpPr>
          <p:cNvPr id="16" name="a2wd200_cell15"/>
          <p:cNvSpPr txBox="1"/>
          <p:nvPr/>
        </p:nvSpPr>
        <p:spPr>
          <a:xfrm>
            <a:off x="4846320" y="2176272"/>
            <a:ext cx="91440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Rohan</a:t>
            </a:r>
            <a:endParaRPr lang="en-US" sz="1100" dirty="0"/>
          </a:p>
        </p:txBody>
      </p:sp>
      <p:sp>
        <p:nvSpPr>
          <p:cNvPr id="17" name="a2wd400_cell16"/>
          <p:cNvSpPr txBox="1"/>
          <p:nvPr/>
        </p:nvSpPr>
        <p:spPr>
          <a:xfrm>
            <a:off x="4846320" y="2432304"/>
            <a:ext cx="91440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Rohan</a:t>
            </a:r>
            <a:endParaRPr lang="en-US" sz="1100" dirty="0"/>
          </a:p>
        </p:txBody>
      </p:sp>
      <p:sp>
        <p:nvSpPr>
          <p:cNvPr id="18" name="a2wd600_cell17"/>
          <p:cNvSpPr txBox="1"/>
          <p:nvPr/>
        </p:nvSpPr>
        <p:spPr>
          <a:xfrm>
            <a:off x="4846320" y="2688336"/>
            <a:ext cx="91440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Rohan</a:t>
            </a:r>
            <a:endParaRPr lang="en-US" sz="1100" dirty="0"/>
          </a:p>
        </p:txBody>
      </p:sp>
      <p:sp>
        <p:nvSpPr>
          <p:cNvPr id="19" name="a2wd800_cell18"/>
          <p:cNvSpPr txBox="1"/>
          <p:nvPr/>
        </p:nvSpPr>
        <p:spPr>
          <a:xfrm>
            <a:off x="4846320" y="2944368"/>
            <a:ext cx="91440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Rahul</a:t>
            </a:r>
            <a:endParaRPr lang="en-US" sz="1100" dirty="0"/>
          </a:p>
        </p:txBody>
      </p:sp>
      <p:sp>
        <p:nvSpPr>
          <p:cNvPr id="20" name="a2wd1000_cell19"/>
          <p:cNvSpPr txBox="1"/>
          <p:nvPr/>
        </p:nvSpPr>
        <p:spPr>
          <a:xfrm>
            <a:off x="4846320" y="3200400"/>
            <a:ext cx="91440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Rahul</a:t>
            </a:r>
            <a:endParaRPr lang="en-US" sz="1100" dirty="0"/>
          </a:p>
        </p:txBody>
      </p:sp>
      <p:sp>
        <p:nvSpPr>
          <p:cNvPr id="21" name="a2f_cell20"/>
          <p:cNvSpPr txBox="1"/>
          <p:nvPr/>
        </p:nvSpPr>
        <p:spPr>
          <a:xfrm>
            <a:off x="5760720" y="1920240"/>
            <a:ext cx="1280160" cy="256032"/>
          </a:xfrm>
          <a:prstGeom prst="rect">
            <a:avLst/>
          </a:prstGeom>
          <a:solidFill>
            <a:srgbClr val="B45309"/>
          </a:solidFill>
          <a:ln w="9525">
            <a:solidFill>
              <a:srgbClr val="B4530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product_name</a:t>
            </a:r>
            <a:endParaRPr lang="en-US" sz="1100" dirty="0"/>
          </a:p>
        </p:txBody>
      </p:sp>
      <p:sp>
        <p:nvSpPr>
          <p:cNvPr id="22" name="a2wd200_cell21"/>
          <p:cNvSpPr txBox="1"/>
          <p:nvPr/>
        </p:nvSpPr>
        <p:spPr>
          <a:xfrm>
            <a:off x="5760720" y="2176272"/>
            <a:ext cx="128016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Fixed Deposit</a:t>
            </a:r>
            <a:endParaRPr lang="en-US" sz="1100" dirty="0"/>
          </a:p>
        </p:txBody>
      </p:sp>
      <p:sp>
        <p:nvSpPr>
          <p:cNvPr id="23" name="a2wd400_cell22"/>
          <p:cNvSpPr txBox="1"/>
          <p:nvPr/>
        </p:nvSpPr>
        <p:spPr>
          <a:xfrm>
            <a:off x="5760720" y="2432304"/>
            <a:ext cx="128016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Home Loan</a:t>
            </a:r>
            <a:endParaRPr lang="en-US" sz="1100" dirty="0"/>
          </a:p>
        </p:txBody>
      </p:sp>
      <p:sp>
        <p:nvSpPr>
          <p:cNvPr id="24" name="a2wd600_cell23"/>
          <p:cNvSpPr txBox="1"/>
          <p:nvPr/>
        </p:nvSpPr>
        <p:spPr>
          <a:xfrm>
            <a:off x="5760720" y="2688336"/>
            <a:ext cx="128016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Credit Card</a:t>
            </a:r>
            <a:endParaRPr lang="en-US" sz="1100" dirty="0"/>
          </a:p>
        </p:txBody>
      </p:sp>
      <p:sp>
        <p:nvSpPr>
          <p:cNvPr id="25" name="a2wd800_cell24"/>
          <p:cNvSpPr txBox="1"/>
          <p:nvPr/>
        </p:nvSpPr>
        <p:spPr>
          <a:xfrm>
            <a:off x="5760720" y="2944368"/>
            <a:ext cx="128016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Home Loan</a:t>
            </a:r>
            <a:endParaRPr lang="en-US" sz="1100" dirty="0"/>
          </a:p>
        </p:txBody>
      </p:sp>
      <p:sp>
        <p:nvSpPr>
          <p:cNvPr id="26" name="a2wd1000_cell25"/>
          <p:cNvSpPr txBox="1"/>
          <p:nvPr/>
        </p:nvSpPr>
        <p:spPr>
          <a:xfrm>
            <a:off x="5760720" y="3200400"/>
            <a:ext cx="128016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Credit Card</a:t>
            </a:r>
            <a:endParaRPr lang="en-US" sz="1100" dirty="0"/>
          </a:p>
        </p:txBody>
      </p:sp>
      <p:sp>
        <p:nvSpPr>
          <p:cNvPr id="27" name="a2f_cell26"/>
          <p:cNvSpPr txBox="1"/>
          <p:nvPr/>
        </p:nvSpPr>
        <p:spPr>
          <a:xfrm>
            <a:off x="7040880" y="1920240"/>
            <a:ext cx="914400" cy="256032"/>
          </a:xfrm>
          <a:prstGeom prst="rect">
            <a:avLst/>
          </a:prstGeom>
          <a:solidFill>
            <a:srgbClr val="6D28D9"/>
          </a:solidFill>
          <a:ln w="9525">
            <a:solidFill>
              <a:srgbClr val="6D28D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enrolled_on</a:t>
            </a:r>
            <a:endParaRPr lang="en-US" sz="1100" dirty="0"/>
          </a:p>
        </p:txBody>
      </p:sp>
      <p:sp>
        <p:nvSpPr>
          <p:cNvPr id="28" name="a2wd200_cell27"/>
          <p:cNvSpPr txBox="1"/>
          <p:nvPr/>
        </p:nvSpPr>
        <p:spPr>
          <a:xfrm>
            <a:off x="7040880" y="2176272"/>
            <a:ext cx="91440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2019-06-01</a:t>
            </a:r>
            <a:endParaRPr lang="en-US" sz="1100" dirty="0"/>
          </a:p>
        </p:txBody>
      </p:sp>
      <p:sp>
        <p:nvSpPr>
          <p:cNvPr id="29" name="a2wd400_cell28"/>
          <p:cNvSpPr txBox="1"/>
          <p:nvPr/>
        </p:nvSpPr>
        <p:spPr>
          <a:xfrm>
            <a:off x="7040880" y="2432304"/>
            <a:ext cx="91440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2021-02-15</a:t>
            </a:r>
            <a:endParaRPr lang="en-US" sz="1100" dirty="0"/>
          </a:p>
        </p:txBody>
      </p:sp>
      <p:sp>
        <p:nvSpPr>
          <p:cNvPr id="30" name="a2wd600_cell29"/>
          <p:cNvSpPr txBox="1"/>
          <p:nvPr/>
        </p:nvSpPr>
        <p:spPr>
          <a:xfrm>
            <a:off x="7040880" y="2688336"/>
            <a:ext cx="91440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2019-06-01</a:t>
            </a:r>
            <a:endParaRPr lang="en-US" sz="1100" dirty="0"/>
          </a:p>
        </p:txBody>
      </p:sp>
      <p:sp>
        <p:nvSpPr>
          <p:cNvPr id="31" name="a2wd800_cell30"/>
          <p:cNvSpPr txBox="1"/>
          <p:nvPr/>
        </p:nvSpPr>
        <p:spPr>
          <a:xfrm>
            <a:off x="7040880" y="2944368"/>
            <a:ext cx="91440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2022-09-10</a:t>
            </a:r>
            <a:endParaRPr lang="en-US" sz="1100" dirty="0"/>
          </a:p>
        </p:txBody>
      </p:sp>
      <p:sp>
        <p:nvSpPr>
          <p:cNvPr id="32" name="a2wd1000_cell31"/>
          <p:cNvSpPr txBox="1"/>
          <p:nvPr/>
        </p:nvSpPr>
        <p:spPr>
          <a:xfrm>
            <a:off x="7040880" y="3200400"/>
            <a:ext cx="91440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2020-01-20</a:t>
            </a:r>
            <a:endParaRPr lang="en-US" sz="1100" dirty="0"/>
          </a:p>
        </p:txBody>
      </p:sp>
      <p:sp>
        <p:nvSpPr>
          <p:cNvPr id="33" name="a3u_nb32"/>
          <p:cNvSpPr/>
          <p:nvPr/>
        </p:nvSpPr>
        <p:spPr>
          <a:xfrm>
            <a:off x="4846320" y="3611880"/>
            <a:ext cx="3840480" cy="1051560"/>
          </a:xfrm>
          <a:prstGeom prst="roundRect">
            <a:avLst>
              <a:gd name="adj" fmla="val 9412"/>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pic>
        <p:nvPicPr>
          <p:cNvPr id="34" name="a3u_ni33" descr="image.png"/>
          <p:cNvPicPr>
            <a:picLocks noChangeAspect="1"/>
          </p:cNvPicPr>
          <p:nvPr/>
        </p:nvPicPr>
        <p:blipFill>
          <a:blip r:embed="rId3"/>
          <a:stretch>
            <a:fillRect/>
          </a:stretch>
        </p:blipFill>
        <p:spPr>
          <a:xfrm>
            <a:off x="4983480" y="3977640"/>
            <a:ext cx="320040" cy="320040"/>
          </a:xfrm>
          <a:prstGeom prst="rect">
            <a:avLst/>
          </a:prstGeom>
        </p:spPr>
      </p:pic>
      <p:sp>
        <p:nvSpPr>
          <p:cNvPr id="35" name="a3u_nt34"/>
          <p:cNvSpPr txBox="1"/>
          <p:nvPr/>
        </p:nvSpPr>
        <p:spPr>
          <a:xfrm>
            <a:off x="5394960" y="3611880"/>
            <a:ext cx="3154680" cy="1051560"/>
          </a:xfrm>
          <a:prstGeom prst="rect">
            <a:avLst/>
          </a:prstGeom>
          <a:noFill/>
          <a:ln/>
        </p:spPr>
        <p:txBody>
          <a:bodyPr wrap="square" lIns="0" tIns="0" rIns="0" bIns="0" rtlCol="0" anchor="ctr"/>
          <a:lstStyle/>
          <a:p>
            <a:pPr marL="0" indent="0">
              <a:buNone/>
            </a:pPr>
            <a:r>
              <a:rPr lang="en-US" sz="1200" b="1" dirty="0">
                <a:solidFill>
                  <a:srgbClr val="334155"/>
                </a:solidFill>
                <a:latin typeface="Calibri" pitchFamily="34" charset="0"/>
                <a:ea typeface="Calibri" pitchFamily="34" charset="-122"/>
                <a:cs typeface="Calibri" pitchFamily="34" charset="-120"/>
              </a:rPr>
              <a:t>Two joins — one per relationship. </a:t>
            </a:r>
            <a:r>
              <a:rPr lang="en-US" sz="1150" dirty="0">
                <a:solidFill>
                  <a:srgbClr val="334155"/>
                </a:solidFill>
                <a:latin typeface="Calibri" pitchFamily="34" charset="0"/>
                <a:ea typeface="Calibri" pitchFamily="34" charset="-122"/>
                <a:cs typeface="Calibri" pitchFamily="34" charset="-120"/>
              </a:rPr>
              <a:t>Compare: WHERE products LIKE '%LOAN%' on the flat table — no index, no name, no date.</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par>
                                <p:cTn id="11" presetID="22" presetClass="entr" presetSubtype="8" fill="hold" grpId="0" nodeType="withEffect">
                                  <p:stCondLst>
                                    <p:cond delay="15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par>
                                <p:cTn id="14" presetID="22" presetClass="entr" presetSubtype="8" fill="hold" grpId="0" nodeType="withEffect">
                                  <p:stCondLst>
                                    <p:cond delay="30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par>
                                <p:cTn id="17" presetID="22" presetClass="entr" presetSubtype="8" fill="hold" grpId="0" nodeType="withEffect">
                                  <p:stCondLst>
                                    <p:cond delay="45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par>
                                <p:cTn id="20" presetID="22" presetClass="entr" presetSubtype="8" fill="hold" grpId="0" nodeType="withEffect">
                                  <p:stCondLst>
                                    <p:cond delay="60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par>
                                <p:cTn id="23" presetID="22" presetClass="entr" presetSubtype="8" fill="hold" grpId="0" nodeType="withEffect">
                                  <p:stCondLst>
                                    <p:cond delay="75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500"/>
                                        <p:tgtEl>
                                          <p:spTgt spid="10"/>
                                        </p:tgtEl>
                                      </p:cBhvr>
                                    </p:animEffect>
                                  </p:childTnLst>
                                </p:cTn>
                              </p:par>
                              <p:par>
                                <p:cTn id="26" presetID="22" presetClass="entr" presetSubtype="8" fill="hold" grpId="0" nodeType="withEffect">
                                  <p:stCondLst>
                                    <p:cond delay="90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500"/>
                                        <p:tgtEl>
                                          <p:spTgt spid="11"/>
                                        </p:tgtEl>
                                      </p:cBhvr>
                                    </p:animEffect>
                                  </p:childTnLst>
                                </p:cTn>
                              </p:par>
                              <p:par>
                                <p:cTn id="29" presetID="22" presetClass="entr" presetSubtype="8" fill="hold" grpId="0" nodeType="withEffect">
                                  <p:stCondLst>
                                    <p:cond delay="105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500"/>
                                        <p:tgtEl>
                                          <p:spTgt spid="12"/>
                                        </p:tgtEl>
                                      </p:cBhvr>
                                    </p:animEffect>
                                  </p:childTnLst>
                                </p:cTn>
                              </p:par>
                              <p:par>
                                <p:cTn id="32" presetID="22" presetClass="entr" presetSubtype="8" fill="hold" grpId="0" nodeType="withEffect">
                                  <p:stCondLst>
                                    <p:cond delay="1200"/>
                                  </p:stCondLst>
                                  <p:childTnLst>
                                    <p:set>
                                      <p:cBhvr>
                                        <p:cTn id="33" dur="1" fill="hold">
                                          <p:stCondLst>
                                            <p:cond delay="0"/>
                                          </p:stCondLst>
                                        </p:cTn>
                                        <p:tgtEl>
                                          <p:spTgt spid="13"/>
                                        </p:tgtEl>
                                        <p:attrNameLst>
                                          <p:attrName>style.visibility</p:attrName>
                                        </p:attrNameLst>
                                      </p:cBhvr>
                                      <p:to>
                                        <p:strVal val="visible"/>
                                      </p:to>
                                    </p:set>
                                    <p:animEffect transition="in" filter="wipe(left)">
                                      <p:cBhvr>
                                        <p:cTn id="34" dur="500"/>
                                        <p:tgtEl>
                                          <p:spTgt spid="1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par>
                                <p:cTn id="43" presetID="22" presetClass="entr" presetSubtype="8" fill="hold" grpId="0" nodeType="withEffect">
                                  <p:stCondLst>
                                    <p:cond delay="200"/>
                                  </p:stCondLst>
                                  <p:childTnLst>
                                    <p:set>
                                      <p:cBhvr>
                                        <p:cTn id="44" dur="1" fill="hold">
                                          <p:stCondLst>
                                            <p:cond delay="0"/>
                                          </p:stCondLst>
                                        </p:cTn>
                                        <p:tgtEl>
                                          <p:spTgt spid="16"/>
                                        </p:tgtEl>
                                        <p:attrNameLst>
                                          <p:attrName>style.visibility</p:attrName>
                                        </p:attrNameLst>
                                      </p:cBhvr>
                                      <p:to>
                                        <p:strVal val="visible"/>
                                      </p:to>
                                    </p:set>
                                    <p:animEffect transition="in" filter="wipe(left)">
                                      <p:cBhvr>
                                        <p:cTn id="45" dur="500"/>
                                        <p:tgtEl>
                                          <p:spTgt spid="16"/>
                                        </p:tgtEl>
                                      </p:cBhvr>
                                    </p:animEffect>
                                  </p:childTnLst>
                                </p:cTn>
                              </p:par>
                              <p:par>
                                <p:cTn id="46" presetID="22" presetClass="entr" presetSubtype="8" fill="hold" grpId="0" nodeType="withEffect">
                                  <p:stCondLst>
                                    <p:cond delay="400"/>
                                  </p:stCondLst>
                                  <p:childTnLst>
                                    <p:set>
                                      <p:cBhvr>
                                        <p:cTn id="47" dur="1" fill="hold">
                                          <p:stCondLst>
                                            <p:cond delay="0"/>
                                          </p:stCondLst>
                                        </p:cTn>
                                        <p:tgtEl>
                                          <p:spTgt spid="17"/>
                                        </p:tgtEl>
                                        <p:attrNameLst>
                                          <p:attrName>style.visibility</p:attrName>
                                        </p:attrNameLst>
                                      </p:cBhvr>
                                      <p:to>
                                        <p:strVal val="visible"/>
                                      </p:to>
                                    </p:set>
                                    <p:animEffect transition="in" filter="wipe(left)">
                                      <p:cBhvr>
                                        <p:cTn id="48" dur="500"/>
                                        <p:tgtEl>
                                          <p:spTgt spid="17"/>
                                        </p:tgtEl>
                                      </p:cBhvr>
                                    </p:animEffect>
                                  </p:childTnLst>
                                </p:cTn>
                              </p:par>
                              <p:par>
                                <p:cTn id="49" presetID="22" presetClass="entr" presetSubtype="8" fill="hold" grpId="0" nodeType="withEffect">
                                  <p:stCondLst>
                                    <p:cond delay="600"/>
                                  </p:stCondLst>
                                  <p:childTnLst>
                                    <p:set>
                                      <p:cBhvr>
                                        <p:cTn id="50" dur="1" fill="hold">
                                          <p:stCondLst>
                                            <p:cond delay="0"/>
                                          </p:stCondLst>
                                        </p:cTn>
                                        <p:tgtEl>
                                          <p:spTgt spid="18"/>
                                        </p:tgtEl>
                                        <p:attrNameLst>
                                          <p:attrName>style.visibility</p:attrName>
                                        </p:attrNameLst>
                                      </p:cBhvr>
                                      <p:to>
                                        <p:strVal val="visible"/>
                                      </p:to>
                                    </p:set>
                                    <p:animEffect transition="in" filter="wipe(left)">
                                      <p:cBhvr>
                                        <p:cTn id="51" dur="500"/>
                                        <p:tgtEl>
                                          <p:spTgt spid="18"/>
                                        </p:tgtEl>
                                      </p:cBhvr>
                                    </p:animEffect>
                                  </p:childTnLst>
                                </p:cTn>
                              </p:par>
                              <p:par>
                                <p:cTn id="52" presetID="22" presetClass="entr" presetSubtype="8" fill="hold" grpId="0" nodeType="withEffect">
                                  <p:stCondLst>
                                    <p:cond delay="800"/>
                                  </p:stCondLst>
                                  <p:childTnLst>
                                    <p:set>
                                      <p:cBhvr>
                                        <p:cTn id="53" dur="1" fill="hold">
                                          <p:stCondLst>
                                            <p:cond delay="0"/>
                                          </p:stCondLst>
                                        </p:cTn>
                                        <p:tgtEl>
                                          <p:spTgt spid="19"/>
                                        </p:tgtEl>
                                        <p:attrNameLst>
                                          <p:attrName>style.visibility</p:attrName>
                                        </p:attrNameLst>
                                      </p:cBhvr>
                                      <p:to>
                                        <p:strVal val="visible"/>
                                      </p:to>
                                    </p:set>
                                    <p:animEffect transition="in" filter="wipe(left)">
                                      <p:cBhvr>
                                        <p:cTn id="54" dur="500"/>
                                        <p:tgtEl>
                                          <p:spTgt spid="19"/>
                                        </p:tgtEl>
                                      </p:cBhvr>
                                    </p:animEffect>
                                  </p:childTnLst>
                                </p:cTn>
                              </p:par>
                              <p:par>
                                <p:cTn id="55" presetID="22" presetClass="entr" presetSubtype="8" fill="hold" grpId="0" nodeType="withEffect">
                                  <p:stCondLst>
                                    <p:cond delay="1000"/>
                                  </p:stCondLst>
                                  <p:childTnLst>
                                    <p:set>
                                      <p:cBhvr>
                                        <p:cTn id="56" dur="1" fill="hold">
                                          <p:stCondLst>
                                            <p:cond delay="0"/>
                                          </p:stCondLst>
                                        </p:cTn>
                                        <p:tgtEl>
                                          <p:spTgt spid="20"/>
                                        </p:tgtEl>
                                        <p:attrNameLst>
                                          <p:attrName>style.visibility</p:attrName>
                                        </p:attrNameLst>
                                      </p:cBhvr>
                                      <p:to>
                                        <p:strVal val="visible"/>
                                      </p:to>
                                    </p:set>
                                    <p:animEffect transition="in" filter="wipe(left)">
                                      <p:cBhvr>
                                        <p:cTn id="57" dur="500"/>
                                        <p:tgtEl>
                                          <p:spTgt spid="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childTnLst>
                                </p:cTn>
                              </p:par>
                              <p:par>
                                <p:cTn id="61" presetID="22" presetClass="entr" presetSubtype="8" fill="hold" grpId="0" nodeType="withEffect">
                                  <p:stCondLst>
                                    <p:cond delay="200"/>
                                  </p:stCondLst>
                                  <p:childTnLst>
                                    <p:set>
                                      <p:cBhvr>
                                        <p:cTn id="62" dur="1" fill="hold">
                                          <p:stCondLst>
                                            <p:cond delay="0"/>
                                          </p:stCondLst>
                                        </p:cTn>
                                        <p:tgtEl>
                                          <p:spTgt spid="22"/>
                                        </p:tgtEl>
                                        <p:attrNameLst>
                                          <p:attrName>style.visibility</p:attrName>
                                        </p:attrNameLst>
                                      </p:cBhvr>
                                      <p:to>
                                        <p:strVal val="visible"/>
                                      </p:to>
                                    </p:set>
                                    <p:animEffect transition="in" filter="wipe(left)">
                                      <p:cBhvr>
                                        <p:cTn id="63" dur="500"/>
                                        <p:tgtEl>
                                          <p:spTgt spid="22"/>
                                        </p:tgtEl>
                                      </p:cBhvr>
                                    </p:animEffect>
                                  </p:childTnLst>
                                </p:cTn>
                              </p:par>
                              <p:par>
                                <p:cTn id="64" presetID="22" presetClass="entr" presetSubtype="8" fill="hold" grpId="0" nodeType="withEffect">
                                  <p:stCondLst>
                                    <p:cond delay="400"/>
                                  </p:stCondLst>
                                  <p:childTnLst>
                                    <p:set>
                                      <p:cBhvr>
                                        <p:cTn id="65" dur="1" fill="hold">
                                          <p:stCondLst>
                                            <p:cond delay="0"/>
                                          </p:stCondLst>
                                        </p:cTn>
                                        <p:tgtEl>
                                          <p:spTgt spid="23"/>
                                        </p:tgtEl>
                                        <p:attrNameLst>
                                          <p:attrName>style.visibility</p:attrName>
                                        </p:attrNameLst>
                                      </p:cBhvr>
                                      <p:to>
                                        <p:strVal val="visible"/>
                                      </p:to>
                                    </p:set>
                                    <p:animEffect transition="in" filter="wipe(left)">
                                      <p:cBhvr>
                                        <p:cTn id="66" dur="500"/>
                                        <p:tgtEl>
                                          <p:spTgt spid="23"/>
                                        </p:tgtEl>
                                      </p:cBhvr>
                                    </p:animEffect>
                                  </p:childTnLst>
                                </p:cTn>
                              </p:par>
                              <p:par>
                                <p:cTn id="67" presetID="22" presetClass="entr" presetSubtype="8" fill="hold" grpId="0" nodeType="withEffect">
                                  <p:stCondLst>
                                    <p:cond delay="600"/>
                                  </p:stCondLst>
                                  <p:childTnLst>
                                    <p:set>
                                      <p:cBhvr>
                                        <p:cTn id="68" dur="1" fill="hold">
                                          <p:stCondLst>
                                            <p:cond delay="0"/>
                                          </p:stCondLst>
                                        </p:cTn>
                                        <p:tgtEl>
                                          <p:spTgt spid="24"/>
                                        </p:tgtEl>
                                        <p:attrNameLst>
                                          <p:attrName>style.visibility</p:attrName>
                                        </p:attrNameLst>
                                      </p:cBhvr>
                                      <p:to>
                                        <p:strVal val="visible"/>
                                      </p:to>
                                    </p:set>
                                    <p:animEffect transition="in" filter="wipe(left)">
                                      <p:cBhvr>
                                        <p:cTn id="69" dur="500"/>
                                        <p:tgtEl>
                                          <p:spTgt spid="24"/>
                                        </p:tgtEl>
                                      </p:cBhvr>
                                    </p:animEffect>
                                  </p:childTnLst>
                                </p:cTn>
                              </p:par>
                              <p:par>
                                <p:cTn id="70" presetID="22" presetClass="entr" presetSubtype="8" fill="hold" grpId="0" nodeType="withEffect">
                                  <p:stCondLst>
                                    <p:cond delay="800"/>
                                  </p:stCondLst>
                                  <p:childTnLst>
                                    <p:set>
                                      <p:cBhvr>
                                        <p:cTn id="71" dur="1" fill="hold">
                                          <p:stCondLst>
                                            <p:cond delay="0"/>
                                          </p:stCondLst>
                                        </p:cTn>
                                        <p:tgtEl>
                                          <p:spTgt spid="25"/>
                                        </p:tgtEl>
                                        <p:attrNameLst>
                                          <p:attrName>style.visibility</p:attrName>
                                        </p:attrNameLst>
                                      </p:cBhvr>
                                      <p:to>
                                        <p:strVal val="visible"/>
                                      </p:to>
                                    </p:set>
                                    <p:animEffect transition="in" filter="wipe(left)">
                                      <p:cBhvr>
                                        <p:cTn id="72" dur="500"/>
                                        <p:tgtEl>
                                          <p:spTgt spid="25"/>
                                        </p:tgtEl>
                                      </p:cBhvr>
                                    </p:animEffect>
                                  </p:childTnLst>
                                </p:cTn>
                              </p:par>
                              <p:par>
                                <p:cTn id="73" presetID="22" presetClass="entr" presetSubtype="8" fill="hold" grpId="0" nodeType="withEffect">
                                  <p:stCondLst>
                                    <p:cond delay="1000"/>
                                  </p:stCondLst>
                                  <p:childTnLst>
                                    <p:set>
                                      <p:cBhvr>
                                        <p:cTn id="74" dur="1" fill="hold">
                                          <p:stCondLst>
                                            <p:cond delay="0"/>
                                          </p:stCondLst>
                                        </p:cTn>
                                        <p:tgtEl>
                                          <p:spTgt spid="26"/>
                                        </p:tgtEl>
                                        <p:attrNameLst>
                                          <p:attrName>style.visibility</p:attrName>
                                        </p:attrNameLst>
                                      </p:cBhvr>
                                      <p:to>
                                        <p:strVal val="visible"/>
                                      </p:to>
                                    </p:set>
                                    <p:animEffect transition="in" filter="wipe(left)">
                                      <p:cBhvr>
                                        <p:cTn id="75" dur="500"/>
                                        <p:tgtEl>
                                          <p:spTgt spid="2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500"/>
                                        <p:tgtEl>
                                          <p:spTgt spid="27"/>
                                        </p:tgtEl>
                                      </p:cBhvr>
                                    </p:animEffect>
                                  </p:childTnLst>
                                </p:cTn>
                              </p:par>
                              <p:par>
                                <p:cTn id="79" presetID="22" presetClass="entr" presetSubtype="8" fill="hold" grpId="0" nodeType="withEffect">
                                  <p:stCondLst>
                                    <p:cond delay="200"/>
                                  </p:stCondLst>
                                  <p:childTnLst>
                                    <p:set>
                                      <p:cBhvr>
                                        <p:cTn id="80" dur="1" fill="hold">
                                          <p:stCondLst>
                                            <p:cond delay="0"/>
                                          </p:stCondLst>
                                        </p:cTn>
                                        <p:tgtEl>
                                          <p:spTgt spid="28"/>
                                        </p:tgtEl>
                                        <p:attrNameLst>
                                          <p:attrName>style.visibility</p:attrName>
                                        </p:attrNameLst>
                                      </p:cBhvr>
                                      <p:to>
                                        <p:strVal val="visible"/>
                                      </p:to>
                                    </p:set>
                                    <p:animEffect transition="in" filter="wipe(left)">
                                      <p:cBhvr>
                                        <p:cTn id="81" dur="500"/>
                                        <p:tgtEl>
                                          <p:spTgt spid="28"/>
                                        </p:tgtEl>
                                      </p:cBhvr>
                                    </p:animEffect>
                                  </p:childTnLst>
                                </p:cTn>
                              </p:par>
                              <p:par>
                                <p:cTn id="82" presetID="22" presetClass="entr" presetSubtype="8" fill="hold" grpId="0" nodeType="withEffect">
                                  <p:stCondLst>
                                    <p:cond delay="400"/>
                                  </p:stCondLst>
                                  <p:childTnLst>
                                    <p:set>
                                      <p:cBhvr>
                                        <p:cTn id="83" dur="1" fill="hold">
                                          <p:stCondLst>
                                            <p:cond delay="0"/>
                                          </p:stCondLst>
                                        </p:cTn>
                                        <p:tgtEl>
                                          <p:spTgt spid="29"/>
                                        </p:tgtEl>
                                        <p:attrNameLst>
                                          <p:attrName>style.visibility</p:attrName>
                                        </p:attrNameLst>
                                      </p:cBhvr>
                                      <p:to>
                                        <p:strVal val="visible"/>
                                      </p:to>
                                    </p:set>
                                    <p:animEffect transition="in" filter="wipe(left)">
                                      <p:cBhvr>
                                        <p:cTn id="84" dur="500"/>
                                        <p:tgtEl>
                                          <p:spTgt spid="29"/>
                                        </p:tgtEl>
                                      </p:cBhvr>
                                    </p:animEffect>
                                  </p:childTnLst>
                                </p:cTn>
                              </p:par>
                              <p:par>
                                <p:cTn id="85" presetID="22" presetClass="entr" presetSubtype="8" fill="hold" grpId="0" nodeType="withEffect">
                                  <p:stCondLst>
                                    <p:cond delay="600"/>
                                  </p:stCondLst>
                                  <p:childTnLst>
                                    <p:set>
                                      <p:cBhvr>
                                        <p:cTn id="86" dur="1" fill="hold">
                                          <p:stCondLst>
                                            <p:cond delay="0"/>
                                          </p:stCondLst>
                                        </p:cTn>
                                        <p:tgtEl>
                                          <p:spTgt spid="30"/>
                                        </p:tgtEl>
                                        <p:attrNameLst>
                                          <p:attrName>style.visibility</p:attrName>
                                        </p:attrNameLst>
                                      </p:cBhvr>
                                      <p:to>
                                        <p:strVal val="visible"/>
                                      </p:to>
                                    </p:set>
                                    <p:animEffect transition="in" filter="wipe(left)">
                                      <p:cBhvr>
                                        <p:cTn id="87" dur="500"/>
                                        <p:tgtEl>
                                          <p:spTgt spid="30"/>
                                        </p:tgtEl>
                                      </p:cBhvr>
                                    </p:animEffect>
                                  </p:childTnLst>
                                </p:cTn>
                              </p:par>
                              <p:par>
                                <p:cTn id="88" presetID="22" presetClass="entr" presetSubtype="8" fill="hold" grpId="0" nodeType="withEffect">
                                  <p:stCondLst>
                                    <p:cond delay="800"/>
                                  </p:stCondLst>
                                  <p:childTnLst>
                                    <p:set>
                                      <p:cBhvr>
                                        <p:cTn id="89" dur="1" fill="hold">
                                          <p:stCondLst>
                                            <p:cond delay="0"/>
                                          </p:stCondLst>
                                        </p:cTn>
                                        <p:tgtEl>
                                          <p:spTgt spid="31"/>
                                        </p:tgtEl>
                                        <p:attrNameLst>
                                          <p:attrName>style.visibility</p:attrName>
                                        </p:attrNameLst>
                                      </p:cBhvr>
                                      <p:to>
                                        <p:strVal val="visible"/>
                                      </p:to>
                                    </p:set>
                                    <p:animEffect transition="in" filter="wipe(left)">
                                      <p:cBhvr>
                                        <p:cTn id="90" dur="500"/>
                                        <p:tgtEl>
                                          <p:spTgt spid="31"/>
                                        </p:tgtEl>
                                      </p:cBhvr>
                                    </p:animEffect>
                                  </p:childTnLst>
                                </p:cTn>
                              </p:par>
                              <p:par>
                                <p:cTn id="91" presetID="22" presetClass="entr" presetSubtype="8" fill="hold" grpId="0" nodeType="withEffect">
                                  <p:stCondLst>
                                    <p:cond delay="1000"/>
                                  </p:stCondLst>
                                  <p:childTnLst>
                                    <p:set>
                                      <p:cBhvr>
                                        <p:cTn id="92" dur="1" fill="hold">
                                          <p:stCondLst>
                                            <p:cond delay="0"/>
                                          </p:stCondLst>
                                        </p:cTn>
                                        <p:tgtEl>
                                          <p:spTgt spid="32"/>
                                        </p:tgtEl>
                                        <p:attrNameLst>
                                          <p:attrName>style.visibility</p:attrName>
                                        </p:attrNameLst>
                                      </p:cBhvr>
                                      <p:to>
                                        <p:strVal val="visible"/>
                                      </p:to>
                                    </p:set>
                                    <p:animEffect transition="in" filter="wipe(left)">
                                      <p:cBhvr>
                                        <p:cTn id="93" dur="500"/>
                                        <p:tgtEl>
                                          <p:spTgt spid="32"/>
                                        </p:tgtEl>
                                      </p:cBhvr>
                                    </p:animEffect>
                                  </p:childTnLst>
                                </p:cTn>
                              </p:par>
                            </p:childTnLst>
                          </p:cTn>
                        </p:par>
                      </p:childTnLst>
                    </p:cTn>
                  </p:par>
                  <p:par>
                    <p:cTn id="94" fill="hold">
                      <p:stCondLst>
                        <p:cond delay="indefinite"/>
                      </p:stCondLst>
                      <p:childTnLst>
                        <p:par>
                          <p:cTn id="95" fill="hold">
                            <p:stCondLst>
                              <p:cond delay="0"/>
                            </p:stCondLst>
                            <p:childTnLst>
                              <p:par>
                                <p:cTn id="96" presetID="2" presetClass="entr" presetSubtype="4" fill="hold" grpId="0" nodeType="clickEffect">
                                  <p:stCondLst>
                                    <p:cond delay="0"/>
                                  </p:stCondLst>
                                  <p:childTnLst>
                                    <p:set>
                                      <p:cBhvr>
                                        <p:cTn id="97" dur="1" fill="hold">
                                          <p:stCondLst>
                                            <p:cond delay="0"/>
                                          </p:stCondLst>
                                        </p:cTn>
                                        <p:tgtEl>
                                          <p:spTgt spid="33"/>
                                        </p:tgtEl>
                                        <p:attrNameLst>
                                          <p:attrName>style.visibility</p:attrName>
                                        </p:attrNameLst>
                                      </p:cBhvr>
                                      <p:to>
                                        <p:strVal val="visible"/>
                                      </p:to>
                                    </p:set>
                                    <p:anim calcmode="lin" valueType="num">
                                      <p:cBhvr additive="base">
                                        <p:cTn id="98" dur="500" fill="hold"/>
                                        <p:tgtEl>
                                          <p:spTgt spid="33"/>
                                        </p:tgtEl>
                                        <p:attrNameLst>
                                          <p:attrName>ppt_x</p:attrName>
                                        </p:attrNameLst>
                                      </p:cBhvr>
                                      <p:tavLst>
                                        <p:tav tm="0">
                                          <p:val>
                                            <p:strVal val="#ppt_x"/>
                                          </p:val>
                                        </p:tav>
                                        <p:tav tm="100000">
                                          <p:val>
                                            <p:strVal val="#ppt_x"/>
                                          </p:val>
                                        </p:tav>
                                      </p:tavLst>
                                    </p:anim>
                                    <p:anim calcmode="lin" valueType="num">
                                      <p:cBhvr additive="base">
                                        <p:cTn id="99" dur="500" fill="hold"/>
                                        <p:tgtEl>
                                          <p:spTgt spid="33"/>
                                        </p:tgtEl>
                                        <p:attrNameLst>
                                          <p:attrName>ppt_y</p:attrName>
                                        </p:attrNameLst>
                                      </p:cBhvr>
                                      <p:tavLst>
                                        <p:tav tm="0">
                                          <p:val>
                                            <p:strVal val="#ppt_y+0.1"/>
                                          </p:val>
                                        </p:tav>
                                        <p:tav tm="100000">
                                          <p:val>
                                            <p:strVal val="#ppt_y"/>
                                          </p:val>
                                        </p:tav>
                                      </p:tavLst>
                                    </p:anim>
                                    <p:animEffect transition="in" filter="fade">
                                      <p:cBhvr>
                                        <p:cTn id="100" dur="500"/>
                                        <p:tgtEl>
                                          <p:spTgt spid="33"/>
                                        </p:tgtEl>
                                      </p:cBhvr>
                                    </p:animEffect>
                                  </p:childTnLst>
                                </p:cTn>
                              </p:par>
                              <p:par>
                                <p:cTn id="101" presetID="2" presetClass="entr" presetSubtype="4" fill="hold" nodeType="withEffect">
                                  <p:stCondLst>
                                    <p:cond delay="0"/>
                                  </p:stCondLst>
                                  <p:childTnLst>
                                    <p:set>
                                      <p:cBhvr>
                                        <p:cTn id="102" dur="1" fill="hold">
                                          <p:stCondLst>
                                            <p:cond delay="0"/>
                                          </p:stCondLst>
                                        </p:cTn>
                                        <p:tgtEl>
                                          <p:spTgt spid="34"/>
                                        </p:tgtEl>
                                        <p:attrNameLst>
                                          <p:attrName>style.visibility</p:attrName>
                                        </p:attrNameLst>
                                      </p:cBhvr>
                                      <p:to>
                                        <p:strVal val="visible"/>
                                      </p:to>
                                    </p:set>
                                    <p:anim calcmode="lin" valueType="num">
                                      <p:cBhvr additive="base">
                                        <p:cTn id="103" dur="500" fill="hold"/>
                                        <p:tgtEl>
                                          <p:spTgt spid="34"/>
                                        </p:tgtEl>
                                        <p:attrNameLst>
                                          <p:attrName>ppt_x</p:attrName>
                                        </p:attrNameLst>
                                      </p:cBhvr>
                                      <p:tavLst>
                                        <p:tav tm="0">
                                          <p:val>
                                            <p:strVal val="#ppt_x"/>
                                          </p:val>
                                        </p:tav>
                                        <p:tav tm="100000">
                                          <p:val>
                                            <p:strVal val="#ppt_x"/>
                                          </p:val>
                                        </p:tav>
                                      </p:tavLst>
                                    </p:anim>
                                    <p:anim calcmode="lin" valueType="num">
                                      <p:cBhvr additive="base">
                                        <p:cTn id="104" dur="500" fill="hold"/>
                                        <p:tgtEl>
                                          <p:spTgt spid="34"/>
                                        </p:tgtEl>
                                        <p:attrNameLst>
                                          <p:attrName>ppt_y</p:attrName>
                                        </p:attrNameLst>
                                      </p:cBhvr>
                                      <p:tavLst>
                                        <p:tav tm="0">
                                          <p:val>
                                            <p:strVal val="#ppt_y+0.1"/>
                                          </p:val>
                                        </p:tav>
                                        <p:tav tm="100000">
                                          <p:val>
                                            <p:strVal val="#ppt_y"/>
                                          </p:val>
                                        </p:tav>
                                      </p:tavLst>
                                    </p:anim>
                                    <p:animEffect transition="in" filter="fade">
                                      <p:cBhvr>
                                        <p:cTn id="105" dur="500"/>
                                        <p:tgtEl>
                                          <p:spTgt spid="34"/>
                                        </p:tgtEl>
                                      </p:cBhvr>
                                    </p:animEffect>
                                  </p:childTnLst>
                                </p:cTn>
                              </p:par>
                              <p:par>
                                <p:cTn id="106" presetID="2" presetClass="entr" presetSubtype="4" fill="hold" grpId="0" nodeType="withEffect">
                                  <p:stCondLst>
                                    <p:cond delay="0"/>
                                  </p:stCondLst>
                                  <p:childTnLst>
                                    <p:set>
                                      <p:cBhvr>
                                        <p:cTn id="107" dur="1" fill="hold">
                                          <p:stCondLst>
                                            <p:cond delay="0"/>
                                          </p:stCondLst>
                                        </p:cTn>
                                        <p:tgtEl>
                                          <p:spTgt spid="35"/>
                                        </p:tgtEl>
                                        <p:attrNameLst>
                                          <p:attrName>style.visibility</p:attrName>
                                        </p:attrNameLst>
                                      </p:cBhvr>
                                      <p:to>
                                        <p:strVal val="visible"/>
                                      </p:to>
                                    </p:set>
                                    <p:anim calcmode="lin" valueType="num">
                                      <p:cBhvr additive="base">
                                        <p:cTn id="108" dur="500" fill="hold"/>
                                        <p:tgtEl>
                                          <p:spTgt spid="35"/>
                                        </p:tgtEl>
                                        <p:attrNameLst>
                                          <p:attrName>ppt_x</p:attrName>
                                        </p:attrNameLst>
                                      </p:cBhvr>
                                      <p:tavLst>
                                        <p:tav tm="0">
                                          <p:val>
                                            <p:strVal val="#ppt_x"/>
                                          </p:val>
                                        </p:tav>
                                        <p:tav tm="100000">
                                          <p:val>
                                            <p:strVal val="#ppt_x"/>
                                          </p:val>
                                        </p:tav>
                                      </p:tavLst>
                                    </p:anim>
                                    <p:anim calcmode="lin" valueType="num">
                                      <p:cBhvr additive="base">
                                        <p:cTn id="109" dur="500" fill="hold"/>
                                        <p:tgtEl>
                                          <p:spTgt spid="35"/>
                                        </p:tgtEl>
                                        <p:attrNameLst>
                                          <p:attrName>ppt_y</p:attrName>
                                        </p:attrNameLst>
                                      </p:cBhvr>
                                      <p:tavLst>
                                        <p:tav tm="0">
                                          <p:val>
                                            <p:strVal val="#ppt_y+0.1"/>
                                          </p:val>
                                        </p:tav>
                                        <p:tav tm="100000">
                                          <p:val>
                                            <p:strVal val="#ppt_y"/>
                                          </p:val>
                                        </p:tav>
                                      </p:tavLst>
                                    </p:anim>
                                    <p:animEffect transition="in" filter="fade">
                                      <p:cBhvr>
                                        <p:cTn id="110"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8D98F4DD-8C2E-0C7F-0262-BD9B849298F7}"/>
            </a:ext>
          </a:extLst>
        </p:cNvPr>
        <p:cNvGrpSpPr/>
        <p:nvPr/>
      </p:nvGrpSpPr>
      <p:grpSpPr>
        <a:xfrm>
          <a:off x="0" y="0"/>
          <a:ext cx="0" cy="0"/>
          <a:chOff x="0" y="0"/>
          <a:chExt cx="0" cy="0"/>
        </a:xfrm>
      </p:grpSpPr>
      <p:sp>
        <p:nvSpPr>
          <p:cNvPr id="3" name="a0ud200_h2">
            <a:extLst>
              <a:ext uri="{FF2B5EF4-FFF2-40B4-BE49-F238E27FC236}">
                <a16:creationId xmlns:a16="http://schemas.microsoft.com/office/drawing/2014/main" id="{92D08080-6BC6-B114-5AC1-9856F90EB9B1}"/>
              </a:ext>
            </a:extLst>
          </p:cNvPr>
          <p:cNvSpPr txBox="1"/>
          <p:nvPr/>
        </p:nvSpPr>
        <p:spPr>
          <a:xfrm>
            <a:off x="400928" y="801859"/>
            <a:ext cx="6717323" cy="82296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What is Normalization</a:t>
            </a:r>
            <a:endParaRPr lang="en-US" sz="4400" dirty="0"/>
          </a:p>
        </p:txBody>
      </p:sp>
      <p:sp>
        <p:nvSpPr>
          <p:cNvPr id="4" name="a0fd450_t3">
            <a:extLst>
              <a:ext uri="{FF2B5EF4-FFF2-40B4-BE49-F238E27FC236}">
                <a16:creationId xmlns:a16="http://schemas.microsoft.com/office/drawing/2014/main" id="{65BEA956-729D-C343-ABDA-F60829BE6F7D}"/>
              </a:ext>
            </a:extLst>
          </p:cNvPr>
          <p:cNvSpPr txBox="1"/>
          <p:nvPr/>
        </p:nvSpPr>
        <p:spPr>
          <a:xfrm>
            <a:off x="548639" y="2196318"/>
            <a:ext cx="8102992" cy="1350499"/>
          </a:xfrm>
          <a:prstGeom prst="rect">
            <a:avLst/>
          </a:prstGeom>
          <a:noFill/>
          <a:ln/>
        </p:spPr>
        <p:txBody>
          <a:bodyPr wrap="square" lIns="0" tIns="0" rIns="0" bIns="0" rtlCol="0" anchor="t"/>
          <a:lstStyle/>
          <a:p>
            <a:pPr algn="ctr"/>
            <a:r>
              <a:rPr lang="en-IN" sz="2400" b="1" dirty="0">
                <a:solidFill>
                  <a:schemeClr val="bg1"/>
                </a:solidFill>
              </a:rPr>
              <a:t>Database normalization</a:t>
            </a:r>
            <a:r>
              <a:rPr lang="en-IN" sz="2400" dirty="0">
                <a:solidFill>
                  <a:schemeClr val="bg1"/>
                </a:solidFill>
              </a:rPr>
              <a:t> is the systematic process of organizing fields and tables of a relational database to minimize data redundancy (duplication) and prevent data anomalies</a:t>
            </a:r>
          </a:p>
        </p:txBody>
      </p:sp>
    </p:spTree>
    <p:extLst>
      <p:ext uri="{BB962C8B-B14F-4D97-AF65-F5344CB8AC3E}">
        <p14:creationId xmlns:p14="http://schemas.microsoft.com/office/powerpoint/2010/main" val="165181597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ppt_y+0.1"/>
                                          </p:val>
                                        </p:tav>
                                        <p:tav tm="100000">
                                          <p:val>
                                            <p:strVal val="#ppt_y"/>
                                          </p:val>
                                        </p:tav>
                                      </p:tavLst>
                                    </p:anim>
                                    <p:animEffect transition="in" filter="fade">
                                      <p:cBhvr>
                                        <p:cTn id="9" dur="500"/>
                                        <p:tgtEl>
                                          <p:spTgt spid="3"/>
                                        </p:tgtEl>
                                      </p:cBhvr>
                                    </p:animEffect>
                                  </p:childTnLst>
                                </p:cTn>
                              </p:par>
                              <p:par>
                                <p:cTn id="10" presetID="10" presetClass="entr" presetSubtype="0" fill="hold" grpId="0" nodeType="withEffect">
                                  <p:stCondLst>
                                    <p:cond delay="45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a0f_n1"/>
          <p:cNvSpPr txBox="1"/>
          <p:nvPr/>
        </p:nvSpPr>
        <p:spPr>
          <a:xfrm>
            <a:off x="548640" y="1188720"/>
            <a:ext cx="4114800" cy="822960"/>
          </a:xfrm>
          <a:prstGeom prst="rect">
            <a:avLst/>
          </a:prstGeom>
          <a:noFill/>
          <a:ln/>
        </p:spPr>
        <p:txBody>
          <a:bodyPr wrap="square" lIns="0" tIns="0" rIns="0" bIns="0" rtlCol="0" anchor="ctr"/>
          <a:lstStyle/>
          <a:p>
            <a:pPr marL="0" indent="0">
              <a:buNone/>
            </a:pPr>
            <a:r>
              <a:rPr lang="en-US" sz="6000" b="1" dirty="0">
                <a:solidFill>
                  <a:srgbClr val="A78BFA"/>
                </a:solidFill>
                <a:latin typeface="Calibri" pitchFamily="34" charset="0"/>
                <a:ea typeface="Calibri" pitchFamily="34" charset="-122"/>
                <a:cs typeface="Calibri" pitchFamily="34" charset="-120"/>
              </a:rPr>
              <a:t>05</a:t>
            </a:r>
            <a:endParaRPr lang="en-US" sz="6000" dirty="0"/>
          </a:p>
        </p:txBody>
      </p:sp>
      <p:sp>
        <p:nvSpPr>
          <p:cNvPr id="3" name="a0ud200_h2"/>
          <p:cNvSpPr txBox="1"/>
          <p:nvPr/>
        </p:nvSpPr>
        <p:spPr>
          <a:xfrm>
            <a:off x="548640" y="2011680"/>
            <a:ext cx="4572000" cy="82296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NORMAL FORMS</a:t>
            </a:r>
            <a:endParaRPr lang="en-US" sz="4400" dirty="0"/>
          </a:p>
        </p:txBody>
      </p:sp>
      <p:sp>
        <p:nvSpPr>
          <p:cNvPr id="4" name="a0fd450_t3"/>
          <p:cNvSpPr txBox="1"/>
          <p:nvPr/>
        </p:nvSpPr>
        <p:spPr>
          <a:xfrm>
            <a:off x="548640" y="2834640"/>
            <a:ext cx="4389120" cy="731520"/>
          </a:xfrm>
          <a:prstGeom prst="rect">
            <a:avLst/>
          </a:prstGeom>
          <a:noFill/>
          <a:ln/>
        </p:spPr>
        <p:txBody>
          <a:bodyPr wrap="square" lIns="0" tIns="0" rIns="0" bIns="0" rtlCol="0" anchor="t"/>
          <a:lstStyle/>
          <a:p>
            <a:pPr marL="0" indent="0">
              <a:buNone/>
            </a:pPr>
            <a:r>
              <a:rPr lang="en-US" sz="1700" dirty="0">
                <a:solidFill>
                  <a:srgbClr val="CBD5E1"/>
                </a:solidFill>
                <a:latin typeface="Calibri" pitchFamily="34" charset="0"/>
                <a:ea typeface="Calibri" pitchFamily="34" charset="-122"/>
                <a:cs typeface="Calibri" pitchFamily="34" charset="-120"/>
              </a:rPr>
              <a:t>The key, the whole key, and nothing but the key</a:t>
            </a:r>
            <a:endParaRPr lang="en-US" sz="1700" dirty="0"/>
          </a:p>
        </p:txBody>
      </p:sp>
      <p:sp>
        <p:nvSpPr>
          <p:cNvPr id="5" name="a0fd300_v4"/>
          <p:cNvSpPr txBox="1"/>
          <p:nvPr/>
        </p:nvSpPr>
        <p:spPr>
          <a:xfrm>
            <a:off x="5288459" y="2535040"/>
            <a:ext cx="713232" cy="629322"/>
          </a:xfrm>
          <a:prstGeom prst="rect">
            <a:avLst/>
          </a:prstGeom>
          <a:solidFill>
            <a:srgbClr val="475569"/>
          </a:solidFill>
          <a:ln>
            <a:noFill/>
          </a:ln>
        </p:spPr>
        <p:txBody>
          <a:bodyPr wrap="square" lIns="0" tIns="0" rIns="0" bIns="0" rtlCol="0" anchor="ctr"/>
          <a:lstStyle/>
          <a:p>
            <a:pPr marL="0" indent="0" algn="ctr">
              <a:buNone/>
            </a:pPr>
            <a:r>
              <a:rPr lang="en-US" sz="2523" b="1" dirty="0">
                <a:solidFill>
                  <a:srgbClr val="FFFFFF"/>
                </a:solidFill>
                <a:latin typeface="Calibri" pitchFamily="34" charset="0"/>
                <a:ea typeface="Calibri" pitchFamily="34" charset="-122"/>
                <a:cs typeface="Calibri" pitchFamily="34" charset="-120"/>
              </a:rPr>
              <a:t>1</a:t>
            </a:r>
            <a:endParaRPr lang="en-US" sz="2523" dirty="0"/>
          </a:p>
        </p:txBody>
      </p:sp>
      <p:sp>
        <p:nvSpPr>
          <p:cNvPr id="6" name="a0fd300_v5"/>
          <p:cNvSpPr txBox="1"/>
          <p:nvPr/>
        </p:nvSpPr>
        <p:spPr>
          <a:xfrm>
            <a:off x="6127556" y="2220378"/>
            <a:ext cx="713232" cy="943984"/>
          </a:xfrm>
          <a:prstGeom prst="rect">
            <a:avLst/>
          </a:prstGeom>
          <a:solidFill>
            <a:srgbClr val="14B8A6"/>
          </a:solidFill>
          <a:ln>
            <a:noFill/>
          </a:ln>
        </p:spPr>
        <p:txBody>
          <a:bodyPr wrap="square" lIns="0" tIns="0" rIns="0" bIns="0" rtlCol="0" anchor="ctr"/>
          <a:lstStyle/>
          <a:p>
            <a:pPr marL="0" indent="0" algn="ctr">
              <a:buNone/>
            </a:pPr>
            <a:r>
              <a:rPr lang="en-US" sz="2523" b="1" dirty="0">
                <a:solidFill>
                  <a:srgbClr val="FFFFFF"/>
                </a:solidFill>
                <a:latin typeface="Calibri" pitchFamily="34" charset="0"/>
                <a:ea typeface="Calibri" pitchFamily="34" charset="-122"/>
                <a:cs typeface="Calibri" pitchFamily="34" charset="-120"/>
              </a:rPr>
              <a:t>2</a:t>
            </a:r>
            <a:endParaRPr lang="en-US" sz="2523" dirty="0"/>
          </a:p>
        </p:txBody>
      </p:sp>
      <p:sp>
        <p:nvSpPr>
          <p:cNvPr id="7" name="a0fd300_v6"/>
          <p:cNvSpPr txBox="1"/>
          <p:nvPr/>
        </p:nvSpPr>
        <p:spPr>
          <a:xfrm>
            <a:off x="6966652" y="1905717"/>
            <a:ext cx="713232" cy="1258645"/>
          </a:xfrm>
          <a:prstGeom prst="rect">
            <a:avLst/>
          </a:prstGeom>
          <a:solidFill>
            <a:srgbClr val="A78BFA"/>
          </a:solidFill>
          <a:ln>
            <a:noFill/>
          </a:ln>
        </p:spPr>
        <p:txBody>
          <a:bodyPr wrap="square" lIns="0" tIns="0" rIns="0" bIns="0" rtlCol="0" anchor="ctr"/>
          <a:lstStyle/>
          <a:p>
            <a:pPr marL="0" indent="0" algn="ctr">
              <a:buNone/>
            </a:pPr>
            <a:r>
              <a:rPr lang="en-US" sz="2523" b="1" dirty="0">
                <a:solidFill>
                  <a:srgbClr val="FFFFFF"/>
                </a:solidFill>
                <a:latin typeface="Calibri" pitchFamily="34" charset="0"/>
                <a:ea typeface="Calibri" pitchFamily="34" charset="-122"/>
                <a:cs typeface="Calibri" pitchFamily="34" charset="-120"/>
              </a:rPr>
              <a:t>3</a:t>
            </a:r>
            <a:endParaRPr lang="en-US" sz="2523" dirty="0"/>
          </a:p>
        </p:txBody>
      </p:sp>
      <p:sp>
        <p:nvSpPr>
          <p:cNvPr id="8" name="a0fd300_v7"/>
          <p:cNvSpPr txBox="1"/>
          <p:nvPr/>
        </p:nvSpPr>
        <p:spPr>
          <a:xfrm>
            <a:off x="7805749" y="1528124"/>
            <a:ext cx="713232" cy="1636238"/>
          </a:xfrm>
          <a:prstGeom prst="rect">
            <a:avLst/>
          </a:prstGeom>
          <a:solidFill>
            <a:srgbClr val="8B5CF6"/>
          </a:solidFill>
          <a:ln>
            <a:noFill/>
          </a:ln>
        </p:spPr>
        <p:txBody>
          <a:bodyPr wrap="square" lIns="0" tIns="0" rIns="0" bIns="0" rtlCol="0" anchor="ctr"/>
          <a:lstStyle/>
          <a:p>
            <a:pPr marL="0" indent="0" algn="ctr">
              <a:buNone/>
            </a:pPr>
            <a:r>
              <a:rPr lang="en-US" sz="2523" b="1" dirty="0">
                <a:solidFill>
                  <a:srgbClr val="FFFFFF"/>
                </a:solidFill>
                <a:latin typeface="Calibri" pitchFamily="34" charset="0"/>
                <a:ea typeface="Calibri" pitchFamily="34" charset="-122"/>
                <a:cs typeface="Calibri" pitchFamily="34" charset="-120"/>
              </a:rPr>
              <a:t>BC</a:t>
            </a:r>
            <a:endParaRPr lang="en-US" sz="2523"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 presetClass="entr" presetSubtype="4" fill="hold" grpId="0" nodeType="withEffect">
                                  <p:stCondLst>
                                    <p:cond delay="20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fill="hold"/>
                                        <p:tgtEl>
                                          <p:spTgt spid="3"/>
                                        </p:tgtEl>
                                        <p:attrNameLst>
                                          <p:attrName>ppt_x</p:attrName>
                                        </p:attrNameLst>
                                      </p:cBhvr>
                                      <p:tavLst>
                                        <p:tav tm="0">
                                          <p:val>
                                            <p:strVal val="#ppt_x"/>
                                          </p:val>
                                        </p:tav>
                                        <p:tav tm="100000">
                                          <p:val>
                                            <p:strVal val="#ppt_x"/>
                                          </p:val>
                                        </p:tav>
                                      </p:tavLst>
                                    </p:anim>
                                    <p:anim calcmode="lin" valueType="num">
                                      <p:cBhvr additive="base">
                                        <p:cTn id="11" dur="500" fill="hold"/>
                                        <p:tgtEl>
                                          <p:spTgt spid="3"/>
                                        </p:tgtEl>
                                        <p:attrNameLst>
                                          <p:attrName>ppt_y</p:attrName>
                                        </p:attrNameLst>
                                      </p:cBhvr>
                                      <p:tavLst>
                                        <p:tav tm="0">
                                          <p:val>
                                            <p:strVal val="#ppt_y+0.1"/>
                                          </p:val>
                                        </p:tav>
                                        <p:tav tm="100000">
                                          <p:val>
                                            <p:strVal val="#ppt_y"/>
                                          </p:val>
                                        </p:tav>
                                      </p:tavLst>
                                    </p:anim>
                                    <p:animEffect transition="in" filter="fade">
                                      <p:cBhvr>
                                        <p:cTn id="12" dur="500"/>
                                        <p:tgtEl>
                                          <p:spTgt spid="3"/>
                                        </p:tgtEl>
                                      </p:cBhvr>
                                    </p:animEffect>
                                  </p:childTnLst>
                                </p:cTn>
                              </p:par>
                              <p:par>
                                <p:cTn id="13" presetID="10" presetClass="entr" presetSubtype="0" fill="hold" grpId="0" nodeType="withEffect">
                                  <p:stCondLst>
                                    <p:cond delay="45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10" presetClass="entr" presetSubtype="0" fill="hold" grpId="0" nodeType="withEffect">
                                  <p:stCondLst>
                                    <p:cond delay="3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par>
                                <p:cTn id="19" presetID="10" presetClass="entr" presetSubtype="0" fill="hold" grpId="0" nodeType="withEffect">
                                  <p:stCondLst>
                                    <p:cond delay="30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par>
                                <p:cTn id="22" presetID="10" presetClass="entr" presetSubtype="0" fill="hold" grpId="0" nodeType="withEffect">
                                  <p:stCondLst>
                                    <p:cond delay="30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par>
                                <p:cTn id="25" presetID="10" presetClass="entr" presetSubtype="0" fill="hold" grpId="0" nodeType="withEffect">
                                  <p:stCondLst>
                                    <p:cond delay="30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1"/>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The Three Anomalies</a:t>
            </a:r>
            <a:endParaRPr lang="en-US" sz="2800" dirty="0"/>
          </a:p>
        </p:txBody>
      </p:sp>
      <p:sp>
        <p:nvSpPr>
          <p:cNvPr id="3" name="Text 2"/>
          <p:cNvSpPr txBox="1"/>
          <p:nvPr/>
        </p:nvSpPr>
        <p:spPr>
          <a:xfrm>
            <a:off x="457200" y="749808"/>
            <a:ext cx="8229600" cy="320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Normalization exists to remove three specific failures</a:t>
            </a:r>
            <a:endParaRPr lang="en-US" sz="1300" dirty="0"/>
          </a:p>
        </p:txBody>
      </p:sp>
      <p:sp>
        <p:nvSpPr>
          <p:cNvPr id="4" name="a1u_c3"/>
          <p:cNvSpPr/>
          <p:nvPr/>
        </p:nvSpPr>
        <p:spPr>
          <a:xfrm>
            <a:off x="457200" y="1234440"/>
            <a:ext cx="2606040" cy="2697480"/>
          </a:xfrm>
          <a:prstGeom prst="roundRect">
            <a:avLst>
              <a:gd name="adj" fmla="val 6000"/>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sp>
        <p:nvSpPr>
          <p:cNvPr id="5" name="a1u_k4"/>
          <p:cNvSpPr txBox="1"/>
          <p:nvPr/>
        </p:nvSpPr>
        <p:spPr>
          <a:xfrm>
            <a:off x="640080" y="1389888"/>
            <a:ext cx="1463040" cy="310896"/>
          </a:xfrm>
          <a:prstGeom prst="roundRect">
            <a:avLst>
              <a:gd name="adj" fmla="val 50000"/>
            </a:avLst>
          </a:prstGeom>
          <a:solidFill>
            <a:srgbClr val="B45309"/>
          </a:solidFill>
          <a:ln w="12700">
            <a:solidFill>
              <a:srgbClr val="B45309"/>
            </a:solidFill>
            <a:prstDash val="solid"/>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INSERT ANOMALY</a:t>
            </a:r>
            <a:endParaRPr lang="en-US" sz="1000" dirty="0"/>
          </a:p>
        </p:txBody>
      </p:sp>
      <p:sp>
        <p:nvSpPr>
          <p:cNvPr id="6" name="a1u_d5"/>
          <p:cNvSpPr txBox="1"/>
          <p:nvPr/>
        </p:nvSpPr>
        <p:spPr>
          <a:xfrm>
            <a:off x="640080" y="1828800"/>
            <a:ext cx="2286000" cy="640080"/>
          </a:xfrm>
          <a:prstGeom prst="rect">
            <a:avLst/>
          </a:prstGeom>
          <a:noFill/>
          <a:ln/>
        </p:spPr>
        <p:txBody>
          <a:bodyPr wrap="square" lIns="0" tIns="0" rIns="0" bIns="0" rtlCol="0" anchor="t"/>
          <a:lstStyle/>
          <a:p>
            <a:pPr marL="0" indent="0">
              <a:buNone/>
            </a:pPr>
            <a:r>
              <a:rPr lang="en-US" sz="1250" b="1" dirty="0">
                <a:solidFill>
                  <a:srgbClr val="0F172A"/>
                </a:solidFill>
                <a:latin typeface="Calibri" pitchFamily="34" charset="0"/>
                <a:ea typeface="Calibri" pitchFamily="34" charset="-122"/>
                <a:cs typeface="Calibri" pitchFamily="34" charset="-120"/>
              </a:rPr>
              <a:t>A fact cannot be recorded without an unrelated one</a:t>
            </a:r>
            <a:endParaRPr lang="en-US" sz="1250" dirty="0"/>
          </a:p>
        </p:txBody>
      </p:sp>
      <p:sp>
        <p:nvSpPr>
          <p:cNvPr id="7" name="a1u_e6"/>
          <p:cNvSpPr txBox="1"/>
          <p:nvPr/>
        </p:nvSpPr>
        <p:spPr>
          <a:xfrm>
            <a:off x="594360" y="2560320"/>
            <a:ext cx="2331720" cy="1234440"/>
          </a:xfrm>
          <a:prstGeom prst="roundRect">
            <a:avLst>
              <a:gd name="adj" fmla="val 8000"/>
            </a:avLst>
          </a:prstGeom>
          <a:solidFill>
            <a:srgbClr val="FFEDD5"/>
          </a:solidFill>
          <a:ln w="12700">
            <a:solidFill>
              <a:srgbClr val="FFEDD5"/>
            </a:solidFill>
            <a:prstDash val="solid"/>
          </a:ln>
        </p:spPr>
        <p:txBody>
          <a:bodyPr wrap="square" lIns="109728" tIns="73152" rIns="91440" bIns="45720" rtlCol="0" anchor="t"/>
          <a:lstStyle/>
          <a:p>
            <a:pPr marL="0" indent="0">
              <a:buNone/>
            </a:pPr>
            <a:r>
              <a:rPr lang="en-US" sz="1000" b="1" dirty="0">
                <a:solidFill>
                  <a:srgbClr val="B45309"/>
                </a:solidFill>
                <a:latin typeface="Calibri" pitchFamily="34" charset="0"/>
                <a:ea typeface="Calibri" pitchFamily="34" charset="-122"/>
                <a:cs typeface="Calibri" pitchFamily="34" charset="-120"/>
              </a:rPr>
              <a:t>In the flat table
</a:t>
            </a:r>
            <a:r>
              <a:rPr lang="en-US" sz="1150" dirty="0">
                <a:solidFill>
                  <a:srgbClr val="334155"/>
                </a:solidFill>
                <a:latin typeface="Calibri" pitchFamily="34" charset="0"/>
                <a:ea typeface="Calibri" pitchFamily="34" charset="-122"/>
                <a:cs typeface="Calibri" pitchFamily="34" charset="-120"/>
              </a:rPr>
              <a:t>A new branch cannot be registered until it has its first customer.</a:t>
            </a:r>
            <a:endParaRPr lang="en-US" sz="1000" dirty="0"/>
          </a:p>
        </p:txBody>
      </p:sp>
      <p:sp>
        <p:nvSpPr>
          <p:cNvPr id="8" name="a2u_c7"/>
          <p:cNvSpPr/>
          <p:nvPr/>
        </p:nvSpPr>
        <p:spPr>
          <a:xfrm>
            <a:off x="3268980" y="1234440"/>
            <a:ext cx="2606040" cy="2697480"/>
          </a:xfrm>
          <a:prstGeom prst="roundRect">
            <a:avLst>
              <a:gd name="adj" fmla="val 6000"/>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sp>
        <p:nvSpPr>
          <p:cNvPr id="9" name="a2u_k8"/>
          <p:cNvSpPr txBox="1"/>
          <p:nvPr/>
        </p:nvSpPr>
        <p:spPr>
          <a:xfrm>
            <a:off x="3451860" y="1389888"/>
            <a:ext cx="1463040" cy="310896"/>
          </a:xfrm>
          <a:prstGeom prst="roundRect">
            <a:avLst>
              <a:gd name="adj" fmla="val 50000"/>
            </a:avLst>
          </a:prstGeom>
          <a:solidFill>
            <a:srgbClr val="6D28D9"/>
          </a:solidFill>
          <a:ln w="12700">
            <a:solidFill>
              <a:srgbClr val="6D28D9"/>
            </a:solidFill>
            <a:prstDash val="solid"/>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UPDATE ANOMALY</a:t>
            </a:r>
            <a:endParaRPr lang="en-US" sz="1000" dirty="0"/>
          </a:p>
        </p:txBody>
      </p:sp>
      <p:sp>
        <p:nvSpPr>
          <p:cNvPr id="10" name="a2u_d9"/>
          <p:cNvSpPr txBox="1"/>
          <p:nvPr/>
        </p:nvSpPr>
        <p:spPr>
          <a:xfrm>
            <a:off x="3451860" y="1828800"/>
            <a:ext cx="2286000" cy="640080"/>
          </a:xfrm>
          <a:prstGeom prst="rect">
            <a:avLst/>
          </a:prstGeom>
          <a:noFill/>
          <a:ln/>
        </p:spPr>
        <p:txBody>
          <a:bodyPr wrap="square" lIns="0" tIns="0" rIns="0" bIns="0" rtlCol="0" anchor="t"/>
          <a:lstStyle/>
          <a:p>
            <a:pPr marL="0" indent="0">
              <a:buNone/>
            </a:pPr>
            <a:r>
              <a:rPr lang="en-US" sz="1250" b="1" dirty="0">
                <a:solidFill>
                  <a:srgbClr val="0F172A"/>
                </a:solidFill>
                <a:latin typeface="Calibri" pitchFamily="34" charset="0"/>
                <a:ea typeface="Calibri" pitchFamily="34" charset="-122"/>
                <a:cs typeface="Calibri" pitchFamily="34" charset="-120"/>
              </a:rPr>
              <a:t>The same fact must be changed in many rows</a:t>
            </a:r>
            <a:endParaRPr lang="en-US" sz="1250" dirty="0"/>
          </a:p>
        </p:txBody>
      </p:sp>
      <p:sp>
        <p:nvSpPr>
          <p:cNvPr id="11" name="a2u_e10"/>
          <p:cNvSpPr txBox="1"/>
          <p:nvPr/>
        </p:nvSpPr>
        <p:spPr>
          <a:xfrm>
            <a:off x="3406140" y="2560320"/>
            <a:ext cx="2331720" cy="1234440"/>
          </a:xfrm>
          <a:prstGeom prst="roundRect">
            <a:avLst>
              <a:gd name="adj" fmla="val 8000"/>
            </a:avLst>
          </a:prstGeom>
          <a:solidFill>
            <a:srgbClr val="EDE9FE"/>
          </a:solidFill>
          <a:ln w="12700">
            <a:solidFill>
              <a:srgbClr val="EDE9FE"/>
            </a:solidFill>
            <a:prstDash val="solid"/>
          </a:ln>
        </p:spPr>
        <p:txBody>
          <a:bodyPr wrap="square" lIns="109728" tIns="73152" rIns="91440" bIns="45720" rtlCol="0" anchor="t"/>
          <a:lstStyle/>
          <a:p>
            <a:pPr marL="0" indent="0">
              <a:buNone/>
            </a:pPr>
            <a:r>
              <a:rPr lang="en-US" sz="1000" b="1" dirty="0">
                <a:solidFill>
                  <a:srgbClr val="6D28D9"/>
                </a:solidFill>
                <a:latin typeface="Calibri" pitchFamily="34" charset="0"/>
                <a:ea typeface="Calibri" pitchFamily="34" charset="-122"/>
                <a:cs typeface="Calibri" pitchFamily="34" charset="-120"/>
              </a:rPr>
              <a:t>In the flat table
</a:t>
            </a:r>
            <a:r>
              <a:rPr lang="en-US" sz="1150" dirty="0">
                <a:solidFill>
                  <a:srgbClr val="334155"/>
                </a:solidFill>
                <a:latin typeface="Calibri" pitchFamily="34" charset="0"/>
                <a:ea typeface="Calibri" pitchFamily="34" charset="-122"/>
                <a:cs typeface="Calibri" pitchFamily="34" charset="-120"/>
              </a:rPr>
              <a:t>Renaming a branch means updating every customer row — miss one and spellings diverge.</a:t>
            </a:r>
            <a:endParaRPr lang="en-US" sz="1000" dirty="0"/>
          </a:p>
        </p:txBody>
      </p:sp>
      <p:sp>
        <p:nvSpPr>
          <p:cNvPr id="12" name="a3u_c11"/>
          <p:cNvSpPr/>
          <p:nvPr/>
        </p:nvSpPr>
        <p:spPr>
          <a:xfrm>
            <a:off x="6080760" y="1234440"/>
            <a:ext cx="2606040" cy="2697480"/>
          </a:xfrm>
          <a:prstGeom prst="roundRect">
            <a:avLst>
              <a:gd name="adj" fmla="val 6000"/>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sp>
        <p:nvSpPr>
          <p:cNvPr id="13" name="a3u_k12"/>
          <p:cNvSpPr txBox="1"/>
          <p:nvPr/>
        </p:nvSpPr>
        <p:spPr>
          <a:xfrm>
            <a:off x="6263640" y="1389888"/>
            <a:ext cx="1463040" cy="310896"/>
          </a:xfrm>
          <a:prstGeom prst="roundRect">
            <a:avLst>
              <a:gd name="adj" fmla="val 50000"/>
            </a:avLst>
          </a:prstGeom>
          <a:solidFill>
            <a:srgbClr val="DC2626"/>
          </a:solidFill>
          <a:ln w="12700">
            <a:solidFill>
              <a:srgbClr val="DC2626"/>
            </a:solidFill>
            <a:prstDash val="solid"/>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DELETE ANOMALY</a:t>
            </a:r>
            <a:endParaRPr lang="en-US" sz="1000" dirty="0"/>
          </a:p>
        </p:txBody>
      </p:sp>
      <p:sp>
        <p:nvSpPr>
          <p:cNvPr id="14" name="a3u_d13"/>
          <p:cNvSpPr txBox="1"/>
          <p:nvPr/>
        </p:nvSpPr>
        <p:spPr>
          <a:xfrm>
            <a:off x="6263640" y="1828800"/>
            <a:ext cx="2286000" cy="640080"/>
          </a:xfrm>
          <a:prstGeom prst="rect">
            <a:avLst/>
          </a:prstGeom>
          <a:noFill/>
          <a:ln/>
        </p:spPr>
        <p:txBody>
          <a:bodyPr wrap="square" lIns="0" tIns="0" rIns="0" bIns="0" rtlCol="0" anchor="t"/>
          <a:lstStyle/>
          <a:p>
            <a:pPr marL="0" indent="0">
              <a:buNone/>
            </a:pPr>
            <a:r>
              <a:rPr lang="en-US" sz="1250" b="1" dirty="0">
                <a:solidFill>
                  <a:srgbClr val="0F172A"/>
                </a:solidFill>
                <a:latin typeface="Calibri" pitchFamily="34" charset="0"/>
                <a:ea typeface="Calibri" pitchFamily="34" charset="-122"/>
                <a:cs typeface="Calibri" pitchFamily="34" charset="-120"/>
              </a:rPr>
              <a:t>Removing one fact destroys another</a:t>
            </a:r>
            <a:endParaRPr lang="en-US" sz="1250" dirty="0"/>
          </a:p>
        </p:txBody>
      </p:sp>
      <p:sp>
        <p:nvSpPr>
          <p:cNvPr id="15" name="a3u_e14"/>
          <p:cNvSpPr txBox="1"/>
          <p:nvPr/>
        </p:nvSpPr>
        <p:spPr>
          <a:xfrm>
            <a:off x="6217920" y="2560320"/>
            <a:ext cx="2331720" cy="1234440"/>
          </a:xfrm>
          <a:prstGeom prst="roundRect">
            <a:avLst>
              <a:gd name="adj" fmla="val 8000"/>
            </a:avLst>
          </a:prstGeom>
          <a:solidFill>
            <a:srgbClr val="FEE2E2"/>
          </a:solidFill>
          <a:ln w="12700">
            <a:solidFill>
              <a:srgbClr val="FEE2E2"/>
            </a:solidFill>
            <a:prstDash val="solid"/>
          </a:ln>
        </p:spPr>
        <p:txBody>
          <a:bodyPr wrap="square" lIns="109728" tIns="73152" rIns="91440" bIns="45720" rtlCol="0" anchor="t"/>
          <a:lstStyle/>
          <a:p>
            <a:pPr marL="0" indent="0">
              <a:buNone/>
            </a:pPr>
            <a:r>
              <a:rPr lang="en-US" sz="1000" b="1" dirty="0">
                <a:solidFill>
                  <a:srgbClr val="DC2626"/>
                </a:solidFill>
                <a:latin typeface="Calibri" pitchFamily="34" charset="0"/>
                <a:ea typeface="Calibri" pitchFamily="34" charset="-122"/>
                <a:cs typeface="Calibri" pitchFamily="34" charset="-120"/>
              </a:rPr>
              <a:t>In the flat table
</a:t>
            </a:r>
            <a:r>
              <a:rPr lang="en-US" sz="1150" dirty="0">
                <a:solidFill>
                  <a:srgbClr val="334155"/>
                </a:solidFill>
                <a:latin typeface="Calibri" pitchFamily="34" charset="0"/>
                <a:ea typeface="Calibri" pitchFamily="34" charset="-122"/>
                <a:cs typeface="Calibri" pitchFamily="34" charset="-120"/>
              </a:rPr>
              <a:t>Closing an account removes the customer's phone number.</a:t>
            </a:r>
            <a:endParaRPr lang="en-US" sz="1000" dirty="0"/>
          </a:p>
        </p:txBody>
      </p:sp>
      <p:sp>
        <p:nvSpPr>
          <p:cNvPr id="16" name="a4u_tb15"/>
          <p:cNvSpPr/>
          <p:nvPr/>
        </p:nvSpPr>
        <p:spPr>
          <a:xfrm>
            <a:off x="457200" y="4114800"/>
            <a:ext cx="8229600" cy="640080"/>
          </a:xfrm>
          <a:prstGeom prst="roundRect">
            <a:avLst>
              <a:gd name="adj" fmla="val 5926"/>
            </a:avLst>
          </a:prstGeom>
          <a:solidFill>
            <a:srgbClr val="6D28D9"/>
          </a:solidFill>
          <a:ln w="12700">
            <a:solidFill>
              <a:srgbClr val="6D28D9"/>
            </a:solidFill>
            <a:prstDash val="solid"/>
          </a:ln>
        </p:spPr>
      </p:sp>
      <p:sp>
        <p:nvSpPr>
          <p:cNvPr id="17" name="a4u_tt16"/>
          <p:cNvSpPr txBox="1"/>
          <p:nvPr/>
        </p:nvSpPr>
        <p:spPr>
          <a:xfrm>
            <a:off x="640080" y="4114800"/>
            <a:ext cx="7909560" cy="64008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Both findings on ticket ICICI-4577 are on this list: the update anomaly and the delete anomaly.</a:t>
            </a:r>
            <a:endParaRPr lang="en-US" sz="13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ppt_y+0.1"/>
                                          </p:val>
                                        </p:tav>
                                        <p:tav tm="100000">
                                          <p:val>
                                            <p:strVal val="#ppt_y"/>
                                          </p:val>
                                        </p:tav>
                                      </p:tavLst>
                                    </p:anim>
                                    <p:animEffect transition="in" filter="fade">
                                      <p:cBhvr>
                                        <p:cTn id="9" dur="500"/>
                                        <p:tgtEl>
                                          <p:spTgt spid="4"/>
                                        </p:tgtEl>
                                      </p:cBhvr>
                                    </p:animEffect>
                                  </p:childTnLst>
                                </p:cTn>
                              </p:par>
                              <p:par>
                                <p:cTn id="10" presetID="2" presetClass="entr" presetSubtype="4"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ppt_y+0.1"/>
                                          </p:val>
                                        </p:tav>
                                        <p:tav tm="100000">
                                          <p:val>
                                            <p:strVal val="#ppt_y"/>
                                          </p:val>
                                        </p:tav>
                                      </p:tavLst>
                                    </p:anim>
                                    <p:animEffect transition="in" filter="fade">
                                      <p:cBhvr>
                                        <p:cTn id="14" dur="500"/>
                                        <p:tgtEl>
                                          <p:spTgt spid="5"/>
                                        </p:tgtEl>
                                      </p:cBhvr>
                                    </p:animEffect>
                                  </p:childTnLst>
                                </p:cTn>
                              </p:par>
                              <p:par>
                                <p:cTn id="15" presetID="2" presetClass="entr" presetSubtype="4"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ppt_y+0.1"/>
                                          </p:val>
                                        </p:tav>
                                        <p:tav tm="100000">
                                          <p:val>
                                            <p:strVal val="#ppt_y"/>
                                          </p:val>
                                        </p:tav>
                                      </p:tavLst>
                                    </p:anim>
                                    <p:animEffect transition="in" filter="fade">
                                      <p:cBhvr>
                                        <p:cTn id="19" dur="500"/>
                                        <p:tgtEl>
                                          <p:spTgt spid="6"/>
                                        </p:tgtEl>
                                      </p:cBhvr>
                                    </p:animEffect>
                                  </p:childTnLst>
                                </p:cTn>
                              </p:par>
                              <p:par>
                                <p:cTn id="20" presetID="2" presetClass="entr" presetSubtype="4"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ppt_y+0.1"/>
                                          </p:val>
                                        </p:tav>
                                        <p:tav tm="100000">
                                          <p:val>
                                            <p:strVal val="#ppt_y"/>
                                          </p:val>
                                        </p:tav>
                                      </p:tavLst>
                                    </p:anim>
                                    <p:animEffect transition="in" filter="fade">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ppt_x"/>
                                          </p:val>
                                        </p:tav>
                                        <p:tav tm="100000">
                                          <p:val>
                                            <p:strVal val="#ppt_x"/>
                                          </p:val>
                                        </p:tav>
                                      </p:tavLst>
                                    </p:anim>
                                    <p:anim calcmode="lin" valueType="num">
                                      <p:cBhvr additive="base">
                                        <p:cTn id="30" dur="500" fill="hold"/>
                                        <p:tgtEl>
                                          <p:spTgt spid="8"/>
                                        </p:tgtEl>
                                        <p:attrNameLst>
                                          <p:attrName>ppt_y</p:attrName>
                                        </p:attrNameLst>
                                      </p:cBhvr>
                                      <p:tavLst>
                                        <p:tav tm="0">
                                          <p:val>
                                            <p:strVal val="#ppt_y+0.1"/>
                                          </p:val>
                                        </p:tav>
                                        <p:tav tm="100000">
                                          <p:val>
                                            <p:strVal val="#ppt_y"/>
                                          </p:val>
                                        </p:tav>
                                      </p:tavLst>
                                    </p:anim>
                                    <p:animEffect transition="in" filter="fade">
                                      <p:cBhvr>
                                        <p:cTn id="31" dur="500"/>
                                        <p:tgtEl>
                                          <p:spTgt spid="8"/>
                                        </p:tgtEl>
                                      </p:cBhvr>
                                    </p:animEffect>
                                  </p:childTnLst>
                                </p:cTn>
                              </p:par>
                              <p:par>
                                <p:cTn id="32" presetID="2" presetClass="entr" presetSubtype="4"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500" fill="hold"/>
                                        <p:tgtEl>
                                          <p:spTgt spid="9"/>
                                        </p:tgtEl>
                                        <p:attrNameLst>
                                          <p:attrName>ppt_x</p:attrName>
                                        </p:attrNameLst>
                                      </p:cBhvr>
                                      <p:tavLst>
                                        <p:tav tm="0">
                                          <p:val>
                                            <p:strVal val="#ppt_x"/>
                                          </p:val>
                                        </p:tav>
                                        <p:tav tm="100000">
                                          <p:val>
                                            <p:strVal val="#ppt_x"/>
                                          </p:val>
                                        </p:tav>
                                      </p:tavLst>
                                    </p:anim>
                                    <p:anim calcmode="lin" valueType="num">
                                      <p:cBhvr additive="base">
                                        <p:cTn id="35" dur="500" fill="hold"/>
                                        <p:tgtEl>
                                          <p:spTgt spid="9"/>
                                        </p:tgtEl>
                                        <p:attrNameLst>
                                          <p:attrName>ppt_y</p:attrName>
                                        </p:attrNameLst>
                                      </p:cBhvr>
                                      <p:tavLst>
                                        <p:tav tm="0">
                                          <p:val>
                                            <p:strVal val="#ppt_y+0.1"/>
                                          </p:val>
                                        </p:tav>
                                        <p:tav tm="100000">
                                          <p:val>
                                            <p:strVal val="#ppt_y"/>
                                          </p:val>
                                        </p:tav>
                                      </p:tavLst>
                                    </p:anim>
                                    <p:animEffect transition="in" filter="fade">
                                      <p:cBhvr>
                                        <p:cTn id="36" dur="500"/>
                                        <p:tgtEl>
                                          <p:spTgt spid="9"/>
                                        </p:tgtEl>
                                      </p:cBhvr>
                                    </p:animEffect>
                                  </p:childTnLst>
                                </p:cTn>
                              </p:par>
                              <p:par>
                                <p:cTn id="37" presetID="2" presetClass="entr" presetSubtype="4"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500" fill="hold"/>
                                        <p:tgtEl>
                                          <p:spTgt spid="10"/>
                                        </p:tgtEl>
                                        <p:attrNameLst>
                                          <p:attrName>ppt_x</p:attrName>
                                        </p:attrNameLst>
                                      </p:cBhvr>
                                      <p:tavLst>
                                        <p:tav tm="0">
                                          <p:val>
                                            <p:strVal val="#ppt_x"/>
                                          </p:val>
                                        </p:tav>
                                        <p:tav tm="100000">
                                          <p:val>
                                            <p:strVal val="#ppt_x"/>
                                          </p:val>
                                        </p:tav>
                                      </p:tavLst>
                                    </p:anim>
                                    <p:anim calcmode="lin" valueType="num">
                                      <p:cBhvr additive="base">
                                        <p:cTn id="40" dur="500" fill="hold"/>
                                        <p:tgtEl>
                                          <p:spTgt spid="10"/>
                                        </p:tgtEl>
                                        <p:attrNameLst>
                                          <p:attrName>ppt_y</p:attrName>
                                        </p:attrNameLst>
                                      </p:cBhvr>
                                      <p:tavLst>
                                        <p:tav tm="0">
                                          <p:val>
                                            <p:strVal val="#ppt_y+0.1"/>
                                          </p:val>
                                        </p:tav>
                                        <p:tav tm="100000">
                                          <p:val>
                                            <p:strVal val="#ppt_y"/>
                                          </p:val>
                                        </p:tav>
                                      </p:tavLst>
                                    </p:anim>
                                    <p:animEffect transition="in" filter="fade">
                                      <p:cBhvr>
                                        <p:cTn id="41" dur="500"/>
                                        <p:tgtEl>
                                          <p:spTgt spid="10"/>
                                        </p:tgtEl>
                                      </p:cBhvr>
                                    </p:animEffect>
                                  </p:childTnLst>
                                </p:cTn>
                              </p:par>
                              <p:par>
                                <p:cTn id="42" presetID="2" presetClass="entr" presetSubtype="4"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additive="base">
                                        <p:cTn id="44" dur="500" fill="hold"/>
                                        <p:tgtEl>
                                          <p:spTgt spid="11"/>
                                        </p:tgtEl>
                                        <p:attrNameLst>
                                          <p:attrName>ppt_x</p:attrName>
                                        </p:attrNameLst>
                                      </p:cBhvr>
                                      <p:tavLst>
                                        <p:tav tm="0">
                                          <p:val>
                                            <p:strVal val="#ppt_x"/>
                                          </p:val>
                                        </p:tav>
                                        <p:tav tm="100000">
                                          <p:val>
                                            <p:strVal val="#ppt_x"/>
                                          </p:val>
                                        </p:tav>
                                      </p:tavLst>
                                    </p:anim>
                                    <p:anim calcmode="lin" valueType="num">
                                      <p:cBhvr additive="base">
                                        <p:cTn id="45" dur="500" fill="hold"/>
                                        <p:tgtEl>
                                          <p:spTgt spid="11"/>
                                        </p:tgtEl>
                                        <p:attrNameLst>
                                          <p:attrName>ppt_y</p:attrName>
                                        </p:attrNameLst>
                                      </p:cBhvr>
                                      <p:tavLst>
                                        <p:tav tm="0">
                                          <p:val>
                                            <p:strVal val="#ppt_y+0.1"/>
                                          </p:val>
                                        </p:tav>
                                        <p:tav tm="100000">
                                          <p:val>
                                            <p:strVal val="#ppt_y"/>
                                          </p:val>
                                        </p:tav>
                                      </p:tavLst>
                                    </p:anim>
                                    <p:animEffect transition="in" filter="fade">
                                      <p:cBhvr>
                                        <p:cTn id="46" dur="500"/>
                                        <p:tgtEl>
                                          <p:spTgt spid="11"/>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anim calcmode="lin" valueType="num">
                                      <p:cBhvr additive="base">
                                        <p:cTn id="51" dur="500" fill="hold"/>
                                        <p:tgtEl>
                                          <p:spTgt spid="12"/>
                                        </p:tgtEl>
                                        <p:attrNameLst>
                                          <p:attrName>ppt_x</p:attrName>
                                        </p:attrNameLst>
                                      </p:cBhvr>
                                      <p:tavLst>
                                        <p:tav tm="0">
                                          <p:val>
                                            <p:strVal val="#ppt_x"/>
                                          </p:val>
                                        </p:tav>
                                        <p:tav tm="100000">
                                          <p:val>
                                            <p:strVal val="#ppt_x"/>
                                          </p:val>
                                        </p:tav>
                                      </p:tavLst>
                                    </p:anim>
                                    <p:anim calcmode="lin" valueType="num">
                                      <p:cBhvr additive="base">
                                        <p:cTn id="52" dur="500" fill="hold"/>
                                        <p:tgtEl>
                                          <p:spTgt spid="12"/>
                                        </p:tgtEl>
                                        <p:attrNameLst>
                                          <p:attrName>ppt_y</p:attrName>
                                        </p:attrNameLst>
                                      </p:cBhvr>
                                      <p:tavLst>
                                        <p:tav tm="0">
                                          <p:val>
                                            <p:strVal val="#ppt_y+0.1"/>
                                          </p:val>
                                        </p:tav>
                                        <p:tav tm="100000">
                                          <p:val>
                                            <p:strVal val="#ppt_y"/>
                                          </p:val>
                                        </p:tav>
                                      </p:tavLst>
                                    </p:anim>
                                    <p:animEffect transition="in" filter="fade">
                                      <p:cBhvr>
                                        <p:cTn id="53" dur="500"/>
                                        <p:tgtEl>
                                          <p:spTgt spid="12"/>
                                        </p:tgtEl>
                                      </p:cBhvr>
                                    </p:animEffect>
                                  </p:childTnLst>
                                </p:cTn>
                              </p:par>
                              <p:par>
                                <p:cTn id="54" presetID="2" presetClass="entr" presetSubtype="4" fill="hold" grpId="0" nodeType="withEffect">
                                  <p:stCondLst>
                                    <p:cond delay="0"/>
                                  </p:stCondLst>
                                  <p:childTnLst>
                                    <p:set>
                                      <p:cBhvr>
                                        <p:cTn id="55" dur="1" fill="hold">
                                          <p:stCondLst>
                                            <p:cond delay="0"/>
                                          </p:stCondLst>
                                        </p:cTn>
                                        <p:tgtEl>
                                          <p:spTgt spid="13"/>
                                        </p:tgtEl>
                                        <p:attrNameLst>
                                          <p:attrName>style.visibility</p:attrName>
                                        </p:attrNameLst>
                                      </p:cBhvr>
                                      <p:to>
                                        <p:strVal val="visible"/>
                                      </p:to>
                                    </p:set>
                                    <p:anim calcmode="lin" valueType="num">
                                      <p:cBhvr additive="base">
                                        <p:cTn id="56" dur="500" fill="hold"/>
                                        <p:tgtEl>
                                          <p:spTgt spid="13"/>
                                        </p:tgtEl>
                                        <p:attrNameLst>
                                          <p:attrName>ppt_x</p:attrName>
                                        </p:attrNameLst>
                                      </p:cBhvr>
                                      <p:tavLst>
                                        <p:tav tm="0">
                                          <p:val>
                                            <p:strVal val="#ppt_x"/>
                                          </p:val>
                                        </p:tav>
                                        <p:tav tm="100000">
                                          <p:val>
                                            <p:strVal val="#ppt_x"/>
                                          </p:val>
                                        </p:tav>
                                      </p:tavLst>
                                    </p:anim>
                                    <p:anim calcmode="lin" valueType="num">
                                      <p:cBhvr additive="base">
                                        <p:cTn id="57" dur="500" fill="hold"/>
                                        <p:tgtEl>
                                          <p:spTgt spid="13"/>
                                        </p:tgtEl>
                                        <p:attrNameLst>
                                          <p:attrName>ppt_y</p:attrName>
                                        </p:attrNameLst>
                                      </p:cBhvr>
                                      <p:tavLst>
                                        <p:tav tm="0">
                                          <p:val>
                                            <p:strVal val="#ppt_y+0.1"/>
                                          </p:val>
                                        </p:tav>
                                        <p:tav tm="100000">
                                          <p:val>
                                            <p:strVal val="#ppt_y"/>
                                          </p:val>
                                        </p:tav>
                                      </p:tavLst>
                                    </p:anim>
                                    <p:animEffect transition="in" filter="fade">
                                      <p:cBhvr>
                                        <p:cTn id="58" dur="500"/>
                                        <p:tgtEl>
                                          <p:spTgt spid="13"/>
                                        </p:tgtEl>
                                      </p:cBhvr>
                                    </p:animEffect>
                                  </p:childTnLst>
                                </p:cTn>
                              </p:par>
                              <p:par>
                                <p:cTn id="59" presetID="2" presetClass="entr" presetSubtype="4"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 calcmode="lin" valueType="num">
                                      <p:cBhvr additive="base">
                                        <p:cTn id="61" dur="500" fill="hold"/>
                                        <p:tgtEl>
                                          <p:spTgt spid="14"/>
                                        </p:tgtEl>
                                        <p:attrNameLst>
                                          <p:attrName>ppt_x</p:attrName>
                                        </p:attrNameLst>
                                      </p:cBhvr>
                                      <p:tavLst>
                                        <p:tav tm="0">
                                          <p:val>
                                            <p:strVal val="#ppt_x"/>
                                          </p:val>
                                        </p:tav>
                                        <p:tav tm="100000">
                                          <p:val>
                                            <p:strVal val="#ppt_x"/>
                                          </p:val>
                                        </p:tav>
                                      </p:tavLst>
                                    </p:anim>
                                    <p:anim calcmode="lin" valueType="num">
                                      <p:cBhvr additive="base">
                                        <p:cTn id="62" dur="500" fill="hold"/>
                                        <p:tgtEl>
                                          <p:spTgt spid="14"/>
                                        </p:tgtEl>
                                        <p:attrNameLst>
                                          <p:attrName>ppt_y</p:attrName>
                                        </p:attrNameLst>
                                      </p:cBhvr>
                                      <p:tavLst>
                                        <p:tav tm="0">
                                          <p:val>
                                            <p:strVal val="#ppt_y+0.1"/>
                                          </p:val>
                                        </p:tav>
                                        <p:tav tm="100000">
                                          <p:val>
                                            <p:strVal val="#ppt_y"/>
                                          </p:val>
                                        </p:tav>
                                      </p:tavLst>
                                    </p:anim>
                                    <p:animEffect transition="in" filter="fade">
                                      <p:cBhvr>
                                        <p:cTn id="63" dur="500"/>
                                        <p:tgtEl>
                                          <p:spTgt spid="14"/>
                                        </p:tgtEl>
                                      </p:cBhvr>
                                    </p:animEffect>
                                  </p:childTnLst>
                                </p:cTn>
                              </p:par>
                              <p:par>
                                <p:cTn id="64" presetID="2" presetClass="entr" presetSubtype="4" fill="hold" grpId="0" nodeType="withEffect">
                                  <p:stCondLst>
                                    <p:cond delay="0"/>
                                  </p:stCondLst>
                                  <p:childTnLst>
                                    <p:set>
                                      <p:cBhvr>
                                        <p:cTn id="65" dur="1" fill="hold">
                                          <p:stCondLst>
                                            <p:cond delay="0"/>
                                          </p:stCondLst>
                                        </p:cTn>
                                        <p:tgtEl>
                                          <p:spTgt spid="15"/>
                                        </p:tgtEl>
                                        <p:attrNameLst>
                                          <p:attrName>style.visibility</p:attrName>
                                        </p:attrNameLst>
                                      </p:cBhvr>
                                      <p:to>
                                        <p:strVal val="visible"/>
                                      </p:to>
                                    </p:set>
                                    <p:anim calcmode="lin" valueType="num">
                                      <p:cBhvr additive="base">
                                        <p:cTn id="66" dur="500" fill="hold"/>
                                        <p:tgtEl>
                                          <p:spTgt spid="15"/>
                                        </p:tgtEl>
                                        <p:attrNameLst>
                                          <p:attrName>ppt_x</p:attrName>
                                        </p:attrNameLst>
                                      </p:cBhvr>
                                      <p:tavLst>
                                        <p:tav tm="0">
                                          <p:val>
                                            <p:strVal val="#ppt_x"/>
                                          </p:val>
                                        </p:tav>
                                        <p:tav tm="100000">
                                          <p:val>
                                            <p:strVal val="#ppt_x"/>
                                          </p:val>
                                        </p:tav>
                                      </p:tavLst>
                                    </p:anim>
                                    <p:anim calcmode="lin" valueType="num">
                                      <p:cBhvr additive="base">
                                        <p:cTn id="67" dur="500" fill="hold"/>
                                        <p:tgtEl>
                                          <p:spTgt spid="15"/>
                                        </p:tgtEl>
                                        <p:attrNameLst>
                                          <p:attrName>ppt_y</p:attrName>
                                        </p:attrNameLst>
                                      </p:cBhvr>
                                      <p:tavLst>
                                        <p:tav tm="0">
                                          <p:val>
                                            <p:strVal val="#ppt_y+0.1"/>
                                          </p:val>
                                        </p:tav>
                                        <p:tav tm="100000">
                                          <p:val>
                                            <p:strVal val="#ppt_y"/>
                                          </p:val>
                                        </p:tav>
                                      </p:tavLst>
                                    </p:anim>
                                    <p:animEffect transition="in" filter="fade">
                                      <p:cBhvr>
                                        <p:cTn id="68" dur="500"/>
                                        <p:tgtEl>
                                          <p:spTgt spid="15"/>
                                        </p:tgtEl>
                                      </p:cBhvr>
                                    </p:animEffect>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6"/>
                                        </p:tgtEl>
                                        <p:attrNameLst>
                                          <p:attrName>style.visibility</p:attrName>
                                        </p:attrNameLst>
                                      </p:cBhvr>
                                      <p:to>
                                        <p:strVal val="visible"/>
                                      </p:to>
                                    </p:set>
                                    <p:anim calcmode="lin" valueType="num">
                                      <p:cBhvr additive="base">
                                        <p:cTn id="73" dur="500" fill="hold"/>
                                        <p:tgtEl>
                                          <p:spTgt spid="16"/>
                                        </p:tgtEl>
                                        <p:attrNameLst>
                                          <p:attrName>ppt_x</p:attrName>
                                        </p:attrNameLst>
                                      </p:cBhvr>
                                      <p:tavLst>
                                        <p:tav tm="0">
                                          <p:val>
                                            <p:strVal val="#ppt_x"/>
                                          </p:val>
                                        </p:tav>
                                        <p:tav tm="100000">
                                          <p:val>
                                            <p:strVal val="#ppt_x"/>
                                          </p:val>
                                        </p:tav>
                                      </p:tavLst>
                                    </p:anim>
                                    <p:anim calcmode="lin" valueType="num">
                                      <p:cBhvr additive="base">
                                        <p:cTn id="74" dur="500" fill="hold"/>
                                        <p:tgtEl>
                                          <p:spTgt spid="16"/>
                                        </p:tgtEl>
                                        <p:attrNameLst>
                                          <p:attrName>ppt_y</p:attrName>
                                        </p:attrNameLst>
                                      </p:cBhvr>
                                      <p:tavLst>
                                        <p:tav tm="0">
                                          <p:val>
                                            <p:strVal val="#ppt_y+0.1"/>
                                          </p:val>
                                        </p:tav>
                                        <p:tav tm="100000">
                                          <p:val>
                                            <p:strVal val="#ppt_y"/>
                                          </p:val>
                                        </p:tav>
                                      </p:tavLst>
                                    </p:anim>
                                    <p:animEffect transition="in" filter="fade">
                                      <p:cBhvr>
                                        <p:cTn id="75" dur="500"/>
                                        <p:tgtEl>
                                          <p:spTgt spid="16"/>
                                        </p:tgtEl>
                                      </p:cBhvr>
                                    </p:animEffect>
                                  </p:childTnLst>
                                </p:cTn>
                              </p:par>
                              <p:par>
                                <p:cTn id="76" presetID="2" presetClass="entr" presetSubtype="4" fill="hold" grpId="0" nodeType="withEffect">
                                  <p:stCondLst>
                                    <p:cond delay="0"/>
                                  </p:stCondLst>
                                  <p:childTnLst>
                                    <p:set>
                                      <p:cBhvr>
                                        <p:cTn id="77" dur="1" fill="hold">
                                          <p:stCondLst>
                                            <p:cond delay="0"/>
                                          </p:stCondLst>
                                        </p:cTn>
                                        <p:tgtEl>
                                          <p:spTgt spid="17"/>
                                        </p:tgtEl>
                                        <p:attrNameLst>
                                          <p:attrName>style.visibility</p:attrName>
                                        </p:attrNameLst>
                                      </p:cBhvr>
                                      <p:to>
                                        <p:strVal val="visible"/>
                                      </p:to>
                                    </p:set>
                                    <p:anim calcmode="lin" valueType="num">
                                      <p:cBhvr additive="base">
                                        <p:cTn id="78" dur="500" fill="hold"/>
                                        <p:tgtEl>
                                          <p:spTgt spid="17"/>
                                        </p:tgtEl>
                                        <p:attrNameLst>
                                          <p:attrName>ppt_x</p:attrName>
                                        </p:attrNameLst>
                                      </p:cBhvr>
                                      <p:tavLst>
                                        <p:tav tm="0">
                                          <p:val>
                                            <p:strVal val="#ppt_x"/>
                                          </p:val>
                                        </p:tav>
                                        <p:tav tm="100000">
                                          <p:val>
                                            <p:strVal val="#ppt_x"/>
                                          </p:val>
                                        </p:tav>
                                      </p:tavLst>
                                    </p:anim>
                                    <p:anim calcmode="lin" valueType="num">
                                      <p:cBhvr additive="base">
                                        <p:cTn id="79" dur="500" fill="hold"/>
                                        <p:tgtEl>
                                          <p:spTgt spid="17"/>
                                        </p:tgtEl>
                                        <p:attrNameLst>
                                          <p:attrName>ppt_y</p:attrName>
                                        </p:attrNameLst>
                                      </p:cBhvr>
                                      <p:tavLst>
                                        <p:tav tm="0">
                                          <p:val>
                                            <p:strVal val="#ppt_y+0.1"/>
                                          </p:val>
                                        </p:tav>
                                        <p:tav tm="100000">
                                          <p:val>
                                            <p:strVal val="#ppt_y"/>
                                          </p:val>
                                        </p:tav>
                                      </p:tavLst>
                                    </p:anim>
                                    <p:animEffect transition="in" filter="fade">
                                      <p:cBhvr>
                                        <p:cTn id="8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1"/>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Functional Dependency</a:t>
            </a:r>
            <a:endParaRPr lang="en-US" sz="2800" dirty="0"/>
          </a:p>
        </p:txBody>
      </p:sp>
      <p:sp>
        <p:nvSpPr>
          <p:cNvPr id="3" name="Text 2"/>
          <p:cNvSpPr txBox="1"/>
          <p:nvPr/>
        </p:nvSpPr>
        <p:spPr>
          <a:xfrm>
            <a:off x="457200" y="749808"/>
            <a:ext cx="8229600" cy="320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A → B: for a given value of A there is exactly one value of B</a:t>
            </a:r>
            <a:endParaRPr lang="en-US" sz="1300" dirty="0"/>
          </a:p>
        </p:txBody>
      </p:sp>
      <p:sp>
        <p:nvSpPr>
          <p:cNvPr id="4" name="a1f_a3"/>
          <p:cNvSpPr txBox="1"/>
          <p:nvPr/>
        </p:nvSpPr>
        <p:spPr>
          <a:xfrm>
            <a:off x="457200" y="1280160"/>
            <a:ext cx="1737360" cy="402336"/>
          </a:xfrm>
          <a:prstGeom prst="roundRect">
            <a:avLst>
              <a:gd name="adj" fmla="val 50000"/>
            </a:avLst>
          </a:prstGeom>
          <a:solidFill>
            <a:srgbClr val="0F766E"/>
          </a:solidFill>
          <a:ln w="12700">
            <a:solidFill>
              <a:srgbClr val="0F766E"/>
            </a:solidFill>
            <a:prstDash val="solid"/>
          </a:ln>
        </p:spPr>
        <p:txBody>
          <a:bodyPr wrap="square" lIns="0" tIns="0" rIns="0" bIns="0"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customer_id</a:t>
            </a:r>
            <a:endParaRPr lang="en-US" sz="1200" dirty="0"/>
          </a:p>
        </p:txBody>
      </p:sp>
      <p:sp>
        <p:nvSpPr>
          <p:cNvPr id="5" name="a1f_ar4"/>
          <p:cNvSpPr/>
          <p:nvPr/>
        </p:nvSpPr>
        <p:spPr>
          <a:xfrm>
            <a:off x="2331720" y="1389888"/>
            <a:ext cx="457200" cy="182880"/>
          </a:xfrm>
          <a:prstGeom prst="rightArrow">
            <a:avLst/>
          </a:prstGeom>
          <a:solidFill>
            <a:srgbClr val="0F766E"/>
          </a:solidFill>
          <a:ln>
            <a:noFill/>
          </a:ln>
        </p:spPr>
      </p:sp>
      <p:sp>
        <p:nvSpPr>
          <p:cNvPr id="6" name="a1fd150_b5"/>
          <p:cNvSpPr txBox="1"/>
          <p:nvPr/>
        </p:nvSpPr>
        <p:spPr>
          <a:xfrm>
            <a:off x="2926080" y="1280160"/>
            <a:ext cx="1645920" cy="402336"/>
          </a:xfrm>
          <a:prstGeom prst="roundRect">
            <a:avLst>
              <a:gd name="adj" fmla="val 50000"/>
            </a:avLst>
          </a:prstGeom>
          <a:solidFill>
            <a:srgbClr val="FFFFFF"/>
          </a:solidFill>
          <a:ln w="12700">
            <a:solidFill>
              <a:srgbClr val="CBD5E1"/>
            </a:solidFill>
            <a:prstDash val="solid"/>
          </a:ln>
        </p:spPr>
        <p:txBody>
          <a:bodyPr wrap="square" lIns="0" tIns="0" rIns="0" bIns="0" rtlCol="0" anchor="ctr"/>
          <a:lstStyle/>
          <a:p>
            <a:pPr marL="0" indent="0" algn="ctr">
              <a:buNone/>
            </a:pPr>
            <a:r>
              <a:rPr lang="en-US" sz="1150" b="1" dirty="0">
                <a:solidFill>
                  <a:srgbClr val="0F172A"/>
                </a:solidFill>
                <a:latin typeface="Courier New" pitchFamily="34" charset="0"/>
                <a:ea typeface="Courier New" pitchFamily="34" charset="-122"/>
                <a:cs typeface="Courier New" pitchFamily="34" charset="-120"/>
              </a:rPr>
              <a:t>first_name</a:t>
            </a:r>
            <a:endParaRPr lang="en-US" sz="1150" dirty="0"/>
          </a:p>
        </p:txBody>
      </p:sp>
      <p:sp>
        <p:nvSpPr>
          <p:cNvPr id="7" name="a1fd250_b6"/>
          <p:cNvSpPr txBox="1"/>
          <p:nvPr/>
        </p:nvSpPr>
        <p:spPr>
          <a:xfrm>
            <a:off x="4709160" y="1280160"/>
            <a:ext cx="1645920" cy="402336"/>
          </a:xfrm>
          <a:prstGeom prst="roundRect">
            <a:avLst>
              <a:gd name="adj" fmla="val 50000"/>
            </a:avLst>
          </a:prstGeom>
          <a:solidFill>
            <a:srgbClr val="FFFFFF"/>
          </a:solidFill>
          <a:ln w="12700">
            <a:solidFill>
              <a:srgbClr val="CBD5E1"/>
            </a:solidFill>
            <a:prstDash val="solid"/>
          </a:ln>
        </p:spPr>
        <p:txBody>
          <a:bodyPr wrap="square" lIns="0" tIns="0" rIns="0" bIns="0" rtlCol="0" anchor="ctr"/>
          <a:lstStyle/>
          <a:p>
            <a:pPr marL="0" indent="0" algn="ctr">
              <a:buNone/>
            </a:pPr>
            <a:r>
              <a:rPr lang="en-US" sz="1150" b="1" dirty="0">
                <a:solidFill>
                  <a:srgbClr val="0F172A"/>
                </a:solidFill>
                <a:latin typeface="Courier New" pitchFamily="34" charset="0"/>
                <a:ea typeface="Courier New" pitchFamily="34" charset="-122"/>
                <a:cs typeface="Courier New" pitchFamily="34" charset="-120"/>
              </a:rPr>
              <a:t>phone</a:t>
            </a:r>
            <a:endParaRPr lang="en-US" sz="1150" dirty="0"/>
          </a:p>
        </p:txBody>
      </p:sp>
      <p:sp>
        <p:nvSpPr>
          <p:cNvPr id="8" name="a1fd350_b7"/>
          <p:cNvSpPr txBox="1"/>
          <p:nvPr/>
        </p:nvSpPr>
        <p:spPr>
          <a:xfrm>
            <a:off x="6492240" y="1280160"/>
            <a:ext cx="1645920" cy="402336"/>
          </a:xfrm>
          <a:prstGeom prst="roundRect">
            <a:avLst>
              <a:gd name="adj" fmla="val 50000"/>
            </a:avLst>
          </a:prstGeom>
          <a:solidFill>
            <a:srgbClr val="FFFFFF"/>
          </a:solidFill>
          <a:ln w="12700">
            <a:solidFill>
              <a:srgbClr val="CBD5E1"/>
            </a:solidFill>
            <a:prstDash val="solid"/>
          </a:ln>
        </p:spPr>
        <p:txBody>
          <a:bodyPr wrap="square" lIns="0" tIns="0" rIns="0" bIns="0" rtlCol="0" anchor="ctr"/>
          <a:lstStyle/>
          <a:p>
            <a:pPr marL="0" indent="0" algn="ctr">
              <a:buNone/>
            </a:pPr>
            <a:r>
              <a:rPr lang="en-US" sz="1150" b="1" dirty="0">
                <a:solidFill>
                  <a:srgbClr val="0F172A"/>
                </a:solidFill>
                <a:latin typeface="Courier New" pitchFamily="34" charset="0"/>
                <a:ea typeface="Courier New" pitchFamily="34" charset="-122"/>
                <a:cs typeface="Courier New" pitchFamily="34" charset="-120"/>
              </a:rPr>
              <a:t>city</a:t>
            </a:r>
            <a:endParaRPr lang="en-US" sz="1150" dirty="0"/>
          </a:p>
        </p:txBody>
      </p:sp>
      <p:sp>
        <p:nvSpPr>
          <p:cNvPr id="9" name="a2f_a8"/>
          <p:cNvSpPr txBox="1"/>
          <p:nvPr/>
        </p:nvSpPr>
        <p:spPr>
          <a:xfrm>
            <a:off x="457200" y="1938528"/>
            <a:ext cx="1737360" cy="402336"/>
          </a:xfrm>
          <a:prstGeom prst="roundRect">
            <a:avLst>
              <a:gd name="adj" fmla="val 50000"/>
            </a:avLst>
          </a:prstGeom>
          <a:solidFill>
            <a:srgbClr val="B45309"/>
          </a:solidFill>
          <a:ln w="12700">
            <a:solidFill>
              <a:srgbClr val="B45309"/>
            </a:solidFill>
            <a:prstDash val="solid"/>
          </a:ln>
        </p:spPr>
        <p:txBody>
          <a:bodyPr wrap="square" lIns="0" tIns="0" rIns="0" bIns="0"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branch_code</a:t>
            </a:r>
            <a:endParaRPr lang="en-US" sz="1200" dirty="0"/>
          </a:p>
        </p:txBody>
      </p:sp>
      <p:sp>
        <p:nvSpPr>
          <p:cNvPr id="10" name="a2f_ar9"/>
          <p:cNvSpPr/>
          <p:nvPr/>
        </p:nvSpPr>
        <p:spPr>
          <a:xfrm>
            <a:off x="2331720" y="2048256"/>
            <a:ext cx="457200" cy="182880"/>
          </a:xfrm>
          <a:prstGeom prst="rightArrow">
            <a:avLst/>
          </a:prstGeom>
          <a:solidFill>
            <a:srgbClr val="B45309"/>
          </a:solidFill>
          <a:ln>
            <a:noFill/>
          </a:ln>
        </p:spPr>
      </p:sp>
      <p:sp>
        <p:nvSpPr>
          <p:cNvPr id="11" name="a2fd150_b10"/>
          <p:cNvSpPr txBox="1"/>
          <p:nvPr/>
        </p:nvSpPr>
        <p:spPr>
          <a:xfrm>
            <a:off x="2926080" y="1938528"/>
            <a:ext cx="1645920" cy="402336"/>
          </a:xfrm>
          <a:prstGeom prst="roundRect">
            <a:avLst>
              <a:gd name="adj" fmla="val 50000"/>
            </a:avLst>
          </a:prstGeom>
          <a:solidFill>
            <a:srgbClr val="FFFFFF"/>
          </a:solidFill>
          <a:ln w="12700">
            <a:solidFill>
              <a:srgbClr val="CBD5E1"/>
            </a:solidFill>
            <a:prstDash val="solid"/>
          </a:ln>
        </p:spPr>
        <p:txBody>
          <a:bodyPr wrap="square" lIns="0" tIns="0" rIns="0" bIns="0" rtlCol="0" anchor="ctr"/>
          <a:lstStyle/>
          <a:p>
            <a:pPr marL="0" indent="0" algn="ctr">
              <a:buNone/>
            </a:pPr>
            <a:r>
              <a:rPr lang="en-US" sz="1150" b="1" dirty="0">
                <a:solidFill>
                  <a:srgbClr val="0F172A"/>
                </a:solidFill>
                <a:latin typeface="Courier New" pitchFamily="34" charset="0"/>
                <a:ea typeface="Courier New" pitchFamily="34" charset="-122"/>
                <a:cs typeface="Courier New" pitchFamily="34" charset="-120"/>
              </a:rPr>
              <a:t>branch_name</a:t>
            </a:r>
            <a:endParaRPr lang="en-US" sz="1150" dirty="0"/>
          </a:p>
        </p:txBody>
      </p:sp>
      <p:sp>
        <p:nvSpPr>
          <p:cNvPr id="12" name="a2fd250_b11"/>
          <p:cNvSpPr txBox="1"/>
          <p:nvPr/>
        </p:nvSpPr>
        <p:spPr>
          <a:xfrm>
            <a:off x="4709160" y="1938528"/>
            <a:ext cx="1645920" cy="402336"/>
          </a:xfrm>
          <a:prstGeom prst="roundRect">
            <a:avLst>
              <a:gd name="adj" fmla="val 50000"/>
            </a:avLst>
          </a:prstGeom>
          <a:solidFill>
            <a:srgbClr val="FFFFFF"/>
          </a:solidFill>
          <a:ln w="12700">
            <a:solidFill>
              <a:srgbClr val="CBD5E1"/>
            </a:solidFill>
            <a:prstDash val="solid"/>
          </a:ln>
        </p:spPr>
        <p:txBody>
          <a:bodyPr wrap="square" lIns="0" tIns="0" rIns="0" bIns="0" rtlCol="0" anchor="ctr"/>
          <a:lstStyle/>
          <a:p>
            <a:pPr marL="0" indent="0" algn="ctr">
              <a:buNone/>
            </a:pPr>
            <a:r>
              <a:rPr lang="en-US" sz="1150" b="1" dirty="0">
                <a:solidFill>
                  <a:srgbClr val="0F172A"/>
                </a:solidFill>
                <a:latin typeface="Courier New" pitchFamily="34" charset="0"/>
                <a:ea typeface="Courier New" pitchFamily="34" charset="-122"/>
                <a:cs typeface="Courier New" pitchFamily="34" charset="-120"/>
              </a:rPr>
              <a:t>ifsc_code</a:t>
            </a:r>
            <a:endParaRPr lang="en-US" sz="1150" dirty="0"/>
          </a:p>
        </p:txBody>
      </p:sp>
      <p:sp>
        <p:nvSpPr>
          <p:cNvPr id="13" name="a2fd350_b12"/>
          <p:cNvSpPr txBox="1"/>
          <p:nvPr/>
        </p:nvSpPr>
        <p:spPr>
          <a:xfrm>
            <a:off x="6492240" y="1938528"/>
            <a:ext cx="1645920" cy="402336"/>
          </a:xfrm>
          <a:prstGeom prst="roundRect">
            <a:avLst>
              <a:gd name="adj" fmla="val 50000"/>
            </a:avLst>
          </a:prstGeom>
          <a:solidFill>
            <a:srgbClr val="FFFFFF"/>
          </a:solidFill>
          <a:ln w="12700">
            <a:solidFill>
              <a:srgbClr val="CBD5E1"/>
            </a:solidFill>
            <a:prstDash val="solid"/>
          </a:ln>
        </p:spPr>
        <p:txBody>
          <a:bodyPr wrap="square" lIns="0" tIns="0" rIns="0" bIns="0" rtlCol="0" anchor="ctr"/>
          <a:lstStyle/>
          <a:p>
            <a:pPr marL="0" indent="0" algn="ctr">
              <a:buNone/>
            </a:pPr>
            <a:r>
              <a:rPr lang="en-US" sz="1150" b="1" dirty="0">
                <a:solidFill>
                  <a:srgbClr val="0F172A"/>
                </a:solidFill>
                <a:latin typeface="Courier New" pitchFamily="34" charset="0"/>
                <a:ea typeface="Courier New" pitchFamily="34" charset="-122"/>
                <a:cs typeface="Courier New" pitchFamily="34" charset="-120"/>
              </a:rPr>
              <a:t>city</a:t>
            </a:r>
            <a:endParaRPr lang="en-US" sz="1150" dirty="0"/>
          </a:p>
        </p:txBody>
      </p:sp>
      <p:sp>
        <p:nvSpPr>
          <p:cNvPr id="14" name="a3f_a13"/>
          <p:cNvSpPr txBox="1"/>
          <p:nvPr/>
        </p:nvSpPr>
        <p:spPr>
          <a:xfrm>
            <a:off x="457200" y="2596896"/>
            <a:ext cx="1737360" cy="402336"/>
          </a:xfrm>
          <a:prstGeom prst="roundRect">
            <a:avLst>
              <a:gd name="adj" fmla="val 50000"/>
            </a:avLst>
          </a:prstGeom>
          <a:solidFill>
            <a:srgbClr val="6D28D9"/>
          </a:solidFill>
          <a:ln w="12700">
            <a:solidFill>
              <a:srgbClr val="6D28D9"/>
            </a:solidFill>
            <a:prstDash val="solid"/>
          </a:ln>
        </p:spPr>
        <p:txBody>
          <a:bodyPr wrap="square" lIns="0" tIns="0" rIns="0" bIns="0"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account_no</a:t>
            </a:r>
            <a:endParaRPr lang="en-US" sz="1200" dirty="0"/>
          </a:p>
        </p:txBody>
      </p:sp>
      <p:sp>
        <p:nvSpPr>
          <p:cNvPr id="15" name="a3f_ar14"/>
          <p:cNvSpPr/>
          <p:nvPr/>
        </p:nvSpPr>
        <p:spPr>
          <a:xfrm>
            <a:off x="2331720" y="2706624"/>
            <a:ext cx="457200" cy="182880"/>
          </a:xfrm>
          <a:prstGeom prst="rightArrow">
            <a:avLst/>
          </a:prstGeom>
          <a:solidFill>
            <a:srgbClr val="6D28D9"/>
          </a:solidFill>
          <a:ln>
            <a:noFill/>
          </a:ln>
        </p:spPr>
      </p:sp>
      <p:sp>
        <p:nvSpPr>
          <p:cNvPr id="16" name="a3fd150_b15"/>
          <p:cNvSpPr txBox="1"/>
          <p:nvPr/>
        </p:nvSpPr>
        <p:spPr>
          <a:xfrm>
            <a:off x="2926080" y="2596896"/>
            <a:ext cx="1645920" cy="402336"/>
          </a:xfrm>
          <a:prstGeom prst="roundRect">
            <a:avLst>
              <a:gd name="adj" fmla="val 50000"/>
            </a:avLst>
          </a:prstGeom>
          <a:solidFill>
            <a:srgbClr val="FFFFFF"/>
          </a:solidFill>
          <a:ln w="12700">
            <a:solidFill>
              <a:srgbClr val="CBD5E1"/>
            </a:solidFill>
            <a:prstDash val="solid"/>
          </a:ln>
        </p:spPr>
        <p:txBody>
          <a:bodyPr wrap="square" lIns="0" tIns="0" rIns="0" bIns="0" rtlCol="0" anchor="ctr"/>
          <a:lstStyle/>
          <a:p>
            <a:pPr marL="0" indent="0" algn="ctr">
              <a:buNone/>
            </a:pPr>
            <a:r>
              <a:rPr lang="en-US" sz="1150" b="1" dirty="0">
                <a:solidFill>
                  <a:srgbClr val="0F172A"/>
                </a:solidFill>
                <a:latin typeface="Courier New" pitchFamily="34" charset="0"/>
                <a:ea typeface="Courier New" pitchFamily="34" charset="-122"/>
                <a:cs typeface="Courier New" pitchFamily="34" charset="-120"/>
              </a:rPr>
              <a:t>account_type</a:t>
            </a:r>
            <a:endParaRPr lang="en-US" sz="1150" dirty="0"/>
          </a:p>
        </p:txBody>
      </p:sp>
      <p:sp>
        <p:nvSpPr>
          <p:cNvPr id="17" name="a3fd250_b16"/>
          <p:cNvSpPr txBox="1"/>
          <p:nvPr/>
        </p:nvSpPr>
        <p:spPr>
          <a:xfrm>
            <a:off x="4709160" y="2596896"/>
            <a:ext cx="1645920" cy="402336"/>
          </a:xfrm>
          <a:prstGeom prst="roundRect">
            <a:avLst>
              <a:gd name="adj" fmla="val 50000"/>
            </a:avLst>
          </a:prstGeom>
          <a:solidFill>
            <a:srgbClr val="FFFFFF"/>
          </a:solidFill>
          <a:ln w="12700">
            <a:solidFill>
              <a:srgbClr val="CBD5E1"/>
            </a:solidFill>
            <a:prstDash val="solid"/>
          </a:ln>
        </p:spPr>
        <p:txBody>
          <a:bodyPr wrap="square" lIns="0" tIns="0" rIns="0" bIns="0" rtlCol="0" anchor="ctr"/>
          <a:lstStyle/>
          <a:p>
            <a:pPr marL="0" indent="0" algn="ctr">
              <a:buNone/>
            </a:pPr>
            <a:r>
              <a:rPr lang="en-US" sz="1150" b="1" dirty="0">
                <a:solidFill>
                  <a:srgbClr val="0F172A"/>
                </a:solidFill>
                <a:latin typeface="Courier New" pitchFamily="34" charset="0"/>
                <a:ea typeface="Courier New" pitchFamily="34" charset="-122"/>
                <a:cs typeface="Courier New" pitchFamily="34" charset="-120"/>
              </a:rPr>
              <a:t>balance</a:t>
            </a:r>
            <a:endParaRPr lang="en-US" sz="1150" dirty="0"/>
          </a:p>
        </p:txBody>
      </p:sp>
      <p:sp>
        <p:nvSpPr>
          <p:cNvPr id="18" name="a4f_dt17"/>
          <p:cNvSpPr txBox="1"/>
          <p:nvPr/>
        </p:nvSpPr>
        <p:spPr>
          <a:xfrm>
            <a:off x="457200" y="3246120"/>
            <a:ext cx="8229600" cy="274320"/>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Determinant </a:t>
            </a:r>
            <a:r>
              <a:rPr lang="en-US" sz="1200" dirty="0">
                <a:solidFill>
                  <a:srgbClr val="334155"/>
                </a:solidFill>
                <a:latin typeface="Calibri" pitchFamily="34" charset="0"/>
                <a:ea typeface="Calibri" pitchFamily="34" charset="-122"/>
                <a:cs typeface="Calibri" pitchFamily="34" charset="-120"/>
              </a:rPr>
              <a:t>= the left-hand side. Normalization makes every non-key column depend on the key of its own table.</a:t>
            </a:r>
            <a:endParaRPr lang="en-US" sz="1200" dirty="0"/>
          </a:p>
        </p:txBody>
      </p:sp>
      <p:sp>
        <p:nvSpPr>
          <p:cNvPr id="19" name="a5u_m18"/>
          <p:cNvSpPr txBox="1"/>
          <p:nvPr/>
        </p:nvSpPr>
        <p:spPr>
          <a:xfrm>
            <a:off x="457200" y="3657600"/>
            <a:ext cx="8229600" cy="1005840"/>
          </a:xfrm>
          <a:prstGeom prst="roundRect">
            <a:avLst>
              <a:gd name="adj" fmla="val 6000"/>
            </a:avLst>
          </a:prstGeom>
          <a:solidFill>
            <a:srgbClr val="1E293B"/>
          </a:solidFill>
          <a:ln w="12700">
            <a:solidFill>
              <a:srgbClr val="1E293B"/>
            </a:solidFill>
            <a:prstDash val="solid"/>
          </a:ln>
        </p:spPr>
        <p:txBody>
          <a:bodyPr wrap="square" lIns="0" tIns="0" rIns="0" bIns="0" rtlCol="0" anchor="ctr"/>
          <a:lstStyle/>
          <a:p>
            <a:pPr marL="0" indent="0" algn="ctr">
              <a:buNone/>
            </a:pPr>
            <a:r>
              <a:rPr lang="en-US" sz="1500" dirty="0">
                <a:solidFill>
                  <a:srgbClr val="E2E8F0"/>
                </a:solidFill>
                <a:latin typeface="Calibri" pitchFamily="34" charset="0"/>
                <a:ea typeface="Calibri" pitchFamily="34" charset="-122"/>
                <a:cs typeface="Calibri" pitchFamily="34" charset="-120"/>
              </a:rPr>
              <a:t>Every non-key attribute must depend on </a:t>
            </a:r>
            <a:r>
              <a:rPr lang="en-US" sz="1500" b="1" dirty="0">
                <a:solidFill>
                  <a:srgbClr val="5EEAD4"/>
                </a:solidFill>
                <a:latin typeface="Calibri" pitchFamily="34" charset="0"/>
                <a:ea typeface="Calibri" pitchFamily="34" charset="-122"/>
                <a:cs typeface="Calibri" pitchFamily="34" charset="-120"/>
              </a:rPr>
              <a:t>the key</a:t>
            </a:r>
            <a:r>
              <a:rPr lang="en-US" sz="1200" dirty="0">
                <a:solidFill>
                  <a:srgbClr val="64748B"/>
                </a:solidFill>
                <a:latin typeface="Calibri" pitchFamily="34" charset="0"/>
                <a:ea typeface="Calibri" pitchFamily="34" charset="-122"/>
                <a:cs typeface="Calibri" pitchFamily="34" charset="-120"/>
              </a:rPr>
              <a:t> (1NF), </a:t>
            </a:r>
            <a:r>
              <a:rPr lang="en-US" sz="1500" b="1" dirty="0">
                <a:solidFill>
                  <a:srgbClr val="FCD34D"/>
                </a:solidFill>
                <a:latin typeface="Calibri" pitchFamily="34" charset="0"/>
                <a:ea typeface="Calibri" pitchFamily="34" charset="-122"/>
                <a:cs typeface="Calibri" pitchFamily="34" charset="-120"/>
              </a:rPr>
              <a:t>the whole key</a:t>
            </a:r>
            <a:r>
              <a:rPr lang="en-US" sz="1200" dirty="0">
                <a:solidFill>
                  <a:srgbClr val="64748B"/>
                </a:solidFill>
                <a:latin typeface="Calibri" pitchFamily="34" charset="0"/>
                <a:ea typeface="Calibri" pitchFamily="34" charset="-122"/>
                <a:cs typeface="Calibri" pitchFamily="34" charset="-120"/>
              </a:rPr>
              <a:t> (2NF), </a:t>
            </a:r>
            <a:r>
              <a:rPr lang="en-US" sz="1500" b="1" dirty="0">
                <a:solidFill>
                  <a:srgbClr val="C4B5FD"/>
                </a:solidFill>
                <a:latin typeface="Calibri" pitchFamily="34" charset="0"/>
                <a:ea typeface="Calibri" pitchFamily="34" charset="-122"/>
                <a:cs typeface="Calibri" pitchFamily="34" charset="-120"/>
              </a:rPr>
              <a:t>and nothing but the key</a:t>
            </a:r>
            <a:r>
              <a:rPr lang="en-US" sz="1200" dirty="0">
                <a:solidFill>
                  <a:srgbClr val="64748B"/>
                </a:solidFill>
                <a:latin typeface="Calibri" pitchFamily="34" charset="0"/>
                <a:ea typeface="Calibri" pitchFamily="34" charset="-122"/>
                <a:cs typeface="Calibri" pitchFamily="34" charset="-120"/>
              </a:rPr>
              <a:t> (3NF).</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15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25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35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15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25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grpId="0" nodeType="withEffect">
                                  <p:stCondLst>
                                    <p:cond delay="35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grpId="0" nodeType="withEffect">
                                  <p:stCondLst>
                                    <p:cond delay="15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grpId="0" nodeType="withEffect">
                                  <p:stCondLst>
                                    <p:cond delay="25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19"/>
                                        </p:tgtEl>
                                        <p:attrNameLst>
                                          <p:attrName>style.visibility</p:attrName>
                                        </p:attrNameLst>
                                      </p:cBhvr>
                                      <p:to>
                                        <p:strVal val="visible"/>
                                      </p:to>
                                    </p:set>
                                    <p:anim calcmode="lin" valueType="num">
                                      <p:cBhvr additive="base">
                                        <p:cTn id="60" dur="500" fill="hold"/>
                                        <p:tgtEl>
                                          <p:spTgt spid="19"/>
                                        </p:tgtEl>
                                        <p:attrNameLst>
                                          <p:attrName>ppt_x</p:attrName>
                                        </p:attrNameLst>
                                      </p:cBhvr>
                                      <p:tavLst>
                                        <p:tav tm="0">
                                          <p:val>
                                            <p:strVal val="#ppt_x"/>
                                          </p:val>
                                        </p:tav>
                                        <p:tav tm="100000">
                                          <p:val>
                                            <p:strVal val="#ppt_x"/>
                                          </p:val>
                                        </p:tav>
                                      </p:tavLst>
                                    </p:anim>
                                    <p:anim calcmode="lin" valueType="num">
                                      <p:cBhvr additive="base">
                                        <p:cTn id="61" dur="500" fill="hold"/>
                                        <p:tgtEl>
                                          <p:spTgt spid="19"/>
                                        </p:tgtEl>
                                        <p:attrNameLst>
                                          <p:attrName>ppt_y</p:attrName>
                                        </p:attrNameLst>
                                      </p:cBhvr>
                                      <p:tavLst>
                                        <p:tav tm="0">
                                          <p:val>
                                            <p:strVal val="#ppt_y+0.1"/>
                                          </p:val>
                                        </p:tav>
                                        <p:tav tm="100000">
                                          <p:val>
                                            <p:strVal val="#ppt_y"/>
                                          </p:val>
                                        </p:tav>
                                      </p:tavLst>
                                    </p:anim>
                                    <p:animEffect transition="in" filter="fade">
                                      <p:cBhvr>
                                        <p:cTn id="6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1"/>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1NF — The Problem</a:t>
            </a:r>
            <a:endParaRPr lang="en-US" sz="2800" dirty="0"/>
          </a:p>
        </p:txBody>
      </p:sp>
      <p:sp>
        <p:nvSpPr>
          <p:cNvPr id="3" name="Text 2"/>
          <p:cNvSpPr txBox="1"/>
          <p:nvPr/>
        </p:nvSpPr>
        <p:spPr>
          <a:xfrm>
            <a:off x="457200" y="749808"/>
            <a:ext cx="8229600" cy="320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Rules: every value atomic, no repeating groups, every row uniquely identifiable</a:t>
            </a:r>
            <a:endParaRPr lang="en-US" sz="1300" dirty="0"/>
          </a:p>
        </p:txBody>
      </p:sp>
      <p:sp>
        <p:nvSpPr>
          <p:cNvPr id="4" name="a1f_cell3"/>
          <p:cNvSpPr txBox="1"/>
          <p:nvPr/>
        </p:nvSpPr>
        <p:spPr>
          <a:xfrm>
            <a:off x="457200" y="1280160"/>
            <a:ext cx="685800" cy="274320"/>
          </a:xfrm>
          <a:prstGeom prst="rect">
            <a:avLst/>
          </a:prstGeom>
          <a:solidFill>
            <a:srgbClr val="475569"/>
          </a:solidFill>
          <a:ln w="9525">
            <a:solidFill>
              <a:srgbClr val="47556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cust_id</a:t>
            </a:r>
            <a:endParaRPr lang="en-US" sz="1100" dirty="0"/>
          </a:p>
        </p:txBody>
      </p:sp>
      <p:sp>
        <p:nvSpPr>
          <p:cNvPr id="5" name="a1wd200_cell4"/>
          <p:cNvSpPr txBox="1"/>
          <p:nvPr/>
        </p:nvSpPr>
        <p:spPr>
          <a:xfrm>
            <a:off x="457200" y="1554480"/>
            <a:ext cx="68580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1005</a:t>
            </a:r>
            <a:endParaRPr lang="en-US" sz="1100" dirty="0"/>
          </a:p>
        </p:txBody>
      </p:sp>
      <p:sp>
        <p:nvSpPr>
          <p:cNvPr id="6" name="a1wd400_cell5"/>
          <p:cNvSpPr txBox="1"/>
          <p:nvPr/>
        </p:nvSpPr>
        <p:spPr>
          <a:xfrm>
            <a:off x="457200" y="1828800"/>
            <a:ext cx="68580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1003</a:t>
            </a:r>
            <a:endParaRPr lang="en-US" sz="1100" dirty="0"/>
          </a:p>
        </p:txBody>
      </p:sp>
      <p:sp>
        <p:nvSpPr>
          <p:cNvPr id="7" name="a1wd600_cell6"/>
          <p:cNvSpPr txBox="1"/>
          <p:nvPr/>
        </p:nvSpPr>
        <p:spPr>
          <a:xfrm>
            <a:off x="457200" y="2103120"/>
            <a:ext cx="68580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1011</a:t>
            </a:r>
            <a:endParaRPr lang="en-US" sz="1100" dirty="0"/>
          </a:p>
        </p:txBody>
      </p:sp>
      <p:sp>
        <p:nvSpPr>
          <p:cNvPr id="8" name="a1f_cell7"/>
          <p:cNvSpPr txBox="1"/>
          <p:nvPr/>
        </p:nvSpPr>
        <p:spPr>
          <a:xfrm>
            <a:off x="1143000" y="1280160"/>
            <a:ext cx="1188720" cy="274320"/>
          </a:xfrm>
          <a:prstGeom prst="rect">
            <a:avLst/>
          </a:prstGeom>
          <a:solidFill>
            <a:srgbClr val="475569"/>
          </a:solidFill>
          <a:ln w="9525">
            <a:solidFill>
              <a:srgbClr val="47556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cust_name</a:t>
            </a:r>
            <a:endParaRPr lang="en-US" sz="1100" dirty="0"/>
          </a:p>
        </p:txBody>
      </p:sp>
      <p:sp>
        <p:nvSpPr>
          <p:cNvPr id="9" name="a1wd200_cell8"/>
          <p:cNvSpPr txBox="1"/>
          <p:nvPr/>
        </p:nvSpPr>
        <p:spPr>
          <a:xfrm>
            <a:off x="1143000" y="1554480"/>
            <a:ext cx="118872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Karthik Gupta</a:t>
            </a:r>
            <a:endParaRPr lang="en-US" sz="1100" dirty="0"/>
          </a:p>
        </p:txBody>
      </p:sp>
      <p:sp>
        <p:nvSpPr>
          <p:cNvPr id="10" name="a1wd400_cell9"/>
          <p:cNvSpPr txBox="1"/>
          <p:nvPr/>
        </p:nvSpPr>
        <p:spPr>
          <a:xfrm>
            <a:off x="1143000" y="1828800"/>
            <a:ext cx="118872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Rohan Iyer</a:t>
            </a:r>
            <a:endParaRPr lang="en-US" sz="1100" dirty="0"/>
          </a:p>
        </p:txBody>
      </p:sp>
      <p:sp>
        <p:nvSpPr>
          <p:cNvPr id="11" name="a1wd600_cell10"/>
          <p:cNvSpPr txBox="1"/>
          <p:nvPr/>
        </p:nvSpPr>
        <p:spPr>
          <a:xfrm>
            <a:off x="1143000" y="2103120"/>
            <a:ext cx="1188720" cy="274320"/>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Rahul Khan</a:t>
            </a:r>
            <a:endParaRPr lang="en-US" sz="1100" dirty="0"/>
          </a:p>
        </p:txBody>
      </p:sp>
      <p:sp>
        <p:nvSpPr>
          <p:cNvPr id="12" name="a1f_cell11"/>
          <p:cNvSpPr txBox="1"/>
          <p:nvPr/>
        </p:nvSpPr>
        <p:spPr>
          <a:xfrm>
            <a:off x="2331720" y="1280160"/>
            <a:ext cx="914400" cy="274320"/>
          </a:xfrm>
          <a:prstGeom prst="rect">
            <a:avLst/>
          </a:prstGeom>
          <a:solidFill>
            <a:srgbClr val="B45309"/>
          </a:solidFill>
          <a:ln w="9525">
            <a:solidFill>
              <a:srgbClr val="B4530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acct_no_1</a:t>
            </a:r>
            <a:endParaRPr lang="en-US" sz="1100" dirty="0"/>
          </a:p>
        </p:txBody>
      </p:sp>
      <p:sp>
        <p:nvSpPr>
          <p:cNvPr id="13" name="a1wd200_cell12"/>
          <p:cNvSpPr txBox="1"/>
          <p:nvPr/>
        </p:nvSpPr>
        <p:spPr>
          <a:xfrm>
            <a:off x="2331720" y="1554480"/>
            <a:ext cx="914400" cy="274320"/>
          </a:xfrm>
          <a:prstGeom prst="rect">
            <a:avLst/>
          </a:prstGeom>
          <a:solidFill>
            <a:srgbClr val="FFEDD5"/>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…9005</a:t>
            </a:r>
            <a:endParaRPr lang="en-US" sz="1100" dirty="0"/>
          </a:p>
        </p:txBody>
      </p:sp>
      <p:sp>
        <p:nvSpPr>
          <p:cNvPr id="14" name="a1wd400_cell13"/>
          <p:cNvSpPr txBox="1"/>
          <p:nvPr/>
        </p:nvSpPr>
        <p:spPr>
          <a:xfrm>
            <a:off x="2331720" y="1828800"/>
            <a:ext cx="914400" cy="274320"/>
          </a:xfrm>
          <a:prstGeom prst="rect">
            <a:avLst/>
          </a:prstGeom>
          <a:solidFill>
            <a:srgbClr val="FFEDD5"/>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…9003</a:t>
            </a:r>
            <a:endParaRPr lang="en-US" sz="1100" dirty="0"/>
          </a:p>
        </p:txBody>
      </p:sp>
      <p:sp>
        <p:nvSpPr>
          <p:cNvPr id="15" name="a1wd600_cell14"/>
          <p:cNvSpPr txBox="1"/>
          <p:nvPr/>
        </p:nvSpPr>
        <p:spPr>
          <a:xfrm>
            <a:off x="2331720" y="2103120"/>
            <a:ext cx="914400" cy="274320"/>
          </a:xfrm>
          <a:prstGeom prst="rect">
            <a:avLst/>
          </a:prstGeom>
          <a:solidFill>
            <a:srgbClr val="FFEDD5"/>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…9013</a:t>
            </a:r>
            <a:endParaRPr lang="en-US" sz="1100" dirty="0"/>
          </a:p>
        </p:txBody>
      </p:sp>
      <p:sp>
        <p:nvSpPr>
          <p:cNvPr id="16" name="a1f_cell15"/>
          <p:cNvSpPr txBox="1"/>
          <p:nvPr/>
        </p:nvSpPr>
        <p:spPr>
          <a:xfrm>
            <a:off x="3246120" y="1280160"/>
            <a:ext cx="960120" cy="274320"/>
          </a:xfrm>
          <a:prstGeom prst="rect">
            <a:avLst/>
          </a:prstGeom>
          <a:solidFill>
            <a:srgbClr val="B45309"/>
          </a:solidFill>
          <a:ln w="9525">
            <a:solidFill>
              <a:srgbClr val="B4530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balance_1</a:t>
            </a:r>
            <a:endParaRPr lang="en-US" sz="1100" dirty="0"/>
          </a:p>
        </p:txBody>
      </p:sp>
      <p:sp>
        <p:nvSpPr>
          <p:cNvPr id="17" name="a1wd200_cell16"/>
          <p:cNvSpPr txBox="1"/>
          <p:nvPr/>
        </p:nvSpPr>
        <p:spPr>
          <a:xfrm>
            <a:off x="3246120" y="1554480"/>
            <a:ext cx="960120" cy="274320"/>
          </a:xfrm>
          <a:prstGeom prst="rect">
            <a:avLst/>
          </a:prstGeom>
          <a:solidFill>
            <a:srgbClr val="FFEDD5"/>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91729.06</a:t>
            </a:r>
            <a:endParaRPr lang="en-US" sz="1100" dirty="0"/>
          </a:p>
        </p:txBody>
      </p:sp>
      <p:sp>
        <p:nvSpPr>
          <p:cNvPr id="18" name="a1wd400_cell17"/>
          <p:cNvSpPr txBox="1"/>
          <p:nvPr/>
        </p:nvSpPr>
        <p:spPr>
          <a:xfrm>
            <a:off x="3246120" y="1828800"/>
            <a:ext cx="960120" cy="274320"/>
          </a:xfrm>
          <a:prstGeom prst="rect">
            <a:avLst/>
          </a:prstGeom>
          <a:solidFill>
            <a:srgbClr val="FFEDD5"/>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341244.80</a:t>
            </a:r>
            <a:endParaRPr lang="en-US" sz="1100" dirty="0"/>
          </a:p>
        </p:txBody>
      </p:sp>
      <p:sp>
        <p:nvSpPr>
          <p:cNvPr id="19" name="a1wd600_cell18"/>
          <p:cNvSpPr txBox="1"/>
          <p:nvPr/>
        </p:nvSpPr>
        <p:spPr>
          <a:xfrm>
            <a:off x="3246120" y="2103120"/>
            <a:ext cx="960120" cy="274320"/>
          </a:xfrm>
          <a:prstGeom prst="rect">
            <a:avLst/>
          </a:prstGeom>
          <a:solidFill>
            <a:srgbClr val="FFEDD5"/>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410879.83</a:t>
            </a:r>
            <a:endParaRPr lang="en-US" sz="1100" dirty="0"/>
          </a:p>
        </p:txBody>
      </p:sp>
      <p:sp>
        <p:nvSpPr>
          <p:cNvPr id="20" name="a1f_cell19"/>
          <p:cNvSpPr txBox="1"/>
          <p:nvPr/>
        </p:nvSpPr>
        <p:spPr>
          <a:xfrm>
            <a:off x="4206240" y="1280160"/>
            <a:ext cx="914400" cy="274320"/>
          </a:xfrm>
          <a:prstGeom prst="rect">
            <a:avLst/>
          </a:prstGeom>
          <a:solidFill>
            <a:srgbClr val="B45309"/>
          </a:solidFill>
          <a:ln w="9525">
            <a:solidFill>
              <a:srgbClr val="B4530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acct_no_2</a:t>
            </a:r>
            <a:endParaRPr lang="en-US" sz="1100" dirty="0"/>
          </a:p>
        </p:txBody>
      </p:sp>
      <p:sp>
        <p:nvSpPr>
          <p:cNvPr id="21" name="a1wd200_cell20"/>
          <p:cNvSpPr txBox="1"/>
          <p:nvPr/>
        </p:nvSpPr>
        <p:spPr>
          <a:xfrm>
            <a:off x="4206240" y="1554480"/>
            <a:ext cx="914400" cy="274320"/>
          </a:xfrm>
          <a:prstGeom prst="rect">
            <a:avLst/>
          </a:prstGeom>
          <a:solidFill>
            <a:srgbClr val="FFEDD5"/>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…9006</a:t>
            </a:r>
            <a:endParaRPr lang="en-US" sz="1100" dirty="0"/>
          </a:p>
        </p:txBody>
      </p:sp>
      <p:sp>
        <p:nvSpPr>
          <p:cNvPr id="22" name="a1wd400_cell21"/>
          <p:cNvSpPr txBox="1"/>
          <p:nvPr/>
        </p:nvSpPr>
        <p:spPr>
          <a:xfrm>
            <a:off x="4206240" y="1828800"/>
            <a:ext cx="914400" cy="274320"/>
          </a:xfrm>
          <a:prstGeom prst="rect">
            <a:avLst/>
          </a:prstGeom>
          <a:solidFill>
            <a:srgbClr val="FFEDD5"/>
          </a:solidFill>
          <a:ln w="9525">
            <a:solidFill>
              <a:srgbClr val="CBD5E1"/>
            </a:solidFill>
            <a:prstDash val="solid"/>
          </a:ln>
        </p:spPr>
        <p:txBody>
          <a:bodyPr wrap="square" lIns="0" tIns="0" rIns="0" bIns="0" rtlCol="0" anchor="ctr"/>
          <a:lstStyle/>
          <a:p>
            <a:pPr marL="0" indent="0" algn="ctr">
              <a:buNone/>
            </a:pPr>
            <a:r>
              <a:rPr lang="en-US" sz="1100" i="1" dirty="0">
                <a:solidFill>
                  <a:srgbClr val="94A3B8"/>
                </a:solidFill>
                <a:latin typeface="Calibri" pitchFamily="34" charset="0"/>
                <a:ea typeface="Calibri" pitchFamily="34" charset="-122"/>
                <a:cs typeface="Calibri" pitchFamily="34" charset="-120"/>
              </a:rPr>
              <a:t>NULL</a:t>
            </a:r>
            <a:endParaRPr lang="en-US" sz="1100" dirty="0"/>
          </a:p>
        </p:txBody>
      </p:sp>
      <p:sp>
        <p:nvSpPr>
          <p:cNvPr id="23" name="a1wd600_cell22"/>
          <p:cNvSpPr txBox="1"/>
          <p:nvPr/>
        </p:nvSpPr>
        <p:spPr>
          <a:xfrm>
            <a:off x="4206240" y="2103120"/>
            <a:ext cx="914400" cy="274320"/>
          </a:xfrm>
          <a:prstGeom prst="rect">
            <a:avLst/>
          </a:prstGeom>
          <a:solidFill>
            <a:srgbClr val="FFEDD5"/>
          </a:solidFill>
          <a:ln w="9525">
            <a:solidFill>
              <a:srgbClr val="CBD5E1"/>
            </a:solidFill>
            <a:prstDash val="solid"/>
          </a:ln>
        </p:spPr>
        <p:txBody>
          <a:bodyPr wrap="square" lIns="0" tIns="0" rIns="0" bIns="0" rtlCol="0" anchor="ctr"/>
          <a:lstStyle/>
          <a:p>
            <a:pPr marL="0" indent="0" algn="ctr">
              <a:buNone/>
            </a:pPr>
            <a:r>
              <a:rPr lang="en-US" sz="1100" i="1" dirty="0">
                <a:solidFill>
                  <a:srgbClr val="94A3B8"/>
                </a:solidFill>
                <a:latin typeface="Calibri" pitchFamily="34" charset="0"/>
                <a:ea typeface="Calibri" pitchFamily="34" charset="-122"/>
                <a:cs typeface="Calibri" pitchFamily="34" charset="-120"/>
              </a:rPr>
              <a:t>NULL</a:t>
            </a:r>
            <a:endParaRPr lang="en-US" sz="1100" dirty="0"/>
          </a:p>
        </p:txBody>
      </p:sp>
      <p:sp>
        <p:nvSpPr>
          <p:cNvPr id="24" name="a1f_cell23"/>
          <p:cNvSpPr txBox="1"/>
          <p:nvPr/>
        </p:nvSpPr>
        <p:spPr>
          <a:xfrm>
            <a:off x="5120640" y="1280160"/>
            <a:ext cx="960120" cy="274320"/>
          </a:xfrm>
          <a:prstGeom prst="rect">
            <a:avLst/>
          </a:prstGeom>
          <a:solidFill>
            <a:srgbClr val="B45309"/>
          </a:solidFill>
          <a:ln w="9525">
            <a:solidFill>
              <a:srgbClr val="B4530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balance_2</a:t>
            </a:r>
            <a:endParaRPr lang="en-US" sz="1100" dirty="0"/>
          </a:p>
        </p:txBody>
      </p:sp>
      <p:sp>
        <p:nvSpPr>
          <p:cNvPr id="25" name="a1wd200_cell24"/>
          <p:cNvSpPr txBox="1"/>
          <p:nvPr/>
        </p:nvSpPr>
        <p:spPr>
          <a:xfrm>
            <a:off x="5120640" y="1554480"/>
            <a:ext cx="960120" cy="274320"/>
          </a:xfrm>
          <a:prstGeom prst="rect">
            <a:avLst/>
          </a:prstGeom>
          <a:solidFill>
            <a:srgbClr val="FFEDD5"/>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27637.82</a:t>
            </a:r>
            <a:endParaRPr lang="en-US" sz="1100" dirty="0"/>
          </a:p>
        </p:txBody>
      </p:sp>
      <p:sp>
        <p:nvSpPr>
          <p:cNvPr id="26" name="a1wd400_cell25"/>
          <p:cNvSpPr txBox="1"/>
          <p:nvPr/>
        </p:nvSpPr>
        <p:spPr>
          <a:xfrm>
            <a:off x="5120640" y="1828800"/>
            <a:ext cx="960120" cy="274320"/>
          </a:xfrm>
          <a:prstGeom prst="rect">
            <a:avLst/>
          </a:prstGeom>
          <a:solidFill>
            <a:srgbClr val="FFEDD5"/>
          </a:solidFill>
          <a:ln w="9525">
            <a:solidFill>
              <a:srgbClr val="CBD5E1"/>
            </a:solidFill>
            <a:prstDash val="solid"/>
          </a:ln>
        </p:spPr>
        <p:txBody>
          <a:bodyPr wrap="square" lIns="0" tIns="0" rIns="0" bIns="0" rtlCol="0" anchor="ctr"/>
          <a:lstStyle/>
          <a:p>
            <a:pPr marL="0" indent="0" algn="ctr">
              <a:buNone/>
            </a:pPr>
            <a:r>
              <a:rPr lang="en-US" sz="1100" i="1" dirty="0">
                <a:solidFill>
                  <a:srgbClr val="94A3B8"/>
                </a:solidFill>
                <a:latin typeface="Calibri" pitchFamily="34" charset="0"/>
                <a:ea typeface="Calibri" pitchFamily="34" charset="-122"/>
                <a:cs typeface="Calibri" pitchFamily="34" charset="-120"/>
              </a:rPr>
              <a:t>NULL</a:t>
            </a:r>
            <a:endParaRPr lang="en-US" sz="1100" dirty="0"/>
          </a:p>
        </p:txBody>
      </p:sp>
      <p:sp>
        <p:nvSpPr>
          <p:cNvPr id="27" name="a1wd600_cell26"/>
          <p:cNvSpPr txBox="1"/>
          <p:nvPr/>
        </p:nvSpPr>
        <p:spPr>
          <a:xfrm>
            <a:off x="5120640" y="2103120"/>
            <a:ext cx="960120" cy="274320"/>
          </a:xfrm>
          <a:prstGeom prst="rect">
            <a:avLst/>
          </a:prstGeom>
          <a:solidFill>
            <a:srgbClr val="FFEDD5"/>
          </a:solidFill>
          <a:ln w="9525">
            <a:solidFill>
              <a:srgbClr val="CBD5E1"/>
            </a:solidFill>
            <a:prstDash val="solid"/>
          </a:ln>
        </p:spPr>
        <p:txBody>
          <a:bodyPr wrap="square" lIns="0" tIns="0" rIns="0" bIns="0" rtlCol="0" anchor="ctr"/>
          <a:lstStyle/>
          <a:p>
            <a:pPr marL="0" indent="0" algn="ctr">
              <a:buNone/>
            </a:pPr>
            <a:r>
              <a:rPr lang="en-US" sz="1100" i="1" dirty="0">
                <a:solidFill>
                  <a:srgbClr val="94A3B8"/>
                </a:solidFill>
                <a:latin typeface="Calibri" pitchFamily="34" charset="0"/>
                <a:ea typeface="Calibri" pitchFamily="34" charset="-122"/>
                <a:cs typeface="Calibri" pitchFamily="34" charset="-120"/>
              </a:rPr>
              <a:t>NULL</a:t>
            </a:r>
            <a:endParaRPr lang="en-US" sz="1100" dirty="0"/>
          </a:p>
        </p:txBody>
      </p:sp>
      <p:sp>
        <p:nvSpPr>
          <p:cNvPr id="28" name="a1f_cell27"/>
          <p:cNvSpPr txBox="1"/>
          <p:nvPr/>
        </p:nvSpPr>
        <p:spPr>
          <a:xfrm>
            <a:off x="6080760" y="1280160"/>
            <a:ext cx="1325880" cy="274320"/>
          </a:xfrm>
          <a:prstGeom prst="rect">
            <a:avLst/>
          </a:prstGeom>
          <a:solidFill>
            <a:srgbClr val="6D28D9"/>
          </a:solidFill>
          <a:ln w="9525">
            <a:solidFill>
              <a:srgbClr val="6D28D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products</a:t>
            </a:r>
            <a:endParaRPr lang="en-US" sz="1100" dirty="0"/>
          </a:p>
        </p:txBody>
      </p:sp>
      <p:sp>
        <p:nvSpPr>
          <p:cNvPr id="29" name="a1wd200_cell28"/>
          <p:cNvSpPr txBox="1"/>
          <p:nvPr/>
        </p:nvSpPr>
        <p:spPr>
          <a:xfrm>
            <a:off x="6080760" y="1554480"/>
            <a:ext cx="1325880" cy="274320"/>
          </a:xfrm>
          <a:prstGeom prst="rect">
            <a:avLst/>
          </a:prstGeom>
          <a:solidFill>
            <a:srgbClr val="EDE9FE"/>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FD,LOAN,CARD</a:t>
            </a:r>
            <a:endParaRPr lang="en-US" sz="1100" dirty="0"/>
          </a:p>
        </p:txBody>
      </p:sp>
      <p:sp>
        <p:nvSpPr>
          <p:cNvPr id="30" name="a1wd400_cell29"/>
          <p:cNvSpPr txBox="1"/>
          <p:nvPr/>
        </p:nvSpPr>
        <p:spPr>
          <a:xfrm>
            <a:off x="6080760" y="1828800"/>
            <a:ext cx="1325880" cy="274320"/>
          </a:xfrm>
          <a:prstGeom prst="rect">
            <a:avLst/>
          </a:prstGeom>
          <a:solidFill>
            <a:srgbClr val="EDE9FE"/>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FD,LOAN,CARD</a:t>
            </a:r>
            <a:endParaRPr lang="en-US" sz="1100" dirty="0"/>
          </a:p>
        </p:txBody>
      </p:sp>
      <p:sp>
        <p:nvSpPr>
          <p:cNvPr id="31" name="a1wd600_cell30"/>
          <p:cNvSpPr txBox="1"/>
          <p:nvPr/>
        </p:nvSpPr>
        <p:spPr>
          <a:xfrm>
            <a:off x="6080760" y="2103120"/>
            <a:ext cx="1325880" cy="274320"/>
          </a:xfrm>
          <a:prstGeom prst="rect">
            <a:avLst/>
          </a:prstGeom>
          <a:solidFill>
            <a:srgbClr val="EDE9FE"/>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LOAN,CARD</a:t>
            </a:r>
            <a:endParaRPr lang="en-US" sz="1100" dirty="0"/>
          </a:p>
        </p:txBody>
      </p:sp>
      <p:sp>
        <p:nvSpPr>
          <p:cNvPr id="32" name="a2u_c31"/>
          <p:cNvSpPr/>
          <p:nvPr/>
        </p:nvSpPr>
        <p:spPr>
          <a:xfrm>
            <a:off x="457200" y="2606040"/>
            <a:ext cx="4023360" cy="1417320"/>
          </a:xfrm>
          <a:prstGeom prst="roundRect">
            <a:avLst>
              <a:gd name="adj" fmla="val 8000"/>
            </a:avLst>
          </a:prstGeom>
          <a:solidFill>
            <a:srgbClr val="FFEDD5"/>
          </a:solidFill>
          <a:ln w="12700">
            <a:solidFill>
              <a:srgbClr val="FFEDD5"/>
            </a:solidFill>
            <a:prstDash val="solid"/>
          </a:ln>
        </p:spPr>
      </p:sp>
      <p:sp>
        <p:nvSpPr>
          <p:cNvPr id="33" name="a2u_h32"/>
          <p:cNvSpPr txBox="1"/>
          <p:nvPr/>
        </p:nvSpPr>
        <p:spPr>
          <a:xfrm>
            <a:off x="640080" y="2697480"/>
            <a:ext cx="3657600" cy="320040"/>
          </a:xfrm>
          <a:prstGeom prst="rect">
            <a:avLst/>
          </a:prstGeom>
          <a:noFill/>
          <a:ln/>
        </p:spPr>
        <p:txBody>
          <a:bodyPr wrap="square" lIns="0" tIns="0" rIns="0" bIns="0" rtlCol="0" anchor="ctr"/>
          <a:lstStyle/>
          <a:p>
            <a:pPr marL="0" indent="0">
              <a:buNone/>
            </a:pPr>
            <a:r>
              <a:rPr lang="en-US" sz="1250" b="1" dirty="0">
                <a:solidFill>
                  <a:srgbClr val="B45309"/>
                </a:solidFill>
                <a:latin typeface="Calibri" pitchFamily="34" charset="0"/>
                <a:ea typeface="Calibri" pitchFamily="34" charset="-122"/>
                <a:cs typeface="Calibri" pitchFamily="34" charset="-120"/>
              </a:rPr>
              <a:t>VIOLATION · Repeating group</a:t>
            </a:r>
            <a:endParaRPr lang="en-US" sz="1250" dirty="0"/>
          </a:p>
        </p:txBody>
      </p:sp>
      <p:sp>
        <p:nvSpPr>
          <p:cNvPr id="34" name="a2u_d33"/>
          <p:cNvSpPr txBox="1"/>
          <p:nvPr/>
        </p:nvSpPr>
        <p:spPr>
          <a:xfrm>
            <a:off x="640080" y="3035808"/>
            <a:ext cx="3657600" cy="914400"/>
          </a:xfrm>
          <a:prstGeom prst="rect">
            <a:avLst/>
          </a:prstGeom>
          <a:noFill/>
          <a:ln/>
        </p:spPr>
        <p:txBody>
          <a:bodyPr wrap="square" lIns="0" tIns="0" rIns="0" bIns="0" rtlCol="0" anchor="t"/>
          <a:lstStyle/>
          <a:p>
            <a:pPr marL="0" indent="0">
              <a:buNone/>
            </a:pPr>
            <a:r>
              <a:rPr lang="en-US" sz="1150" dirty="0">
                <a:solidFill>
                  <a:srgbClr val="334155"/>
                </a:solidFill>
                <a:latin typeface="Calibri" pitchFamily="34" charset="0"/>
                <a:ea typeface="Calibri" pitchFamily="34" charset="-122"/>
                <a:cs typeface="Calibri" pitchFamily="34" charset="-120"/>
              </a:rPr>
              <a:t>acct_no_1 … acct_no_2: a third account needs ALTER TABLE, and every query that reads accounts must be rewritten.</a:t>
            </a:r>
            <a:endParaRPr lang="en-US" sz="1150" dirty="0"/>
          </a:p>
        </p:txBody>
      </p:sp>
      <p:sp>
        <p:nvSpPr>
          <p:cNvPr id="35" name="a3u_c34"/>
          <p:cNvSpPr/>
          <p:nvPr/>
        </p:nvSpPr>
        <p:spPr>
          <a:xfrm>
            <a:off x="4663440" y="2606040"/>
            <a:ext cx="4023360" cy="1417320"/>
          </a:xfrm>
          <a:prstGeom prst="roundRect">
            <a:avLst>
              <a:gd name="adj" fmla="val 8000"/>
            </a:avLst>
          </a:prstGeom>
          <a:solidFill>
            <a:srgbClr val="EDE9FE"/>
          </a:solidFill>
          <a:ln w="12700">
            <a:solidFill>
              <a:srgbClr val="EDE9FE"/>
            </a:solidFill>
            <a:prstDash val="solid"/>
          </a:ln>
        </p:spPr>
      </p:sp>
      <p:sp>
        <p:nvSpPr>
          <p:cNvPr id="36" name="a3u_h35"/>
          <p:cNvSpPr txBox="1"/>
          <p:nvPr/>
        </p:nvSpPr>
        <p:spPr>
          <a:xfrm>
            <a:off x="4846320" y="2697480"/>
            <a:ext cx="3657600" cy="320040"/>
          </a:xfrm>
          <a:prstGeom prst="rect">
            <a:avLst/>
          </a:prstGeom>
          <a:noFill/>
          <a:ln/>
        </p:spPr>
        <p:txBody>
          <a:bodyPr wrap="square" lIns="0" tIns="0" rIns="0" bIns="0" rtlCol="0" anchor="ctr"/>
          <a:lstStyle/>
          <a:p>
            <a:pPr marL="0" indent="0">
              <a:buNone/>
            </a:pPr>
            <a:r>
              <a:rPr lang="en-US" sz="1250" b="1" dirty="0">
                <a:solidFill>
                  <a:srgbClr val="6D28D9"/>
                </a:solidFill>
                <a:latin typeface="Calibri" pitchFamily="34" charset="0"/>
                <a:ea typeface="Calibri" pitchFamily="34" charset="-122"/>
                <a:cs typeface="Calibri" pitchFamily="34" charset="-120"/>
              </a:rPr>
              <a:t>VIOLATION · Not atomic</a:t>
            </a:r>
            <a:endParaRPr lang="en-US" sz="1250" dirty="0"/>
          </a:p>
        </p:txBody>
      </p:sp>
      <p:sp>
        <p:nvSpPr>
          <p:cNvPr id="37" name="a3u_d36"/>
          <p:cNvSpPr txBox="1"/>
          <p:nvPr/>
        </p:nvSpPr>
        <p:spPr>
          <a:xfrm>
            <a:off x="4846320" y="3035808"/>
            <a:ext cx="3657600" cy="914400"/>
          </a:xfrm>
          <a:prstGeom prst="rect">
            <a:avLst/>
          </a:prstGeom>
          <a:noFill/>
          <a:ln/>
        </p:spPr>
        <p:txBody>
          <a:bodyPr wrap="square" lIns="0" tIns="0" rIns="0" bIns="0" rtlCol="0" anchor="t"/>
          <a:lstStyle/>
          <a:p>
            <a:pPr marL="0" indent="0">
              <a:buNone/>
            </a:pPr>
            <a:r>
              <a:rPr lang="en-US" sz="1150" dirty="0">
                <a:solidFill>
                  <a:srgbClr val="334155"/>
                </a:solidFill>
                <a:latin typeface="Calibri" pitchFamily="34" charset="0"/>
                <a:ea typeface="Calibri" pitchFamily="34" charset="-122"/>
                <a:cs typeface="Calibri" pitchFamily="34" charset="-120"/>
              </a:rPr>
              <a:t>'FD,LOAN,CARD' can't be indexed or joined. LIKE '%LOAN%' also matches HOMELOAN — and there's nowhere to store when.</a:t>
            </a:r>
            <a:endParaRPr lang="en-US" sz="1150" dirty="0"/>
          </a:p>
        </p:txBody>
      </p:sp>
      <p:sp>
        <p:nvSpPr>
          <p:cNvPr id="38" name="a4u_q37"/>
          <p:cNvSpPr txBox="1"/>
          <p:nvPr/>
        </p:nvSpPr>
        <p:spPr>
          <a:xfrm>
            <a:off x="457200" y="4206240"/>
            <a:ext cx="8229600" cy="457200"/>
          </a:xfrm>
          <a:prstGeom prst="rect">
            <a:avLst/>
          </a:prstGeom>
          <a:noFill/>
          <a:ln/>
        </p:spPr>
        <p:txBody>
          <a:bodyPr wrap="square" lIns="0" tIns="0" rIns="0" bIns="0" rtlCol="0" anchor="t"/>
          <a:lstStyle/>
          <a:p>
            <a:pPr marL="0" indent="0">
              <a:buNone/>
            </a:pPr>
            <a:r>
              <a:rPr lang="en-US" sz="1200" i="1" dirty="0">
                <a:solidFill>
                  <a:srgbClr val="64748B"/>
                </a:solidFill>
                <a:latin typeface="Calibri" pitchFamily="34" charset="0"/>
                <a:ea typeface="Calibri" pitchFamily="34" charset="-122"/>
                <a:cs typeface="Calibri" pitchFamily="34" charset="-120"/>
              </a:rPr>
              <a:t>How many customers hold a loan?  With this table you can only guess.</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22" presetClass="entr" presetSubtype="8" fill="hold" grpId="0" nodeType="withEffect">
                                  <p:stCondLst>
                                    <p:cond delay="20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par>
                                <p:cTn id="11" presetID="22" presetClass="entr" presetSubtype="8" fill="hold" grpId="0" nodeType="withEffect">
                                  <p:stCondLst>
                                    <p:cond delay="40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par>
                                <p:cTn id="14" presetID="22" presetClass="entr" presetSubtype="8" fill="hold" grpId="0" nodeType="withEffect">
                                  <p:stCondLst>
                                    <p:cond delay="60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22" presetClass="entr" presetSubtype="8" fill="hold" grpId="0" nodeType="withEffect">
                                  <p:stCondLst>
                                    <p:cond delay="20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par>
                                <p:cTn id="23" presetID="22" presetClass="entr" presetSubtype="8" fill="hold" grpId="0" nodeType="withEffect">
                                  <p:stCondLst>
                                    <p:cond delay="40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500"/>
                                        <p:tgtEl>
                                          <p:spTgt spid="10"/>
                                        </p:tgtEl>
                                      </p:cBhvr>
                                    </p:animEffect>
                                  </p:childTnLst>
                                </p:cTn>
                              </p:par>
                              <p:par>
                                <p:cTn id="26" presetID="22" presetClass="entr" presetSubtype="8" fill="hold" grpId="0" nodeType="withEffect">
                                  <p:stCondLst>
                                    <p:cond delay="60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22" presetClass="entr" presetSubtype="8" fill="hold" grpId="0" nodeType="withEffect">
                                  <p:stCondLst>
                                    <p:cond delay="200"/>
                                  </p:stCondLst>
                                  <p:childTnLst>
                                    <p:set>
                                      <p:cBhvr>
                                        <p:cTn id="33" dur="1" fill="hold">
                                          <p:stCondLst>
                                            <p:cond delay="0"/>
                                          </p:stCondLst>
                                        </p:cTn>
                                        <p:tgtEl>
                                          <p:spTgt spid="13"/>
                                        </p:tgtEl>
                                        <p:attrNameLst>
                                          <p:attrName>style.visibility</p:attrName>
                                        </p:attrNameLst>
                                      </p:cBhvr>
                                      <p:to>
                                        <p:strVal val="visible"/>
                                      </p:to>
                                    </p:set>
                                    <p:animEffect transition="in" filter="wipe(left)">
                                      <p:cBhvr>
                                        <p:cTn id="34" dur="500"/>
                                        <p:tgtEl>
                                          <p:spTgt spid="13"/>
                                        </p:tgtEl>
                                      </p:cBhvr>
                                    </p:animEffect>
                                  </p:childTnLst>
                                </p:cTn>
                              </p:par>
                              <p:par>
                                <p:cTn id="35" presetID="22" presetClass="entr" presetSubtype="8" fill="hold" grpId="0" nodeType="withEffect">
                                  <p:stCondLst>
                                    <p:cond delay="400"/>
                                  </p:stCondLst>
                                  <p:childTnLst>
                                    <p:set>
                                      <p:cBhvr>
                                        <p:cTn id="36" dur="1" fill="hold">
                                          <p:stCondLst>
                                            <p:cond delay="0"/>
                                          </p:stCondLst>
                                        </p:cTn>
                                        <p:tgtEl>
                                          <p:spTgt spid="14"/>
                                        </p:tgtEl>
                                        <p:attrNameLst>
                                          <p:attrName>style.visibility</p:attrName>
                                        </p:attrNameLst>
                                      </p:cBhvr>
                                      <p:to>
                                        <p:strVal val="visible"/>
                                      </p:to>
                                    </p:set>
                                    <p:animEffect transition="in" filter="wipe(left)">
                                      <p:cBhvr>
                                        <p:cTn id="37" dur="500"/>
                                        <p:tgtEl>
                                          <p:spTgt spid="14"/>
                                        </p:tgtEl>
                                      </p:cBhvr>
                                    </p:animEffect>
                                  </p:childTnLst>
                                </p:cTn>
                              </p:par>
                              <p:par>
                                <p:cTn id="38" presetID="22" presetClass="entr" presetSubtype="8" fill="hold" grpId="0" nodeType="withEffect">
                                  <p:stCondLst>
                                    <p:cond delay="600"/>
                                  </p:stCondLst>
                                  <p:childTnLst>
                                    <p:set>
                                      <p:cBhvr>
                                        <p:cTn id="39" dur="1" fill="hold">
                                          <p:stCondLst>
                                            <p:cond delay="0"/>
                                          </p:stCondLst>
                                        </p:cTn>
                                        <p:tgtEl>
                                          <p:spTgt spid="15"/>
                                        </p:tgtEl>
                                        <p:attrNameLst>
                                          <p:attrName>style.visibility</p:attrName>
                                        </p:attrNameLst>
                                      </p:cBhvr>
                                      <p:to>
                                        <p:strVal val="visible"/>
                                      </p:to>
                                    </p:set>
                                    <p:animEffect transition="in" filter="wipe(left)">
                                      <p:cBhvr>
                                        <p:cTn id="40" dur="5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22" presetClass="entr" presetSubtype="8" fill="hold" grpId="0" nodeType="withEffect">
                                  <p:stCondLst>
                                    <p:cond delay="200"/>
                                  </p:stCondLst>
                                  <p:childTnLst>
                                    <p:set>
                                      <p:cBhvr>
                                        <p:cTn id="45" dur="1" fill="hold">
                                          <p:stCondLst>
                                            <p:cond delay="0"/>
                                          </p:stCondLst>
                                        </p:cTn>
                                        <p:tgtEl>
                                          <p:spTgt spid="17"/>
                                        </p:tgtEl>
                                        <p:attrNameLst>
                                          <p:attrName>style.visibility</p:attrName>
                                        </p:attrNameLst>
                                      </p:cBhvr>
                                      <p:to>
                                        <p:strVal val="visible"/>
                                      </p:to>
                                    </p:set>
                                    <p:animEffect transition="in" filter="wipe(left)">
                                      <p:cBhvr>
                                        <p:cTn id="46" dur="500"/>
                                        <p:tgtEl>
                                          <p:spTgt spid="17"/>
                                        </p:tgtEl>
                                      </p:cBhvr>
                                    </p:animEffect>
                                  </p:childTnLst>
                                </p:cTn>
                              </p:par>
                              <p:par>
                                <p:cTn id="47" presetID="22" presetClass="entr" presetSubtype="8" fill="hold" grpId="0" nodeType="withEffect">
                                  <p:stCondLst>
                                    <p:cond delay="400"/>
                                  </p:stCondLst>
                                  <p:childTnLst>
                                    <p:set>
                                      <p:cBhvr>
                                        <p:cTn id="48" dur="1" fill="hold">
                                          <p:stCondLst>
                                            <p:cond delay="0"/>
                                          </p:stCondLst>
                                        </p:cTn>
                                        <p:tgtEl>
                                          <p:spTgt spid="18"/>
                                        </p:tgtEl>
                                        <p:attrNameLst>
                                          <p:attrName>style.visibility</p:attrName>
                                        </p:attrNameLst>
                                      </p:cBhvr>
                                      <p:to>
                                        <p:strVal val="visible"/>
                                      </p:to>
                                    </p:set>
                                    <p:animEffect transition="in" filter="wipe(left)">
                                      <p:cBhvr>
                                        <p:cTn id="49" dur="500"/>
                                        <p:tgtEl>
                                          <p:spTgt spid="18"/>
                                        </p:tgtEl>
                                      </p:cBhvr>
                                    </p:animEffect>
                                  </p:childTnLst>
                                </p:cTn>
                              </p:par>
                              <p:par>
                                <p:cTn id="50" presetID="22" presetClass="entr" presetSubtype="8" fill="hold" grpId="0" nodeType="withEffect">
                                  <p:stCondLst>
                                    <p:cond delay="600"/>
                                  </p:stCondLst>
                                  <p:childTnLst>
                                    <p:set>
                                      <p:cBhvr>
                                        <p:cTn id="51" dur="1" fill="hold">
                                          <p:stCondLst>
                                            <p:cond delay="0"/>
                                          </p:stCondLst>
                                        </p:cTn>
                                        <p:tgtEl>
                                          <p:spTgt spid="19"/>
                                        </p:tgtEl>
                                        <p:attrNameLst>
                                          <p:attrName>style.visibility</p:attrName>
                                        </p:attrNameLst>
                                      </p:cBhvr>
                                      <p:to>
                                        <p:strVal val="visible"/>
                                      </p:to>
                                    </p:set>
                                    <p:animEffect transition="in" filter="wipe(left)">
                                      <p:cBhvr>
                                        <p:cTn id="52" dur="50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childTnLst>
                                </p:cTn>
                              </p:par>
                              <p:par>
                                <p:cTn id="56" presetID="22" presetClass="entr" presetSubtype="8" fill="hold" grpId="0" nodeType="withEffect">
                                  <p:stCondLst>
                                    <p:cond delay="200"/>
                                  </p:stCondLst>
                                  <p:childTnLst>
                                    <p:set>
                                      <p:cBhvr>
                                        <p:cTn id="57" dur="1" fill="hold">
                                          <p:stCondLst>
                                            <p:cond delay="0"/>
                                          </p:stCondLst>
                                        </p:cTn>
                                        <p:tgtEl>
                                          <p:spTgt spid="21"/>
                                        </p:tgtEl>
                                        <p:attrNameLst>
                                          <p:attrName>style.visibility</p:attrName>
                                        </p:attrNameLst>
                                      </p:cBhvr>
                                      <p:to>
                                        <p:strVal val="visible"/>
                                      </p:to>
                                    </p:set>
                                    <p:animEffect transition="in" filter="wipe(left)">
                                      <p:cBhvr>
                                        <p:cTn id="58" dur="500"/>
                                        <p:tgtEl>
                                          <p:spTgt spid="21"/>
                                        </p:tgtEl>
                                      </p:cBhvr>
                                    </p:animEffect>
                                  </p:childTnLst>
                                </p:cTn>
                              </p:par>
                              <p:par>
                                <p:cTn id="59" presetID="22" presetClass="entr" presetSubtype="8" fill="hold" grpId="0" nodeType="withEffect">
                                  <p:stCondLst>
                                    <p:cond delay="400"/>
                                  </p:stCondLst>
                                  <p:childTnLst>
                                    <p:set>
                                      <p:cBhvr>
                                        <p:cTn id="60" dur="1" fill="hold">
                                          <p:stCondLst>
                                            <p:cond delay="0"/>
                                          </p:stCondLst>
                                        </p:cTn>
                                        <p:tgtEl>
                                          <p:spTgt spid="22"/>
                                        </p:tgtEl>
                                        <p:attrNameLst>
                                          <p:attrName>style.visibility</p:attrName>
                                        </p:attrNameLst>
                                      </p:cBhvr>
                                      <p:to>
                                        <p:strVal val="visible"/>
                                      </p:to>
                                    </p:set>
                                    <p:animEffect transition="in" filter="wipe(left)">
                                      <p:cBhvr>
                                        <p:cTn id="61" dur="500"/>
                                        <p:tgtEl>
                                          <p:spTgt spid="22"/>
                                        </p:tgtEl>
                                      </p:cBhvr>
                                    </p:animEffect>
                                  </p:childTnLst>
                                </p:cTn>
                              </p:par>
                              <p:par>
                                <p:cTn id="62" presetID="22" presetClass="entr" presetSubtype="8" fill="hold" grpId="0" nodeType="withEffect">
                                  <p:stCondLst>
                                    <p:cond delay="600"/>
                                  </p:stCondLst>
                                  <p:childTnLst>
                                    <p:set>
                                      <p:cBhvr>
                                        <p:cTn id="63" dur="1" fill="hold">
                                          <p:stCondLst>
                                            <p:cond delay="0"/>
                                          </p:stCondLst>
                                        </p:cTn>
                                        <p:tgtEl>
                                          <p:spTgt spid="23"/>
                                        </p:tgtEl>
                                        <p:attrNameLst>
                                          <p:attrName>style.visibility</p:attrName>
                                        </p:attrNameLst>
                                      </p:cBhvr>
                                      <p:to>
                                        <p:strVal val="visible"/>
                                      </p:to>
                                    </p:set>
                                    <p:animEffect transition="in" filter="wipe(left)">
                                      <p:cBhvr>
                                        <p:cTn id="64" dur="50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500"/>
                                        <p:tgtEl>
                                          <p:spTgt spid="24"/>
                                        </p:tgtEl>
                                      </p:cBhvr>
                                    </p:animEffect>
                                  </p:childTnLst>
                                </p:cTn>
                              </p:par>
                              <p:par>
                                <p:cTn id="68" presetID="22" presetClass="entr" presetSubtype="8" fill="hold" grpId="0" nodeType="withEffect">
                                  <p:stCondLst>
                                    <p:cond delay="200"/>
                                  </p:stCondLst>
                                  <p:childTnLst>
                                    <p:set>
                                      <p:cBhvr>
                                        <p:cTn id="69" dur="1" fill="hold">
                                          <p:stCondLst>
                                            <p:cond delay="0"/>
                                          </p:stCondLst>
                                        </p:cTn>
                                        <p:tgtEl>
                                          <p:spTgt spid="25"/>
                                        </p:tgtEl>
                                        <p:attrNameLst>
                                          <p:attrName>style.visibility</p:attrName>
                                        </p:attrNameLst>
                                      </p:cBhvr>
                                      <p:to>
                                        <p:strVal val="visible"/>
                                      </p:to>
                                    </p:set>
                                    <p:animEffect transition="in" filter="wipe(left)">
                                      <p:cBhvr>
                                        <p:cTn id="70" dur="500"/>
                                        <p:tgtEl>
                                          <p:spTgt spid="25"/>
                                        </p:tgtEl>
                                      </p:cBhvr>
                                    </p:animEffect>
                                  </p:childTnLst>
                                </p:cTn>
                              </p:par>
                              <p:par>
                                <p:cTn id="71" presetID="22" presetClass="entr" presetSubtype="8" fill="hold" grpId="0" nodeType="withEffect">
                                  <p:stCondLst>
                                    <p:cond delay="400"/>
                                  </p:stCondLst>
                                  <p:childTnLst>
                                    <p:set>
                                      <p:cBhvr>
                                        <p:cTn id="72" dur="1" fill="hold">
                                          <p:stCondLst>
                                            <p:cond delay="0"/>
                                          </p:stCondLst>
                                        </p:cTn>
                                        <p:tgtEl>
                                          <p:spTgt spid="26"/>
                                        </p:tgtEl>
                                        <p:attrNameLst>
                                          <p:attrName>style.visibility</p:attrName>
                                        </p:attrNameLst>
                                      </p:cBhvr>
                                      <p:to>
                                        <p:strVal val="visible"/>
                                      </p:to>
                                    </p:set>
                                    <p:animEffect transition="in" filter="wipe(left)">
                                      <p:cBhvr>
                                        <p:cTn id="73" dur="500"/>
                                        <p:tgtEl>
                                          <p:spTgt spid="26"/>
                                        </p:tgtEl>
                                      </p:cBhvr>
                                    </p:animEffect>
                                  </p:childTnLst>
                                </p:cTn>
                              </p:par>
                              <p:par>
                                <p:cTn id="74" presetID="22" presetClass="entr" presetSubtype="8" fill="hold" grpId="0" nodeType="withEffect">
                                  <p:stCondLst>
                                    <p:cond delay="600"/>
                                  </p:stCondLst>
                                  <p:childTnLst>
                                    <p:set>
                                      <p:cBhvr>
                                        <p:cTn id="75" dur="1" fill="hold">
                                          <p:stCondLst>
                                            <p:cond delay="0"/>
                                          </p:stCondLst>
                                        </p:cTn>
                                        <p:tgtEl>
                                          <p:spTgt spid="27"/>
                                        </p:tgtEl>
                                        <p:attrNameLst>
                                          <p:attrName>style.visibility</p:attrName>
                                        </p:attrNameLst>
                                      </p:cBhvr>
                                      <p:to>
                                        <p:strVal val="visible"/>
                                      </p:to>
                                    </p:set>
                                    <p:animEffect transition="in" filter="wipe(left)">
                                      <p:cBhvr>
                                        <p:cTn id="76" dur="500"/>
                                        <p:tgtEl>
                                          <p:spTgt spid="2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500"/>
                                        <p:tgtEl>
                                          <p:spTgt spid="28"/>
                                        </p:tgtEl>
                                      </p:cBhvr>
                                    </p:animEffect>
                                  </p:childTnLst>
                                </p:cTn>
                              </p:par>
                              <p:par>
                                <p:cTn id="80" presetID="22" presetClass="entr" presetSubtype="8" fill="hold" grpId="0" nodeType="withEffect">
                                  <p:stCondLst>
                                    <p:cond delay="200"/>
                                  </p:stCondLst>
                                  <p:childTnLst>
                                    <p:set>
                                      <p:cBhvr>
                                        <p:cTn id="81" dur="1" fill="hold">
                                          <p:stCondLst>
                                            <p:cond delay="0"/>
                                          </p:stCondLst>
                                        </p:cTn>
                                        <p:tgtEl>
                                          <p:spTgt spid="29"/>
                                        </p:tgtEl>
                                        <p:attrNameLst>
                                          <p:attrName>style.visibility</p:attrName>
                                        </p:attrNameLst>
                                      </p:cBhvr>
                                      <p:to>
                                        <p:strVal val="visible"/>
                                      </p:to>
                                    </p:set>
                                    <p:animEffect transition="in" filter="wipe(left)">
                                      <p:cBhvr>
                                        <p:cTn id="82" dur="500"/>
                                        <p:tgtEl>
                                          <p:spTgt spid="29"/>
                                        </p:tgtEl>
                                      </p:cBhvr>
                                    </p:animEffect>
                                  </p:childTnLst>
                                </p:cTn>
                              </p:par>
                              <p:par>
                                <p:cTn id="83" presetID="22" presetClass="entr" presetSubtype="8" fill="hold" grpId="0" nodeType="withEffect">
                                  <p:stCondLst>
                                    <p:cond delay="400"/>
                                  </p:stCondLst>
                                  <p:childTnLst>
                                    <p:set>
                                      <p:cBhvr>
                                        <p:cTn id="84" dur="1" fill="hold">
                                          <p:stCondLst>
                                            <p:cond delay="0"/>
                                          </p:stCondLst>
                                        </p:cTn>
                                        <p:tgtEl>
                                          <p:spTgt spid="30"/>
                                        </p:tgtEl>
                                        <p:attrNameLst>
                                          <p:attrName>style.visibility</p:attrName>
                                        </p:attrNameLst>
                                      </p:cBhvr>
                                      <p:to>
                                        <p:strVal val="visible"/>
                                      </p:to>
                                    </p:set>
                                    <p:animEffect transition="in" filter="wipe(left)">
                                      <p:cBhvr>
                                        <p:cTn id="85" dur="500"/>
                                        <p:tgtEl>
                                          <p:spTgt spid="30"/>
                                        </p:tgtEl>
                                      </p:cBhvr>
                                    </p:animEffect>
                                  </p:childTnLst>
                                </p:cTn>
                              </p:par>
                              <p:par>
                                <p:cTn id="86" presetID="22" presetClass="entr" presetSubtype="8" fill="hold" grpId="0" nodeType="withEffect">
                                  <p:stCondLst>
                                    <p:cond delay="600"/>
                                  </p:stCondLst>
                                  <p:childTnLst>
                                    <p:set>
                                      <p:cBhvr>
                                        <p:cTn id="87" dur="1" fill="hold">
                                          <p:stCondLst>
                                            <p:cond delay="0"/>
                                          </p:stCondLst>
                                        </p:cTn>
                                        <p:tgtEl>
                                          <p:spTgt spid="31"/>
                                        </p:tgtEl>
                                        <p:attrNameLst>
                                          <p:attrName>style.visibility</p:attrName>
                                        </p:attrNameLst>
                                      </p:cBhvr>
                                      <p:to>
                                        <p:strVal val="visible"/>
                                      </p:to>
                                    </p:set>
                                    <p:animEffect transition="in" filter="wipe(left)">
                                      <p:cBhvr>
                                        <p:cTn id="88" dur="500"/>
                                        <p:tgtEl>
                                          <p:spTgt spid="31"/>
                                        </p:tgtEl>
                                      </p:cBhvr>
                                    </p:animEffect>
                                  </p:childTnLst>
                                </p:cTn>
                              </p:par>
                            </p:childTnLst>
                          </p:cTn>
                        </p:par>
                      </p:childTnLst>
                    </p:cTn>
                  </p:par>
                  <p:par>
                    <p:cTn id="89" fill="hold">
                      <p:stCondLst>
                        <p:cond delay="indefinite"/>
                      </p:stCondLst>
                      <p:childTnLst>
                        <p:par>
                          <p:cTn id="90" fill="hold">
                            <p:stCondLst>
                              <p:cond delay="0"/>
                            </p:stCondLst>
                            <p:childTnLst>
                              <p:par>
                                <p:cTn id="91" presetID="2" presetClass="entr" presetSubtype="4" fill="hold" grpId="0" nodeType="clickEffect">
                                  <p:stCondLst>
                                    <p:cond delay="0"/>
                                  </p:stCondLst>
                                  <p:childTnLst>
                                    <p:set>
                                      <p:cBhvr>
                                        <p:cTn id="92" dur="1" fill="hold">
                                          <p:stCondLst>
                                            <p:cond delay="0"/>
                                          </p:stCondLst>
                                        </p:cTn>
                                        <p:tgtEl>
                                          <p:spTgt spid="32"/>
                                        </p:tgtEl>
                                        <p:attrNameLst>
                                          <p:attrName>style.visibility</p:attrName>
                                        </p:attrNameLst>
                                      </p:cBhvr>
                                      <p:to>
                                        <p:strVal val="visible"/>
                                      </p:to>
                                    </p:set>
                                    <p:anim calcmode="lin" valueType="num">
                                      <p:cBhvr additive="base">
                                        <p:cTn id="93" dur="500" fill="hold"/>
                                        <p:tgtEl>
                                          <p:spTgt spid="32"/>
                                        </p:tgtEl>
                                        <p:attrNameLst>
                                          <p:attrName>ppt_x</p:attrName>
                                        </p:attrNameLst>
                                      </p:cBhvr>
                                      <p:tavLst>
                                        <p:tav tm="0">
                                          <p:val>
                                            <p:strVal val="#ppt_x"/>
                                          </p:val>
                                        </p:tav>
                                        <p:tav tm="100000">
                                          <p:val>
                                            <p:strVal val="#ppt_x"/>
                                          </p:val>
                                        </p:tav>
                                      </p:tavLst>
                                    </p:anim>
                                    <p:anim calcmode="lin" valueType="num">
                                      <p:cBhvr additive="base">
                                        <p:cTn id="94" dur="500" fill="hold"/>
                                        <p:tgtEl>
                                          <p:spTgt spid="32"/>
                                        </p:tgtEl>
                                        <p:attrNameLst>
                                          <p:attrName>ppt_y</p:attrName>
                                        </p:attrNameLst>
                                      </p:cBhvr>
                                      <p:tavLst>
                                        <p:tav tm="0">
                                          <p:val>
                                            <p:strVal val="#ppt_y+0.1"/>
                                          </p:val>
                                        </p:tav>
                                        <p:tav tm="100000">
                                          <p:val>
                                            <p:strVal val="#ppt_y"/>
                                          </p:val>
                                        </p:tav>
                                      </p:tavLst>
                                    </p:anim>
                                    <p:animEffect transition="in" filter="fade">
                                      <p:cBhvr>
                                        <p:cTn id="95" dur="500"/>
                                        <p:tgtEl>
                                          <p:spTgt spid="32"/>
                                        </p:tgtEl>
                                      </p:cBhvr>
                                    </p:animEffect>
                                  </p:childTnLst>
                                </p:cTn>
                              </p:par>
                              <p:par>
                                <p:cTn id="96" presetID="2" presetClass="entr" presetSubtype="4" fill="hold" grpId="0" nodeType="withEffect">
                                  <p:stCondLst>
                                    <p:cond delay="0"/>
                                  </p:stCondLst>
                                  <p:childTnLst>
                                    <p:set>
                                      <p:cBhvr>
                                        <p:cTn id="97" dur="1" fill="hold">
                                          <p:stCondLst>
                                            <p:cond delay="0"/>
                                          </p:stCondLst>
                                        </p:cTn>
                                        <p:tgtEl>
                                          <p:spTgt spid="33"/>
                                        </p:tgtEl>
                                        <p:attrNameLst>
                                          <p:attrName>style.visibility</p:attrName>
                                        </p:attrNameLst>
                                      </p:cBhvr>
                                      <p:to>
                                        <p:strVal val="visible"/>
                                      </p:to>
                                    </p:set>
                                    <p:anim calcmode="lin" valueType="num">
                                      <p:cBhvr additive="base">
                                        <p:cTn id="98" dur="500" fill="hold"/>
                                        <p:tgtEl>
                                          <p:spTgt spid="33"/>
                                        </p:tgtEl>
                                        <p:attrNameLst>
                                          <p:attrName>ppt_x</p:attrName>
                                        </p:attrNameLst>
                                      </p:cBhvr>
                                      <p:tavLst>
                                        <p:tav tm="0">
                                          <p:val>
                                            <p:strVal val="#ppt_x"/>
                                          </p:val>
                                        </p:tav>
                                        <p:tav tm="100000">
                                          <p:val>
                                            <p:strVal val="#ppt_x"/>
                                          </p:val>
                                        </p:tav>
                                      </p:tavLst>
                                    </p:anim>
                                    <p:anim calcmode="lin" valueType="num">
                                      <p:cBhvr additive="base">
                                        <p:cTn id="99" dur="500" fill="hold"/>
                                        <p:tgtEl>
                                          <p:spTgt spid="33"/>
                                        </p:tgtEl>
                                        <p:attrNameLst>
                                          <p:attrName>ppt_y</p:attrName>
                                        </p:attrNameLst>
                                      </p:cBhvr>
                                      <p:tavLst>
                                        <p:tav tm="0">
                                          <p:val>
                                            <p:strVal val="#ppt_y+0.1"/>
                                          </p:val>
                                        </p:tav>
                                        <p:tav tm="100000">
                                          <p:val>
                                            <p:strVal val="#ppt_y"/>
                                          </p:val>
                                        </p:tav>
                                      </p:tavLst>
                                    </p:anim>
                                    <p:animEffect transition="in" filter="fade">
                                      <p:cBhvr>
                                        <p:cTn id="100" dur="500"/>
                                        <p:tgtEl>
                                          <p:spTgt spid="33"/>
                                        </p:tgtEl>
                                      </p:cBhvr>
                                    </p:animEffect>
                                  </p:childTnLst>
                                </p:cTn>
                              </p:par>
                              <p:par>
                                <p:cTn id="101" presetID="2" presetClass="entr" presetSubtype="4" fill="hold" grpId="0" nodeType="withEffect">
                                  <p:stCondLst>
                                    <p:cond delay="0"/>
                                  </p:stCondLst>
                                  <p:childTnLst>
                                    <p:set>
                                      <p:cBhvr>
                                        <p:cTn id="102" dur="1" fill="hold">
                                          <p:stCondLst>
                                            <p:cond delay="0"/>
                                          </p:stCondLst>
                                        </p:cTn>
                                        <p:tgtEl>
                                          <p:spTgt spid="34"/>
                                        </p:tgtEl>
                                        <p:attrNameLst>
                                          <p:attrName>style.visibility</p:attrName>
                                        </p:attrNameLst>
                                      </p:cBhvr>
                                      <p:to>
                                        <p:strVal val="visible"/>
                                      </p:to>
                                    </p:set>
                                    <p:anim calcmode="lin" valueType="num">
                                      <p:cBhvr additive="base">
                                        <p:cTn id="103" dur="500" fill="hold"/>
                                        <p:tgtEl>
                                          <p:spTgt spid="34"/>
                                        </p:tgtEl>
                                        <p:attrNameLst>
                                          <p:attrName>ppt_x</p:attrName>
                                        </p:attrNameLst>
                                      </p:cBhvr>
                                      <p:tavLst>
                                        <p:tav tm="0">
                                          <p:val>
                                            <p:strVal val="#ppt_x"/>
                                          </p:val>
                                        </p:tav>
                                        <p:tav tm="100000">
                                          <p:val>
                                            <p:strVal val="#ppt_x"/>
                                          </p:val>
                                        </p:tav>
                                      </p:tavLst>
                                    </p:anim>
                                    <p:anim calcmode="lin" valueType="num">
                                      <p:cBhvr additive="base">
                                        <p:cTn id="104" dur="500" fill="hold"/>
                                        <p:tgtEl>
                                          <p:spTgt spid="34"/>
                                        </p:tgtEl>
                                        <p:attrNameLst>
                                          <p:attrName>ppt_y</p:attrName>
                                        </p:attrNameLst>
                                      </p:cBhvr>
                                      <p:tavLst>
                                        <p:tav tm="0">
                                          <p:val>
                                            <p:strVal val="#ppt_y+0.1"/>
                                          </p:val>
                                        </p:tav>
                                        <p:tav tm="100000">
                                          <p:val>
                                            <p:strVal val="#ppt_y"/>
                                          </p:val>
                                        </p:tav>
                                      </p:tavLst>
                                    </p:anim>
                                    <p:animEffect transition="in" filter="fade">
                                      <p:cBhvr>
                                        <p:cTn id="105" dur="500"/>
                                        <p:tgtEl>
                                          <p:spTgt spid="34"/>
                                        </p:tgtEl>
                                      </p:cBhvr>
                                    </p:animEffect>
                                  </p:childTnLst>
                                </p:cTn>
                              </p:par>
                            </p:childTnLst>
                          </p:cTn>
                        </p:par>
                      </p:childTnLst>
                    </p:cTn>
                  </p:par>
                  <p:par>
                    <p:cTn id="106" fill="hold">
                      <p:stCondLst>
                        <p:cond delay="indefinite"/>
                      </p:stCondLst>
                      <p:childTnLst>
                        <p:par>
                          <p:cTn id="107" fill="hold">
                            <p:stCondLst>
                              <p:cond delay="0"/>
                            </p:stCondLst>
                            <p:childTnLst>
                              <p:par>
                                <p:cTn id="108" presetID="2" presetClass="entr" presetSubtype="4" fill="hold" grpId="0" nodeType="clickEffect">
                                  <p:stCondLst>
                                    <p:cond delay="0"/>
                                  </p:stCondLst>
                                  <p:childTnLst>
                                    <p:set>
                                      <p:cBhvr>
                                        <p:cTn id="109" dur="1" fill="hold">
                                          <p:stCondLst>
                                            <p:cond delay="0"/>
                                          </p:stCondLst>
                                        </p:cTn>
                                        <p:tgtEl>
                                          <p:spTgt spid="35"/>
                                        </p:tgtEl>
                                        <p:attrNameLst>
                                          <p:attrName>style.visibility</p:attrName>
                                        </p:attrNameLst>
                                      </p:cBhvr>
                                      <p:to>
                                        <p:strVal val="visible"/>
                                      </p:to>
                                    </p:set>
                                    <p:anim calcmode="lin" valueType="num">
                                      <p:cBhvr additive="base">
                                        <p:cTn id="110" dur="500" fill="hold"/>
                                        <p:tgtEl>
                                          <p:spTgt spid="35"/>
                                        </p:tgtEl>
                                        <p:attrNameLst>
                                          <p:attrName>ppt_x</p:attrName>
                                        </p:attrNameLst>
                                      </p:cBhvr>
                                      <p:tavLst>
                                        <p:tav tm="0">
                                          <p:val>
                                            <p:strVal val="#ppt_x"/>
                                          </p:val>
                                        </p:tav>
                                        <p:tav tm="100000">
                                          <p:val>
                                            <p:strVal val="#ppt_x"/>
                                          </p:val>
                                        </p:tav>
                                      </p:tavLst>
                                    </p:anim>
                                    <p:anim calcmode="lin" valueType="num">
                                      <p:cBhvr additive="base">
                                        <p:cTn id="111" dur="500" fill="hold"/>
                                        <p:tgtEl>
                                          <p:spTgt spid="35"/>
                                        </p:tgtEl>
                                        <p:attrNameLst>
                                          <p:attrName>ppt_y</p:attrName>
                                        </p:attrNameLst>
                                      </p:cBhvr>
                                      <p:tavLst>
                                        <p:tav tm="0">
                                          <p:val>
                                            <p:strVal val="#ppt_y+0.1"/>
                                          </p:val>
                                        </p:tav>
                                        <p:tav tm="100000">
                                          <p:val>
                                            <p:strVal val="#ppt_y"/>
                                          </p:val>
                                        </p:tav>
                                      </p:tavLst>
                                    </p:anim>
                                    <p:animEffect transition="in" filter="fade">
                                      <p:cBhvr>
                                        <p:cTn id="112" dur="500"/>
                                        <p:tgtEl>
                                          <p:spTgt spid="35"/>
                                        </p:tgtEl>
                                      </p:cBhvr>
                                    </p:animEffect>
                                  </p:childTnLst>
                                </p:cTn>
                              </p:par>
                              <p:par>
                                <p:cTn id="113" presetID="2" presetClass="entr" presetSubtype="4" fill="hold" grpId="0" nodeType="withEffect">
                                  <p:stCondLst>
                                    <p:cond delay="0"/>
                                  </p:stCondLst>
                                  <p:childTnLst>
                                    <p:set>
                                      <p:cBhvr>
                                        <p:cTn id="114" dur="1" fill="hold">
                                          <p:stCondLst>
                                            <p:cond delay="0"/>
                                          </p:stCondLst>
                                        </p:cTn>
                                        <p:tgtEl>
                                          <p:spTgt spid="36"/>
                                        </p:tgtEl>
                                        <p:attrNameLst>
                                          <p:attrName>style.visibility</p:attrName>
                                        </p:attrNameLst>
                                      </p:cBhvr>
                                      <p:to>
                                        <p:strVal val="visible"/>
                                      </p:to>
                                    </p:set>
                                    <p:anim calcmode="lin" valueType="num">
                                      <p:cBhvr additive="base">
                                        <p:cTn id="115" dur="500" fill="hold"/>
                                        <p:tgtEl>
                                          <p:spTgt spid="36"/>
                                        </p:tgtEl>
                                        <p:attrNameLst>
                                          <p:attrName>ppt_x</p:attrName>
                                        </p:attrNameLst>
                                      </p:cBhvr>
                                      <p:tavLst>
                                        <p:tav tm="0">
                                          <p:val>
                                            <p:strVal val="#ppt_x"/>
                                          </p:val>
                                        </p:tav>
                                        <p:tav tm="100000">
                                          <p:val>
                                            <p:strVal val="#ppt_x"/>
                                          </p:val>
                                        </p:tav>
                                      </p:tavLst>
                                    </p:anim>
                                    <p:anim calcmode="lin" valueType="num">
                                      <p:cBhvr additive="base">
                                        <p:cTn id="116" dur="500" fill="hold"/>
                                        <p:tgtEl>
                                          <p:spTgt spid="36"/>
                                        </p:tgtEl>
                                        <p:attrNameLst>
                                          <p:attrName>ppt_y</p:attrName>
                                        </p:attrNameLst>
                                      </p:cBhvr>
                                      <p:tavLst>
                                        <p:tav tm="0">
                                          <p:val>
                                            <p:strVal val="#ppt_y+0.1"/>
                                          </p:val>
                                        </p:tav>
                                        <p:tav tm="100000">
                                          <p:val>
                                            <p:strVal val="#ppt_y"/>
                                          </p:val>
                                        </p:tav>
                                      </p:tavLst>
                                    </p:anim>
                                    <p:animEffect transition="in" filter="fade">
                                      <p:cBhvr>
                                        <p:cTn id="117" dur="500"/>
                                        <p:tgtEl>
                                          <p:spTgt spid="36"/>
                                        </p:tgtEl>
                                      </p:cBhvr>
                                    </p:animEffect>
                                  </p:childTnLst>
                                </p:cTn>
                              </p:par>
                              <p:par>
                                <p:cTn id="118" presetID="2" presetClass="entr" presetSubtype="4" fill="hold" grpId="0" nodeType="withEffect">
                                  <p:stCondLst>
                                    <p:cond delay="0"/>
                                  </p:stCondLst>
                                  <p:childTnLst>
                                    <p:set>
                                      <p:cBhvr>
                                        <p:cTn id="119" dur="1" fill="hold">
                                          <p:stCondLst>
                                            <p:cond delay="0"/>
                                          </p:stCondLst>
                                        </p:cTn>
                                        <p:tgtEl>
                                          <p:spTgt spid="37"/>
                                        </p:tgtEl>
                                        <p:attrNameLst>
                                          <p:attrName>style.visibility</p:attrName>
                                        </p:attrNameLst>
                                      </p:cBhvr>
                                      <p:to>
                                        <p:strVal val="visible"/>
                                      </p:to>
                                    </p:set>
                                    <p:anim calcmode="lin" valueType="num">
                                      <p:cBhvr additive="base">
                                        <p:cTn id="120" dur="500" fill="hold"/>
                                        <p:tgtEl>
                                          <p:spTgt spid="37"/>
                                        </p:tgtEl>
                                        <p:attrNameLst>
                                          <p:attrName>ppt_x</p:attrName>
                                        </p:attrNameLst>
                                      </p:cBhvr>
                                      <p:tavLst>
                                        <p:tav tm="0">
                                          <p:val>
                                            <p:strVal val="#ppt_x"/>
                                          </p:val>
                                        </p:tav>
                                        <p:tav tm="100000">
                                          <p:val>
                                            <p:strVal val="#ppt_x"/>
                                          </p:val>
                                        </p:tav>
                                      </p:tavLst>
                                    </p:anim>
                                    <p:anim calcmode="lin" valueType="num">
                                      <p:cBhvr additive="base">
                                        <p:cTn id="121" dur="500" fill="hold"/>
                                        <p:tgtEl>
                                          <p:spTgt spid="37"/>
                                        </p:tgtEl>
                                        <p:attrNameLst>
                                          <p:attrName>ppt_y</p:attrName>
                                        </p:attrNameLst>
                                      </p:cBhvr>
                                      <p:tavLst>
                                        <p:tav tm="0">
                                          <p:val>
                                            <p:strVal val="#ppt_y+0.1"/>
                                          </p:val>
                                        </p:tav>
                                        <p:tav tm="100000">
                                          <p:val>
                                            <p:strVal val="#ppt_y"/>
                                          </p:val>
                                        </p:tav>
                                      </p:tavLst>
                                    </p:anim>
                                    <p:animEffect transition="in" filter="fade">
                                      <p:cBhvr>
                                        <p:cTn id="122" dur="500"/>
                                        <p:tgtEl>
                                          <p:spTgt spid="37"/>
                                        </p:tgtEl>
                                      </p:cBhvr>
                                    </p:animEffect>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grpId="0" nodeType="clickEffect">
                                  <p:stCondLst>
                                    <p:cond delay="0"/>
                                  </p:stCondLst>
                                  <p:childTnLst>
                                    <p:set>
                                      <p:cBhvr>
                                        <p:cTn id="126" dur="1" fill="hold">
                                          <p:stCondLst>
                                            <p:cond delay="0"/>
                                          </p:stCondLst>
                                        </p:cTn>
                                        <p:tgtEl>
                                          <p:spTgt spid="38"/>
                                        </p:tgtEl>
                                        <p:attrNameLst>
                                          <p:attrName>style.visibility</p:attrName>
                                        </p:attrNameLst>
                                      </p:cBhvr>
                                      <p:to>
                                        <p:strVal val="visible"/>
                                      </p:to>
                                    </p:set>
                                    <p:anim calcmode="lin" valueType="num">
                                      <p:cBhvr additive="base">
                                        <p:cTn id="127" dur="500" fill="hold"/>
                                        <p:tgtEl>
                                          <p:spTgt spid="38"/>
                                        </p:tgtEl>
                                        <p:attrNameLst>
                                          <p:attrName>ppt_x</p:attrName>
                                        </p:attrNameLst>
                                      </p:cBhvr>
                                      <p:tavLst>
                                        <p:tav tm="0">
                                          <p:val>
                                            <p:strVal val="#ppt_x"/>
                                          </p:val>
                                        </p:tav>
                                        <p:tav tm="100000">
                                          <p:val>
                                            <p:strVal val="#ppt_x"/>
                                          </p:val>
                                        </p:tav>
                                      </p:tavLst>
                                    </p:anim>
                                    <p:anim calcmode="lin" valueType="num">
                                      <p:cBhvr additive="base">
                                        <p:cTn id="128" dur="500" fill="hold"/>
                                        <p:tgtEl>
                                          <p:spTgt spid="38"/>
                                        </p:tgtEl>
                                        <p:attrNameLst>
                                          <p:attrName>ppt_y</p:attrName>
                                        </p:attrNameLst>
                                      </p:cBhvr>
                                      <p:tavLst>
                                        <p:tav tm="0">
                                          <p:val>
                                            <p:strVal val="#ppt_y+0.1"/>
                                          </p:val>
                                        </p:tav>
                                        <p:tav tm="100000">
                                          <p:val>
                                            <p:strVal val="#ppt_y"/>
                                          </p:val>
                                        </p:tav>
                                      </p:tavLst>
                                    </p:anim>
                                    <p:animEffect transition="in" filter="fade">
                                      <p:cBhvr>
                                        <p:cTn id="129"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1"/>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1NF — The Fix</a:t>
            </a:r>
            <a:endParaRPr lang="en-US" sz="2800" dirty="0"/>
          </a:p>
        </p:txBody>
      </p:sp>
      <p:sp>
        <p:nvSpPr>
          <p:cNvPr id="3" name="Text 2"/>
          <p:cNvSpPr txBox="1"/>
          <p:nvPr/>
        </p:nvSpPr>
        <p:spPr>
          <a:xfrm>
            <a:off x="457200" y="749808"/>
            <a:ext cx="8229600" cy="320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Turn columns into rows</a:t>
            </a:r>
            <a:endParaRPr lang="en-US" sz="1300" dirty="0"/>
          </a:p>
        </p:txBody>
      </p:sp>
      <p:sp>
        <p:nvSpPr>
          <p:cNvPr id="4" name="a1f_bl3"/>
          <p:cNvSpPr txBox="1"/>
          <p:nvPr/>
        </p:nvSpPr>
        <p:spPr>
          <a:xfrm>
            <a:off x="457200" y="1170432"/>
            <a:ext cx="1371600" cy="228600"/>
          </a:xfrm>
          <a:prstGeom prst="rect">
            <a:avLst/>
          </a:prstGeom>
          <a:noFill/>
          <a:ln/>
        </p:spPr>
        <p:txBody>
          <a:bodyPr wrap="square" lIns="0" tIns="0" rIns="0" bIns="0" rtlCol="0" anchor="ctr"/>
          <a:lstStyle/>
          <a:p>
            <a:pPr marL="0" indent="0">
              <a:buNone/>
            </a:pPr>
            <a:r>
              <a:rPr lang="en-US" sz="1000" b="1" kern="0" spc="150" dirty="0">
                <a:solidFill>
                  <a:srgbClr val="64748B"/>
                </a:solidFill>
                <a:latin typeface="Calibri" pitchFamily="34" charset="0"/>
                <a:ea typeface="Calibri" pitchFamily="34" charset="-122"/>
                <a:cs typeface="Calibri" pitchFamily="34" charset="-120"/>
              </a:rPr>
              <a:t>BEFORE</a:t>
            </a:r>
            <a:endParaRPr lang="en-US" sz="1000" dirty="0"/>
          </a:p>
        </p:txBody>
      </p:sp>
      <p:sp>
        <p:nvSpPr>
          <p:cNvPr id="5" name="a1f_cell4"/>
          <p:cNvSpPr txBox="1"/>
          <p:nvPr/>
        </p:nvSpPr>
        <p:spPr>
          <a:xfrm>
            <a:off x="457200" y="1417320"/>
            <a:ext cx="640080" cy="256032"/>
          </a:xfrm>
          <a:prstGeom prst="rect">
            <a:avLst/>
          </a:prstGeom>
          <a:solidFill>
            <a:srgbClr val="475569"/>
          </a:solidFill>
          <a:ln w="9525">
            <a:solidFill>
              <a:srgbClr val="47556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cust_id</a:t>
            </a:r>
            <a:endParaRPr lang="en-US" sz="1100" dirty="0"/>
          </a:p>
        </p:txBody>
      </p:sp>
      <p:sp>
        <p:nvSpPr>
          <p:cNvPr id="6" name="a1wd200_cell5"/>
          <p:cNvSpPr txBox="1"/>
          <p:nvPr/>
        </p:nvSpPr>
        <p:spPr>
          <a:xfrm>
            <a:off x="457200" y="1673352"/>
            <a:ext cx="64008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1005</a:t>
            </a:r>
            <a:endParaRPr lang="en-US" sz="1100" dirty="0"/>
          </a:p>
        </p:txBody>
      </p:sp>
      <p:sp>
        <p:nvSpPr>
          <p:cNvPr id="7" name="a1f_cell6"/>
          <p:cNvSpPr txBox="1"/>
          <p:nvPr/>
        </p:nvSpPr>
        <p:spPr>
          <a:xfrm>
            <a:off x="1097280" y="1417320"/>
            <a:ext cx="1143000" cy="256032"/>
          </a:xfrm>
          <a:prstGeom prst="rect">
            <a:avLst/>
          </a:prstGeom>
          <a:solidFill>
            <a:srgbClr val="475569"/>
          </a:solidFill>
          <a:ln w="9525">
            <a:solidFill>
              <a:srgbClr val="47556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cust_name</a:t>
            </a:r>
            <a:endParaRPr lang="en-US" sz="1100" dirty="0"/>
          </a:p>
        </p:txBody>
      </p:sp>
      <p:sp>
        <p:nvSpPr>
          <p:cNvPr id="8" name="a1wd200_cell7"/>
          <p:cNvSpPr txBox="1"/>
          <p:nvPr/>
        </p:nvSpPr>
        <p:spPr>
          <a:xfrm>
            <a:off x="1097280" y="1673352"/>
            <a:ext cx="114300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Karthik Gupta</a:t>
            </a:r>
            <a:endParaRPr lang="en-US" sz="1100" dirty="0"/>
          </a:p>
        </p:txBody>
      </p:sp>
      <p:sp>
        <p:nvSpPr>
          <p:cNvPr id="9" name="a1f_cell8"/>
          <p:cNvSpPr txBox="1"/>
          <p:nvPr/>
        </p:nvSpPr>
        <p:spPr>
          <a:xfrm>
            <a:off x="2240280" y="1417320"/>
            <a:ext cx="822960" cy="256032"/>
          </a:xfrm>
          <a:prstGeom prst="rect">
            <a:avLst/>
          </a:prstGeom>
          <a:solidFill>
            <a:srgbClr val="475569"/>
          </a:solidFill>
          <a:ln w="9525">
            <a:solidFill>
              <a:srgbClr val="47556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acct_no_1</a:t>
            </a:r>
            <a:endParaRPr lang="en-US" sz="1100" dirty="0"/>
          </a:p>
        </p:txBody>
      </p:sp>
      <p:sp>
        <p:nvSpPr>
          <p:cNvPr id="10" name="a1wd200_cell9"/>
          <p:cNvSpPr txBox="1"/>
          <p:nvPr/>
        </p:nvSpPr>
        <p:spPr>
          <a:xfrm>
            <a:off x="2240280" y="1673352"/>
            <a:ext cx="82296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…9005</a:t>
            </a:r>
            <a:endParaRPr lang="en-US" sz="1100" dirty="0"/>
          </a:p>
        </p:txBody>
      </p:sp>
      <p:sp>
        <p:nvSpPr>
          <p:cNvPr id="11" name="a1f_cell10"/>
          <p:cNvSpPr txBox="1"/>
          <p:nvPr/>
        </p:nvSpPr>
        <p:spPr>
          <a:xfrm>
            <a:off x="3063240" y="1417320"/>
            <a:ext cx="914400" cy="256032"/>
          </a:xfrm>
          <a:prstGeom prst="rect">
            <a:avLst/>
          </a:prstGeom>
          <a:solidFill>
            <a:srgbClr val="475569"/>
          </a:solidFill>
          <a:ln w="9525">
            <a:solidFill>
              <a:srgbClr val="47556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balance_1</a:t>
            </a:r>
            <a:endParaRPr lang="en-US" sz="1100" dirty="0"/>
          </a:p>
        </p:txBody>
      </p:sp>
      <p:sp>
        <p:nvSpPr>
          <p:cNvPr id="12" name="a1wd200_cell11"/>
          <p:cNvSpPr txBox="1"/>
          <p:nvPr/>
        </p:nvSpPr>
        <p:spPr>
          <a:xfrm>
            <a:off x="3063240" y="1673352"/>
            <a:ext cx="91440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91729.06</a:t>
            </a:r>
            <a:endParaRPr lang="en-US" sz="1100" dirty="0"/>
          </a:p>
        </p:txBody>
      </p:sp>
      <p:sp>
        <p:nvSpPr>
          <p:cNvPr id="13" name="a1f_cell12"/>
          <p:cNvSpPr txBox="1"/>
          <p:nvPr/>
        </p:nvSpPr>
        <p:spPr>
          <a:xfrm>
            <a:off x="3977640" y="1417320"/>
            <a:ext cx="822960" cy="256032"/>
          </a:xfrm>
          <a:prstGeom prst="rect">
            <a:avLst/>
          </a:prstGeom>
          <a:solidFill>
            <a:srgbClr val="475569"/>
          </a:solidFill>
          <a:ln w="9525">
            <a:solidFill>
              <a:srgbClr val="47556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acct_no_2</a:t>
            </a:r>
            <a:endParaRPr lang="en-US" sz="1100" dirty="0"/>
          </a:p>
        </p:txBody>
      </p:sp>
      <p:sp>
        <p:nvSpPr>
          <p:cNvPr id="14" name="a1wd200_cell13"/>
          <p:cNvSpPr txBox="1"/>
          <p:nvPr/>
        </p:nvSpPr>
        <p:spPr>
          <a:xfrm>
            <a:off x="3977640" y="1673352"/>
            <a:ext cx="82296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…9006</a:t>
            </a:r>
            <a:endParaRPr lang="en-US" sz="1100" dirty="0"/>
          </a:p>
        </p:txBody>
      </p:sp>
      <p:sp>
        <p:nvSpPr>
          <p:cNvPr id="15" name="a1f_cell14"/>
          <p:cNvSpPr txBox="1"/>
          <p:nvPr/>
        </p:nvSpPr>
        <p:spPr>
          <a:xfrm>
            <a:off x="4800600" y="1417320"/>
            <a:ext cx="914400" cy="256032"/>
          </a:xfrm>
          <a:prstGeom prst="rect">
            <a:avLst/>
          </a:prstGeom>
          <a:solidFill>
            <a:srgbClr val="475569"/>
          </a:solidFill>
          <a:ln w="9525">
            <a:solidFill>
              <a:srgbClr val="47556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balance_2</a:t>
            </a:r>
            <a:endParaRPr lang="en-US" sz="1100" dirty="0"/>
          </a:p>
        </p:txBody>
      </p:sp>
      <p:sp>
        <p:nvSpPr>
          <p:cNvPr id="16" name="a1wd200_cell15"/>
          <p:cNvSpPr txBox="1"/>
          <p:nvPr/>
        </p:nvSpPr>
        <p:spPr>
          <a:xfrm>
            <a:off x="4800600" y="1673352"/>
            <a:ext cx="91440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27637.82</a:t>
            </a:r>
            <a:endParaRPr lang="en-US" sz="1100" dirty="0"/>
          </a:p>
        </p:txBody>
      </p:sp>
      <p:sp>
        <p:nvSpPr>
          <p:cNvPr id="17" name="a1f_cell16"/>
          <p:cNvSpPr txBox="1"/>
          <p:nvPr/>
        </p:nvSpPr>
        <p:spPr>
          <a:xfrm>
            <a:off x="5715000" y="1417320"/>
            <a:ext cx="1188720" cy="256032"/>
          </a:xfrm>
          <a:prstGeom prst="rect">
            <a:avLst/>
          </a:prstGeom>
          <a:solidFill>
            <a:srgbClr val="475569"/>
          </a:solidFill>
          <a:ln w="9525">
            <a:solidFill>
              <a:srgbClr val="47556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products</a:t>
            </a:r>
            <a:endParaRPr lang="en-US" sz="1100" dirty="0"/>
          </a:p>
        </p:txBody>
      </p:sp>
      <p:sp>
        <p:nvSpPr>
          <p:cNvPr id="18" name="a1wd200_cell17"/>
          <p:cNvSpPr txBox="1"/>
          <p:nvPr/>
        </p:nvSpPr>
        <p:spPr>
          <a:xfrm>
            <a:off x="5715000" y="1673352"/>
            <a:ext cx="118872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FD,LOAN,CARD</a:t>
            </a:r>
            <a:endParaRPr lang="en-US" sz="1100" dirty="0"/>
          </a:p>
        </p:txBody>
      </p:sp>
      <p:sp>
        <p:nvSpPr>
          <p:cNvPr id="19" name="a2f_ar18"/>
          <p:cNvSpPr/>
          <p:nvPr/>
        </p:nvSpPr>
        <p:spPr>
          <a:xfrm>
            <a:off x="4160520" y="2011680"/>
            <a:ext cx="320040" cy="320040"/>
          </a:xfrm>
          <a:prstGeom prst="downArrow">
            <a:avLst/>
          </a:prstGeom>
          <a:solidFill>
            <a:srgbClr val="8B5CF6"/>
          </a:solidFill>
          <a:ln>
            <a:noFill/>
          </a:ln>
        </p:spPr>
      </p:sp>
      <p:sp>
        <p:nvSpPr>
          <p:cNvPr id="20" name="a2f_al19"/>
          <p:cNvSpPr txBox="1"/>
          <p:nvPr/>
        </p:nvSpPr>
        <p:spPr>
          <a:xfrm>
            <a:off x="457200" y="2395728"/>
            <a:ext cx="1371600" cy="228600"/>
          </a:xfrm>
          <a:prstGeom prst="rect">
            <a:avLst/>
          </a:prstGeom>
          <a:noFill/>
          <a:ln/>
        </p:spPr>
        <p:txBody>
          <a:bodyPr wrap="square" lIns="0" tIns="0" rIns="0" bIns="0" rtlCol="0" anchor="ctr"/>
          <a:lstStyle/>
          <a:p>
            <a:pPr marL="0" indent="0">
              <a:buNone/>
            </a:pPr>
            <a:r>
              <a:rPr lang="en-US" sz="1000" b="1" kern="0" spc="150" dirty="0">
                <a:solidFill>
                  <a:srgbClr val="6D28D9"/>
                </a:solidFill>
                <a:latin typeface="Calibri" pitchFamily="34" charset="0"/>
                <a:ea typeface="Calibri" pitchFamily="34" charset="-122"/>
                <a:cs typeface="Calibri" pitchFamily="34" charset="-120"/>
              </a:rPr>
              <a:t>AFTER</a:t>
            </a:r>
            <a:endParaRPr lang="en-US" sz="1000" dirty="0"/>
          </a:p>
        </p:txBody>
      </p:sp>
      <p:sp>
        <p:nvSpPr>
          <p:cNvPr id="21" name="a2f_l20"/>
          <p:cNvSpPr txBox="1"/>
          <p:nvPr/>
        </p:nvSpPr>
        <p:spPr>
          <a:xfrm>
            <a:off x="457200" y="2651760"/>
            <a:ext cx="2743200" cy="256032"/>
          </a:xfrm>
          <a:prstGeom prst="rect">
            <a:avLst/>
          </a:prstGeom>
          <a:noFill/>
          <a:ln/>
        </p:spPr>
        <p:txBody>
          <a:bodyPr wrap="square" lIns="0" tIns="0" rIns="0" bIns="0" rtlCol="0" anchor="ctr"/>
          <a:lstStyle/>
          <a:p>
            <a:pPr marL="0" indent="0">
              <a:buNone/>
            </a:pPr>
            <a:r>
              <a:rPr lang="en-US" sz="1200" b="1" dirty="0">
                <a:solidFill>
                  <a:srgbClr val="0F766E"/>
                </a:solidFill>
                <a:latin typeface="Calibri" pitchFamily="34" charset="0"/>
                <a:ea typeface="Calibri" pitchFamily="34" charset="-122"/>
                <a:cs typeface="Calibri" pitchFamily="34" charset="-120"/>
              </a:rPr>
              <a:t>customer</a:t>
            </a:r>
            <a:endParaRPr lang="en-US" sz="1200" dirty="0"/>
          </a:p>
        </p:txBody>
      </p:sp>
      <p:sp>
        <p:nvSpPr>
          <p:cNvPr id="22" name="a2f_cell21"/>
          <p:cNvSpPr txBox="1"/>
          <p:nvPr/>
        </p:nvSpPr>
        <p:spPr>
          <a:xfrm>
            <a:off x="457200" y="2907792"/>
            <a:ext cx="685800" cy="256032"/>
          </a:xfrm>
          <a:prstGeom prst="rect">
            <a:avLst/>
          </a:prstGeom>
          <a:solidFill>
            <a:srgbClr val="0F766E"/>
          </a:solidFill>
          <a:ln w="9525">
            <a:solidFill>
              <a:srgbClr val="0F766E"/>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cust_id</a:t>
            </a:r>
            <a:endParaRPr lang="en-US" sz="1100" dirty="0"/>
          </a:p>
        </p:txBody>
      </p:sp>
      <p:sp>
        <p:nvSpPr>
          <p:cNvPr id="23" name="a2wd200_cell22"/>
          <p:cNvSpPr txBox="1"/>
          <p:nvPr/>
        </p:nvSpPr>
        <p:spPr>
          <a:xfrm>
            <a:off x="457200" y="3163824"/>
            <a:ext cx="68580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1005</a:t>
            </a:r>
            <a:endParaRPr lang="en-US" sz="1100" dirty="0"/>
          </a:p>
        </p:txBody>
      </p:sp>
      <p:sp>
        <p:nvSpPr>
          <p:cNvPr id="24" name="a2f_cell23"/>
          <p:cNvSpPr txBox="1"/>
          <p:nvPr/>
        </p:nvSpPr>
        <p:spPr>
          <a:xfrm>
            <a:off x="1143000" y="2907792"/>
            <a:ext cx="1188720" cy="256032"/>
          </a:xfrm>
          <a:prstGeom prst="rect">
            <a:avLst/>
          </a:prstGeom>
          <a:solidFill>
            <a:srgbClr val="0F766E"/>
          </a:solidFill>
          <a:ln w="9525">
            <a:solidFill>
              <a:srgbClr val="0F766E"/>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cust_name</a:t>
            </a:r>
            <a:endParaRPr lang="en-US" sz="1100" dirty="0"/>
          </a:p>
        </p:txBody>
      </p:sp>
      <p:sp>
        <p:nvSpPr>
          <p:cNvPr id="25" name="a2wd200_cell24"/>
          <p:cNvSpPr txBox="1"/>
          <p:nvPr/>
        </p:nvSpPr>
        <p:spPr>
          <a:xfrm>
            <a:off x="1143000" y="3163824"/>
            <a:ext cx="118872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Karthik Gupta</a:t>
            </a:r>
            <a:endParaRPr lang="en-US" sz="1100" dirty="0"/>
          </a:p>
        </p:txBody>
      </p:sp>
      <p:sp>
        <p:nvSpPr>
          <p:cNvPr id="26" name="a3f_l25"/>
          <p:cNvSpPr txBox="1"/>
          <p:nvPr/>
        </p:nvSpPr>
        <p:spPr>
          <a:xfrm>
            <a:off x="2788920" y="2651760"/>
            <a:ext cx="2743200" cy="256032"/>
          </a:xfrm>
          <a:prstGeom prst="rect">
            <a:avLst/>
          </a:prstGeom>
          <a:noFill/>
          <a:ln/>
        </p:spPr>
        <p:txBody>
          <a:bodyPr wrap="square" lIns="0" tIns="0" rIns="0" bIns="0" rtlCol="0" anchor="ctr"/>
          <a:lstStyle/>
          <a:p>
            <a:pPr marL="0" indent="0">
              <a:buNone/>
            </a:pPr>
            <a:r>
              <a:rPr lang="en-US" sz="1200" b="1" dirty="0">
                <a:solidFill>
                  <a:srgbClr val="B45309"/>
                </a:solidFill>
                <a:latin typeface="Calibri" pitchFamily="34" charset="0"/>
                <a:ea typeface="Calibri" pitchFamily="34" charset="-122"/>
                <a:cs typeface="Calibri" pitchFamily="34" charset="-120"/>
              </a:rPr>
              <a:t>customer_account</a:t>
            </a:r>
            <a:endParaRPr lang="en-US" sz="1200" dirty="0"/>
          </a:p>
        </p:txBody>
      </p:sp>
      <p:sp>
        <p:nvSpPr>
          <p:cNvPr id="27" name="a3f_cell26"/>
          <p:cNvSpPr txBox="1"/>
          <p:nvPr/>
        </p:nvSpPr>
        <p:spPr>
          <a:xfrm>
            <a:off x="2788920" y="2907792"/>
            <a:ext cx="685800" cy="256032"/>
          </a:xfrm>
          <a:prstGeom prst="rect">
            <a:avLst/>
          </a:prstGeom>
          <a:solidFill>
            <a:srgbClr val="B45309"/>
          </a:solidFill>
          <a:ln w="9525">
            <a:solidFill>
              <a:srgbClr val="B4530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cust_id</a:t>
            </a:r>
            <a:endParaRPr lang="en-US" sz="1100" dirty="0"/>
          </a:p>
        </p:txBody>
      </p:sp>
      <p:sp>
        <p:nvSpPr>
          <p:cNvPr id="28" name="a3wd200_cell27"/>
          <p:cNvSpPr txBox="1"/>
          <p:nvPr/>
        </p:nvSpPr>
        <p:spPr>
          <a:xfrm>
            <a:off x="2788920" y="3163824"/>
            <a:ext cx="68580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1005</a:t>
            </a:r>
            <a:endParaRPr lang="en-US" sz="1100" dirty="0"/>
          </a:p>
        </p:txBody>
      </p:sp>
      <p:sp>
        <p:nvSpPr>
          <p:cNvPr id="29" name="a3wd400_cell28"/>
          <p:cNvSpPr txBox="1"/>
          <p:nvPr/>
        </p:nvSpPr>
        <p:spPr>
          <a:xfrm>
            <a:off x="2788920" y="3419856"/>
            <a:ext cx="68580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1005</a:t>
            </a:r>
            <a:endParaRPr lang="en-US" sz="1100" dirty="0"/>
          </a:p>
        </p:txBody>
      </p:sp>
      <p:sp>
        <p:nvSpPr>
          <p:cNvPr id="30" name="a3f_cell29"/>
          <p:cNvSpPr txBox="1"/>
          <p:nvPr/>
        </p:nvSpPr>
        <p:spPr>
          <a:xfrm>
            <a:off x="3474720" y="2907792"/>
            <a:ext cx="731520" cy="256032"/>
          </a:xfrm>
          <a:prstGeom prst="rect">
            <a:avLst/>
          </a:prstGeom>
          <a:solidFill>
            <a:srgbClr val="B45309"/>
          </a:solidFill>
          <a:ln w="9525">
            <a:solidFill>
              <a:srgbClr val="B4530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acct_no</a:t>
            </a:r>
            <a:endParaRPr lang="en-US" sz="1100" dirty="0"/>
          </a:p>
        </p:txBody>
      </p:sp>
      <p:sp>
        <p:nvSpPr>
          <p:cNvPr id="31" name="a3wd200_cell30"/>
          <p:cNvSpPr txBox="1"/>
          <p:nvPr/>
        </p:nvSpPr>
        <p:spPr>
          <a:xfrm>
            <a:off x="3474720" y="3163824"/>
            <a:ext cx="73152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…9005</a:t>
            </a:r>
            <a:endParaRPr lang="en-US" sz="1100" dirty="0"/>
          </a:p>
        </p:txBody>
      </p:sp>
      <p:sp>
        <p:nvSpPr>
          <p:cNvPr id="32" name="a3wd400_cell31"/>
          <p:cNvSpPr txBox="1"/>
          <p:nvPr/>
        </p:nvSpPr>
        <p:spPr>
          <a:xfrm>
            <a:off x="3474720" y="3419856"/>
            <a:ext cx="73152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…9006</a:t>
            </a:r>
            <a:endParaRPr lang="en-US" sz="1100" dirty="0"/>
          </a:p>
        </p:txBody>
      </p:sp>
      <p:sp>
        <p:nvSpPr>
          <p:cNvPr id="33" name="a3f_cell32"/>
          <p:cNvSpPr txBox="1"/>
          <p:nvPr/>
        </p:nvSpPr>
        <p:spPr>
          <a:xfrm>
            <a:off x="4206240" y="2907792"/>
            <a:ext cx="914400" cy="256032"/>
          </a:xfrm>
          <a:prstGeom prst="rect">
            <a:avLst/>
          </a:prstGeom>
          <a:solidFill>
            <a:srgbClr val="B45309"/>
          </a:solidFill>
          <a:ln w="9525">
            <a:solidFill>
              <a:srgbClr val="B4530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balance</a:t>
            </a:r>
            <a:endParaRPr lang="en-US" sz="1100" dirty="0"/>
          </a:p>
        </p:txBody>
      </p:sp>
      <p:sp>
        <p:nvSpPr>
          <p:cNvPr id="34" name="a3wd200_cell33"/>
          <p:cNvSpPr txBox="1"/>
          <p:nvPr/>
        </p:nvSpPr>
        <p:spPr>
          <a:xfrm>
            <a:off x="4206240" y="3163824"/>
            <a:ext cx="91440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91729.06</a:t>
            </a:r>
            <a:endParaRPr lang="en-US" sz="1100" dirty="0"/>
          </a:p>
        </p:txBody>
      </p:sp>
      <p:sp>
        <p:nvSpPr>
          <p:cNvPr id="35" name="a3wd400_cell34"/>
          <p:cNvSpPr txBox="1"/>
          <p:nvPr/>
        </p:nvSpPr>
        <p:spPr>
          <a:xfrm>
            <a:off x="4206240" y="3419856"/>
            <a:ext cx="91440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27637.82</a:t>
            </a:r>
            <a:endParaRPr lang="en-US" sz="1100" dirty="0"/>
          </a:p>
        </p:txBody>
      </p:sp>
      <p:sp>
        <p:nvSpPr>
          <p:cNvPr id="36" name="a4f_l35"/>
          <p:cNvSpPr txBox="1"/>
          <p:nvPr/>
        </p:nvSpPr>
        <p:spPr>
          <a:xfrm>
            <a:off x="5486400" y="2651760"/>
            <a:ext cx="2743200" cy="256032"/>
          </a:xfrm>
          <a:prstGeom prst="rect">
            <a:avLst/>
          </a:prstGeom>
          <a:noFill/>
          <a:ln/>
        </p:spPr>
        <p:txBody>
          <a:bodyPr wrap="square" lIns="0" tIns="0" rIns="0" bIns="0" rtlCol="0" anchor="ctr"/>
          <a:lstStyle/>
          <a:p>
            <a:pPr marL="0" indent="0">
              <a:buNone/>
            </a:pPr>
            <a:r>
              <a:rPr lang="en-US" sz="1200" b="1" dirty="0">
                <a:solidFill>
                  <a:srgbClr val="6D28D9"/>
                </a:solidFill>
                <a:latin typeface="Calibri" pitchFamily="34" charset="0"/>
                <a:ea typeface="Calibri" pitchFamily="34" charset="-122"/>
                <a:cs typeface="Calibri" pitchFamily="34" charset="-120"/>
              </a:rPr>
              <a:t>customer_product</a:t>
            </a:r>
            <a:endParaRPr lang="en-US" sz="1200" dirty="0"/>
          </a:p>
        </p:txBody>
      </p:sp>
      <p:sp>
        <p:nvSpPr>
          <p:cNvPr id="37" name="a4f_cell36"/>
          <p:cNvSpPr txBox="1"/>
          <p:nvPr/>
        </p:nvSpPr>
        <p:spPr>
          <a:xfrm>
            <a:off x="5486400" y="2907792"/>
            <a:ext cx="685800" cy="256032"/>
          </a:xfrm>
          <a:prstGeom prst="rect">
            <a:avLst/>
          </a:prstGeom>
          <a:solidFill>
            <a:srgbClr val="6D28D9"/>
          </a:solidFill>
          <a:ln w="9525">
            <a:solidFill>
              <a:srgbClr val="6D28D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cust_id</a:t>
            </a:r>
            <a:endParaRPr lang="en-US" sz="1100" dirty="0"/>
          </a:p>
        </p:txBody>
      </p:sp>
      <p:sp>
        <p:nvSpPr>
          <p:cNvPr id="38" name="a4wd200_cell37"/>
          <p:cNvSpPr txBox="1"/>
          <p:nvPr/>
        </p:nvSpPr>
        <p:spPr>
          <a:xfrm>
            <a:off x="5486400" y="3163824"/>
            <a:ext cx="68580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1005</a:t>
            </a:r>
            <a:endParaRPr lang="en-US" sz="1100" dirty="0"/>
          </a:p>
        </p:txBody>
      </p:sp>
      <p:sp>
        <p:nvSpPr>
          <p:cNvPr id="39" name="a4wd400_cell38"/>
          <p:cNvSpPr txBox="1"/>
          <p:nvPr/>
        </p:nvSpPr>
        <p:spPr>
          <a:xfrm>
            <a:off x="5486400" y="3419856"/>
            <a:ext cx="68580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1005</a:t>
            </a:r>
            <a:endParaRPr lang="en-US" sz="1100" dirty="0"/>
          </a:p>
        </p:txBody>
      </p:sp>
      <p:sp>
        <p:nvSpPr>
          <p:cNvPr id="40" name="a4wd600_cell39"/>
          <p:cNvSpPr txBox="1"/>
          <p:nvPr/>
        </p:nvSpPr>
        <p:spPr>
          <a:xfrm>
            <a:off x="5486400" y="3675888"/>
            <a:ext cx="68580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1005</a:t>
            </a:r>
            <a:endParaRPr lang="en-US" sz="1100" dirty="0"/>
          </a:p>
        </p:txBody>
      </p:sp>
      <p:sp>
        <p:nvSpPr>
          <p:cNvPr id="41" name="a4f_cell40"/>
          <p:cNvSpPr txBox="1"/>
          <p:nvPr/>
        </p:nvSpPr>
        <p:spPr>
          <a:xfrm>
            <a:off x="6172200" y="2907792"/>
            <a:ext cx="822960" cy="256032"/>
          </a:xfrm>
          <a:prstGeom prst="rect">
            <a:avLst/>
          </a:prstGeom>
          <a:solidFill>
            <a:srgbClr val="6D28D9"/>
          </a:solidFill>
          <a:ln w="9525">
            <a:solidFill>
              <a:srgbClr val="6D28D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product</a:t>
            </a:r>
            <a:endParaRPr lang="en-US" sz="1100" dirty="0"/>
          </a:p>
        </p:txBody>
      </p:sp>
      <p:sp>
        <p:nvSpPr>
          <p:cNvPr id="42" name="a4wd200_cell41"/>
          <p:cNvSpPr txBox="1"/>
          <p:nvPr/>
        </p:nvSpPr>
        <p:spPr>
          <a:xfrm>
            <a:off x="6172200" y="3163824"/>
            <a:ext cx="82296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FD</a:t>
            </a:r>
            <a:endParaRPr lang="en-US" sz="1100" dirty="0"/>
          </a:p>
        </p:txBody>
      </p:sp>
      <p:sp>
        <p:nvSpPr>
          <p:cNvPr id="43" name="a4wd400_cell42"/>
          <p:cNvSpPr txBox="1"/>
          <p:nvPr/>
        </p:nvSpPr>
        <p:spPr>
          <a:xfrm>
            <a:off x="6172200" y="3419856"/>
            <a:ext cx="82296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LOAN</a:t>
            </a:r>
            <a:endParaRPr lang="en-US" sz="1100" dirty="0"/>
          </a:p>
        </p:txBody>
      </p:sp>
      <p:sp>
        <p:nvSpPr>
          <p:cNvPr id="44" name="a4wd600_cell43"/>
          <p:cNvSpPr txBox="1"/>
          <p:nvPr/>
        </p:nvSpPr>
        <p:spPr>
          <a:xfrm>
            <a:off x="6172200" y="3675888"/>
            <a:ext cx="82296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CARD</a:t>
            </a:r>
            <a:endParaRPr lang="en-US" sz="1100" dirty="0"/>
          </a:p>
        </p:txBody>
      </p:sp>
      <p:sp>
        <p:nvSpPr>
          <p:cNvPr id="45" name="a5u_tb44"/>
          <p:cNvSpPr/>
          <p:nvPr/>
        </p:nvSpPr>
        <p:spPr>
          <a:xfrm>
            <a:off x="457200" y="4069080"/>
            <a:ext cx="8229600" cy="640080"/>
          </a:xfrm>
          <a:prstGeom prst="roundRect">
            <a:avLst>
              <a:gd name="adj" fmla="val 5926"/>
            </a:avLst>
          </a:prstGeom>
          <a:solidFill>
            <a:srgbClr val="6D28D9"/>
          </a:solidFill>
          <a:ln w="12700">
            <a:solidFill>
              <a:srgbClr val="6D28D9"/>
            </a:solidFill>
            <a:prstDash val="solid"/>
          </a:ln>
        </p:spPr>
      </p:sp>
      <p:sp>
        <p:nvSpPr>
          <p:cNvPr id="46" name="a5u_tt45"/>
          <p:cNvSpPr txBox="1"/>
          <p:nvPr/>
        </p:nvSpPr>
        <p:spPr>
          <a:xfrm>
            <a:off x="640080" y="4069080"/>
            <a:ext cx="7909560" cy="64008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Any number of accounts and products — without a schema change. Each value now sits in its own row.</a:t>
            </a:r>
            <a:endParaRPr lang="en-US" sz="13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22" presetClass="entr" presetSubtype="8" fill="hold" grpId="0" nodeType="withEffect">
                                  <p:stCondLst>
                                    <p:cond delay="20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22" presetClass="entr" presetSubtype="8" fill="hold" grpId="0" nodeType="withEffect">
                                  <p:stCondLst>
                                    <p:cond delay="20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22" presetClass="entr" presetSubtype="8" fill="hold" grpId="0" nodeType="withEffect">
                                  <p:stCondLst>
                                    <p:cond delay="20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22" presetClass="entr" presetSubtype="8" fill="hold" grpId="0" nodeType="withEffect">
                                  <p:stCondLst>
                                    <p:cond delay="20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22" presetClass="entr" presetSubtype="8" fill="hold" grpId="0" nodeType="withEffect">
                                  <p:stCondLst>
                                    <p:cond delay="200"/>
                                  </p:stCondLst>
                                  <p:childTnLst>
                                    <p:set>
                                      <p:cBhvr>
                                        <p:cTn id="36" dur="1" fill="hold">
                                          <p:stCondLst>
                                            <p:cond delay="0"/>
                                          </p:stCondLst>
                                        </p:cTn>
                                        <p:tgtEl>
                                          <p:spTgt spid="14"/>
                                        </p:tgtEl>
                                        <p:attrNameLst>
                                          <p:attrName>style.visibility</p:attrName>
                                        </p:attrNameLst>
                                      </p:cBhvr>
                                      <p:to>
                                        <p:strVal val="visible"/>
                                      </p:to>
                                    </p:set>
                                    <p:animEffect transition="in" filter="wipe(left)">
                                      <p:cBhvr>
                                        <p:cTn id="37" dur="5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22" presetClass="entr" presetSubtype="8" fill="hold" grpId="0" nodeType="withEffect">
                                  <p:stCondLst>
                                    <p:cond delay="200"/>
                                  </p:stCondLst>
                                  <p:childTnLst>
                                    <p:set>
                                      <p:cBhvr>
                                        <p:cTn id="42" dur="1" fill="hold">
                                          <p:stCondLst>
                                            <p:cond delay="0"/>
                                          </p:stCondLst>
                                        </p:cTn>
                                        <p:tgtEl>
                                          <p:spTgt spid="16"/>
                                        </p:tgtEl>
                                        <p:attrNameLst>
                                          <p:attrName>style.visibility</p:attrName>
                                        </p:attrNameLst>
                                      </p:cBhvr>
                                      <p:to>
                                        <p:strVal val="visible"/>
                                      </p:to>
                                    </p:set>
                                    <p:animEffect transition="in" filter="wipe(left)">
                                      <p:cBhvr>
                                        <p:cTn id="43" dur="50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par>
                                <p:cTn id="47" presetID="22" presetClass="entr" presetSubtype="8" fill="hold" grpId="0" nodeType="withEffect">
                                  <p:stCondLst>
                                    <p:cond delay="200"/>
                                  </p:stCondLst>
                                  <p:childTnLst>
                                    <p:set>
                                      <p:cBhvr>
                                        <p:cTn id="48" dur="1" fill="hold">
                                          <p:stCondLst>
                                            <p:cond delay="0"/>
                                          </p:stCondLst>
                                        </p:cTn>
                                        <p:tgtEl>
                                          <p:spTgt spid="18"/>
                                        </p:tgtEl>
                                        <p:attrNameLst>
                                          <p:attrName>style.visibility</p:attrName>
                                        </p:attrNameLst>
                                      </p:cBhvr>
                                      <p:to>
                                        <p:strVal val="visible"/>
                                      </p:to>
                                    </p:set>
                                    <p:animEffect transition="in" filter="wipe(left)">
                                      <p:cBhvr>
                                        <p:cTn id="49" dur="500"/>
                                        <p:tgtEl>
                                          <p:spTgt spid="18"/>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par>
                                <p:cTn id="64" presetID="22" presetClass="entr" presetSubtype="8" fill="hold" grpId="0" nodeType="withEffect">
                                  <p:stCondLst>
                                    <p:cond delay="200"/>
                                  </p:stCondLst>
                                  <p:childTnLst>
                                    <p:set>
                                      <p:cBhvr>
                                        <p:cTn id="65" dur="1" fill="hold">
                                          <p:stCondLst>
                                            <p:cond delay="0"/>
                                          </p:stCondLst>
                                        </p:cTn>
                                        <p:tgtEl>
                                          <p:spTgt spid="23"/>
                                        </p:tgtEl>
                                        <p:attrNameLst>
                                          <p:attrName>style.visibility</p:attrName>
                                        </p:attrNameLst>
                                      </p:cBhvr>
                                      <p:to>
                                        <p:strVal val="visible"/>
                                      </p:to>
                                    </p:set>
                                    <p:animEffect transition="in" filter="wipe(left)">
                                      <p:cBhvr>
                                        <p:cTn id="66" dur="500"/>
                                        <p:tgtEl>
                                          <p:spTgt spid="2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par>
                                <p:cTn id="70" presetID="22" presetClass="entr" presetSubtype="8" fill="hold" grpId="0" nodeType="withEffect">
                                  <p:stCondLst>
                                    <p:cond delay="200"/>
                                  </p:stCondLst>
                                  <p:childTnLst>
                                    <p:set>
                                      <p:cBhvr>
                                        <p:cTn id="71" dur="1" fill="hold">
                                          <p:stCondLst>
                                            <p:cond delay="0"/>
                                          </p:stCondLst>
                                        </p:cTn>
                                        <p:tgtEl>
                                          <p:spTgt spid="25"/>
                                        </p:tgtEl>
                                        <p:attrNameLst>
                                          <p:attrName>style.visibility</p:attrName>
                                        </p:attrNameLst>
                                      </p:cBhvr>
                                      <p:to>
                                        <p:strVal val="visible"/>
                                      </p:to>
                                    </p:set>
                                    <p:animEffect transition="in" filter="wipe(left)">
                                      <p:cBhvr>
                                        <p:cTn id="72" dur="500"/>
                                        <p:tgtEl>
                                          <p:spTgt spid="25"/>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500"/>
                                        <p:tgtEl>
                                          <p:spTgt spid="26"/>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500"/>
                                        <p:tgtEl>
                                          <p:spTgt spid="27"/>
                                        </p:tgtEl>
                                      </p:cBhvr>
                                    </p:animEffect>
                                  </p:childTnLst>
                                </p:cTn>
                              </p:par>
                              <p:par>
                                <p:cTn id="81" presetID="22" presetClass="entr" presetSubtype="8" fill="hold" grpId="0" nodeType="withEffect">
                                  <p:stCondLst>
                                    <p:cond delay="200"/>
                                  </p:stCondLst>
                                  <p:childTnLst>
                                    <p:set>
                                      <p:cBhvr>
                                        <p:cTn id="82" dur="1" fill="hold">
                                          <p:stCondLst>
                                            <p:cond delay="0"/>
                                          </p:stCondLst>
                                        </p:cTn>
                                        <p:tgtEl>
                                          <p:spTgt spid="28"/>
                                        </p:tgtEl>
                                        <p:attrNameLst>
                                          <p:attrName>style.visibility</p:attrName>
                                        </p:attrNameLst>
                                      </p:cBhvr>
                                      <p:to>
                                        <p:strVal val="visible"/>
                                      </p:to>
                                    </p:set>
                                    <p:animEffect transition="in" filter="wipe(left)">
                                      <p:cBhvr>
                                        <p:cTn id="83" dur="500"/>
                                        <p:tgtEl>
                                          <p:spTgt spid="28"/>
                                        </p:tgtEl>
                                      </p:cBhvr>
                                    </p:animEffect>
                                  </p:childTnLst>
                                </p:cTn>
                              </p:par>
                              <p:par>
                                <p:cTn id="84" presetID="22" presetClass="entr" presetSubtype="8" fill="hold" grpId="0" nodeType="withEffect">
                                  <p:stCondLst>
                                    <p:cond delay="400"/>
                                  </p:stCondLst>
                                  <p:childTnLst>
                                    <p:set>
                                      <p:cBhvr>
                                        <p:cTn id="85" dur="1" fill="hold">
                                          <p:stCondLst>
                                            <p:cond delay="0"/>
                                          </p:stCondLst>
                                        </p:cTn>
                                        <p:tgtEl>
                                          <p:spTgt spid="29"/>
                                        </p:tgtEl>
                                        <p:attrNameLst>
                                          <p:attrName>style.visibility</p:attrName>
                                        </p:attrNameLst>
                                      </p:cBhvr>
                                      <p:to>
                                        <p:strVal val="visible"/>
                                      </p:to>
                                    </p:set>
                                    <p:animEffect transition="in" filter="wipe(left)">
                                      <p:cBhvr>
                                        <p:cTn id="86" dur="500"/>
                                        <p:tgtEl>
                                          <p:spTgt spid="29"/>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9" dur="500"/>
                                        <p:tgtEl>
                                          <p:spTgt spid="30"/>
                                        </p:tgtEl>
                                      </p:cBhvr>
                                    </p:animEffect>
                                  </p:childTnLst>
                                </p:cTn>
                              </p:par>
                              <p:par>
                                <p:cTn id="90" presetID="22" presetClass="entr" presetSubtype="8" fill="hold" grpId="0" nodeType="withEffect">
                                  <p:stCondLst>
                                    <p:cond delay="200"/>
                                  </p:stCondLst>
                                  <p:childTnLst>
                                    <p:set>
                                      <p:cBhvr>
                                        <p:cTn id="91" dur="1" fill="hold">
                                          <p:stCondLst>
                                            <p:cond delay="0"/>
                                          </p:stCondLst>
                                        </p:cTn>
                                        <p:tgtEl>
                                          <p:spTgt spid="31"/>
                                        </p:tgtEl>
                                        <p:attrNameLst>
                                          <p:attrName>style.visibility</p:attrName>
                                        </p:attrNameLst>
                                      </p:cBhvr>
                                      <p:to>
                                        <p:strVal val="visible"/>
                                      </p:to>
                                    </p:set>
                                    <p:animEffect transition="in" filter="wipe(left)">
                                      <p:cBhvr>
                                        <p:cTn id="92" dur="500"/>
                                        <p:tgtEl>
                                          <p:spTgt spid="31"/>
                                        </p:tgtEl>
                                      </p:cBhvr>
                                    </p:animEffect>
                                  </p:childTnLst>
                                </p:cTn>
                              </p:par>
                              <p:par>
                                <p:cTn id="93" presetID="22" presetClass="entr" presetSubtype="8" fill="hold" grpId="0" nodeType="withEffect">
                                  <p:stCondLst>
                                    <p:cond delay="400"/>
                                  </p:stCondLst>
                                  <p:childTnLst>
                                    <p:set>
                                      <p:cBhvr>
                                        <p:cTn id="94" dur="1" fill="hold">
                                          <p:stCondLst>
                                            <p:cond delay="0"/>
                                          </p:stCondLst>
                                        </p:cTn>
                                        <p:tgtEl>
                                          <p:spTgt spid="32"/>
                                        </p:tgtEl>
                                        <p:attrNameLst>
                                          <p:attrName>style.visibility</p:attrName>
                                        </p:attrNameLst>
                                      </p:cBhvr>
                                      <p:to>
                                        <p:strVal val="visible"/>
                                      </p:to>
                                    </p:set>
                                    <p:animEffect transition="in" filter="wipe(left)">
                                      <p:cBhvr>
                                        <p:cTn id="95" dur="500"/>
                                        <p:tgtEl>
                                          <p:spTgt spid="32"/>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3"/>
                                        </p:tgtEl>
                                        <p:attrNameLst>
                                          <p:attrName>style.visibility</p:attrName>
                                        </p:attrNameLst>
                                      </p:cBhvr>
                                      <p:to>
                                        <p:strVal val="visible"/>
                                      </p:to>
                                    </p:set>
                                    <p:animEffect transition="in" filter="fade">
                                      <p:cBhvr>
                                        <p:cTn id="98" dur="500"/>
                                        <p:tgtEl>
                                          <p:spTgt spid="33"/>
                                        </p:tgtEl>
                                      </p:cBhvr>
                                    </p:animEffect>
                                  </p:childTnLst>
                                </p:cTn>
                              </p:par>
                              <p:par>
                                <p:cTn id="99" presetID="22" presetClass="entr" presetSubtype="8" fill="hold" grpId="0" nodeType="withEffect">
                                  <p:stCondLst>
                                    <p:cond delay="200"/>
                                  </p:stCondLst>
                                  <p:childTnLst>
                                    <p:set>
                                      <p:cBhvr>
                                        <p:cTn id="100" dur="1" fill="hold">
                                          <p:stCondLst>
                                            <p:cond delay="0"/>
                                          </p:stCondLst>
                                        </p:cTn>
                                        <p:tgtEl>
                                          <p:spTgt spid="34"/>
                                        </p:tgtEl>
                                        <p:attrNameLst>
                                          <p:attrName>style.visibility</p:attrName>
                                        </p:attrNameLst>
                                      </p:cBhvr>
                                      <p:to>
                                        <p:strVal val="visible"/>
                                      </p:to>
                                    </p:set>
                                    <p:animEffect transition="in" filter="wipe(left)">
                                      <p:cBhvr>
                                        <p:cTn id="101" dur="500"/>
                                        <p:tgtEl>
                                          <p:spTgt spid="34"/>
                                        </p:tgtEl>
                                      </p:cBhvr>
                                    </p:animEffect>
                                  </p:childTnLst>
                                </p:cTn>
                              </p:par>
                              <p:par>
                                <p:cTn id="102" presetID="22" presetClass="entr" presetSubtype="8" fill="hold" grpId="0" nodeType="withEffect">
                                  <p:stCondLst>
                                    <p:cond delay="400"/>
                                  </p:stCondLst>
                                  <p:childTnLst>
                                    <p:set>
                                      <p:cBhvr>
                                        <p:cTn id="103" dur="1" fill="hold">
                                          <p:stCondLst>
                                            <p:cond delay="0"/>
                                          </p:stCondLst>
                                        </p:cTn>
                                        <p:tgtEl>
                                          <p:spTgt spid="35"/>
                                        </p:tgtEl>
                                        <p:attrNameLst>
                                          <p:attrName>style.visibility</p:attrName>
                                        </p:attrNameLst>
                                      </p:cBhvr>
                                      <p:to>
                                        <p:strVal val="visible"/>
                                      </p:to>
                                    </p:set>
                                    <p:animEffect transition="in" filter="wipe(left)">
                                      <p:cBhvr>
                                        <p:cTn id="104" dur="500"/>
                                        <p:tgtEl>
                                          <p:spTgt spid="35"/>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9" dur="500"/>
                                        <p:tgtEl>
                                          <p:spTgt spid="36"/>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7"/>
                                        </p:tgtEl>
                                        <p:attrNameLst>
                                          <p:attrName>style.visibility</p:attrName>
                                        </p:attrNameLst>
                                      </p:cBhvr>
                                      <p:to>
                                        <p:strVal val="visible"/>
                                      </p:to>
                                    </p:set>
                                    <p:animEffect transition="in" filter="fade">
                                      <p:cBhvr>
                                        <p:cTn id="112" dur="500"/>
                                        <p:tgtEl>
                                          <p:spTgt spid="37"/>
                                        </p:tgtEl>
                                      </p:cBhvr>
                                    </p:animEffect>
                                  </p:childTnLst>
                                </p:cTn>
                              </p:par>
                              <p:par>
                                <p:cTn id="113" presetID="22" presetClass="entr" presetSubtype="8" fill="hold" grpId="0" nodeType="withEffect">
                                  <p:stCondLst>
                                    <p:cond delay="200"/>
                                  </p:stCondLst>
                                  <p:childTnLst>
                                    <p:set>
                                      <p:cBhvr>
                                        <p:cTn id="114" dur="1" fill="hold">
                                          <p:stCondLst>
                                            <p:cond delay="0"/>
                                          </p:stCondLst>
                                        </p:cTn>
                                        <p:tgtEl>
                                          <p:spTgt spid="38"/>
                                        </p:tgtEl>
                                        <p:attrNameLst>
                                          <p:attrName>style.visibility</p:attrName>
                                        </p:attrNameLst>
                                      </p:cBhvr>
                                      <p:to>
                                        <p:strVal val="visible"/>
                                      </p:to>
                                    </p:set>
                                    <p:animEffect transition="in" filter="wipe(left)">
                                      <p:cBhvr>
                                        <p:cTn id="115" dur="500"/>
                                        <p:tgtEl>
                                          <p:spTgt spid="38"/>
                                        </p:tgtEl>
                                      </p:cBhvr>
                                    </p:animEffect>
                                  </p:childTnLst>
                                </p:cTn>
                              </p:par>
                              <p:par>
                                <p:cTn id="116" presetID="22" presetClass="entr" presetSubtype="8" fill="hold" grpId="0" nodeType="withEffect">
                                  <p:stCondLst>
                                    <p:cond delay="400"/>
                                  </p:stCondLst>
                                  <p:childTnLst>
                                    <p:set>
                                      <p:cBhvr>
                                        <p:cTn id="117" dur="1" fill="hold">
                                          <p:stCondLst>
                                            <p:cond delay="0"/>
                                          </p:stCondLst>
                                        </p:cTn>
                                        <p:tgtEl>
                                          <p:spTgt spid="39"/>
                                        </p:tgtEl>
                                        <p:attrNameLst>
                                          <p:attrName>style.visibility</p:attrName>
                                        </p:attrNameLst>
                                      </p:cBhvr>
                                      <p:to>
                                        <p:strVal val="visible"/>
                                      </p:to>
                                    </p:set>
                                    <p:animEffect transition="in" filter="wipe(left)">
                                      <p:cBhvr>
                                        <p:cTn id="118" dur="500"/>
                                        <p:tgtEl>
                                          <p:spTgt spid="39"/>
                                        </p:tgtEl>
                                      </p:cBhvr>
                                    </p:animEffect>
                                  </p:childTnLst>
                                </p:cTn>
                              </p:par>
                              <p:par>
                                <p:cTn id="119" presetID="22" presetClass="entr" presetSubtype="8" fill="hold" grpId="0" nodeType="withEffect">
                                  <p:stCondLst>
                                    <p:cond delay="600"/>
                                  </p:stCondLst>
                                  <p:childTnLst>
                                    <p:set>
                                      <p:cBhvr>
                                        <p:cTn id="120" dur="1" fill="hold">
                                          <p:stCondLst>
                                            <p:cond delay="0"/>
                                          </p:stCondLst>
                                        </p:cTn>
                                        <p:tgtEl>
                                          <p:spTgt spid="40"/>
                                        </p:tgtEl>
                                        <p:attrNameLst>
                                          <p:attrName>style.visibility</p:attrName>
                                        </p:attrNameLst>
                                      </p:cBhvr>
                                      <p:to>
                                        <p:strVal val="visible"/>
                                      </p:to>
                                    </p:set>
                                    <p:animEffect transition="in" filter="wipe(left)">
                                      <p:cBhvr>
                                        <p:cTn id="121" dur="500"/>
                                        <p:tgtEl>
                                          <p:spTgt spid="40"/>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1"/>
                                        </p:tgtEl>
                                        <p:attrNameLst>
                                          <p:attrName>style.visibility</p:attrName>
                                        </p:attrNameLst>
                                      </p:cBhvr>
                                      <p:to>
                                        <p:strVal val="visible"/>
                                      </p:to>
                                    </p:set>
                                    <p:animEffect transition="in" filter="fade">
                                      <p:cBhvr>
                                        <p:cTn id="124" dur="500"/>
                                        <p:tgtEl>
                                          <p:spTgt spid="41"/>
                                        </p:tgtEl>
                                      </p:cBhvr>
                                    </p:animEffect>
                                  </p:childTnLst>
                                </p:cTn>
                              </p:par>
                              <p:par>
                                <p:cTn id="125" presetID="22" presetClass="entr" presetSubtype="8" fill="hold" grpId="0" nodeType="withEffect">
                                  <p:stCondLst>
                                    <p:cond delay="200"/>
                                  </p:stCondLst>
                                  <p:childTnLst>
                                    <p:set>
                                      <p:cBhvr>
                                        <p:cTn id="126" dur="1" fill="hold">
                                          <p:stCondLst>
                                            <p:cond delay="0"/>
                                          </p:stCondLst>
                                        </p:cTn>
                                        <p:tgtEl>
                                          <p:spTgt spid="42"/>
                                        </p:tgtEl>
                                        <p:attrNameLst>
                                          <p:attrName>style.visibility</p:attrName>
                                        </p:attrNameLst>
                                      </p:cBhvr>
                                      <p:to>
                                        <p:strVal val="visible"/>
                                      </p:to>
                                    </p:set>
                                    <p:animEffect transition="in" filter="wipe(left)">
                                      <p:cBhvr>
                                        <p:cTn id="127" dur="500"/>
                                        <p:tgtEl>
                                          <p:spTgt spid="42"/>
                                        </p:tgtEl>
                                      </p:cBhvr>
                                    </p:animEffect>
                                  </p:childTnLst>
                                </p:cTn>
                              </p:par>
                              <p:par>
                                <p:cTn id="128" presetID="22" presetClass="entr" presetSubtype="8" fill="hold" grpId="0" nodeType="withEffect">
                                  <p:stCondLst>
                                    <p:cond delay="400"/>
                                  </p:stCondLst>
                                  <p:childTnLst>
                                    <p:set>
                                      <p:cBhvr>
                                        <p:cTn id="129" dur="1" fill="hold">
                                          <p:stCondLst>
                                            <p:cond delay="0"/>
                                          </p:stCondLst>
                                        </p:cTn>
                                        <p:tgtEl>
                                          <p:spTgt spid="43"/>
                                        </p:tgtEl>
                                        <p:attrNameLst>
                                          <p:attrName>style.visibility</p:attrName>
                                        </p:attrNameLst>
                                      </p:cBhvr>
                                      <p:to>
                                        <p:strVal val="visible"/>
                                      </p:to>
                                    </p:set>
                                    <p:animEffect transition="in" filter="wipe(left)">
                                      <p:cBhvr>
                                        <p:cTn id="130" dur="500"/>
                                        <p:tgtEl>
                                          <p:spTgt spid="43"/>
                                        </p:tgtEl>
                                      </p:cBhvr>
                                    </p:animEffect>
                                  </p:childTnLst>
                                </p:cTn>
                              </p:par>
                              <p:par>
                                <p:cTn id="131" presetID="22" presetClass="entr" presetSubtype="8" fill="hold" grpId="0" nodeType="withEffect">
                                  <p:stCondLst>
                                    <p:cond delay="600"/>
                                  </p:stCondLst>
                                  <p:childTnLst>
                                    <p:set>
                                      <p:cBhvr>
                                        <p:cTn id="132" dur="1" fill="hold">
                                          <p:stCondLst>
                                            <p:cond delay="0"/>
                                          </p:stCondLst>
                                        </p:cTn>
                                        <p:tgtEl>
                                          <p:spTgt spid="44"/>
                                        </p:tgtEl>
                                        <p:attrNameLst>
                                          <p:attrName>style.visibility</p:attrName>
                                        </p:attrNameLst>
                                      </p:cBhvr>
                                      <p:to>
                                        <p:strVal val="visible"/>
                                      </p:to>
                                    </p:set>
                                    <p:animEffect transition="in" filter="wipe(left)">
                                      <p:cBhvr>
                                        <p:cTn id="133" dur="500"/>
                                        <p:tgtEl>
                                          <p:spTgt spid="44"/>
                                        </p:tgtEl>
                                      </p:cBhvr>
                                    </p:animEffect>
                                  </p:childTnLst>
                                </p:cTn>
                              </p:par>
                            </p:childTnLst>
                          </p:cTn>
                        </p:par>
                      </p:childTnLst>
                    </p:cTn>
                  </p:par>
                  <p:par>
                    <p:cTn id="134" fill="hold">
                      <p:stCondLst>
                        <p:cond delay="indefinite"/>
                      </p:stCondLst>
                      <p:childTnLst>
                        <p:par>
                          <p:cTn id="135" fill="hold">
                            <p:stCondLst>
                              <p:cond delay="0"/>
                            </p:stCondLst>
                            <p:childTnLst>
                              <p:par>
                                <p:cTn id="136" presetID="2" presetClass="entr" presetSubtype="4" fill="hold" grpId="0" nodeType="clickEffect">
                                  <p:stCondLst>
                                    <p:cond delay="0"/>
                                  </p:stCondLst>
                                  <p:childTnLst>
                                    <p:set>
                                      <p:cBhvr>
                                        <p:cTn id="137" dur="1" fill="hold">
                                          <p:stCondLst>
                                            <p:cond delay="0"/>
                                          </p:stCondLst>
                                        </p:cTn>
                                        <p:tgtEl>
                                          <p:spTgt spid="45"/>
                                        </p:tgtEl>
                                        <p:attrNameLst>
                                          <p:attrName>style.visibility</p:attrName>
                                        </p:attrNameLst>
                                      </p:cBhvr>
                                      <p:to>
                                        <p:strVal val="visible"/>
                                      </p:to>
                                    </p:set>
                                    <p:anim calcmode="lin" valueType="num">
                                      <p:cBhvr additive="base">
                                        <p:cTn id="138" dur="500" fill="hold"/>
                                        <p:tgtEl>
                                          <p:spTgt spid="45"/>
                                        </p:tgtEl>
                                        <p:attrNameLst>
                                          <p:attrName>ppt_x</p:attrName>
                                        </p:attrNameLst>
                                      </p:cBhvr>
                                      <p:tavLst>
                                        <p:tav tm="0">
                                          <p:val>
                                            <p:strVal val="#ppt_x"/>
                                          </p:val>
                                        </p:tav>
                                        <p:tav tm="100000">
                                          <p:val>
                                            <p:strVal val="#ppt_x"/>
                                          </p:val>
                                        </p:tav>
                                      </p:tavLst>
                                    </p:anim>
                                    <p:anim calcmode="lin" valueType="num">
                                      <p:cBhvr additive="base">
                                        <p:cTn id="139" dur="500" fill="hold"/>
                                        <p:tgtEl>
                                          <p:spTgt spid="45"/>
                                        </p:tgtEl>
                                        <p:attrNameLst>
                                          <p:attrName>ppt_y</p:attrName>
                                        </p:attrNameLst>
                                      </p:cBhvr>
                                      <p:tavLst>
                                        <p:tav tm="0">
                                          <p:val>
                                            <p:strVal val="#ppt_y+0.1"/>
                                          </p:val>
                                        </p:tav>
                                        <p:tav tm="100000">
                                          <p:val>
                                            <p:strVal val="#ppt_y"/>
                                          </p:val>
                                        </p:tav>
                                      </p:tavLst>
                                    </p:anim>
                                    <p:animEffect transition="in" filter="fade">
                                      <p:cBhvr>
                                        <p:cTn id="140" dur="500"/>
                                        <p:tgtEl>
                                          <p:spTgt spid="45"/>
                                        </p:tgtEl>
                                      </p:cBhvr>
                                    </p:animEffect>
                                  </p:childTnLst>
                                </p:cTn>
                              </p:par>
                              <p:par>
                                <p:cTn id="141" presetID="2" presetClass="entr" presetSubtype="4" fill="hold" grpId="0" nodeType="withEffect">
                                  <p:stCondLst>
                                    <p:cond delay="0"/>
                                  </p:stCondLst>
                                  <p:childTnLst>
                                    <p:set>
                                      <p:cBhvr>
                                        <p:cTn id="142" dur="1" fill="hold">
                                          <p:stCondLst>
                                            <p:cond delay="0"/>
                                          </p:stCondLst>
                                        </p:cTn>
                                        <p:tgtEl>
                                          <p:spTgt spid="46"/>
                                        </p:tgtEl>
                                        <p:attrNameLst>
                                          <p:attrName>style.visibility</p:attrName>
                                        </p:attrNameLst>
                                      </p:cBhvr>
                                      <p:to>
                                        <p:strVal val="visible"/>
                                      </p:to>
                                    </p:set>
                                    <p:anim calcmode="lin" valueType="num">
                                      <p:cBhvr additive="base">
                                        <p:cTn id="143" dur="500" fill="hold"/>
                                        <p:tgtEl>
                                          <p:spTgt spid="46"/>
                                        </p:tgtEl>
                                        <p:attrNameLst>
                                          <p:attrName>ppt_x</p:attrName>
                                        </p:attrNameLst>
                                      </p:cBhvr>
                                      <p:tavLst>
                                        <p:tav tm="0">
                                          <p:val>
                                            <p:strVal val="#ppt_x"/>
                                          </p:val>
                                        </p:tav>
                                        <p:tav tm="100000">
                                          <p:val>
                                            <p:strVal val="#ppt_x"/>
                                          </p:val>
                                        </p:tav>
                                      </p:tavLst>
                                    </p:anim>
                                    <p:anim calcmode="lin" valueType="num">
                                      <p:cBhvr additive="base">
                                        <p:cTn id="144" dur="500" fill="hold"/>
                                        <p:tgtEl>
                                          <p:spTgt spid="46"/>
                                        </p:tgtEl>
                                        <p:attrNameLst>
                                          <p:attrName>ppt_y</p:attrName>
                                        </p:attrNameLst>
                                      </p:cBhvr>
                                      <p:tavLst>
                                        <p:tav tm="0">
                                          <p:val>
                                            <p:strVal val="#ppt_y+0.1"/>
                                          </p:val>
                                        </p:tav>
                                        <p:tav tm="100000">
                                          <p:val>
                                            <p:strVal val="#ppt_y"/>
                                          </p:val>
                                        </p:tav>
                                      </p:tavLst>
                                    </p:anim>
                                    <p:animEffect transition="in" filter="fade">
                                      <p:cBhvr>
                                        <p:cTn id="145"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1"/>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2NF — Partial Dependency</a:t>
            </a:r>
            <a:endParaRPr lang="en-US" sz="2800" dirty="0"/>
          </a:p>
        </p:txBody>
      </p:sp>
      <p:sp>
        <p:nvSpPr>
          <p:cNvPr id="3" name="Text 2"/>
          <p:cNvSpPr txBox="1"/>
          <p:nvPr/>
        </p:nvSpPr>
        <p:spPr>
          <a:xfrm>
            <a:off x="457200" y="749808"/>
            <a:ext cx="8229600" cy="320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Rule: no non-key column may depend on only part of a composite primary key</a:t>
            </a:r>
            <a:endParaRPr lang="en-US" sz="1300" dirty="0"/>
          </a:p>
        </p:txBody>
      </p:sp>
      <p:sp>
        <p:nvSpPr>
          <p:cNvPr id="4" name="a1f_pk3"/>
          <p:cNvSpPr txBox="1"/>
          <p:nvPr/>
        </p:nvSpPr>
        <p:spPr>
          <a:xfrm>
            <a:off x="457200" y="1188720"/>
            <a:ext cx="1691640" cy="237744"/>
          </a:xfrm>
          <a:prstGeom prst="roundRect">
            <a:avLst>
              <a:gd name="adj" fmla="val 50000"/>
            </a:avLst>
          </a:prstGeom>
          <a:solidFill>
            <a:srgbClr val="6D28D9"/>
          </a:solidFill>
          <a:ln w="12700">
            <a:solidFill>
              <a:srgbClr val="6D28D9"/>
            </a:solidFill>
            <a:prstDash val="solid"/>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PK (account_id, txn_id)</a:t>
            </a:r>
            <a:endParaRPr lang="en-US" sz="900" dirty="0"/>
          </a:p>
        </p:txBody>
      </p:sp>
      <p:sp>
        <p:nvSpPr>
          <p:cNvPr id="5" name="a1f_cell4"/>
          <p:cNvSpPr txBox="1"/>
          <p:nvPr/>
        </p:nvSpPr>
        <p:spPr>
          <a:xfrm>
            <a:off x="457200" y="1481328"/>
            <a:ext cx="868680" cy="246888"/>
          </a:xfrm>
          <a:prstGeom prst="rect">
            <a:avLst/>
          </a:prstGeom>
          <a:solidFill>
            <a:srgbClr val="6D28D9"/>
          </a:solidFill>
          <a:ln w="9525">
            <a:solidFill>
              <a:srgbClr val="6D28D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account_id</a:t>
            </a:r>
            <a:endParaRPr lang="en-US" sz="1100" dirty="0"/>
          </a:p>
        </p:txBody>
      </p:sp>
      <p:sp>
        <p:nvSpPr>
          <p:cNvPr id="6" name="a1wd200_cell5"/>
          <p:cNvSpPr txBox="1"/>
          <p:nvPr/>
        </p:nvSpPr>
        <p:spPr>
          <a:xfrm>
            <a:off x="457200" y="1728216"/>
            <a:ext cx="86868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9005</a:t>
            </a:r>
            <a:endParaRPr lang="en-US" sz="1100" dirty="0"/>
          </a:p>
        </p:txBody>
      </p:sp>
      <p:sp>
        <p:nvSpPr>
          <p:cNvPr id="7" name="a1wd400_cell6"/>
          <p:cNvSpPr txBox="1"/>
          <p:nvPr/>
        </p:nvSpPr>
        <p:spPr>
          <a:xfrm>
            <a:off x="457200" y="1975104"/>
            <a:ext cx="86868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9005</a:t>
            </a:r>
            <a:endParaRPr lang="en-US" sz="1100" dirty="0"/>
          </a:p>
        </p:txBody>
      </p:sp>
      <p:sp>
        <p:nvSpPr>
          <p:cNvPr id="8" name="a1wd600_cell7"/>
          <p:cNvSpPr txBox="1"/>
          <p:nvPr/>
        </p:nvSpPr>
        <p:spPr>
          <a:xfrm>
            <a:off x="457200" y="2221992"/>
            <a:ext cx="86868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9005</a:t>
            </a:r>
            <a:endParaRPr lang="en-US" sz="1100" dirty="0"/>
          </a:p>
        </p:txBody>
      </p:sp>
      <p:sp>
        <p:nvSpPr>
          <p:cNvPr id="9" name="a1wd800_cell8"/>
          <p:cNvSpPr txBox="1"/>
          <p:nvPr/>
        </p:nvSpPr>
        <p:spPr>
          <a:xfrm>
            <a:off x="457200" y="2468880"/>
            <a:ext cx="86868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9003</a:t>
            </a:r>
            <a:endParaRPr lang="en-US" sz="1100" dirty="0"/>
          </a:p>
        </p:txBody>
      </p:sp>
      <p:sp>
        <p:nvSpPr>
          <p:cNvPr id="10" name="a1f_cell9"/>
          <p:cNvSpPr txBox="1"/>
          <p:nvPr/>
        </p:nvSpPr>
        <p:spPr>
          <a:xfrm>
            <a:off x="1325880" y="1481328"/>
            <a:ext cx="822960" cy="246888"/>
          </a:xfrm>
          <a:prstGeom prst="rect">
            <a:avLst/>
          </a:prstGeom>
          <a:solidFill>
            <a:srgbClr val="6D28D9"/>
          </a:solidFill>
          <a:ln w="9525">
            <a:solidFill>
              <a:srgbClr val="6D28D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txn_id</a:t>
            </a:r>
            <a:endParaRPr lang="en-US" sz="1100" dirty="0"/>
          </a:p>
        </p:txBody>
      </p:sp>
      <p:sp>
        <p:nvSpPr>
          <p:cNvPr id="11" name="a1wd200_cell10"/>
          <p:cNvSpPr txBox="1"/>
          <p:nvPr/>
        </p:nvSpPr>
        <p:spPr>
          <a:xfrm>
            <a:off x="1325880" y="1728216"/>
            <a:ext cx="82296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70001</a:t>
            </a:r>
            <a:endParaRPr lang="en-US" sz="1100" dirty="0"/>
          </a:p>
        </p:txBody>
      </p:sp>
      <p:sp>
        <p:nvSpPr>
          <p:cNvPr id="12" name="a1wd400_cell11"/>
          <p:cNvSpPr txBox="1"/>
          <p:nvPr/>
        </p:nvSpPr>
        <p:spPr>
          <a:xfrm>
            <a:off x="1325880" y="1975104"/>
            <a:ext cx="82296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70002</a:t>
            </a:r>
            <a:endParaRPr lang="en-US" sz="1100" dirty="0"/>
          </a:p>
        </p:txBody>
      </p:sp>
      <p:sp>
        <p:nvSpPr>
          <p:cNvPr id="13" name="a1wd600_cell12"/>
          <p:cNvSpPr txBox="1"/>
          <p:nvPr/>
        </p:nvSpPr>
        <p:spPr>
          <a:xfrm>
            <a:off x="1325880" y="2221992"/>
            <a:ext cx="82296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70003</a:t>
            </a:r>
            <a:endParaRPr lang="en-US" sz="1100" dirty="0"/>
          </a:p>
        </p:txBody>
      </p:sp>
      <p:sp>
        <p:nvSpPr>
          <p:cNvPr id="14" name="a1wd800_cell13"/>
          <p:cNvSpPr txBox="1"/>
          <p:nvPr/>
        </p:nvSpPr>
        <p:spPr>
          <a:xfrm>
            <a:off x="1325880" y="2468880"/>
            <a:ext cx="82296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70004</a:t>
            </a:r>
            <a:endParaRPr lang="en-US" sz="1100" dirty="0"/>
          </a:p>
        </p:txBody>
      </p:sp>
      <p:sp>
        <p:nvSpPr>
          <p:cNvPr id="15" name="a1f_cell14"/>
          <p:cNvSpPr txBox="1"/>
          <p:nvPr/>
        </p:nvSpPr>
        <p:spPr>
          <a:xfrm>
            <a:off x="2148840" y="1481328"/>
            <a:ext cx="822960" cy="246888"/>
          </a:xfrm>
          <a:prstGeom prst="rect">
            <a:avLst/>
          </a:prstGeom>
          <a:solidFill>
            <a:srgbClr val="475569"/>
          </a:solidFill>
          <a:ln w="9525">
            <a:solidFill>
              <a:srgbClr val="47556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amount</a:t>
            </a:r>
            <a:endParaRPr lang="en-US" sz="1100" dirty="0"/>
          </a:p>
        </p:txBody>
      </p:sp>
      <p:sp>
        <p:nvSpPr>
          <p:cNvPr id="16" name="a1wd200_cell15"/>
          <p:cNvSpPr txBox="1"/>
          <p:nvPr/>
        </p:nvSpPr>
        <p:spPr>
          <a:xfrm>
            <a:off x="2148840" y="1728216"/>
            <a:ext cx="82296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5000.00</a:t>
            </a:r>
            <a:endParaRPr lang="en-US" sz="1100" dirty="0"/>
          </a:p>
        </p:txBody>
      </p:sp>
      <p:sp>
        <p:nvSpPr>
          <p:cNvPr id="17" name="a1wd400_cell16"/>
          <p:cNvSpPr txBox="1"/>
          <p:nvPr/>
        </p:nvSpPr>
        <p:spPr>
          <a:xfrm>
            <a:off x="2148840" y="1975104"/>
            <a:ext cx="82296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1200.00</a:t>
            </a:r>
            <a:endParaRPr lang="en-US" sz="1100" dirty="0"/>
          </a:p>
        </p:txBody>
      </p:sp>
      <p:sp>
        <p:nvSpPr>
          <p:cNvPr id="18" name="a1wd600_cell17"/>
          <p:cNvSpPr txBox="1"/>
          <p:nvPr/>
        </p:nvSpPr>
        <p:spPr>
          <a:xfrm>
            <a:off x="2148840" y="2221992"/>
            <a:ext cx="82296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800.00</a:t>
            </a:r>
            <a:endParaRPr lang="en-US" sz="1100" dirty="0"/>
          </a:p>
        </p:txBody>
      </p:sp>
      <p:sp>
        <p:nvSpPr>
          <p:cNvPr id="19" name="a1wd800_cell18"/>
          <p:cNvSpPr txBox="1"/>
          <p:nvPr/>
        </p:nvSpPr>
        <p:spPr>
          <a:xfrm>
            <a:off x="2148840" y="2468880"/>
            <a:ext cx="82296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2500.00</a:t>
            </a:r>
            <a:endParaRPr lang="en-US" sz="1100" dirty="0"/>
          </a:p>
        </p:txBody>
      </p:sp>
      <p:sp>
        <p:nvSpPr>
          <p:cNvPr id="20" name="a1f_cell19"/>
          <p:cNvSpPr txBox="1"/>
          <p:nvPr/>
        </p:nvSpPr>
        <p:spPr>
          <a:xfrm>
            <a:off x="2971800" y="1481328"/>
            <a:ext cx="1005840" cy="246888"/>
          </a:xfrm>
          <a:prstGeom prst="rect">
            <a:avLst/>
          </a:prstGeom>
          <a:solidFill>
            <a:srgbClr val="DC2626"/>
          </a:solidFill>
          <a:ln w="9525">
            <a:solidFill>
              <a:srgbClr val="DC2626"/>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account_type</a:t>
            </a:r>
            <a:endParaRPr lang="en-US" sz="1100" dirty="0"/>
          </a:p>
        </p:txBody>
      </p:sp>
      <p:sp>
        <p:nvSpPr>
          <p:cNvPr id="21" name="a1wd200_cell20"/>
          <p:cNvSpPr txBox="1"/>
          <p:nvPr/>
        </p:nvSpPr>
        <p:spPr>
          <a:xfrm>
            <a:off x="2971800" y="1728216"/>
            <a:ext cx="1005840" cy="246888"/>
          </a:xfrm>
          <a:prstGeom prst="rect">
            <a:avLst/>
          </a:prstGeom>
          <a:solidFill>
            <a:srgbClr val="FEE2E2"/>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CURRENT</a:t>
            </a:r>
            <a:endParaRPr lang="en-US" sz="1100" dirty="0"/>
          </a:p>
        </p:txBody>
      </p:sp>
      <p:sp>
        <p:nvSpPr>
          <p:cNvPr id="22" name="a1wd400_cell21"/>
          <p:cNvSpPr txBox="1"/>
          <p:nvPr/>
        </p:nvSpPr>
        <p:spPr>
          <a:xfrm>
            <a:off x="2971800" y="1975104"/>
            <a:ext cx="1005840" cy="246888"/>
          </a:xfrm>
          <a:prstGeom prst="rect">
            <a:avLst/>
          </a:prstGeom>
          <a:solidFill>
            <a:srgbClr val="FEE2E2"/>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CURRENT</a:t>
            </a:r>
            <a:endParaRPr lang="en-US" sz="1100" dirty="0"/>
          </a:p>
        </p:txBody>
      </p:sp>
      <p:sp>
        <p:nvSpPr>
          <p:cNvPr id="23" name="a1wd600_cell22"/>
          <p:cNvSpPr txBox="1"/>
          <p:nvPr/>
        </p:nvSpPr>
        <p:spPr>
          <a:xfrm>
            <a:off x="2971800" y="2221992"/>
            <a:ext cx="1005840" cy="246888"/>
          </a:xfrm>
          <a:prstGeom prst="rect">
            <a:avLst/>
          </a:prstGeom>
          <a:solidFill>
            <a:srgbClr val="FEE2E2"/>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CURRENT</a:t>
            </a:r>
            <a:endParaRPr lang="en-US" sz="1100" dirty="0"/>
          </a:p>
        </p:txBody>
      </p:sp>
      <p:sp>
        <p:nvSpPr>
          <p:cNvPr id="24" name="a1wd800_cell23"/>
          <p:cNvSpPr txBox="1"/>
          <p:nvPr/>
        </p:nvSpPr>
        <p:spPr>
          <a:xfrm>
            <a:off x="2971800" y="2468880"/>
            <a:ext cx="1005840" cy="246888"/>
          </a:xfrm>
          <a:prstGeom prst="rect">
            <a:avLst/>
          </a:prstGeom>
          <a:solidFill>
            <a:srgbClr val="FEE2E2"/>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SAVINGS</a:t>
            </a:r>
            <a:endParaRPr lang="en-US" sz="1100" dirty="0"/>
          </a:p>
        </p:txBody>
      </p:sp>
      <p:sp>
        <p:nvSpPr>
          <p:cNvPr id="25" name="a1f_cell24"/>
          <p:cNvSpPr txBox="1"/>
          <p:nvPr/>
        </p:nvSpPr>
        <p:spPr>
          <a:xfrm>
            <a:off x="3977640" y="1481328"/>
            <a:ext cx="960120" cy="246888"/>
          </a:xfrm>
          <a:prstGeom prst="rect">
            <a:avLst/>
          </a:prstGeom>
          <a:solidFill>
            <a:srgbClr val="DC2626"/>
          </a:solidFill>
          <a:ln w="9525">
            <a:solidFill>
              <a:srgbClr val="DC2626"/>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balance</a:t>
            </a:r>
            <a:endParaRPr lang="en-US" sz="1100" dirty="0"/>
          </a:p>
        </p:txBody>
      </p:sp>
      <p:sp>
        <p:nvSpPr>
          <p:cNvPr id="26" name="a1wd200_cell25"/>
          <p:cNvSpPr txBox="1"/>
          <p:nvPr/>
        </p:nvSpPr>
        <p:spPr>
          <a:xfrm>
            <a:off x="3977640" y="1728216"/>
            <a:ext cx="960120" cy="246888"/>
          </a:xfrm>
          <a:prstGeom prst="rect">
            <a:avLst/>
          </a:prstGeom>
          <a:solidFill>
            <a:srgbClr val="FEE2E2"/>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91729.06</a:t>
            </a:r>
            <a:endParaRPr lang="en-US" sz="1100" dirty="0"/>
          </a:p>
        </p:txBody>
      </p:sp>
      <p:sp>
        <p:nvSpPr>
          <p:cNvPr id="27" name="a1wd400_cell26"/>
          <p:cNvSpPr txBox="1"/>
          <p:nvPr/>
        </p:nvSpPr>
        <p:spPr>
          <a:xfrm>
            <a:off x="3977640" y="1975104"/>
            <a:ext cx="960120" cy="246888"/>
          </a:xfrm>
          <a:prstGeom prst="rect">
            <a:avLst/>
          </a:prstGeom>
          <a:solidFill>
            <a:srgbClr val="FEE2E2"/>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91729.06</a:t>
            </a:r>
            <a:endParaRPr lang="en-US" sz="1100" dirty="0"/>
          </a:p>
        </p:txBody>
      </p:sp>
      <p:sp>
        <p:nvSpPr>
          <p:cNvPr id="28" name="a1wd600_cell27"/>
          <p:cNvSpPr txBox="1"/>
          <p:nvPr/>
        </p:nvSpPr>
        <p:spPr>
          <a:xfrm>
            <a:off x="3977640" y="2221992"/>
            <a:ext cx="960120" cy="246888"/>
          </a:xfrm>
          <a:prstGeom prst="rect">
            <a:avLst/>
          </a:prstGeom>
          <a:solidFill>
            <a:srgbClr val="FEE2E2"/>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91729.06</a:t>
            </a:r>
            <a:endParaRPr lang="en-US" sz="1100" dirty="0"/>
          </a:p>
        </p:txBody>
      </p:sp>
      <p:sp>
        <p:nvSpPr>
          <p:cNvPr id="29" name="a1wd800_cell28"/>
          <p:cNvSpPr txBox="1"/>
          <p:nvPr/>
        </p:nvSpPr>
        <p:spPr>
          <a:xfrm>
            <a:off x="3977640" y="2468880"/>
            <a:ext cx="960120" cy="246888"/>
          </a:xfrm>
          <a:prstGeom prst="rect">
            <a:avLst/>
          </a:prstGeom>
          <a:solidFill>
            <a:srgbClr val="FEE2E2"/>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341244.80</a:t>
            </a:r>
            <a:endParaRPr lang="en-US" sz="1100" dirty="0"/>
          </a:p>
        </p:txBody>
      </p:sp>
      <p:sp>
        <p:nvSpPr>
          <p:cNvPr id="30" name="a1f_tn29"/>
          <p:cNvSpPr txBox="1"/>
          <p:nvPr/>
        </p:nvSpPr>
        <p:spPr>
          <a:xfrm>
            <a:off x="457200" y="2743200"/>
            <a:ext cx="4480560" cy="274320"/>
          </a:xfrm>
          <a:prstGeom prst="rect">
            <a:avLst/>
          </a:prstGeom>
          <a:noFill/>
          <a:ln/>
        </p:spPr>
        <p:txBody>
          <a:bodyPr wrap="square" lIns="0" tIns="0" rIns="0" bIns="0" rtlCol="0" anchor="ctr"/>
          <a:lstStyle/>
          <a:p>
            <a:pPr marL="0" indent="0">
              <a:buNone/>
            </a:pPr>
            <a:r>
              <a:rPr lang="en-US" sz="1000" b="1" kern="0" spc="150" dirty="0">
                <a:solidFill>
                  <a:srgbClr val="64748B"/>
                </a:solidFill>
                <a:latin typeface="Calibri" pitchFamily="34" charset="0"/>
                <a:ea typeface="Calibri" pitchFamily="34" charset="-122"/>
                <a:cs typeface="Calibri" pitchFamily="34" charset="-120"/>
              </a:rPr>
              <a:t>ACCOUNT_TXN_FLAT</a:t>
            </a:r>
            <a:endParaRPr lang="en-US" sz="1000" dirty="0"/>
          </a:p>
        </p:txBody>
      </p:sp>
      <p:sp>
        <p:nvSpPr>
          <p:cNvPr id="31" name="a2f_d30"/>
          <p:cNvSpPr txBox="1"/>
          <p:nvPr/>
        </p:nvSpPr>
        <p:spPr>
          <a:xfrm>
            <a:off x="5212080" y="1508760"/>
            <a:ext cx="3474720" cy="274320"/>
          </a:xfrm>
          <a:prstGeom prst="rect">
            <a:avLst/>
          </a:prstGeom>
          <a:noFill/>
          <a:ln/>
        </p:spPr>
        <p:txBody>
          <a:bodyPr wrap="square" lIns="0" tIns="0" rIns="0" bIns="0" rtlCol="0" anchor="ctr"/>
          <a:lstStyle/>
          <a:p>
            <a:pPr marL="0" indent="0">
              <a:buNone/>
            </a:pPr>
            <a:r>
              <a:rPr lang="en-US" sz="1100" b="1" dirty="0">
                <a:solidFill>
                  <a:srgbClr val="0F172A"/>
                </a:solidFill>
                <a:latin typeface="Courier New" pitchFamily="34" charset="0"/>
                <a:ea typeface="Courier New" pitchFamily="34" charset="-122"/>
                <a:cs typeface="Courier New" pitchFamily="34" charset="-120"/>
              </a:rPr>
              <a:t>account_id, txn_id  →  amount</a:t>
            </a:r>
            <a:endParaRPr lang="en-US" sz="1100" dirty="0"/>
          </a:p>
        </p:txBody>
      </p:sp>
      <p:sp>
        <p:nvSpPr>
          <p:cNvPr id="32" name="a2f_v31"/>
          <p:cNvSpPr txBox="1"/>
          <p:nvPr/>
        </p:nvSpPr>
        <p:spPr>
          <a:xfrm>
            <a:off x="5212080" y="1783080"/>
            <a:ext cx="3474720" cy="274320"/>
          </a:xfrm>
          <a:prstGeom prst="rect">
            <a:avLst/>
          </a:prstGeom>
          <a:noFill/>
          <a:ln/>
        </p:spPr>
        <p:txBody>
          <a:bodyPr wrap="square" lIns="0" tIns="0" rIns="0" bIns="0" rtlCol="0" anchor="ctr"/>
          <a:lstStyle/>
          <a:p>
            <a:pPr marL="0" indent="0">
              <a:buNone/>
            </a:pPr>
            <a:r>
              <a:rPr lang="en-US" sz="1150" b="1" dirty="0">
                <a:solidFill>
                  <a:srgbClr val="16A34A"/>
                </a:solidFill>
                <a:latin typeface="Calibri" pitchFamily="34" charset="0"/>
                <a:ea typeface="Calibri" pitchFamily="34" charset="-122"/>
                <a:cs typeface="Calibri" pitchFamily="34" charset="-120"/>
              </a:rPr>
              <a:t>✔  depends on the whole key</a:t>
            </a:r>
            <a:endParaRPr lang="en-US" sz="1150" dirty="0"/>
          </a:p>
        </p:txBody>
      </p:sp>
      <p:sp>
        <p:nvSpPr>
          <p:cNvPr id="33" name="a3f_d32"/>
          <p:cNvSpPr txBox="1"/>
          <p:nvPr/>
        </p:nvSpPr>
        <p:spPr>
          <a:xfrm>
            <a:off x="5212080" y="2194560"/>
            <a:ext cx="3474720" cy="274320"/>
          </a:xfrm>
          <a:prstGeom prst="rect">
            <a:avLst/>
          </a:prstGeom>
          <a:noFill/>
          <a:ln/>
        </p:spPr>
        <p:txBody>
          <a:bodyPr wrap="square" lIns="0" tIns="0" rIns="0" bIns="0" rtlCol="0" anchor="ctr"/>
          <a:lstStyle/>
          <a:p>
            <a:pPr marL="0" indent="0">
              <a:buNone/>
            </a:pPr>
            <a:r>
              <a:rPr lang="en-US" sz="1100" b="1" dirty="0">
                <a:solidFill>
                  <a:srgbClr val="0F172A"/>
                </a:solidFill>
                <a:latin typeface="Courier New" pitchFamily="34" charset="0"/>
                <a:ea typeface="Courier New" pitchFamily="34" charset="-122"/>
                <a:cs typeface="Courier New" pitchFamily="34" charset="-120"/>
              </a:rPr>
              <a:t>account_id  →  account_type, balance</a:t>
            </a:r>
            <a:endParaRPr lang="en-US" sz="1100" dirty="0"/>
          </a:p>
        </p:txBody>
      </p:sp>
      <p:sp>
        <p:nvSpPr>
          <p:cNvPr id="34" name="a3f_v33"/>
          <p:cNvSpPr txBox="1"/>
          <p:nvPr/>
        </p:nvSpPr>
        <p:spPr>
          <a:xfrm>
            <a:off x="5212080" y="2468880"/>
            <a:ext cx="3474720" cy="274320"/>
          </a:xfrm>
          <a:prstGeom prst="rect">
            <a:avLst/>
          </a:prstGeom>
          <a:noFill/>
          <a:ln/>
        </p:spPr>
        <p:txBody>
          <a:bodyPr wrap="square" lIns="0" tIns="0" rIns="0" bIns="0" rtlCol="0" anchor="ctr"/>
          <a:lstStyle/>
          <a:p>
            <a:pPr marL="0" indent="0">
              <a:buNone/>
            </a:pPr>
            <a:r>
              <a:rPr lang="en-US" sz="1150" b="1" dirty="0">
                <a:solidFill>
                  <a:srgbClr val="DC2626"/>
                </a:solidFill>
                <a:latin typeface="Calibri" pitchFamily="34" charset="0"/>
                <a:ea typeface="Calibri" pitchFamily="34" charset="-122"/>
                <a:cs typeface="Calibri" pitchFamily="34" charset="-120"/>
              </a:rPr>
              <a:t>✘  depends on PART of the key</a:t>
            </a:r>
            <a:endParaRPr lang="en-US" sz="1150" dirty="0"/>
          </a:p>
        </p:txBody>
      </p:sp>
      <p:sp>
        <p:nvSpPr>
          <p:cNvPr id="35" name="a4f_fx34"/>
          <p:cNvSpPr txBox="1"/>
          <p:nvPr/>
        </p:nvSpPr>
        <p:spPr>
          <a:xfrm>
            <a:off x="457200" y="3108960"/>
            <a:ext cx="1828800" cy="274320"/>
          </a:xfrm>
          <a:prstGeom prst="rect">
            <a:avLst/>
          </a:prstGeom>
          <a:noFill/>
          <a:ln/>
        </p:spPr>
        <p:txBody>
          <a:bodyPr wrap="square" lIns="0" tIns="0" rIns="0" bIns="0" rtlCol="0" anchor="ctr"/>
          <a:lstStyle/>
          <a:p>
            <a:pPr marL="0" indent="0">
              <a:buNone/>
            </a:pPr>
            <a:r>
              <a:rPr lang="en-US" sz="1000" b="1" kern="0" spc="150" dirty="0">
                <a:solidFill>
                  <a:srgbClr val="6D28D9"/>
                </a:solidFill>
                <a:latin typeface="Calibri" pitchFamily="34" charset="0"/>
                <a:ea typeface="Calibri" pitchFamily="34" charset="-122"/>
                <a:cs typeface="Calibri" pitchFamily="34" charset="-120"/>
              </a:rPr>
              <a:t>THE FIX</a:t>
            </a:r>
            <a:endParaRPr lang="en-US" sz="1000" dirty="0"/>
          </a:p>
        </p:txBody>
      </p:sp>
      <p:sp>
        <p:nvSpPr>
          <p:cNvPr id="36" name="a4f_e35"/>
          <p:cNvSpPr txBox="1"/>
          <p:nvPr/>
        </p:nvSpPr>
        <p:spPr>
          <a:xfrm>
            <a:off x="457200" y="3383280"/>
            <a:ext cx="2103120" cy="274320"/>
          </a:xfrm>
          <a:prstGeom prst="rect">
            <a:avLst/>
          </a:prstGeom>
          <a:solidFill>
            <a:srgbClr val="0F766E"/>
          </a:solidFill>
          <a:ln w="9525">
            <a:solidFill>
              <a:srgbClr val="0F766E"/>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account</a:t>
            </a:r>
            <a:endParaRPr lang="en-US" sz="1100" dirty="0"/>
          </a:p>
        </p:txBody>
      </p:sp>
      <p:sp>
        <p:nvSpPr>
          <p:cNvPr id="37" name="a4f_e36"/>
          <p:cNvSpPr txBox="1"/>
          <p:nvPr/>
        </p:nvSpPr>
        <p:spPr>
          <a:xfrm>
            <a:off x="457200" y="3657600"/>
            <a:ext cx="210312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account_id</a:t>
            </a:r>
            <a:endParaRPr lang="en-US" sz="950" dirty="0"/>
          </a:p>
        </p:txBody>
      </p:sp>
      <p:sp>
        <p:nvSpPr>
          <p:cNvPr id="38" name="a4f_e37"/>
          <p:cNvSpPr txBox="1"/>
          <p:nvPr/>
        </p:nvSpPr>
        <p:spPr>
          <a:xfrm>
            <a:off x="1993392" y="3657600"/>
            <a:ext cx="512064" cy="219456"/>
          </a:xfrm>
          <a:prstGeom prst="rect">
            <a:avLst/>
          </a:prstGeom>
          <a:noFill/>
          <a:ln/>
        </p:spPr>
        <p:txBody>
          <a:bodyPr wrap="square" lIns="0" tIns="0" rIns="0" bIns="0" rtlCol="0" anchor="ctr"/>
          <a:lstStyle/>
          <a:p>
            <a:pPr marL="0" indent="0" algn="r">
              <a:buNone/>
            </a:pPr>
            <a:r>
              <a:rPr lang="en-US" sz="850" b="1" dirty="0">
                <a:solidFill>
                  <a:srgbClr val="6D28D9"/>
                </a:solidFill>
                <a:latin typeface="Calibri" pitchFamily="34" charset="0"/>
                <a:ea typeface="Calibri" pitchFamily="34" charset="-122"/>
                <a:cs typeface="Calibri" pitchFamily="34" charset="-120"/>
              </a:rPr>
              <a:t>PK</a:t>
            </a:r>
            <a:endParaRPr lang="en-US" sz="850" dirty="0"/>
          </a:p>
        </p:txBody>
      </p:sp>
      <p:sp>
        <p:nvSpPr>
          <p:cNvPr id="39" name="a4f_e38"/>
          <p:cNvSpPr txBox="1"/>
          <p:nvPr/>
        </p:nvSpPr>
        <p:spPr>
          <a:xfrm>
            <a:off x="457200" y="3877056"/>
            <a:ext cx="210312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account_type</a:t>
            </a:r>
            <a:endParaRPr lang="en-US" sz="950" dirty="0"/>
          </a:p>
        </p:txBody>
      </p:sp>
      <p:sp>
        <p:nvSpPr>
          <p:cNvPr id="40" name="a4f_e39"/>
          <p:cNvSpPr txBox="1"/>
          <p:nvPr/>
        </p:nvSpPr>
        <p:spPr>
          <a:xfrm>
            <a:off x="457200" y="4096512"/>
            <a:ext cx="210312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balance</a:t>
            </a:r>
            <a:endParaRPr lang="en-US" sz="950" dirty="0"/>
          </a:p>
        </p:txBody>
      </p:sp>
      <p:sp>
        <p:nvSpPr>
          <p:cNvPr id="41" name="a4f_e40"/>
          <p:cNvSpPr txBox="1"/>
          <p:nvPr/>
        </p:nvSpPr>
        <p:spPr>
          <a:xfrm>
            <a:off x="3291840" y="3383280"/>
            <a:ext cx="2103120" cy="274320"/>
          </a:xfrm>
          <a:prstGeom prst="rect">
            <a:avLst/>
          </a:prstGeom>
          <a:solidFill>
            <a:srgbClr val="B45309"/>
          </a:solidFill>
          <a:ln w="9525">
            <a:solidFill>
              <a:srgbClr val="B4530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account_txn</a:t>
            </a:r>
            <a:endParaRPr lang="en-US" sz="1100" dirty="0"/>
          </a:p>
        </p:txBody>
      </p:sp>
      <p:sp>
        <p:nvSpPr>
          <p:cNvPr id="42" name="a4f_e41"/>
          <p:cNvSpPr txBox="1"/>
          <p:nvPr/>
        </p:nvSpPr>
        <p:spPr>
          <a:xfrm>
            <a:off x="3291840" y="3657600"/>
            <a:ext cx="210312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txn_id</a:t>
            </a:r>
            <a:endParaRPr lang="en-US" sz="950" dirty="0"/>
          </a:p>
        </p:txBody>
      </p:sp>
      <p:sp>
        <p:nvSpPr>
          <p:cNvPr id="43" name="a4f_e42"/>
          <p:cNvSpPr txBox="1"/>
          <p:nvPr/>
        </p:nvSpPr>
        <p:spPr>
          <a:xfrm>
            <a:off x="4828032" y="3657600"/>
            <a:ext cx="512064" cy="219456"/>
          </a:xfrm>
          <a:prstGeom prst="rect">
            <a:avLst/>
          </a:prstGeom>
          <a:noFill/>
          <a:ln/>
        </p:spPr>
        <p:txBody>
          <a:bodyPr wrap="square" lIns="0" tIns="0" rIns="0" bIns="0" rtlCol="0" anchor="ctr"/>
          <a:lstStyle/>
          <a:p>
            <a:pPr marL="0" indent="0" algn="r">
              <a:buNone/>
            </a:pPr>
            <a:r>
              <a:rPr lang="en-US" sz="850" b="1" dirty="0">
                <a:solidFill>
                  <a:srgbClr val="6D28D9"/>
                </a:solidFill>
                <a:latin typeface="Calibri" pitchFamily="34" charset="0"/>
                <a:ea typeface="Calibri" pitchFamily="34" charset="-122"/>
                <a:cs typeface="Calibri" pitchFamily="34" charset="-120"/>
              </a:rPr>
              <a:t>PK</a:t>
            </a:r>
            <a:endParaRPr lang="en-US" sz="850" dirty="0"/>
          </a:p>
        </p:txBody>
      </p:sp>
      <p:sp>
        <p:nvSpPr>
          <p:cNvPr id="44" name="a4f_e43"/>
          <p:cNvSpPr txBox="1"/>
          <p:nvPr/>
        </p:nvSpPr>
        <p:spPr>
          <a:xfrm>
            <a:off x="3291840" y="3877056"/>
            <a:ext cx="210312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account_id</a:t>
            </a:r>
            <a:endParaRPr lang="en-US" sz="950" dirty="0"/>
          </a:p>
        </p:txBody>
      </p:sp>
      <p:sp>
        <p:nvSpPr>
          <p:cNvPr id="45" name="a4f_e44"/>
          <p:cNvSpPr txBox="1"/>
          <p:nvPr/>
        </p:nvSpPr>
        <p:spPr>
          <a:xfrm>
            <a:off x="4828032" y="3877056"/>
            <a:ext cx="512064" cy="219456"/>
          </a:xfrm>
          <a:prstGeom prst="rect">
            <a:avLst/>
          </a:prstGeom>
          <a:noFill/>
          <a:ln/>
        </p:spPr>
        <p:txBody>
          <a:bodyPr wrap="square" lIns="0" tIns="0" rIns="0" bIns="0" rtlCol="0" anchor="ctr"/>
          <a:lstStyle/>
          <a:p>
            <a:pPr marL="0" indent="0" algn="r">
              <a:buNone/>
            </a:pPr>
            <a:r>
              <a:rPr lang="en-US" sz="850" b="1" dirty="0">
                <a:solidFill>
                  <a:srgbClr val="B45309"/>
                </a:solidFill>
                <a:latin typeface="Calibri" pitchFamily="34" charset="0"/>
                <a:ea typeface="Calibri" pitchFamily="34" charset="-122"/>
                <a:cs typeface="Calibri" pitchFamily="34" charset="-120"/>
              </a:rPr>
              <a:t>FK</a:t>
            </a:r>
            <a:endParaRPr lang="en-US" sz="850" dirty="0"/>
          </a:p>
        </p:txBody>
      </p:sp>
      <p:sp>
        <p:nvSpPr>
          <p:cNvPr id="46" name="a4f_e45"/>
          <p:cNvSpPr txBox="1"/>
          <p:nvPr/>
        </p:nvSpPr>
        <p:spPr>
          <a:xfrm>
            <a:off x="3291840" y="4096512"/>
            <a:ext cx="210312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amount</a:t>
            </a:r>
            <a:endParaRPr lang="en-US" sz="950" dirty="0"/>
          </a:p>
        </p:txBody>
      </p:sp>
      <p:cxnSp>
        <p:nvCxnSpPr>
          <p:cNvPr id="47" name="a4f_r46"/>
          <p:cNvCxnSpPr/>
          <p:nvPr/>
        </p:nvCxnSpPr>
        <p:spPr>
          <a:xfrm>
            <a:off x="2560320" y="3767328"/>
            <a:ext cx="731520" cy="0"/>
          </a:xfrm>
          <a:prstGeom prst="line">
            <a:avLst/>
          </a:prstGeom>
          <a:ln w="15875">
            <a:solidFill>
              <a:srgbClr val="0F172A"/>
            </a:solidFill>
          </a:ln>
        </p:spPr>
      </p:cxnSp>
      <p:cxnSp>
        <p:nvCxnSpPr>
          <p:cNvPr id="48" name="a4f_r47"/>
          <p:cNvCxnSpPr/>
          <p:nvPr/>
        </p:nvCxnSpPr>
        <p:spPr>
          <a:xfrm flipV="1">
            <a:off x="2624328" y="3685032"/>
            <a:ext cx="0" cy="164592"/>
          </a:xfrm>
          <a:prstGeom prst="line">
            <a:avLst/>
          </a:prstGeom>
          <a:ln w="15875">
            <a:solidFill>
              <a:srgbClr val="0F172A"/>
            </a:solidFill>
          </a:ln>
        </p:spPr>
      </p:cxnSp>
      <p:cxnSp>
        <p:nvCxnSpPr>
          <p:cNvPr id="49" name="a4f_r48"/>
          <p:cNvCxnSpPr/>
          <p:nvPr/>
        </p:nvCxnSpPr>
        <p:spPr>
          <a:xfrm flipV="1">
            <a:off x="2688336" y="3685032"/>
            <a:ext cx="0" cy="164592"/>
          </a:xfrm>
          <a:prstGeom prst="line">
            <a:avLst/>
          </a:prstGeom>
          <a:ln w="15875">
            <a:solidFill>
              <a:srgbClr val="0F172A"/>
            </a:solidFill>
          </a:ln>
        </p:spPr>
      </p:cxnSp>
      <p:cxnSp>
        <p:nvCxnSpPr>
          <p:cNvPr id="50" name="a4f_r49"/>
          <p:cNvCxnSpPr/>
          <p:nvPr/>
        </p:nvCxnSpPr>
        <p:spPr>
          <a:xfrm flipV="1">
            <a:off x="3127248" y="3675888"/>
            <a:ext cx="164592" cy="91440"/>
          </a:xfrm>
          <a:prstGeom prst="line">
            <a:avLst/>
          </a:prstGeom>
          <a:ln w="15875">
            <a:solidFill>
              <a:srgbClr val="0F172A"/>
            </a:solidFill>
          </a:ln>
        </p:spPr>
      </p:cxnSp>
      <p:cxnSp>
        <p:nvCxnSpPr>
          <p:cNvPr id="51" name="a4f_r50"/>
          <p:cNvCxnSpPr/>
          <p:nvPr/>
        </p:nvCxnSpPr>
        <p:spPr>
          <a:xfrm>
            <a:off x="3127248" y="3767328"/>
            <a:ext cx="164592" cy="91440"/>
          </a:xfrm>
          <a:prstGeom prst="line">
            <a:avLst/>
          </a:prstGeom>
          <a:ln w="15875">
            <a:solidFill>
              <a:srgbClr val="0F172A"/>
            </a:solidFill>
          </a:ln>
        </p:spPr>
      </p:cxnSp>
      <p:sp>
        <p:nvSpPr>
          <p:cNvPr id="52" name="a4f_r51"/>
          <p:cNvSpPr/>
          <p:nvPr/>
        </p:nvSpPr>
        <p:spPr>
          <a:xfrm>
            <a:off x="2976372" y="3717036"/>
            <a:ext cx="100584" cy="100584"/>
          </a:xfrm>
          <a:prstGeom prst="ellipse">
            <a:avLst/>
          </a:prstGeom>
          <a:solidFill>
            <a:srgbClr val="FFFFFF"/>
          </a:solidFill>
          <a:ln w="15875">
            <a:solidFill>
              <a:srgbClr val="0F172A"/>
            </a:solidFill>
            <a:prstDash val="solid"/>
          </a:ln>
        </p:spPr>
      </p:sp>
      <p:sp>
        <p:nvSpPr>
          <p:cNvPr id="53" name="a5u_nb52"/>
          <p:cNvSpPr/>
          <p:nvPr/>
        </p:nvSpPr>
        <p:spPr>
          <a:xfrm>
            <a:off x="5760720" y="3383280"/>
            <a:ext cx="2926080" cy="1188720"/>
          </a:xfrm>
          <a:prstGeom prst="roundRect">
            <a:avLst>
              <a:gd name="adj" fmla="val 9412"/>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pic>
        <p:nvPicPr>
          <p:cNvPr id="54" name="a5u_ni53" descr="image.png"/>
          <p:cNvPicPr>
            <a:picLocks noChangeAspect="1"/>
          </p:cNvPicPr>
          <p:nvPr/>
        </p:nvPicPr>
        <p:blipFill>
          <a:blip r:embed="rId3"/>
          <a:stretch>
            <a:fillRect/>
          </a:stretch>
        </p:blipFill>
        <p:spPr>
          <a:xfrm>
            <a:off x="5897880" y="3817620"/>
            <a:ext cx="320040" cy="320040"/>
          </a:xfrm>
          <a:prstGeom prst="rect">
            <a:avLst/>
          </a:prstGeom>
        </p:spPr>
      </p:pic>
      <p:sp>
        <p:nvSpPr>
          <p:cNvPr id="55" name="a5u_nt54"/>
          <p:cNvSpPr txBox="1"/>
          <p:nvPr/>
        </p:nvSpPr>
        <p:spPr>
          <a:xfrm>
            <a:off x="6309360" y="3383280"/>
            <a:ext cx="2240280" cy="1188720"/>
          </a:xfrm>
          <a:prstGeom prst="rect">
            <a:avLst/>
          </a:prstGeom>
          <a:noFill/>
          <a:ln/>
        </p:spPr>
        <p:txBody>
          <a:bodyPr wrap="square" lIns="0" tIns="0" rIns="0" bIns="0" rtlCol="0" anchor="ctr"/>
          <a:lstStyle/>
          <a:p>
            <a:pPr marL="0" indent="0">
              <a:buNone/>
            </a:pPr>
            <a:r>
              <a:rPr lang="en-US" sz="1150" b="1" dirty="0">
                <a:solidFill>
                  <a:srgbClr val="334155"/>
                </a:solidFill>
                <a:latin typeface="Calibri" pitchFamily="34" charset="0"/>
                <a:ea typeface="Calibri" pitchFamily="34" charset="-122"/>
                <a:cs typeface="Calibri" pitchFamily="34" charset="-120"/>
              </a:rPr>
              <a:t>Only composite keys can fail 2NF. </a:t>
            </a:r>
            <a:r>
              <a:rPr lang="en-US" sz="1150" dirty="0">
                <a:solidFill>
                  <a:srgbClr val="334155"/>
                </a:solidFill>
                <a:latin typeface="Calibri" pitchFamily="34" charset="0"/>
                <a:ea typeface="Calibri" pitchFamily="34" charset="-122"/>
                <a:cs typeface="Calibri" pitchFamily="34" charset="-120"/>
              </a:rPr>
              <a:t>A single-column surrogate key has no "part" — so 1NF + simple key = 2NF.</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22" presetClass="entr" presetSubtype="8" fill="hold" grpId="0" nodeType="withEffect">
                                  <p:stCondLst>
                                    <p:cond delay="20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par>
                                <p:cTn id="14" presetID="22" presetClass="entr" presetSubtype="8" fill="hold" grpId="0" nodeType="withEffect">
                                  <p:stCondLst>
                                    <p:cond delay="40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par>
                                <p:cTn id="17" presetID="22" presetClass="entr" presetSubtype="8" fill="hold" grpId="0" nodeType="withEffect">
                                  <p:stCondLst>
                                    <p:cond delay="60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par>
                                <p:cTn id="20" presetID="22" presetClass="entr" presetSubtype="8" fill="hold" grpId="0" nodeType="withEffect">
                                  <p:stCondLst>
                                    <p:cond delay="80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22" presetClass="entr" presetSubtype="8" fill="hold" grpId="0" nodeType="withEffect">
                                  <p:stCondLst>
                                    <p:cond delay="20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500"/>
                                        <p:tgtEl>
                                          <p:spTgt spid="11"/>
                                        </p:tgtEl>
                                      </p:cBhvr>
                                    </p:animEffect>
                                  </p:childTnLst>
                                </p:cTn>
                              </p:par>
                              <p:par>
                                <p:cTn id="29" presetID="22" presetClass="entr" presetSubtype="8" fill="hold" grpId="0" nodeType="withEffect">
                                  <p:stCondLst>
                                    <p:cond delay="40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500"/>
                                        <p:tgtEl>
                                          <p:spTgt spid="12"/>
                                        </p:tgtEl>
                                      </p:cBhvr>
                                    </p:animEffect>
                                  </p:childTnLst>
                                </p:cTn>
                              </p:par>
                              <p:par>
                                <p:cTn id="32" presetID="22" presetClass="entr" presetSubtype="8" fill="hold" grpId="0" nodeType="withEffect">
                                  <p:stCondLst>
                                    <p:cond delay="600"/>
                                  </p:stCondLst>
                                  <p:childTnLst>
                                    <p:set>
                                      <p:cBhvr>
                                        <p:cTn id="33" dur="1" fill="hold">
                                          <p:stCondLst>
                                            <p:cond delay="0"/>
                                          </p:stCondLst>
                                        </p:cTn>
                                        <p:tgtEl>
                                          <p:spTgt spid="13"/>
                                        </p:tgtEl>
                                        <p:attrNameLst>
                                          <p:attrName>style.visibility</p:attrName>
                                        </p:attrNameLst>
                                      </p:cBhvr>
                                      <p:to>
                                        <p:strVal val="visible"/>
                                      </p:to>
                                    </p:set>
                                    <p:animEffect transition="in" filter="wipe(left)">
                                      <p:cBhvr>
                                        <p:cTn id="34" dur="500"/>
                                        <p:tgtEl>
                                          <p:spTgt spid="13"/>
                                        </p:tgtEl>
                                      </p:cBhvr>
                                    </p:animEffect>
                                  </p:childTnLst>
                                </p:cTn>
                              </p:par>
                              <p:par>
                                <p:cTn id="35" presetID="22" presetClass="entr" presetSubtype="8" fill="hold" grpId="0" nodeType="withEffect">
                                  <p:stCondLst>
                                    <p:cond delay="800"/>
                                  </p:stCondLst>
                                  <p:childTnLst>
                                    <p:set>
                                      <p:cBhvr>
                                        <p:cTn id="36" dur="1" fill="hold">
                                          <p:stCondLst>
                                            <p:cond delay="0"/>
                                          </p:stCondLst>
                                        </p:cTn>
                                        <p:tgtEl>
                                          <p:spTgt spid="14"/>
                                        </p:tgtEl>
                                        <p:attrNameLst>
                                          <p:attrName>style.visibility</p:attrName>
                                        </p:attrNameLst>
                                      </p:cBhvr>
                                      <p:to>
                                        <p:strVal val="visible"/>
                                      </p:to>
                                    </p:set>
                                    <p:animEffect transition="in" filter="wipe(left)">
                                      <p:cBhvr>
                                        <p:cTn id="37" dur="5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22" presetClass="entr" presetSubtype="8" fill="hold" grpId="0" nodeType="withEffect">
                                  <p:stCondLst>
                                    <p:cond delay="200"/>
                                  </p:stCondLst>
                                  <p:childTnLst>
                                    <p:set>
                                      <p:cBhvr>
                                        <p:cTn id="42" dur="1" fill="hold">
                                          <p:stCondLst>
                                            <p:cond delay="0"/>
                                          </p:stCondLst>
                                        </p:cTn>
                                        <p:tgtEl>
                                          <p:spTgt spid="16"/>
                                        </p:tgtEl>
                                        <p:attrNameLst>
                                          <p:attrName>style.visibility</p:attrName>
                                        </p:attrNameLst>
                                      </p:cBhvr>
                                      <p:to>
                                        <p:strVal val="visible"/>
                                      </p:to>
                                    </p:set>
                                    <p:animEffect transition="in" filter="wipe(left)">
                                      <p:cBhvr>
                                        <p:cTn id="43" dur="500"/>
                                        <p:tgtEl>
                                          <p:spTgt spid="16"/>
                                        </p:tgtEl>
                                      </p:cBhvr>
                                    </p:animEffect>
                                  </p:childTnLst>
                                </p:cTn>
                              </p:par>
                              <p:par>
                                <p:cTn id="44" presetID="22" presetClass="entr" presetSubtype="8" fill="hold" grpId="0" nodeType="withEffect">
                                  <p:stCondLst>
                                    <p:cond delay="400"/>
                                  </p:stCondLst>
                                  <p:childTnLst>
                                    <p:set>
                                      <p:cBhvr>
                                        <p:cTn id="45" dur="1" fill="hold">
                                          <p:stCondLst>
                                            <p:cond delay="0"/>
                                          </p:stCondLst>
                                        </p:cTn>
                                        <p:tgtEl>
                                          <p:spTgt spid="17"/>
                                        </p:tgtEl>
                                        <p:attrNameLst>
                                          <p:attrName>style.visibility</p:attrName>
                                        </p:attrNameLst>
                                      </p:cBhvr>
                                      <p:to>
                                        <p:strVal val="visible"/>
                                      </p:to>
                                    </p:set>
                                    <p:animEffect transition="in" filter="wipe(left)">
                                      <p:cBhvr>
                                        <p:cTn id="46" dur="500"/>
                                        <p:tgtEl>
                                          <p:spTgt spid="17"/>
                                        </p:tgtEl>
                                      </p:cBhvr>
                                    </p:animEffect>
                                  </p:childTnLst>
                                </p:cTn>
                              </p:par>
                              <p:par>
                                <p:cTn id="47" presetID="22" presetClass="entr" presetSubtype="8" fill="hold" grpId="0" nodeType="withEffect">
                                  <p:stCondLst>
                                    <p:cond delay="600"/>
                                  </p:stCondLst>
                                  <p:childTnLst>
                                    <p:set>
                                      <p:cBhvr>
                                        <p:cTn id="48" dur="1" fill="hold">
                                          <p:stCondLst>
                                            <p:cond delay="0"/>
                                          </p:stCondLst>
                                        </p:cTn>
                                        <p:tgtEl>
                                          <p:spTgt spid="18"/>
                                        </p:tgtEl>
                                        <p:attrNameLst>
                                          <p:attrName>style.visibility</p:attrName>
                                        </p:attrNameLst>
                                      </p:cBhvr>
                                      <p:to>
                                        <p:strVal val="visible"/>
                                      </p:to>
                                    </p:set>
                                    <p:animEffect transition="in" filter="wipe(left)">
                                      <p:cBhvr>
                                        <p:cTn id="49" dur="500"/>
                                        <p:tgtEl>
                                          <p:spTgt spid="18"/>
                                        </p:tgtEl>
                                      </p:cBhvr>
                                    </p:animEffect>
                                  </p:childTnLst>
                                </p:cTn>
                              </p:par>
                              <p:par>
                                <p:cTn id="50" presetID="22" presetClass="entr" presetSubtype="8" fill="hold" grpId="0" nodeType="withEffect">
                                  <p:stCondLst>
                                    <p:cond delay="800"/>
                                  </p:stCondLst>
                                  <p:childTnLst>
                                    <p:set>
                                      <p:cBhvr>
                                        <p:cTn id="51" dur="1" fill="hold">
                                          <p:stCondLst>
                                            <p:cond delay="0"/>
                                          </p:stCondLst>
                                        </p:cTn>
                                        <p:tgtEl>
                                          <p:spTgt spid="19"/>
                                        </p:tgtEl>
                                        <p:attrNameLst>
                                          <p:attrName>style.visibility</p:attrName>
                                        </p:attrNameLst>
                                      </p:cBhvr>
                                      <p:to>
                                        <p:strVal val="visible"/>
                                      </p:to>
                                    </p:set>
                                    <p:animEffect transition="in" filter="wipe(left)">
                                      <p:cBhvr>
                                        <p:cTn id="52" dur="50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childTnLst>
                                </p:cTn>
                              </p:par>
                              <p:par>
                                <p:cTn id="56" presetID="22" presetClass="entr" presetSubtype="8" fill="hold" grpId="0" nodeType="withEffect">
                                  <p:stCondLst>
                                    <p:cond delay="200"/>
                                  </p:stCondLst>
                                  <p:childTnLst>
                                    <p:set>
                                      <p:cBhvr>
                                        <p:cTn id="57" dur="1" fill="hold">
                                          <p:stCondLst>
                                            <p:cond delay="0"/>
                                          </p:stCondLst>
                                        </p:cTn>
                                        <p:tgtEl>
                                          <p:spTgt spid="21"/>
                                        </p:tgtEl>
                                        <p:attrNameLst>
                                          <p:attrName>style.visibility</p:attrName>
                                        </p:attrNameLst>
                                      </p:cBhvr>
                                      <p:to>
                                        <p:strVal val="visible"/>
                                      </p:to>
                                    </p:set>
                                    <p:animEffect transition="in" filter="wipe(left)">
                                      <p:cBhvr>
                                        <p:cTn id="58" dur="500"/>
                                        <p:tgtEl>
                                          <p:spTgt spid="21"/>
                                        </p:tgtEl>
                                      </p:cBhvr>
                                    </p:animEffect>
                                  </p:childTnLst>
                                </p:cTn>
                              </p:par>
                              <p:par>
                                <p:cTn id="59" presetID="22" presetClass="entr" presetSubtype="8" fill="hold" grpId="0" nodeType="withEffect">
                                  <p:stCondLst>
                                    <p:cond delay="400"/>
                                  </p:stCondLst>
                                  <p:childTnLst>
                                    <p:set>
                                      <p:cBhvr>
                                        <p:cTn id="60" dur="1" fill="hold">
                                          <p:stCondLst>
                                            <p:cond delay="0"/>
                                          </p:stCondLst>
                                        </p:cTn>
                                        <p:tgtEl>
                                          <p:spTgt spid="22"/>
                                        </p:tgtEl>
                                        <p:attrNameLst>
                                          <p:attrName>style.visibility</p:attrName>
                                        </p:attrNameLst>
                                      </p:cBhvr>
                                      <p:to>
                                        <p:strVal val="visible"/>
                                      </p:to>
                                    </p:set>
                                    <p:animEffect transition="in" filter="wipe(left)">
                                      <p:cBhvr>
                                        <p:cTn id="61" dur="500"/>
                                        <p:tgtEl>
                                          <p:spTgt spid="22"/>
                                        </p:tgtEl>
                                      </p:cBhvr>
                                    </p:animEffect>
                                  </p:childTnLst>
                                </p:cTn>
                              </p:par>
                              <p:par>
                                <p:cTn id="62" presetID="22" presetClass="entr" presetSubtype="8" fill="hold" grpId="0" nodeType="withEffect">
                                  <p:stCondLst>
                                    <p:cond delay="600"/>
                                  </p:stCondLst>
                                  <p:childTnLst>
                                    <p:set>
                                      <p:cBhvr>
                                        <p:cTn id="63" dur="1" fill="hold">
                                          <p:stCondLst>
                                            <p:cond delay="0"/>
                                          </p:stCondLst>
                                        </p:cTn>
                                        <p:tgtEl>
                                          <p:spTgt spid="23"/>
                                        </p:tgtEl>
                                        <p:attrNameLst>
                                          <p:attrName>style.visibility</p:attrName>
                                        </p:attrNameLst>
                                      </p:cBhvr>
                                      <p:to>
                                        <p:strVal val="visible"/>
                                      </p:to>
                                    </p:set>
                                    <p:animEffect transition="in" filter="wipe(left)">
                                      <p:cBhvr>
                                        <p:cTn id="64" dur="500"/>
                                        <p:tgtEl>
                                          <p:spTgt spid="23"/>
                                        </p:tgtEl>
                                      </p:cBhvr>
                                    </p:animEffect>
                                  </p:childTnLst>
                                </p:cTn>
                              </p:par>
                              <p:par>
                                <p:cTn id="65" presetID="22" presetClass="entr" presetSubtype="8" fill="hold" grpId="0" nodeType="withEffect">
                                  <p:stCondLst>
                                    <p:cond delay="800"/>
                                  </p:stCondLst>
                                  <p:childTnLst>
                                    <p:set>
                                      <p:cBhvr>
                                        <p:cTn id="66" dur="1" fill="hold">
                                          <p:stCondLst>
                                            <p:cond delay="0"/>
                                          </p:stCondLst>
                                        </p:cTn>
                                        <p:tgtEl>
                                          <p:spTgt spid="24"/>
                                        </p:tgtEl>
                                        <p:attrNameLst>
                                          <p:attrName>style.visibility</p:attrName>
                                        </p:attrNameLst>
                                      </p:cBhvr>
                                      <p:to>
                                        <p:strVal val="visible"/>
                                      </p:to>
                                    </p:set>
                                    <p:animEffect transition="in" filter="wipe(left)">
                                      <p:cBhvr>
                                        <p:cTn id="67" dur="500"/>
                                        <p:tgtEl>
                                          <p:spTgt spid="2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500"/>
                                        <p:tgtEl>
                                          <p:spTgt spid="25"/>
                                        </p:tgtEl>
                                      </p:cBhvr>
                                    </p:animEffect>
                                  </p:childTnLst>
                                </p:cTn>
                              </p:par>
                              <p:par>
                                <p:cTn id="71" presetID="22" presetClass="entr" presetSubtype="8" fill="hold" grpId="0" nodeType="withEffect">
                                  <p:stCondLst>
                                    <p:cond delay="200"/>
                                  </p:stCondLst>
                                  <p:childTnLst>
                                    <p:set>
                                      <p:cBhvr>
                                        <p:cTn id="72" dur="1" fill="hold">
                                          <p:stCondLst>
                                            <p:cond delay="0"/>
                                          </p:stCondLst>
                                        </p:cTn>
                                        <p:tgtEl>
                                          <p:spTgt spid="26"/>
                                        </p:tgtEl>
                                        <p:attrNameLst>
                                          <p:attrName>style.visibility</p:attrName>
                                        </p:attrNameLst>
                                      </p:cBhvr>
                                      <p:to>
                                        <p:strVal val="visible"/>
                                      </p:to>
                                    </p:set>
                                    <p:animEffect transition="in" filter="wipe(left)">
                                      <p:cBhvr>
                                        <p:cTn id="73" dur="500"/>
                                        <p:tgtEl>
                                          <p:spTgt spid="26"/>
                                        </p:tgtEl>
                                      </p:cBhvr>
                                    </p:animEffect>
                                  </p:childTnLst>
                                </p:cTn>
                              </p:par>
                              <p:par>
                                <p:cTn id="74" presetID="22" presetClass="entr" presetSubtype="8" fill="hold" grpId="0" nodeType="withEffect">
                                  <p:stCondLst>
                                    <p:cond delay="400"/>
                                  </p:stCondLst>
                                  <p:childTnLst>
                                    <p:set>
                                      <p:cBhvr>
                                        <p:cTn id="75" dur="1" fill="hold">
                                          <p:stCondLst>
                                            <p:cond delay="0"/>
                                          </p:stCondLst>
                                        </p:cTn>
                                        <p:tgtEl>
                                          <p:spTgt spid="27"/>
                                        </p:tgtEl>
                                        <p:attrNameLst>
                                          <p:attrName>style.visibility</p:attrName>
                                        </p:attrNameLst>
                                      </p:cBhvr>
                                      <p:to>
                                        <p:strVal val="visible"/>
                                      </p:to>
                                    </p:set>
                                    <p:animEffect transition="in" filter="wipe(left)">
                                      <p:cBhvr>
                                        <p:cTn id="76" dur="500"/>
                                        <p:tgtEl>
                                          <p:spTgt spid="27"/>
                                        </p:tgtEl>
                                      </p:cBhvr>
                                    </p:animEffect>
                                  </p:childTnLst>
                                </p:cTn>
                              </p:par>
                              <p:par>
                                <p:cTn id="77" presetID="22" presetClass="entr" presetSubtype="8" fill="hold" grpId="0" nodeType="withEffect">
                                  <p:stCondLst>
                                    <p:cond delay="600"/>
                                  </p:stCondLst>
                                  <p:childTnLst>
                                    <p:set>
                                      <p:cBhvr>
                                        <p:cTn id="78" dur="1" fill="hold">
                                          <p:stCondLst>
                                            <p:cond delay="0"/>
                                          </p:stCondLst>
                                        </p:cTn>
                                        <p:tgtEl>
                                          <p:spTgt spid="28"/>
                                        </p:tgtEl>
                                        <p:attrNameLst>
                                          <p:attrName>style.visibility</p:attrName>
                                        </p:attrNameLst>
                                      </p:cBhvr>
                                      <p:to>
                                        <p:strVal val="visible"/>
                                      </p:to>
                                    </p:set>
                                    <p:animEffect transition="in" filter="wipe(left)">
                                      <p:cBhvr>
                                        <p:cTn id="79" dur="500"/>
                                        <p:tgtEl>
                                          <p:spTgt spid="28"/>
                                        </p:tgtEl>
                                      </p:cBhvr>
                                    </p:animEffect>
                                  </p:childTnLst>
                                </p:cTn>
                              </p:par>
                              <p:par>
                                <p:cTn id="80" presetID="22" presetClass="entr" presetSubtype="8" fill="hold" grpId="0" nodeType="withEffect">
                                  <p:stCondLst>
                                    <p:cond delay="800"/>
                                  </p:stCondLst>
                                  <p:childTnLst>
                                    <p:set>
                                      <p:cBhvr>
                                        <p:cTn id="81" dur="1" fill="hold">
                                          <p:stCondLst>
                                            <p:cond delay="0"/>
                                          </p:stCondLst>
                                        </p:cTn>
                                        <p:tgtEl>
                                          <p:spTgt spid="29"/>
                                        </p:tgtEl>
                                        <p:attrNameLst>
                                          <p:attrName>style.visibility</p:attrName>
                                        </p:attrNameLst>
                                      </p:cBhvr>
                                      <p:to>
                                        <p:strVal val="visible"/>
                                      </p:to>
                                    </p:set>
                                    <p:animEffect transition="in" filter="wipe(left)">
                                      <p:cBhvr>
                                        <p:cTn id="82" dur="500"/>
                                        <p:tgtEl>
                                          <p:spTgt spid="29"/>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500"/>
                                        <p:tgtEl>
                                          <p:spTgt spid="30"/>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500"/>
                                        <p:tgtEl>
                                          <p:spTgt spid="3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500"/>
                                        <p:tgtEl>
                                          <p:spTgt spid="32"/>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33"/>
                                        </p:tgtEl>
                                        <p:attrNameLst>
                                          <p:attrName>style.visibility</p:attrName>
                                        </p:attrNameLst>
                                      </p:cBhvr>
                                      <p:to>
                                        <p:strVal val="visible"/>
                                      </p:to>
                                    </p:set>
                                    <p:animEffect transition="in" filter="fade">
                                      <p:cBhvr>
                                        <p:cTn id="98" dur="500"/>
                                        <p:tgtEl>
                                          <p:spTgt spid="33"/>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4"/>
                                        </p:tgtEl>
                                        <p:attrNameLst>
                                          <p:attrName>style.visibility</p:attrName>
                                        </p:attrNameLst>
                                      </p:cBhvr>
                                      <p:to>
                                        <p:strVal val="visible"/>
                                      </p:to>
                                    </p:set>
                                    <p:animEffect transition="in" filter="fade">
                                      <p:cBhvr>
                                        <p:cTn id="101" dur="500"/>
                                        <p:tgtEl>
                                          <p:spTgt spid="34"/>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35"/>
                                        </p:tgtEl>
                                        <p:attrNameLst>
                                          <p:attrName>style.visibility</p:attrName>
                                        </p:attrNameLst>
                                      </p:cBhvr>
                                      <p:to>
                                        <p:strVal val="visible"/>
                                      </p:to>
                                    </p:set>
                                    <p:animEffect transition="in" filter="fade">
                                      <p:cBhvr>
                                        <p:cTn id="106" dur="500"/>
                                        <p:tgtEl>
                                          <p:spTgt spid="35"/>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9" dur="500"/>
                                        <p:tgtEl>
                                          <p:spTgt spid="36"/>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7"/>
                                        </p:tgtEl>
                                        <p:attrNameLst>
                                          <p:attrName>style.visibility</p:attrName>
                                        </p:attrNameLst>
                                      </p:cBhvr>
                                      <p:to>
                                        <p:strVal val="visible"/>
                                      </p:to>
                                    </p:set>
                                    <p:animEffect transition="in" filter="fade">
                                      <p:cBhvr>
                                        <p:cTn id="112" dur="500"/>
                                        <p:tgtEl>
                                          <p:spTgt spid="37"/>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8"/>
                                        </p:tgtEl>
                                        <p:attrNameLst>
                                          <p:attrName>style.visibility</p:attrName>
                                        </p:attrNameLst>
                                      </p:cBhvr>
                                      <p:to>
                                        <p:strVal val="visible"/>
                                      </p:to>
                                    </p:set>
                                    <p:animEffect transition="in" filter="fade">
                                      <p:cBhvr>
                                        <p:cTn id="115" dur="500"/>
                                        <p:tgtEl>
                                          <p:spTgt spid="38"/>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39"/>
                                        </p:tgtEl>
                                        <p:attrNameLst>
                                          <p:attrName>style.visibility</p:attrName>
                                        </p:attrNameLst>
                                      </p:cBhvr>
                                      <p:to>
                                        <p:strVal val="visible"/>
                                      </p:to>
                                    </p:set>
                                    <p:animEffect transition="in" filter="fade">
                                      <p:cBhvr>
                                        <p:cTn id="118" dur="500"/>
                                        <p:tgtEl>
                                          <p:spTgt spid="39"/>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0"/>
                                        </p:tgtEl>
                                        <p:attrNameLst>
                                          <p:attrName>style.visibility</p:attrName>
                                        </p:attrNameLst>
                                      </p:cBhvr>
                                      <p:to>
                                        <p:strVal val="visible"/>
                                      </p:to>
                                    </p:set>
                                    <p:animEffect transition="in" filter="fade">
                                      <p:cBhvr>
                                        <p:cTn id="121" dur="500"/>
                                        <p:tgtEl>
                                          <p:spTgt spid="40"/>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1"/>
                                        </p:tgtEl>
                                        <p:attrNameLst>
                                          <p:attrName>style.visibility</p:attrName>
                                        </p:attrNameLst>
                                      </p:cBhvr>
                                      <p:to>
                                        <p:strVal val="visible"/>
                                      </p:to>
                                    </p:set>
                                    <p:animEffect transition="in" filter="fade">
                                      <p:cBhvr>
                                        <p:cTn id="124" dur="500"/>
                                        <p:tgtEl>
                                          <p:spTgt spid="41"/>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42"/>
                                        </p:tgtEl>
                                        <p:attrNameLst>
                                          <p:attrName>style.visibility</p:attrName>
                                        </p:attrNameLst>
                                      </p:cBhvr>
                                      <p:to>
                                        <p:strVal val="visible"/>
                                      </p:to>
                                    </p:set>
                                    <p:animEffect transition="in" filter="fade">
                                      <p:cBhvr>
                                        <p:cTn id="127" dur="500"/>
                                        <p:tgtEl>
                                          <p:spTgt spid="42"/>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3"/>
                                        </p:tgtEl>
                                        <p:attrNameLst>
                                          <p:attrName>style.visibility</p:attrName>
                                        </p:attrNameLst>
                                      </p:cBhvr>
                                      <p:to>
                                        <p:strVal val="visible"/>
                                      </p:to>
                                    </p:set>
                                    <p:animEffect transition="in" filter="fade">
                                      <p:cBhvr>
                                        <p:cTn id="130" dur="500"/>
                                        <p:tgtEl>
                                          <p:spTgt spid="43"/>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4"/>
                                        </p:tgtEl>
                                        <p:attrNameLst>
                                          <p:attrName>style.visibility</p:attrName>
                                        </p:attrNameLst>
                                      </p:cBhvr>
                                      <p:to>
                                        <p:strVal val="visible"/>
                                      </p:to>
                                    </p:set>
                                    <p:animEffect transition="in" filter="fade">
                                      <p:cBhvr>
                                        <p:cTn id="133" dur="500"/>
                                        <p:tgtEl>
                                          <p:spTgt spid="44"/>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5"/>
                                        </p:tgtEl>
                                        <p:attrNameLst>
                                          <p:attrName>style.visibility</p:attrName>
                                        </p:attrNameLst>
                                      </p:cBhvr>
                                      <p:to>
                                        <p:strVal val="visible"/>
                                      </p:to>
                                    </p:set>
                                    <p:animEffect transition="in" filter="fade">
                                      <p:cBhvr>
                                        <p:cTn id="136" dur="500"/>
                                        <p:tgtEl>
                                          <p:spTgt spid="45"/>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46"/>
                                        </p:tgtEl>
                                        <p:attrNameLst>
                                          <p:attrName>style.visibility</p:attrName>
                                        </p:attrNameLst>
                                      </p:cBhvr>
                                      <p:to>
                                        <p:strVal val="visible"/>
                                      </p:to>
                                    </p:set>
                                    <p:animEffect transition="in" filter="fade">
                                      <p:cBhvr>
                                        <p:cTn id="139" dur="500"/>
                                        <p:tgtEl>
                                          <p:spTgt spid="46"/>
                                        </p:tgtEl>
                                      </p:cBhvr>
                                    </p:animEffect>
                                  </p:childTnLst>
                                </p:cTn>
                              </p:par>
                              <p:par>
                                <p:cTn id="140" presetID="10" presetClass="entr" presetSubtype="0" fill="hold" nodeType="withEffect">
                                  <p:stCondLst>
                                    <p:cond delay="0"/>
                                  </p:stCondLst>
                                  <p:childTnLst>
                                    <p:set>
                                      <p:cBhvr>
                                        <p:cTn id="141" dur="1" fill="hold">
                                          <p:stCondLst>
                                            <p:cond delay="0"/>
                                          </p:stCondLst>
                                        </p:cTn>
                                        <p:tgtEl>
                                          <p:spTgt spid="47"/>
                                        </p:tgtEl>
                                        <p:attrNameLst>
                                          <p:attrName>style.visibility</p:attrName>
                                        </p:attrNameLst>
                                      </p:cBhvr>
                                      <p:to>
                                        <p:strVal val="visible"/>
                                      </p:to>
                                    </p:set>
                                    <p:animEffect transition="in" filter="fade">
                                      <p:cBhvr>
                                        <p:cTn id="142" dur="500"/>
                                        <p:tgtEl>
                                          <p:spTgt spid="47"/>
                                        </p:tgtEl>
                                      </p:cBhvr>
                                    </p:animEffect>
                                  </p:childTnLst>
                                </p:cTn>
                              </p:par>
                              <p:par>
                                <p:cTn id="143" presetID="10" presetClass="entr" presetSubtype="0" fill="hold" nodeType="withEffect">
                                  <p:stCondLst>
                                    <p:cond delay="0"/>
                                  </p:stCondLst>
                                  <p:childTnLst>
                                    <p:set>
                                      <p:cBhvr>
                                        <p:cTn id="144" dur="1" fill="hold">
                                          <p:stCondLst>
                                            <p:cond delay="0"/>
                                          </p:stCondLst>
                                        </p:cTn>
                                        <p:tgtEl>
                                          <p:spTgt spid="48"/>
                                        </p:tgtEl>
                                        <p:attrNameLst>
                                          <p:attrName>style.visibility</p:attrName>
                                        </p:attrNameLst>
                                      </p:cBhvr>
                                      <p:to>
                                        <p:strVal val="visible"/>
                                      </p:to>
                                    </p:set>
                                    <p:animEffect transition="in" filter="fade">
                                      <p:cBhvr>
                                        <p:cTn id="145" dur="500"/>
                                        <p:tgtEl>
                                          <p:spTgt spid="48"/>
                                        </p:tgtEl>
                                      </p:cBhvr>
                                    </p:animEffect>
                                  </p:childTnLst>
                                </p:cTn>
                              </p:par>
                              <p:par>
                                <p:cTn id="146" presetID="10" presetClass="entr" presetSubtype="0" fill="hold" nodeType="withEffect">
                                  <p:stCondLst>
                                    <p:cond delay="0"/>
                                  </p:stCondLst>
                                  <p:childTnLst>
                                    <p:set>
                                      <p:cBhvr>
                                        <p:cTn id="147" dur="1" fill="hold">
                                          <p:stCondLst>
                                            <p:cond delay="0"/>
                                          </p:stCondLst>
                                        </p:cTn>
                                        <p:tgtEl>
                                          <p:spTgt spid="49"/>
                                        </p:tgtEl>
                                        <p:attrNameLst>
                                          <p:attrName>style.visibility</p:attrName>
                                        </p:attrNameLst>
                                      </p:cBhvr>
                                      <p:to>
                                        <p:strVal val="visible"/>
                                      </p:to>
                                    </p:set>
                                    <p:animEffect transition="in" filter="fade">
                                      <p:cBhvr>
                                        <p:cTn id="148" dur="500"/>
                                        <p:tgtEl>
                                          <p:spTgt spid="49"/>
                                        </p:tgtEl>
                                      </p:cBhvr>
                                    </p:animEffect>
                                  </p:childTnLst>
                                </p:cTn>
                              </p:par>
                              <p:par>
                                <p:cTn id="149" presetID="10" presetClass="entr" presetSubtype="0" fill="hold" nodeType="withEffect">
                                  <p:stCondLst>
                                    <p:cond delay="0"/>
                                  </p:stCondLst>
                                  <p:childTnLst>
                                    <p:set>
                                      <p:cBhvr>
                                        <p:cTn id="150" dur="1" fill="hold">
                                          <p:stCondLst>
                                            <p:cond delay="0"/>
                                          </p:stCondLst>
                                        </p:cTn>
                                        <p:tgtEl>
                                          <p:spTgt spid="50"/>
                                        </p:tgtEl>
                                        <p:attrNameLst>
                                          <p:attrName>style.visibility</p:attrName>
                                        </p:attrNameLst>
                                      </p:cBhvr>
                                      <p:to>
                                        <p:strVal val="visible"/>
                                      </p:to>
                                    </p:set>
                                    <p:animEffect transition="in" filter="fade">
                                      <p:cBhvr>
                                        <p:cTn id="151" dur="500"/>
                                        <p:tgtEl>
                                          <p:spTgt spid="50"/>
                                        </p:tgtEl>
                                      </p:cBhvr>
                                    </p:animEffect>
                                  </p:childTnLst>
                                </p:cTn>
                              </p:par>
                              <p:par>
                                <p:cTn id="152" presetID="10" presetClass="entr" presetSubtype="0" fill="hold" nodeType="withEffect">
                                  <p:stCondLst>
                                    <p:cond delay="0"/>
                                  </p:stCondLst>
                                  <p:childTnLst>
                                    <p:set>
                                      <p:cBhvr>
                                        <p:cTn id="153" dur="1" fill="hold">
                                          <p:stCondLst>
                                            <p:cond delay="0"/>
                                          </p:stCondLst>
                                        </p:cTn>
                                        <p:tgtEl>
                                          <p:spTgt spid="51"/>
                                        </p:tgtEl>
                                        <p:attrNameLst>
                                          <p:attrName>style.visibility</p:attrName>
                                        </p:attrNameLst>
                                      </p:cBhvr>
                                      <p:to>
                                        <p:strVal val="visible"/>
                                      </p:to>
                                    </p:set>
                                    <p:animEffect transition="in" filter="fade">
                                      <p:cBhvr>
                                        <p:cTn id="154" dur="500"/>
                                        <p:tgtEl>
                                          <p:spTgt spid="51"/>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52"/>
                                        </p:tgtEl>
                                        <p:attrNameLst>
                                          <p:attrName>style.visibility</p:attrName>
                                        </p:attrNameLst>
                                      </p:cBhvr>
                                      <p:to>
                                        <p:strVal val="visible"/>
                                      </p:to>
                                    </p:set>
                                    <p:animEffect transition="in" filter="fade">
                                      <p:cBhvr>
                                        <p:cTn id="157" dur="500"/>
                                        <p:tgtEl>
                                          <p:spTgt spid="52"/>
                                        </p:tgtEl>
                                      </p:cBhvr>
                                    </p:animEffect>
                                  </p:childTnLst>
                                </p:cTn>
                              </p:par>
                            </p:childTnLst>
                          </p:cTn>
                        </p:par>
                      </p:childTnLst>
                    </p:cTn>
                  </p:par>
                  <p:par>
                    <p:cTn id="158" fill="hold">
                      <p:stCondLst>
                        <p:cond delay="indefinite"/>
                      </p:stCondLst>
                      <p:childTnLst>
                        <p:par>
                          <p:cTn id="159" fill="hold">
                            <p:stCondLst>
                              <p:cond delay="0"/>
                            </p:stCondLst>
                            <p:childTnLst>
                              <p:par>
                                <p:cTn id="160" presetID="2" presetClass="entr" presetSubtype="4" fill="hold" grpId="0" nodeType="clickEffect">
                                  <p:stCondLst>
                                    <p:cond delay="0"/>
                                  </p:stCondLst>
                                  <p:childTnLst>
                                    <p:set>
                                      <p:cBhvr>
                                        <p:cTn id="161" dur="1" fill="hold">
                                          <p:stCondLst>
                                            <p:cond delay="0"/>
                                          </p:stCondLst>
                                        </p:cTn>
                                        <p:tgtEl>
                                          <p:spTgt spid="53"/>
                                        </p:tgtEl>
                                        <p:attrNameLst>
                                          <p:attrName>style.visibility</p:attrName>
                                        </p:attrNameLst>
                                      </p:cBhvr>
                                      <p:to>
                                        <p:strVal val="visible"/>
                                      </p:to>
                                    </p:set>
                                    <p:anim calcmode="lin" valueType="num">
                                      <p:cBhvr additive="base">
                                        <p:cTn id="162" dur="500" fill="hold"/>
                                        <p:tgtEl>
                                          <p:spTgt spid="53"/>
                                        </p:tgtEl>
                                        <p:attrNameLst>
                                          <p:attrName>ppt_x</p:attrName>
                                        </p:attrNameLst>
                                      </p:cBhvr>
                                      <p:tavLst>
                                        <p:tav tm="0">
                                          <p:val>
                                            <p:strVal val="#ppt_x"/>
                                          </p:val>
                                        </p:tav>
                                        <p:tav tm="100000">
                                          <p:val>
                                            <p:strVal val="#ppt_x"/>
                                          </p:val>
                                        </p:tav>
                                      </p:tavLst>
                                    </p:anim>
                                    <p:anim calcmode="lin" valueType="num">
                                      <p:cBhvr additive="base">
                                        <p:cTn id="163" dur="500" fill="hold"/>
                                        <p:tgtEl>
                                          <p:spTgt spid="53"/>
                                        </p:tgtEl>
                                        <p:attrNameLst>
                                          <p:attrName>ppt_y</p:attrName>
                                        </p:attrNameLst>
                                      </p:cBhvr>
                                      <p:tavLst>
                                        <p:tav tm="0">
                                          <p:val>
                                            <p:strVal val="#ppt_y+0.1"/>
                                          </p:val>
                                        </p:tav>
                                        <p:tav tm="100000">
                                          <p:val>
                                            <p:strVal val="#ppt_y"/>
                                          </p:val>
                                        </p:tav>
                                      </p:tavLst>
                                    </p:anim>
                                    <p:animEffect transition="in" filter="fade">
                                      <p:cBhvr>
                                        <p:cTn id="164" dur="500"/>
                                        <p:tgtEl>
                                          <p:spTgt spid="53"/>
                                        </p:tgtEl>
                                      </p:cBhvr>
                                    </p:animEffect>
                                  </p:childTnLst>
                                </p:cTn>
                              </p:par>
                              <p:par>
                                <p:cTn id="165" presetID="2" presetClass="entr" presetSubtype="4" fill="hold" nodeType="withEffect">
                                  <p:stCondLst>
                                    <p:cond delay="0"/>
                                  </p:stCondLst>
                                  <p:childTnLst>
                                    <p:set>
                                      <p:cBhvr>
                                        <p:cTn id="166" dur="1" fill="hold">
                                          <p:stCondLst>
                                            <p:cond delay="0"/>
                                          </p:stCondLst>
                                        </p:cTn>
                                        <p:tgtEl>
                                          <p:spTgt spid="54"/>
                                        </p:tgtEl>
                                        <p:attrNameLst>
                                          <p:attrName>style.visibility</p:attrName>
                                        </p:attrNameLst>
                                      </p:cBhvr>
                                      <p:to>
                                        <p:strVal val="visible"/>
                                      </p:to>
                                    </p:set>
                                    <p:anim calcmode="lin" valueType="num">
                                      <p:cBhvr additive="base">
                                        <p:cTn id="167" dur="500" fill="hold"/>
                                        <p:tgtEl>
                                          <p:spTgt spid="54"/>
                                        </p:tgtEl>
                                        <p:attrNameLst>
                                          <p:attrName>ppt_x</p:attrName>
                                        </p:attrNameLst>
                                      </p:cBhvr>
                                      <p:tavLst>
                                        <p:tav tm="0">
                                          <p:val>
                                            <p:strVal val="#ppt_x"/>
                                          </p:val>
                                        </p:tav>
                                        <p:tav tm="100000">
                                          <p:val>
                                            <p:strVal val="#ppt_x"/>
                                          </p:val>
                                        </p:tav>
                                      </p:tavLst>
                                    </p:anim>
                                    <p:anim calcmode="lin" valueType="num">
                                      <p:cBhvr additive="base">
                                        <p:cTn id="168" dur="500" fill="hold"/>
                                        <p:tgtEl>
                                          <p:spTgt spid="54"/>
                                        </p:tgtEl>
                                        <p:attrNameLst>
                                          <p:attrName>ppt_y</p:attrName>
                                        </p:attrNameLst>
                                      </p:cBhvr>
                                      <p:tavLst>
                                        <p:tav tm="0">
                                          <p:val>
                                            <p:strVal val="#ppt_y+0.1"/>
                                          </p:val>
                                        </p:tav>
                                        <p:tav tm="100000">
                                          <p:val>
                                            <p:strVal val="#ppt_y"/>
                                          </p:val>
                                        </p:tav>
                                      </p:tavLst>
                                    </p:anim>
                                    <p:animEffect transition="in" filter="fade">
                                      <p:cBhvr>
                                        <p:cTn id="169" dur="500"/>
                                        <p:tgtEl>
                                          <p:spTgt spid="54"/>
                                        </p:tgtEl>
                                      </p:cBhvr>
                                    </p:animEffect>
                                  </p:childTnLst>
                                </p:cTn>
                              </p:par>
                              <p:par>
                                <p:cTn id="170" presetID="2" presetClass="entr" presetSubtype="4" fill="hold" grpId="0" nodeType="withEffect">
                                  <p:stCondLst>
                                    <p:cond delay="0"/>
                                  </p:stCondLst>
                                  <p:childTnLst>
                                    <p:set>
                                      <p:cBhvr>
                                        <p:cTn id="171" dur="1" fill="hold">
                                          <p:stCondLst>
                                            <p:cond delay="0"/>
                                          </p:stCondLst>
                                        </p:cTn>
                                        <p:tgtEl>
                                          <p:spTgt spid="55"/>
                                        </p:tgtEl>
                                        <p:attrNameLst>
                                          <p:attrName>style.visibility</p:attrName>
                                        </p:attrNameLst>
                                      </p:cBhvr>
                                      <p:to>
                                        <p:strVal val="visible"/>
                                      </p:to>
                                    </p:set>
                                    <p:anim calcmode="lin" valueType="num">
                                      <p:cBhvr additive="base">
                                        <p:cTn id="172" dur="500" fill="hold"/>
                                        <p:tgtEl>
                                          <p:spTgt spid="55"/>
                                        </p:tgtEl>
                                        <p:attrNameLst>
                                          <p:attrName>ppt_x</p:attrName>
                                        </p:attrNameLst>
                                      </p:cBhvr>
                                      <p:tavLst>
                                        <p:tav tm="0">
                                          <p:val>
                                            <p:strVal val="#ppt_x"/>
                                          </p:val>
                                        </p:tav>
                                        <p:tav tm="100000">
                                          <p:val>
                                            <p:strVal val="#ppt_x"/>
                                          </p:val>
                                        </p:tav>
                                      </p:tavLst>
                                    </p:anim>
                                    <p:anim calcmode="lin" valueType="num">
                                      <p:cBhvr additive="base">
                                        <p:cTn id="173" dur="500" fill="hold"/>
                                        <p:tgtEl>
                                          <p:spTgt spid="55"/>
                                        </p:tgtEl>
                                        <p:attrNameLst>
                                          <p:attrName>ppt_y</p:attrName>
                                        </p:attrNameLst>
                                      </p:cBhvr>
                                      <p:tavLst>
                                        <p:tav tm="0">
                                          <p:val>
                                            <p:strVal val="#ppt_y+0.1"/>
                                          </p:val>
                                        </p:tav>
                                        <p:tav tm="100000">
                                          <p:val>
                                            <p:strVal val="#ppt_y"/>
                                          </p:val>
                                        </p:tav>
                                      </p:tavLst>
                                    </p:anim>
                                    <p:animEffect transition="in" filter="fade">
                                      <p:cBhvr>
                                        <p:cTn id="174"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52" grpId="0" animBg="1"/>
      <p:bldP spid="53" grpId="0" animBg="1"/>
      <p:bldP spid="5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1"/>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3NF — Transitive Dependency</a:t>
            </a:r>
            <a:endParaRPr lang="en-US" sz="2800" dirty="0"/>
          </a:p>
        </p:txBody>
      </p:sp>
      <p:sp>
        <p:nvSpPr>
          <p:cNvPr id="3" name="Text 2"/>
          <p:cNvSpPr txBox="1"/>
          <p:nvPr/>
        </p:nvSpPr>
        <p:spPr>
          <a:xfrm>
            <a:off x="457200" y="749808"/>
            <a:ext cx="8229600" cy="320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Rule: no non-key column may depend on another non-key column</a:t>
            </a:r>
            <a:endParaRPr lang="en-US" sz="1300" dirty="0"/>
          </a:p>
        </p:txBody>
      </p:sp>
      <p:sp>
        <p:nvSpPr>
          <p:cNvPr id="4" name="a1f_cell3"/>
          <p:cNvSpPr txBox="1"/>
          <p:nvPr/>
        </p:nvSpPr>
        <p:spPr>
          <a:xfrm>
            <a:off x="457200" y="1234440"/>
            <a:ext cx="685800" cy="256032"/>
          </a:xfrm>
          <a:prstGeom prst="rect">
            <a:avLst/>
          </a:prstGeom>
          <a:solidFill>
            <a:srgbClr val="475569"/>
          </a:solidFill>
          <a:ln w="9525">
            <a:solidFill>
              <a:srgbClr val="47556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cust_id</a:t>
            </a:r>
            <a:endParaRPr lang="en-US" sz="1100" dirty="0"/>
          </a:p>
        </p:txBody>
      </p:sp>
      <p:sp>
        <p:nvSpPr>
          <p:cNvPr id="5" name="a1wd200_cell4"/>
          <p:cNvSpPr txBox="1"/>
          <p:nvPr/>
        </p:nvSpPr>
        <p:spPr>
          <a:xfrm>
            <a:off x="457200" y="1490472"/>
            <a:ext cx="68580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1003</a:t>
            </a:r>
            <a:endParaRPr lang="en-US" sz="1100" dirty="0"/>
          </a:p>
        </p:txBody>
      </p:sp>
      <p:sp>
        <p:nvSpPr>
          <p:cNvPr id="6" name="a1wd400_cell5"/>
          <p:cNvSpPr txBox="1"/>
          <p:nvPr/>
        </p:nvSpPr>
        <p:spPr>
          <a:xfrm>
            <a:off x="457200" y="1746504"/>
            <a:ext cx="68580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1011</a:t>
            </a:r>
            <a:endParaRPr lang="en-US" sz="1100" dirty="0"/>
          </a:p>
        </p:txBody>
      </p:sp>
      <p:sp>
        <p:nvSpPr>
          <p:cNvPr id="7" name="a1wd600_cell6"/>
          <p:cNvSpPr txBox="1"/>
          <p:nvPr/>
        </p:nvSpPr>
        <p:spPr>
          <a:xfrm>
            <a:off x="457200" y="2002536"/>
            <a:ext cx="68580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1019</a:t>
            </a:r>
            <a:endParaRPr lang="en-US" sz="1100" dirty="0"/>
          </a:p>
        </p:txBody>
      </p:sp>
      <p:sp>
        <p:nvSpPr>
          <p:cNvPr id="8" name="a1wd800_cell7"/>
          <p:cNvSpPr txBox="1"/>
          <p:nvPr/>
        </p:nvSpPr>
        <p:spPr>
          <a:xfrm>
            <a:off x="457200" y="2258568"/>
            <a:ext cx="68580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1027</a:t>
            </a:r>
            <a:endParaRPr lang="en-US" sz="1100" dirty="0"/>
          </a:p>
        </p:txBody>
      </p:sp>
      <p:sp>
        <p:nvSpPr>
          <p:cNvPr id="9" name="a1f_cell8"/>
          <p:cNvSpPr txBox="1"/>
          <p:nvPr/>
        </p:nvSpPr>
        <p:spPr>
          <a:xfrm>
            <a:off x="1143000" y="1234440"/>
            <a:ext cx="1188720" cy="256032"/>
          </a:xfrm>
          <a:prstGeom prst="rect">
            <a:avLst/>
          </a:prstGeom>
          <a:solidFill>
            <a:srgbClr val="475569"/>
          </a:solidFill>
          <a:ln w="9525">
            <a:solidFill>
              <a:srgbClr val="47556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cust_name</a:t>
            </a:r>
            <a:endParaRPr lang="en-US" sz="1100" dirty="0"/>
          </a:p>
        </p:txBody>
      </p:sp>
      <p:sp>
        <p:nvSpPr>
          <p:cNvPr id="10" name="a1wd200_cell9"/>
          <p:cNvSpPr txBox="1"/>
          <p:nvPr/>
        </p:nvSpPr>
        <p:spPr>
          <a:xfrm>
            <a:off x="1143000" y="1490472"/>
            <a:ext cx="118872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Rohan Iyer</a:t>
            </a:r>
            <a:endParaRPr lang="en-US" sz="1100" dirty="0"/>
          </a:p>
        </p:txBody>
      </p:sp>
      <p:sp>
        <p:nvSpPr>
          <p:cNvPr id="11" name="a1wd400_cell10"/>
          <p:cNvSpPr txBox="1"/>
          <p:nvPr/>
        </p:nvSpPr>
        <p:spPr>
          <a:xfrm>
            <a:off x="1143000" y="1746504"/>
            <a:ext cx="118872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Rahul Khan</a:t>
            </a:r>
            <a:endParaRPr lang="en-US" sz="1100" dirty="0"/>
          </a:p>
        </p:txBody>
      </p:sp>
      <p:sp>
        <p:nvSpPr>
          <p:cNvPr id="12" name="a1wd600_cell11"/>
          <p:cNvSpPr txBox="1"/>
          <p:nvPr/>
        </p:nvSpPr>
        <p:spPr>
          <a:xfrm>
            <a:off x="1143000" y="2002536"/>
            <a:ext cx="118872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Manish Chopra</a:t>
            </a:r>
            <a:endParaRPr lang="en-US" sz="1100" dirty="0"/>
          </a:p>
        </p:txBody>
      </p:sp>
      <p:sp>
        <p:nvSpPr>
          <p:cNvPr id="13" name="a1wd800_cell12"/>
          <p:cNvSpPr txBox="1"/>
          <p:nvPr/>
        </p:nvSpPr>
        <p:spPr>
          <a:xfrm>
            <a:off x="1143000" y="2258568"/>
            <a:ext cx="118872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Gaurav Patel</a:t>
            </a:r>
            <a:endParaRPr lang="en-US" sz="1100" dirty="0"/>
          </a:p>
        </p:txBody>
      </p:sp>
      <p:sp>
        <p:nvSpPr>
          <p:cNvPr id="14" name="a1f_cell13"/>
          <p:cNvSpPr txBox="1"/>
          <p:nvPr/>
        </p:nvSpPr>
        <p:spPr>
          <a:xfrm>
            <a:off x="2331720" y="1234440"/>
            <a:ext cx="914400" cy="256032"/>
          </a:xfrm>
          <a:prstGeom prst="rect">
            <a:avLst/>
          </a:prstGeom>
          <a:solidFill>
            <a:srgbClr val="475569"/>
          </a:solidFill>
          <a:ln w="9525">
            <a:solidFill>
              <a:srgbClr val="47556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branch_code</a:t>
            </a:r>
            <a:endParaRPr lang="en-US" sz="1100" dirty="0"/>
          </a:p>
        </p:txBody>
      </p:sp>
      <p:sp>
        <p:nvSpPr>
          <p:cNvPr id="15" name="a1wd200_cell14"/>
          <p:cNvSpPr txBox="1"/>
          <p:nvPr/>
        </p:nvSpPr>
        <p:spPr>
          <a:xfrm>
            <a:off x="2331720" y="1490472"/>
            <a:ext cx="91440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BR03</a:t>
            </a:r>
            <a:endParaRPr lang="en-US" sz="1100" dirty="0"/>
          </a:p>
        </p:txBody>
      </p:sp>
      <p:sp>
        <p:nvSpPr>
          <p:cNvPr id="16" name="a1wd400_cell15"/>
          <p:cNvSpPr txBox="1"/>
          <p:nvPr/>
        </p:nvSpPr>
        <p:spPr>
          <a:xfrm>
            <a:off x="2331720" y="1746504"/>
            <a:ext cx="91440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BR03</a:t>
            </a:r>
            <a:endParaRPr lang="en-US" sz="1100" dirty="0"/>
          </a:p>
        </p:txBody>
      </p:sp>
      <p:sp>
        <p:nvSpPr>
          <p:cNvPr id="17" name="a1wd600_cell16"/>
          <p:cNvSpPr txBox="1"/>
          <p:nvPr/>
        </p:nvSpPr>
        <p:spPr>
          <a:xfrm>
            <a:off x="2331720" y="2002536"/>
            <a:ext cx="91440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BR03</a:t>
            </a:r>
            <a:endParaRPr lang="en-US" sz="1100" dirty="0"/>
          </a:p>
        </p:txBody>
      </p:sp>
      <p:sp>
        <p:nvSpPr>
          <p:cNvPr id="18" name="a1wd800_cell17"/>
          <p:cNvSpPr txBox="1"/>
          <p:nvPr/>
        </p:nvSpPr>
        <p:spPr>
          <a:xfrm>
            <a:off x="2331720" y="2258568"/>
            <a:ext cx="914400" cy="256032"/>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BR03</a:t>
            </a:r>
            <a:endParaRPr lang="en-US" sz="1100" dirty="0"/>
          </a:p>
        </p:txBody>
      </p:sp>
      <p:sp>
        <p:nvSpPr>
          <p:cNvPr id="19" name="a1f_cell18"/>
          <p:cNvSpPr txBox="1"/>
          <p:nvPr/>
        </p:nvSpPr>
        <p:spPr>
          <a:xfrm>
            <a:off x="3246120" y="1234440"/>
            <a:ext cx="1234440" cy="256032"/>
          </a:xfrm>
          <a:prstGeom prst="rect">
            <a:avLst/>
          </a:prstGeom>
          <a:solidFill>
            <a:srgbClr val="DC2626"/>
          </a:solidFill>
          <a:ln w="9525">
            <a:solidFill>
              <a:srgbClr val="DC2626"/>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branch_name</a:t>
            </a:r>
            <a:endParaRPr lang="en-US" sz="1100" dirty="0"/>
          </a:p>
        </p:txBody>
      </p:sp>
      <p:sp>
        <p:nvSpPr>
          <p:cNvPr id="20" name="a1wd200_cell19"/>
          <p:cNvSpPr txBox="1"/>
          <p:nvPr/>
        </p:nvSpPr>
        <p:spPr>
          <a:xfrm>
            <a:off x="3246120" y="1490472"/>
            <a:ext cx="1234440" cy="256032"/>
          </a:xfrm>
          <a:prstGeom prst="rect">
            <a:avLst/>
          </a:prstGeom>
          <a:solidFill>
            <a:srgbClr val="FEE2E2"/>
          </a:solidFill>
          <a:ln w="9525">
            <a:solidFill>
              <a:srgbClr val="CBD5E1"/>
            </a:solidFill>
            <a:prstDash val="solid"/>
          </a:ln>
        </p:spPr>
        <p:txBody>
          <a:bodyPr wrap="square" lIns="0" tIns="0" rIns="0" bIns="0" rtlCol="0" anchor="ctr"/>
          <a:lstStyle/>
          <a:p>
            <a:pPr marL="0" indent="0" algn="ctr">
              <a:buNone/>
            </a:pPr>
            <a:r>
              <a:rPr lang="en-US" sz="1100" b="1" dirty="0">
                <a:solidFill>
                  <a:srgbClr val="DC2626"/>
                </a:solidFill>
                <a:latin typeface="Calibri" pitchFamily="34" charset="0"/>
                <a:ea typeface="Calibri" pitchFamily="34" charset="-122"/>
                <a:cs typeface="Calibri" pitchFamily="34" charset="-120"/>
              </a:rPr>
              <a:t>Koramangala</a:t>
            </a:r>
            <a:endParaRPr lang="en-US" sz="1100" dirty="0"/>
          </a:p>
        </p:txBody>
      </p:sp>
      <p:sp>
        <p:nvSpPr>
          <p:cNvPr id="21" name="a1wd400_cell20"/>
          <p:cNvSpPr txBox="1"/>
          <p:nvPr/>
        </p:nvSpPr>
        <p:spPr>
          <a:xfrm>
            <a:off x="3246120" y="1746504"/>
            <a:ext cx="1234440" cy="256032"/>
          </a:xfrm>
          <a:prstGeom prst="rect">
            <a:avLst/>
          </a:prstGeom>
          <a:solidFill>
            <a:srgbClr val="FEE2E2"/>
          </a:solidFill>
          <a:ln w="9525">
            <a:solidFill>
              <a:srgbClr val="CBD5E1"/>
            </a:solidFill>
            <a:prstDash val="solid"/>
          </a:ln>
        </p:spPr>
        <p:txBody>
          <a:bodyPr wrap="square" lIns="0" tIns="0" rIns="0" bIns="0" rtlCol="0" anchor="ctr"/>
          <a:lstStyle/>
          <a:p>
            <a:pPr marL="0" indent="0" algn="ctr">
              <a:buNone/>
            </a:pPr>
            <a:r>
              <a:rPr lang="en-US" sz="1100" b="1" dirty="0">
                <a:solidFill>
                  <a:srgbClr val="DC2626"/>
                </a:solidFill>
                <a:latin typeface="Calibri" pitchFamily="34" charset="0"/>
                <a:ea typeface="Calibri" pitchFamily="34" charset="-122"/>
                <a:cs typeface="Calibri" pitchFamily="34" charset="-120"/>
              </a:rPr>
              <a:t>Koramangla</a:t>
            </a:r>
            <a:endParaRPr lang="en-US" sz="1100" dirty="0"/>
          </a:p>
        </p:txBody>
      </p:sp>
      <p:sp>
        <p:nvSpPr>
          <p:cNvPr id="22" name="a1wd600_cell21"/>
          <p:cNvSpPr txBox="1"/>
          <p:nvPr/>
        </p:nvSpPr>
        <p:spPr>
          <a:xfrm>
            <a:off x="3246120" y="2002536"/>
            <a:ext cx="1234440" cy="256032"/>
          </a:xfrm>
          <a:prstGeom prst="rect">
            <a:avLst/>
          </a:prstGeom>
          <a:solidFill>
            <a:srgbClr val="FEE2E2"/>
          </a:solidFill>
          <a:ln w="9525">
            <a:solidFill>
              <a:srgbClr val="CBD5E1"/>
            </a:solidFill>
            <a:prstDash val="solid"/>
          </a:ln>
        </p:spPr>
        <p:txBody>
          <a:bodyPr wrap="square" lIns="0" tIns="0" rIns="0" bIns="0" rtlCol="0" anchor="ctr"/>
          <a:lstStyle/>
          <a:p>
            <a:pPr marL="0" indent="0" algn="ctr">
              <a:buNone/>
            </a:pPr>
            <a:r>
              <a:rPr lang="en-US" sz="1100" b="1" dirty="0">
                <a:solidFill>
                  <a:srgbClr val="DC2626"/>
                </a:solidFill>
                <a:latin typeface="Calibri" pitchFamily="34" charset="0"/>
                <a:ea typeface="Calibri" pitchFamily="34" charset="-122"/>
                <a:cs typeface="Calibri" pitchFamily="34" charset="-120"/>
              </a:rPr>
              <a:t>Kormangala</a:t>
            </a:r>
            <a:endParaRPr lang="en-US" sz="1100" dirty="0"/>
          </a:p>
        </p:txBody>
      </p:sp>
      <p:sp>
        <p:nvSpPr>
          <p:cNvPr id="23" name="a1wd800_cell22"/>
          <p:cNvSpPr txBox="1"/>
          <p:nvPr/>
        </p:nvSpPr>
        <p:spPr>
          <a:xfrm>
            <a:off x="3246120" y="2258568"/>
            <a:ext cx="1234440" cy="256032"/>
          </a:xfrm>
          <a:prstGeom prst="rect">
            <a:avLst/>
          </a:prstGeom>
          <a:solidFill>
            <a:srgbClr val="FEE2E2"/>
          </a:solidFill>
          <a:ln w="9525">
            <a:solidFill>
              <a:srgbClr val="CBD5E1"/>
            </a:solidFill>
            <a:prstDash val="solid"/>
          </a:ln>
        </p:spPr>
        <p:txBody>
          <a:bodyPr wrap="square" lIns="0" tIns="0" rIns="0" bIns="0" rtlCol="0" anchor="ctr"/>
          <a:lstStyle/>
          <a:p>
            <a:pPr marL="0" indent="0" algn="ctr">
              <a:buNone/>
            </a:pPr>
            <a:r>
              <a:rPr lang="en-US" sz="1100" b="1" dirty="0">
                <a:solidFill>
                  <a:srgbClr val="DC2626"/>
                </a:solidFill>
                <a:latin typeface="Calibri" pitchFamily="34" charset="0"/>
                <a:ea typeface="Calibri" pitchFamily="34" charset="-122"/>
                <a:cs typeface="Calibri" pitchFamily="34" charset="-120"/>
              </a:rPr>
              <a:t>'Koramangala '</a:t>
            </a:r>
            <a:endParaRPr lang="en-US" sz="1100" dirty="0"/>
          </a:p>
        </p:txBody>
      </p:sp>
      <p:sp>
        <p:nvSpPr>
          <p:cNvPr id="24" name="a2f_c123"/>
          <p:cNvSpPr txBox="1"/>
          <p:nvPr/>
        </p:nvSpPr>
        <p:spPr>
          <a:xfrm>
            <a:off x="4937760" y="1325880"/>
            <a:ext cx="1143000" cy="365760"/>
          </a:xfrm>
          <a:prstGeom prst="roundRect">
            <a:avLst>
              <a:gd name="adj" fmla="val 50000"/>
            </a:avLst>
          </a:prstGeom>
          <a:solidFill>
            <a:srgbClr val="0F766E"/>
          </a:solidFill>
          <a:ln w="12700">
            <a:solidFill>
              <a:srgbClr val="0F766E"/>
            </a:solidFill>
            <a:prstDash val="solid"/>
          </a:ln>
        </p:spPr>
        <p:txBody>
          <a:bodyPr wrap="square" lIns="0" tIns="0" rIns="0" bIns="0"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customer_id</a:t>
            </a:r>
            <a:endParaRPr lang="en-US" sz="1050" dirty="0"/>
          </a:p>
        </p:txBody>
      </p:sp>
      <p:sp>
        <p:nvSpPr>
          <p:cNvPr id="25" name="a2f_a124"/>
          <p:cNvSpPr/>
          <p:nvPr/>
        </p:nvSpPr>
        <p:spPr>
          <a:xfrm>
            <a:off x="6144768" y="1417320"/>
            <a:ext cx="320040" cy="182880"/>
          </a:xfrm>
          <a:prstGeom prst="rightArrow">
            <a:avLst/>
          </a:prstGeom>
          <a:solidFill>
            <a:srgbClr val="0F766E"/>
          </a:solidFill>
          <a:ln>
            <a:noFill/>
          </a:ln>
        </p:spPr>
      </p:sp>
      <p:sp>
        <p:nvSpPr>
          <p:cNvPr id="26" name="a2f_c225"/>
          <p:cNvSpPr txBox="1"/>
          <p:nvPr/>
        </p:nvSpPr>
        <p:spPr>
          <a:xfrm>
            <a:off x="6510528" y="1325880"/>
            <a:ext cx="1005840" cy="365760"/>
          </a:xfrm>
          <a:prstGeom prst="roundRect">
            <a:avLst>
              <a:gd name="adj" fmla="val 50000"/>
            </a:avLst>
          </a:prstGeom>
          <a:solidFill>
            <a:srgbClr val="475569"/>
          </a:solidFill>
          <a:ln w="12700">
            <a:solidFill>
              <a:srgbClr val="475569"/>
            </a:solidFill>
            <a:prstDash val="solid"/>
          </a:ln>
        </p:spPr>
        <p:txBody>
          <a:bodyPr wrap="square" lIns="0" tIns="0" rIns="0" bIns="0"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branch_code</a:t>
            </a:r>
            <a:endParaRPr lang="en-US" sz="1050" dirty="0"/>
          </a:p>
        </p:txBody>
      </p:sp>
      <p:sp>
        <p:nvSpPr>
          <p:cNvPr id="27" name="a3f_a226"/>
          <p:cNvSpPr/>
          <p:nvPr/>
        </p:nvSpPr>
        <p:spPr>
          <a:xfrm>
            <a:off x="6922008" y="1737360"/>
            <a:ext cx="182880" cy="256032"/>
          </a:xfrm>
          <a:prstGeom prst="downArrow">
            <a:avLst/>
          </a:prstGeom>
          <a:solidFill>
            <a:srgbClr val="DC2626"/>
          </a:solidFill>
          <a:ln>
            <a:noFill/>
          </a:ln>
        </p:spPr>
      </p:sp>
      <p:sp>
        <p:nvSpPr>
          <p:cNvPr id="28" name="a3f_c327"/>
          <p:cNvSpPr txBox="1"/>
          <p:nvPr/>
        </p:nvSpPr>
        <p:spPr>
          <a:xfrm>
            <a:off x="6419088" y="2029968"/>
            <a:ext cx="1188720" cy="365760"/>
          </a:xfrm>
          <a:prstGeom prst="roundRect">
            <a:avLst>
              <a:gd name="adj" fmla="val 50000"/>
            </a:avLst>
          </a:prstGeom>
          <a:solidFill>
            <a:srgbClr val="DC2626"/>
          </a:solidFill>
          <a:ln w="12700">
            <a:solidFill>
              <a:srgbClr val="DC2626"/>
            </a:solidFill>
            <a:prstDash val="solid"/>
          </a:ln>
        </p:spPr>
        <p:txBody>
          <a:bodyPr wrap="square" lIns="0" tIns="0" rIns="0" bIns="0"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branch_name</a:t>
            </a:r>
            <a:endParaRPr lang="en-US" sz="1050" dirty="0"/>
          </a:p>
        </p:txBody>
      </p:sp>
      <p:sp>
        <p:nvSpPr>
          <p:cNvPr id="29" name="a3f_tt28"/>
          <p:cNvSpPr txBox="1"/>
          <p:nvPr/>
        </p:nvSpPr>
        <p:spPr>
          <a:xfrm>
            <a:off x="4937760" y="1993392"/>
            <a:ext cx="1417320" cy="457200"/>
          </a:xfrm>
          <a:prstGeom prst="rect">
            <a:avLst/>
          </a:prstGeom>
          <a:noFill/>
          <a:ln/>
        </p:spPr>
        <p:txBody>
          <a:bodyPr wrap="square" lIns="0" tIns="0" rIns="0" bIns="0" rtlCol="0" anchor="ctr"/>
          <a:lstStyle/>
          <a:p>
            <a:pPr marL="0" indent="0">
              <a:buNone/>
            </a:pPr>
            <a:r>
              <a:rPr lang="en-US" sz="1000" b="1" i="1" dirty="0">
                <a:solidFill>
                  <a:srgbClr val="DC2626"/>
                </a:solidFill>
                <a:latin typeface="Calibri" pitchFamily="34" charset="0"/>
                <a:ea typeface="Calibri" pitchFamily="34" charset="-122"/>
                <a:cs typeface="Calibri" pitchFamily="34" charset="-120"/>
              </a:rPr>
              <a:t>transitive — branch_name is a fact about the branch</a:t>
            </a:r>
            <a:endParaRPr lang="en-US" sz="1000" dirty="0"/>
          </a:p>
        </p:txBody>
      </p:sp>
      <p:sp>
        <p:nvSpPr>
          <p:cNvPr id="30" name="a4f_fx29"/>
          <p:cNvSpPr txBox="1"/>
          <p:nvPr/>
        </p:nvSpPr>
        <p:spPr>
          <a:xfrm>
            <a:off x="457200" y="2651760"/>
            <a:ext cx="1828800" cy="274320"/>
          </a:xfrm>
          <a:prstGeom prst="rect">
            <a:avLst/>
          </a:prstGeom>
          <a:noFill/>
          <a:ln/>
        </p:spPr>
        <p:txBody>
          <a:bodyPr wrap="square" lIns="0" tIns="0" rIns="0" bIns="0" rtlCol="0" anchor="ctr"/>
          <a:lstStyle/>
          <a:p>
            <a:pPr marL="0" indent="0">
              <a:buNone/>
            </a:pPr>
            <a:r>
              <a:rPr lang="en-US" sz="1000" b="1" kern="0" spc="150" dirty="0">
                <a:solidFill>
                  <a:srgbClr val="6D28D9"/>
                </a:solidFill>
                <a:latin typeface="Calibri" pitchFamily="34" charset="0"/>
                <a:ea typeface="Calibri" pitchFamily="34" charset="-122"/>
                <a:cs typeface="Calibri" pitchFamily="34" charset="-120"/>
              </a:rPr>
              <a:t>THE FIX</a:t>
            </a:r>
            <a:endParaRPr lang="en-US" sz="1000" dirty="0"/>
          </a:p>
        </p:txBody>
      </p:sp>
      <p:sp>
        <p:nvSpPr>
          <p:cNvPr id="31" name="a4f_e30"/>
          <p:cNvSpPr txBox="1"/>
          <p:nvPr/>
        </p:nvSpPr>
        <p:spPr>
          <a:xfrm>
            <a:off x="457200" y="2926080"/>
            <a:ext cx="2194560" cy="274320"/>
          </a:xfrm>
          <a:prstGeom prst="rect">
            <a:avLst/>
          </a:prstGeom>
          <a:solidFill>
            <a:srgbClr val="0F766E"/>
          </a:solidFill>
          <a:ln w="9525">
            <a:solidFill>
              <a:srgbClr val="0F766E"/>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customer</a:t>
            </a:r>
            <a:endParaRPr lang="en-US" sz="1100" dirty="0"/>
          </a:p>
        </p:txBody>
      </p:sp>
      <p:sp>
        <p:nvSpPr>
          <p:cNvPr id="32" name="a4f_e31"/>
          <p:cNvSpPr txBox="1"/>
          <p:nvPr/>
        </p:nvSpPr>
        <p:spPr>
          <a:xfrm>
            <a:off x="457200" y="3200400"/>
            <a:ext cx="219456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customer_id</a:t>
            </a:r>
            <a:endParaRPr lang="en-US" sz="950" dirty="0"/>
          </a:p>
        </p:txBody>
      </p:sp>
      <p:sp>
        <p:nvSpPr>
          <p:cNvPr id="33" name="a4f_e32"/>
          <p:cNvSpPr txBox="1"/>
          <p:nvPr/>
        </p:nvSpPr>
        <p:spPr>
          <a:xfrm>
            <a:off x="2084832" y="3200400"/>
            <a:ext cx="512064" cy="219456"/>
          </a:xfrm>
          <a:prstGeom prst="rect">
            <a:avLst/>
          </a:prstGeom>
          <a:noFill/>
          <a:ln/>
        </p:spPr>
        <p:txBody>
          <a:bodyPr wrap="square" lIns="0" tIns="0" rIns="0" bIns="0" rtlCol="0" anchor="ctr"/>
          <a:lstStyle/>
          <a:p>
            <a:pPr marL="0" indent="0" algn="r">
              <a:buNone/>
            </a:pPr>
            <a:r>
              <a:rPr lang="en-US" sz="850" b="1" dirty="0">
                <a:solidFill>
                  <a:srgbClr val="6D28D9"/>
                </a:solidFill>
                <a:latin typeface="Calibri" pitchFamily="34" charset="0"/>
                <a:ea typeface="Calibri" pitchFamily="34" charset="-122"/>
                <a:cs typeface="Calibri" pitchFamily="34" charset="-120"/>
              </a:rPr>
              <a:t>PK</a:t>
            </a:r>
            <a:endParaRPr lang="en-US" sz="850" dirty="0"/>
          </a:p>
        </p:txBody>
      </p:sp>
      <p:sp>
        <p:nvSpPr>
          <p:cNvPr id="34" name="a4f_e33"/>
          <p:cNvSpPr txBox="1"/>
          <p:nvPr/>
        </p:nvSpPr>
        <p:spPr>
          <a:xfrm>
            <a:off x="457200" y="3419856"/>
            <a:ext cx="219456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first_name</a:t>
            </a:r>
            <a:endParaRPr lang="en-US" sz="950" dirty="0"/>
          </a:p>
        </p:txBody>
      </p:sp>
      <p:sp>
        <p:nvSpPr>
          <p:cNvPr id="35" name="a4f_e34"/>
          <p:cNvSpPr txBox="1"/>
          <p:nvPr/>
        </p:nvSpPr>
        <p:spPr>
          <a:xfrm>
            <a:off x="457200" y="3639312"/>
            <a:ext cx="219456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home_branch_id</a:t>
            </a:r>
            <a:endParaRPr lang="en-US" sz="950" dirty="0"/>
          </a:p>
        </p:txBody>
      </p:sp>
      <p:sp>
        <p:nvSpPr>
          <p:cNvPr id="36" name="a4f_e35"/>
          <p:cNvSpPr txBox="1"/>
          <p:nvPr/>
        </p:nvSpPr>
        <p:spPr>
          <a:xfrm>
            <a:off x="2084832" y="3639312"/>
            <a:ext cx="512064" cy="219456"/>
          </a:xfrm>
          <a:prstGeom prst="rect">
            <a:avLst/>
          </a:prstGeom>
          <a:noFill/>
          <a:ln/>
        </p:spPr>
        <p:txBody>
          <a:bodyPr wrap="square" lIns="0" tIns="0" rIns="0" bIns="0" rtlCol="0" anchor="ctr"/>
          <a:lstStyle/>
          <a:p>
            <a:pPr marL="0" indent="0" algn="r">
              <a:buNone/>
            </a:pPr>
            <a:r>
              <a:rPr lang="en-US" sz="850" b="1" dirty="0">
                <a:solidFill>
                  <a:srgbClr val="B45309"/>
                </a:solidFill>
                <a:latin typeface="Calibri" pitchFamily="34" charset="0"/>
                <a:ea typeface="Calibri" pitchFamily="34" charset="-122"/>
                <a:cs typeface="Calibri" pitchFamily="34" charset="-120"/>
              </a:rPr>
              <a:t>FK</a:t>
            </a:r>
            <a:endParaRPr lang="en-US" sz="850" dirty="0"/>
          </a:p>
        </p:txBody>
      </p:sp>
      <p:sp>
        <p:nvSpPr>
          <p:cNvPr id="37" name="a4f_e36"/>
          <p:cNvSpPr txBox="1"/>
          <p:nvPr/>
        </p:nvSpPr>
        <p:spPr>
          <a:xfrm>
            <a:off x="3566160" y="2926080"/>
            <a:ext cx="2194560" cy="274320"/>
          </a:xfrm>
          <a:prstGeom prst="rect">
            <a:avLst/>
          </a:prstGeom>
          <a:solidFill>
            <a:srgbClr val="B45309"/>
          </a:solidFill>
          <a:ln w="9525">
            <a:solidFill>
              <a:srgbClr val="B4530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branch</a:t>
            </a:r>
            <a:endParaRPr lang="en-US" sz="1100" dirty="0"/>
          </a:p>
        </p:txBody>
      </p:sp>
      <p:sp>
        <p:nvSpPr>
          <p:cNvPr id="38" name="a4f_e37"/>
          <p:cNvSpPr txBox="1"/>
          <p:nvPr/>
        </p:nvSpPr>
        <p:spPr>
          <a:xfrm>
            <a:off x="3566160" y="3200400"/>
            <a:ext cx="219456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branch_id</a:t>
            </a:r>
            <a:endParaRPr lang="en-US" sz="950" dirty="0"/>
          </a:p>
        </p:txBody>
      </p:sp>
      <p:sp>
        <p:nvSpPr>
          <p:cNvPr id="39" name="a4f_e38"/>
          <p:cNvSpPr txBox="1"/>
          <p:nvPr/>
        </p:nvSpPr>
        <p:spPr>
          <a:xfrm>
            <a:off x="5193792" y="3200400"/>
            <a:ext cx="512064" cy="219456"/>
          </a:xfrm>
          <a:prstGeom prst="rect">
            <a:avLst/>
          </a:prstGeom>
          <a:noFill/>
          <a:ln/>
        </p:spPr>
        <p:txBody>
          <a:bodyPr wrap="square" lIns="0" tIns="0" rIns="0" bIns="0" rtlCol="0" anchor="ctr"/>
          <a:lstStyle/>
          <a:p>
            <a:pPr marL="0" indent="0" algn="r">
              <a:buNone/>
            </a:pPr>
            <a:r>
              <a:rPr lang="en-US" sz="850" b="1" dirty="0">
                <a:solidFill>
                  <a:srgbClr val="6D28D9"/>
                </a:solidFill>
                <a:latin typeface="Calibri" pitchFamily="34" charset="0"/>
                <a:ea typeface="Calibri" pitchFamily="34" charset="-122"/>
                <a:cs typeface="Calibri" pitchFamily="34" charset="-120"/>
              </a:rPr>
              <a:t>PK</a:t>
            </a:r>
            <a:endParaRPr lang="en-US" sz="850" dirty="0"/>
          </a:p>
        </p:txBody>
      </p:sp>
      <p:sp>
        <p:nvSpPr>
          <p:cNvPr id="40" name="a4f_e39"/>
          <p:cNvSpPr txBox="1"/>
          <p:nvPr/>
        </p:nvSpPr>
        <p:spPr>
          <a:xfrm>
            <a:off x="3566160" y="3419856"/>
            <a:ext cx="219456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branch_name</a:t>
            </a:r>
            <a:endParaRPr lang="en-US" sz="950" dirty="0"/>
          </a:p>
        </p:txBody>
      </p:sp>
      <p:sp>
        <p:nvSpPr>
          <p:cNvPr id="41" name="a4f_e40"/>
          <p:cNvSpPr txBox="1"/>
          <p:nvPr/>
        </p:nvSpPr>
        <p:spPr>
          <a:xfrm>
            <a:off x="3566160" y="3639312"/>
            <a:ext cx="219456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ifsc_code</a:t>
            </a:r>
            <a:endParaRPr lang="en-US" sz="950" dirty="0"/>
          </a:p>
        </p:txBody>
      </p:sp>
      <p:cxnSp>
        <p:nvCxnSpPr>
          <p:cNvPr id="42" name="a4f_r41"/>
          <p:cNvCxnSpPr/>
          <p:nvPr/>
        </p:nvCxnSpPr>
        <p:spPr>
          <a:xfrm flipV="1">
            <a:off x="2651760" y="3310128"/>
            <a:ext cx="914400" cy="438912"/>
          </a:xfrm>
          <a:prstGeom prst="line">
            <a:avLst/>
          </a:prstGeom>
          <a:ln w="15875">
            <a:solidFill>
              <a:srgbClr val="0F172A"/>
            </a:solidFill>
          </a:ln>
        </p:spPr>
      </p:cxnSp>
      <p:cxnSp>
        <p:nvCxnSpPr>
          <p:cNvPr id="43" name="a4f_r42"/>
          <p:cNvCxnSpPr/>
          <p:nvPr/>
        </p:nvCxnSpPr>
        <p:spPr>
          <a:xfrm flipH="1">
            <a:off x="2691329" y="3677816"/>
            <a:ext cx="108815" cy="153659"/>
          </a:xfrm>
          <a:prstGeom prst="line">
            <a:avLst/>
          </a:prstGeom>
          <a:ln w="15875">
            <a:solidFill>
              <a:srgbClr val="0F172A"/>
            </a:solidFill>
          </a:ln>
        </p:spPr>
      </p:cxnSp>
      <p:cxnSp>
        <p:nvCxnSpPr>
          <p:cNvPr id="44" name="a4f_r43"/>
          <p:cNvCxnSpPr/>
          <p:nvPr/>
        </p:nvCxnSpPr>
        <p:spPr>
          <a:xfrm flipH="1" flipV="1">
            <a:off x="2612191" y="3666605"/>
            <a:ext cx="187952" cy="11211"/>
          </a:xfrm>
          <a:prstGeom prst="line">
            <a:avLst/>
          </a:prstGeom>
          <a:ln w="15875">
            <a:solidFill>
              <a:srgbClr val="0F172A"/>
            </a:solidFill>
          </a:ln>
        </p:spPr>
      </p:cxnSp>
      <p:sp>
        <p:nvSpPr>
          <p:cNvPr id="45" name="a4f_r44"/>
          <p:cNvSpPr/>
          <p:nvPr/>
        </p:nvSpPr>
        <p:spPr>
          <a:xfrm>
            <a:off x="2840530" y="3583998"/>
            <a:ext cx="100584" cy="100584"/>
          </a:xfrm>
          <a:prstGeom prst="ellipse">
            <a:avLst/>
          </a:prstGeom>
          <a:solidFill>
            <a:srgbClr val="FFFFFF"/>
          </a:solidFill>
          <a:ln w="15875">
            <a:solidFill>
              <a:srgbClr val="0F172A"/>
            </a:solidFill>
            <a:prstDash val="solid"/>
          </a:ln>
        </p:spPr>
      </p:sp>
      <p:cxnSp>
        <p:nvCxnSpPr>
          <p:cNvPr id="46" name="a4f_r45"/>
          <p:cNvCxnSpPr/>
          <p:nvPr/>
        </p:nvCxnSpPr>
        <p:spPr>
          <a:xfrm>
            <a:off x="3472843" y="3263635"/>
            <a:ext cx="71224" cy="148383"/>
          </a:xfrm>
          <a:prstGeom prst="line">
            <a:avLst/>
          </a:prstGeom>
          <a:ln w="15875">
            <a:solidFill>
              <a:srgbClr val="0F172A"/>
            </a:solidFill>
          </a:ln>
        </p:spPr>
      </p:cxnSp>
      <p:cxnSp>
        <p:nvCxnSpPr>
          <p:cNvPr id="47" name="a4f_r46"/>
          <p:cNvCxnSpPr/>
          <p:nvPr/>
        </p:nvCxnSpPr>
        <p:spPr>
          <a:xfrm>
            <a:off x="3415139" y="3291333"/>
            <a:ext cx="71224" cy="148383"/>
          </a:xfrm>
          <a:prstGeom prst="line">
            <a:avLst/>
          </a:prstGeom>
          <a:ln w="15875">
            <a:solidFill>
              <a:srgbClr val="0F172A"/>
            </a:solidFill>
          </a:ln>
        </p:spPr>
      </p:cxnSp>
      <p:sp>
        <p:nvSpPr>
          <p:cNvPr id="48" name="a5u_tb47"/>
          <p:cNvSpPr/>
          <p:nvPr/>
        </p:nvSpPr>
        <p:spPr>
          <a:xfrm>
            <a:off x="6035040" y="2926080"/>
            <a:ext cx="2651760" cy="1463040"/>
          </a:xfrm>
          <a:prstGeom prst="roundRect">
            <a:avLst>
              <a:gd name="adj" fmla="val 5926"/>
            </a:avLst>
          </a:prstGeom>
          <a:solidFill>
            <a:srgbClr val="6D28D9"/>
          </a:solidFill>
          <a:ln w="12700">
            <a:solidFill>
              <a:srgbClr val="6D28D9"/>
            </a:solidFill>
            <a:prstDash val="solid"/>
          </a:ln>
        </p:spPr>
      </p:sp>
      <p:sp>
        <p:nvSpPr>
          <p:cNvPr id="49" name="a5u_tt48"/>
          <p:cNvSpPr txBox="1"/>
          <p:nvPr/>
        </p:nvSpPr>
        <p:spPr>
          <a:xfrm>
            <a:off x="6217920" y="2926080"/>
            <a:ext cx="2331720" cy="14630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The name is stored once. It cannot have four spellings. Renaming = a one-row UPDATE.</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22" presetClass="entr" presetSubtype="8" fill="hold" grpId="0" nodeType="withEffect">
                                  <p:stCondLst>
                                    <p:cond delay="20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par>
                                <p:cTn id="11" presetID="22" presetClass="entr" presetSubtype="8" fill="hold" grpId="0" nodeType="withEffect">
                                  <p:stCondLst>
                                    <p:cond delay="40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par>
                                <p:cTn id="14" presetID="22" presetClass="entr" presetSubtype="8" fill="hold" grpId="0" nodeType="withEffect">
                                  <p:stCondLst>
                                    <p:cond delay="60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par>
                                <p:cTn id="17" presetID="22" presetClass="entr" presetSubtype="8" fill="hold" grpId="0" nodeType="withEffect">
                                  <p:stCondLst>
                                    <p:cond delay="80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22" presetClass="entr" presetSubtype="8" fill="hold" grpId="0" nodeType="withEffect">
                                  <p:stCondLst>
                                    <p:cond delay="20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500"/>
                                        <p:tgtEl>
                                          <p:spTgt spid="10"/>
                                        </p:tgtEl>
                                      </p:cBhvr>
                                    </p:animEffect>
                                  </p:childTnLst>
                                </p:cTn>
                              </p:par>
                              <p:par>
                                <p:cTn id="26" presetID="22" presetClass="entr" presetSubtype="8" fill="hold" grpId="0" nodeType="withEffect">
                                  <p:stCondLst>
                                    <p:cond delay="40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500"/>
                                        <p:tgtEl>
                                          <p:spTgt spid="11"/>
                                        </p:tgtEl>
                                      </p:cBhvr>
                                    </p:animEffect>
                                  </p:childTnLst>
                                </p:cTn>
                              </p:par>
                              <p:par>
                                <p:cTn id="29" presetID="22" presetClass="entr" presetSubtype="8" fill="hold" grpId="0" nodeType="withEffect">
                                  <p:stCondLst>
                                    <p:cond delay="60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500"/>
                                        <p:tgtEl>
                                          <p:spTgt spid="12"/>
                                        </p:tgtEl>
                                      </p:cBhvr>
                                    </p:animEffect>
                                  </p:childTnLst>
                                </p:cTn>
                              </p:par>
                              <p:par>
                                <p:cTn id="32" presetID="22" presetClass="entr" presetSubtype="8" fill="hold" grpId="0" nodeType="withEffect">
                                  <p:stCondLst>
                                    <p:cond delay="800"/>
                                  </p:stCondLst>
                                  <p:childTnLst>
                                    <p:set>
                                      <p:cBhvr>
                                        <p:cTn id="33" dur="1" fill="hold">
                                          <p:stCondLst>
                                            <p:cond delay="0"/>
                                          </p:stCondLst>
                                        </p:cTn>
                                        <p:tgtEl>
                                          <p:spTgt spid="13"/>
                                        </p:tgtEl>
                                        <p:attrNameLst>
                                          <p:attrName>style.visibility</p:attrName>
                                        </p:attrNameLst>
                                      </p:cBhvr>
                                      <p:to>
                                        <p:strVal val="visible"/>
                                      </p:to>
                                    </p:set>
                                    <p:animEffect transition="in" filter="wipe(left)">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22" presetClass="entr" presetSubtype="8" fill="hold" grpId="0" nodeType="withEffect">
                                  <p:stCondLst>
                                    <p:cond delay="200"/>
                                  </p:stCondLst>
                                  <p:childTnLst>
                                    <p:set>
                                      <p:cBhvr>
                                        <p:cTn id="39" dur="1" fill="hold">
                                          <p:stCondLst>
                                            <p:cond delay="0"/>
                                          </p:stCondLst>
                                        </p:cTn>
                                        <p:tgtEl>
                                          <p:spTgt spid="15"/>
                                        </p:tgtEl>
                                        <p:attrNameLst>
                                          <p:attrName>style.visibility</p:attrName>
                                        </p:attrNameLst>
                                      </p:cBhvr>
                                      <p:to>
                                        <p:strVal val="visible"/>
                                      </p:to>
                                    </p:set>
                                    <p:animEffect transition="in" filter="wipe(left)">
                                      <p:cBhvr>
                                        <p:cTn id="40" dur="500"/>
                                        <p:tgtEl>
                                          <p:spTgt spid="15"/>
                                        </p:tgtEl>
                                      </p:cBhvr>
                                    </p:animEffect>
                                  </p:childTnLst>
                                </p:cTn>
                              </p:par>
                              <p:par>
                                <p:cTn id="41" presetID="22" presetClass="entr" presetSubtype="8" fill="hold" grpId="0" nodeType="withEffect">
                                  <p:stCondLst>
                                    <p:cond delay="400"/>
                                  </p:stCondLst>
                                  <p:childTnLst>
                                    <p:set>
                                      <p:cBhvr>
                                        <p:cTn id="42" dur="1" fill="hold">
                                          <p:stCondLst>
                                            <p:cond delay="0"/>
                                          </p:stCondLst>
                                        </p:cTn>
                                        <p:tgtEl>
                                          <p:spTgt spid="16"/>
                                        </p:tgtEl>
                                        <p:attrNameLst>
                                          <p:attrName>style.visibility</p:attrName>
                                        </p:attrNameLst>
                                      </p:cBhvr>
                                      <p:to>
                                        <p:strVal val="visible"/>
                                      </p:to>
                                    </p:set>
                                    <p:animEffect transition="in" filter="wipe(left)">
                                      <p:cBhvr>
                                        <p:cTn id="43" dur="500"/>
                                        <p:tgtEl>
                                          <p:spTgt spid="16"/>
                                        </p:tgtEl>
                                      </p:cBhvr>
                                    </p:animEffect>
                                  </p:childTnLst>
                                </p:cTn>
                              </p:par>
                              <p:par>
                                <p:cTn id="44" presetID="22" presetClass="entr" presetSubtype="8" fill="hold" grpId="0" nodeType="withEffect">
                                  <p:stCondLst>
                                    <p:cond delay="600"/>
                                  </p:stCondLst>
                                  <p:childTnLst>
                                    <p:set>
                                      <p:cBhvr>
                                        <p:cTn id="45" dur="1" fill="hold">
                                          <p:stCondLst>
                                            <p:cond delay="0"/>
                                          </p:stCondLst>
                                        </p:cTn>
                                        <p:tgtEl>
                                          <p:spTgt spid="17"/>
                                        </p:tgtEl>
                                        <p:attrNameLst>
                                          <p:attrName>style.visibility</p:attrName>
                                        </p:attrNameLst>
                                      </p:cBhvr>
                                      <p:to>
                                        <p:strVal val="visible"/>
                                      </p:to>
                                    </p:set>
                                    <p:animEffect transition="in" filter="wipe(left)">
                                      <p:cBhvr>
                                        <p:cTn id="46" dur="500"/>
                                        <p:tgtEl>
                                          <p:spTgt spid="17"/>
                                        </p:tgtEl>
                                      </p:cBhvr>
                                    </p:animEffect>
                                  </p:childTnLst>
                                </p:cTn>
                              </p:par>
                              <p:par>
                                <p:cTn id="47" presetID="22" presetClass="entr" presetSubtype="8" fill="hold" grpId="0" nodeType="withEffect">
                                  <p:stCondLst>
                                    <p:cond delay="800"/>
                                  </p:stCondLst>
                                  <p:childTnLst>
                                    <p:set>
                                      <p:cBhvr>
                                        <p:cTn id="48" dur="1" fill="hold">
                                          <p:stCondLst>
                                            <p:cond delay="0"/>
                                          </p:stCondLst>
                                        </p:cTn>
                                        <p:tgtEl>
                                          <p:spTgt spid="18"/>
                                        </p:tgtEl>
                                        <p:attrNameLst>
                                          <p:attrName>style.visibility</p:attrName>
                                        </p:attrNameLst>
                                      </p:cBhvr>
                                      <p:to>
                                        <p:strVal val="visible"/>
                                      </p:to>
                                    </p:set>
                                    <p:animEffect transition="in" filter="wipe(left)">
                                      <p:cBhvr>
                                        <p:cTn id="49" dur="50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par>
                                <p:cTn id="53" presetID="22" presetClass="entr" presetSubtype="8" fill="hold" grpId="0" nodeType="withEffect">
                                  <p:stCondLst>
                                    <p:cond delay="200"/>
                                  </p:stCondLst>
                                  <p:childTnLst>
                                    <p:set>
                                      <p:cBhvr>
                                        <p:cTn id="54" dur="1" fill="hold">
                                          <p:stCondLst>
                                            <p:cond delay="0"/>
                                          </p:stCondLst>
                                        </p:cTn>
                                        <p:tgtEl>
                                          <p:spTgt spid="20"/>
                                        </p:tgtEl>
                                        <p:attrNameLst>
                                          <p:attrName>style.visibility</p:attrName>
                                        </p:attrNameLst>
                                      </p:cBhvr>
                                      <p:to>
                                        <p:strVal val="visible"/>
                                      </p:to>
                                    </p:set>
                                    <p:animEffect transition="in" filter="wipe(left)">
                                      <p:cBhvr>
                                        <p:cTn id="55" dur="500"/>
                                        <p:tgtEl>
                                          <p:spTgt spid="20"/>
                                        </p:tgtEl>
                                      </p:cBhvr>
                                    </p:animEffect>
                                  </p:childTnLst>
                                </p:cTn>
                              </p:par>
                              <p:par>
                                <p:cTn id="56" presetID="22" presetClass="entr" presetSubtype="8" fill="hold" grpId="0" nodeType="withEffect">
                                  <p:stCondLst>
                                    <p:cond delay="400"/>
                                  </p:stCondLst>
                                  <p:childTnLst>
                                    <p:set>
                                      <p:cBhvr>
                                        <p:cTn id="57" dur="1" fill="hold">
                                          <p:stCondLst>
                                            <p:cond delay="0"/>
                                          </p:stCondLst>
                                        </p:cTn>
                                        <p:tgtEl>
                                          <p:spTgt spid="21"/>
                                        </p:tgtEl>
                                        <p:attrNameLst>
                                          <p:attrName>style.visibility</p:attrName>
                                        </p:attrNameLst>
                                      </p:cBhvr>
                                      <p:to>
                                        <p:strVal val="visible"/>
                                      </p:to>
                                    </p:set>
                                    <p:animEffect transition="in" filter="wipe(left)">
                                      <p:cBhvr>
                                        <p:cTn id="58" dur="500"/>
                                        <p:tgtEl>
                                          <p:spTgt spid="21"/>
                                        </p:tgtEl>
                                      </p:cBhvr>
                                    </p:animEffect>
                                  </p:childTnLst>
                                </p:cTn>
                              </p:par>
                              <p:par>
                                <p:cTn id="59" presetID="22" presetClass="entr" presetSubtype="8" fill="hold" grpId="0" nodeType="withEffect">
                                  <p:stCondLst>
                                    <p:cond delay="600"/>
                                  </p:stCondLst>
                                  <p:childTnLst>
                                    <p:set>
                                      <p:cBhvr>
                                        <p:cTn id="60" dur="1" fill="hold">
                                          <p:stCondLst>
                                            <p:cond delay="0"/>
                                          </p:stCondLst>
                                        </p:cTn>
                                        <p:tgtEl>
                                          <p:spTgt spid="22"/>
                                        </p:tgtEl>
                                        <p:attrNameLst>
                                          <p:attrName>style.visibility</p:attrName>
                                        </p:attrNameLst>
                                      </p:cBhvr>
                                      <p:to>
                                        <p:strVal val="visible"/>
                                      </p:to>
                                    </p:set>
                                    <p:animEffect transition="in" filter="wipe(left)">
                                      <p:cBhvr>
                                        <p:cTn id="61" dur="500"/>
                                        <p:tgtEl>
                                          <p:spTgt spid="22"/>
                                        </p:tgtEl>
                                      </p:cBhvr>
                                    </p:animEffect>
                                  </p:childTnLst>
                                </p:cTn>
                              </p:par>
                              <p:par>
                                <p:cTn id="62" presetID="22" presetClass="entr" presetSubtype="8" fill="hold" grpId="0" nodeType="withEffect">
                                  <p:stCondLst>
                                    <p:cond delay="800"/>
                                  </p:stCondLst>
                                  <p:childTnLst>
                                    <p:set>
                                      <p:cBhvr>
                                        <p:cTn id="63" dur="1" fill="hold">
                                          <p:stCondLst>
                                            <p:cond delay="0"/>
                                          </p:stCondLst>
                                        </p:cTn>
                                        <p:tgtEl>
                                          <p:spTgt spid="23"/>
                                        </p:tgtEl>
                                        <p:attrNameLst>
                                          <p:attrName>style.visibility</p:attrName>
                                        </p:attrNameLst>
                                      </p:cBhvr>
                                      <p:to>
                                        <p:strVal val="visible"/>
                                      </p:to>
                                    </p:set>
                                    <p:animEffect transition="in" filter="wipe(left)">
                                      <p:cBhvr>
                                        <p:cTn id="64" dur="500"/>
                                        <p:tgtEl>
                                          <p:spTgt spid="23"/>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500"/>
                                        <p:tgtEl>
                                          <p:spTgt spid="2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500"/>
                                        <p:tgtEl>
                                          <p:spTgt spid="26"/>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500"/>
                                        <p:tgtEl>
                                          <p:spTgt spid="27"/>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500"/>
                                        <p:tgtEl>
                                          <p:spTgt spid="28"/>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fade">
                                      <p:cBhvr>
                                        <p:cTn id="86" dur="500"/>
                                        <p:tgtEl>
                                          <p:spTgt spid="29"/>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500"/>
                                        <p:tgtEl>
                                          <p:spTgt spid="30"/>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500"/>
                                        <p:tgtEl>
                                          <p:spTgt spid="31"/>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500"/>
                                        <p:tgtEl>
                                          <p:spTgt spid="32"/>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500"/>
                                        <p:tgtEl>
                                          <p:spTgt spid="33"/>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3" dur="500"/>
                                        <p:tgtEl>
                                          <p:spTgt spid="34"/>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5"/>
                                        </p:tgtEl>
                                        <p:attrNameLst>
                                          <p:attrName>style.visibility</p:attrName>
                                        </p:attrNameLst>
                                      </p:cBhvr>
                                      <p:to>
                                        <p:strVal val="visible"/>
                                      </p:to>
                                    </p:set>
                                    <p:animEffect transition="in" filter="fade">
                                      <p:cBhvr>
                                        <p:cTn id="106" dur="500"/>
                                        <p:tgtEl>
                                          <p:spTgt spid="35"/>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9" dur="500"/>
                                        <p:tgtEl>
                                          <p:spTgt spid="36"/>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7"/>
                                        </p:tgtEl>
                                        <p:attrNameLst>
                                          <p:attrName>style.visibility</p:attrName>
                                        </p:attrNameLst>
                                      </p:cBhvr>
                                      <p:to>
                                        <p:strVal val="visible"/>
                                      </p:to>
                                    </p:set>
                                    <p:animEffect transition="in" filter="fade">
                                      <p:cBhvr>
                                        <p:cTn id="112" dur="500"/>
                                        <p:tgtEl>
                                          <p:spTgt spid="37"/>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8"/>
                                        </p:tgtEl>
                                        <p:attrNameLst>
                                          <p:attrName>style.visibility</p:attrName>
                                        </p:attrNameLst>
                                      </p:cBhvr>
                                      <p:to>
                                        <p:strVal val="visible"/>
                                      </p:to>
                                    </p:set>
                                    <p:animEffect transition="in" filter="fade">
                                      <p:cBhvr>
                                        <p:cTn id="115" dur="500"/>
                                        <p:tgtEl>
                                          <p:spTgt spid="38"/>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39"/>
                                        </p:tgtEl>
                                        <p:attrNameLst>
                                          <p:attrName>style.visibility</p:attrName>
                                        </p:attrNameLst>
                                      </p:cBhvr>
                                      <p:to>
                                        <p:strVal val="visible"/>
                                      </p:to>
                                    </p:set>
                                    <p:animEffect transition="in" filter="fade">
                                      <p:cBhvr>
                                        <p:cTn id="118" dur="500"/>
                                        <p:tgtEl>
                                          <p:spTgt spid="39"/>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0"/>
                                        </p:tgtEl>
                                        <p:attrNameLst>
                                          <p:attrName>style.visibility</p:attrName>
                                        </p:attrNameLst>
                                      </p:cBhvr>
                                      <p:to>
                                        <p:strVal val="visible"/>
                                      </p:to>
                                    </p:set>
                                    <p:animEffect transition="in" filter="fade">
                                      <p:cBhvr>
                                        <p:cTn id="121" dur="500"/>
                                        <p:tgtEl>
                                          <p:spTgt spid="40"/>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1"/>
                                        </p:tgtEl>
                                        <p:attrNameLst>
                                          <p:attrName>style.visibility</p:attrName>
                                        </p:attrNameLst>
                                      </p:cBhvr>
                                      <p:to>
                                        <p:strVal val="visible"/>
                                      </p:to>
                                    </p:set>
                                    <p:animEffect transition="in" filter="fade">
                                      <p:cBhvr>
                                        <p:cTn id="124" dur="500"/>
                                        <p:tgtEl>
                                          <p:spTgt spid="41"/>
                                        </p:tgtEl>
                                      </p:cBhvr>
                                    </p:animEffect>
                                  </p:childTnLst>
                                </p:cTn>
                              </p:par>
                              <p:par>
                                <p:cTn id="125" presetID="10" presetClass="entr" presetSubtype="0" fill="hold" nodeType="withEffect">
                                  <p:stCondLst>
                                    <p:cond delay="0"/>
                                  </p:stCondLst>
                                  <p:childTnLst>
                                    <p:set>
                                      <p:cBhvr>
                                        <p:cTn id="126" dur="1" fill="hold">
                                          <p:stCondLst>
                                            <p:cond delay="0"/>
                                          </p:stCondLst>
                                        </p:cTn>
                                        <p:tgtEl>
                                          <p:spTgt spid="42"/>
                                        </p:tgtEl>
                                        <p:attrNameLst>
                                          <p:attrName>style.visibility</p:attrName>
                                        </p:attrNameLst>
                                      </p:cBhvr>
                                      <p:to>
                                        <p:strVal val="visible"/>
                                      </p:to>
                                    </p:set>
                                    <p:animEffect transition="in" filter="fade">
                                      <p:cBhvr>
                                        <p:cTn id="127" dur="500"/>
                                        <p:tgtEl>
                                          <p:spTgt spid="42"/>
                                        </p:tgtEl>
                                      </p:cBhvr>
                                    </p:animEffect>
                                  </p:childTnLst>
                                </p:cTn>
                              </p:par>
                              <p:par>
                                <p:cTn id="128" presetID="10" presetClass="entr" presetSubtype="0" fill="hold" nodeType="withEffect">
                                  <p:stCondLst>
                                    <p:cond delay="0"/>
                                  </p:stCondLst>
                                  <p:childTnLst>
                                    <p:set>
                                      <p:cBhvr>
                                        <p:cTn id="129" dur="1" fill="hold">
                                          <p:stCondLst>
                                            <p:cond delay="0"/>
                                          </p:stCondLst>
                                        </p:cTn>
                                        <p:tgtEl>
                                          <p:spTgt spid="43"/>
                                        </p:tgtEl>
                                        <p:attrNameLst>
                                          <p:attrName>style.visibility</p:attrName>
                                        </p:attrNameLst>
                                      </p:cBhvr>
                                      <p:to>
                                        <p:strVal val="visible"/>
                                      </p:to>
                                    </p:set>
                                    <p:animEffect transition="in" filter="fade">
                                      <p:cBhvr>
                                        <p:cTn id="130" dur="500"/>
                                        <p:tgtEl>
                                          <p:spTgt spid="43"/>
                                        </p:tgtEl>
                                      </p:cBhvr>
                                    </p:animEffect>
                                  </p:childTnLst>
                                </p:cTn>
                              </p:par>
                              <p:par>
                                <p:cTn id="131" presetID="10" presetClass="entr" presetSubtype="0" fill="hold" nodeType="withEffect">
                                  <p:stCondLst>
                                    <p:cond delay="0"/>
                                  </p:stCondLst>
                                  <p:childTnLst>
                                    <p:set>
                                      <p:cBhvr>
                                        <p:cTn id="132" dur="1" fill="hold">
                                          <p:stCondLst>
                                            <p:cond delay="0"/>
                                          </p:stCondLst>
                                        </p:cTn>
                                        <p:tgtEl>
                                          <p:spTgt spid="44"/>
                                        </p:tgtEl>
                                        <p:attrNameLst>
                                          <p:attrName>style.visibility</p:attrName>
                                        </p:attrNameLst>
                                      </p:cBhvr>
                                      <p:to>
                                        <p:strVal val="visible"/>
                                      </p:to>
                                    </p:set>
                                    <p:animEffect transition="in" filter="fade">
                                      <p:cBhvr>
                                        <p:cTn id="133" dur="500"/>
                                        <p:tgtEl>
                                          <p:spTgt spid="44"/>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5"/>
                                        </p:tgtEl>
                                        <p:attrNameLst>
                                          <p:attrName>style.visibility</p:attrName>
                                        </p:attrNameLst>
                                      </p:cBhvr>
                                      <p:to>
                                        <p:strVal val="visible"/>
                                      </p:to>
                                    </p:set>
                                    <p:animEffect transition="in" filter="fade">
                                      <p:cBhvr>
                                        <p:cTn id="136" dur="500"/>
                                        <p:tgtEl>
                                          <p:spTgt spid="45"/>
                                        </p:tgtEl>
                                      </p:cBhvr>
                                    </p:animEffect>
                                  </p:childTnLst>
                                </p:cTn>
                              </p:par>
                              <p:par>
                                <p:cTn id="137" presetID="10" presetClass="entr" presetSubtype="0" fill="hold" nodeType="withEffect">
                                  <p:stCondLst>
                                    <p:cond delay="0"/>
                                  </p:stCondLst>
                                  <p:childTnLst>
                                    <p:set>
                                      <p:cBhvr>
                                        <p:cTn id="138" dur="1" fill="hold">
                                          <p:stCondLst>
                                            <p:cond delay="0"/>
                                          </p:stCondLst>
                                        </p:cTn>
                                        <p:tgtEl>
                                          <p:spTgt spid="46"/>
                                        </p:tgtEl>
                                        <p:attrNameLst>
                                          <p:attrName>style.visibility</p:attrName>
                                        </p:attrNameLst>
                                      </p:cBhvr>
                                      <p:to>
                                        <p:strVal val="visible"/>
                                      </p:to>
                                    </p:set>
                                    <p:animEffect transition="in" filter="fade">
                                      <p:cBhvr>
                                        <p:cTn id="139" dur="500"/>
                                        <p:tgtEl>
                                          <p:spTgt spid="46"/>
                                        </p:tgtEl>
                                      </p:cBhvr>
                                    </p:animEffect>
                                  </p:childTnLst>
                                </p:cTn>
                              </p:par>
                              <p:par>
                                <p:cTn id="140" presetID="10" presetClass="entr" presetSubtype="0" fill="hold" nodeType="withEffect">
                                  <p:stCondLst>
                                    <p:cond delay="0"/>
                                  </p:stCondLst>
                                  <p:childTnLst>
                                    <p:set>
                                      <p:cBhvr>
                                        <p:cTn id="141" dur="1" fill="hold">
                                          <p:stCondLst>
                                            <p:cond delay="0"/>
                                          </p:stCondLst>
                                        </p:cTn>
                                        <p:tgtEl>
                                          <p:spTgt spid="47"/>
                                        </p:tgtEl>
                                        <p:attrNameLst>
                                          <p:attrName>style.visibility</p:attrName>
                                        </p:attrNameLst>
                                      </p:cBhvr>
                                      <p:to>
                                        <p:strVal val="visible"/>
                                      </p:to>
                                    </p:set>
                                    <p:animEffect transition="in" filter="fade">
                                      <p:cBhvr>
                                        <p:cTn id="142" dur="500"/>
                                        <p:tgtEl>
                                          <p:spTgt spid="47"/>
                                        </p:tgtEl>
                                      </p:cBhvr>
                                    </p:animEffect>
                                  </p:childTnLst>
                                </p:cTn>
                              </p:par>
                            </p:childTnLst>
                          </p:cTn>
                        </p:par>
                      </p:childTnLst>
                    </p:cTn>
                  </p:par>
                  <p:par>
                    <p:cTn id="143" fill="hold">
                      <p:stCondLst>
                        <p:cond delay="indefinite"/>
                      </p:stCondLst>
                      <p:childTnLst>
                        <p:par>
                          <p:cTn id="144" fill="hold">
                            <p:stCondLst>
                              <p:cond delay="0"/>
                            </p:stCondLst>
                            <p:childTnLst>
                              <p:par>
                                <p:cTn id="145" presetID="2" presetClass="entr" presetSubtype="4" fill="hold" grpId="0" nodeType="clickEffect">
                                  <p:stCondLst>
                                    <p:cond delay="0"/>
                                  </p:stCondLst>
                                  <p:childTnLst>
                                    <p:set>
                                      <p:cBhvr>
                                        <p:cTn id="146" dur="1" fill="hold">
                                          <p:stCondLst>
                                            <p:cond delay="0"/>
                                          </p:stCondLst>
                                        </p:cTn>
                                        <p:tgtEl>
                                          <p:spTgt spid="48"/>
                                        </p:tgtEl>
                                        <p:attrNameLst>
                                          <p:attrName>style.visibility</p:attrName>
                                        </p:attrNameLst>
                                      </p:cBhvr>
                                      <p:to>
                                        <p:strVal val="visible"/>
                                      </p:to>
                                    </p:set>
                                    <p:anim calcmode="lin" valueType="num">
                                      <p:cBhvr additive="base">
                                        <p:cTn id="147" dur="500" fill="hold"/>
                                        <p:tgtEl>
                                          <p:spTgt spid="48"/>
                                        </p:tgtEl>
                                        <p:attrNameLst>
                                          <p:attrName>ppt_x</p:attrName>
                                        </p:attrNameLst>
                                      </p:cBhvr>
                                      <p:tavLst>
                                        <p:tav tm="0">
                                          <p:val>
                                            <p:strVal val="#ppt_x"/>
                                          </p:val>
                                        </p:tav>
                                        <p:tav tm="100000">
                                          <p:val>
                                            <p:strVal val="#ppt_x"/>
                                          </p:val>
                                        </p:tav>
                                      </p:tavLst>
                                    </p:anim>
                                    <p:anim calcmode="lin" valueType="num">
                                      <p:cBhvr additive="base">
                                        <p:cTn id="148" dur="500" fill="hold"/>
                                        <p:tgtEl>
                                          <p:spTgt spid="48"/>
                                        </p:tgtEl>
                                        <p:attrNameLst>
                                          <p:attrName>ppt_y</p:attrName>
                                        </p:attrNameLst>
                                      </p:cBhvr>
                                      <p:tavLst>
                                        <p:tav tm="0">
                                          <p:val>
                                            <p:strVal val="#ppt_y+0.1"/>
                                          </p:val>
                                        </p:tav>
                                        <p:tav tm="100000">
                                          <p:val>
                                            <p:strVal val="#ppt_y"/>
                                          </p:val>
                                        </p:tav>
                                      </p:tavLst>
                                    </p:anim>
                                    <p:animEffect transition="in" filter="fade">
                                      <p:cBhvr>
                                        <p:cTn id="149" dur="500"/>
                                        <p:tgtEl>
                                          <p:spTgt spid="48"/>
                                        </p:tgtEl>
                                      </p:cBhvr>
                                    </p:animEffect>
                                  </p:childTnLst>
                                </p:cTn>
                              </p:par>
                              <p:par>
                                <p:cTn id="150" presetID="2" presetClass="entr" presetSubtype="4" fill="hold" grpId="0" nodeType="withEffect">
                                  <p:stCondLst>
                                    <p:cond delay="0"/>
                                  </p:stCondLst>
                                  <p:childTnLst>
                                    <p:set>
                                      <p:cBhvr>
                                        <p:cTn id="151" dur="1" fill="hold">
                                          <p:stCondLst>
                                            <p:cond delay="0"/>
                                          </p:stCondLst>
                                        </p:cTn>
                                        <p:tgtEl>
                                          <p:spTgt spid="49"/>
                                        </p:tgtEl>
                                        <p:attrNameLst>
                                          <p:attrName>style.visibility</p:attrName>
                                        </p:attrNameLst>
                                      </p:cBhvr>
                                      <p:to>
                                        <p:strVal val="visible"/>
                                      </p:to>
                                    </p:set>
                                    <p:anim calcmode="lin" valueType="num">
                                      <p:cBhvr additive="base">
                                        <p:cTn id="152" dur="500" fill="hold"/>
                                        <p:tgtEl>
                                          <p:spTgt spid="49"/>
                                        </p:tgtEl>
                                        <p:attrNameLst>
                                          <p:attrName>ppt_x</p:attrName>
                                        </p:attrNameLst>
                                      </p:cBhvr>
                                      <p:tavLst>
                                        <p:tav tm="0">
                                          <p:val>
                                            <p:strVal val="#ppt_x"/>
                                          </p:val>
                                        </p:tav>
                                        <p:tav tm="100000">
                                          <p:val>
                                            <p:strVal val="#ppt_x"/>
                                          </p:val>
                                        </p:tav>
                                      </p:tavLst>
                                    </p:anim>
                                    <p:anim calcmode="lin" valueType="num">
                                      <p:cBhvr additive="base">
                                        <p:cTn id="153" dur="500" fill="hold"/>
                                        <p:tgtEl>
                                          <p:spTgt spid="49"/>
                                        </p:tgtEl>
                                        <p:attrNameLst>
                                          <p:attrName>ppt_y</p:attrName>
                                        </p:attrNameLst>
                                      </p:cBhvr>
                                      <p:tavLst>
                                        <p:tav tm="0">
                                          <p:val>
                                            <p:strVal val="#ppt_y+0.1"/>
                                          </p:val>
                                        </p:tav>
                                        <p:tav tm="100000">
                                          <p:val>
                                            <p:strVal val="#ppt_y"/>
                                          </p:val>
                                        </p:tav>
                                      </p:tavLst>
                                    </p:anim>
                                    <p:animEffect transition="in" filter="fade">
                                      <p:cBhvr>
                                        <p:cTn id="154"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5" grpId="0" animBg="1"/>
      <p:bldP spid="48" grpId="0" animBg="1"/>
      <p:bldP spid="49"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1"/>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BCNF — Boyce-Codd Normal Form</a:t>
            </a:r>
            <a:endParaRPr lang="en-US" sz="2800" dirty="0"/>
          </a:p>
        </p:txBody>
      </p:sp>
      <p:sp>
        <p:nvSpPr>
          <p:cNvPr id="3" name="Text 2"/>
          <p:cNvSpPr txBox="1"/>
          <p:nvPr/>
        </p:nvSpPr>
        <p:spPr>
          <a:xfrm>
            <a:off x="457200" y="749808"/>
            <a:ext cx="8229600" cy="320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Rule: every determinant must be a candidate key</a:t>
            </a:r>
            <a:endParaRPr lang="en-US" sz="1300" dirty="0"/>
          </a:p>
        </p:txBody>
      </p:sp>
      <p:sp>
        <p:nvSpPr>
          <p:cNvPr id="4" name="a1f_cell3"/>
          <p:cNvSpPr txBox="1"/>
          <p:nvPr/>
        </p:nvSpPr>
        <p:spPr>
          <a:xfrm>
            <a:off x="457200" y="1280160"/>
            <a:ext cx="868680" cy="246888"/>
          </a:xfrm>
          <a:prstGeom prst="rect">
            <a:avLst/>
          </a:prstGeom>
          <a:solidFill>
            <a:srgbClr val="6D28D9"/>
          </a:solidFill>
          <a:ln w="9525">
            <a:solidFill>
              <a:srgbClr val="6D28D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branch_id</a:t>
            </a:r>
            <a:endParaRPr lang="en-US" sz="1100" dirty="0"/>
          </a:p>
        </p:txBody>
      </p:sp>
      <p:sp>
        <p:nvSpPr>
          <p:cNvPr id="5" name="a1wd200_cell4"/>
          <p:cNvSpPr txBox="1"/>
          <p:nvPr/>
        </p:nvSpPr>
        <p:spPr>
          <a:xfrm>
            <a:off x="457200" y="1527048"/>
            <a:ext cx="86868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a:t>
            </a:r>
            <a:endParaRPr lang="en-US" sz="1100" dirty="0"/>
          </a:p>
        </p:txBody>
      </p:sp>
      <p:sp>
        <p:nvSpPr>
          <p:cNvPr id="6" name="a1wd400_cell5"/>
          <p:cNvSpPr txBox="1"/>
          <p:nvPr/>
        </p:nvSpPr>
        <p:spPr>
          <a:xfrm>
            <a:off x="457200" y="1773936"/>
            <a:ext cx="86868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2</a:t>
            </a:r>
            <a:endParaRPr lang="en-US" sz="1100" dirty="0"/>
          </a:p>
        </p:txBody>
      </p:sp>
      <p:sp>
        <p:nvSpPr>
          <p:cNvPr id="7" name="a1wd600_cell6"/>
          <p:cNvSpPr txBox="1"/>
          <p:nvPr/>
        </p:nvSpPr>
        <p:spPr>
          <a:xfrm>
            <a:off x="457200" y="2020824"/>
            <a:ext cx="86868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a:t>
            </a:r>
            <a:endParaRPr lang="en-US" sz="1100" dirty="0"/>
          </a:p>
        </p:txBody>
      </p:sp>
      <p:sp>
        <p:nvSpPr>
          <p:cNvPr id="8" name="a1wd800_cell7"/>
          <p:cNvSpPr txBox="1"/>
          <p:nvPr/>
        </p:nvSpPr>
        <p:spPr>
          <a:xfrm>
            <a:off x="457200" y="2267712"/>
            <a:ext cx="86868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3</a:t>
            </a:r>
            <a:endParaRPr lang="en-US" sz="1100" dirty="0"/>
          </a:p>
        </p:txBody>
      </p:sp>
      <p:sp>
        <p:nvSpPr>
          <p:cNvPr id="9" name="a1wd1000_cell8"/>
          <p:cNvSpPr txBox="1"/>
          <p:nvPr/>
        </p:nvSpPr>
        <p:spPr>
          <a:xfrm>
            <a:off x="457200" y="2514600"/>
            <a:ext cx="86868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2</a:t>
            </a:r>
            <a:endParaRPr lang="en-US" sz="1100" dirty="0"/>
          </a:p>
        </p:txBody>
      </p:sp>
      <p:sp>
        <p:nvSpPr>
          <p:cNvPr id="10" name="a1f_cell9"/>
          <p:cNvSpPr txBox="1"/>
          <p:nvPr/>
        </p:nvSpPr>
        <p:spPr>
          <a:xfrm>
            <a:off x="1325880" y="1280160"/>
            <a:ext cx="1051560" cy="246888"/>
          </a:xfrm>
          <a:prstGeom prst="rect">
            <a:avLst/>
          </a:prstGeom>
          <a:solidFill>
            <a:srgbClr val="6D28D9"/>
          </a:solidFill>
          <a:ln w="9525">
            <a:solidFill>
              <a:srgbClr val="6D28D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product_code</a:t>
            </a:r>
            <a:endParaRPr lang="en-US" sz="1100" dirty="0"/>
          </a:p>
        </p:txBody>
      </p:sp>
      <p:sp>
        <p:nvSpPr>
          <p:cNvPr id="11" name="a1wd200_cell10"/>
          <p:cNvSpPr txBox="1"/>
          <p:nvPr/>
        </p:nvSpPr>
        <p:spPr>
          <a:xfrm>
            <a:off x="1325880" y="1527048"/>
            <a:ext cx="1051560" cy="246888"/>
          </a:xfrm>
          <a:prstGeom prst="rect">
            <a:avLst/>
          </a:prstGeom>
          <a:solidFill>
            <a:srgbClr val="FFEDD5"/>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HOME</a:t>
            </a:r>
            <a:endParaRPr lang="en-US" sz="1100" dirty="0"/>
          </a:p>
        </p:txBody>
      </p:sp>
      <p:sp>
        <p:nvSpPr>
          <p:cNvPr id="12" name="a1wd400_cell11"/>
          <p:cNvSpPr txBox="1"/>
          <p:nvPr/>
        </p:nvSpPr>
        <p:spPr>
          <a:xfrm>
            <a:off x="1325880" y="1773936"/>
            <a:ext cx="1051560" cy="246888"/>
          </a:xfrm>
          <a:prstGeom prst="rect">
            <a:avLst/>
          </a:prstGeom>
          <a:solidFill>
            <a:srgbClr val="FFEDD5"/>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HOME</a:t>
            </a:r>
            <a:endParaRPr lang="en-US" sz="1100" dirty="0"/>
          </a:p>
        </p:txBody>
      </p:sp>
      <p:sp>
        <p:nvSpPr>
          <p:cNvPr id="13" name="a1wd600_cell12"/>
          <p:cNvSpPr txBox="1"/>
          <p:nvPr/>
        </p:nvSpPr>
        <p:spPr>
          <a:xfrm>
            <a:off x="1325880" y="2020824"/>
            <a:ext cx="105156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AUTO</a:t>
            </a:r>
            <a:endParaRPr lang="en-US" sz="1100" dirty="0"/>
          </a:p>
        </p:txBody>
      </p:sp>
      <p:sp>
        <p:nvSpPr>
          <p:cNvPr id="14" name="a1wd800_cell13"/>
          <p:cNvSpPr txBox="1"/>
          <p:nvPr/>
        </p:nvSpPr>
        <p:spPr>
          <a:xfrm>
            <a:off x="1325880" y="2267712"/>
            <a:ext cx="105156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AUTO</a:t>
            </a:r>
            <a:endParaRPr lang="en-US" sz="1100" dirty="0"/>
          </a:p>
        </p:txBody>
      </p:sp>
      <p:sp>
        <p:nvSpPr>
          <p:cNvPr id="15" name="a1wd1000_cell14"/>
          <p:cNvSpPr txBox="1"/>
          <p:nvPr/>
        </p:nvSpPr>
        <p:spPr>
          <a:xfrm>
            <a:off x="1325880" y="2514600"/>
            <a:ext cx="105156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CARD</a:t>
            </a:r>
            <a:endParaRPr lang="en-US" sz="1100" dirty="0"/>
          </a:p>
        </p:txBody>
      </p:sp>
      <p:sp>
        <p:nvSpPr>
          <p:cNvPr id="16" name="a1f_cell15"/>
          <p:cNvSpPr txBox="1"/>
          <p:nvPr/>
        </p:nvSpPr>
        <p:spPr>
          <a:xfrm>
            <a:off x="2377440" y="1280160"/>
            <a:ext cx="777240" cy="246888"/>
          </a:xfrm>
          <a:prstGeom prst="rect">
            <a:avLst/>
          </a:prstGeom>
          <a:solidFill>
            <a:srgbClr val="475569"/>
          </a:solidFill>
          <a:ln w="9525">
            <a:solidFill>
              <a:srgbClr val="47556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rm_id</a:t>
            </a:r>
            <a:endParaRPr lang="en-US" sz="1100" dirty="0"/>
          </a:p>
        </p:txBody>
      </p:sp>
      <p:sp>
        <p:nvSpPr>
          <p:cNvPr id="17" name="a1wd200_cell16"/>
          <p:cNvSpPr txBox="1"/>
          <p:nvPr/>
        </p:nvSpPr>
        <p:spPr>
          <a:xfrm>
            <a:off x="2377440" y="1527048"/>
            <a:ext cx="777240" cy="246888"/>
          </a:xfrm>
          <a:prstGeom prst="rect">
            <a:avLst/>
          </a:prstGeom>
          <a:solidFill>
            <a:srgbClr val="FFEDD5"/>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701</a:t>
            </a:r>
            <a:endParaRPr lang="en-US" sz="1100" dirty="0"/>
          </a:p>
        </p:txBody>
      </p:sp>
      <p:sp>
        <p:nvSpPr>
          <p:cNvPr id="18" name="a1wd400_cell17"/>
          <p:cNvSpPr txBox="1"/>
          <p:nvPr/>
        </p:nvSpPr>
        <p:spPr>
          <a:xfrm>
            <a:off x="2377440" y="1773936"/>
            <a:ext cx="777240" cy="246888"/>
          </a:xfrm>
          <a:prstGeom prst="rect">
            <a:avLst/>
          </a:prstGeom>
          <a:solidFill>
            <a:srgbClr val="FFEDD5"/>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701</a:t>
            </a:r>
            <a:endParaRPr lang="en-US" sz="1100" dirty="0"/>
          </a:p>
        </p:txBody>
      </p:sp>
      <p:sp>
        <p:nvSpPr>
          <p:cNvPr id="19" name="a1wd600_cell18"/>
          <p:cNvSpPr txBox="1"/>
          <p:nvPr/>
        </p:nvSpPr>
        <p:spPr>
          <a:xfrm>
            <a:off x="2377440" y="2020824"/>
            <a:ext cx="77724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702</a:t>
            </a:r>
            <a:endParaRPr lang="en-US" sz="1100" dirty="0"/>
          </a:p>
        </p:txBody>
      </p:sp>
      <p:sp>
        <p:nvSpPr>
          <p:cNvPr id="20" name="a1wd800_cell19"/>
          <p:cNvSpPr txBox="1"/>
          <p:nvPr/>
        </p:nvSpPr>
        <p:spPr>
          <a:xfrm>
            <a:off x="2377440" y="2267712"/>
            <a:ext cx="77724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702</a:t>
            </a:r>
            <a:endParaRPr lang="en-US" sz="1100" dirty="0"/>
          </a:p>
        </p:txBody>
      </p:sp>
      <p:sp>
        <p:nvSpPr>
          <p:cNvPr id="21" name="a1wd1000_cell20"/>
          <p:cNvSpPr txBox="1"/>
          <p:nvPr/>
        </p:nvSpPr>
        <p:spPr>
          <a:xfrm>
            <a:off x="2377440" y="2514600"/>
            <a:ext cx="777240" cy="246888"/>
          </a:xfrm>
          <a:prstGeom prst="rect">
            <a:avLst/>
          </a:prstGeom>
          <a:solidFill>
            <a:srgbClr val="FFFFFF"/>
          </a:solidFill>
          <a:ln w="9525">
            <a:solidFill>
              <a:srgbClr val="CBD5E1"/>
            </a:solidFill>
            <a:prstDash val="solid"/>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703</a:t>
            </a:r>
            <a:endParaRPr lang="en-US" sz="1100" dirty="0"/>
          </a:p>
        </p:txBody>
      </p:sp>
      <p:sp>
        <p:nvSpPr>
          <p:cNvPr id="22" name="a1f_tn21"/>
          <p:cNvSpPr txBox="1"/>
          <p:nvPr/>
        </p:nvSpPr>
        <p:spPr>
          <a:xfrm>
            <a:off x="457200" y="2834640"/>
            <a:ext cx="2926080" cy="274320"/>
          </a:xfrm>
          <a:prstGeom prst="rect">
            <a:avLst/>
          </a:prstGeom>
          <a:noFill/>
          <a:ln/>
        </p:spPr>
        <p:txBody>
          <a:bodyPr wrap="square" lIns="0" tIns="0" rIns="0" bIns="0" rtlCol="0" anchor="ctr"/>
          <a:lstStyle/>
          <a:p>
            <a:pPr marL="0" indent="0">
              <a:buNone/>
            </a:pPr>
            <a:r>
              <a:rPr lang="en-US" sz="1000" b="1" kern="0" spc="150" dirty="0">
                <a:solidFill>
                  <a:srgbClr val="64748B"/>
                </a:solidFill>
                <a:latin typeface="Calibri" pitchFamily="34" charset="0"/>
                <a:ea typeface="Calibri" pitchFamily="34" charset="-122"/>
                <a:cs typeface="Calibri" pitchFamily="34" charset="-120"/>
              </a:rPr>
              <a:t>BRANCH_RM_ASSIGNMENT</a:t>
            </a:r>
            <a:endParaRPr lang="en-US" sz="1000" dirty="0"/>
          </a:p>
        </p:txBody>
      </p:sp>
      <p:sp>
        <p:nvSpPr>
          <p:cNvPr id="23" name="a2f_br22"/>
          <p:cNvSpPr txBox="1"/>
          <p:nvPr/>
        </p:nvSpPr>
        <p:spPr>
          <a:xfrm>
            <a:off x="3566160" y="1280160"/>
            <a:ext cx="5120640" cy="274320"/>
          </a:xfrm>
          <a:prstGeom prst="rect">
            <a:avLst/>
          </a:prstGeom>
          <a:noFill/>
          <a:ln/>
        </p:spPr>
        <p:txBody>
          <a:bodyPr wrap="square" lIns="0" tIns="0" rIns="0" bIns="0" rtlCol="0" anchor="ctr"/>
          <a:lstStyle/>
          <a:p>
            <a:pPr marL="0" indent="0">
              <a:buNone/>
            </a:pPr>
            <a:r>
              <a:rPr lang="en-US" sz="1200" b="1" i="1" dirty="0">
                <a:solidFill>
                  <a:srgbClr val="0F172A"/>
                </a:solidFill>
                <a:latin typeface="Calibri" pitchFamily="34" charset="0"/>
                <a:ea typeface="Calibri" pitchFamily="34" charset="-122"/>
                <a:cs typeface="Calibri" pitchFamily="34" charset="-120"/>
              </a:rPr>
              <a:t>Business rule: each relationship manager handles exactly one product.</a:t>
            </a:r>
            <a:endParaRPr lang="en-US" sz="1200" dirty="0"/>
          </a:p>
        </p:txBody>
      </p:sp>
      <p:sp>
        <p:nvSpPr>
          <p:cNvPr id="24" name="a3f_d23"/>
          <p:cNvSpPr txBox="1"/>
          <p:nvPr/>
        </p:nvSpPr>
        <p:spPr>
          <a:xfrm>
            <a:off x="3566160" y="1737360"/>
            <a:ext cx="5120640" cy="274320"/>
          </a:xfrm>
          <a:prstGeom prst="rect">
            <a:avLst/>
          </a:prstGeom>
          <a:noFill/>
          <a:ln/>
        </p:spPr>
        <p:txBody>
          <a:bodyPr wrap="square" lIns="0" tIns="0" rIns="0" bIns="0" rtlCol="0" anchor="ctr"/>
          <a:lstStyle/>
          <a:p>
            <a:pPr marL="0" indent="0">
              <a:buNone/>
            </a:pPr>
            <a:r>
              <a:rPr lang="en-US" sz="1100" b="1" dirty="0">
                <a:solidFill>
                  <a:srgbClr val="0F172A"/>
                </a:solidFill>
                <a:latin typeface="Courier New" pitchFamily="34" charset="0"/>
                <a:ea typeface="Courier New" pitchFamily="34" charset="-122"/>
                <a:cs typeface="Courier New" pitchFamily="34" charset="-120"/>
              </a:rPr>
              <a:t>(branch_id, product_code) → rm_id</a:t>
            </a:r>
            <a:endParaRPr lang="en-US" sz="1100" dirty="0"/>
          </a:p>
        </p:txBody>
      </p:sp>
      <p:sp>
        <p:nvSpPr>
          <p:cNvPr id="25" name="a3f_v24"/>
          <p:cNvSpPr txBox="1"/>
          <p:nvPr/>
        </p:nvSpPr>
        <p:spPr>
          <a:xfrm>
            <a:off x="3566160" y="2011680"/>
            <a:ext cx="5120640" cy="274320"/>
          </a:xfrm>
          <a:prstGeom prst="rect">
            <a:avLst/>
          </a:prstGeom>
          <a:noFill/>
          <a:ln/>
        </p:spPr>
        <p:txBody>
          <a:bodyPr wrap="square" lIns="0" tIns="0" rIns="0" bIns="0" rtlCol="0" anchor="ctr"/>
          <a:lstStyle/>
          <a:p>
            <a:pPr marL="0" indent="0">
              <a:buNone/>
            </a:pPr>
            <a:r>
              <a:rPr lang="en-US" sz="1150" b="1" dirty="0">
                <a:solidFill>
                  <a:srgbClr val="16A34A"/>
                </a:solidFill>
                <a:latin typeface="Calibri" pitchFamily="34" charset="0"/>
                <a:ea typeface="Calibri" pitchFamily="34" charset="-122"/>
                <a:cs typeface="Calibri" pitchFamily="34" charset="-120"/>
              </a:rPr>
              <a:t>✔  determinant is a candidate key</a:t>
            </a:r>
            <a:endParaRPr lang="en-US" sz="1150" dirty="0"/>
          </a:p>
        </p:txBody>
      </p:sp>
      <p:sp>
        <p:nvSpPr>
          <p:cNvPr id="26" name="a4f_d25"/>
          <p:cNvSpPr txBox="1"/>
          <p:nvPr/>
        </p:nvSpPr>
        <p:spPr>
          <a:xfrm>
            <a:off x="3566160" y="2395728"/>
            <a:ext cx="5120640" cy="274320"/>
          </a:xfrm>
          <a:prstGeom prst="rect">
            <a:avLst/>
          </a:prstGeom>
          <a:noFill/>
          <a:ln/>
        </p:spPr>
        <p:txBody>
          <a:bodyPr wrap="square" lIns="0" tIns="0" rIns="0" bIns="0" rtlCol="0" anchor="ctr"/>
          <a:lstStyle/>
          <a:p>
            <a:pPr marL="0" indent="0">
              <a:buNone/>
            </a:pPr>
            <a:r>
              <a:rPr lang="en-US" sz="1100" b="1" dirty="0">
                <a:solidFill>
                  <a:srgbClr val="0F172A"/>
                </a:solidFill>
                <a:latin typeface="Courier New" pitchFamily="34" charset="0"/>
                <a:ea typeface="Courier New" pitchFamily="34" charset="-122"/>
                <a:cs typeface="Courier New" pitchFamily="34" charset="-120"/>
              </a:rPr>
              <a:t>rm_id → product_code</a:t>
            </a:r>
            <a:endParaRPr lang="en-US" sz="1100" dirty="0"/>
          </a:p>
        </p:txBody>
      </p:sp>
      <p:sp>
        <p:nvSpPr>
          <p:cNvPr id="27" name="a4f_v26"/>
          <p:cNvSpPr txBox="1"/>
          <p:nvPr/>
        </p:nvSpPr>
        <p:spPr>
          <a:xfrm>
            <a:off x="3566160" y="2670048"/>
            <a:ext cx="5120640" cy="274320"/>
          </a:xfrm>
          <a:prstGeom prst="rect">
            <a:avLst/>
          </a:prstGeom>
          <a:noFill/>
          <a:ln/>
        </p:spPr>
        <p:txBody>
          <a:bodyPr wrap="square" lIns="0" tIns="0" rIns="0" bIns="0" rtlCol="0" anchor="ctr"/>
          <a:lstStyle/>
          <a:p>
            <a:pPr marL="0" indent="0">
              <a:buNone/>
            </a:pPr>
            <a:r>
              <a:rPr lang="en-US" sz="1150" b="1" dirty="0">
                <a:solidFill>
                  <a:srgbClr val="DC2626"/>
                </a:solidFill>
                <a:latin typeface="Calibri" pitchFamily="34" charset="0"/>
                <a:ea typeface="Calibri" pitchFamily="34" charset="-122"/>
                <a:cs typeface="Calibri" pitchFamily="34" charset="-120"/>
              </a:rPr>
              <a:t>✘  rm_id determines a column but is NOT a candidate key</a:t>
            </a:r>
            <a:endParaRPr lang="en-US" sz="1150" dirty="0"/>
          </a:p>
        </p:txBody>
      </p:sp>
      <p:sp>
        <p:nvSpPr>
          <p:cNvPr id="28" name="a5f_fx27"/>
          <p:cNvSpPr txBox="1"/>
          <p:nvPr/>
        </p:nvSpPr>
        <p:spPr>
          <a:xfrm>
            <a:off x="457200" y="3200400"/>
            <a:ext cx="1828800" cy="274320"/>
          </a:xfrm>
          <a:prstGeom prst="rect">
            <a:avLst/>
          </a:prstGeom>
          <a:noFill/>
          <a:ln/>
        </p:spPr>
        <p:txBody>
          <a:bodyPr wrap="square" lIns="0" tIns="0" rIns="0" bIns="0" rtlCol="0" anchor="ctr"/>
          <a:lstStyle/>
          <a:p>
            <a:pPr marL="0" indent="0">
              <a:buNone/>
            </a:pPr>
            <a:r>
              <a:rPr lang="en-US" sz="1000" b="1" kern="0" spc="150" dirty="0">
                <a:solidFill>
                  <a:srgbClr val="6D28D9"/>
                </a:solidFill>
                <a:latin typeface="Calibri" pitchFamily="34" charset="0"/>
                <a:ea typeface="Calibri" pitchFamily="34" charset="-122"/>
                <a:cs typeface="Calibri" pitchFamily="34" charset="-120"/>
              </a:rPr>
              <a:t>THE FIX</a:t>
            </a:r>
            <a:endParaRPr lang="en-US" sz="1000" dirty="0"/>
          </a:p>
        </p:txBody>
      </p:sp>
      <p:sp>
        <p:nvSpPr>
          <p:cNvPr id="29" name="a5f_e28"/>
          <p:cNvSpPr txBox="1"/>
          <p:nvPr/>
        </p:nvSpPr>
        <p:spPr>
          <a:xfrm>
            <a:off x="457200" y="3474720"/>
            <a:ext cx="2103120" cy="274320"/>
          </a:xfrm>
          <a:prstGeom prst="rect">
            <a:avLst/>
          </a:prstGeom>
          <a:solidFill>
            <a:srgbClr val="0F766E"/>
          </a:solidFill>
          <a:ln w="9525">
            <a:solidFill>
              <a:srgbClr val="0F766E"/>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rm_product</a:t>
            </a:r>
            <a:endParaRPr lang="en-US" sz="1100" dirty="0"/>
          </a:p>
        </p:txBody>
      </p:sp>
      <p:sp>
        <p:nvSpPr>
          <p:cNvPr id="30" name="a5f_e29"/>
          <p:cNvSpPr txBox="1"/>
          <p:nvPr/>
        </p:nvSpPr>
        <p:spPr>
          <a:xfrm>
            <a:off x="457200" y="3749040"/>
            <a:ext cx="210312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rm_id</a:t>
            </a:r>
            <a:endParaRPr lang="en-US" sz="950" dirty="0"/>
          </a:p>
        </p:txBody>
      </p:sp>
      <p:sp>
        <p:nvSpPr>
          <p:cNvPr id="31" name="a5f_e30"/>
          <p:cNvSpPr txBox="1"/>
          <p:nvPr/>
        </p:nvSpPr>
        <p:spPr>
          <a:xfrm>
            <a:off x="1993392" y="3749040"/>
            <a:ext cx="512064" cy="219456"/>
          </a:xfrm>
          <a:prstGeom prst="rect">
            <a:avLst/>
          </a:prstGeom>
          <a:noFill/>
          <a:ln/>
        </p:spPr>
        <p:txBody>
          <a:bodyPr wrap="square" lIns="0" tIns="0" rIns="0" bIns="0" rtlCol="0" anchor="ctr"/>
          <a:lstStyle/>
          <a:p>
            <a:pPr marL="0" indent="0" algn="r">
              <a:buNone/>
            </a:pPr>
            <a:r>
              <a:rPr lang="en-US" sz="850" b="1" dirty="0">
                <a:solidFill>
                  <a:srgbClr val="6D28D9"/>
                </a:solidFill>
                <a:latin typeface="Calibri" pitchFamily="34" charset="0"/>
                <a:ea typeface="Calibri" pitchFamily="34" charset="-122"/>
                <a:cs typeface="Calibri" pitchFamily="34" charset="-120"/>
              </a:rPr>
              <a:t>PK</a:t>
            </a:r>
            <a:endParaRPr lang="en-US" sz="850" dirty="0"/>
          </a:p>
        </p:txBody>
      </p:sp>
      <p:sp>
        <p:nvSpPr>
          <p:cNvPr id="32" name="a5f_e31"/>
          <p:cNvSpPr txBox="1"/>
          <p:nvPr/>
        </p:nvSpPr>
        <p:spPr>
          <a:xfrm>
            <a:off x="457200" y="3968496"/>
            <a:ext cx="210312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product_code</a:t>
            </a:r>
            <a:endParaRPr lang="en-US" sz="950" dirty="0"/>
          </a:p>
        </p:txBody>
      </p:sp>
      <p:sp>
        <p:nvSpPr>
          <p:cNvPr id="33" name="a5f_e32"/>
          <p:cNvSpPr txBox="1"/>
          <p:nvPr/>
        </p:nvSpPr>
        <p:spPr>
          <a:xfrm>
            <a:off x="3017520" y="3474720"/>
            <a:ext cx="2103120" cy="274320"/>
          </a:xfrm>
          <a:prstGeom prst="rect">
            <a:avLst/>
          </a:prstGeom>
          <a:solidFill>
            <a:srgbClr val="B45309"/>
          </a:solidFill>
          <a:ln w="9525">
            <a:solidFill>
              <a:srgbClr val="B45309"/>
            </a:solidFill>
            <a:prstDash val="solid"/>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branch_rm</a:t>
            </a:r>
            <a:endParaRPr lang="en-US" sz="1100" dirty="0"/>
          </a:p>
        </p:txBody>
      </p:sp>
      <p:sp>
        <p:nvSpPr>
          <p:cNvPr id="34" name="a5f_e33"/>
          <p:cNvSpPr txBox="1"/>
          <p:nvPr/>
        </p:nvSpPr>
        <p:spPr>
          <a:xfrm>
            <a:off x="3017520" y="3749040"/>
            <a:ext cx="210312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branch_id</a:t>
            </a:r>
            <a:endParaRPr lang="en-US" sz="950" dirty="0"/>
          </a:p>
        </p:txBody>
      </p:sp>
      <p:sp>
        <p:nvSpPr>
          <p:cNvPr id="35" name="a5f_e34"/>
          <p:cNvSpPr txBox="1"/>
          <p:nvPr/>
        </p:nvSpPr>
        <p:spPr>
          <a:xfrm>
            <a:off x="4553712" y="3749040"/>
            <a:ext cx="512064" cy="219456"/>
          </a:xfrm>
          <a:prstGeom prst="rect">
            <a:avLst/>
          </a:prstGeom>
          <a:noFill/>
          <a:ln/>
        </p:spPr>
        <p:txBody>
          <a:bodyPr wrap="square" lIns="0" tIns="0" rIns="0" bIns="0" rtlCol="0" anchor="ctr"/>
          <a:lstStyle/>
          <a:p>
            <a:pPr marL="0" indent="0" algn="r">
              <a:buNone/>
            </a:pPr>
            <a:r>
              <a:rPr lang="en-US" sz="850" b="1" dirty="0">
                <a:solidFill>
                  <a:srgbClr val="6D28D9"/>
                </a:solidFill>
                <a:latin typeface="Calibri" pitchFamily="34" charset="0"/>
                <a:ea typeface="Calibri" pitchFamily="34" charset="-122"/>
                <a:cs typeface="Calibri" pitchFamily="34" charset="-120"/>
              </a:rPr>
              <a:t>PK</a:t>
            </a:r>
            <a:endParaRPr lang="en-US" sz="850" dirty="0"/>
          </a:p>
        </p:txBody>
      </p:sp>
      <p:sp>
        <p:nvSpPr>
          <p:cNvPr id="36" name="a5f_e35"/>
          <p:cNvSpPr txBox="1"/>
          <p:nvPr/>
        </p:nvSpPr>
        <p:spPr>
          <a:xfrm>
            <a:off x="3017520" y="3968496"/>
            <a:ext cx="2103120" cy="219456"/>
          </a:xfrm>
          <a:prstGeom prst="rect">
            <a:avLst/>
          </a:prstGeom>
          <a:solidFill>
            <a:srgbClr val="FFFFFF"/>
          </a:solidFill>
          <a:ln w="9525">
            <a:solidFill>
              <a:srgbClr val="CBD5E1"/>
            </a:solidFill>
            <a:prstDash val="solid"/>
          </a:ln>
        </p:spPr>
        <p:txBody>
          <a:bodyPr wrap="square" lIns="73152" tIns="0" rIns="0" bIns="0" rtlCol="0" anchor="ctr"/>
          <a:lstStyle/>
          <a:p>
            <a:pPr marL="0" indent="0">
              <a:buNone/>
            </a:pPr>
            <a:r>
              <a:rPr lang="en-US" sz="950" dirty="0">
                <a:solidFill>
                  <a:srgbClr val="334155"/>
                </a:solidFill>
                <a:latin typeface="Courier New" pitchFamily="34" charset="0"/>
                <a:ea typeface="Courier New" pitchFamily="34" charset="-122"/>
                <a:cs typeface="Courier New" pitchFamily="34" charset="-120"/>
              </a:rPr>
              <a:t>rm_id</a:t>
            </a:r>
            <a:endParaRPr lang="en-US" sz="950" dirty="0"/>
          </a:p>
        </p:txBody>
      </p:sp>
      <p:sp>
        <p:nvSpPr>
          <p:cNvPr id="37" name="a5f_e36"/>
          <p:cNvSpPr txBox="1"/>
          <p:nvPr/>
        </p:nvSpPr>
        <p:spPr>
          <a:xfrm>
            <a:off x="4553712" y="3968496"/>
            <a:ext cx="512064" cy="219456"/>
          </a:xfrm>
          <a:prstGeom prst="rect">
            <a:avLst/>
          </a:prstGeom>
          <a:noFill/>
          <a:ln/>
        </p:spPr>
        <p:txBody>
          <a:bodyPr wrap="square" lIns="0" tIns="0" rIns="0" bIns="0" rtlCol="0" anchor="ctr"/>
          <a:lstStyle/>
          <a:p>
            <a:pPr marL="0" indent="0" algn="r">
              <a:buNone/>
            </a:pPr>
            <a:r>
              <a:rPr lang="en-US" sz="850" b="1" dirty="0">
                <a:solidFill>
                  <a:srgbClr val="6D28D9"/>
                </a:solidFill>
                <a:latin typeface="Calibri" pitchFamily="34" charset="0"/>
                <a:ea typeface="Calibri" pitchFamily="34" charset="-122"/>
                <a:cs typeface="Calibri" pitchFamily="34" charset="-120"/>
              </a:rPr>
              <a:t>PK FK</a:t>
            </a:r>
            <a:endParaRPr lang="en-US" sz="850" dirty="0"/>
          </a:p>
        </p:txBody>
      </p:sp>
      <p:sp>
        <p:nvSpPr>
          <p:cNvPr id="38" name="a6u_nb37"/>
          <p:cNvSpPr/>
          <p:nvPr/>
        </p:nvSpPr>
        <p:spPr>
          <a:xfrm>
            <a:off x="5486400" y="3474720"/>
            <a:ext cx="3200400" cy="1188720"/>
          </a:xfrm>
          <a:prstGeom prst="roundRect">
            <a:avLst>
              <a:gd name="adj" fmla="val 9412"/>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pic>
        <p:nvPicPr>
          <p:cNvPr id="39" name="a6u_ni38" descr="image.png"/>
          <p:cNvPicPr>
            <a:picLocks noChangeAspect="1"/>
          </p:cNvPicPr>
          <p:nvPr/>
        </p:nvPicPr>
        <p:blipFill>
          <a:blip r:embed="rId3"/>
          <a:stretch>
            <a:fillRect/>
          </a:stretch>
        </p:blipFill>
        <p:spPr>
          <a:xfrm>
            <a:off x="5623560" y="3909060"/>
            <a:ext cx="320040" cy="320040"/>
          </a:xfrm>
          <a:prstGeom prst="rect">
            <a:avLst/>
          </a:prstGeom>
        </p:spPr>
      </p:pic>
      <p:sp>
        <p:nvSpPr>
          <p:cNvPr id="40" name="a6u_nt39"/>
          <p:cNvSpPr txBox="1"/>
          <p:nvPr/>
        </p:nvSpPr>
        <p:spPr>
          <a:xfrm>
            <a:off x="6035040" y="3474720"/>
            <a:ext cx="2514600" cy="1188720"/>
          </a:xfrm>
          <a:prstGeom prst="rect">
            <a:avLst/>
          </a:prstGeom>
          <a:noFill/>
          <a:ln/>
        </p:spPr>
        <p:txBody>
          <a:bodyPr wrap="square" lIns="0" tIns="0" rIns="0" bIns="0" rtlCol="0" anchor="ctr"/>
          <a:lstStyle/>
          <a:p>
            <a:pPr marL="0" indent="0">
              <a:buNone/>
            </a:pPr>
            <a:r>
              <a:rPr lang="en-US" sz="1150" b="1" dirty="0">
                <a:solidFill>
                  <a:srgbClr val="334155"/>
                </a:solidFill>
                <a:latin typeface="Calibri" pitchFamily="34" charset="0"/>
                <a:ea typeface="Calibri" pitchFamily="34" charset="-122"/>
                <a:cs typeface="Calibri" pitchFamily="34" charset="-120"/>
              </a:rPr>
              <a:t>Rare in practice. </a:t>
            </a:r>
            <a:r>
              <a:rPr lang="en-US" sz="1150" dirty="0">
                <a:solidFill>
                  <a:srgbClr val="334155"/>
                </a:solidFill>
                <a:latin typeface="Calibri" pitchFamily="34" charset="0"/>
                <a:ea typeface="Calibri" pitchFamily="34" charset="-122"/>
                <a:cs typeface="Calibri" pitchFamily="34" charset="-120"/>
              </a:rPr>
              <a:t>3NF and BCNF differ only with overlapping candidate keys — nearly always this shape.</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22" presetClass="entr" presetSubtype="8" fill="hold" grpId="0" nodeType="withEffect">
                                  <p:stCondLst>
                                    <p:cond delay="20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par>
                                <p:cTn id="11" presetID="22" presetClass="entr" presetSubtype="8" fill="hold" grpId="0" nodeType="withEffect">
                                  <p:stCondLst>
                                    <p:cond delay="40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par>
                                <p:cTn id="14" presetID="22" presetClass="entr" presetSubtype="8" fill="hold" grpId="0" nodeType="withEffect">
                                  <p:stCondLst>
                                    <p:cond delay="60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par>
                                <p:cTn id="17" presetID="22" presetClass="entr" presetSubtype="8" fill="hold" grpId="0" nodeType="withEffect">
                                  <p:stCondLst>
                                    <p:cond delay="80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par>
                                <p:cTn id="20" presetID="22" presetClass="entr" presetSubtype="8" fill="hold" grpId="0" nodeType="withEffect">
                                  <p:stCondLst>
                                    <p:cond delay="100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22" presetClass="entr" presetSubtype="8" fill="hold" grpId="0" nodeType="withEffect">
                                  <p:stCondLst>
                                    <p:cond delay="20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500"/>
                                        <p:tgtEl>
                                          <p:spTgt spid="11"/>
                                        </p:tgtEl>
                                      </p:cBhvr>
                                    </p:animEffect>
                                  </p:childTnLst>
                                </p:cTn>
                              </p:par>
                              <p:par>
                                <p:cTn id="29" presetID="22" presetClass="entr" presetSubtype="8" fill="hold" grpId="0" nodeType="withEffect">
                                  <p:stCondLst>
                                    <p:cond delay="40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500"/>
                                        <p:tgtEl>
                                          <p:spTgt spid="12"/>
                                        </p:tgtEl>
                                      </p:cBhvr>
                                    </p:animEffect>
                                  </p:childTnLst>
                                </p:cTn>
                              </p:par>
                              <p:par>
                                <p:cTn id="32" presetID="22" presetClass="entr" presetSubtype="8" fill="hold" grpId="0" nodeType="withEffect">
                                  <p:stCondLst>
                                    <p:cond delay="600"/>
                                  </p:stCondLst>
                                  <p:childTnLst>
                                    <p:set>
                                      <p:cBhvr>
                                        <p:cTn id="33" dur="1" fill="hold">
                                          <p:stCondLst>
                                            <p:cond delay="0"/>
                                          </p:stCondLst>
                                        </p:cTn>
                                        <p:tgtEl>
                                          <p:spTgt spid="13"/>
                                        </p:tgtEl>
                                        <p:attrNameLst>
                                          <p:attrName>style.visibility</p:attrName>
                                        </p:attrNameLst>
                                      </p:cBhvr>
                                      <p:to>
                                        <p:strVal val="visible"/>
                                      </p:to>
                                    </p:set>
                                    <p:animEffect transition="in" filter="wipe(left)">
                                      <p:cBhvr>
                                        <p:cTn id="34" dur="500"/>
                                        <p:tgtEl>
                                          <p:spTgt spid="13"/>
                                        </p:tgtEl>
                                      </p:cBhvr>
                                    </p:animEffect>
                                  </p:childTnLst>
                                </p:cTn>
                              </p:par>
                              <p:par>
                                <p:cTn id="35" presetID="22" presetClass="entr" presetSubtype="8" fill="hold" grpId="0" nodeType="withEffect">
                                  <p:stCondLst>
                                    <p:cond delay="800"/>
                                  </p:stCondLst>
                                  <p:childTnLst>
                                    <p:set>
                                      <p:cBhvr>
                                        <p:cTn id="36" dur="1" fill="hold">
                                          <p:stCondLst>
                                            <p:cond delay="0"/>
                                          </p:stCondLst>
                                        </p:cTn>
                                        <p:tgtEl>
                                          <p:spTgt spid="14"/>
                                        </p:tgtEl>
                                        <p:attrNameLst>
                                          <p:attrName>style.visibility</p:attrName>
                                        </p:attrNameLst>
                                      </p:cBhvr>
                                      <p:to>
                                        <p:strVal val="visible"/>
                                      </p:to>
                                    </p:set>
                                    <p:animEffect transition="in" filter="wipe(left)">
                                      <p:cBhvr>
                                        <p:cTn id="37" dur="500"/>
                                        <p:tgtEl>
                                          <p:spTgt spid="14"/>
                                        </p:tgtEl>
                                      </p:cBhvr>
                                    </p:animEffect>
                                  </p:childTnLst>
                                </p:cTn>
                              </p:par>
                              <p:par>
                                <p:cTn id="38" presetID="22" presetClass="entr" presetSubtype="8" fill="hold" grpId="0" nodeType="withEffect">
                                  <p:stCondLst>
                                    <p:cond delay="1000"/>
                                  </p:stCondLst>
                                  <p:childTnLst>
                                    <p:set>
                                      <p:cBhvr>
                                        <p:cTn id="39" dur="1" fill="hold">
                                          <p:stCondLst>
                                            <p:cond delay="0"/>
                                          </p:stCondLst>
                                        </p:cTn>
                                        <p:tgtEl>
                                          <p:spTgt spid="15"/>
                                        </p:tgtEl>
                                        <p:attrNameLst>
                                          <p:attrName>style.visibility</p:attrName>
                                        </p:attrNameLst>
                                      </p:cBhvr>
                                      <p:to>
                                        <p:strVal val="visible"/>
                                      </p:to>
                                    </p:set>
                                    <p:animEffect transition="in" filter="wipe(left)">
                                      <p:cBhvr>
                                        <p:cTn id="40" dur="5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22" presetClass="entr" presetSubtype="8" fill="hold" grpId="0" nodeType="withEffect">
                                  <p:stCondLst>
                                    <p:cond delay="200"/>
                                  </p:stCondLst>
                                  <p:childTnLst>
                                    <p:set>
                                      <p:cBhvr>
                                        <p:cTn id="45" dur="1" fill="hold">
                                          <p:stCondLst>
                                            <p:cond delay="0"/>
                                          </p:stCondLst>
                                        </p:cTn>
                                        <p:tgtEl>
                                          <p:spTgt spid="17"/>
                                        </p:tgtEl>
                                        <p:attrNameLst>
                                          <p:attrName>style.visibility</p:attrName>
                                        </p:attrNameLst>
                                      </p:cBhvr>
                                      <p:to>
                                        <p:strVal val="visible"/>
                                      </p:to>
                                    </p:set>
                                    <p:animEffect transition="in" filter="wipe(left)">
                                      <p:cBhvr>
                                        <p:cTn id="46" dur="500"/>
                                        <p:tgtEl>
                                          <p:spTgt spid="17"/>
                                        </p:tgtEl>
                                      </p:cBhvr>
                                    </p:animEffect>
                                  </p:childTnLst>
                                </p:cTn>
                              </p:par>
                              <p:par>
                                <p:cTn id="47" presetID="22" presetClass="entr" presetSubtype="8" fill="hold" grpId="0" nodeType="withEffect">
                                  <p:stCondLst>
                                    <p:cond delay="400"/>
                                  </p:stCondLst>
                                  <p:childTnLst>
                                    <p:set>
                                      <p:cBhvr>
                                        <p:cTn id="48" dur="1" fill="hold">
                                          <p:stCondLst>
                                            <p:cond delay="0"/>
                                          </p:stCondLst>
                                        </p:cTn>
                                        <p:tgtEl>
                                          <p:spTgt spid="18"/>
                                        </p:tgtEl>
                                        <p:attrNameLst>
                                          <p:attrName>style.visibility</p:attrName>
                                        </p:attrNameLst>
                                      </p:cBhvr>
                                      <p:to>
                                        <p:strVal val="visible"/>
                                      </p:to>
                                    </p:set>
                                    <p:animEffect transition="in" filter="wipe(left)">
                                      <p:cBhvr>
                                        <p:cTn id="49" dur="500"/>
                                        <p:tgtEl>
                                          <p:spTgt spid="18"/>
                                        </p:tgtEl>
                                      </p:cBhvr>
                                    </p:animEffect>
                                  </p:childTnLst>
                                </p:cTn>
                              </p:par>
                              <p:par>
                                <p:cTn id="50" presetID="22" presetClass="entr" presetSubtype="8" fill="hold" grpId="0" nodeType="withEffect">
                                  <p:stCondLst>
                                    <p:cond delay="600"/>
                                  </p:stCondLst>
                                  <p:childTnLst>
                                    <p:set>
                                      <p:cBhvr>
                                        <p:cTn id="51" dur="1" fill="hold">
                                          <p:stCondLst>
                                            <p:cond delay="0"/>
                                          </p:stCondLst>
                                        </p:cTn>
                                        <p:tgtEl>
                                          <p:spTgt spid="19"/>
                                        </p:tgtEl>
                                        <p:attrNameLst>
                                          <p:attrName>style.visibility</p:attrName>
                                        </p:attrNameLst>
                                      </p:cBhvr>
                                      <p:to>
                                        <p:strVal val="visible"/>
                                      </p:to>
                                    </p:set>
                                    <p:animEffect transition="in" filter="wipe(left)">
                                      <p:cBhvr>
                                        <p:cTn id="52" dur="500"/>
                                        <p:tgtEl>
                                          <p:spTgt spid="19"/>
                                        </p:tgtEl>
                                      </p:cBhvr>
                                    </p:animEffect>
                                  </p:childTnLst>
                                </p:cTn>
                              </p:par>
                              <p:par>
                                <p:cTn id="53" presetID="22" presetClass="entr" presetSubtype="8" fill="hold" grpId="0" nodeType="withEffect">
                                  <p:stCondLst>
                                    <p:cond delay="800"/>
                                  </p:stCondLst>
                                  <p:childTnLst>
                                    <p:set>
                                      <p:cBhvr>
                                        <p:cTn id="54" dur="1" fill="hold">
                                          <p:stCondLst>
                                            <p:cond delay="0"/>
                                          </p:stCondLst>
                                        </p:cTn>
                                        <p:tgtEl>
                                          <p:spTgt spid="20"/>
                                        </p:tgtEl>
                                        <p:attrNameLst>
                                          <p:attrName>style.visibility</p:attrName>
                                        </p:attrNameLst>
                                      </p:cBhvr>
                                      <p:to>
                                        <p:strVal val="visible"/>
                                      </p:to>
                                    </p:set>
                                    <p:animEffect transition="in" filter="wipe(left)">
                                      <p:cBhvr>
                                        <p:cTn id="55" dur="500"/>
                                        <p:tgtEl>
                                          <p:spTgt spid="20"/>
                                        </p:tgtEl>
                                      </p:cBhvr>
                                    </p:animEffect>
                                  </p:childTnLst>
                                </p:cTn>
                              </p:par>
                              <p:par>
                                <p:cTn id="56" presetID="22" presetClass="entr" presetSubtype="8" fill="hold" grpId="0" nodeType="withEffect">
                                  <p:stCondLst>
                                    <p:cond delay="1000"/>
                                  </p:stCondLst>
                                  <p:childTnLst>
                                    <p:set>
                                      <p:cBhvr>
                                        <p:cTn id="57" dur="1" fill="hold">
                                          <p:stCondLst>
                                            <p:cond delay="0"/>
                                          </p:stCondLst>
                                        </p:cTn>
                                        <p:tgtEl>
                                          <p:spTgt spid="21"/>
                                        </p:tgtEl>
                                        <p:attrNameLst>
                                          <p:attrName>style.visibility</p:attrName>
                                        </p:attrNameLst>
                                      </p:cBhvr>
                                      <p:to>
                                        <p:strVal val="visible"/>
                                      </p:to>
                                    </p:set>
                                    <p:animEffect transition="in" filter="wipe(left)">
                                      <p:cBhvr>
                                        <p:cTn id="58" dur="500"/>
                                        <p:tgtEl>
                                          <p:spTgt spid="2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500"/>
                                        <p:tgtEl>
                                          <p:spTgt spid="22"/>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500"/>
                                        <p:tgtEl>
                                          <p:spTgt spid="23"/>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500"/>
                                        <p:tgtEl>
                                          <p:spTgt spid="24"/>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500"/>
                                        <p:tgtEl>
                                          <p:spTgt spid="25"/>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26"/>
                                        </p:tgtEl>
                                        <p:attrNameLst>
                                          <p:attrName>style.visibility</p:attrName>
                                        </p:attrNameLst>
                                      </p:cBhvr>
                                      <p:to>
                                        <p:strVal val="visible"/>
                                      </p:to>
                                    </p:set>
                                    <p:animEffect transition="in" filter="fade">
                                      <p:cBhvr>
                                        <p:cTn id="79" dur="500"/>
                                        <p:tgtEl>
                                          <p:spTgt spid="26"/>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7"/>
                                        </p:tgtEl>
                                        <p:attrNameLst>
                                          <p:attrName>style.visibility</p:attrName>
                                        </p:attrNameLst>
                                      </p:cBhvr>
                                      <p:to>
                                        <p:strVal val="visible"/>
                                      </p:to>
                                    </p:set>
                                    <p:animEffect transition="in" filter="fade">
                                      <p:cBhvr>
                                        <p:cTn id="82" dur="500"/>
                                        <p:tgtEl>
                                          <p:spTgt spid="27"/>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fade">
                                      <p:cBhvr>
                                        <p:cTn id="87" dur="500"/>
                                        <p:tgtEl>
                                          <p:spTgt spid="28"/>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29"/>
                                        </p:tgtEl>
                                        <p:attrNameLst>
                                          <p:attrName>style.visibility</p:attrName>
                                        </p:attrNameLst>
                                      </p:cBhvr>
                                      <p:to>
                                        <p:strVal val="visible"/>
                                      </p:to>
                                    </p:set>
                                    <p:animEffect transition="in" filter="fade">
                                      <p:cBhvr>
                                        <p:cTn id="90" dur="500"/>
                                        <p:tgtEl>
                                          <p:spTgt spid="29"/>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0"/>
                                        </p:tgtEl>
                                        <p:attrNameLst>
                                          <p:attrName>style.visibility</p:attrName>
                                        </p:attrNameLst>
                                      </p:cBhvr>
                                      <p:to>
                                        <p:strVal val="visible"/>
                                      </p:to>
                                    </p:set>
                                    <p:animEffect transition="in" filter="fade">
                                      <p:cBhvr>
                                        <p:cTn id="93" dur="500"/>
                                        <p:tgtEl>
                                          <p:spTgt spid="30"/>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1"/>
                                        </p:tgtEl>
                                        <p:attrNameLst>
                                          <p:attrName>style.visibility</p:attrName>
                                        </p:attrNameLst>
                                      </p:cBhvr>
                                      <p:to>
                                        <p:strVal val="visible"/>
                                      </p:to>
                                    </p:set>
                                    <p:animEffect transition="in" filter="fade">
                                      <p:cBhvr>
                                        <p:cTn id="96" dur="500"/>
                                        <p:tgtEl>
                                          <p:spTgt spid="31"/>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2"/>
                                        </p:tgtEl>
                                        <p:attrNameLst>
                                          <p:attrName>style.visibility</p:attrName>
                                        </p:attrNameLst>
                                      </p:cBhvr>
                                      <p:to>
                                        <p:strVal val="visible"/>
                                      </p:to>
                                    </p:set>
                                    <p:animEffect transition="in" filter="fade">
                                      <p:cBhvr>
                                        <p:cTn id="99" dur="500"/>
                                        <p:tgtEl>
                                          <p:spTgt spid="32"/>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3"/>
                                        </p:tgtEl>
                                        <p:attrNameLst>
                                          <p:attrName>style.visibility</p:attrName>
                                        </p:attrNameLst>
                                      </p:cBhvr>
                                      <p:to>
                                        <p:strVal val="visible"/>
                                      </p:to>
                                    </p:set>
                                    <p:animEffect transition="in" filter="fade">
                                      <p:cBhvr>
                                        <p:cTn id="102" dur="500"/>
                                        <p:tgtEl>
                                          <p:spTgt spid="33"/>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4"/>
                                        </p:tgtEl>
                                        <p:attrNameLst>
                                          <p:attrName>style.visibility</p:attrName>
                                        </p:attrNameLst>
                                      </p:cBhvr>
                                      <p:to>
                                        <p:strVal val="visible"/>
                                      </p:to>
                                    </p:set>
                                    <p:animEffect transition="in" filter="fade">
                                      <p:cBhvr>
                                        <p:cTn id="105" dur="500"/>
                                        <p:tgtEl>
                                          <p:spTgt spid="34"/>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5"/>
                                        </p:tgtEl>
                                        <p:attrNameLst>
                                          <p:attrName>style.visibility</p:attrName>
                                        </p:attrNameLst>
                                      </p:cBhvr>
                                      <p:to>
                                        <p:strVal val="visible"/>
                                      </p:to>
                                    </p:set>
                                    <p:animEffect transition="in" filter="fade">
                                      <p:cBhvr>
                                        <p:cTn id="108" dur="500"/>
                                        <p:tgtEl>
                                          <p:spTgt spid="35"/>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6"/>
                                        </p:tgtEl>
                                        <p:attrNameLst>
                                          <p:attrName>style.visibility</p:attrName>
                                        </p:attrNameLst>
                                      </p:cBhvr>
                                      <p:to>
                                        <p:strVal val="visible"/>
                                      </p:to>
                                    </p:set>
                                    <p:animEffect transition="in" filter="fade">
                                      <p:cBhvr>
                                        <p:cTn id="111" dur="500"/>
                                        <p:tgtEl>
                                          <p:spTgt spid="36"/>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37"/>
                                        </p:tgtEl>
                                        <p:attrNameLst>
                                          <p:attrName>style.visibility</p:attrName>
                                        </p:attrNameLst>
                                      </p:cBhvr>
                                      <p:to>
                                        <p:strVal val="visible"/>
                                      </p:to>
                                    </p:set>
                                    <p:animEffect transition="in" filter="fade">
                                      <p:cBhvr>
                                        <p:cTn id="114" dur="500"/>
                                        <p:tgtEl>
                                          <p:spTgt spid="37"/>
                                        </p:tgtEl>
                                      </p:cBhvr>
                                    </p:animEffect>
                                  </p:childTnLst>
                                </p:cTn>
                              </p:par>
                            </p:childTnLst>
                          </p:cTn>
                        </p:par>
                      </p:childTnLst>
                    </p:cTn>
                  </p:par>
                  <p:par>
                    <p:cTn id="115" fill="hold">
                      <p:stCondLst>
                        <p:cond delay="indefinite"/>
                      </p:stCondLst>
                      <p:childTnLst>
                        <p:par>
                          <p:cTn id="116" fill="hold">
                            <p:stCondLst>
                              <p:cond delay="0"/>
                            </p:stCondLst>
                            <p:childTnLst>
                              <p:par>
                                <p:cTn id="117" presetID="2" presetClass="entr" presetSubtype="4" fill="hold" grpId="0" nodeType="clickEffect">
                                  <p:stCondLst>
                                    <p:cond delay="0"/>
                                  </p:stCondLst>
                                  <p:childTnLst>
                                    <p:set>
                                      <p:cBhvr>
                                        <p:cTn id="118" dur="1" fill="hold">
                                          <p:stCondLst>
                                            <p:cond delay="0"/>
                                          </p:stCondLst>
                                        </p:cTn>
                                        <p:tgtEl>
                                          <p:spTgt spid="38"/>
                                        </p:tgtEl>
                                        <p:attrNameLst>
                                          <p:attrName>style.visibility</p:attrName>
                                        </p:attrNameLst>
                                      </p:cBhvr>
                                      <p:to>
                                        <p:strVal val="visible"/>
                                      </p:to>
                                    </p:set>
                                    <p:anim calcmode="lin" valueType="num">
                                      <p:cBhvr additive="base">
                                        <p:cTn id="119" dur="500" fill="hold"/>
                                        <p:tgtEl>
                                          <p:spTgt spid="38"/>
                                        </p:tgtEl>
                                        <p:attrNameLst>
                                          <p:attrName>ppt_x</p:attrName>
                                        </p:attrNameLst>
                                      </p:cBhvr>
                                      <p:tavLst>
                                        <p:tav tm="0">
                                          <p:val>
                                            <p:strVal val="#ppt_x"/>
                                          </p:val>
                                        </p:tav>
                                        <p:tav tm="100000">
                                          <p:val>
                                            <p:strVal val="#ppt_x"/>
                                          </p:val>
                                        </p:tav>
                                      </p:tavLst>
                                    </p:anim>
                                    <p:anim calcmode="lin" valueType="num">
                                      <p:cBhvr additive="base">
                                        <p:cTn id="120" dur="500" fill="hold"/>
                                        <p:tgtEl>
                                          <p:spTgt spid="38"/>
                                        </p:tgtEl>
                                        <p:attrNameLst>
                                          <p:attrName>ppt_y</p:attrName>
                                        </p:attrNameLst>
                                      </p:cBhvr>
                                      <p:tavLst>
                                        <p:tav tm="0">
                                          <p:val>
                                            <p:strVal val="#ppt_y+0.1"/>
                                          </p:val>
                                        </p:tav>
                                        <p:tav tm="100000">
                                          <p:val>
                                            <p:strVal val="#ppt_y"/>
                                          </p:val>
                                        </p:tav>
                                      </p:tavLst>
                                    </p:anim>
                                    <p:animEffect transition="in" filter="fade">
                                      <p:cBhvr>
                                        <p:cTn id="121" dur="500"/>
                                        <p:tgtEl>
                                          <p:spTgt spid="38"/>
                                        </p:tgtEl>
                                      </p:cBhvr>
                                    </p:animEffect>
                                  </p:childTnLst>
                                </p:cTn>
                              </p:par>
                              <p:par>
                                <p:cTn id="122" presetID="2" presetClass="entr" presetSubtype="4" fill="hold" nodeType="withEffect">
                                  <p:stCondLst>
                                    <p:cond delay="0"/>
                                  </p:stCondLst>
                                  <p:childTnLst>
                                    <p:set>
                                      <p:cBhvr>
                                        <p:cTn id="123" dur="1" fill="hold">
                                          <p:stCondLst>
                                            <p:cond delay="0"/>
                                          </p:stCondLst>
                                        </p:cTn>
                                        <p:tgtEl>
                                          <p:spTgt spid="39"/>
                                        </p:tgtEl>
                                        <p:attrNameLst>
                                          <p:attrName>style.visibility</p:attrName>
                                        </p:attrNameLst>
                                      </p:cBhvr>
                                      <p:to>
                                        <p:strVal val="visible"/>
                                      </p:to>
                                    </p:set>
                                    <p:anim calcmode="lin" valueType="num">
                                      <p:cBhvr additive="base">
                                        <p:cTn id="124" dur="500" fill="hold"/>
                                        <p:tgtEl>
                                          <p:spTgt spid="39"/>
                                        </p:tgtEl>
                                        <p:attrNameLst>
                                          <p:attrName>ppt_x</p:attrName>
                                        </p:attrNameLst>
                                      </p:cBhvr>
                                      <p:tavLst>
                                        <p:tav tm="0">
                                          <p:val>
                                            <p:strVal val="#ppt_x"/>
                                          </p:val>
                                        </p:tav>
                                        <p:tav tm="100000">
                                          <p:val>
                                            <p:strVal val="#ppt_x"/>
                                          </p:val>
                                        </p:tav>
                                      </p:tavLst>
                                    </p:anim>
                                    <p:anim calcmode="lin" valueType="num">
                                      <p:cBhvr additive="base">
                                        <p:cTn id="125" dur="500" fill="hold"/>
                                        <p:tgtEl>
                                          <p:spTgt spid="39"/>
                                        </p:tgtEl>
                                        <p:attrNameLst>
                                          <p:attrName>ppt_y</p:attrName>
                                        </p:attrNameLst>
                                      </p:cBhvr>
                                      <p:tavLst>
                                        <p:tav tm="0">
                                          <p:val>
                                            <p:strVal val="#ppt_y+0.1"/>
                                          </p:val>
                                        </p:tav>
                                        <p:tav tm="100000">
                                          <p:val>
                                            <p:strVal val="#ppt_y"/>
                                          </p:val>
                                        </p:tav>
                                      </p:tavLst>
                                    </p:anim>
                                    <p:animEffect transition="in" filter="fade">
                                      <p:cBhvr>
                                        <p:cTn id="126" dur="500"/>
                                        <p:tgtEl>
                                          <p:spTgt spid="39"/>
                                        </p:tgtEl>
                                      </p:cBhvr>
                                    </p:animEffect>
                                  </p:childTnLst>
                                </p:cTn>
                              </p:par>
                              <p:par>
                                <p:cTn id="127" presetID="2" presetClass="entr" presetSubtype="4" fill="hold" grpId="0" nodeType="withEffect">
                                  <p:stCondLst>
                                    <p:cond delay="0"/>
                                  </p:stCondLst>
                                  <p:childTnLst>
                                    <p:set>
                                      <p:cBhvr>
                                        <p:cTn id="128" dur="1" fill="hold">
                                          <p:stCondLst>
                                            <p:cond delay="0"/>
                                          </p:stCondLst>
                                        </p:cTn>
                                        <p:tgtEl>
                                          <p:spTgt spid="40"/>
                                        </p:tgtEl>
                                        <p:attrNameLst>
                                          <p:attrName>style.visibility</p:attrName>
                                        </p:attrNameLst>
                                      </p:cBhvr>
                                      <p:to>
                                        <p:strVal val="visible"/>
                                      </p:to>
                                    </p:set>
                                    <p:anim calcmode="lin" valueType="num">
                                      <p:cBhvr additive="base">
                                        <p:cTn id="129" dur="500" fill="hold"/>
                                        <p:tgtEl>
                                          <p:spTgt spid="40"/>
                                        </p:tgtEl>
                                        <p:attrNameLst>
                                          <p:attrName>ppt_x</p:attrName>
                                        </p:attrNameLst>
                                      </p:cBhvr>
                                      <p:tavLst>
                                        <p:tav tm="0">
                                          <p:val>
                                            <p:strVal val="#ppt_x"/>
                                          </p:val>
                                        </p:tav>
                                        <p:tav tm="100000">
                                          <p:val>
                                            <p:strVal val="#ppt_x"/>
                                          </p:val>
                                        </p:tav>
                                      </p:tavLst>
                                    </p:anim>
                                    <p:anim calcmode="lin" valueType="num">
                                      <p:cBhvr additive="base">
                                        <p:cTn id="130" dur="500" fill="hold"/>
                                        <p:tgtEl>
                                          <p:spTgt spid="40"/>
                                        </p:tgtEl>
                                        <p:attrNameLst>
                                          <p:attrName>ppt_y</p:attrName>
                                        </p:attrNameLst>
                                      </p:cBhvr>
                                      <p:tavLst>
                                        <p:tav tm="0">
                                          <p:val>
                                            <p:strVal val="#ppt_y+0.1"/>
                                          </p:val>
                                        </p:tav>
                                        <p:tav tm="100000">
                                          <p:val>
                                            <p:strVal val="#ppt_y"/>
                                          </p:val>
                                        </p:tav>
                                      </p:tavLst>
                                    </p:anim>
                                    <p:animEffect transition="in" filter="fade">
                                      <p:cBhvr>
                                        <p:cTn id="131"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40"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1"/>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The Whole Journey</a:t>
            </a:r>
            <a:endParaRPr lang="en-US" sz="2800" dirty="0"/>
          </a:p>
        </p:txBody>
      </p:sp>
      <p:sp>
        <p:nvSpPr>
          <p:cNvPr id="3" name="Text 2"/>
          <p:cNvSpPr txBox="1"/>
          <p:nvPr/>
        </p:nvSpPr>
        <p:spPr>
          <a:xfrm>
            <a:off x="457200" y="749808"/>
            <a:ext cx="8229600" cy="320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3NF — or BCNF where it differs — is the target for an OLTP banking schema</a:t>
            </a:r>
            <a:endParaRPr lang="en-US" sz="1300" dirty="0"/>
          </a:p>
        </p:txBody>
      </p:sp>
      <p:sp>
        <p:nvSpPr>
          <p:cNvPr id="4" name="a1u_st3"/>
          <p:cNvSpPr txBox="1"/>
          <p:nvPr/>
        </p:nvSpPr>
        <p:spPr>
          <a:xfrm>
            <a:off x="457200" y="3246120"/>
            <a:ext cx="1965960" cy="1417320"/>
          </a:xfrm>
          <a:prstGeom prst="roundRect">
            <a:avLst>
              <a:gd name="adj" fmla="val 5000"/>
            </a:avLst>
          </a:prstGeom>
          <a:solidFill>
            <a:srgbClr val="475569"/>
          </a:solidFill>
          <a:ln w="12700">
            <a:solidFill>
              <a:srgbClr val="475569"/>
            </a:solidFill>
            <a:prstDash val="solid"/>
          </a:ln>
        </p:spPr>
        <p:txBody>
          <a:bodyPr wrap="square" lIns="137160" tIns="109728" rIns="109728" bIns="73152" rtlCol="0" anchor="t"/>
          <a:lstStyle/>
          <a:p>
            <a:pPr marL="0" indent="0">
              <a:buNone/>
            </a:pPr>
            <a:r>
              <a:rPr lang="en-US" sz="2200" b="1" dirty="0">
                <a:solidFill>
                  <a:srgbClr val="FFFFFF"/>
                </a:solidFill>
                <a:latin typeface="Calibri" pitchFamily="34" charset="0"/>
                <a:ea typeface="Calibri" pitchFamily="34" charset="-122"/>
                <a:cs typeface="Calibri" pitchFamily="34" charset="-120"/>
              </a:rPr>
              <a:t>1NF</a:t>
            </a:r>
            <a:endParaRPr lang="en-US" sz="2200" dirty="0"/>
          </a:p>
          <a:p>
            <a:pPr marL="0" indent="0">
              <a:spcAft>
                <a:spcPts val="600"/>
              </a:spcAft>
              <a:buNone/>
            </a:pPr>
            <a:r>
              <a:rPr lang="en-US" sz="1100" b="1" dirty="0">
                <a:solidFill>
                  <a:srgbClr val="FFFFFF"/>
                </a:solidFill>
                <a:latin typeface="Calibri" pitchFamily="34" charset="0"/>
                <a:ea typeface="Calibri" pitchFamily="34" charset="-122"/>
                <a:cs typeface="Calibri" pitchFamily="34" charset="-120"/>
              </a:rPr>
              <a:t>Atomic values, no repeating groups</a:t>
            </a:r>
            <a:endParaRPr lang="en-US" sz="1100" dirty="0"/>
          </a:p>
          <a:p>
            <a:pPr marL="0" indent="0">
              <a:buNone/>
            </a:pPr>
            <a:r>
              <a:rPr lang="en-US" sz="1000" b="1" dirty="0">
                <a:solidFill>
                  <a:srgbClr val="E2E8F0"/>
                </a:solidFill>
                <a:latin typeface="Calibri" pitchFamily="34" charset="0"/>
                <a:ea typeface="Calibri" pitchFamily="34" charset="-122"/>
                <a:cs typeface="Calibri" pitchFamily="34" charset="-120"/>
              </a:rPr>
              <a:t>Removes: </a:t>
            </a:r>
            <a:r>
              <a:rPr lang="en-US" sz="1000" dirty="0">
                <a:solidFill>
                  <a:srgbClr val="FFFFFF"/>
                </a:solidFill>
                <a:latin typeface="Calibri" pitchFamily="34" charset="0"/>
                <a:ea typeface="Calibri" pitchFamily="34" charset="-122"/>
                <a:cs typeface="Calibri" pitchFamily="34" charset="-120"/>
              </a:rPr>
              <a:t>Lists and column families you cannot query</a:t>
            </a:r>
            <a:endParaRPr lang="en-US" sz="1000" dirty="0"/>
          </a:p>
        </p:txBody>
      </p:sp>
      <p:sp>
        <p:nvSpPr>
          <p:cNvPr id="5" name="a2u_st4"/>
          <p:cNvSpPr txBox="1"/>
          <p:nvPr/>
        </p:nvSpPr>
        <p:spPr>
          <a:xfrm>
            <a:off x="2560320" y="2788920"/>
            <a:ext cx="1965960" cy="1874520"/>
          </a:xfrm>
          <a:prstGeom prst="roundRect">
            <a:avLst>
              <a:gd name="adj" fmla="val 5000"/>
            </a:avLst>
          </a:prstGeom>
          <a:solidFill>
            <a:srgbClr val="0F766E"/>
          </a:solidFill>
          <a:ln w="12700">
            <a:solidFill>
              <a:srgbClr val="0F766E"/>
            </a:solidFill>
            <a:prstDash val="solid"/>
          </a:ln>
        </p:spPr>
        <p:txBody>
          <a:bodyPr wrap="square" lIns="137160" tIns="109728" rIns="109728" bIns="73152" rtlCol="0" anchor="t"/>
          <a:lstStyle/>
          <a:p>
            <a:pPr marL="0" indent="0">
              <a:buNone/>
            </a:pPr>
            <a:r>
              <a:rPr lang="en-US" sz="2200" b="1" dirty="0">
                <a:solidFill>
                  <a:srgbClr val="FFFFFF"/>
                </a:solidFill>
                <a:latin typeface="Calibri" pitchFamily="34" charset="0"/>
                <a:ea typeface="Calibri" pitchFamily="34" charset="-122"/>
                <a:cs typeface="Calibri" pitchFamily="34" charset="-120"/>
              </a:rPr>
              <a:t>2NF</a:t>
            </a:r>
            <a:endParaRPr lang="en-US" sz="2200" dirty="0"/>
          </a:p>
          <a:p>
            <a:pPr marL="0" indent="0">
              <a:spcAft>
                <a:spcPts val="600"/>
              </a:spcAft>
              <a:buNone/>
            </a:pPr>
            <a:r>
              <a:rPr lang="en-US" sz="1100" b="1" dirty="0">
                <a:solidFill>
                  <a:srgbClr val="FFFFFF"/>
                </a:solidFill>
                <a:latin typeface="Calibri" pitchFamily="34" charset="0"/>
                <a:ea typeface="Calibri" pitchFamily="34" charset="-122"/>
                <a:cs typeface="Calibri" pitchFamily="34" charset="-120"/>
              </a:rPr>
              <a:t>No partial dependency</a:t>
            </a:r>
            <a:endParaRPr lang="en-US" sz="1100" dirty="0"/>
          </a:p>
          <a:p>
            <a:pPr marL="0" indent="0">
              <a:buNone/>
            </a:pPr>
            <a:r>
              <a:rPr lang="en-US" sz="1000" b="1" dirty="0">
                <a:solidFill>
                  <a:srgbClr val="E2E8F0"/>
                </a:solidFill>
                <a:latin typeface="Calibri" pitchFamily="34" charset="0"/>
                <a:ea typeface="Calibri" pitchFamily="34" charset="-122"/>
                <a:cs typeface="Calibri" pitchFamily="34" charset="-120"/>
              </a:rPr>
              <a:t>Removes: </a:t>
            </a:r>
            <a:r>
              <a:rPr lang="en-US" sz="1000" dirty="0">
                <a:solidFill>
                  <a:srgbClr val="FFFFFF"/>
                </a:solidFill>
                <a:latin typeface="Calibri" pitchFamily="34" charset="0"/>
                <a:ea typeface="Calibri" pitchFamily="34" charset="-122"/>
                <a:cs typeface="Calibri" pitchFamily="34" charset="-120"/>
              </a:rPr>
              <a:t>Parent facts repeated on every child row</a:t>
            </a:r>
            <a:endParaRPr lang="en-US" sz="1000" dirty="0"/>
          </a:p>
        </p:txBody>
      </p:sp>
      <p:sp>
        <p:nvSpPr>
          <p:cNvPr id="6" name="a3u_st5"/>
          <p:cNvSpPr txBox="1"/>
          <p:nvPr/>
        </p:nvSpPr>
        <p:spPr>
          <a:xfrm>
            <a:off x="4663440" y="2331720"/>
            <a:ext cx="1965960" cy="2331720"/>
          </a:xfrm>
          <a:prstGeom prst="roundRect">
            <a:avLst>
              <a:gd name="adj" fmla="val 5000"/>
            </a:avLst>
          </a:prstGeom>
          <a:solidFill>
            <a:srgbClr val="8B5CF6"/>
          </a:solidFill>
          <a:ln w="12700">
            <a:solidFill>
              <a:srgbClr val="8B5CF6"/>
            </a:solidFill>
            <a:prstDash val="solid"/>
          </a:ln>
        </p:spPr>
        <p:txBody>
          <a:bodyPr wrap="square" lIns="137160" tIns="109728" rIns="109728" bIns="73152" rtlCol="0" anchor="t"/>
          <a:lstStyle/>
          <a:p>
            <a:pPr marL="0" indent="0">
              <a:buNone/>
            </a:pPr>
            <a:r>
              <a:rPr lang="en-US" sz="2200" b="1" dirty="0">
                <a:solidFill>
                  <a:srgbClr val="FFFFFF"/>
                </a:solidFill>
                <a:latin typeface="Calibri" pitchFamily="34" charset="0"/>
                <a:ea typeface="Calibri" pitchFamily="34" charset="-122"/>
                <a:cs typeface="Calibri" pitchFamily="34" charset="-120"/>
              </a:rPr>
              <a:t>3NF</a:t>
            </a:r>
            <a:endParaRPr lang="en-US" sz="2200" dirty="0"/>
          </a:p>
          <a:p>
            <a:pPr marL="0" indent="0">
              <a:spcAft>
                <a:spcPts val="600"/>
              </a:spcAft>
              <a:buNone/>
            </a:pPr>
            <a:r>
              <a:rPr lang="en-US" sz="1100" b="1" dirty="0">
                <a:solidFill>
                  <a:srgbClr val="FFFFFF"/>
                </a:solidFill>
                <a:latin typeface="Calibri" pitchFamily="34" charset="0"/>
                <a:ea typeface="Calibri" pitchFamily="34" charset="-122"/>
                <a:cs typeface="Calibri" pitchFamily="34" charset="-120"/>
              </a:rPr>
              <a:t>No transitive dependency</a:t>
            </a:r>
            <a:endParaRPr lang="en-US" sz="1100" dirty="0"/>
          </a:p>
          <a:p>
            <a:pPr marL="0" indent="0">
              <a:buNone/>
            </a:pPr>
            <a:r>
              <a:rPr lang="en-US" sz="1000" b="1" dirty="0">
                <a:solidFill>
                  <a:srgbClr val="E2E8F0"/>
                </a:solidFill>
                <a:latin typeface="Calibri" pitchFamily="34" charset="0"/>
                <a:ea typeface="Calibri" pitchFamily="34" charset="-122"/>
                <a:cs typeface="Calibri" pitchFamily="34" charset="-120"/>
              </a:rPr>
              <a:t>Removes: </a:t>
            </a:r>
            <a:r>
              <a:rPr lang="en-US" sz="1000" dirty="0">
                <a:solidFill>
                  <a:srgbClr val="FFFFFF"/>
                </a:solidFill>
                <a:latin typeface="Calibri" pitchFamily="34" charset="0"/>
                <a:ea typeface="Calibri" pitchFamily="34" charset="-122"/>
                <a:cs typeface="Calibri" pitchFamily="34" charset="-120"/>
              </a:rPr>
              <a:t>Update anomaly — divergent spellings</a:t>
            </a:r>
            <a:endParaRPr lang="en-US" sz="1000" dirty="0"/>
          </a:p>
        </p:txBody>
      </p:sp>
      <p:sp>
        <p:nvSpPr>
          <p:cNvPr id="7" name="a4u_st6"/>
          <p:cNvSpPr txBox="1"/>
          <p:nvPr/>
        </p:nvSpPr>
        <p:spPr>
          <a:xfrm>
            <a:off x="6766560" y="1874520"/>
            <a:ext cx="1965960" cy="2788920"/>
          </a:xfrm>
          <a:prstGeom prst="roundRect">
            <a:avLst>
              <a:gd name="adj" fmla="val 5000"/>
            </a:avLst>
          </a:prstGeom>
          <a:solidFill>
            <a:srgbClr val="6D28D9"/>
          </a:solidFill>
          <a:ln w="12700">
            <a:solidFill>
              <a:srgbClr val="6D28D9"/>
            </a:solidFill>
            <a:prstDash val="solid"/>
          </a:ln>
        </p:spPr>
        <p:txBody>
          <a:bodyPr wrap="square" lIns="137160" tIns="109728" rIns="109728" bIns="73152" rtlCol="0" anchor="t"/>
          <a:lstStyle/>
          <a:p>
            <a:pPr marL="0" indent="0">
              <a:buNone/>
            </a:pPr>
            <a:r>
              <a:rPr lang="en-US" sz="2200" b="1" dirty="0">
                <a:solidFill>
                  <a:srgbClr val="FFFFFF"/>
                </a:solidFill>
                <a:latin typeface="Calibri" pitchFamily="34" charset="0"/>
                <a:ea typeface="Calibri" pitchFamily="34" charset="-122"/>
                <a:cs typeface="Calibri" pitchFamily="34" charset="-120"/>
              </a:rPr>
              <a:t>BCNF</a:t>
            </a:r>
            <a:endParaRPr lang="en-US" sz="2200" dirty="0"/>
          </a:p>
          <a:p>
            <a:pPr marL="0" indent="0">
              <a:spcAft>
                <a:spcPts val="600"/>
              </a:spcAft>
              <a:buNone/>
            </a:pPr>
            <a:r>
              <a:rPr lang="en-US" sz="1100" b="1" dirty="0">
                <a:solidFill>
                  <a:srgbClr val="FFFFFF"/>
                </a:solidFill>
                <a:latin typeface="Calibri" pitchFamily="34" charset="0"/>
                <a:ea typeface="Calibri" pitchFamily="34" charset="-122"/>
                <a:cs typeface="Calibri" pitchFamily="34" charset="-120"/>
              </a:rPr>
              <a:t>Every determinant a candidate key</a:t>
            </a:r>
            <a:endParaRPr lang="en-US" sz="1100" dirty="0"/>
          </a:p>
          <a:p>
            <a:pPr marL="0" indent="0">
              <a:buNone/>
            </a:pPr>
            <a:r>
              <a:rPr lang="en-US" sz="1000" b="1" dirty="0">
                <a:solidFill>
                  <a:srgbClr val="E2E8F0"/>
                </a:solidFill>
                <a:latin typeface="Calibri" pitchFamily="34" charset="0"/>
                <a:ea typeface="Calibri" pitchFamily="34" charset="-122"/>
                <a:cs typeface="Calibri" pitchFamily="34" charset="-120"/>
              </a:rPr>
              <a:t>Removes: </a:t>
            </a:r>
            <a:r>
              <a:rPr lang="en-US" sz="1000" dirty="0">
                <a:solidFill>
                  <a:srgbClr val="FFFFFF"/>
                </a:solidFill>
                <a:latin typeface="Calibri" pitchFamily="34" charset="0"/>
                <a:ea typeface="Calibri" pitchFamily="34" charset="-122"/>
                <a:cs typeface="Calibri" pitchFamily="34" charset="-120"/>
              </a:rPr>
              <a:t>Residual redundancy with overlapping keys</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ppt_y+0.1"/>
                                          </p:val>
                                        </p:tav>
                                        <p:tav tm="100000">
                                          <p:val>
                                            <p:strVal val="#ppt_y"/>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500" fill="hold"/>
                                        <p:tgtEl>
                                          <p:spTgt spid="5"/>
                                        </p:tgtEl>
                                        <p:attrNameLst>
                                          <p:attrName>ppt_x</p:attrName>
                                        </p:attrNameLst>
                                      </p:cBhvr>
                                      <p:tavLst>
                                        <p:tav tm="0">
                                          <p:val>
                                            <p:strVal val="#ppt_x"/>
                                          </p:val>
                                        </p:tav>
                                        <p:tav tm="100000">
                                          <p:val>
                                            <p:strVal val="#ppt_x"/>
                                          </p:val>
                                        </p:tav>
                                      </p:tavLst>
                                    </p:anim>
                                    <p:anim calcmode="lin" valueType="num">
                                      <p:cBhvr additive="base">
                                        <p:cTn id="15" dur="500" fill="hold"/>
                                        <p:tgtEl>
                                          <p:spTgt spid="5"/>
                                        </p:tgtEl>
                                        <p:attrNameLst>
                                          <p:attrName>ppt_y</p:attrName>
                                        </p:attrNameLst>
                                      </p:cBhvr>
                                      <p:tavLst>
                                        <p:tav tm="0">
                                          <p:val>
                                            <p:strVal val="#ppt_y+0.1"/>
                                          </p:val>
                                        </p:tav>
                                        <p:tav tm="100000">
                                          <p:val>
                                            <p:strVal val="#ppt_y"/>
                                          </p:val>
                                        </p:tav>
                                      </p:tavLst>
                                    </p:anim>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ppt_y+0.1"/>
                                          </p:val>
                                        </p:tav>
                                        <p:tav tm="100000">
                                          <p:val>
                                            <p:strVal val="#ppt_y"/>
                                          </p:val>
                                        </p:tav>
                                      </p:tavLst>
                                    </p:anim>
                                    <p:animEffect transition="in" filter="fade">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ppt_x"/>
                                          </p:val>
                                        </p:tav>
                                        <p:tav tm="100000">
                                          <p:val>
                                            <p:strVal val="#ppt_x"/>
                                          </p:val>
                                        </p:tav>
                                      </p:tavLst>
                                    </p:anim>
                                    <p:anim calcmode="lin" valueType="num">
                                      <p:cBhvr additive="base">
                                        <p:cTn id="29" dur="500" fill="hold"/>
                                        <p:tgtEl>
                                          <p:spTgt spid="7"/>
                                        </p:tgtEl>
                                        <p:attrNameLst>
                                          <p:attrName>ppt_y</p:attrName>
                                        </p:attrNameLst>
                                      </p:cBhvr>
                                      <p:tavLst>
                                        <p:tav tm="0">
                                          <p:val>
                                            <p:strVal val="#ppt_y+0.1"/>
                                          </p:val>
                                        </p:tav>
                                        <p:tav tm="100000">
                                          <p:val>
                                            <p:strVal val="#ppt_y"/>
                                          </p:val>
                                        </p:tav>
                                      </p:tavLst>
                                    </p:anim>
                                    <p:animEffect transition="in" filter="fade">
                                      <p:cBhvr>
                                        <p:cTn id="3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a0f_n1"/>
          <p:cNvSpPr txBox="1"/>
          <p:nvPr/>
        </p:nvSpPr>
        <p:spPr>
          <a:xfrm>
            <a:off x="548640" y="1188720"/>
            <a:ext cx="4114800" cy="822960"/>
          </a:xfrm>
          <a:prstGeom prst="rect">
            <a:avLst/>
          </a:prstGeom>
          <a:noFill/>
          <a:ln/>
        </p:spPr>
        <p:txBody>
          <a:bodyPr wrap="square" lIns="0" tIns="0" rIns="0" bIns="0" rtlCol="0" anchor="ctr"/>
          <a:lstStyle/>
          <a:p>
            <a:pPr marL="0" indent="0">
              <a:buNone/>
            </a:pPr>
            <a:r>
              <a:rPr lang="en-US" sz="6000" b="1" dirty="0">
                <a:solidFill>
                  <a:srgbClr val="A78BFA"/>
                </a:solidFill>
                <a:latin typeface="Calibri" pitchFamily="34" charset="0"/>
                <a:ea typeface="Calibri" pitchFamily="34" charset="-122"/>
                <a:cs typeface="Calibri" pitchFamily="34" charset="-120"/>
              </a:rPr>
              <a:t>06</a:t>
            </a:r>
            <a:endParaRPr lang="en-US" sz="6000" dirty="0"/>
          </a:p>
        </p:txBody>
      </p:sp>
      <p:sp>
        <p:nvSpPr>
          <p:cNvPr id="3" name="a0ud200_h2"/>
          <p:cNvSpPr txBox="1"/>
          <p:nvPr/>
        </p:nvSpPr>
        <p:spPr>
          <a:xfrm>
            <a:off x="548640" y="2011680"/>
            <a:ext cx="4572000" cy="82296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DENORMALIZE</a:t>
            </a:r>
            <a:endParaRPr lang="en-US" sz="4400" dirty="0"/>
          </a:p>
        </p:txBody>
      </p:sp>
      <p:sp>
        <p:nvSpPr>
          <p:cNvPr id="4" name="a0fd450_t3"/>
          <p:cNvSpPr txBox="1"/>
          <p:nvPr/>
        </p:nvSpPr>
        <p:spPr>
          <a:xfrm>
            <a:off x="548640" y="2834640"/>
            <a:ext cx="4389120" cy="731520"/>
          </a:xfrm>
          <a:prstGeom prst="rect">
            <a:avLst/>
          </a:prstGeom>
          <a:noFill/>
          <a:ln/>
        </p:spPr>
        <p:txBody>
          <a:bodyPr wrap="square" lIns="0" tIns="0" rIns="0" bIns="0" rtlCol="0" anchor="t"/>
          <a:lstStyle/>
          <a:p>
            <a:pPr marL="0" indent="0">
              <a:buNone/>
            </a:pPr>
            <a:r>
              <a:rPr lang="en-US" sz="1700" dirty="0">
                <a:solidFill>
                  <a:srgbClr val="CBD5E1"/>
                </a:solidFill>
                <a:latin typeface="Calibri" pitchFamily="34" charset="0"/>
                <a:ea typeface="Calibri" pitchFamily="34" charset="-122"/>
                <a:cs typeface="Calibri" pitchFamily="34" charset="-120"/>
              </a:rPr>
              <a:t>Break the rules on purpose — and prove the copy is still right</a:t>
            </a:r>
            <a:endParaRPr lang="en-US" sz="1700" dirty="0"/>
          </a:p>
        </p:txBody>
      </p:sp>
      <p:sp>
        <p:nvSpPr>
          <p:cNvPr id="5" name="a0fd300_v4"/>
          <p:cNvSpPr/>
          <p:nvPr/>
        </p:nvSpPr>
        <p:spPr>
          <a:xfrm>
            <a:off x="5162595" y="1737898"/>
            <a:ext cx="1153758" cy="314661"/>
          </a:xfrm>
          <a:prstGeom prst="roundRect">
            <a:avLst>
              <a:gd name="adj" fmla="val 16000"/>
            </a:avLst>
          </a:prstGeom>
          <a:solidFill>
            <a:srgbClr val="14B8A6"/>
          </a:solidFill>
          <a:ln>
            <a:noFill/>
          </a:ln>
        </p:spPr>
      </p:sp>
      <p:sp>
        <p:nvSpPr>
          <p:cNvPr id="6" name="a0fd300_v5"/>
          <p:cNvSpPr/>
          <p:nvPr/>
        </p:nvSpPr>
        <p:spPr>
          <a:xfrm>
            <a:off x="5162595" y="2199401"/>
            <a:ext cx="1153758" cy="314661"/>
          </a:xfrm>
          <a:prstGeom prst="roundRect">
            <a:avLst>
              <a:gd name="adj" fmla="val 16000"/>
            </a:avLst>
          </a:prstGeom>
          <a:solidFill>
            <a:srgbClr val="F59E0B"/>
          </a:solidFill>
          <a:ln>
            <a:noFill/>
          </a:ln>
        </p:spPr>
      </p:sp>
      <p:sp>
        <p:nvSpPr>
          <p:cNvPr id="7" name="a0fd300_v6"/>
          <p:cNvSpPr/>
          <p:nvPr/>
        </p:nvSpPr>
        <p:spPr>
          <a:xfrm>
            <a:off x="5162595" y="2660904"/>
            <a:ext cx="1153758" cy="314661"/>
          </a:xfrm>
          <a:prstGeom prst="roundRect">
            <a:avLst>
              <a:gd name="adj" fmla="val 16000"/>
            </a:avLst>
          </a:prstGeom>
          <a:solidFill>
            <a:srgbClr val="8B5CF6"/>
          </a:solidFill>
          <a:ln>
            <a:noFill/>
          </a:ln>
        </p:spPr>
      </p:sp>
      <p:sp>
        <p:nvSpPr>
          <p:cNvPr id="8" name="a0fd300_v7"/>
          <p:cNvSpPr/>
          <p:nvPr/>
        </p:nvSpPr>
        <p:spPr>
          <a:xfrm>
            <a:off x="6547104" y="2136469"/>
            <a:ext cx="629322" cy="419548"/>
          </a:xfrm>
          <a:prstGeom prst="rightArrow">
            <a:avLst/>
          </a:prstGeom>
          <a:solidFill>
            <a:srgbClr val="A78BFA"/>
          </a:solidFill>
          <a:ln>
            <a:noFill/>
          </a:ln>
        </p:spPr>
      </p:sp>
      <p:sp>
        <p:nvSpPr>
          <p:cNvPr id="9" name="a0fd300_v8"/>
          <p:cNvSpPr/>
          <p:nvPr/>
        </p:nvSpPr>
        <p:spPr>
          <a:xfrm>
            <a:off x="7428155" y="1695943"/>
            <a:ext cx="1216690" cy="1300600"/>
          </a:xfrm>
          <a:prstGeom prst="roundRect">
            <a:avLst>
              <a:gd name="adj" fmla="val 10000"/>
            </a:avLst>
          </a:prstGeom>
          <a:solidFill>
            <a:srgbClr val="1E293B"/>
          </a:solidFill>
          <a:ln>
            <a:noFill/>
          </a:ln>
        </p:spPr>
      </p:sp>
      <p:sp>
        <p:nvSpPr>
          <p:cNvPr id="10" name="a0fd300_v9"/>
          <p:cNvSpPr/>
          <p:nvPr/>
        </p:nvSpPr>
        <p:spPr>
          <a:xfrm>
            <a:off x="7554020" y="1863762"/>
            <a:ext cx="272706" cy="964961"/>
          </a:xfrm>
          <a:prstGeom prst="rect">
            <a:avLst/>
          </a:prstGeom>
          <a:solidFill>
            <a:srgbClr val="14B8A6"/>
          </a:solidFill>
          <a:ln>
            <a:noFill/>
          </a:ln>
        </p:spPr>
      </p:sp>
      <p:sp>
        <p:nvSpPr>
          <p:cNvPr id="11" name="a0fd300_v10"/>
          <p:cNvSpPr/>
          <p:nvPr/>
        </p:nvSpPr>
        <p:spPr>
          <a:xfrm>
            <a:off x="7900147" y="1863762"/>
            <a:ext cx="272706" cy="964961"/>
          </a:xfrm>
          <a:prstGeom prst="rect">
            <a:avLst/>
          </a:prstGeom>
          <a:solidFill>
            <a:srgbClr val="F59E0B"/>
          </a:solidFill>
          <a:ln>
            <a:noFill/>
          </a:ln>
        </p:spPr>
      </p:sp>
      <p:sp>
        <p:nvSpPr>
          <p:cNvPr id="12" name="a0fd300_v11"/>
          <p:cNvSpPr/>
          <p:nvPr/>
        </p:nvSpPr>
        <p:spPr>
          <a:xfrm>
            <a:off x="8246274" y="1863762"/>
            <a:ext cx="272706" cy="964961"/>
          </a:xfrm>
          <a:prstGeom prst="rect">
            <a:avLst/>
          </a:prstGeom>
          <a:solidFill>
            <a:srgbClr val="8B5CF6"/>
          </a:solidFill>
          <a:ln>
            <a:noFill/>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 presetClass="entr" presetSubtype="4" fill="hold" grpId="0" nodeType="withEffect">
                                  <p:stCondLst>
                                    <p:cond delay="20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fill="hold"/>
                                        <p:tgtEl>
                                          <p:spTgt spid="3"/>
                                        </p:tgtEl>
                                        <p:attrNameLst>
                                          <p:attrName>ppt_x</p:attrName>
                                        </p:attrNameLst>
                                      </p:cBhvr>
                                      <p:tavLst>
                                        <p:tav tm="0">
                                          <p:val>
                                            <p:strVal val="#ppt_x"/>
                                          </p:val>
                                        </p:tav>
                                        <p:tav tm="100000">
                                          <p:val>
                                            <p:strVal val="#ppt_x"/>
                                          </p:val>
                                        </p:tav>
                                      </p:tavLst>
                                    </p:anim>
                                    <p:anim calcmode="lin" valueType="num">
                                      <p:cBhvr additive="base">
                                        <p:cTn id="11" dur="500" fill="hold"/>
                                        <p:tgtEl>
                                          <p:spTgt spid="3"/>
                                        </p:tgtEl>
                                        <p:attrNameLst>
                                          <p:attrName>ppt_y</p:attrName>
                                        </p:attrNameLst>
                                      </p:cBhvr>
                                      <p:tavLst>
                                        <p:tav tm="0">
                                          <p:val>
                                            <p:strVal val="#ppt_y+0.1"/>
                                          </p:val>
                                        </p:tav>
                                        <p:tav tm="100000">
                                          <p:val>
                                            <p:strVal val="#ppt_y"/>
                                          </p:val>
                                        </p:tav>
                                      </p:tavLst>
                                    </p:anim>
                                    <p:animEffect transition="in" filter="fade">
                                      <p:cBhvr>
                                        <p:cTn id="12" dur="500"/>
                                        <p:tgtEl>
                                          <p:spTgt spid="3"/>
                                        </p:tgtEl>
                                      </p:cBhvr>
                                    </p:animEffect>
                                  </p:childTnLst>
                                </p:cTn>
                              </p:par>
                              <p:par>
                                <p:cTn id="13" presetID="10" presetClass="entr" presetSubtype="0" fill="hold" grpId="0" nodeType="withEffect">
                                  <p:stCondLst>
                                    <p:cond delay="45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10" presetClass="entr" presetSubtype="0" fill="hold" grpId="0" nodeType="withEffect">
                                  <p:stCondLst>
                                    <p:cond delay="3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par>
                                <p:cTn id="19" presetID="10" presetClass="entr" presetSubtype="0" fill="hold" grpId="0" nodeType="withEffect">
                                  <p:stCondLst>
                                    <p:cond delay="30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par>
                                <p:cTn id="22" presetID="10" presetClass="entr" presetSubtype="0" fill="hold" grpId="0" nodeType="withEffect">
                                  <p:stCondLst>
                                    <p:cond delay="30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par>
                                <p:cTn id="25" presetID="10" presetClass="entr" presetSubtype="0" fill="hold" grpId="0" nodeType="withEffect">
                                  <p:stCondLst>
                                    <p:cond delay="30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ntr" presetSubtype="0" fill="hold" grpId="0" nodeType="withEffect">
                                  <p:stCondLst>
                                    <p:cond delay="30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par>
                                <p:cTn id="31" presetID="10" presetClass="entr" presetSubtype="0" fill="hold" grpId="0" nodeType="withEffect">
                                  <p:stCondLst>
                                    <p:cond delay="30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par>
                                <p:cTn id="34" presetID="10" presetClass="entr" presetSubtype="0" fill="hold" grpId="0" nodeType="withEffect">
                                  <p:stCondLst>
                                    <p:cond delay="30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00"/>
                                        <p:tgtEl>
                                          <p:spTgt spid="11"/>
                                        </p:tgtEl>
                                      </p:cBhvr>
                                    </p:animEffect>
                                  </p:childTnLst>
                                </p:cTn>
                              </p:par>
                              <p:par>
                                <p:cTn id="37" presetID="10" presetClass="entr" presetSubtype="0" fill="hold" grpId="0" nodeType="withEffect">
                                  <p:stCondLst>
                                    <p:cond delay="30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1"/>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When to Break the Rules</a:t>
            </a:r>
            <a:endParaRPr lang="en-US" sz="2800" dirty="0"/>
          </a:p>
        </p:txBody>
      </p:sp>
      <p:sp>
        <p:nvSpPr>
          <p:cNvPr id="3" name="Text 2"/>
          <p:cNvSpPr txBox="1"/>
          <p:nvPr/>
        </p:nvSpPr>
        <p:spPr>
          <a:xfrm>
            <a:off x="457200" y="749808"/>
            <a:ext cx="8229600" cy="320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Normalization optimizes correct, cheap writes. Reporting wants fast reads.</a:t>
            </a:r>
            <a:endParaRPr lang="en-US" sz="1300" dirty="0"/>
          </a:p>
        </p:txBody>
      </p:sp>
      <p:sp>
        <p:nvSpPr>
          <p:cNvPr id="4" name="a1u_a3"/>
          <p:cNvSpPr/>
          <p:nvPr/>
        </p:nvSpPr>
        <p:spPr>
          <a:xfrm>
            <a:off x="457200" y="1234440"/>
            <a:ext cx="3840480" cy="1051560"/>
          </a:xfrm>
          <a:prstGeom prst="roundRect">
            <a:avLst>
              <a:gd name="adj" fmla="val 6000"/>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sp>
        <p:nvSpPr>
          <p:cNvPr id="5" name="a1u_at4"/>
          <p:cNvSpPr txBox="1"/>
          <p:nvPr/>
        </p:nvSpPr>
        <p:spPr>
          <a:xfrm>
            <a:off x="640080" y="1325880"/>
            <a:ext cx="3566160" cy="320040"/>
          </a:xfrm>
          <a:prstGeom prst="rect">
            <a:avLst/>
          </a:prstGeom>
          <a:noFill/>
          <a:ln/>
        </p:spPr>
        <p:txBody>
          <a:bodyPr wrap="square" lIns="0" tIns="0" rIns="0" bIns="0" rtlCol="0" anchor="ctr"/>
          <a:lstStyle/>
          <a:p>
            <a:pPr marL="0" indent="0">
              <a:buNone/>
            </a:pPr>
            <a:r>
              <a:rPr lang="en-US" sz="1300" b="1" dirty="0">
                <a:solidFill>
                  <a:srgbClr val="0F766E"/>
                </a:solidFill>
                <a:latin typeface="Calibri" pitchFamily="34" charset="0"/>
                <a:ea typeface="Calibri" pitchFamily="34" charset="-122"/>
                <a:cs typeface="Calibri" pitchFamily="34" charset="-120"/>
              </a:rPr>
              <a:t>NORMALIZED</a:t>
            </a:r>
            <a:endParaRPr lang="en-US" sz="1300" dirty="0"/>
          </a:p>
        </p:txBody>
      </p:sp>
      <p:sp>
        <p:nvSpPr>
          <p:cNvPr id="6" name="a1u_ad5"/>
          <p:cNvSpPr txBox="1"/>
          <p:nvPr/>
        </p:nvSpPr>
        <p:spPr>
          <a:xfrm>
            <a:off x="640080" y="1664208"/>
            <a:ext cx="3566160" cy="548640"/>
          </a:xfrm>
          <a:prstGeom prst="rect">
            <a:avLst/>
          </a:prstGeom>
          <a:noFill/>
          <a:ln/>
        </p:spPr>
        <p:txBody>
          <a:bodyPr wrap="square" lIns="0" tIns="0" rIns="0" bIns="0" rtlCol="0" anchor="t"/>
          <a:lstStyle/>
          <a:p>
            <a:pPr marL="0" indent="0">
              <a:buNone/>
            </a:pPr>
            <a:r>
              <a:rPr lang="en-US" sz="1150" dirty="0">
                <a:solidFill>
                  <a:srgbClr val="334155"/>
                </a:solidFill>
                <a:latin typeface="Calibri" pitchFamily="34" charset="0"/>
                <a:ea typeface="Calibri" pitchFamily="34" charset="-122"/>
                <a:cs typeface="Calibri" pitchFamily="34" charset="-120"/>
              </a:rPr>
              <a:t>Each fact stored once. Writes are safe and cheap; reads need joins.</a:t>
            </a:r>
            <a:endParaRPr lang="en-US" sz="1150" dirty="0"/>
          </a:p>
        </p:txBody>
      </p:sp>
      <p:sp>
        <p:nvSpPr>
          <p:cNvPr id="7" name="a1u_x6"/>
          <p:cNvSpPr txBox="1"/>
          <p:nvPr/>
        </p:nvSpPr>
        <p:spPr>
          <a:xfrm>
            <a:off x="4343400" y="1554480"/>
            <a:ext cx="457200" cy="411480"/>
          </a:xfrm>
          <a:prstGeom prst="rect">
            <a:avLst/>
          </a:prstGeom>
          <a:noFill/>
          <a:ln/>
        </p:spPr>
        <p:txBody>
          <a:bodyPr wrap="square" lIns="0" tIns="0" rIns="0" bIns="0" rtlCol="0" anchor="ctr"/>
          <a:lstStyle/>
          <a:p>
            <a:pPr marL="0" indent="0" algn="ctr">
              <a:buNone/>
            </a:pPr>
            <a:r>
              <a:rPr lang="en-US" sz="2200" b="1" dirty="0">
                <a:solidFill>
                  <a:srgbClr val="6D28D9"/>
                </a:solidFill>
                <a:latin typeface="Calibri" pitchFamily="34" charset="0"/>
                <a:ea typeface="Calibri" pitchFamily="34" charset="-122"/>
                <a:cs typeface="Calibri" pitchFamily="34" charset="-120"/>
              </a:rPr>
              <a:t>⇄</a:t>
            </a:r>
            <a:endParaRPr lang="en-US" sz="2200" dirty="0"/>
          </a:p>
        </p:txBody>
      </p:sp>
      <p:sp>
        <p:nvSpPr>
          <p:cNvPr id="8" name="a1u_b7"/>
          <p:cNvSpPr/>
          <p:nvPr/>
        </p:nvSpPr>
        <p:spPr>
          <a:xfrm>
            <a:off x="4846320" y="1234440"/>
            <a:ext cx="3840480" cy="1051560"/>
          </a:xfrm>
          <a:prstGeom prst="roundRect">
            <a:avLst>
              <a:gd name="adj" fmla="val 6000"/>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sp>
        <p:nvSpPr>
          <p:cNvPr id="9" name="a1u_bt8"/>
          <p:cNvSpPr txBox="1"/>
          <p:nvPr/>
        </p:nvSpPr>
        <p:spPr>
          <a:xfrm>
            <a:off x="5029200" y="1325880"/>
            <a:ext cx="3566160" cy="320040"/>
          </a:xfrm>
          <a:prstGeom prst="rect">
            <a:avLst/>
          </a:prstGeom>
          <a:noFill/>
          <a:ln/>
        </p:spPr>
        <p:txBody>
          <a:bodyPr wrap="square" lIns="0" tIns="0" rIns="0" bIns="0" rtlCol="0" anchor="ctr"/>
          <a:lstStyle/>
          <a:p>
            <a:pPr marL="0" indent="0">
              <a:buNone/>
            </a:pPr>
            <a:r>
              <a:rPr lang="en-US" sz="1300" b="1" dirty="0">
                <a:solidFill>
                  <a:srgbClr val="B45309"/>
                </a:solidFill>
                <a:latin typeface="Calibri" pitchFamily="34" charset="0"/>
                <a:ea typeface="Calibri" pitchFamily="34" charset="-122"/>
                <a:cs typeface="Calibri" pitchFamily="34" charset="-120"/>
              </a:rPr>
              <a:t>DENORMALIZED</a:t>
            </a:r>
            <a:endParaRPr lang="en-US" sz="1300" dirty="0"/>
          </a:p>
        </p:txBody>
      </p:sp>
      <p:sp>
        <p:nvSpPr>
          <p:cNvPr id="10" name="a1u_bd9"/>
          <p:cNvSpPr txBox="1"/>
          <p:nvPr/>
        </p:nvSpPr>
        <p:spPr>
          <a:xfrm>
            <a:off x="5029200" y="1664208"/>
            <a:ext cx="3566160" cy="548640"/>
          </a:xfrm>
          <a:prstGeom prst="rect">
            <a:avLst/>
          </a:prstGeom>
          <a:noFill/>
          <a:ln/>
        </p:spPr>
        <p:txBody>
          <a:bodyPr wrap="square" lIns="0" tIns="0" rIns="0" bIns="0" rtlCol="0" anchor="t"/>
          <a:lstStyle/>
          <a:p>
            <a:pPr marL="0" indent="0">
              <a:buNone/>
            </a:pPr>
            <a:r>
              <a:rPr lang="en-US" sz="1150" dirty="0">
                <a:solidFill>
                  <a:srgbClr val="334155"/>
                </a:solidFill>
                <a:latin typeface="Calibri" pitchFamily="34" charset="0"/>
                <a:ea typeface="Calibri" pitchFamily="34" charset="-122"/>
                <a:cs typeface="Calibri" pitchFamily="34" charset="-120"/>
              </a:rPr>
              <a:t>Some facts copied or pre-computed. Reads are fast; every write must keep the copies right.</a:t>
            </a:r>
            <a:endParaRPr lang="en-US" sz="1150" dirty="0"/>
          </a:p>
        </p:txBody>
      </p:sp>
      <p:sp>
        <p:nvSpPr>
          <p:cNvPr id="11" name="a2f_q10"/>
          <p:cNvSpPr txBox="1"/>
          <p:nvPr/>
        </p:nvSpPr>
        <p:spPr>
          <a:xfrm>
            <a:off x="457200" y="2514600"/>
            <a:ext cx="8229600" cy="274320"/>
          </a:xfrm>
          <a:prstGeom prst="rect">
            <a:avLst/>
          </a:prstGeom>
          <a:noFill/>
          <a:ln/>
        </p:spPr>
        <p:txBody>
          <a:bodyPr wrap="square" lIns="0" tIns="0" rIns="0" bIns="0" rtlCol="0" anchor="ctr"/>
          <a:lstStyle/>
          <a:p>
            <a:pPr marL="0" indent="0">
              <a:buNone/>
            </a:pPr>
            <a:r>
              <a:rPr lang="en-US" sz="1250" b="1" dirty="0">
                <a:solidFill>
                  <a:srgbClr val="0F172A"/>
                </a:solidFill>
                <a:latin typeface="Calibri" pitchFamily="34" charset="0"/>
                <a:ea typeface="Calibri" pitchFamily="34" charset="-122"/>
                <a:cs typeface="Calibri" pitchFamily="34" charset="-120"/>
              </a:rPr>
              <a:t>Legitimate only when all three conditions hold:</a:t>
            </a:r>
            <a:endParaRPr lang="en-US" sz="1250" dirty="0"/>
          </a:p>
        </p:txBody>
      </p:sp>
      <p:sp>
        <p:nvSpPr>
          <p:cNvPr id="12" name="a3u_c11"/>
          <p:cNvSpPr/>
          <p:nvPr/>
        </p:nvSpPr>
        <p:spPr>
          <a:xfrm>
            <a:off x="457200" y="2880360"/>
            <a:ext cx="2606040" cy="1234440"/>
          </a:xfrm>
          <a:prstGeom prst="roundRect">
            <a:avLst>
              <a:gd name="adj" fmla="val 6000"/>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sp>
        <p:nvSpPr>
          <p:cNvPr id="13" name="a3u_n12"/>
          <p:cNvSpPr txBox="1"/>
          <p:nvPr/>
        </p:nvSpPr>
        <p:spPr>
          <a:xfrm>
            <a:off x="594360" y="3017520"/>
            <a:ext cx="384048" cy="384048"/>
          </a:xfrm>
          <a:prstGeom prst="ellipse">
            <a:avLst/>
          </a:prstGeom>
          <a:solidFill>
            <a:srgbClr val="8B5CF6"/>
          </a:solidFill>
          <a:ln w="12700">
            <a:solidFill>
              <a:srgbClr val="8B5CF6"/>
            </a:solidFill>
            <a:prstDash val="solid"/>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a3u_t13"/>
          <p:cNvSpPr txBox="1"/>
          <p:nvPr/>
        </p:nvSpPr>
        <p:spPr>
          <a:xfrm>
            <a:off x="1097280" y="3017520"/>
            <a:ext cx="1874520" cy="384048"/>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Name the query</a:t>
            </a:r>
            <a:endParaRPr lang="en-US" sz="1300" dirty="0"/>
          </a:p>
        </p:txBody>
      </p:sp>
      <p:sp>
        <p:nvSpPr>
          <p:cNvPr id="15" name="a3u_d14"/>
          <p:cNvSpPr txBox="1"/>
          <p:nvPr/>
        </p:nvSpPr>
        <p:spPr>
          <a:xfrm>
            <a:off x="640080" y="3474720"/>
            <a:ext cx="2286000" cy="59436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You can point at the report or screen that needs it.</a:t>
            </a:r>
            <a:endParaRPr lang="en-US" sz="1100" dirty="0"/>
          </a:p>
        </p:txBody>
      </p:sp>
      <p:sp>
        <p:nvSpPr>
          <p:cNvPr id="16" name="a4u_c15"/>
          <p:cNvSpPr/>
          <p:nvPr/>
        </p:nvSpPr>
        <p:spPr>
          <a:xfrm>
            <a:off x="3268980" y="2880360"/>
            <a:ext cx="2606040" cy="1234440"/>
          </a:xfrm>
          <a:prstGeom prst="roundRect">
            <a:avLst>
              <a:gd name="adj" fmla="val 6000"/>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sp>
        <p:nvSpPr>
          <p:cNvPr id="17" name="a4u_n16"/>
          <p:cNvSpPr txBox="1"/>
          <p:nvPr/>
        </p:nvSpPr>
        <p:spPr>
          <a:xfrm>
            <a:off x="3406140" y="3017520"/>
            <a:ext cx="384048" cy="384048"/>
          </a:xfrm>
          <a:prstGeom prst="ellipse">
            <a:avLst/>
          </a:prstGeom>
          <a:solidFill>
            <a:srgbClr val="8B5CF6"/>
          </a:solidFill>
          <a:ln w="12700">
            <a:solidFill>
              <a:srgbClr val="8B5CF6"/>
            </a:solidFill>
            <a:prstDash val="solid"/>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a4u_t17"/>
          <p:cNvSpPr txBox="1"/>
          <p:nvPr/>
        </p:nvSpPr>
        <p:spPr>
          <a:xfrm>
            <a:off x="3909060" y="3017520"/>
            <a:ext cx="1874520" cy="384048"/>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Measure the problem</a:t>
            </a:r>
            <a:endParaRPr lang="en-US" sz="1300" dirty="0"/>
          </a:p>
        </p:txBody>
      </p:sp>
      <p:sp>
        <p:nvSpPr>
          <p:cNvPr id="19" name="a4u_d18"/>
          <p:cNvSpPr txBox="1"/>
          <p:nvPr/>
        </p:nvSpPr>
        <p:spPr>
          <a:xfrm>
            <a:off x="3451860" y="3474720"/>
            <a:ext cx="2286000" cy="59436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You have timings, not a feeling that it is slow.</a:t>
            </a:r>
            <a:endParaRPr lang="en-US" sz="1100" dirty="0"/>
          </a:p>
        </p:txBody>
      </p:sp>
      <p:sp>
        <p:nvSpPr>
          <p:cNvPr id="20" name="a5u_c19"/>
          <p:cNvSpPr/>
          <p:nvPr/>
        </p:nvSpPr>
        <p:spPr>
          <a:xfrm>
            <a:off x="6080760" y="2880360"/>
            <a:ext cx="2606040" cy="1234440"/>
          </a:xfrm>
          <a:prstGeom prst="roundRect">
            <a:avLst>
              <a:gd name="adj" fmla="val 6000"/>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sp>
        <p:nvSpPr>
          <p:cNvPr id="21" name="a5u_n20"/>
          <p:cNvSpPr txBox="1"/>
          <p:nvPr/>
        </p:nvSpPr>
        <p:spPr>
          <a:xfrm>
            <a:off x="6217920" y="3017520"/>
            <a:ext cx="384048" cy="384048"/>
          </a:xfrm>
          <a:prstGeom prst="ellipse">
            <a:avLst/>
          </a:prstGeom>
          <a:solidFill>
            <a:srgbClr val="8B5CF6"/>
          </a:solidFill>
          <a:ln w="12700">
            <a:solidFill>
              <a:srgbClr val="8B5CF6"/>
            </a:solidFill>
            <a:prstDash val="solid"/>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a5u_t21"/>
          <p:cNvSpPr txBox="1"/>
          <p:nvPr/>
        </p:nvSpPr>
        <p:spPr>
          <a:xfrm>
            <a:off x="6720840" y="3017520"/>
            <a:ext cx="1874520" cy="384048"/>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Have a control</a:t>
            </a:r>
            <a:endParaRPr lang="en-US" sz="1300" dirty="0"/>
          </a:p>
        </p:txBody>
      </p:sp>
      <p:sp>
        <p:nvSpPr>
          <p:cNvPr id="23" name="a5u_d22"/>
          <p:cNvSpPr txBox="1"/>
          <p:nvPr/>
        </p:nvSpPr>
        <p:spPr>
          <a:xfrm>
            <a:off x="6263640" y="3474720"/>
            <a:ext cx="2286000" cy="59436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Something keeps the copy honest — and proves it.</a:t>
            </a:r>
            <a:endParaRPr lang="en-US" sz="1100" dirty="0"/>
          </a:p>
        </p:txBody>
      </p:sp>
      <p:sp>
        <p:nvSpPr>
          <p:cNvPr id="24" name="a6u_w23"/>
          <p:cNvSpPr txBox="1"/>
          <p:nvPr/>
        </p:nvSpPr>
        <p:spPr>
          <a:xfrm>
            <a:off x="457200" y="4297680"/>
            <a:ext cx="8229600" cy="365760"/>
          </a:xfrm>
          <a:prstGeom prst="rect">
            <a:avLst/>
          </a:prstGeom>
          <a:noFill/>
          <a:ln/>
        </p:spPr>
        <p:txBody>
          <a:bodyPr wrap="square" lIns="0" tIns="0" rIns="0" bIns="0" rtlCol="0" anchor="ctr"/>
          <a:lstStyle/>
          <a:p>
            <a:pPr marL="0" indent="0">
              <a:buNone/>
            </a:pPr>
            <a:r>
              <a:rPr lang="en-US" sz="1250" b="1" i="1" dirty="0">
                <a:solidFill>
                  <a:srgbClr val="DC2626"/>
                </a:solidFill>
                <a:latin typeface="Calibri" pitchFamily="34" charset="0"/>
                <a:ea typeface="Calibri" pitchFamily="34" charset="-122"/>
                <a:cs typeface="Calibri" pitchFamily="34" charset="-120"/>
              </a:rPr>
              <a:t>A derived value with no control is a value nobody can trust.</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ppt_y+0.1"/>
                                          </p:val>
                                        </p:tav>
                                        <p:tav tm="100000">
                                          <p:val>
                                            <p:strVal val="#ppt_y"/>
                                          </p:val>
                                        </p:tav>
                                      </p:tavLst>
                                    </p:anim>
                                    <p:animEffect transition="in" filter="fade">
                                      <p:cBhvr>
                                        <p:cTn id="9" dur="500"/>
                                        <p:tgtEl>
                                          <p:spTgt spid="4"/>
                                        </p:tgtEl>
                                      </p:cBhvr>
                                    </p:animEffect>
                                  </p:childTnLst>
                                </p:cTn>
                              </p:par>
                              <p:par>
                                <p:cTn id="10" presetID="2" presetClass="entr" presetSubtype="4"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ppt_y+0.1"/>
                                          </p:val>
                                        </p:tav>
                                        <p:tav tm="100000">
                                          <p:val>
                                            <p:strVal val="#ppt_y"/>
                                          </p:val>
                                        </p:tav>
                                      </p:tavLst>
                                    </p:anim>
                                    <p:animEffect transition="in" filter="fade">
                                      <p:cBhvr>
                                        <p:cTn id="14" dur="500"/>
                                        <p:tgtEl>
                                          <p:spTgt spid="5"/>
                                        </p:tgtEl>
                                      </p:cBhvr>
                                    </p:animEffect>
                                  </p:childTnLst>
                                </p:cTn>
                              </p:par>
                              <p:par>
                                <p:cTn id="15" presetID="2" presetClass="entr" presetSubtype="4"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ppt_y+0.1"/>
                                          </p:val>
                                        </p:tav>
                                        <p:tav tm="100000">
                                          <p:val>
                                            <p:strVal val="#ppt_y"/>
                                          </p:val>
                                        </p:tav>
                                      </p:tavLst>
                                    </p:anim>
                                    <p:animEffect transition="in" filter="fade">
                                      <p:cBhvr>
                                        <p:cTn id="19" dur="500"/>
                                        <p:tgtEl>
                                          <p:spTgt spid="6"/>
                                        </p:tgtEl>
                                      </p:cBhvr>
                                    </p:animEffect>
                                  </p:childTnLst>
                                </p:cTn>
                              </p:par>
                              <p:par>
                                <p:cTn id="20" presetID="2" presetClass="entr" presetSubtype="4"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ppt_y+0.1"/>
                                          </p:val>
                                        </p:tav>
                                        <p:tav tm="100000">
                                          <p:val>
                                            <p:strVal val="#ppt_y"/>
                                          </p:val>
                                        </p:tav>
                                      </p:tavLst>
                                    </p:anim>
                                    <p:animEffect transition="in" filter="fade">
                                      <p:cBhvr>
                                        <p:cTn id="24" dur="500"/>
                                        <p:tgtEl>
                                          <p:spTgt spid="7"/>
                                        </p:tgtEl>
                                      </p:cBhvr>
                                    </p:animEffect>
                                  </p:childTnLst>
                                </p:cTn>
                              </p:par>
                              <p:par>
                                <p:cTn id="25" presetID="2" presetClass="entr" presetSubtype="4"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ppt_y+0.1"/>
                                          </p:val>
                                        </p:tav>
                                        <p:tav tm="100000">
                                          <p:val>
                                            <p:strVal val="#ppt_y"/>
                                          </p:val>
                                        </p:tav>
                                      </p:tavLst>
                                    </p:anim>
                                    <p:animEffect transition="in" filter="fade">
                                      <p:cBhvr>
                                        <p:cTn id="29" dur="500"/>
                                        <p:tgtEl>
                                          <p:spTgt spid="8"/>
                                        </p:tgtEl>
                                      </p:cBhvr>
                                    </p:animEffect>
                                  </p:childTnLst>
                                </p:cTn>
                              </p:par>
                              <p:par>
                                <p:cTn id="30" presetID="2" presetClass="entr" presetSubtype="4"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00" fill="hold"/>
                                        <p:tgtEl>
                                          <p:spTgt spid="9"/>
                                        </p:tgtEl>
                                        <p:attrNameLst>
                                          <p:attrName>ppt_x</p:attrName>
                                        </p:attrNameLst>
                                      </p:cBhvr>
                                      <p:tavLst>
                                        <p:tav tm="0">
                                          <p:val>
                                            <p:strVal val="#ppt_x"/>
                                          </p:val>
                                        </p:tav>
                                        <p:tav tm="100000">
                                          <p:val>
                                            <p:strVal val="#ppt_x"/>
                                          </p:val>
                                        </p:tav>
                                      </p:tavLst>
                                    </p:anim>
                                    <p:anim calcmode="lin" valueType="num">
                                      <p:cBhvr additive="base">
                                        <p:cTn id="33" dur="500" fill="hold"/>
                                        <p:tgtEl>
                                          <p:spTgt spid="9"/>
                                        </p:tgtEl>
                                        <p:attrNameLst>
                                          <p:attrName>ppt_y</p:attrName>
                                        </p:attrNameLst>
                                      </p:cBhvr>
                                      <p:tavLst>
                                        <p:tav tm="0">
                                          <p:val>
                                            <p:strVal val="#ppt_y+0.1"/>
                                          </p:val>
                                        </p:tav>
                                        <p:tav tm="100000">
                                          <p:val>
                                            <p:strVal val="#ppt_y"/>
                                          </p:val>
                                        </p:tav>
                                      </p:tavLst>
                                    </p:anim>
                                    <p:animEffect transition="in" filter="fade">
                                      <p:cBhvr>
                                        <p:cTn id="34" dur="500"/>
                                        <p:tgtEl>
                                          <p:spTgt spid="9"/>
                                        </p:tgtEl>
                                      </p:cBhvr>
                                    </p:animEffect>
                                  </p:childTnLst>
                                </p:cTn>
                              </p:par>
                              <p:par>
                                <p:cTn id="35" presetID="2" presetClass="entr" presetSubtype="4"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ppt_x"/>
                                          </p:val>
                                        </p:tav>
                                        <p:tav tm="100000">
                                          <p:val>
                                            <p:strVal val="#ppt_x"/>
                                          </p:val>
                                        </p:tav>
                                      </p:tavLst>
                                    </p:anim>
                                    <p:anim calcmode="lin" valueType="num">
                                      <p:cBhvr additive="base">
                                        <p:cTn id="38" dur="500" fill="hold"/>
                                        <p:tgtEl>
                                          <p:spTgt spid="10"/>
                                        </p:tgtEl>
                                        <p:attrNameLst>
                                          <p:attrName>ppt_y</p:attrName>
                                        </p:attrNameLst>
                                      </p:cBhvr>
                                      <p:tavLst>
                                        <p:tav tm="0">
                                          <p:val>
                                            <p:strVal val="#ppt_y+0.1"/>
                                          </p:val>
                                        </p:tav>
                                        <p:tav tm="100000">
                                          <p:val>
                                            <p:strVal val="#ppt_y"/>
                                          </p:val>
                                        </p:tav>
                                      </p:tavLst>
                                    </p:anim>
                                    <p:animEffect transition="in" filter="fade">
                                      <p:cBhvr>
                                        <p:cTn id="39" dur="500"/>
                                        <p:tgtEl>
                                          <p:spTgt spid="10"/>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500"/>
                                        <p:tgtEl>
                                          <p:spTgt spid="11"/>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additive="base">
                                        <p:cTn id="49" dur="500" fill="hold"/>
                                        <p:tgtEl>
                                          <p:spTgt spid="12"/>
                                        </p:tgtEl>
                                        <p:attrNameLst>
                                          <p:attrName>ppt_x</p:attrName>
                                        </p:attrNameLst>
                                      </p:cBhvr>
                                      <p:tavLst>
                                        <p:tav tm="0">
                                          <p:val>
                                            <p:strVal val="#ppt_x"/>
                                          </p:val>
                                        </p:tav>
                                        <p:tav tm="100000">
                                          <p:val>
                                            <p:strVal val="#ppt_x"/>
                                          </p:val>
                                        </p:tav>
                                      </p:tavLst>
                                    </p:anim>
                                    <p:anim calcmode="lin" valueType="num">
                                      <p:cBhvr additive="base">
                                        <p:cTn id="50" dur="500" fill="hold"/>
                                        <p:tgtEl>
                                          <p:spTgt spid="12"/>
                                        </p:tgtEl>
                                        <p:attrNameLst>
                                          <p:attrName>ppt_y</p:attrName>
                                        </p:attrNameLst>
                                      </p:cBhvr>
                                      <p:tavLst>
                                        <p:tav tm="0">
                                          <p:val>
                                            <p:strVal val="#ppt_y+0.1"/>
                                          </p:val>
                                        </p:tav>
                                        <p:tav tm="100000">
                                          <p:val>
                                            <p:strVal val="#ppt_y"/>
                                          </p:val>
                                        </p:tav>
                                      </p:tavLst>
                                    </p:anim>
                                    <p:animEffect transition="in" filter="fade">
                                      <p:cBhvr>
                                        <p:cTn id="51" dur="500"/>
                                        <p:tgtEl>
                                          <p:spTgt spid="12"/>
                                        </p:tgtEl>
                                      </p:cBhvr>
                                    </p:animEffect>
                                  </p:childTnLst>
                                </p:cTn>
                              </p:par>
                              <p:par>
                                <p:cTn id="52" presetID="2" presetClass="entr" presetSubtype="4" fill="hold" grpId="0" nodeType="withEffect">
                                  <p:stCondLst>
                                    <p:cond delay="0"/>
                                  </p:stCondLst>
                                  <p:childTnLst>
                                    <p:set>
                                      <p:cBhvr>
                                        <p:cTn id="53" dur="1" fill="hold">
                                          <p:stCondLst>
                                            <p:cond delay="0"/>
                                          </p:stCondLst>
                                        </p:cTn>
                                        <p:tgtEl>
                                          <p:spTgt spid="13"/>
                                        </p:tgtEl>
                                        <p:attrNameLst>
                                          <p:attrName>style.visibility</p:attrName>
                                        </p:attrNameLst>
                                      </p:cBhvr>
                                      <p:to>
                                        <p:strVal val="visible"/>
                                      </p:to>
                                    </p:set>
                                    <p:anim calcmode="lin" valueType="num">
                                      <p:cBhvr additive="base">
                                        <p:cTn id="54" dur="500" fill="hold"/>
                                        <p:tgtEl>
                                          <p:spTgt spid="13"/>
                                        </p:tgtEl>
                                        <p:attrNameLst>
                                          <p:attrName>ppt_x</p:attrName>
                                        </p:attrNameLst>
                                      </p:cBhvr>
                                      <p:tavLst>
                                        <p:tav tm="0">
                                          <p:val>
                                            <p:strVal val="#ppt_x"/>
                                          </p:val>
                                        </p:tav>
                                        <p:tav tm="100000">
                                          <p:val>
                                            <p:strVal val="#ppt_x"/>
                                          </p:val>
                                        </p:tav>
                                      </p:tavLst>
                                    </p:anim>
                                    <p:anim calcmode="lin" valueType="num">
                                      <p:cBhvr additive="base">
                                        <p:cTn id="55" dur="500" fill="hold"/>
                                        <p:tgtEl>
                                          <p:spTgt spid="13"/>
                                        </p:tgtEl>
                                        <p:attrNameLst>
                                          <p:attrName>ppt_y</p:attrName>
                                        </p:attrNameLst>
                                      </p:cBhvr>
                                      <p:tavLst>
                                        <p:tav tm="0">
                                          <p:val>
                                            <p:strVal val="#ppt_y+0.1"/>
                                          </p:val>
                                        </p:tav>
                                        <p:tav tm="100000">
                                          <p:val>
                                            <p:strVal val="#ppt_y"/>
                                          </p:val>
                                        </p:tav>
                                      </p:tavLst>
                                    </p:anim>
                                    <p:animEffect transition="in" filter="fade">
                                      <p:cBhvr>
                                        <p:cTn id="56" dur="500"/>
                                        <p:tgtEl>
                                          <p:spTgt spid="13"/>
                                        </p:tgtEl>
                                      </p:cBhvr>
                                    </p:animEffect>
                                  </p:childTnLst>
                                </p:cTn>
                              </p:par>
                              <p:par>
                                <p:cTn id="57" presetID="2" presetClass="entr" presetSubtype="4" fill="hold" grpId="0" nodeType="withEffect">
                                  <p:stCondLst>
                                    <p:cond delay="0"/>
                                  </p:stCondLst>
                                  <p:childTnLst>
                                    <p:set>
                                      <p:cBhvr>
                                        <p:cTn id="58" dur="1" fill="hold">
                                          <p:stCondLst>
                                            <p:cond delay="0"/>
                                          </p:stCondLst>
                                        </p:cTn>
                                        <p:tgtEl>
                                          <p:spTgt spid="14"/>
                                        </p:tgtEl>
                                        <p:attrNameLst>
                                          <p:attrName>style.visibility</p:attrName>
                                        </p:attrNameLst>
                                      </p:cBhvr>
                                      <p:to>
                                        <p:strVal val="visible"/>
                                      </p:to>
                                    </p:set>
                                    <p:anim calcmode="lin" valueType="num">
                                      <p:cBhvr additive="base">
                                        <p:cTn id="59" dur="500" fill="hold"/>
                                        <p:tgtEl>
                                          <p:spTgt spid="14"/>
                                        </p:tgtEl>
                                        <p:attrNameLst>
                                          <p:attrName>ppt_x</p:attrName>
                                        </p:attrNameLst>
                                      </p:cBhvr>
                                      <p:tavLst>
                                        <p:tav tm="0">
                                          <p:val>
                                            <p:strVal val="#ppt_x"/>
                                          </p:val>
                                        </p:tav>
                                        <p:tav tm="100000">
                                          <p:val>
                                            <p:strVal val="#ppt_x"/>
                                          </p:val>
                                        </p:tav>
                                      </p:tavLst>
                                    </p:anim>
                                    <p:anim calcmode="lin" valueType="num">
                                      <p:cBhvr additive="base">
                                        <p:cTn id="60" dur="500" fill="hold"/>
                                        <p:tgtEl>
                                          <p:spTgt spid="14"/>
                                        </p:tgtEl>
                                        <p:attrNameLst>
                                          <p:attrName>ppt_y</p:attrName>
                                        </p:attrNameLst>
                                      </p:cBhvr>
                                      <p:tavLst>
                                        <p:tav tm="0">
                                          <p:val>
                                            <p:strVal val="#ppt_y+0.1"/>
                                          </p:val>
                                        </p:tav>
                                        <p:tav tm="100000">
                                          <p:val>
                                            <p:strVal val="#ppt_y"/>
                                          </p:val>
                                        </p:tav>
                                      </p:tavLst>
                                    </p:anim>
                                    <p:animEffect transition="in" filter="fade">
                                      <p:cBhvr>
                                        <p:cTn id="61" dur="500"/>
                                        <p:tgtEl>
                                          <p:spTgt spid="14"/>
                                        </p:tgtEl>
                                      </p:cBhvr>
                                    </p:animEffect>
                                  </p:childTnLst>
                                </p:cTn>
                              </p:par>
                              <p:par>
                                <p:cTn id="62" presetID="2" presetClass="entr" presetSubtype="4" fill="hold" grpId="0" nodeType="withEffect">
                                  <p:stCondLst>
                                    <p:cond delay="0"/>
                                  </p:stCondLst>
                                  <p:childTnLst>
                                    <p:set>
                                      <p:cBhvr>
                                        <p:cTn id="63" dur="1" fill="hold">
                                          <p:stCondLst>
                                            <p:cond delay="0"/>
                                          </p:stCondLst>
                                        </p:cTn>
                                        <p:tgtEl>
                                          <p:spTgt spid="15"/>
                                        </p:tgtEl>
                                        <p:attrNameLst>
                                          <p:attrName>style.visibility</p:attrName>
                                        </p:attrNameLst>
                                      </p:cBhvr>
                                      <p:to>
                                        <p:strVal val="visible"/>
                                      </p:to>
                                    </p:set>
                                    <p:anim calcmode="lin" valueType="num">
                                      <p:cBhvr additive="base">
                                        <p:cTn id="64" dur="500" fill="hold"/>
                                        <p:tgtEl>
                                          <p:spTgt spid="15"/>
                                        </p:tgtEl>
                                        <p:attrNameLst>
                                          <p:attrName>ppt_x</p:attrName>
                                        </p:attrNameLst>
                                      </p:cBhvr>
                                      <p:tavLst>
                                        <p:tav tm="0">
                                          <p:val>
                                            <p:strVal val="#ppt_x"/>
                                          </p:val>
                                        </p:tav>
                                        <p:tav tm="100000">
                                          <p:val>
                                            <p:strVal val="#ppt_x"/>
                                          </p:val>
                                        </p:tav>
                                      </p:tavLst>
                                    </p:anim>
                                    <p:anim calcmode="lin" valueType="num">
                                      <p:cBhvr additive="base">
                                        <p:cTn id="65" dur="500" fill="hold"/>
                                        <p:tgtEl>
                                          <p:spTgt spid="15"/>
                                        </p:tgtEl>
                                        <p:attrNameLst>
                                          <p:attrName>ppt_y</p:attrName>
                                        </p:attrNameLst>
                                      </p:cBhvr>
                                      <p:tavLst>
                                        <p:tav tm="0">
                                          <p:val>
                                            <p:strVal val="#ppt_y+0.1"/>
                                          </p:val>
                                        </p:tav>
                                        <p:tav tm="100000">
                                          <p:val>
                                            <p:strVal val="#ppt_y"/>
                                          </p:val>
                                        </p:tav>
                                      </p:tavLst>
                                    </p:anim>
                                    <p:animEffect transition="in" filter="fade">
                                      <p:cBhvr>
                                        <p:cTn id="66" dur="500"/>
                                        <p:tgtEl>
                                          <p:spTgt spid="15"/>
                                        </p:tgtEl>
                                      </p:cBhvr>
                                    </p:animEffect>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16"/>
                                        </p:tgtEl>
                                        <p:attrNameLst>
                                          <p:attrName>style.visibility</p:attrName>
                                        </p:attrNameLst>
                                      </p:cBhvr>
                                      <p:to>
                                        <p:strVal val="visible"/>
                                      </p:to>
                                    </p:set>
                                    <p:anim calcmode="lin" valueType="num">
                                      <p:cBhvr additive="base">
                                        <p:cTn id="71" dur="500" fill="hold"/>
                                        <p:tgtEl>
                                          <p:spTgt spid="16"/>
                                        </p:tgtEl>
                                        <p:attrNameLst>
                                          <p:attrName>ppt_x</p:attrName>
                                        </p:attrNameLst>
                                      </p:cBhvr>
                                      <p:tavLst>
                                        <p:tav tm="0">
                                          <p:val>
                                            <p:strVal val="#ppt_x"/>
                                          </p:val>
                                        </p:tav>
                                        <p:tav tm="100000">
                                          <p:val>
                                            <p:strVal val="#ppt_x"/>
                                          </p:val>
                                        </p:tav>
                                      </p:tavLst>
                                    </p:anim>
                                    <p:anim calcmode="lin" valueType="num">
                                      <p:cBhvr additive="base">
                                        <p:cTn id="72" dur="500" fill="hold"/>
                                        <p:tgtEl>
                                          <p:spTgt spid="16"/>
                                        </p:tgtEl>
                                        <p:attrNameLst>
                                          <p:attrName>ppt_y</p:attrName>
                                        </p:attrNameLst>
                                      </p:cBhvr>
                                      <p:tavLst>
                                        <p:tav tm="0">
                                          <p:val>
                                            <p:strVal val="#ppt_y+0.1"/>
                                          </p:val>
                                        </p:tav>
                                        <p:tav tm="100000">
                                          <p:val>
                                            <p:strVal val="#ppt_y"/>
                                          </p:val>
                                        </p:tav>
                                      </p:tavLst>
                                    </p:anim>
                                    <p:animEffect transition="in" filter="fade">
                                      <p:cBhvr>
                                        <p:cTn id="73" dur="500"/>
                                        <p:tgtEl>
                                          <p:spTgt spid="16"/>
                                        </p:tgtEl>
                                      </p:cBhvr>
                                    </p:animEffect>
                                  </p:childTnLst>
                                </p:cTn>
                              </p:par>
                              <p:par>
                                <p:cTn id="74" presetID="2" presetClass="entr" presetSubtype="4" fill="hold" grpId="0" nodeType="withEffect">
                                  <p:stCondLst>
                                    <p:cond delay="0"/>
                                  </p:stCondLst>
                                  <p:childTnLst>
                                    <p:set>
                                      <p:cBhvr>
                                        <p:cTn id="75" dur="1" fill="hold">
                                          <p:stCondLst>
                                            <p:cond delay="0"/>
                                          </p:stCondLst>
                                        </p:cTn>
                                        <p:tgtEl>
                                          <p:spTgt spid="17"/>
                                        </p:tgtEl>
                                        <p:attrNameLst>
                                          <p:attrName>style.visibility</p:attrName>
                                        </p:attrNameLst>
                                      </p:cBhvr>
                                      <p:to>
                                        <p:strVal val="visible"/>
                                      </p:to>
                                    </p:set>
                                    <p:anim calcmode="lin" valueType="num">
                                      <p:cBhvr additive="base">
                                        <p:cTn id="76" dur="500" fill="hold"/>
                                        <p:tgtEl>
                                          <p:spTgt spid="17"/>
                                        </p:tgtEl>
                                        <p:attrNameLst>
                                          <p:attrName>ppt_x</p:attrName>
                                        </p:attrNameLst>
                                      </p:cBhvr>
                                      <p:tavLst>
                                        <p:tav tm="0">
                                          <p:val>
                                            <p:strVal val="#ppt_x"/>
                                          </p:val>
                                        </p:tav>
                                        <p:tav tm="100000">
                                          <p:val>
                                            <p:strVal val="#ppt_x"/>
                                          </p:val>
                                        </p:tav>
                                      </p:tavLst>
                                    </p:anim>
                                    <p:anim calcmode="lin" valueType="num">
                                      <p:cBhvr additive="base">
                                        <p:cTn id="77" dur="500" fill="hold"/>
                                        <p:tgtEl>
                                          <p:spTgt spid="17"/>
                                        </p:tgtEl>
                                        <p:attrNameLst>
                                          <p:attrName>ppt_y</p:attrName>
                                        </p:attrNameLst>
                                      </p:cBhvr>
                                      <p:tavLst>
                                        <p:tav tm="0">
                                          <p:val>
                                            <p:strVal val="#ppt_y+0.1"/>
                                          </p:val>
                                        </p:tav>
                                        <p:tav tm="100000">
                                          <p:val>
                                            <p:strVal val="#ppt_y"/>
                                          </p:val>
                                        </p:tav>
                                      </p:tavLst>
                                    </p:anim>
                                    <p:animEffect transition="in" filter="fade">
                                      <p:cBhvr>
                                        <p:cTn id="78" dur="500"/>
                                        <p:tgtEl>
                                          <p:spTgt spid="17"/>
                                        </p:tgtEl>
                                      </p:cBhvr>
                                    </p:animEffect>
                                  </p:childTnLst>
                                </p:cTn>
                              </p:par>
                              <p:par>
                                <p:cTn id="79" presetID="2" presetClass="entr" presetSubtype="4" fill="hold" grpId="0" nodeType="withEffect">
                                  <p:stCondLst>
                                    <p:cond delay="0"/>
                                  </p:stCondLst>
                                  <p:childTnLst>
                                    <p:set>
                                      <p:cBhvr>
                                        <p:cTn id="80" dur="1" fill="hold">
                                          <p:stCondLst>
                                            <p:cond delay="0"/>
                                          </p:stCondLst>
                                        </p:cTn>
                                        <p:tgtEl>
                                          <p:spTgt spid="18"/>
                                        </p:tgtEl>
                                        <p:attrNameLst>
                                          <p:attrName>style.visibility</p:attrName>
                                        </p:attrNameLst>
                                      </p:cBhvr>
                                      <p:to>
                                        <p:strVal val="visible"/>
                                      </p:to>
                                    </p:set>
                                    <p:anim calcmode="lin" valueType="num">
                                      <p:cBhvr additive="base">
                                        <p:cTn id="81" dur="500" fill="hold"/>
                                        <p:tgtEl>
                                          <p:spTgt spid="18"/>
                                        </p:tgtEl>
                                        <p:attrNameLst>
                                          <p:attrName>ppt_x</p:attrName>
                                        </p:attrNameLst>
                                      </p:cBhvr>
                                      <p:tavLst>
                                        <p:tav tm="0">
                                          <p:val>
                                            <p:strVal val="#ppt_x"/>
                                          </p:val>
                                        </p:tav>
                                        <p:tav tm="100000">
                                          <p:val>
                                            <p:strVal val="#ppt_x"/>
                                          </p:val>
                                        </p:tav>
                                      </p:tavLst>
                                    </p:anim>
                                    <p:anim calcmode="lin" valueType="num">
                                      <p:cBhvr additive="base">
                                        <p:cTn id="82" dur="500" fill="hold"/>
                                        <p:tgtEl>
                                          <p:spTgt spid="18"/>
                                        </p:tgtEl>
                                        <p:attrNameLst>
                                          <p:attrName>ppt_y</p:attrName>
                                        </p:attrNameLst>
                                      </p:cBhvr>
                                      <p:tavLst>
                                        <p:tav tm="0">
                                          <p:val>
                                            <p:strVal val="#ppt_y+0.1"/>
                                          </p:val>
                                        </p:tav>
                                        <p:tav tm="100000">
                                          <p:val>
                                            <p:strVal val="#ppt_y"/>
                                          </p:val>
                                        </p:tav>
                                      </p:tavLst>
                                    </p:anim>
                                    <p:animEffect transition="in" filter="fade">
                                      <p:cBhvr>
                                        <p:cTn id="83" dur="500"/>
                                        <p:tgtEl>
                                          <p:spTgt spid="18"/>
                                        </p:tgtEl>
                                      </p:cBhvr>
                                    </p:animEffect>
                                  </p:childTnLst>
                                </p:cTn>
                              </p:par>
                              <p:par>
                                <p:cTn id="84" presetID="2" presetClass="entr" presetSubtype="4" fill="hold" grpId="0" nodeType="withEffect">
                                  <p:stCondLst>
                                    <p:cond delay="0"/>
                                  </p:stCondLst>
                                  <p:childTnLst>
                                    <p:set>
                                      <p:cBhvr>
                                        <p:cTn id="85" dur="1" fill="hold">
                                          <p:stCondLst>
                                            <p:cond delay="0"/>
                                          </p:stCondLst>
                                        </p:cTn>
                                        <p:tgtEl>
                                          <p:spTgt spid="19"/>
                                        </p:tgtEl>
                                        <p:attrNameLst>
                                          <p:attrName>style.visibility</p:attrName>
                                        </p:attrNameLst>
                                      </p:cBhvr>
                                      <p:to>
                                        <p:strVal val="visible"/>
                                      </p:to>
                                    </p:set>
                                    <p:anim calcmode="lin" valueType="num">
                                      <p:cBhvr additive="base">
                                        <p:cTn id="86" dur="500" fill="hold"/>
                                        <p:tgtEl>
                                          <p:spTgt spid="19"/>
                                        </p:tgtEl>
                                        <p:attrNameLst>
                                          <p:attrName>ppt_x</p:attrName>
                                        </p:attrNameLst>
                                      </p:cBhvr>
                                      <p:tavLst>
                                        <p:tav tm="0">
                                          <p:val>
                                            <p:strVal val="#ppt_x"/>
                                          </p:val>
                                        </p:tav>
                                        <p:tav tm="100000">
                                          <p:val>
                                            <p:strVal val="#ppt_x"/>
                                          </p:val>
                                        </p:tav>
                                      </p:tavLst>
                                    </p:anim>
                                    <p:anim calcmode="lin" valueType="num">
                                      <p:cBhvr additive="base">
                                        <p:cTn id="87" dur="500" fill="hold"/>
                                        <p:tgtEl>
                                          <p:spTgt spid="19"/>
                                        </p:tgtEl>
                                        <p:attrNameLst>
                                          <p:attrName>ppt_y</p:attrName>
                                        </p:attrNameLst>
                                      </p:cBhvr>
                                      <p:tavLst>
                                        <p:tav tm="0">
                                          <p:val>
                                            <p:strVal val="#ppt_y+0.1"/>
                                          </p:val>
                                        </p:tav>
                                        <p:tav tm="100000">
                                          <p:val>
                                            <p:strVal val="#ppt_y"/>
                                          </p:val>
                                        </p:tav>
                                      </p:tavLst>
                                    </p:anim>
                                    <p:animEffect transition="in" filter="fade">
                                      <p:cBhvr>
                                        <p:cTn id="88" dur="500"/>
                                        <p:tgtEl>
                                          <p:spTgt spid="19"/>
                                        </p:tgtEl>
                                      </p:cBhvr>
                                    </p:animEffect>
                                  </p:childTnLst>
                                </p:cTn>
                              </p:par>
                            </p:childTnLst>
                          </p:cTn>
                        </p:par>
                      </p:childTnLst>
                    </p:cTn>
                  </p:par>
                  <p:par>
                    <p:cTn id="89" fill="hold">
                      <p:stCondLst>
                        <p:cond delay="indefinite"/>
                      </p:stCondLst>
                      <p:childTnLst>
                        <p:par>
                          <p:cTn id="90" fill="hold">
                            <p:stCondLst>
                              <p:cond delay="0"/>
                            </p:stCondLst>
                            <p:childTnLst>
                              <p:par>
                                <p:cTn id="91" presetID="2" presetClass="entr" presetSubtype="4" fill="hold" grpId="0" nodeType="clickEffect">
                                  <p:stCondLst>
                                    <p:cond delay="0"/>
                                  </p:stCondLst>
                                  <p:childTnLst>
                                    <p:set>
                                      <p:cBhvr>
                                        <p:cTn id="92" dur="1" fill="hold">
                                          <p:stCondLst>
                                            <p:cond delay="0"/>
                                          </p:stCondLst>
                                        </p:cTn>
                                        <p:tgtEl>
                                          <p:spTgt spid="20"/>
                                        </p:tgtEl>
                                        <p:attrNameLst>
                                          <p:attrName>style.visibility</p:attrName>
                                        </p:attrNameLst>
                                      </p:cBhvr>
                                      <p:to>
                                        <p:strVal val="visible"/>
                                      </p:to>
                                    </p:set>
                                    <p:anim calcmode="lin" valueType="num">
                                      <p:cBhvr additive="base">
                                        <p:cTn id="93" dur="500" fill="hold"/>
                                        <p:tgtEl>
                                          <p:spTgt spid="20"/>
                                        </p:tgtEl>
                                        <p:attrNameLst>
                                          <p:attrName>ppt_x</p:attrName>
                                        </p:attrNameLst>
                                      </p:cBhvr>
                                      <p:tavLst>
                                        <p:tav tm="0">
                                          <p:val>
                                            <p:strVal val="#ppt_x"/>
                                          </p:val>
                                        </p:tav>
                                        <p:tav tm="100000">
                                          <p:val>
                                            <p:strVal val="#ppt_x"/>
                                          </p:val>
                                        </p:tav>
                                      </p:tavLst>
                                    </p:anim>
                                    <p:anim calcmode="lin" valueType="num">
                                      <p:cBhvr additive="base">
                                        <p:cTn id="94" dur="500" fill="hold"/>
                                        <p:tgtEl>
                                          <p:spTgt spid="20"/>
                                        </p:tgtEl>
                                        <p:attrNameLst>
                                          <p:attrName>ppt_y</p:attrName>
                                        </p:attrNameLst>
                                      </p:cBhvr>
                                      <p:tavLst>
                                        <p:tav tm="0">
                                          <p:val>
                                            <p:strVal val="#ppt_y+0.1"/>
                                          </p:val>
                                        </p:tav>
                                        <p:tav tm="100000">
                                          <p:val>
                                            <p:strVal val="#ppt_y"/>
                                          </p:val>
                                        </p:tav>
                                      </p:tavLst>
                                    </p:anim>
                                    <p:animEffect transition="in" filter="fade">
                                      <p:cBhvr>
                                        <p:cTn id="95" dur="500"/>
                                        <p:tgtEl>
                                          <p:spTgt spid="20"/>
                                        </p:tgtEl>
                                      </p:cBhvr>
                                    </p:animEffect>
                                  </p:childTnLst>
                                </p:cTn>
                              </p:par>
                              <p:par>
                                <p:cTn id="96" presetID="2" presetClass="entr" presetSubtype="4" fill="hold" grpId="0" nodeType="withEffect">
                                  <p:stCondLst>
                                    <p:cond delay="0"/>
                                  </p:stCondLst>
                                  <p:childTnLst>
                                    <p:set>
                                      <p:cBhvr>
                                        <p:cTn id="97" dur="1" fill="hold">
                                          <p:stCondLst>
                                            <p:cond delay="0"/>
                                          </p:stCondLst>
                                        </p:cTn>
                                        <p:tgtEl>
                                          <p:spTgt spid="21"/>
                                        </p:tgtEl>
                                        <p:attrNameLst>
                                          <p:attrName>style.visibility</p:attrName>
                                        </p:attrNameLst>
                                      </p:cBhvr>
                                      <p:to>
                                        <p:strVal val="visible"/>
                                      </p:to>
                                    </p:set>
                                    <p:anim calcmode="lin" valueType="num">
                                      <p:cBhvr additive="base">
                                        <p:cTn id="98" dur="500" fill="hold"/>
                                        <p:tgtEl>
                                          <p:spTgt spid="21"/>
                                        </p:tgtEl>
                                        <p:attrNameLst>
                                          <p:attrName>ppt_x</p:attrName>
                                        </p:attrNameLst>
                                      </p:cBhvr>
                                      <p:tavLst>
                                        <p:tav tm="0">
                                          <p:val>
                                            <p:strVal val="#ppt_x"/>
                                          </p:val>
                                        </p:tav>
                                        <p:tav tm="100000">
                                          <p:val>
                                            <p:strVal val="#ppt_x"/>
                                          </p:val>
                                        </p:tav>
                                      </p:tavLst>
                                    </p:anim>
                                    <p:anim calcmode="lin" valueType="num">
                                      <p:cBhvr additive="base">
                                        <p:cTn id="99" dur="500" fill="hold"/>
                                        <p:tgtEl>
                                          <p:spTgt spid="21"/>
                                        </p:tgtEl>
                                        <p:attrNameLst>
                                          <p:attrName>ppt_y</p:attrName>
                                        </p:attrNameLst>
                                      </p:cBhvr>
                                      <p:tavLst>
                                        <p:tav tm="0">
                                          <p:val>
                                            <p:strVal val="#ppt_y+0.1"/>
                                          </p:val>
                                        </p:tav>
                                        <p:tav tm="100000">
                                          <p:val>
                                            <p:strVal val="#ppt_y"/>
                                          </p:val>
                                        </p:tav>
                                      </p:tavLst>
                                    </p:anim>
                                    <p:animEffect transition="in" filter="fade">
                                      <p:cBhvr>
                                        <p:cTn id="100" dur="500"/>
                                        <p:tgtEl>
                                          <p:spTgt spid="21"/>
                                        </p:tgtEl>
                                      </p:cBhvr>
                                    </p:animEffect>
                                  </p:childTnLst>
                                </p:cTn>
                              </p:par>
                              <p:par>
                                <p:cTn id="101" presetID="2" presetClass="entr" presetSubtype="4" fill="hold" grpId="0" nodeType="withEffect">
                                  <p:stCondLst>
                                    <p:cond delay="0"/>
                                  </p:stCondLst>
                                  <p:childTnLst>
                                    <p:set>
                                      <p:cBhvr>
                                        <p:cTn id="102" dur="1" fill="hold">
                                          <p:stCondLst>
                                            <p:cond delay="0"/>
                                          </p:stCondLst>
                                        </p:cTn>
                                        <p:tgtEl>
                                          <p:spTgt spid="22"/>
                                        </p:tgtEl>
                                        <p:attrNameLst>
                                          <p:attrName>style.visibility</p:attrName>
                                        </p:attrNameLst>
                                      </p:cBhvr>
                                      <p:to>
                                        <p:strVal val="visible"/>
                                      </p:to>
                                    </p:set>
                                    <p:anim calcmode="lin" valueType="num">
                                      <p:cBhvr additive="base">
                                        <p:cTn id="103" dur="500" fill="hold"/>
                                        <p:tgtEl>
                                          <p:spTgt spid="22"/>
                                        </p:tgtEl>
                                        <p:attrNameLst>
                                          <p:attrName>ppt_x</p:attrName>
                                        </p:attrNameLst>
                                      </p:cBhvr>
                                      <p:tavLst>
                                        <p:tav tm="0">
                                          <p:val>
                                            <p:strVal val="#ppt_x"/>
                                          </p:val>
                                        </p:tav>
                                        <p:tav tm="100000">
                                          <p:val>
                                            <p:strVal val="#ppt_x"/>
                                          </p:val>
                                        </p:tav>
                                      </p:tavLst>
                                    </p:anim>
                                    <p:anim calcmode="lin" valueType="num">
                                      <p:cBhvr additive="base">
                                        <p:cTn id="104" dur="500" fill="hold"/>
                                        <p:tgtEl>
                                          <p:spTgt spid="22"/>
                                        </p:tgtEl>
                                        <p:attrNameLst>
                                          <p:attrName>ppt_y</p:attrName>
                                        </p:attrNameLst>
                                      </p:cBhvr>
                                      <p:tavLst>
                                        <p:tav tm="0">
                                          <p:val>
                                            <p:strVal val="#ppt_y+0.1"/>
                                          </p:val>
                                        </p:tav>
                                        <p:tav tm="100000">
                                          <p:val>
                                            <p:strVal val="#ppt_y"/>
                                          </p:val>
                                        </p:tav>
                                      </p:tavLst>
                                    </p:anim>
                                    <p:animEffect transition="in" filter="fade">
                                      <p:cBhvr>
                                        <p:cTn id="105" dur="500"/>
                                        <p:tgtEl>
                                          <p:spTgt spid="22"/>
                                        </p:tgtEl>
                                      </p:cBhvr>
                                    </p:animEffect>
                                  </p:childTnLst>
                                </p:cTn>
                              </p:par>
                              <p:par>
                                <p:cTn id="106" presetID="2" presetClass="entr" presetSubtype="4" fill="hold" grpId="0" nodeType="withEffect">
                                  <p:stCondLst>
                                    <p:cond delay="0"/>
                                  </p:stCondLst>
                                  <p:childTnLst>
                                    <p:set>
                                      <p:cBhvr>
                                        <p:cTn id="107" dur="1" fill="hold">
                                          <p:stCondLst>
                                            <p:cond delay="0"/>
                                          </p:stCondLst>
                                        </p:cTn>
                                        <p:tgtEl>
                                          <p:spTgt spid="23"/>
                                        </p:tgtEl>
                                        <p:attrNameLst>
                                          <p:attrName>style.visibility</p:attrName>
                                        </p:attrNameLst>
                                      </p:cBhvr>
                                      <p:to>
                                        <p:strVal val="visible"/>
                                      </p:to>
                                    </p:set>
                                    <p:anim calcmode="lin" valueType="num">
                                      <p:cBhvr additive="base">
                                        <p:cTn id="108" dur="500" fill="hold"/>
                                        <p:tgtEl>
                                          <p:spTgt spid="23"/>
                                        </p:tgtEl>
                                        <p:attrNameLst>
                                          <p:attrName>ppt_x</p:attrName>
                                        </p:attrNameLst>
                                      </p:cBhvr>
                                      <p:tavLst>
                                        <p:tav tm="0">
                                          <p:val>
                                            <p:strVal val="#ppt_x"/>
                                          </p:val>
                                        </p:tav>
                                        <p:tav tm="100000">
                                          <p:val>
                                            <p:strVal val="#ppt_x"/>
                                          </p:val>
                                        </p:tav>
                                      </p:tavLst>
                                    </p:anim>
                                    <p:anim calcmode="lin" valueType="num">
                                      <p:cBhvr additive="base">
                                        <p:cTn id="109" dur="500" fill="hold"/>
                                        <p:tgtEl>
                                          <p:spTgt spid="23"/>
                                        </p:tgtEl>
                                        <p:attrNameLst>
                                          <p:attrName>ppt_y</p:attrName>
                                        </p:attrNameLst>
                                      </p:cBhvr>
                                      <p:tavLst>
                                        <p:tav tm="0">
                                          <p:val>
                                            <p:strVal val="#ppt_y+0.1"/>
                                          </p:val>
                                        </p:tav>
                                        <p:tav tm="100000">
                                          <p:val>
                                            <p:strVal val="#ppt_y"/>
                                          </p:val>
                                        </p:tav>
                                      </p:tavLst>
                                    </p:anim>
                                    <p:animEffect transition="in" filter="fade">
                                      <p:cBhvr>
                                        <p:cTn id="110" dur="500"/>
                                        <p:tgtEl>
                                          <p:spTgt spid="23"/>
                                        </p:tgtEl>
                                      </p:cBhvr>
                                    </p:animEffect>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grpId="0" nodeType="clickEffect">
                                  <p:stCondLst>
                                    <p:cond delay="0"/>
                                  </p:stCondLst>
                                  <p:childTnLst>
                                    <p:set>
                                      <p:cBhvr>
                                        <p:cTn id="114" dur="1" fill="hold">
                                          <p:stCondLst>
                                            <p:cond delay="0"/>
                                          </p:stCondLst>
                                        </p:cTn>
                                        <p:tgtEl>
                                          <p:spTgt spid="24"/>
                                        </p:tgtEl>
                                        <p:attrNameLst>
                                          <p:attrName>style.visibility</p:attrName>
                                        </p:attrNameLst>
                                      </p:cBhvr>
                                      <p:to>
                                        <p:strVal val="visible"/>
                                      </p:to>
                                    </p:set>
                                    <p:anim calcmode="lin" valueType="num">
                                      <p:cBhvr additive="base">
                                        <p:cTn id="115" dur="500" fill="hold"/>
                                        <p:tgtEl>
                                          <p:spTgt spid="24"/>
                                        </p:tgtEl>
                                        <p:attrNameLst>
                                          <p:attrName>ppt_x</p:attrName>
                                        </p:attrNameLst>
                                      </p:cBhvr>
                                      <p:tavLst>
                                        <p:tav tm="0">
                                          <p:val>
                                            <p:strVal val="#ppt_x"/>
                                          </p:val>
                                        </p:tav>
                                        <p:tav tm="100000">
                                          <p:val>
                                            <p:strVal val="#ppt_x"/>
                                          </p:val>
                                        </p:tav>
                                      </p:tavLst>
                                    </p:anim>
                                    <p:anim calcmode="lin" valueType="num">
                                      <p:cBhvr additive="base">
                                        <p:cTn id="116" dur="500" fill="hold"/>
                                        <p:tgtEl>
                                          <p:spTgt spid="24"/>
                                        </p:tgtEl>
                                        <p:attrNameLst>
                                          <p:attrName>ppt_y</p:attrName>
                                        </p:attrNameLst>
                                      </p:cBhvr>
                                      <p:tavLst>
                                        <p:tav tm="0">
                                          <p:val>
                                            <p:strVal val="#ppt_y+0.1"/>
                                          </p:val>
                                        </p:tav>
                                        <p:tav tm="100000">
                                          <p:val>
                                            <p:strVal val="#ppt_y"/>
                                          </p:val>
                                        </p:tav>
                                      </p:tavLst>
                                    </p:anim>
                                    <p:animEffect transition="in" filter="fade">
                                      <p:cBhvr>
                                        <p:cTn id="11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1"/>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ICICI Bank's Own Denormalization: balance</a:t>
            </a:r>
            <a:endParaRPr lang="en-US" sz="2800" dirty="0"/>
          </a:p>
        </p:txBody>
      </p:sp>
      <p:sp>
        <p:nvSpPr>
          <p:cNvPr id="3" name="Text 2"/>
          <p:cNvSpPr txBox="1"/>
          <p:nvPr/>
        </p:nvSpPr>
        <p:spPr>
          <a:xfrm>
            <a:off x="457200" y="749808"/>
            <a:ext cx="8229600" cy="320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account.balance is derivable from account_txn — and stored anyway</a:t>
            </a:r>
            <a:endParaRPr lang="en-US" sz="1300" dirty="0"/>
          </a:p>
        </p:txBody>
      </p:sp>
      <p:sp>
        <p:nvSpPr>
          <p:cNvPr id="4" name="a1f_h3"/>
          <p:cNvSpPr txBox="1"/>
          <p:nvPr/>
        </p:nvSpPr>
        <p:spPr>
          <a:xfrm>
            <a:off x="457200" y="1188720"/>
            <a:ext cx="3931920" cy="320040"/>
          </a:xfrm>
          <a:prstGeom prst="rect">
            <a:avLst/>
          </a:prstGeom>
          <a:noFill/>
          <a:ln/>
        </p:spPr>
        <p:txBody>
          <a:bodyPr wrap="square" lIns="0" tIns="0" rIns="0" bIns="0" rtlCol="0" anchor="ctr"/>
          <a:lstStyle/>
          <a:p>
            <a:pPr marL="0" indent="0">
              <a:buNone/>
            </a:pPr>
            <a:r>
              <a:rPr lang="en-US" sz="1300" b="1" dirty="0">
                <a:solidFill>
                  <a:srgbClr val="DC2626"/>
                </a:solidFill>
                <a:latin typeface="Calibri" pitchFamily="34" charset="0"/>
                <a:ea typeface="Calibri" pitchFamily="34" charset="-122"/>
                <a:cs typeface="Calibri" pitchFamily="34" charset="-120"/>
              </a:rPr>
              <a:t>✘  Compute it on every enquiry</a:t>
            </a:r>
            <a:endParaRPr lang="en-US" sz="1300" dirty="0"/>
          </a:p>
        </p:txBody>
      </p:sp>
      <p:sp>
        <p:nvSpPr>
          <p:cNvPr id="5" name="a1f_codebg4"/>
          <p:cNvSpPr/>
          <p:nvPr/>
        </p:nvSpPr>
        <p:spPr>
          <a:xfrm>
            <a:off x="457200" y="1554480"/>
            <a:ext cx="3931920" cy="1700784"/>
          </a:xfrm>
          <a:prstGeom prst="roundRect">
            <a:avLst>
              <a:gd name="adj" fmla="val 3150"/>
            </a:avLst>
          </a:prstGeom>
          <a:solidFill>
            <a:srgbClr val="1E293B"/>
          </a:solidFill>
          <a:ln w="12700">
            <a:solidFill>
              <a:srgbClr val="1E293B"/>
            </a:solidFill>
            <a:prstDash val="solid"/>
          </a:ln>
        </p:spPr>
      </p:sp>
      <p:sp>
        <p:nvSpPr>
          <p:cNvPr id="6" name="a1wd0_code5"/>
          <p:cNvSpPr txBox="1"/>
          <p:nvPr/>
        </p:nvSpPr>
        <p:spPr>
          <a:xfrm>
            <a:off x="640080" y="1691640"/>
            <a:ext cx="3611880" cy="237744"/>
          </a:xfrm>
          <a:prstGeom prst="rect">
            <a:avLst/>
          </a:prstGeom>
          <a:noFill/>
          <a:ln/>
        </p:spPr>
        <p:txBody>
          <a:bodyPr wrap="square" lIns="0" tIns="0" rIns="0" bIns="0" rtlCol="0" anchor="ctr"/>
          <a:lstStyle/>
          <a:p>
            <a:pPr marL="0" indent="0">
              <a:buNone/>
            </a:pPr>
            <a:r>
              <a:rPr lang="en-US" sz="1100" b="1" dirty="0">
                <a:solidFill>
                  <a:srgbClr val="C4B5FD"/>
                </a:solidFill>
                <a:latin typeface="Courier New" pitchFamily="34" charset="0"/>
                <a:ea typeface="Courier New" pitchFamily="34" charset="-122"/>
                <a:cs typeface="Courier New" pitchFamily="34" charset="-120"/>
              </a:rPr>
              <a:t>SELECT</a:t>
            </a:r>
            <a:r>
              <a:rPr lang="en-US" sz="1100" dirty="0">
                <a:solidFill>
                  <a:srgbClr val="E2E8F0"/>
                </a:solidFill>
                <a:latin typeface="Courier New" pitchFamily="34" charset="0"/>
                <a:ea typeface="Courier New" pitchFamily="34" charset="-122"/>
                <a:cs typeface="Courier New" pitchFamily="34" charset="-120"/>
              </a:rPr>
              <a:t> </a:t>
            </a:r>
            <a:r>
              <a:rPr lang="en-US" sz="1100" dirty="0">
                <a:solidFill>
                  <a:srgbClr val="93C5FD"/>
                </a:solidFill>
                <a:latin typeface="Courier New" pitchFamily="34" charset="0"/>
                <a:ea typeface="Courier New" pitchFamily="34" charset="-122"/>
                <a:cs typeface="Courier New" pitchFamily="34" charset="-120"/>
              </a:rPr>
              <a:t>SUM</a:t>
            </a:r>
            <a:r>
              <a:rPr lang="en-US" sz="1100" dirty="0">
                <a:solidFill>
                  <a:srgbClr val="E2E8F0"/>
                </a:solidFill>
                <a:latin typeface="Courier New" pitchFamily="34" charset="0"/>
                <a:ea typeface="Courier New" pitchFamily="34" charset="-122"/>
                <a:cs typeface="Courier New" pitchFamily="34" charset="-120"/>
              </a:rPr>
              <a:t>(</a:t>
            </a:r>
            <a:r>
              <a:rPr lang="en-US" sz="1100" b="1" dirty="0">
                <a:solidFill>
                  <a:srgbClr val="C4B5FD"/>
                </a:solidFill>
                <a:latin typeface="Courier New" pitchFamily="34" charset="0"/>
                <a:ea typeface="Courier New" pitchFamily="34" charset="-122"/>
                <a:cs typeface="Courier New" pitchFamily="34" charset="-120"/>
              </a:rPr>
              <a:t>CASE</a:t>
            </a:r>
            <a:endParaRPr lang="en-US" sz="1100" dirty="0"/>
          </a:p>
        </p:txBody>
      </p:sp>
      <p:sp>
        <p:nvSpPr>
          <p:cNvPr id="7" name="a1wd150_code6"/>
          <p:cNvSpPr txBox="1"/>
          <p:nvPr/>
        </p:nvSpPr>
        <p:spPr>
          <a:xfrm>
            <a:off x="640080" y="1929384"/>
            <a:ext cx="3611880" cy="237744"/>
          </a:xfrm>
          <a:prstGeom prst="rect">
            <a:avLst/>
          </a:prstGeom>
          <a:noFill/>
          <a:ln/>
        </p:spPr>
        <p:txBody>
          <a:bodyPr wrap="square" lIns="0" tIns="0" rIns="0" bIns="0" rtlCol="0" anchor="ctr"/>
          <a:lstStyle/>
          <a:p>
            <a:pPr marL="0" indent="0">
              <a:buNone/>
            </a:pPr>
            <a:r>
              <a:rPr lang="en-US" sz="1100" dirty="0">
                <a:solidFill>
                  <a:srgbClr val="E2E8F0"/>
                </a:solidFill>
                <a:latin typeface="Courier New" pitchFamily="34" charset="0"/>
                <a:ea typeface="Courier New" pitchFamily="34" charset="-122"/>
                <a:cs typeface="Courier New" pitchFamily="34" charset="-120"/>
              </a:rPr>
              <a:t>         </a:t>
            </a:r>
            <a:r>
              <a:rPr lang="en-US" sz="1100" b="1" dirty="0">
                <a:solidFill>
                  <a:srgbClr val="C4B5FD"/>
                </a:solidFill>
                <a:latin typeface="Courier New" pitchFamily="34" charset="0"/>
                <a:ea typeface="Courier New" pitchFamily="34" charset="-122"/>
                <a:cs typeface="Courier New" pitchFamily="34" charset="-120"/>
              </a:rPr>
              <a:t>WHEN</a:t>
            </a:r>
            <a:r>
              <a:rPr lang="en-US" sz="1100" dirty="0">
                <a:solidFill>
                  <a:srgbClr val="E2E8F0"/>
                </a:solidFill>
                <a:latin typeface="Courier New" pitchFamily="34" charset="0"/>
                <a:ea typeface="Courier New" pitchFamily="34" charset="-122"/>
                <a:cs typeface="Courier New" pitchFamily="34" charset="-120"/>
              </a:rPr>
              <a:t> txn_type = </a:t>
            </a:r>
            <a:r>
              <a:rPr lang="en-US" sz="1100" dirty="0">
                <a:solidFill>
                  <a:srgbClr val="FDBA74"/>
                </a:solidFill>
                <a:latin typeface="Courier New" pitchFamily="34" charset="0"/>
                <a:ea typeface="Courier New" pitchFamily="34" charset="-122"/>
                <a:cs typeface="Courier New" pitchFamily="34" charset="-120"/>
              </a:rPr>
              <a:t>'CREDIT'</a:t>
            </a:r>
            <a:endParaRPr lang="en-US" sz="1100" dirty="0"/>
          </a:p>
        </p:txBody>
      </p:sp>
      <p:sp>
        <p:nvSpPr>
          <p:cNvPr id="8" name="a1wd300_code7"/>
          <p:cNvSpPr txBox="1"/>
          <p:nvPr/>
        </p:nvSpPr>
        <p:spPr>
          <a:xfrm>
            <a:off x="640080" y="2167128"/>
            <a:ext cx="3611880" cy="237744"/>
          </a:xfrm>
          <a:prstGeom prst="rect">
            <a:avLst/>
          </a:prstGeom>
          <a:noFill/>
          <a:ln/>
        </p:spPr>
        <p:txBody>
          <a:bodyPr wrap="square" lIns="0" tIns="0" rIns="0" bIns="0" rtlCol="0" anchor="ctr"/>
          <a:lstStyle/>
          <a:p>
            <a:pPr marL="0" indent="0">
              <a:buNone/>
            </a:pPr>
            <a:r>
              <a:rPr lang="en-US" sz="1100" dirty="0">
                <a:solidFill>
                  <a:srgbClr val="E2E8F0"/>
                </a:solidFill>
                <a:latin typeface="Courier New" pitchFamily="34" charset="0"/>
                <a:ea typeface="Courier New" pitchFamily="34" charset="-122"/>
                <a:cs typeface="Courier New" pitchFamily="34" charset="-120"/>
              </a:rPr>
              <a:t>         </a:t>
            </a:r>
            <a:r>
              <a:rPr lang="en-US" sz="1100" b="1" dirty="0">
                <a:solidFill>
                  <a:srgbClr val="C4B5FD"/>
                </a:solidFill>
                <a:latin typeface="Courier New" pitchFamily="34" charset="0"/>
                <a:ea typeface="Courier New" pitchFamily="34" charset="-122"/>
                <a:cs typeface="Courier New" pitchFamily="34" charset="-120"/>
              </a:rPr>
              <a:t>THEN</a:t>
            </a:r>
            <a:r>
              <a:rPr lang="en-US" sz="1100" dirty="0">
                <a:solidFill>
                  <a:srgbClr val="E2E8F0"/>
                </a:solidFill>
                <a:latin typeface="Courier New" pitchFamily="34" charset="0"/>
                <a:ea typeface="Courier New" pitchFamily="34" charset="-122"/>
                <a:cs typeface="Courier New" pitchFamily="34" charset="-120"/>
              </a:rPr>
              <a:t> amount </a:t>
            </a:r>
            <a:r>
              <a:rPr lang="en-US" sz="1100" b="1" dirty="0">
                <a:solidFill>
                  <a:srgbClr val="C4B5FD"/>
                </a:solidFill>
                <a:latin typeface="Courier New" pitchFamily="34" charset="0"/>
                <a:ea typeface="Courier New" pitchFamily="34" charset="-122"/>
                <a:cs typeface="Courier New" pitchFamily="34" charset="-120"/>
              </a:rPr>
              <a:t>ELSE</a:t>
            </a:r>
            <a:r>
              <a:rPr lang="en-US" sz="1100" dirty="0">
                <a:solidFill>
                  <a:srgbClr val="E2E8F0"/>
                </a:solidFill>
                <a:latin typeface="Courier New" pitchFamily="34" charset="0"/>
                <a:ea typeface="Courier New" pitchFamily="34" charset="-122"/>
                <a:cs typeface="Courier New" pitchFamily="34" charset="-120"/>
              </a:rPr>
              <a:t> -amount</a:t>
            </a:r>
            <a:endParaRPr lang="en-US" sz="1100" dirty="0"/>
          </a:p>
        </p:txBody>
      </p:sp>
      <p:sp>
        <p:nvSpPr>
          <p:cNvPr id="9" name="a1wd450_code8"/>
          <p:cNvSpPr txBox="1"/>
          <p:nvPr/>
        </p:nvSpPr>
        <p:spPr>
          <a:xfrm>
            <a:off x="640080" y="2404872"/>
            <a:ext cx="3611880" cy="237744"/>
          </a:xfrm>
          <a:prstGeom prst="rect">
            <a:avLst/>
          </a:prstGeom>
          <a:noFill/>
          <a:ln/>
        </p:spPr>
        <p:txBody>
          <a:bodyPr wrap="square" lIns="0" tIns="0" rIns="0" bIns="0" rtlCol="0" anchor="ctr"/>
          <a:lstStyle/>
          <a:p>
            <a:pPr marL="0" indent="0">
              <a:buNone/>
            </a:pPr>
            <a:r>
              <a:rPr lang="en-US" sz="1100" dirty="0">
                <a:solidFill>
                  <a:srgbClr val="E2E8F0"/>
                </a:solidFill>
                <a:latin typeface="Courier New" pitchFamily="34" charset="0"/>
                <a:ea typeface="Courier New" pitchFamily="34" charset="-122"/>
                <a:cs typeface="Courier New" pitchFamily="34" charset="-120"/>
              </a:rPr>
              <a:t>       </a:t>
            </a:r>
            <a:r>
              <a:rPr lang="en-US" sz="1100" b="1" dirty="0">
                <a:solidFill>
                  <a:srgbClr val="C4B5FD"/>
                </a:solidFill>
                <a:latin typeface="Courier New" pitchFamily="34" charset="0"/>
                <a:ea typeface="Courier New" pitchFamily="34" charset="-122"/>
                <a:cs typeface="Courier New" pitchFamily="34" charset="-120"/>
              </a:rPr>
              <a:t>END</a:t>
            </a:r>
            <a:r>
              <a:rPr lang="en-US" sz="1100" dirty="0">
                <a:solidFill>
                  <a:srgbClr val="E2E8F0"/>
                </a:solidFill>
                <a:latin typeface="Courier New" pitchFamily="34" charset="0"/>
                <a:ea typeface="Courier New" pitchFamily="34" charset="-122"/>
                <a:cs typeface="Courier New" pitchFamily="34" charset="-120"/>
              </a:rPr>
              <a:t>)</a:t>
            </a:r>
            <a:endParaRPr lang="en-US" sz="1100" dirty="0"/>
          </a:p>
        </p:txBody>
      </p:sp>
      <p:sp>
        <p:nvSpPr>
          <p:cNvPr id="10" name="a1wd600_code9"/>
          <p:cNvSpPr txBox="1"/>
          <p:nvPr/>
        </p:nvSpPr>
        <p:spPr>
          <a:xfrm>
            <a:off x="640080" y="2642616"/>
            <a:ext cx="3611880" cy="237744"/>
          </a:xfrm>
          <a:prstGeom prst="rect">
            <a:avLst/>
          </a:prstGeom>
          <a:noFill/>
          <a:ln/>
        </p:spPr>
        <p:txBody>
          <a:bodyPr wrap="square" lIns="0" tIns="0" rIns="0" bIns="0" rtlCol="0" anchor="ctr"/>
          <a:lstStyle/>
          <a:p>
            <a:pPr marL="0" indent="0">
              <a:buNone/>
            </a:pPr>
            <a:r>
              <a:rPr lang="en-US" sz="1100" b="1" dirty="0">
                <a:solidFill>
                  <a:srgbClr val="C4B5FD"/>
                </a:solidFill>
                <a:latin typeface="Courier New" pitchFamily="34" charset="0"/>
                <a:ea typeface="Courier New" pitchFamily="34" charset="-122"/>
                <a:cs typeface="Courier New" pitchFamily="34" charset="-120"/>
              </a:rPr>
              <a:t>FROM</a:t>
            </a:r>
            <a:r>
              <a:rPr lang="en-US" sz="1100" dirty="0">
                <a:solidFill>
                  <a:srgbClr val="E2E8F0"/>
                </a:solidFill>
                <a:latin typeface="Courier New" pitchFamily="34" charset="0"/>
                <a:ea typeface="Courier New" pitchFamily="34" charset="-122"/>
                <a:cs typeface="Courier New" pitchFamily="34" charset="-120"/>
              </a:rPr>
              <a:t> account_txn</a:t>
            </a:r>
            <a:endParaRPr lang="en-US" sz="1100" dirty="0"/>
          </a:p>
        </p:txBody>
      </p:sp>
      <p:sp>
        <p:nvSpPr>
          <p:cNvPr id="11" name="a1wd750_code10"/>
          <p:cNvSpPr txBox="1"/>
          <p:nvPr/>
        </p:nvSpPr>
        <p:spPr>
          <a:xfrm>
            <a:off x="640080" y="2880360"/>
            <a:ext cx="3611880" cy="237744"/>
          </a:xfrm>
          <a:prstGeom prst="rect">
            <a:avLst/>
          </a:prstGeom>
          <a:noFill/>
          <a:ln/>
        </p:spPr>
        <p:txBody>
          <a:bodyPr wrap="square" lIns="0" tIns="0" rIns="0" bIns="0" rtlCol="0" anchor="ctr"/>
          <a:lstStyle/>
          <a:p>
            <a:pPr marL="0" indent="0">
              <a:buNone/>
            </a:pPr>
            <a:r>
              <a:rPr lang="en-US" sz="1100" b="1" dirty="0">
                <a:solidFill>
                  <a:srgbClr val="C4B5FD"/>
                </a:solidFill>
                <a:latin typeface="Courier New" pitchFamily="34" charset="0"/>
                <a:ea typeface="Courier New" pitchFamily="34" charset="-122"/>
                <a:cs typeface="Courier New" pitchFamily="34" charset="-120"/>
              </a:rPr>
              <a:t>WHERE</a:t>
            </a:r>
            <a:r>
              <a:rPr lang="en-US" sz="1100" dirty="0">
                <a:solidFill>
                  <a:srgbClr val="E2E8F0"/>
                </a:solidFill>
                <a:latin typeface="Courier New" pitchFamily="34" charset="0"/>
                <a:ea typeface="Courier New" pitchFamily="34" charset="-122"/>
                <a:cs typeface="Courier New" pitchFamily="34" charset="-120"/>
              </a:rPr>
              <a:t> account_id = </a:t>
            </a:r>
            <a:r>
              <a:rPr lang="en-US" sz="1100" dirty="0">
                <a:solidFill>
                  <a:srgbClr val="FDBA74"/>
                </a:solidFill>
                <a:latin typeface="Courier New" pitchFamily="34" charset="0"/>
                <a:ea typeface="Courier New" pitchFamily="34" charset="-122"/>
                <a:cs typeface="Courier New" pitchFamily="34" charset="-120"/>
              </a:rPr>
              <a:t>9003</a:t>
            </a:r>
            <a:r>
              <a:rPr lang="en-US" sz="1100" dirty="0">
                <a:solidFill>
                  <a:srgbClr val="E2E8F0"/>
                </a:solidFill>
                <a:latin typeface="Courier New" pitchFamily="34" charset="0"/>
                <a:ea typeface="Courier New" pitchFamily="34" charset="-122"/>
                <a:cs typeface="Courier New" pitchFamily="34" charset="-120"/>
              </a:rPr>
              <a:t>;</a:t>
            </a:r>
            <a:endParaRPr lang="en-US" sz="1100" dirty="0"/>
          </a:p>
        </p:txBody>
      </p:sp>
      <p:sp>
        <p:nvSpPr>
          <p:cNvPr id="12" name="a1f_n11"/>
          <p:cNvSpPr txBox="1"/>
          <p:nvPr/>
        </p:nvSpPr>
        <p:spPr>
          <a:xfrm>
            <a:off x="457200" y="3337560"/>
            <a:ext cx="3931920" cy="45720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Correct — but reads 20 years of rows for a balance that must return in milliseconds.</a:t>
            </a:r>
            <a:endParaRPr lang="en-US" sz="1100" dirty="0"/>
          </a:p>
        </p:txBody>
      </p:sp>
      <p:sp>
        <p:nvSpPr>
          <p:cNvPr id="13" name="a2f_h12"/>
          <p:cNvSpPr txBox="1"/>
          <p:nvPr/>
        </p:nvSpPr>
        <p:spPr>
          <a:xfrm>
            <a:off x="4754880" y="1188720"/>
            <a:ext cx="3931920" cy="320040"/>
          </a:xfrm>
          <a:prstGeom prst="rect">
            <a:avLst/>
          </a:prstGeom>
          <a:noFill/>
          <a:ln/>
        </p:spPr>
        <p:txBody>
          <a:bodyPr wrap="square" lIns="0" tIns="0" rIns="0" bIns="0" rtlCol="0" anchor="ctr"/>
          <a:lstStyle/>
          <a:p>
            <a:pPr marL="0" indent="0">
              <a:buNone/>
            </a:pPr>
            <a:r>
              <a:rPr lang="en-US" sz="1300" b="1" dirty="0">
                <a:solidFill>
                  <a:srgbClr val="16A34A"/>
                </a:solidFill>
                <a:latin typeface="Calibri" pitchFamily="34" charset="0"/>
                <a:ea typeface="Calibri" pitchFamily="34" charset="-122"/>
                <a:cs typeface="Calibri" pitchFamily="34" charset="-120"/>
              </a:rPr>
              <a:t>✔  Store it, update it atomically</a:t>
            </a:r>
            <a:endParaRPr lang="en-US" sz="1300" dirty="0"/>
          </a:p>
        </p:txBody>
      </p:sp>
      <p:sp>
        <p:nvSpPr>
          <p:cNvPr id="14" name="a2f_codebg13"/>
          <p:cNvSpPr/>
          <p:nvPr/>
        </p:nvSpPr>
        <p:spPr>
          <a:xfrm>
            <a:off x="4754880" y="1554480"/>
            <a:ext cx="3931920" cy="1938528"/>
          </a:xfrm>
          <a:prstGeom prst="roundRect">
            <a:avLst>
              <a:gd name="adj" fmla="val 3150"/>
            </a:avLst>
          </a:prstGeom>
          <a:solidFill>
            <a:srgbClr val="1E293B"/>
          </a:solidFill>
          <a:ln w="12700">
            <a:solidFill>
              <a:srgbClr val="1E293B"/>
            </a:solidFill>
            <a:prstDash val="solid"/>
          </a:ln>
        </p:spPr>
      </p:sp>
      <p:sp>
        <p:nvSpPr>
          <p:cNvPr id="15" name="a2wd0_code14"/>
          <p:cNvSpPr txBox="1"/>
          <p:nvPr/>
        </p:nvSpPr>
        <p:spPr>
          <a:xfrm>
            <a:off x="4937760" y="1691640"/>
            <a:ext cx="3611880" cy="237744"/>
          </a:xfrm>
          <a:prstGeom prst="rect">
            <a:avLst/>
          </a:prstGeom>
          <a:noFill/>
          <a:ln/>
        </p:spPr>
        <p:txBody>
          <a:bodyPr wrap="square" lIns="0" tIns="0" rIns="0" bIns="0" rtlCol="0" anchor="ctr"/>
          <a:lstStyle/>
          <a:p>
            <a:pPr marL="0" indent="0">
              <a:buNone/>
            </a:pPr>
            <a:r>
              <a:rPr lang="en-US" sz="1100" b="1" dirty="0">
                <a:solidFill>
                  <a:srgbClr val="C4B5FD"/>
                </a:solidFill>
                <a:latin typeface="Courier New" pitchFamily="34" charset="0"/>
                <a:ea typeface="Courier New" pitchFamily="34" charset="-122"/>
                <a:cs typeface="Courier New" pitchFamily="34" charset="-120"/>
              </a:rPr>
              <a:t>BEGIN</a:t>
            </a:r>
            <a:r>
              <a:rPr lang="en-US" sz="1100" dirty="0">
                <a:solidFill>
                  <a:srgbClr val="E2E8F0"/>
                </a:solidFill>
                <a:latin typeface="Courier New" pitchFamily="34" charset="0"/>
                <a:ea typeface="Courier New" pitchFamily="34" charset="-122"/>
                <a:cs typeface="Courier New" pitchFamily="34" charset="-120"/>
              </a:rPr>
              <a:t>;</a:t>
            </a:r>
            <a:endParaRPr lang="en-US" sz="1100" dirty="0"/>
          </a:p>
        </p:txBody>
      </p:sp>
      <p:sp>
        <p:nvSpPr>
          <p:cNvPr id="16" name="a2wd150_code15"/>
          <p:cNvSpPr txBox="1"/>
          <p:nvPr/>
        </p:nvSpPr>
        <p:spPr>
          <a:xfrm>
            <a:off x="4937760" y="1929384"/>
            <a:ext cx="3611880" cy="237744"/>
          </a:xfrm>
          <a:prstGeom prst="rect">
            <a:avLst/>
          </a:prstGeom>
          <a:noFill/>
          <a:ln/>
        </p:spPr>
        <p:txBody>
          <a:bodyPr wrap="square" lIns="0" tIns="0" rIns="0" bIns="0" rtlCol="0" anchor="ctr"/>
          <a:lstStyle/>
          <a:p>
            <a:pPr marL="0" indent="0">
              <a:buNone/>
            </a:pPr>
            <a:r>
              <a:rPr lang="en-US" sz="1100" dirty="0">
                <a:solidFill>
                  <a:srgbClr val="E2E8F0"/>
                </a:solidFill>
                <a:latin typeface="Courier New" pitchFamily="34" charset="0"/>
                <a:ea typeface="Courier New" pitchFamily="34" charset="-122"/>
                <a:cs typeface="Courier New" pitchFamily="34" charset="-120"/>
              </a:rPr>
              <a:t>  </a:t>
            </a:r>
            <a:r>
              <a:rPr lang="en-US" sz="1100" b="1" dirty="0">
                <a:solidFill>
                  <a:srgbClr val="C4B5FD"/>
                </a:solidFill>
                <a:latin typeface="Courier New" pitchFamily="34" charset="0"/>
                <a:ea typeface="Courier New" pitchFamily="34" charset="-122"/>
                <a:cs typeface="Courier New" pitchFamily="34" charset="-120"/>
              </a:rPr>
              <a:t>INSERT</a:t>
            </a:r>
            <a:r>
              <a:rPr lang="en-US" sz="1100" dirty="0">
                <a:solidFill>
                  <a:srgbClr val="E2E8F0"/>
                </a:solidFill>
                <a:latin typeface="Courier New" pitchFamily="34" charset="0"/>
                <a:ea typeface="Courier New" pitchFamily="34" charset="-122"/>
                <a:cs typeface="Courier New" pitchFamily="34" charset="-120"/>
              </a:rPr>
              <a:t> </a:t>
            </a:r>
            <a:r>
              <a:rPr lang="en-US" sz="1100" b="1" dirty="0">
                <a:solidFill>
                  <a:srgbClr val="C4B5FD"/>
                </a:solidFill>
                <a:latin typeface="Courier New" pitchFamily="34" charset="0"/>
                <a:ea typeface="Courier New" pitchFamily="34" charset="-122"/>
                <a:cs typeface="Courier New" pitchFamily="34" charset="-120"/>
              </a:rPr>
              <a:t>INTO</a:t>
            </a:r>
            <a:r>
              <a:rPr lang="en-US" sz="1100" dirty="0">
                <a:solidFill>
                  <a:srgbClr val="E2E8F0"/>
                </a:solidFill>
                <a:latin typeface="Courier New" pitchFamily="34" charset="0"/>
                <a:ea typeface="Courier New" pitchFamily="34" charset="-122"/>
                <a:cs typeface="Courier New" pitchFamily="34" charset="-120"/>
              </a:rPr>
              <a:t> account_txn (...)</a:t>
            </a:r>
            <a:endParaRPr lang="en-US" sz="1100" dirty="0"/>
          </a:p>
        </p:txBody>
      </p:sp>
      <p:sp>
        <p:nvSpPr>
          <p:cNvPr id="17" name="a2wd300_code16"/>
          <p:cNvSpPr txBox="1"/>
          <p:nvPr/>
        </p:nvSpPr>
        <p:spPr>
          <a:xfrm>
            <a:off x="4937760" y="2167128"/>
            <a:ext cx="3611880" cy="237744"/>
          </a:xfrm>
          <a:prstGeom prst="rect">
            <a:avLst/>
          </a:prstGeom>
          <a:noFill/>
          <a:ln/>
        </p:spPr>
        <p:txBody>
          <a:bodyPr wrap="square" lIns="0" tIns="0" rIns="0" bIns="0" rtlCol="0" anchor="ctr"/>
          <a:lstStyle/>
          <a:p>
            <a:pPr marL="0" indent="0">
              <a:buNone/>
            </a:pPr>
            <a:r>
              <a:rPr lang="en-US" sz="1100" dirty="0">
                <a:solidFill>
                  <a:srgbClr val="E2E8F0"/>
                </a:solidFill>
                <a:latin typeface="Courier New" pitchFamily="34" charset="0"/>
                <a:ea typeface="Courier New" pitchFamily="34" charset="-122"/>
                <a:cs typeface="Courier New" pitchFamily="34" charset="-120"/>
              </a:rPr>
              <a:t>    </a:t>
            </a:r>
            <a:r>
              <a:rPr lang="en-US" sz="1100" b="1" dirty="0">
                <a:solidFill>
                  <a:srgbClr val="C4B5FD"/>
                </a:solidFill>
                <a:latin typeface="Courier New" pitchFamily="34" charset="0"/>
                <a:ea typeface="Courier New" pitchFamily="34" charset="-122"/>
                <a:cs typeface="Courier New" pitchFamily="34" charset="-120"/>
              </a:rPr>
              <a:t>VALUES</a:t>
            </a:r>
            <a:r>
              <a:rPr lang="en-US" sz="1100" dirty="0">
                <a:solidFill>
                  <a:srgbClr val="E2E8F0"/>
                </a:solidFill>
                <a:latin typeface="Courier New" pitchFamily="34" charset="0"/>
                <a:ea typeface="Courier New" pitchFamily="34" charset="-122"/>
                <a:cs typeface="Courier New" pitchFamily="34" charset="-120"/>
              </a:rPr>
              <a:t> (...);</a:t>
            </a:r>
            <a:endParaRPr lang="en-US" sz="1100" dirty="0"/>
          </a:p>
        </p:txBody>
      </p:sp>
      <p:sp>
        <p:nvSpPr>
          <p:cNvPr id="18" name="a2wd450_code17"/>
          <p:cNvSpPr txBox="1"/>
          <p:nvPr/>
        </p:nvSpPr>
        <p:spPr>
          <a:xfrm>
            <a:off x="4937760" y="2404872"/>
            <a:ext cx="3611880" cy="237744"/>
          </a:xfrm>
          <a:prstGeom prst="rect">
            <a:avLst/>
          </a:prstGeom>
          <a:noFill/>
          <a:ln/>
        </p:spPr>
        <p:txBody>
          <a:bodyPr wrap="square" lIns="0" tIns="0" rIns="0" bIns="0" rtlCol="0" anchor="ctr"/>
          <a:lstStyle/>
          <a:p>
            <a:pPr marL="0" indent="0">
              <a:buNone/>
            </a:pPr>
            <a:r>
              <a:rPr lang="en-US" sz="1100" dirty="0">
                <a:solidFill>
                  <a:srgbClr val="E2E8F0"/>
                </a:solidFill>
                <a:latin typeface="Courier New" pitchFamily="34" charset="0"/>
                <a:ea typeface="Courier New" pitchFamily="34" charset="-122"/>
                <a:cs typeface="Courier New" pitchFamily="34" charset="-120"/>
              </a:rPr>
              <a:t>  </a:t>
            </a:r>
            <a:r>
              <a:rPr lang="en-US" sz="1100" b="1" dirty="0">
                <a:solidFill>
                  <a:srgbClr val="C4B5FD"/>
                </a:solidFill>
                <a:latin typeface="Courier New" pitchFamily="34" charset="0"/>
                <a:ea typeface="Courier New" pitchFamily="34" charset="-122"/>
                <a:cs typeface="Courier New" pitchFamily="34" charset="-120"/>
              </a:rPr>
              <a:t>UPDATE</a:t>
            </a:r>
            <a:r>
              <a:rPr lang="en-US" sz="1100" dirty="0">
                <a:solidFill>
                  <a:srgbClr val="E2E8F0"/>
                </a:solidFill>
                <a:latin typeface="Courier New" pitchFamily="34" charset="0"/>
                <a:ea typeface="Courier New" pitchFamily="34" charset="-122"/>
                <a:cs typeface="Courier New" pitchFamily="34" charset="-120"/>
              </a:rPr>
              <a:t> account</a:t>
            </a:r>
            <a:endParaRPr lang="en-US" sz="1100" dirty="0"/>
          </a:p>
        </p:txBody>
      </p:sp>
      <p:sp>
        <p:nvSpPr>
          <p:cNvPr id="19" name="a2wd600_code18"/>
          <p:cNvSpPr txBox="1"/>
          <p:nvPr/>
        </p:nvSpPr>
        <p:spPr>
          <a:xfrm>
            <a:off x="4937760" y="2642616"/>
            <a:ext cx="3611880" cy="237744"/>
          </a:xfrm>
          <a:prstGeom prst="rect">
            <a:avLst/>
          </a:prstGeom>
          <a:noFill/>
          <a:ln/>
        </p:spPr>
        <p:txBody>
          <a:bodyPr wrap="square" lIns="0" tIns="0" rIns="0" bIns="0" rtlCol="0" anchor="ctr"/>
          <a:lstStyle/>
          <a:p>
            <a:pPr marL="0" indent="0">
              <a:buNone/>
            </a:pPr>
            <a:r>
              <a:rPr lang="en-US" sz="1100" dirty="0">
                <a:solidFill>
                  <a:srgbClr val="E2E8F0"/>
                </a:solidFill>
                <a:latin typeface="Courier New" pitchFamily="34" charset="0"/>
                <a:ea typeface="Courier New" pitchFamily="34" charset="-122"/>
                <a:cs typeface="Courier New" pitchFamily="34" charset="-120"/>
              </a:rPr>
              <a:t>     </a:t>
            </a:r>
            <a:r>
              <a:rPr lang="en-US" sz="1100" b="1" dirty="0">
                <a:solidFill>
                  <a:srgbClr val="C4B5FD"/>
                </a:solidFill>
                <a:latin typeface="Courier New" pitchFamily="34" charset="0"/>
                <a:ea typeface="Courier New" pitchFamily="34" charset="-122"/>
                <a:cs typeface="Courier New" pitchFamily="34" charset="-120"/>
              </a:rPr>
              <a:t>SET</a:t>
            </a:r>
            <a:r>
              <a:rPr lang="en-US" sz="1100" dirty="0">
                <a:solidFill>
                  <a:srgbClr val="E2E8F0"/>
                </a:solidFill>
                <a:latin typeface="Courier New" pitchFamily="34" charset="0"/>
                <a:ea typeface="Courier New" pitchFamily="34" charset="-122"/>
                <a:cs typeface="Courier New" pitchFamily="34" charset="-120"/>
              </a:rPr>
              <a:t> balance = balance - </a:t>
            </a:r>
            <a:r>
              <a:rPr lang="en-US" sz="1100" dirty="0">
                <a:solidFill>
                  <a:srgbClr val="FDBA74"/>
                </a:solidFill>
                <a:latin typeface="Courier New" pitchFamily="34" charset="0"/>
                <a:ea typeface="Courier New" pitchFamily="34" charset="-122"/>
                <a:cs typeface="Courier New" pitchFamily="34" charset="-120"/>
              </a:rPr>
              <a:t>5000</a:t>
            </a:r>
            <a:endParaRPr lang="en-US" sz="1100" dirty="0"/>
          </a:p>
        </p:txBody>
      </p:sp>
      <p:sp>
        <p:nvSpPr>
          <p:cNvPr id="20" name="a2wd750_code19"/>
          <p:cNvSpPr txBox="1"/>
          <p:nvPr/>
        </p:nvSpPr>
        <p:spPr>
          <a:xfrm>
            <a:off x="4937760" y="2880360"/>
            <a:ext cx="3611880" cy="237744"/>
          </a:xfrm>
          <a:prstGeom prst="rect">
            <a:avLst/>
          </a:prstGeom>
          <a:noFill/>
          <a:ln/>
        </p:spPr>
        <p:txBody>
          <a:bodyPr wrap="square" lIns="0" tIns="0" rIns="0" bIns="0" rtlCol="0" anchor="ctr"/>
          <a:lstStyle/>
          <a:p>
            <a:pPr marL="0" indent="0">
              <a:buNone/>
            </a:pPr>
            <a:r>
              <a:rPr lang="en-US" sz="1100" dirty="0">
                <a:solidFill>
                  <a:srgbClr val="E2E8F0"/>
                </a:solidFill>
                <a:latin typeface="Courier New" pitchFamily="34" charset="0"/>
                <a:ea typeface="Courier New" pitchFamily="34" charset="-122"/>
                <a:cs typeface="Courier New" pitchFamily="34" charset="-120"/>
              </a:rPr>
              <a:t>   </a:t>
            </a:r>
            <a:r>
              <a:rPr lang="en-US" sz="1100" b="1" dirty="0">
                <a:solidFill>
                  <a:srgbClr val="C4B5FD"/>
                </a:solidFill>
                <a:latin typeface="Courier New" pitchFamily="34" charset="0"/>
                <a:ea typeface="Courier New" pitchFamily="34" charset="-122"/>
                <a:cs typeface="Courier New" pitchFamily="34" charset="-120"/>
              </a:rPr>
              <a:t>WHERE</a:t>
            </a:r>
            <a:r>
              <a:rPr lang="en-US" sz="1100" dirty="0">
                <a:solidFill>
                  <a:srgbClr val="E2E8F0"/>
                </a:solidFill>
                <a:latin typeface="Courier New" pitchFamily="34" charset="0"/>
                <a:ea typeface="Courier New" pitchFamily="34" charset="-122"/>
                <a:cs typeface="Courier New" pitchFamily="34" charset="-120"/>
              </a:rPr>
              <a:t> account_id = </a:t>
            </a:r>
            <a:r>
              <a:rPr lang="en-US" sz="1100" dirty="0">
                <a:solidFill>
                  <a:srgbClr val="FDBA74"/>
                </a:solidFill>
                <a:latin typeface="Courier New" pitchFamily="34" charset="0"/>
                <a:ea typeface="Courier New" pitchFamily="34" charset="-122"/>
                <a:cs typeface="Courier New" pitchFamily="34" charset="-120"/>
              </a:rPr>
              <a:t>9003</a:t>
            </a:r>
            <a:r>
              <a:rPr lang="en-US" sz="1100" dirty="0">
                <a:solidFill>
                  <a:srgbClr val="E2E8F0"/>
                </a:solidFill>
                <a:latin typeface="Courier New" pitchFamily="34" charset="0"/>
                <a:ea typeface="Courier New" pitchFamily="34" charset="-122"/>
                <a:cs typeface="Courier New" pitchFamily="34" charset="-120"/>
              </a:rPr>
              <a:t>;</a:t>
            </a:r>
            <a:endParaRPr lang="en-US" sz="1100" dirty="0"/>
          </a:p>
        </p:txBody>
      </p:sp>
      <p:sp>
        <p:nvSpPr>
          <p:cNvPr id="21" name="a2wd900_code20"/>
          <p:cNvSpPr txBox="1"/>
          <p:nvPr/>
        </p:nvSpPr>
        <p:spPr>
          <a:xfrm>
            <a:off x="4937760" y="3118104"/>
            <a:ext cx="3611880" cy="237744"/>
          </a:xfrm>
          <a:prstGeom prst="rect">
            <a:avLst/>
          </a:prstGeom>
          <a:noFill/>
          <a:ln/>
        </p:spPr>
        <p:txBody>
          <a:bodyPr wrap="square" lIns="0" tIns="0" rIns="0" bIns="0" rtlCol="0" anchor="ctr"/>
          <a:lstStyle/>
          <a:p>
            <a:pPr marL="0" indent="0">
              <a:buNone/>
            </a:pPr>
            <a:r>
              <a:rPr lang="en-US" sz="1100" b="1" dirty="0">
                <a:solidFill>
                  <a:srgbClr val="C4B5FD"/>
                </a:solidFill>
                <a:latin typeface="Courier New" pitchFamily="34" charset="0"/>
                <a:ea typeface="Courier New" pitchFamily="34" charset="-122"/>
                <a:cs typeface="Courier New" pitchFamily="34" charset="-120"/>
              </a:rPr>
              <a:t>COMMIT</a:t>
            </a:r>
            <a:r>
              <a:rPr lang="en-US" sz="1100" dirty="0">
                <a:solidFill>
                  <a:srgbClr val="E2E8F0"/>
                </a:solidFill>
                <a:latin typeface="Courier New" pitchFamily="34" charset="0"/>
                <a:ea typeface="Courier New" pitchFamily="34" charset="-122"/>
                <a:cs typeface="Courier New" pitchFamily="34" charset="-120"/>
              </a:rPr>
              <a:t>;</a:t>
            </a:r>
            <a:endParaRPr lang="en-US" sz="1100" dirty="0"/>
          </a:p>
        </p:txBody>
      </p:sp>
      <p:sp>
        <p:nvSpPr>
          <p:cNvPr id="22" name="a3u_nb21"/>
          <p:cNvSpPr/>
          <p:nvPr/>
        </p:nvSpPr>
        <p:spPr>
          <a:xfrm>
            <a:off x="457200" y="3931920"/>
            <a:ext cx="8229600" cy="777240"/>
          </a:xfrm>
          <a:prstGeom prst="roundRect">
            <a:avLst>
              <a:gd name="adj" fmla="val 9412"/>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pic>
        <p:nvPicPr>
          <p:cNvPr id="23" name="a3u_ni22" descr="image.png"/>
          <p:cNvPicPr>
            <a:picLocks noChangeAspect="1"/>
          </p:cNvPicPr>
          <p:nvPr/>
        </p:nvPicPr>
        <p:blipFill>
          <a:blip r:embed="rId3"/>
          <a:stretch>
            <a:fillRect/>
          </a:stretch>
        </p:blipFill>
        <p:spPr>
          <a:xfrm>
            <a:off x="594360" y="4160520"/>
            <a:ext cx="320040" cy="320040"/>
          </a:xfrm>
          <a:prstGeom prst="rect">
            <a:avLst/>
          </a:prstGeom>
        </p:spPr>
      </p:pic>
      <p:sp>
        <p:nvSpPr>
          <p:cNvPr id="24" name="a3u_nt23"/>
          <p:cNvSpPr txBox="1"/>
          <p:nvPr/>
        </p:nvSpPr>
        <p:spPr>
          <a:xfrm>
            <a:off x="1005840" y="3931920"/>
            <a:ext cx="7543800" cy="777240"/>
          </a:xfrm>
          <a:prstGeom prst="rect">
            <a:avLst/>
          </a:prstGeom>
          <a:noFill/>
          <a:ln/>
        </p:spPr>
        <p:txBody>
          <a:bodyPr wrap="square" lIns="0" tIns="0" rIns="0" bIns="0" rtlCol="0" anchor="ctr"/>
          <a:lstStyle/>
          <a:p>
            <a:pPr marL="0" indent="0">
              <a:buNone/>
            </a:pPr>
            <a:r>
              <a:rPr lang="en-US" sz="1200" b="1" dirty="0">
                <a:solidFill>
                  <a:srgbClr val="334155"/>
                </a:solidFill>
                <a:latin typeface="Calibri" pitchFamily="34" charset="0"/>
                <a:ea typeface="Calibri" pitchFamily="34" charset="-122"/>
                <a:cs typeface="Calibri" pitchFamily="34" charset="-120"/>
              </a:rPr>
              <a:t>Atomicity protects against a crash — </a:t>
            </a:r>
            <a:r>
              <a:rPr lang="en-US" sz="1200" dirty="0">
                <a:solidFill>
                  <a:srgbClr val="334155"/>
                </a:solidFill>
                <a:latin typeface="Calibri" pitchFamily="34" charset="0"/>
                <a:ea typeface="Calibri" pitchFamily="34" charset="-122"/>
                <a:cs typeface="Calibri" pitchFamily="34" charset="-120"/>
              </a:rPr>
              <a:t>not against a code path that inserts a transaction and forgets the UPDATE. That needs a control.</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par>
                                <p:cTn id="14" presetID="22" presetClass="entr" presetSubtype="8" fill="hold" grpId="0" nodeType="withEffect">
                                  <p:stCondLst>
                                    <p:cond delay="15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par>
                                <p:cTn id="17" presetID="22" presetClass="entr" presetSubtype="8" fill="hold" grpId="0" nodeType="withEffect">
                                  <p:stCondLst>
                                    <p:cond delay="30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par>
                                <p:cTn id="20" presetID="22" presetClass="entr" presetSubtype="8" fill="hold" grpId="0" nodeType="withEffect">
                                  <p:stCondLst>
                                    <p:cond delay="45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par>
                                <p:cTn id="23" presetID="22" presetClass="entr" presetSubtype="8" fill="hold" grpId="0" nodeType="withEffect">
                                  <p:stCondLst>
                                    <p:cond delay="60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500"/>
                                        <p:tgtEl>
                                          <p:spTgt spid="10"/>
                                        </p:tgtEl>
                                      </p:cBhvr>
                                    </p:animEffect>
                                  </p:childTnLst>
                                </p:cTn>
                              </p:par>
                              <p:par>
                                <p:cTn id="26" presetID="22" presetClass="entr" presetSubtype="8" fill="hold" grpId="0" nodeType="withEffect">
                                  <p:stCondLst>
                                    <p:cond delay="75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wipe(left)">
                                      <p:cBhvr>
                                        <p:cTn id="42" dur="500"/>
                                        <p:tgtEl>
                                          <p:spTgt spid="15"/>
                                        </p:tgtEl>
                                      </p:cBhvr>
                                    </p:animEffect>
                                  </p:childTnLst>
                                </p:cTn>
                              </p:par>
                              <p:par>
                                <p:cTn id="43" presetID="22" presetClass="entr" presetSubtype="8" fill="hold" grpId="0" nodeType="withEffect">
                                  <p:stCondLst>
                                    <p:cond delay="150"/>
                                  </p:stCondLst>
                                  <p:childTnLst>
                                    <p:set>
                                      <p:cBhvr>
                                        <p:cTn id="44" dur="1" fill="hold">
                                          <p:stCondLst>
                                            <p:cond delay="0"/>
                                          </p:stCondLst>
                                        </p:cTn>
                                        <p:tgtEl>
                                          <p:spTgt spid="16"/>
                                        </p:tgtEl>
                                        <p:attrNameLst>
                                          <p:attrName>style.visibility</p:attrName>
                                        </p:attrNameLst>
                                      </p:cBhvr>
                                      <p:to>
                                        <p:strVal val="visible"/>
                                      </p:to>
                                    </p:set>
                                    <p:animEffect transition="in" filter="wipe(left)">
                                      <p:cBhvr>
                                        <p:cTn id="45" dur="500"/>
                                        <p:tgtEl>
                                          <p:spTgt spid="16"/>
                                        </p:tgtEl>
                                      </p:cBhvr>
                                    </p:animEffect>
                                  </p:childTnLst>
                                </p:cTn>
                              </p:par>
                              <p:par>
                                <p:cTn id="46" presetID="22" presetClass="entr" presetSubtype="8" fill="hold" grpId="0" nodeType="withEffect">
                                  <p:stCondLst>
                                    <p:cond delay="300"/>
                                  </p:stCondLst>
                                  <p:childTnLst>
                                    <p:set>
                                      <p:cBhvr>
                                        <p:cTn id="47" dur="1" fill="hold">
                                          <p:stCondLst>
                                            <p:cond delay="0"/>
                                          </p:stCondLst>
                                        </p:cTn>
                                        <p:tgtEl>
                                          <p:spTgt spid="17"/>
                                        </p:tgtEl>
                                        <p:attrNameLst>
                                          <p:attrName>style.visibility</p:attrName>
                                        </p:attrNameLst>
                                      </p:cBhvr>
                                      <p:to>
                                        <p:strVal val="visible"/>
                                      </p:to>
                                    </p:set>
                                    <p:animEffect transition="in" filter="wipe(left)">
                                      <p:cBhvr>
                                        <p:cTn id="48" dur="500"/>
                                        <p:tgtEl>
                                          <p:spTgt spid="17"/>
                                        </p:tgtEl>
                                      </p:cBhvr>
                                    </p:animEffect>
                                  </p:childTnLst>
                                </p:cTn>
                              </p:par>
                              <p:par>
                                <p:cTn id="49" presetID="22" presetClass="entr" presetSubtype="8" fill="hold" grpId="0" nodeType="withEffect">
                                  <p:stCondLst>
                                    <p:cond delay="450"/>
                                  </p:stCondLst>
                                  <p:childTnLst>
                                    <p:set>
                                      <p:cBhvr>
                                        <p:cTn id="50" dur="1" fill="hold">
                                          <p:stCondLst>
                                            <p:cond delay="0"/>
                                          </p:stCondLst>
                                        </p:cTn>
                                        <p:tgtEl>
                                          <p:spTgt spid="18"/>
                                        </p:tgtEl>
                                        <p:attrNameLst>
                                          <p:attrName>style.visibility</p:attrName>
                                        </p:attrNameLst>
                                      </p:cBhvr>
                                      <p:to>
                                        <p:strVal val="visible"/>
                                      </p:to>
                                    </p:set>
                                    <p:animEffect transition="in" filter="wipe(left)">
                                      <p:cBhvr>
                                        <p:cTn id="51" dur="500"/>
                                        <p:tgtEl>
                                          <p:spTgt spid="18"/>
                                        </p:tgtEl>
                                      </p:cBhvr>
                                    </p:animEffect>
                                  </p:childTnLst>
                                </p:cTn>
                              </p:par>
                              <p:par>
                                <p:cTn id="52" presetID="22" presetClass="entr" presetSubtype="8" fill="hold" grpId="0" nodeType="withEffect">
                                  <p:stCondLst>
                                    <p:cond delay="600"/>
                                  </p:stCondLst>
                                  <p:childTnLst>
                                    <p:set>
                                      <p:cBhvr>
                                        <p:cTn id="53" dur="1" fill="hold">
                                          <p:stCondLst>
                                            <p:cond delay="0"/>
                                          </p:stCondLst>
                                        </p:cTn>
                                        <p:tgtEl>
                                          <p:spTgt spid="19"/>
                                        </p:tgtEl>
                                        <p:attrNameLst>
                                          <p:attrName>style.visibility</p:attrName>
                                        </p:attrNameLst>
                                      </p:cBhvr>
                                      <p:to>
                                        <p:strVal val="visible"/>
                                      </p:to>
                                    </p:set>
                                    <p:animEffect transition="in" filter="wipe(left)">
                                      <p:cBhvr>
                                        <p:cTn id="54" dur="500"/>
                                        <p:tgtEl>
                                          <p:spTgt spid="19"/>
                                        </p:tgtEl>
                                      </p:cBhvr>
                                    </p:animEffect>
                                  </p:childTnLst>
                                </p:cTn>
                              </p:par>
                              <p:par>
                                <p:cTn id="55" presetID="22" presetClass="entr" presetSubtype="8" fill="hold" grpId="0" nodeType="withEffect">
                                  <p:stCondLst>
                                    <p:cond delay="750"/>
                                  </p:stCondLst>
                                  <p:childTnLst>
                                    <p:set>
                                      <p:cBhvr>
                                        <p:cTn id="56" dur="1" fill="hold">
                                          <p:stCondLst>
                                            <p:cond delay="0"/>
                                          </p:stCondLst>
                                        </p:cTn>
                                        <p:tgtEl>
                                          <p:spTgt spid="20"/>
                                        </p:tgtEl>
                                        <p:attrNameLst>
                                          <p:attrName>style.visibility</p:attrName>
                                        </p:attrNameLst>
                                      </p:cBhvr>
                                      <p:to>
                                        <p:strVal val="visible"/>
                                      </p:to>
                                    </p:set>
                                    <p:animEffect transition="in" filter="wipe(left)">
                                      <p:cBhvr>
                                        <p:cTn id="57" dur="500"/>
                                        <p:tgtEl>
                                          <p:spTgt spid="20"/>
                                        </p:tgtEl>
                                      </p:cBhvr>
                                    </p:animEffect>
                                  </p:childTnLst>
                                </p:cTn>
                              </p:par>
                              <p:par>
                                <p:cTn id="58" presetID="22" presetClass="entr" presetSubtype="8" fill="hold" grpId="0" nodeType="withEffect">
                                  <p:stCondLst>
                                    <p:cond delay="900"/>
                                  </p:stCondLst>
                                  <p:childTnLst>
                                    <p:set>
                                      <p:cBhvr>
                                        <p:cTn id="59" dur="1" fill="hold">
                                          <p:stCondLst>
                                            <p:cond delay="0"/>
                                          </p:stCondLst>
                                        </p:cTn>
                                        <p:tgtEl>
                                          <p:spTgt spid="21"/>
                                        </p:tgtEl>
                                        <p:attrNameLst>
                                          <p:attrName>style.visibility</p:attrName>
                                        </p:attrNameLst>
                                      </p:cBhvr>
                                      <p:to>
                                        <p:strVal val="visible"/>
                                      </p:to>
                                    </p:set>
                                    <p:animEffect transition="in" filter="wipe(left)">
                                      <p:cBhvr>
                                        <p:cTn id="60" dur="500"/>
                                        <p:tgtEl>
                                          <p:spTgt spid="21"/>
                                        </p:tgtEl>
                                      </p:cBhvr>
                                    </p:animEffect>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22"/>
                                        </p:tgtEl>
                                        <p:attrNameLst>
                                          <p:attrName>style.visibility</p:attrName>
                                        </p:attrNameLst>
                                      </p:cBhvr>
                                      <p:to>
                                        <p:strVal val="visible"/>
                                      </p:to>
                                    </p:set>
                                    <p:anim calcmode="lin" valueType="num">
                                      <p:cBhvr additive="base">
                                        <p:cTn id="65" dur="500" fill="hold"/>
                                        <p:tgtEl>
                                          <p:spTgt spid="22"/>
                                        </p:tgtEl>
                                        <p:attrNameLst>
                                          <p:attrName>ppt_x</p:attrName>
                                        </p:attrNameLst>
                                      </p:cBhvr>
                                      <p:tavLst>
                                        <p:tav tm="0">
                                          <p:val>
                                            <p:strVal val="#ppt_x"/>
                                          </p:val>
                                        </p:tav>
                                        <p:tav tm="100000">
                                          <p:val>
                                            <p:strVal val="#ppt_x"/>
                                          </p:val>
                                        </p:tav>
                                      </p:tavLst>
                                    </p:anim>
                                    <p:anim calcmode="lin" valueType="num">
                                      <p:cBhvr additive="base">
                                        <p:cTn id="66" dur="500" fill="hold"/>
                                        <p:tgtEl>
                                          <p:spTgt spid="22"/>
                                        </p:tgtEl>
                                        <p:attrNameLst>
                                          <p:attrName>ppt_y</p:attrName>
                                        </p:attrNameLst>
                                      </p:cBhvr>
                                      <p:tavLst>
                                        <p:tav tm="0">
                                          <p:val>
                                            <p:strVal val="#ppt_y+0.1"/>
                                          </p:val>
                                        </p:tav>
                                        <p:tav tm="100000">
                                          <p:val>
                                            <p:strVal val="#ppt_y"/>
                                          </p:val>
                                        </p:tav>
                                      </p:tavLst>
                                    </p:anim>
                                    <p:animEffect transition="in" filter="fade">
                                      <p:cBhvr>
                                        <p:cTn id="67" dur="500"/>
                                        <p:tgtEl>
                                          <p:spTgt spid="22"/>
                                        </p:tgtEl>
                                      </p:cBhvr>
                                    </p:animEffect>
                                  </p:childTnLst>
                                </p:cTn>
                              </p:par>
                              <p:par>
                                <p:cTn id="68" presetID="2" presetClass="entr" presetSubtype="4" fill="hold" nodeType="withEffect">
                                  <p:stCondLst>
                                    <p:cond delay="0"/>
                                  </p:stCondLst>
                                  <p:childTnLst>
                                    <p:set>
                                      <p:cBhvr>
                                        <p:cTn id="69" dur="1" fill="hold">
                                          <p:stCondLst>
                                            <p:cond delay="0"/>
                                          </p:stCondLst>
                                        </p:cTn>
                                        <p:tgtEl>
                                          <p:spTgt spid="23"/>
                                        </p:tgtEl>
                                        <p:attrNameLst>
                                          <p:attrName>style.visibility</p:attrName>
                                        </p:attrNameLst>
                                      </p:cBhvr>
                                      <p:to>
                                        <p:strVal val="visible"/>
                                      </p:to>
                                    </p:set>
                                    <p:anim calcmode="lin" valueType="num">
                                      <p:cBhvr additive="base">
                                        <p:cTn id="70" dur="500" fill="hold"/>
                                        <p:tgtEl>
                                          <p:spTgt spid="23"/>
                                        </p:tgtEl>
                                        <p:attrNameLst>
                                          <p:attrName>ppt_x</p:attrName>
                                        </p:attrNameLst>
                                      </p:cBhvr>
                                      <p:tavLst>
                                        <p:tav tm="0">
                                          <p:val>
                                            <p:strVal val="#ppt_x"/>
                                          </p:val>
                                        </p:tav>
                                        <p:tav tm="100000">
                                          <p:val>
                                            <p:strVal val="#ppt_x"/>
                                          </p:val>
                                        </p:tav>
                                      </p:tavLst>
                                    </p:anim>
                                    <p:anim calcmode="lin" valueType="num">
                                      <p:cBhvr additive="base">
                                        <p:cTn id="71" dur="500" fill="hold"/>
                                        <p:tgtEl>
                                          <p:spTgt spid="23"/>
                                        </p:tgtEl>
                                        <p:attrNameLst>
                                          <p:attrName>ppt_y</p:attrName>
                                        </p:attrNameLst>
                                      </p:cBhvr>
                                      <p:tavLst>
                                        <p:tav tm="0">
                                          <p:val>
                                            <p:strVal val="#ppt_y+0.1"/>
                                          </p:val>
                                        </p:tav>
                                        <p:tav tm="100000">
                                          <p:val>
                                            <p:strVal val="#ppt_y"/>
                                          </p:val>
                                        </p:tav>
                                      </p:tavLst>
                                    </p:anim>
                                    <p:animEffect transition="in" filter="fade">
                                      <p:cBhvr>
                                        <p:cTn id="72" dur="500"/>
                                        <p:tgtEl>
                                          <p:spTgt spid="23"/>
                                        </p:tgtEl>
                                      </p:cBhvr>
                                    </p:animEffect>
                                  </p:childTnLst>
                                </p:cTn>
                              </p:par>
                              <p:par>
                                <p:cTn id="73" presetID="2" presetClass="entr" presetSubtype="4" fill="hold" grpId="0" nodeType="withEffect">
                                  <p:stCondLst>
                                    <p:cond delay="0"/>
                                  </p:stCondLst>
                                  <p:childTnLst>
                                    <p:set>
                                      <p:cBhvr>
                                        <p:cTn id="74" dur="1" fill="hold">
                                          <p:stCondLst>
                                            <p:cond delay="0"/>
                                          </p:stCondLst>
                                        </p:cTn>
                                        <p:tgtEl>
                                          <p:spTgt spid="24"/>
                                        </p:tgtEl>
                                        <p:attrNameLst>
                                          <p:attrName>style.visibility</p:attrName>
                                        </p:attrNameLst>
                                      </p:cBhvr>
                                      <p:to>
                                        <p:strVal val="visible"/>
                                      </p:to>
                                    </p:set>
                                    <p:anim calcmode="lin" valueType="num">
                                      <p:cBhvr additive="base">
                                        <p:cTn id="75" dur="500" fill="hold"/>
                                        <p:tgtEl>
                                          <p:spTgt spid="24"/>
                                        </p:tgtEl>
                                        <p:attrNameLst>
                                          <p:attrName>ppt_x</p:attrName>
                                        </p:attrNameLst>
                                      </p:cBhvr>
                                      <p:tavLst>
                                        <p:tav tm="0">
                                          <p:val>
                                            <p:strVal val="#ppt_x"/>
                                          </p:val>
                                        </p:tav>
                                        <p:tav tm="100000">
                                          <p:val>
                                            <p:strVal val="#ppt_x"/>
                                          </p:val>
                                        </p:tav>
                                      </p:tavLst>
                                    </p:anim>
                                    <p:anim calcmode="lin" valueType="num">
                                      <p:cBhvr additive="base">
                                        <p:cTn id="76" dur="500" fill="hold"/>
                                        <p:tgtEl>
                                          <p:spTgt spid="24"/>
                                        </p:tgtEl>
                                        <p:attrNameLst>
                                          <p:attrName>ppt_y</p:attrName>
                                        </p:attrNameLst>
                                      </p:cBhvr>
                                      <p:tavLst>
                                        <p:tav tm="0">
                                          <p:val>
                                            <p:strVal val="#ppt_y+0.1"/>
                                          </p:val>
                                        </p:tav>
                                        <p:tav tm="100000">
                                          <p:val>
                                            <p:strVal val="#ppt_y"/>
                                          </p:val>
                                        </p:tav>
                                      </p:tavLst>
                                    </p:anim>
                                    <p:animEffect transition="in" filter="fade">
                                      <p:cBhvr>
                                        <p:cTn id="7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1"/>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Keeping Denormalized Data Honest</a:t>
            </a:r>
            <a:endParaRPr lang="en-US" sz="2800" dirty="0"/>
          </a:p>
        </p:txBody>
      </p:sp>
      <p:sp>
        <p:nvSpPr>
          <p:cNvPr id="3" name="Text 2"/>
          <p:cNvSpPr txBox="1"/>
          <p:nvPr/>
        </p:nvSpPr>
        <p:spPr>
          <a:xfrm>
            <a:off x="457200" y="749808"/>
            <a:ext cx="8229600" cy="320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Four techniques — the last one is not optional</a:t>
            </a:r>
            <a:endParaRPr lang="en-US" sz="1300" dirty="0"/>
          </a:p>
        </p:txBody>
      </p:sp>
      <p:sp>
        <p:nvSpPr>
          <p:cNvPr id="4" name="a1u_c3"/>
          <p:cNvSpPr/>
          <p:nvPr/>
        </p:nvSpPr>
        <p:spPr>
          <a:xfrm>
            <a:off x="457200" y="1234440"/>
            <a:ext cx="4023360" cy="1508760"/>
          </a:xfrm>
          <a:prstGeom prst="roundRect">
            <a:avLst>
              <a:gd name="adj" fmla="val 6000"/>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sp>
        <p:nvSpPr>
          <p:cNvPr id="5" name="a1u_t4"/>
          <p:cNvSpPr txBox="1"/>
          <p:nvPr/>
        </p:nvSpPr>
        <p:spPr>
          <a:xfrm>
            <a:off x="640080" y="1371600"/>
            <a:ext cx="2651760" cy="36576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Same transaction</a:t>
            </a:r>
            <a:endParaRPr lang="en-US" sz="1400" dirty="0"/>
          </a:p>
        </p:txBody>
      </p:sp>
      <p:sp>
        <p:nvSpPr>
          <p:cNvPr id="6" name="a1u_w5"/>
          <p:cNvSpPr txBox="1"/>
          <p:nvPr/>
        </p:nvSpPr>
        <p:spPr>
          <a:xfrm>
            <a:off x="3246120" y="1399032"/>
            <a:ext cx="1097280" cy="274320"/>
          </a:xfrm>
          <a:prstGeom prst="roundRect">
            <a:avLst>
              <a:gd name="adj" fmla="val 50000"/>
            </a:avLst>
          </a:prstGeom>
          <a:solidFill>
            <a:srgbClr val="EDE9FE"/>
          </a:solidFill>
          <a:ln w="12700">
            <a:solidFill>
              <a:srgbClr val="EDE9FE"/>
            </a:solidFill>
            <a:prstDash val="solid"/>
          </a:ln>
        </p:spPr>
        <p:txBody>
          <a:bodyPr wrap="square" lIns="0" tIns="0" rIns="0" bIns="0" rtlCol="0" anchor="ctr"/>
          <a:lstStyle/>
          <a:p>
            <a:pPr marL="0" indent="0" algn="ctr">
              <a:buNone/>
            </a:pPr>
            <a:r>
              <a:rPr lang="en-US" sz="950" b="1" dirty="0">
                <a:solidFill>
                  <a:srgbClr val="6D28D9"/>
                </a:solidFill>
                <a:latin typeface="Calibri" pitchFamily="34" charset="0"/>
                <a:ea typeface="Calibri" pitchFamily="34" charset="-122"/>
                <a:cs typeface="Calibri" pitchFamily="34" charset="-120"/>
              </a:rPr>
              <a:t>This module</a:t>
            </a:r>
            <a:endParaRPr lang="en-US" sz="950" dirty="0"/>
          </a:p>
        </p:txBody>
      </p:sp>
      <p:sp>
        <p:nvSpPr>
          <p:cNvPr id="7" name="a1u_d6"/>
          <p:cNvSpPr txBox="1"/>
          <p:nvPr/>
        </p:nvSpPr>
        <p:spPr>
          <a:xfrm>
            <a:off x="640080" y="1828800"/>
            <a:ext cx="3657600" cy="82296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Update the derived value inside the same BEGIN … COMMIT as the source change.</a:t>
            </a:r>
            <a:endParaRPr lang="en-US" sz="1200" dirty="0"/>
          </a:p>
        </p:txBody>
      </p:sp>
      <p:sp>
        <p:nvSpPr>
          <p:cNvPr id="8" name="a2u_c7"/>
          <p:cNvSpPr/>
          <p:nvPr/>
        </p:nvSpPr>
        <p:spPr>
          <a:xfrm>
            <a:off x="4663440" y="1234440"/>
            <a:ext cx="4023360" cy="1508760"/>
          </a:xfrm>
          <a:prstGeom prst="roundRect">
            <a:avLst>
              <a:gd name="adj" fmla="val 6000"/>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sp>
        <p:nvSpPr>
          <p:cNvPr id="9" name="a2u_t8"/>
          <p:cNvSpPr txBox="1"/>
          <p:nvPr/>
        </p:nvSpPr>
        <p:spPr>
          <a:xfrm>
            <a:off x="4846320" y="1371600"/>
            <a:ext cx="2651760" cy="36576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Trigger</a:t>
            </a:r>
            <a:endParaRPr lang="en-US" sz="1400" dirty="0"/>
          </a:p>
        </p:txBody>
      </p:sp>
      <p:sp>
        <p:nvSpPr>
          <p:cNvPr id="10" name="a2u_w9"/>
          <p:cNvSpPr txBox="1"/>
          <p:nvPr/>
        </p:nvSpPr>
        <p:spPr>
          <a:xfrm>
            <a:off x="7452360" y="1399032"/>
            <a:ext cx="1097280" cy="274320"/>
          </a:xfrm>
          <a:prstGeom prst="roundRect">
            <a:avLst>
              <a:gd name="adj" fmla="val 50000"/>
            </a:avLst>
          </a:prstGeom>
          <a:solidFill>
            <a:srgbClr val="EDE9FE"/>
          </a:solidFill>
          <a:ln w="12700">
            <a:solidFill>
              <a:srgbClr val="EDE9FE"/>
            </a:solidFill>
            <a:prstDash val="solid"/>
          </a:ln>
        </p:spPr>
        <p:txBody>
          <a:bodyPr wrap="square" lIns="0" tIns="0" rIns="0" bIns="0" rtlCol="0" anchor="ctr"/>
          <a:lstStyle/>
          <a:p>
            <a:pPr marL="0" indent="0" algn="ctr">
              <a:buNone/>
            </a:pPr>
            <a:r>
              <a:rPr lang="en-US" sz="950" b="1" dirty="0">
                <a:solidFill>
                  <a:srgbClr val="6D28D9"/>
                </a:solidFill>
                <a:latin typeface="Calibri" pitchFamily="34" charset="0"/>
                <a:ea typeface="Calibri" pitchFamily="34" charset="-122"/>
                <a:cs typeface="Calibri" pitchFamily="34" charset="-120"/>
              </a:rPr>
              <a:t>Module 10</a:t>
            </a:r>
            <a:endParaRPr lang="en-US" sz="950" dirty="0"/>
          </a:p>
        </p:txBody>
      </p:sp>
      <p:sp>
        <p:nvSpPr>
          <p:cNvPr id="11" name="a2u_d10"/>
          <p:cNvSpPr txBox="1"/>
          <p:nvPr/>
        </p:nvSpPr>
        <p:spPr>
          <a:xfrm>
            <a:off x="4846320" y="1828800"/>
            <a:ext cx="3657600" cy="82296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The database maintains the copy, so no application can forget.</a:t>
            </a:r>
            <a:endParaRPr lang="en-US" sz="1200" dirty="0"/>
          </a:p>
        </p:txBody>
      </p:sp>
      <p:sp>
        <p:nvSpPr>
          <p:cNvPr id="12" name="a3u_c11"/>
          <p:cNvSpPr/>
          <p:nvPr/>
        </p:nvSpPr>
        <p:spPr>
          <a:xfrm>
            <a:off x="457200" y="2926080"/>
            <a:ext cx="4023360" cy="1508760"/>
          </a:xfrm>
          <a:prstGeom prst="roundRect">
            <a:avLst>
              <a:gd name="adj" fmla="val 6000"/>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sp>
        <p:nvSpPr>
          <p:cNvPr id="13" name="a3u_t12"/>
          <p:cNvSpPr txBox="1"/>
          <p:nvPr/>
        </p:nvSpPr>
        <p:spPr>
          <a:xfrm>
            <a:off x="640080" y="3063240"/>
            <a:ext cx="2651760" cy="36576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Scheduled recomputation</a:t>
            </a:r>
            <a:endParaRPr lang="en-US" sz="1400" dirty="0"/>
          </a:p>
        </p:txBody>
      </p:sp>
      <p:sp>
        <p:nvSpPr>
          <p:cNvPr id="14" name="a3u_w13"/>
          <p:cNvSpPr txBox="1"/>
          <p:nvPr/>
        </p:nvSpPr>
        <p:spPr>
          <a:xfrm>
            <a:off x="3246120" y="3090672"/>
            <a:ext cx="1097280" cy="274320"/>
          </a:xfrm>
          <a:prstGeom prst="roundRect">
            <a:avLst>
              <a:gd name="adj" fmla="val 50000"/>
            </a:avLst>
          </a:prstGeom>
          <a:solidFill>
            <a:srgbClr val="EDE9FE"/>
          </a:solidFill>
          <a:ln w="12700">
            <a:solidFill>
              <a:srgbClr val="EDE9FE"/>
            </a:solidFill>
            <a:prstDash val="solid"/>
          </a:ln>
        </p:spPr>
        <p:txBody>
          <a:bodyPr wrap="square" lIns="0" tIns="0" rIns="0" bIns="0" rtlCol="0" anchor="ctr"/>
          <a:lstStyle/>
          <a:p>
            <a:pPr marL="0" indent="0" algn="ctr">
              <a:buNone/>
            </a:pPr>
            <a:r>
              <a:rPr lang="en-US" sz="950" b="1" dirty="0">
                <a:solidFill>
                  <a:srgbClr val="6D28D9"/>
                </a:solidFill>
                <a:latin typeface="Calibri" pitchFamily="34" charset="0"/>
                <a:ea typeface="Calibri" pitchFamily="34" charset="-122"/>
                <a:cs typeface="Calibri" pitchFamily="34" charset="-120"/>
              </a:rPr>
              <a:t>Module 10</a:t>
            </a:r>
            <a:endParaRPr lang="en-US" sz="950" dirty="0"/>
          </a:p>
        </p:txBody>
      </p:sp>
      <p:sp>
        <p:nvSpPr>
          <p:cNvPr id="15" name="a3u_d14"/>
          <p:cNvSpPr txBox="1"/>
          <p:nvPr/>
        </p:nvSpPr>
        <p:spPr>
          <a:xfrm>
            <a:off x="640080" y="3520440"/>
            <a:ext cx="3657600" cy="82296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Rebuild the summary from the source every night.</a:t>
            </a:r>
            <a:endParaRPr lang="en-US" sz="1200" dirty="0"/>
          </a:p>
        </p:txBody>
      </p:sp>
      <p:sp>
        <p:nvSpPr>
          <p:cNvPr id="16" name="a4u_c15"/>
          <p:cNvSpPr/>
          <p:nvPr/>
        </p:nvSpPr>
        <p:spPr>
          <a:xfrm>
            <a:off x="4663440" y="2926080"/>
            <a:ext cx="4023360" cy="1508760"/>
          </a:xfrm>
          <a:prstGeom prst="roundRect">
            <a:avLst>
              <a:gd name="adj" fmla="val 6000"/>
            </a:avLst>
          </a:prstGeom>
          <a:solidFill>
            <a:srgbClr val="6D28D9"/>
          </a:solidFill>
          <a:ln w="12700">
            <a:solidFill>
              <a:srgbClr val="6D28D9"/>
            </a:solidFill>
            <a:prstDash val="solid"/>
          </a:ln>
        </p:spPr>
      </p:sp>
      <p:sp>
        <p:nvSpPr>
          <p:cNvPr id="17" name="a4u_t16"/>
          <p:cNvSpPr txBox="1"/>
          <p:nvPr/>
        </p:nvSpPr>
        <p:spPr>
          <a:xfrm>
            <a:off x="4846320" y="3063240"/>
            <a:ext cx="265176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Reconciliation report</a:t>
            </a:r>
            <a:endParaRPr lang="en-US" sz="1400" dirty="0"/>
          </a:p>
        </p:txBody>
      </p:sp>
      <p:sp>
        <p:nvSpPr>
          <p:cNvPr id="18" name="a4u_w17"/>
          <p:cNvSpPr txBox="1"/>
          <p:nvPr/>
        </p:nvSpPr>
        <p:spPr>
          <a:xfrm>
            <a:off x="7452360" y="3090672"/>
            <a:ext cx="1097280" cy="274320"/>
          </a:xfrm>
          <a:prstGeom prst="roundRect">
            <a:avLst>
              <a:gd name="adj" fmla="val 50000"/>
            </a:avLst>
          </a:prstGeom>
          <a:solidFill>
            <a:srgbClr val="FFFFFF"/>
          </a:solidFill>
          <a:ln w="12700">
            <a:solidFill>
              <a:srgbClr val="FFFFFF"/>
            </a:solidFill>
            <a:prstDash val="solid"/>
          </a:ln>
        </p:spPr>
        <p:txBody>
          <a:bodyPr wrap="square" lIns="0" tIns="0" rIns="0" bIns="0" rtlCol="0" anchor="ctr"/>
          <a:lstStyle/>
          <a:p>
            <a:pPr marL="0" indent="0" algn="ctr">
              <a:buNone/>
            </a:pPr>
            <a:r>
              <a:rPr lang="en-US" sz="950" b="1" dirty="0">
                <a:solidFill>
                  <a:srgbClr val="6D28D9"/>
                </a:solidFill>
                <a:latin typeface="Calibri" pitchFamily="34" charset="0"/>
                <a:ea typeface="Calibri" pitchFamily="34" charset="-122"/>
                <a:cs typeface="Calibri" pitchFamily="34" charset="-120"/>
              </a:rPr>
              <a:t>Mandatory</a:t>
            </a:r>
            <a:endParaRPr lang="en-US" sz="950" dirty="0"/>
          </a:p>
        </p:txBody>
      </p:sp>
      <p:sp>
        <p:nvSpPr>
          <p:cNvPr id="19" name="a4u_d18"/>
          <p:cNvSpPr txBox="1"/>
          <p:nvPr/>
        </p:nvSpPr>
        <p:spPr>
          <a:xfrm>
            <a:off x="4846320" y="3520440"/>
            <a:ext cx="3657600" cy="822960"/>
          </a:xfrm>
          <a:prstGeom prst="rect">
            <a:avLst/>
          </a:prstGeom>
          <a:noFill/>
          <a:ln/>
        </p:spPr>
        <p:txBody>
          <a:bodyPr wrap="square" lIns="0" tIns="0" rIns="0" bIns="0" rtlCol="0" anchor="t"/>
          <a:lstStyle/>
          <a:p>
            <a:pPr marL="0" indent="0">
              <a:buNone/>
            </a:pPr>
            <a:r>
              <a:rPr lang="en-US" sz="1200" dirty="0">
                <a:solidFill>
                  <a:srgbClr val="EDE9FE"/>
                </a:solidFill>
                <a:latin typeface="Calibri" pitchFamily="34" charset="0"/>
                <a:ea typeface="Calibri" pitchFamily="34" charset="-122"/>
                <a:cs typeface="Calibri" pitchFamily="34" charset="-120"/>
              </a:rPr>
              <a:t>Compare stored against computed and alert on any difference.</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ppt_y+0.1"/>
                                          </p:val>
                                        </p:tav>
                                        <p:tav tm="100000">
                                          <p:val>
                                            <p:strVal val="#ppt_y"/>
                                          </p:val>
                                        </p:tav>
                                      </p:tavLst>
                                    </p:anim>
                                    <p:animEffect transition="in" filter="fade">
                                      <p:cBhvr>
                                        <p:cTn id="9" dur="500"/>
                                        <p:tgtEl>
                                          <p:spTgt spid="4"/>
                                        </p:tgtEl>
                                      </p:cBhvr>
                                    </p:animEffect>
                                  </p:childTnLst>
                                </p:cTn>
                              </p:par>
                              <p:par>
                                <p:cTn id="10" presetID="2" presetClass="entr" presetSubtype="4"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ppt_y+0.1"/>
                                          </p:val>
                                        </p:tav>
                                        <p:tav tm="100000">
                                          <p:val>
                                            <p:strVal val="#ppt_y"/>
                                          </p:val>
                                        </p:tav>
                                      </p:tavLst>
                                    </p:anim>
                                    <p:animEffect transition="in" filter="fade">
                                      <p:cBhvr>
                                        <p:cTn id="14" dur="500"/>
                                        <p:tgtEl>
                                          <p:spTgt spid="5"/>
                                        </p:tgtEl>
                                      </p:cBhvr>
                                    </p:animEffect>
                                  </p:childTnLst>
                                </p:cTn>
                              </p:par>
                              <p:par>
                                <p:cTn id="15" presetID="2" presetClass="entr" presetSubtype="4"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ppt_y+0.1"/>
                                          </p:val>
                                        </p:tav>
                                        <p:tav tm="100000">
                                          <p:val>
                                            <p:strVal val="#ppt_y"/>
                                          </p:val>
                                        </p:tav>
                                      </p:tavLst>
                                    </p:anim>
                                    <p:animEffect transition="in" filter="fade">
                                      <p:cBhvr>
                                        <p:cTn id="19" dur="500"/>
                                        <p:tgtEl>
                                          <p:spTgt spid="6"/>
                                        </p:tgtEl>
                                      </p:cBhvr>
                                    </p:animEffect>
                                  </p:childTnLst>
                                </p:cTn>
                              </p:par>
                              <p:par>
                                <p:cTn id="20" presetID="2" presetClass="entr" presetSubtype="4"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ppt_y+0.1"/>
                                          </p:val>
                                        </p:tav>
                                        <p:tav tm="100000">
                                          <p:val>
                                            <p:strVal val="#ppt_y"/>
                                          </p:val>
                                        </p:tav>
                                      </p:tavLst>
                                    </p:anim>
                                    <p:animEffect transition="in" filter="fade">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ppt_x"/>
                                          </p:val>
                                        </p:tav>
                                        <p:tav tm="100000">
                                          <p:val>
                                            <p:strVal val="#ppt_x"/>
                                          </p:val>
                                        </p:tav>
                                      </p:tavLst>
                                    </p:anim>
                                    <p:anim calcmode="lin" valueType="num">
                                      <p:cBhvr additive="base">
                                        <p:cTn id="30" dur="500" fill="hold"/>
                                        <p:tgtEl>
                                          <p:spTgt spid="8"/>
                                        </p:tgtEl>
                                        <p:attrNameLst>
                                          <p:attrName>ppt_y</p:attrName>
                                        </p:attrNameLst>
                                      </p:cBhvr>
                                      <p:tavLst>
                                        <p:tav tm="0">
                                          <p:val>
                                            <p:strVal val="#ppt_y+0.1"/>
                                          </p:val>
                                        </p:tav>
                                        <p:tav tm="100000">
                                          <p:val>
                                            <p:strVal val="#ppt_y"/>
                                          </p:val>
                                        </p:tav>
                                      </p:tavLst>
                                    </p:anim>
                                    <p:animEffect transition="in" filter="fade">
                                      <p:cBhvr>
                                        <p:cTn id="31" dur="500"/>
                                        <p:tgtEl>
                                          <p:spTgt spid="8"/>
                                        </p:tgtEl>
                                      </p:cBhvr>
                                    </p:animEffect>
                                  </p:childTnLst>
                                </p:cTn>
                              </p:par>
                              <p:par>
                                <p:cTn id="32" presetID="2" presetClass="entr" presetSubtype="4"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500" fill="hold"/>
                                        <p:tgtEl>
                                          <p:spTgt spid="9"/>
                                        </p:tgtEl>
                                        <p:attrNameLst>
                                          <p:attrName>ppt_x</p:attrName>
                                        </p:attrNameLst>
                                      </p:cBhvr>
                                      <p:tavLst>
                                        <p:tav tm="0">
                                          <p:val>
                                            <p:strVal val="#ppt_x"/>
                                          </p:val>
                                        </p:tav>
                                        <p:tav tm="100000">
                                          <p:val>
                                            <p:strVal val="#ppt_x"/>
                                          </p:val>
                                        </p:tav>
                                      </p:tavLst>
                                    </p:anim>
                                    <p:anim calcmode="lin" valueType="num">
                                      <p:cBhvr additive="base">
                                        <p:cTn id="35" dur="500" fill="hold"/>
                                        <p:tgtEl>
                                          <p:spTgt spid="9"/>
                                        </p:tgtEl>
                                        <p:attrNameLst>
                                          <p:attrName>ppt_y</p:attrName>
                                        </p:attrNameLst>
                                      </p:cBhvr>
                                      <p:tavLst>
                                        <p:tav tm="0">
                                          <p:val>
                                            <p:strVal val="#ppt_y+0.1"/>
                                          </p:val>
                                        </p:tav>
                                        <p:tav tm="100000">
                                          <p:val>
                                            <p:strVal val="#ppt_y"/>
                                          </p:val>
                                        </p:tav>
                                      </p:tavLst>
                                    </p:anim>
                                    <p:animEffect transition="in" filter="fade">
                                      <p:cBhvr>
                                        <p:cTn id="36" dur="500"/>
                                        <p:tgtEl>
                                          <p:spTgt spid="9"/>
                                        </p:tgtEl>
                                      </p:cBhvr>
                                    </p:animEffect>
                                  </p:childTnLst>
                                </p:cTn>
                              </p:par>
                              <p:par>
                                <p:cTn id="37" presetID="2" presetClass="entr" presetSubtype="4"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500" fill="hold"/>
                                        <p:tgtEl>
                                          <p:spTgt spid="10"/>
                                        </p:tgtEl>
                                        <p:attrNameLst>
                                          <p:attrName>ppt_x</p:attrName>
                                        </p:attrNameLst>
                                      </p:cBhvr>
                                      <p:tavLst>
                                        <p:tav tm="0">
                                          <p:val>
                                            <p:strVal val="#ppt_x"/>
                                          </p:val>
                                        </p:tav>
                                        <p:tav tm="100000">
                                          <p:val>
                                            <p:strVal val="#ppt_x"/>
                                          </p:val>
                                        </p:tav>
                                      </p:tavLst>
                                    </p:anim>
                                    <p:anim calcmode="lin" valueType="num">
                                      <p:cBhvr additive="base">
                                        <p:cTn id="40" dur="500" fill="hold"/>
                                        <p:tgtEl>
                                          <p:spTgt spid="10"/>
                                        </p:tgtEl>
                                        <p:attrNameLst>
                                          <p:attrName>ppt_y</p:attrName>
                                        </p:attrNameLst>
                                      </p:cBhvr>
                                      <p:tavLst>
                                        <p:tav tm="0">
                                          <p:val>
                                            <p:strVal val="#ppt_y+0.1"/>
                                          </p:val>
                                        </p:tav>
                                        <p:tav tm="100000">
                                          <p:val>
                                            <p:strVal val="#ppt_y"/>
                                          </p:val>
                                        </p:tav>
                                      </p:tavLst>
                                    </p:anim>
                                    <p:animEffect transition="in" filter="fade">
                                      <p:cBhvr>
                                        <p:cTn id="41" dur="500"/>
                                        <p:tgtEl>
                                          <p:spTgt spid="10"/>
                                        </p:tgtEl>
                                      </p:cBhvr>
                                    </p:animEffect>
                                  </p:childTnLst>
                                </p:cTn>
                              </p:par>
                              <p:par>
                                <p:cTn id="42" presetID="2" presetClass="entr" presetSubtype="4"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additive="base">
                                        <p:cTn id="44" dur="500" fill="hold"/>
                                        <p:tgtEl>
                                          <p:spTgt spid="11"/>
                                        </p:tgtEl>
                                        <p:attrNameLst>
                                          <p:attrName>ppt_x</p:attrName>
                                        </p:attrNameLst>
                                      </p:cBhvr>
                                      <p:tavLst>
                                        <p:tav tm="0">
                                          <p:val>
                                            <p:strVal val="#ppt_x"/>
                                          </p:val>
                                        </p:tav>
                                        <p:tav tm="100000">
                                          <p:val>
                                            <p:strVal val="#ppt_x"/>
                                          </p:val>
                                        </p:tav>
                                      </p:tavLst>
                                    </p:anim>
                                    <p:anim calcmode="lin" valueType="num">
                                      <p:cBhvr additive="base">
                                        <p:cTn id="45" dur="500" fill="hold"/>
                                        <p:tgtEl>
                                          <p:spTgt spid="11"/>
                                        </p:tgtEl>
                                        <p:attrNameLst>
                                          <p:attrName>ppt_y</p:attrName>
                                        </p:attrNameLst>
                                      </p:cBhvr>
                                      <p:tavLst>
                                        <p:tav tm="0">
                                          <p:val>
                                            <p:strVal val="#ppt_y+0.1"/>
                                          </p:val>
                                        </p:tav>
                                        <p:tav tm="100000">
                                          <p:val>
                                            <p:strVal val="#ppt_y"/>
                                          </p:val>
                                        </p:tav>
                                      </p:tavLst>
                                    </p:anim>
                                    <p:animEffect transition="in" filter="fade">
                                      <p:cBhvr>
                                        <p:cTn id="46" dur="500"/>
                                        <p:tgtEl>
                                          <p:spTgt spid="11"/>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anim calcmode="lin" valueType="num">
                                      <p:cBhvr additive="base">
                                        <p:cTn id="51" dur="500" fill="hold"/>
                                        <p:tgtEl>
                                          <p:spTgt spid="12"/>
                                        </p:tgtEl>
                                        <p:attrNameLst>
                                          <p:attrName>ppt_x</p:attrName>
                                        </p:attrNameLst>
                                      </p:cBhvr>
                                      <p:tavLst>
                                        <p:tav tm="0">
                                          <p:val>
                                            <p:strVal val="#ppt_x"/>
                                          </p:val>
                                        </p:tav>
                                        <p:tav tm="100000">
                                          <p:val>
                                            <p:strVal val="#ppt_x"/>
                                          </p:val>
                                        </p:tav>
                                      </p:tavLst>
                                    </p:anim>
                                    <p:anim calcmode="lin" valueType="num">
                                      <p:cBhvr additive="base">
                                        <p:cTn id="52" dur="500" fill="hold"/>
                                        <p:tgtEl>
                                          <p:spTgt spid="12"/>
                                        </p:tgtEl>
                                        <p:attrNameLst>
                                          <p:attrName>ppt_y</p:attrName>
                                        </p:attrNameLst>
                                      </p:cBhvr>
                                      <p:tavLst>
                                        <p:tav tm="0">
                                          <p:val>
                                            <p:strVal val="#ppt_y+0.1"/>
                                          </p:val>
                                        </p:tav>
                                        <p:tav tm="100000">
                                          <p:val>
                                            <p:strVal val="#ppt_y"/>
                                          </p:val>
                                        </p:tav>
                                      </p:tavLst>
                                    </p:anim>
                                    <p:animEffect transition="in" filter="fade">
                                      <p:cBhvr>
                                        <p:cTn id="53" dur="500"/>
                                        <p:tgtEl>
                                          <p:spTgt spid="12"/>
                                        </p:tgtEl>
                                      </p:cBhvr>
                                    </p:animEffect>
                                  </p:childTnLst>
                                </p:cTn>
                              </p:par>
                              <p:par>
                                <p:cTn id="54" presetID="2" presetClass="entr" presetSubtype="4" fill="hold" grpId="0" nodeType="withEffect">
                                  <p:stCondLst>
                                    <p:cond delay="0"/>
                                  </p:stCondLst>
                                  <p:childTnLst>
                                    <p:set>
                                      <p:cBhvr>
                                        <p:cTn id="55" dur="1" fill="hold">
                                          <p:stCondLst>
                                            <p:cond delay="0"/>
                                          </p:stCondLst>
                                        </p:cTn>
                                        <p:tgtEl>
                                          <p:spTgt spid="13"/>
                                        </p:tgtEl>
                                        <p:attrNameLst>
                                          <p:attrName>style.visibility</p:attrName>
                                        </p:attrNameLst>
                                      </p:cBhvr>
                                      <p:to>
                                        <p:strVal val="visible"/>
                                      </p:to>
                                    </p:set>
                                    <p:anim calcmode="lin" valueType="num">
                                      <p:cBhvr additive="base">
                                        <p:cTn id="56" dur="500" fill="hold"/>
                                        <p:tgtEl>
                                          <p:spTgt spid="13"/>
                                        </p:tgtEl>
                                        <p:attrNameLst>
                                          <p:attrName>ppt_x</p:attrName>
                                        </p:attrNameLst>
                                      </p:cBhvr>
                                      <p:tavLst>
                                        <p:tav tm="0">
                                          <p:val>
                                            <p:strVal val="#ppt_x"/>
                                          </p:val>
                                        </p:tav>
                                        <p:tav tm="100000">
                                          <p:val>
                                            <p:strVal val="#ppt_x"/>
                                          </p:val>
                                        </p:tav>
                                      </p:tavLst>
                                    </p:anim>
                                    <p:anim calcmode="lin" valueType="num">
                                      <p:cBhvr additive="base">
                                        <p:cTn id="57" dur="500" fill="hold"/>
                                        <p:tgtEl>
                                          <p:spTgt spid="13"/>
                                        </p:tgtEl>
                                        <p:attrNameLst>
                                          <p:attrName>ppt_y</p:attrName>
                                        </p:attrNameLst>
                                      </p:cBhvr>
                                      <p:tavLst>
                                        <p:tav tm="0">
                                          <p:val>
                                            <p:strVal val="#ppt_y+0.1"/>
                                          </p:val>
                                        </p:tav>
                                        <p:tav tm="100000">
                                          <p:val>
                                            <p:strVal val="#ppt_y"/>
                                          </p:val>
                                        </p:tav>
                                      </p:tavLst>
                                    </p:anim>
                                    <p:animEffect transition="in" filter="fade">
                                      <p:cBhvr>
                                        <p:cTn id="58" dur="500"/>
                                        <p:tgtEl>
                                          <p:spTgt spid="13"/>
                                        </p:tgtEl>
                                      </p:cBhvr>
                                    </p:animEffect>
                                  </p:childTnLst>
                                </p:cTn>
                              </p:par>
                              <p:par>
                                <p:cTn id="59" presetID="2" presetClass="entr" presetSubtype="4"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 calcmode="lin" valueType="num">
                                      <p:cBhvr additive="base">
                                        <p:cTn id="61" dur="500" fill="hold"/>
                                        <p:tgtEl>
                                          <p:spTgt spid="14"/>
                                        </p:tgtEl>
                                        <p:attrNameLst>
                                          <p:attrName>ppt_x</p:attrName>
                                        </p:attrNameLst>
                                      </p:cBhvr>
                                      <p:tavLst>
                                        <p:tav tm="0">
                                          <p:val>
                                            <p:strVal val="#ppt_x"/>
                                          </p:val>
                                        </p:tav>
                                        <p:tav tm="100000">
                                          <p:val>
                                            <p:strVal val="#ppt_x"/>
                                          </p:val>
                                        </p:tav>
                                      </p:tavLst>
                                    </p:anim>
                                    <p:anim calcmode="lin" valueType="num">
                                      <p:cBhvr additive="base">
                                        <p:cTn id="62" dur="500" fill="hold"/>
                                        <p:tgtEl>
                                          <p:spTgt spid="14"/>
                                        </p:tgtEl>
                                        <p:attrNameLst>
                                          <p:attrName>ppt_y</p:attrName>
                                        </p:attrNameLst>
                                      </p:cBhvr>
                                      <p:tavLst>
                                        <p:tav tm="0">
                                          <p:val>
                                            <p:strVal val="#ppt_y+0.1"/>
                                          </p:val>
                                        </p:tav>
                                        <p:tav tm="100000">
                                          <p:val>
                                            <p:strVal val="#ppt_y"/>
                                          </p:val>
                                        </p:tav>
                                      </p:tavLst>
                                    </p:anim>
                                    <p:animEffect transition="in" filter="fade">
                                      <p:cBhvr>
                                        <p:cTn id="63" dur="500"/>
                                        <p:tgtEl>
                                          <p:spTgt spid="14"/>
                                        </p:tgtEl>
                                      </p:cBhvr>
                                    </p:animEffect>
                                  </p:childTnLst>
                                </p:cTn>
                              </p:par>
                              <p:par>
                                <p:cTn id="64" presetID="2" presetClass="entr" presetSubtype="4" fill="hold" grpId="0" nodeType="withEffect">
                                  <p:stCondLst>
                                    <p:cond delay="0"/>
                                  </p:stCondLst>
                                  <p:childTnLst>
                                    <p:set>
                                      <p:cBhvr>
                                        <p:cTn id="65" dur="1" fill="hold">
                                          <p:stCondLst>
                                            <p:cond delay="0"/>
                                          </p:stCondLst>
                                        </p:cTn>
                                        <p:tgtEl>
                                          <p:spTgt spid="15"/>
                                        </p:tgtEl>
                                        <p:attrNameLst>
                                          <p:attrName>style.visibility</p:attrName>
                                        </p:attrNameLst>
                                      </p:cBhvr>
                                      <p:to>
                                        <p:strVal val="visible"/>
                                      </p:to>
                                    </p:set>
                                    <p:anim calcmode="lin" valueType="num">
                                      <p:cBhvr additive="base">
                                        <p:cTn id="66" dur="500" fill="hold"/>
                                        <p:tgtEl>
                                          <p:spTgt spid="15"/>
                                        </p:tgtEl>
                                        <p:attrNameLst>
                                          <p:attrName>ppt_x</p:attrName>
                                        </p:attrNameLst>
                                      </p:cBhvr>
                                      <p:tavLst>
                                        <p:tav tm="0">
                                          <p:val>
                                            <p:strVal val="#ppt_x"/>
                                          </p:val>
                                        </p:tav>
                                        <p:tav tm="100000">
                                          <p:val>
                                            <p:strVal val="#ppt_x"/>
                                          </p:val>
                                        </p:tav>
                                      </p:tavLst>
                                    </p:anim>
                                    <p:anim calcmode="lin" valueType="num">
                                      <p:cBhvr additive="base">
                                        <p:cTn id="67" dur="500" fill="hold"/>
                                        <p:tgtEl>
                                          <p:spTgt spid="15"/>
                                        </p:tgtEl>
                                        <p:attrNameLst>
                                          <p:attrName>ppt_y</p:attrName>
                                        </p:attrNameLst>
                                      </p:cBhvr>
                                      <p:tavLst>
                                        <p:tav tm="0">
                                          <p:val>
                                            <p:strVal val="#ppt_y+0.1"/>
                                          </p:val>
                                        </p:tav>
                                        <p:tav tm="100000">
                                          <p:val>
                                            <p:strVal val="#ppt_y"/>
                                          </p:val>
                                        </p:tav>
                                      </p:tavLst>
                                    </p:anim>
                                    <p:animEffect transition="in" filter="fade">
                                      <p:cBhvr>
                                        <p:cTn id="68" dur="500"/>
                                        <p:tgtEl>
                                          <p:spTgt spid="15"/>
                                        </p:tgtEl>
                                      </p:cBhvr>
                                    </p:animEffect>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6"/>
                                        </p:tgtEl>
                                        <p:attrNameLst>
                                          <p:attrName>style.visibility</p:attrName>
                                        </p:attrNameLst>
                                      </p:cBhvr>
                                      <p:to>
                                        <p:strVal val="visible"/>
                                      </p:to>
                                    </p:set>
                                    <p:anim calcmode="lin" valueType="num">
                                      <p:cBhvr additive="base">
                                        <p:cTn id="73" dur="500" fill="hold"/>
                                        <p:tgtEl>
                                          <p:spTgt spid="16"/>
                                        </p:tgtEl>
                                        <p:attrNameLst>
                                          <p:attrName>ppt_x</p:attrName>
                                        </p:attrNameLst>
                                      </p:cBhvr>
                                      <p:tavLst>
                                        <p:tav tm="0">
                                          <p:val>
                                            <p:strVal val="#ppt_x"/>
                                          </p:val>
                                        </p:tav>
                                        <p:tav tm="100000">
                                          <p:val>
                                            <p:strVal val="#ppt_x"/>
                                          </p:val>
                                        </p:tav>
                                      </p:tavLst>
                                    </p:anim>
                                    <p:anim calcmode="lin" valueType="num">
                                      <p:cBhvr additive="base">
                                        <p:cTn id="74" dur="500" fill="hold"/>
                                        <p:tgtEl>
                                          <p:spTgt spid="16"/>
                                        </p:tgtEl>
                                        <p:attrNameLst>
                                          <p:attrName>ppt_y</p:attrName>
                                        </p:attrNameLst>
                                      </p:cBhvr>
                                      <p:tavLst>
                                        <p:tav tm="0">
                                          <p:val>
                                            <p:strVal val="#ppt_y+0.1"/>
                                          </p:val>
                                        </p:tav>
                                        <p:tav tm="100000">
                                          <p:val>
                                            <p:strVal val="#ppt_y"/>
                                          </p:val>
                                        </p:tav>
                                      </p:tavLst>
                                    </p:anim>
                                    <p:animEffect transition="in" filter="fade">
                                      <p:cBhvr>
                                        <p:cTn id="75" dur="500"/>
                                        <p:tgtEl>
                                          <p:spTgt spid="16"/>
                                        </p:tgtEl>
                                      </p:cBhvr>
                                    </p:animEffect>
                                  </p:childTnLst>
                                </p:cTn>
                              </p:par>
                              <p:par>
                                <p:cTn id="76" presetID="2" presetClass="entr" presetSubtype="4" fill="hold" grpId="0" nodeType="withEffect">
                                  <p:stCondLst>
                                    <p:cond delay="0"/>
                                  </p:stCondLst>
                                  <p:childTnLst>
                                    <p:set>
                                      <p:cBhvr>
                                        <p:cTn id="77" dur="1" fill="hold">
                                          <p:stCondLst>
                                            <p:cond delay="0"/>
                                          </p:stCondLst>
                                        </p:cTn>
                                        <p:tgtEl>
                                          <p:spTgt spid="17"/>
                                        </p:tgtEl>
                                        <p:attrNameLst>
                                          <p:attrName>style.visibility</p:attrName>
                                        </p:attrNameLst>
                                      </p:cBhvr>
                                      <p:to>
                                        <p:strVal val="visible"/>
                                      </p:to>
                                    </p:set>
                                    <p:anim calcmode="lin" valueType="num">
                                      <p:cBhvr additive="base">
                                        <p:cTn id="78" dur="500" fill="hold"/>
                                        <p:tgtEl>
                                          <p:spTgt spid="17"/>
                                        </p:tgtEl>
                                        <p:attrNameLst>
                                          <p:attrName>ppt_x</p:attrName>
                                        </p:attrNameLst>
                                      </p:cBhvr>
                                      <p:tavLst>
                                        <p:tav tm="0">
                                          <p:val>
                                            <p:strVal val="#ppt_x"/>
                                          </p:val>
                                        </p:tav>
                                        <p:tav tm="100000">
                                          <p:val>
                                            <p:strVal val="#ppt_x"/>
                                          </p:val>
                                        </p:tav>
                                      </p:tavLst>
                                    </p:anim>
                                    <p:anim calcmode="lin" valueType="num">
                                      <p:cBhvr additive="base">
                                        <p:cTn id="79" dur="500" fill="hold"/>
                                        <p:tgtEl>
                                          <p:spTgt spid="17"/>
                                        </p:tgtEl>
                                        <p:attrNameLst>
                                          <p:attrName>ppt_y</p:attrName>
                                        </p:attrNameLst>
                                      </p:cBhvr>
                                      <p:tavLst>
                                        <p:tav tm="0">
                                          <p:val>
                                            <p:strVal val="#ppt_y+0.1"/>
                                          </p:val>
                                        </p:tav>
                                        <p:tav tm="100000">
                                          <p:val>
                                            <p:strVal val="#ppt_y"/>
                                          </p:val>
                                        </p:tav>
                                      </p:tavLst>
                                    </p:anim>
                                    <p:animEffect transition="in" filter="fade">
                                      <p:cBhvr>
                                        <p:cTn id="80" dur="500"/>
                                        <p:tgtEl>
                                          <p:spTgt spid="17"/>
                                        </p:tgtEl>
                                      </p:cBhvr>
                                    </p:animEffect>
                                  </p:childTnLst>
                                </p:cTn>
                              </p:par>
                              <p:par>
                                <p:cTn id="81" presetID="2" presetClass="entr" presetSubtype="4" fill="hold" grpId="0" nodeType="withEffect">
                                  <p:stCondLst>
                                    <p:cond delay="0"/>
                                  </p:stCondLst>
                                  <p:childTnLst>
                                    <p:set>
                                      <p:cBhvr>
                                        <p:cTn id="82" dur="1" fill="hold">
                                          <p:stCondLst>
                                            <p:cond delay="0"/>
                                          </p:stCondLst>
                                        </p:cTn>
                                        <p:tgtEl>
                                          <p:spTgt spid="18"/>
                                        </p:tgtEl>
                                        <p:attrNameLst>
                                          <p:attrName>style.visibility</p:attrName>
                                        </p:attrNameLst>
                                      </p:cBhvr>
                                      <p:to>
                                        <p:strVal val="visible"/>
                                      </p:to>
                                    </p:set>
                                    <p:anim calcmode="lin" valueType="num">
                                      <p:cBhvr additive="base">
                                        <p:cTn id="83" dur="500" fill="hold"/>
                                        <p:tgtEl>
                                          <p:spTgt spid="18"/>
                                        </p:tgtEl>
                                        <p:attrNameLst>
                                          <p:attrName>ppt_x</p:attrName>
                                        </p:attrNameLst>
                                      </p:cBhvr>
                                      <p:tavLst>
                                        <p:tav tm="0">
                                          <p:val>
                                            <p:strVal val="#ppt_x"/>
                                          </p:val>
                                        </p:tav>
                                        <p:tav tm="100000">
                                          <p:val>
                                            <p:strVal val="#ppt_x"/>
                                          </p:val>
                                        </p:tav>
                                      </p:tavLst>
                                    </p:anim>
                                    <p:anim calcmode="lin" valueType="num">
                                      <p:cBhvr additive="base">
                                        <p:cTn id="84" dur="500" fill="hold"/>
                                        <p:tgtEl>
                                          <p:spTgt spid="18"/>
                                        </p:tgtEl>
                                        <p:attrNameLst>
                                          <p:attrName>ppt_y</p:attrName>
                                        </p:attrNameLst>
                                      </p:cBhvr>
                                      <p:tavLst>
                                        <p:tav tm="0">
                                          <p:val>
                                            <p:strVal val="#ppt_y+0.1"/>
                                          </p:val>
                                        </p:tav>
                                        <p:tav tm="100000">
                                          <p:val>
                                            <p:strVal val="#ppt_y"/>
                                          </p:val>
                                        </p:tav>
                                      </p:tavLst>
                                    </p:anim>
                                    <p:animEffect transition="in" filter="fade">
                                      <p:cBhvr>
                                        <p:cTn id="85" dur="500"/>
                                        <p:tgtEl>
                                          <p:spTgt spid="18"/>
                                        </p:tgtEl>
                                      </p:cBhvr>
                                    </p:animEffect>
                                  </p:childTnLst>
                                </p:cTn>
                              </p:par>
                              <p:par>
                                <p:cTn id="86" presetID="2" presetClass="entr" presetSubtype="4" fill="hold" grpId="0" nodeType="withEffect">
                                  <p:stCondLst>
                                    <p:cond delay="0"/>
                                  </p:stCondLst>
                                  <p:childTnLst>
                                    <p:set>
                                      <p:cBhvr>
                                        <p:cTn id="87" dur="1" fill="hold">
                                          <p:stCondLst>
                                            <p:cond delay="0"/>
                                          </p:stCondLst>
                                        </p:cTn>
                                        <p:tgtEl>
                                          <p:spTgt spid="19"/>
                                        </p:tgtEl>
                                        <p:attrNameLst>
                                          <p:attrName>style.visibility</p:attrName>
                                        </p:attrNameLst>
                                      </p:cBhvr>
                                      <p:to>
                                        <p:strVal val="visible"/>
                                      </p:to>
                                    </p:set>
                                    <p:anim calcmode="lin" valueType="num">
                                      <p:cBhvr additive="base">
                                        <p:cTn id="88" dur="500" fill="hold"/>
                                        <p:tgtEl>
                                          <p:spTgt spid="19"/>
                                        </p:tgtEl>
                                        <p:attrNameLst>
                                          <p:attrName>ppt_x</p:attrName>
                                        </p:attrNameLst>
                                      </p:cBhvr>
                                      <p:tavLst>
                                        <p:tav tm="0">
                                          <p:val>
                                            <p:strVal val="#ppt_x"/>
                                          </p:val>
                                        </p:tav>
                                        <p:tav tm="100000">
                                          <p:val>
                                            <p:strVal val="#ppt_x"/>
                                          </p:val>
                                        </p:tav>
                                      </p:tavLst>
                                    </p:anim>
                                    <p:anim calcmode="lin" valueType="num">
                                      <p:cBhvr additive="base">
                                        <p:cTn id="89" dur="500" fill="hold"/>
                                        <p:tgtEl>
                                          <p:spTgt spid="19"/>
                                        </p:tgtEl>
                                        <p:attrNameLst>
                                          <p:attrName>ppt_y</p:attrName>
                                        </p:attrNameLst>
                                      </p:cBhvr>
                                      <p:tavLst>
                                        <p:tav tm="0">
                                          <p:val>
                                            <p:strVal val="#ppt_y+0.1"/>
                                          </p:val>
                                        </p:tav>
                                        <p:tav tm="100000">
                                          <p:val>
                                            <p:strVal val="#ppt_y"/>
                                          </p:val>
                                        </p:tav>
                                      </p:tavLst>
                                    </p:anim>
                                    <p:animEffect transition="in" filter="fade">
                                      <p:cBhvr>
                                        <p:cTn id="9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1"/>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In Practice: The Reconciliation Query</a:t>
            </a:r>
            <a:endParaRPr lang="en-US" sz="2800" dirty="0"/>
          </a:p>
        </p:txBody>
      </p:sp>
      <p:sp>
        <p:nvSpPr>
          <p:cNvPr id="3" name="Text 2"/>
          <p:cNvSpPr txBox="1"/>
          <p:nvPr/>
        </p:nvSpPr>
        <p:spPr>
          <a:xfrm>
            <a:off x="457200" y="914400"/>
            <a:ext cx="8229600" cy="502920"/>
          </a:xfrm>
          <a:prstGeom prst="roundRect">
            <a:avLst>
              <a:gd name="adj" fmla="val 14545"/>
            </a:avLst>
          </a:prstGeom>
          <a:solidFill>
            <a:srgbClr val="EDE9FE"/>
          </a:solidFill>
          <a:ln w="12700">
            <a:solidFill>
              <a:srgbClr val="EDE9FE"/>
            </a:solidFill>
            <a:prstDash val="solid"/>
          </a:ln>
        </p:spPr>
        <p:txBody>
          <a:bodyPr wrap="square" lIns="164592" tIns="0" rIns="164592" bIns="0" rtlCol="0" anchor="ctr"/>
          <a:lstStyle/>
          <a:p>
            <a:pPr marL="0" indent="0">
              <a:buNone/>
            </a:pPr>
            <a:r>
              <a:rPr lang="en-US" sz="1400" b="1" dirty="0">
                <a:solidFill>
                  <a:srgbClr val="6D28D9"/>
                </a:solidFill>
                <a:latin typeface="Calibri" pitchFamily="34" charset="0"/>
                <a:ea typeface="Calibri" pitchFamily="34" charset="-122"/>
                <a:cs typeface="Calibri" pitchFamily="34" charset="-120"/>
              </a:rPr>
              <a:t>TASK   </a:t>
            </a:r>
            <a:r>
              <a:rPr lang="en-US" sz="1400" dirty="0">
                <a:solidFill>
                  <a:srgbClr val="0F172A"/>
                </a:solidFill>
                <a:latin typeface="Calibri" pitchFamily="34" charset="0"/>
                <a:ea typeface="Calibri" pitchFamily="34" charset="-122"/>
                <a:cs typeface="Calibri" pitchFamily="34" charset="-120"/>
              </a:rPr>
              <a:t>Find every account whose stored balance disagrees with its transactions.</a:t>
            </a:r>
            <a:endParaRPr lang="en-US" sz="1400" dirty="0"/>
          </a:p>
        </p:txBody>
      </p:sp>
      <p:sp>
        <p:nvSpPr>
          <p:cNvPr id="4" name="a1f_codebg3"/>
          <p:cNvSpPr/>
          <p:nvPr/>
        </p:nvSpPr>
        <p:spPr>
          <a:xfrm>
            <a:off x="457200" y="1600200"/>
            <a:ext cx="4892040" cy="3017520"/>
          </a:xfrm>
          <a:prstGeom prst="roundRect">
            <a:avLst>
              <a:gd name="adj" fmla="val 3150"/>
            </a:avLst>
          </a:prstGeom>
          <a:solidFill>
            <a:srgbClr val="1E293B"/>
          </a:solidFill>
          <a:ln w="12700">
            <a:solidFill>
              <a:srgbClr val="1E293B"/>
            </a:solidFill>
            <a:prstDash val="solid"/>
          </a:ln>
        </p:spPr>
      </p:sp>
      <p:sp>
        <p:nvSpPr>
          <p:cNvPr id="5" name="a1wd0_code4"/>
          <p:cNvSpPr txBox="1"/>
          <p:nvPr/>
        </p:nvSpPr>
        <p:spPr>
          <a:xfrm>
            <a:off x="640080" y="1737360"/>
            <a:ext cx="4572000" cy="228600"/>
          </a:xfrm>
          <a:prstGeom prst="rect">
            <a:avLst/>
          </a:prstGeom>
          <a:noFill/>
          <a:ln/>
        </p:spPr>
        <p:txBody>
          <a:bodyPr wrap="square" lIns="0" tIns="0" rIns="0" bIns="0" rtlCol="0" anchor="ctr"/>
          <a:lstStyle/>
          <a:p>
            <a:pPr marL="0" indent="0">
              <a:buNone/>
            </a:pPr>
            <a:r>
              <a:rPr lang="en-US" sz="1000" b="1" dirty="0">
                <a:solidFill>
                  <a:srgbClr val="C4B5FD"/>
                </a:solidFill>
                <a:latin typeface="Courier New" pitchFamily="34" charset="0"/>
                <a:ea typeface="Courier New" pitchFamily="34" charset="-122"/>
                <a:cs typeface="Courier New" pitchFamily="34" charset="-120"/>
              </a:rPr>
              <a:t>SELECT</a:t>
            </a:r>
            <a:r>
              <a:rPr lang="en-US" sz="1000" dirty="0">
                <a:solidFill>
                  <a:srgbClr val="E2E8F0"/>
                </a:solidFill>
                <a:latin typeface="Courier New" pitchFamily="34" charset="0"/>
                <a:ea typeface="Courier New" pitchFamily="34" charset="-122"/>
                <a:cs typeface="Courier New" pitchFamily="34" charset="-120"/>
              </a:rPr>
              <a:t> a.account_id,</a:t>
            </a:r>
            <a:endParaRPr lang="en-US" sz="1000" dirty="0"/>
          </a:p>
        </p:txBody>
      </p:sp>
      <p:sp>
        <p:nvSpPr>
          <p:cNvPr id="6" name="a1wd150_code5"/>
          <p:cNvSpPr txBox="1"/>
          <p:nvPr/>
        </p:nvSpPr>
        <p:spPr>
          <a:xfrm>
            <a:off x="640080" y="1965960"/>
            <a:ext cx="4572000" cy="228600"/>
          </a:xfrm>
          <a:prstGeom prst="rect">
            <a:avLst/>
          </a:prstGeom>
          <a:noFill/>
          <a:ln/>
        </p:spPr>
        <p:txBody>
          <a:bodyPr wrap="square" lIns="0" tIns="0" rIns="0" bIns="0" rtlCol="0" anchor="ctr"/>
          <a:lstStyle/>
          <a:p>
            <a:pPr marL="0" indent="0">
              <a:buNone/>
            </a:pPr>
            <a:r>
              <a:rPr lang="en-US" sz="1000" dirty="0">
                <a:solidFill>
                  <a:srgbClr val="E2E8F0"/>
                </a:solidFill>
                <a:latin typeface="Courier New" pitchFamily="34" charset="0"/>
                <a:ea typeface="Courier New" pitchFamily="34" charset="-122"/>
                <a:cs typeface="Courier New" pitchFamily="34" charset="-120"/>
              </a:rPr>
              <a:t>       a.balance </a:t>
            </a:r>
            <a:r>
              <a:rPr lang="en-US" sz="1000" b="1" dirty="0">
                <a:solidFill>
                  <a:srgbClr val="C4B5FD"/>
                </a:solidFill>
                <a:latin typeface="Courier New" pitchFamily="34" charset="0"/>
                <a:ea typeface="Courier New" pitchFamily="34" charset="-122"/>
                <a:cs typeface="Courier New" pitchFamily="34" charset="-120"/>
              </a:rPr>
              <a:t>AS</a:t>
            </a:r>
            <a:r>
              <a:rPr lang="en-US" sz="1000" dirty="0">
                <a:solidFill>
                  <a:srgbClr val="E2E8F0"/>
                </a:solidFill>
                <a:latin typeface="Courier New" pitchFamily="34" charset="0"/>
                <a:ea typeface="Courier New" pitchFamily="34" charset="-122"/>
                <a:cs typeface="Courier New" pitchFamily="34" charset="-120"/>
              </a:rPr>
              <a:t> stored_balance,</a:t>
            </a:r>
            <a:endParaRPr lang="en-US" sz="1000" dirty="0"/>
          </a:p>
        </p:txBody>
      </p:sp>
      <p:sp>
        <p:nvSpPr>
          <p:cNvPr id="7" name="a1wd300_code6"/>
          <p:cNvSpPr txBox="1"/>
          <p:nvPr/>
        </p:nvSpPr>
        <p:spPr>
          <a:xfrm>
            <a:off x="640080" y="2194560"/>
            <a:ext cx="4572000" cy="228600"/>
          </a:xfrm>
          <a:prstGeom prst="rect">
            <a:avLst/>
          </a:prstGeom>
          <a:noFill/>
          <a:ln/>
        </p:spPr>
        <p:txBody>
          <a:bodyPr wrap="square" lIns="0" tIns="0" rIns="0" bIns="0" rtlCol="0" anchor="ctr"/>
          <a:lstStyle/>
          <a:p>
            <a:pPr marL="0" indent="0">
              <a:buNone/>
            </a:pPr>
            <a:r>
              <a:rPr lang="en-US" sz="1000" dirty="0">
                <a:solidFill>
                  <a:srgbClr val="E2E8F0"/>
                </a:solidFill>
                <a:latin typeface="Courier New" pitchFamily="34" charset="0"/>
                <a:ea typeface="Courier New" pitchFamily="34" charset="-122"/>
                <a:cs typeface="Courier New" pitchFamily="34" charset="-120"/>
              </a:rPr>
              <a:t>       </a:t>
            </a:r>
            <a:r>
              <a:rPr lang="en-US" sz="1000" dirty="0">
                <a:solidFill>
                  <a:srgbClr val="93C5FD"/>
                </a:solidFill>
                <a:latin typeface="Courier New" pitchFamily="34" charset="0"/>
                <a:ea typeface="Courier New" pitchFamily="34" charset="-122"/>
                <a:cs typeface="Courier New" pitchFamily="34" charset="-120"/>
              </a:rPr>
              <a:t>COALESCE</a:t>
            </a:r>
            <a:r>
              <a:rPr lang="en-US" sz="1000" dirty="0">
                <a:solidFill>
                  <a:srgbClr val="E2E8F0"/>
                </a:solidFill>
                <a:latin typeface="Courier New" pitchFamily="34" charset="0"/>
                <a:ea typeface="Courier New" pitchFamily="34" charset="-122"/>
                <a:cs typeface="Courier New" pitchFamily="34" charset="-120"/>
              </a:rPr>
              <a:t>(</a:t>
            </a:r>
            <a:r>
              <a:rPr lang="en-US" sz="1000" dirty="0">
                <a:solidFill>
                  <a:srgbClr val="93C5FD"/>
                </a:solidFill>
                <a:latin typeface="Courier New" pitchFamily="34" charset="0"/>
                <a:ea typeface="Courier New" pitchFamily="34" charset="-122"/>
                <a:cs typeface="Courier New" pitchFamily="34" charset="-120"/>
              </a:rPr>
              <a:t>SUM</a:t>
            </a:r>
            <a:r>
              <a:rPr lang="en-US" sz="1000" dirty="0">
                <a:solidFill>
                  <a:srgbClr val="E2E8F0"/>
                </a:solidFill>
                <a:latin typeface="Courier New" pitchFamily="34" charset="0"/>
                <a:ea typeface="Courier New" pitchFamily="34" charset="-122"/>
                <a:cs typeface="Courier New" pitchFamily="34" charset="-120"/>
              </a:rPr>
              <a:t>(</a:t>
            </a:r>
            <a:r>
              <a:rPr lang="en-US" sz="1000" b="1" dirty="0">
                <a:solidFill>
                  <a:srgbClr val="C4B5FD"/>
                </a:solidFill>
                <a:latin typeface="Courier New" pitchFamily="34" charset="0"/>
                <a:ea typeface="Courier New" pitchFamily="34" charset="-122"/>
                <a:cs typeface="Courier New" pitchFamily="34" charset="-120"/>
              </a:rPr>
              <a:t>CASE</a:t>
            </a:r>
            <a:r>
              <a:rPr lang="en-US" sz="1000" dirty="0">
                <a:solidFill>
                  <a:srgbClr val="E2E8F0"/>
                </a:solidFill>
                <a:latin typeface="Courier New" pitchFamily="34" charset="0"/>
                <a:ea typeface="Courier New" pitchFamily="34" charset="-122"/>
                <a:cs typeface="Courier New" pitchFamily="34" charset="-120"/>
              </a:rPr>
              <a:t> </a:t>
            </a:r>
            <a:r>
              <a:rPr lang="en-US" sz="1000" b="1" dirty="0">
                <a:solidFill>
                  <a:srgbClr val="C4B5FD"/>
                </a:solidFill>
                <a:latin typeface="Courier New" pitchFamily="34" charset="0"/>
                <a:ea typeface="Courier New" pitchFamily="34" charset="-122"/>
                <a:cs typeface="Courier New" pitchFamily="34" charset="-120"/>
              </a:rPr>
              <a:t>WHEN</a:t>
            </a:r>
            <a:r>
              <a:rPr lang="en-US" sz="1000" dirty="0">
                <a:solidFill>
                  <a:srgbClr val="E2E8F0"/>
                </a:solidFill>
                <a:latin typeface="Courier New" pitchFamily="34" charset="0"/>
                <a:ea typeface="Courier New" pitchFamily="34" charset="-122"/>
                <a:cs typeface="Courier New" pitchFamily="34" charset="-120"/>
              </a:rPr>
              <a:t> t.txn_type = </a:t>
            </a:r>
            <a:r>
              <a:rPr lang="en-US" sz="1000" dirty="0">
                <a:solidFill>
                  <a:srgbClr val="FDBA74"/>
                </a:solidFill>
                <a:latin typeface="Courier New" pitchFamily="34" charset="0"/>
                <a:ea typeface="Courier New" pitchFamily="34" charset="-122"/>
                <a:cs typeface="Courier New" pitchFamily="34" charset="-120"/>
              </a:rPr>
              <a:t>'CREDIT'</a:t>
            </a:r>
            <a:endParaRPr lang="en-US" sz="1000" dirty="0"/>
          </a:p>
        </p:txBody>
      </p:sp>
      <p:sp>
        <p:nvSpPr>
          <p:cNvPr id="8" name="a1wd450_code7"/>
          <p:cNvSpPr txBox="1"/>
          <p:nvPr/>
        </p:nvSpPr>
        <p:spPr>
          <a:xfrm>
            <a:off x="640080" y="2423160"/>
            <a:ext cx="4572000" cy="228600"/>
          </a:xfrm>
          <a:prstGeom prst="rect">
            <a:avLst/>
          </a:prstGeom>
          <a:noFill/>
          <a:ln/>
        </p:spPr>
        <p:txBody>
          <a:bodyPr wrap="square" lIns="0" tIns="0" rIns="0" bIns="0" rtlCol="0" anchor="ctr"/>
          <a:lstStyle/>
          <a:p>
            <a:pPr marL="0" indent="0">
              <a:buNone/>
            </a:pPr>
            <a:r>
              <a:rPr lang="en-US" sz="1000" dirty="0">
                <a:solidFill>
                  <a:srgbClr val="E2E8F0"/>
                </a:solidFill>
                <a:latin typeface="Courier New" pitchFamily="34" charset="0"/>
                <a:ea typeface="Courier New" pitchFamily="34" charset="-122"/>
                <a:cs typeface="Courier New" pitchFamily="34" charset="-120"/>
              </a:rPr>
              <a:t>                    </a:t>
            </a:r>
            <a:r>
              <a:rPr lang="en-US" sz="1000" b="1" dirty="0">
                <a:solidFill>
                  <a:srgbClr val="C4B5FD"/>
                </a:solidFill>
                <a:latin typeface="Courier New" pitchFamily="34" charset="0"/>
                <a:ea typeface="Courier New" pitchFamily="34" charset="-122"/>
                <a:cs typeface="Courier New" pitchFamily="34" charset="-120"/>
              </a:rPr>
              <a:t>THEN</a:t>
            </a:r>
            <a:r>
              <a:rPr lang="en-US" sz="1000" dirty="0">
                <a:solidFill>
                  <a:srgbClr val="E2E8F0"/>
                </a:solidFill>
                <a:latin typeface="Courier New" pitchFamily="34" charset="0"/>
                <a:ea typeface="Courier New" pitchFamily="34" charset="-122"/>
                <a:cs typeface="Courier New" pitchFamily="34" charset="-120"/>
              </a:rPr>
              <a:t> t.amount </a:t>
            </a:r>
            <a:r>
              <a:rPr lang="en-US" sz="1000" b="1" dirty="0">
                <a:solidFill>
                  <a:srgbClr val="C4B5FD"/>
                </a:solidFill>
                <a:latin typeface="Courier New" pitchFamily="34" charset="0"/>
                <a:ea typeface="Courier New" pitchFamily="34" charset="-122"/>
                <a:cs typeface="Courier New" pitchFamily="34" charset="-120"/>
              </a:rPr>
              <a:t>ELSE</a:t>
            </a:r>
            <a:r>
              <a:rPr lang="en-US" sz="1000" dirty="0">
                <a:solidFill>
                  <a:srgbClr val="E2E8F0"/>
                </a:solidFill>
                <a:latin typeface="Courier New" pitchFamily="34" charset="0"/>
                <a:ea typeface="Courier New" pitchFamily="34" charset="-122"/>
                <a:cs typeface="Courier New" pitchFamily="34" charset="-120"/>
              </a:rPr>
              <a:t> -t.amount </a:t>
            </a:r>
            <a:r>
              <a:rPr lang="en-US" sz="1000" b="1" dirty="0">
                <a:solidFill>
                  <a:srgbClr val="C4B5FD"/>
                </a:solidFill>
                <a:latin typeface="Courier New" pitchFamily="34" charset="0"/>
                <a:ea typeface="Courier New" pitchFamily="34" charset="-122"/>
                <a:cs typeface="Courier New" pitchFamily="34" charset="-120"/>
              </a:rPr>
              <a:t>END</a:t>
            </a:r>
            <a:r>
              <a:rPr lang="en-US" sz="1000" dirty="0">
                <a:solidFill>
                  <a:srgbClr val="E2E8F0"/>
                </a:solidFill>
                <a:latin typeface="Courier New" pitchFamily="34" charset="0"/>
                <a:ea typeface="Courier New" pitchFamily="34" charset="-122"/>
                <a:cs typeface="Courier New" pitchFamily="34" charset="-120"/>
              </a:rPr>
              <a:t>), </a:t>
            </a:r>
            <a:r>
              <a:rPr lang="en-US" sz="1000" dirty="0">
                <a:solidFill>
                  <a:srgbClr val="FDBA74"/>
                </a:solidFill>
                <a:latin typeface="Courier New" pitchFamily="34" charset="0"/>
                <a:ea typeface="Courier New" pitchFamily="34" charset="-122"/>
                <a:cs typeface="Courier New" pitchFamily="34" charset="-120"/>
              </a:rPr>
              <a:t>0</a:t>
            </a:r>
            <a:r>
              <a:rPr lang="en-US" sz="1000" dirty="0">
                <a:solidFill>
                  <a:srgbClr val="E2E8F0"/>
                </a:solidFill>
                <a:latin typeface="Courier New" pitchFamily="34" charset="0"/>
                <a:ea typeface="Courier New" pitchFamily="34" charset="-122"/>
                <a:cs typeface="Courier New" pitchFamily="34" charset="-120"/>
              </a:rPr>
              <a:t>)</a:t>
            </a:r>
            <a:endParaRPr lang="en-US" sz="1000" dirty="0"/>
          </a:p>
        </p:txBody>
      </p:sp>
      <p:sp>
        <p:nvSpPr>
          <p:cNvPr id="9" name="a1wd600_code8"/>
          <p:cNvSpPr txBox="1"/>
          <p:nvPr/>
        </p:nvSpPr>
        <p:spPr>
          <a:xfrm>
            <a:off x="640080" y="2651760"/>
            <a:ext cx="4572000" cy="228600"/>
          </a:xfrm>
          <a:prstGeom prst="rect">
            <a:avLst/>
          </a:prstGeom>
          <a:noFill/>
          <a:ln/>
        </p:spPr>
        <p:txBody>
          <a:bodyPr wrap="square" lIns="0" tIns="0" rIns="0" bIns="0" rtlCol="0" anchor="ctr"/>
          <a:lstStyle/>
          <a:p>
            <a:pPr marL="0" indent="0">
              <a:buNone/>
            </a:pPr>
            <a:r>
              <a:rPr lang="en-US" sz="1000" dirty="0">
                <a:solidFill>
                  <a:srgbClr val="E2E8F0"/>
                </a:solidFill>
                <a:latin typeface="Courier New" pitchFamily="34" charset="0"/>
                <a:ea typeface="Courier New" pitchFamily="34" charset="-122"/>
                <a:cs typeface="Courier New" pitchFamily="34" charset="-120"/>
              </a:rPr>
              <a:t>         </a:t>
            </a:r>
            <a:r>
              <a:rPr lang="en-US" sz="1000" b="1" dirty="0">
                <a:solidFill>
                  <a:srgbClr val="C4B5FD"/>
                </a:solidFill>
                <a:latin typeface="Courier New" pitchFamily="34" charset="0"/>
                <a:ea typeface="Courier New" pitchFamily="34" charset="-122"/>
                <a:cs typeface="Courier New" pitchFamily="34" charset="-120"/>
              </a:rPr>
              <a:t>AS</a:t>
            </a:r>
            <a:r>
              <a:rPr lang="en-US" sz="1000" dirty="0">
                <a:solidFill>
                  <a:srgbClr val="E2E8F0"/>
                </a:solidFill>
                <a:latin typeface="Courier New" pitchFamily="34" charset="0"/>
                <a:ea typeface="Courier New" pitchFamily="34" charset="-122"/>
                <a:cs typeface="Courier New" pitchFamily="34" charset="-120"/>
              </a:rPr>
              <a:t> computed_balance</a:t>
            </a:r>
            <a:endParaRPr lang="en-US" sz="1000" dirty="0"/>
          </a:p>
        </p:txBody>
      </p:sp>
      <p:sp>
        <p:nvSpPr>
          <p:cNvPr id="10" name="a1wd750_code9"/>
          <p:cNvSpPr txBox="1"/>
          <p:nvPr/>
        </p:nvSpPr>
        <p:spPr>
          <a:xfrm>
            <a:off x="640080" y="2880360"/>
            <a:ext cx="4572000" cy="228600"/>
          </a:xfrm>
          <a:prstGeom prst="rect">
            <a:avLst/>
          </a:prstGeom>
          <a:noFill/>
          <a:ln/>
        </p:spPr>
        <p:txBody>
          <a:bodyPr wrap="square" lIns="0" tIns="0" rIns="0" bIns="0" rtlCol="0" anchor="ctr"/>
          <a:lstStyle/>
          <a:p>
            <a:pPr marL="0" indent="0">
              <a:buNone/>
            </a:pPr>
            <a:r>
              <a:rPr lang="en-US" sz="1000" b="1" dirty="0">
                <a:solidFill>
                  <a:srgbClr val="C4B5FD"/>
                </a:solidFill>
                <a:latin typeface="Courier New" pitchFamily="34" charset="0"/>
                <a:ea typeface="Courier New" pitchFamily="34" charset="-122"/>
                <a:cs typeface="Courier New" pitchFamily="34" charset="-120"/>
              </a:rPr>
              <a:t>FROM</a:t>
            </a:r>
            <a:r>
              <a:rPr lang="en-US" sz="1000" dirty="0">
                <a:solidFill>
                  <a:srgbClr val="E2E8F0"/>
                </a:solidFill>
                <a:latin typeface="Courier New" pitchFamily="34" charset="0"/>
                <a:ea typeface="Courier New" pitchFamily="34" charset="-122"/>
                <a:cs typeface="Courier New" pitchFamily="34" charset="-120"/>
              </a:rPr>
              <a:t> account </a:t>
            </a:r>
            <a:r>
              <a:rPr lang="en-US" sz="1000" b="1" dirty="0">
                <a:solidFill>
                  <a:srgbClr val="C4B5FD"/>
                </a:solidFill>
                <a:latin typeface="Courier New" pitchFamily="34" charset="0"/>
                <a:ea typeface="Courier New" pitchFamily="34" charset="-122"/>
                <a:cs typeface="Courier New" pitchFamily="34" charset="-120"/>
              </a:rPr>
              <a:t>AS</a:t>
            </a:r>
            <a:r>
              <a:rPr lang="en-US" sz="1000" dirty="0">
                <a:solidFill>
                  <a:srgbClr val="E2E8F0"/>
                </a:solidFill>
                <a:latin typeface="Courier New" pitchFamily="34" charset="0"/>
                <a:ea typeface="Courier New" pitchFamily="34" charset="-122"/>
                <a:cs typeface="Courier New" pitchFamily="34" charset="-120"/>
              </a:rPr>
              <a:t> a</a:t>
            </a:r>
            <a:endParaRPr lang="en-US" sz="1000" dirty="0"/>
          </a:p>
        </p:txBody>
      </p:sp>
      <p:sp>
        <p:nvSpPr>
          <p:cNvPr id="11" name="a1wd900_code10"/>
          <p:cNvSpPr txBox="1"/>
          <p:nvPr/>
        </p:nvSpPr>
        <p:spPr>
          <a:xfrm>
            <a:off x="640080" y="3108960"/>
            <a:ext cx="4572000" cy="228600"/>
          </a:xfrm>
          <a:prstGeom prst="rect">
            <a:avLst/>
          </a:prstGeom>
          <a:noFill/>
          <a:ln/>
        </p:spPr>
        <p:txBody>
          <a:bodyPr wrap="square" lIns="0" tIns="0" rIns="0" bIns="0" rtlCol="0" anchor="ctr"/>
          <a:lstStyle/>
          <a:p>
            <a:pPr marL="0" indent="0">
              <a:buNone/>
            </a:pPr>
            <a:r>
              <a:rPr lang="en-US" sz="1000" b="1" dirty="0">
                <a:solidFill>
                  <a:srgbClr val="C4B5FD"/>
                </a:solidFill>
                <a:latin typeface="Courier New" pitchFamily="34" charset="0"/>
                <a:ea typeface="Courier New" pitchFamily="34" charset="-122"/>
                <a:cs typeface="Courier New" pitchFamily="34" charset="-120"/>
              </a:rPr>
              <a:t>LEFT</a:t>
            </a:r>
            <a:r>
              <a:rPr lang="en-US" sz="1000" dirty="0">
                <a:solidFill>
                  <a:srgbClr val="E2E8F0"/>
                </a:solidFill>
                <a:latin typeface="Courier New" pitchFamily="34" charset="0"/>
                <a:ea typeface="Courier New" pitchFamily="34" charset="-122"/>
                <a:cs typeface="Courier New" pitchFamily="34" charset="-120"/>
              </a:rPr>
              <a:t> </a:t>
            </a:r>
            <a:r>
              <a:rPr lang="en-US" sz="1000" b="1" dirty="0">
                <a:solidFill>
                  <a:srgbClr val="C4B5FD"/>
                </a:solidFill>
                <a:latin typeface="Courier New" pitchFamily="34" charset="0"/>
                <a:ea typeface="Courier New" pitchFamily="34" charset="-122"/>
                <a:cs typeface="Courier New" pitchFamily="34" charset="-120"/>
              </a:rPr>
              <a:t>JOIN</a:t>
            </a:r>
            <a:r>
              <a:rPr lang="en-US" sz="1000" dirty="0">
                <a:solidFill>
                  <a:srgbClr val="E2E8F0"/>
                </a:solidFill>
                <a:latin typeface="Courier New" pitchFamily="34" charset="0"/>
                <a:ea typeface="Courier New" pitchFamily="34" charset="-122"/>
                <a:cs typeface="Courier New" pitchFamily="34" charset="-120"/>
              </a:rPr>
              <a:t> account_txn </a:t>
            </a:r>
            <a:r>
              <a:rPr lang="en-US" sz="1000" b="1" dirty="0">
                <a:solidFill>
                  <a:srgbClr val="C4B5FD"/>
                </a:solidFill>
                <a:latin typeface="Courier New" pitchFamily="34" charset="0"/>
                <a:ea typeface="Courier New" pitchFamily="34" charset="-122"/>
                <a:cs typeface="Courier New" pitchFamily="34" charset="-120"/>
              </a:rPr>
              <a:t>AS</a:t>
            </a:r>
            <a:r>
              <a:rPr lang="en-US" sz="1000" dirty="0">
                <a:solidFill>
                  <a:srgbClr val="E2E8F0"/>
                </a:solidFill>
                <a:latin typeface="Courier New" pitchFamily="34" charset="0"/>
                <a:ea typeface="Courier New" pitchFamily="34" charset="-122"/>
                <a:cs typeface="Courier New" pitchFamily="34" charset="-120"/>
              </a:rPr>
              <a:t> t</a:t>
            </a:r>
            <a:endParaRPr lang="en-US" sz="1000" dirty="0"/>
          </a:p>
        </p:txBody>
      </p:sp>
      <p:sp>
        <p:nvSpPr>
          <p:cNvPr id="12" name="a1wd1050_code11"/>
          <p:cNvSpPr txBox="1"/>
          <p:nvPr/>
        </p:nvSpPr>
        <p:spPr>
          <a:xfrm>
            <a:off x="640080" y="3337560"/>
            <a:ext cx="4572000" cy="228600"/>
          </a:xfrm>
          <a:prstGeom prst="rect">
            <a:avLst/>
          </a:prstGeom>
          <a:noFill/>
          <a:ln/>
        </p:spPr>
        <p:txBody>
          <a:bodyPr wrap="square" lIns="0" tIns="0" rIns="0" bIns="0" rtlCol="0" anchor="ctr"/>
          <a:lstStyle/>
          <a:p>
            <a:pPr marL="0" indent="0">
              <a:buNone/>
            </a:pPr>
            <a:r>
              <a:rPr lang="en-US" sz="1000" dirty="0">
                <a:solidFill>
                  <a:srgbClr val="E2E8F0"/>
                </a:solidFill>
                <a:latin typeface="Courier New" pitchFamily="34" charset="0"/>
                <a:ea typeface="Courier New" pitchFamily="34" charset="-122"/>
                <a:cs typeface="Courier New" pitchFamily="34" charset="-120"/>
              </a:rPr>
              <a:t>  </a:t>
            </a:r>
            <a:r>
              <a:rPr lang="en-US" sz="1000" b="1" dirty="0">
                <a:solidFill>
                  <a:srgbClr val="C4B5FD"/>
                </a:solidFill>
                <a:latin typeface="Courier New" pitchFamily="34" charset="0"/>
                <a:ea typeface="Courier New" pitchFamily="34" charset="-122"/>
                <a:cs typeface="Courier New" pitchFamily="34" charset="-120"/>
              </a:rPr>
              <a:t>ON</a:t>
            </a:r>
            <a:r>
              <a:rPr lang="en-US" sz="1000" dirty="0">
                <a:solidFill>
                  <a:srgbClr val="E2E8F0"/>
                </a:solidFill>
                <a:latin typeface="Courier New" pitchFamily="34" charset="0"/>
                <a:ea typeface="Courier New" pitchFamily="34" charset="-122"/>
                <a:cs typeface="Courier New" pitchFamily="34" charset="-120"/>
              </a:rPr>
              <a:t> t.account_id = a.account_id</a:t>
            </a:r>
            <a:endParaRPr lang="en-US" sz="1000" dirty="0"/>
          </a:p>
        </p:txBody>
      </p:sp>
      <p:sp>
        <p:nvSpPr>
          <p:cNvPr id="13" name="a1wd1200_code12"/>
          <p:cNvSpPr txBox="1"/>
          <p:nvPr/>
        </p:nvSpPr>
        <p:spPr>
          <a:xfrm>
            <a:off x="640080" y="3566160"/>
            <a:ext cx="4572000" cy="228600"/>
          </a:xfrm>
          <a:prstGeom prst="rect">
            <a:avLst/>
          </a:prstGeom>
          <a:noFill/>
          <a:ln/>
        </p:spPr>
        <p:txBody>
          <a:bodyPr wrap="square" lIns="0" tIns="0" rIns="0" bIns="0" rtlCol="0" anchor="ctr"/>
          <a:lstStyle/>
          <a:p>
            <a:pPr marL="0" indent="0">
              <a:buNone/>
            </a:pPr>
            <a:r>
              <a:rPr lang="en-US" sz="1000" b="1" dirty="0">
                <a:solidFill>
                  <a:srgbClr val="C4B5FD"/>
                </a:solidFill>
                <a:latin typeface="Courier New" pitchFamily="34" charset="0"/>
                <a:ea typeface="Courier New" pitchFamily="34" charset="-122"/>
                <a:cs typeface="Courier New" pitchFamily="34" charset="-120"/>
              </a:rPr>
              <a:t>GROUP</a:t>
            </a:r>
            <a:r>
              <a:rPr lang="en-US" sz="1000" dirty="0">
                <a:solidFill>
                  <a:srgbClr val="E2E8F0"/>
                </a:solidFill>
                <a:latin typeface="Courier New" pitchFamily="34" charset="0"/>
                <a:ea typeface="Courier New" pitchFamily="34" charset="-122"/>
                <a:cs typeface="Courier New" pitchFamily="34" charset="-120"/>
              </a:rPr>
              <a:t> </a:t>
            </a:r>
            <a:r>
              <a:rPr lang="en-US" sz="1000" b="1" dirty="0">
                <a:solidFill>
                  <a:srgbClr val="C4B5FD"/>
                </a:solidFill>
                <a:latin typeface="Courier New" pitchFamily="34" charset="0"/>
                <a:ea typeface="Courier New" pitchFamily="34" charset="-122"/>
                <a:cs typeface="Courier New" pitchFamily="34" charset="-120"/>
              </a:rPr>
              <a:t>BY</a:t>
            </a:r>
            <a:r>
              <a:rPr lang="en-US" sz="1000" dirty="0">
                <a:solidFill>
                  <a:srgbClr val="E2E8F0"/>
                </a:solidFill>
                <a:latin typeface="Courier New" pitchFamily="34" charset="0"/>
                <a:ea typeface="Courier New" pitchFamily="34" charset="-122"/>
                <a:cs typeface="Courier New" pitchFamily="34" charset="-120"/>
              </a:rPr>
              <a:t> a.account_id, a.balance</a:t>
            </a:r>
            <a:endParaRPr lang="en-US" sz="1000" dirty="0"/>
          </a:p>
        </p:txBody>
      </p:sp>
      <p:sp>
        <p:nvSpPr>
          <p:cNvPr id="14" name="a1wd1350_code13"/>
          <p:cNvSpPr txBox="1"/>
          <p:nvPr/>
        </p:nvSpPr>
        <p:spPr>
          <a:xfrm>
            <a:off x="640080" y="3794760"/>
            <a:ext cx="4572000" cy="228600"/>
          </a:xfrm>
          <a:prstGeom prst="rect">
            <a:avLst/>
          </a:prstGeom>
          <a:noFill/>
          <a:ln/>
        </p:spPr>
        <p:txBody>
          <a:bodyPr wrap="square" lIns="0" tIns="0" rIns="0" bIns="0" rtlCol="0" anchor="ctr"/>
          <a:lstStyle/>
          <a:p>
            <a:pPr marL="0" indent="0">
              <a:buNone/>
            </a:pPr>
            <a:r>
              <a:rPr lang="en-US" sz="1000" b="1" dirty="0">
                <a:solidFill>
                  <a:srgbClr val="C4B5FD"/>
                </a:solidFill>
                <a:latin typeface="Courier New" pitchFamily="34" charset="0"/>
                <a:ea typeface="Courier New" pitchFamily="34" charset="-122"/>
                <a:cs typeface="Courier New" pitchFamily="34" charset="-120"/>
              </a:rPr>
              <a:t>HAVING</a:t>
            </a:r>
            <a:r>
              <a:rPr lang="en-US" sz="1000" dirty="0">
                <a:solidFill>
                  <a:srgbClr val="E2E8F0"/>
                </a:solidFill>
                <a:latin typeface="Courier New" pitchFamily="34" charset="0"/>
                <a:ea typeface="Courier New" pitchFamily="34" charset="-122"/>
                <a:cs typeface="Courier New" pitchFamily="34" charset="-120"/>
              </a:rPr>
              <a:t> a.balance &lt;&gt; </a:t>
            </a:r>
            <a:r>
              <a:rPr lang="en-US" sz="1000" dirty="0">
                <a:solidFill>
                  <a:srgbClr val="93C5FD"/>
                </a:solidFill>
                <a:latin typeface="Courier New" pitchFamily="34" charset="0"/>
                <a:ea typeface="Courier New" pitchFamily="34" charset="-122"/>
                <a:cs typeface="Courier New" pitchFamily="34" charset="-120"/>
              </a:rPr>
              <a:t>COALESCE</a:t>
            </a:r>
            <a:r>
              <a:rPr lang="en-US" sz="1000" dirty="0">
                <a:solidFill>
                  <a:srgbClr val="E2E8F0"/>
                </a:solidFill>
                <a:latin typeface="Courier New" pitchFamily="34" charset="0"/>
                <a:ea typeface="Courier New" pitchFamily="34" charset="-122"/>
                <a:cs typeface="Courier New" pitchFamily="34" charset="-120"/>
              </a:rPr>
              <a:t>(</a:t>
            </a:r>
            <a:r>
              <a:rPr lang="en-US" sz="1000" dirty="0">
                <a:solidFill>
                  <a:srgbClr val="93C5FD"/>
                </a:solidFill>
                <a:latin typeface="Courier New" pitchFamily="34" charset="0"/>
                <a:ea typeface="Courier New" pitchFamily="34" charset="-122"/>
                <a:cs typeface="Courier New" pitchFamily="34" charset="-120"/>
              </a:rPr>
              <a:t>SUM</a:t>
            </a:r>
            <a:r>
              <a:rPr lang="en-US" sz="1000" dirty="0">
                <a:solidFill>
                  <a:srgbClr val="E2E8F0"/>
                </a:solidFill>
                <a:latin typeface="Courier New" pitchFamily="34" charset="0"/>
                <a:ea typeface="Courier New" pitchFamily="34" charset="-122"/>
                <a:cs typeface="Courier New" pitchFamily="34" charset="-120"/>
              </a:rPr>
              <a:t>(</a:t>
            </a:r>
            <a:r>
              <a:rPr lang="en-US" sz="1000" b="1" dirty="0">
                <a:solidFill>
                  <a:srgbClr val="C4B5FD"/>
                </a:solidFill>
                <a:latin typeface="Courier New" pitchFamily="34" charset="0"/>
                <a:ea typeface="Courier New" pitchFamily="34" charset="-122"/>
                <a:cs typeface="Courier New" pitchFamily="34" charset="-120"/>
              </a:rPr>
              <a:t>CASE</a:t>
            </a:r>
            <a:endParaRPr lang="en-US" sz="1000" dirty="0"/>
          </a:p>
        </p:txBody>
      </p:sp>
      <p:sp>
        <p:nvSpPr>
          <p:cNvPr id="15" name="a1wd1500_code14"/>
          <p:cNvSpPr txBox="1"/>
          <p:nvPr/>
        </p:nvSpPr>
        <p:spPr>
          <a:xfrm>
            <a:off x="640080" y="4023360"/>
            <a:ext cx="4572000" cy="228600"/>
          </a:xfrm>
          <a:prstGeom prst="rect">
            <a:avLst/>
          </a:prstGeom>
          <a:noFill/>
          <a:ln/>
        </p:spPr>
        <p:txBody>
          <a:bodyPr wrap="square" lIns="0" tIns="0" rIns="0" bIns="0" rtlCol="0" anchor="ctr"/>
          <a:lstStyle/>
          <a:p>
            <a:pPr marL="0" indent="0">
              <a:buNone/>
            </a:pPr>
            <a:r>
              <a:rPr lang="en-US" sz="1000" dirty="0">
                <a:solidFill>
                  <a:srgbClr val="E2E8F0"/>
                </a:solidFill>
                <a:latin typeface="Courier New" pitchFamily="34" charset="0"/>
                <a:ea typeface="Courier New" pitchFamily="34" charset="-122"/>
                <a:cs typeface="Courier New" pitchFamily="34" charset="-120"/>
              </a:rPr>
              <a:t>         </a:t>
            </a:r>
            <a:r>
              <a:rPr lang="en-US" sz="1000" b="1" dirty="0">
                <a:solidFill>
                  <a:srgbClr val="C4B5FD"/>
                </a:solidFill>
                <a:latin typeface="Courier New" pitchFamily="34" charset="0"/>
                <a:ea typeface="Courier New" pitchFamily="34" charset="-122"/>
                <a:cs typeface="Courier New" pitchFamily="34" charset="-120"/>
              </a:rPr>
              <a:t>WHEN</a:t>
            </a:r>
            <a:r>
              <a:rPr lang="en-US" sz="1000" dirty="0">
                <a:solidFill>
                  <a:srgbClr val="E2E8F0"/>
                </a:solidFill>
                <a:latin typeface="Courier New" pitchFamily="34" charset="0"/>
                <a:ea typeface="Courier New" pitchFamily="34" charset="-122"/>
                <a:cs typeface="Courier New" pitchFamily="34" charset="-120"/>
              </a:rPr>
              <a:t> t.txn_type = </a:t>
            </a:r>
            <a:r>
              <a:rPr lang="en-US" sz="1000" dirty="0">
                <a:solidFill>
                  <a:srgbClr val="FDBA74"/>
                </a:solidFill>
                <a:latin typeface="Courier New" pitchFamily="34" charset="0"/>
                <a:ea typeface="Courier New" pitchFamily="34" charset="-122"/>
                <a:cs typeface="Courier New" pitchFamily="34" charset="-120"/>
              </a:rPr>
              <a:t>'CREDIT'</a:t>
            </a:r>
            <a:endParaRPr lang="en-US" sz="1000" dirty="0"/>
          </a:p>
        </p:txBody>
      </p:sp>
      <p:sp>
        <p:nvSpPr>
          <p:cNvPr id="16" name="a1wd1650_code15"/>
          <p:cNvSpPr txBox="1"/>
          <p:nvPr/>
        </p:nvSpPr>
        <p:spPr>
          <a:xfrm>
            <a:off x="640080" y="4251960"/>
            <a:ext cx="4572000" cy="228600"/>
          </a:xfrm>
          <a:prstGeom prst="rect">
            <a:avLst/>
          </a:prstGeom>
          <a:noFill/>
          <a:ln/>
        </p:spPr>
        <p:txBody>
          <a:bodyPr wrap="square" lIns="0" tIns="0" rIns="0" bIns="0" rtlCol="0" anchor="ctr"/>
          <a:lstStyle/>
          <a:p>
            <a:pPr marL="0" indent="0">
              <a:buNone/>
            </a:pPr>
            <a:r>
              <a:rPr lang="en-US" sz="1000" dirty="0">
                <a:solidFill>
                  <a:srgbClr val="E2E8F0"/>
                </a:solidFill>
                <a:latin typeface="Courier New" pitchFamily="34" charset="0"/>
                <a:ea typeface="Courier New" pitchFamily="34" charset="-122"/>
                <a:cs typeface="Courier New" pitchFamily="34" charset="-120"/>
              </a:rPr>
              <a:t>         </a:t>
            </a:r>
            <a:r>
              <a:rPr lang="en-US" sz="1000" b="1" dirty="0">
                <a:solidFill>
                  <a:srgbClr val="C4B5FD"/>
                </a:solidFill>
                <a:latin typeface="Courier New" pitchFamily="34" charset="0"/>
                <a:ea typeface="Courier New" pitchFamily="34" charset="-122"/>
                <a:cs typeface="Courier New" pitchFamily="34" charset="-120"/>
              </a:rPr>
              <a:t>THEN</a:t>
            </a:r>
            <a:r>
              <a:rPr lang="en-US" sz="1000" dirty="0">
                <a:solidFill>
                  <a:srgbClr val="E2E8F0"/>
                </a:solidFill>
                <a:latin typeface="Courier New" pitchFamily="34" charset="0"/>
                <a:ea typeface="Courier New" pitchFamily="34" charset="-122"/>
                <a:cs typeface="Courier New" pitchFamily="34" charset="-120"/>
              </a:rPr>
              <a:t> t.amount </a:t>
            </a:r>
            <a:r>
              <a:rPr lang="en-US" sz="1000" b="1" dirty="0">
                <a:solidFill>
                  <a:srgbClr val="C4B5FD"/>
                </a:solidFill>
                <a:latin typeface="Courier New" pitchFamily="34" charset="0"/>
                <a:ea typeface="Courier New" pitchFamily="34" charset="-122"/>
                <a:cs typeface="Courier New" pitchFamily="34" charset="-120"/>
              </a:rPr>
              <a:t>ELSE</a:t>
            </a:r>
            <a:r>
              <a:rPr lang="en-US" sz="1000" dirty="0">
                <a:solidFill>
                  <a:srgbClr val="E2E8F0"/>
                </a:solidFill>
                <a:latin typeface="Courier New" pitchFamily="34" charset="0"/>
                <a:ea typeface="Courier New" pitchFamily="34" charset="-122"/>
                <a:cs typeface="Courier New" pitchFamily="34" charset="-120"/>
              </a:rPr>
              <a:t> -t.amount </a:t>
            </a:r>
            <a:r>
              <a:rPr lang="en-US" sz="1000" b="1" dirty="0">
                <a:solidFill>
                  <a:srgbClr val="C4B5FD"/>
                </a:solidFill>
                <a:latin typeface="Courier New" pitchFamily="34" charset="0"/>
                <a:ea typeface="Courier New" pitchFamily="34" charset="-122"/>
                <a:cs typeface="Courier New" pitchFamily="34" charset="-120"/>
              </a:rPr>
              <a:t>END</a:t>
            </a:r>
            <a:r>
              <a:rPr lang="en-US" sz="1000" dirty="0">
                <a:solidFill>
                  <a:srgbClr val="E2E8F0"/>
                </a:solidFill>
                <a:latin typeface="Courier New" pitchFamily="34" charset="0"/>
                <a:ea typeface="Courier New" pitchFamily="34" charset="-122"/>
                <a:cs typeface="Courier New" pitchFamily="34" charset="-120"/>
              </a:rPr>
              <a:t>), </a:t>
            </a:r>
            <a:r>
              <a:rPr lang="en-US" sz="1000" dirty="0">
                <a:solidFill>
                  <a:srgbClr val="FDBA74"/>
                </a:solidFill>
                <a:latin typeface="Courier New" pitchFamily="34" charset="0"/>
                <a:ea typeface="Courier New" pitchFamily="34" charset="-122"/>
                <a:cs typeface="Courier New" pitchFamily="34" charset="-120"/>
              </a:rPr>
              <a:t>0</a:t>
            </a:r>
            <a:r>
              <a:rPr lang="en-US" sz="1000" dirty="0">
                <a:solidFill>
                  <a:srgbClr val="E2E8F0"/>
                </a:solidFill>
                <a:latin typeface="Courier New" pitchFamily="34" charset="0"/>
                <a:ea typeface="Courier New" pitchFamily="34" charset="-122"/>
                <a:cs typeface="Courier New" pitchFamily="34" charset="-120"/>
              </a:rPr>
              <a:t>);</a:t>
            </a:r>
            <a:endParaRPr lang="en-US" sz="1000" dirty="0"/>
          </a:p>
        </p:txBody>
      </p:sp>
      <p:sp>
        <p:nvSpPr>
          <p:cNvPr id="17" name="a2f_l16"/>
          <p:cNvSpPr txBox="1"/>
          <p:nvPr/>
        </p:nvSpPr>
        <p:spPr>
          <a:xfrm>
            <a:off x="5623560" y="1600200"/>
            <a:ext cx="3063240" cy="274320"/>
          </a:xfrm>
          <a:prstGeom prst="rect">
            <a:avLst/>
          </a:prstGeom>
          <a:noFill/>
          <a:ln/>
        </p:spPr>
        <p:txBody>
          <a:bodyPr wrap="square" lIns="0" tIns="0" rIns="0" bIns="0" rtlCol="0" anchor="ctr"/>
          <a:lstStyle/>
          <a:p>
            <a:pPr marL="0" indent="0">
              <a:buNone/>
            </a:pPr>
            <a:r>
              <a:rPr lang="en-US" sz="1200" b="1" dirty="0">
                <a:solidFill>
                  <a:srgbClr val="6D28D9"/>
                </a:solidFill>
                <a:latin typeface="Calibri" pitchFamily="34" charset="0"/>
                <a:ea typeface="Calibri" pitchFamily="34" charset="-122"/>
                <a:cs typeface="Calibri" pitchFamily="34" charset="-120"/>
              </a:rPr>
              <a:t>How to read the result</a:t>
            </a:r>
            <a:endParaRPr lang="en-US" sz="1200" dirty="0"/>
          </a:p>
        </p:txBody>
      </p:sp>
      <p:sp>
        <p:nvSpPr>
          <p:cNvPr id="18" name="a2fd0_t17"/>
          <p:cNvSpPr txBox="1"/>
          <p:nvPr/>
        </p:nvSpPr>
        <p:spPr>
          <a:xfrm>
            <a:off x="5623560" y="1920240"/>
            <a:ext cx="3063240" cy="274320"/>
          </a:xfrm>
          <a:prstGeom prst="rect">
            <a:avLst/>
          </a:prstGeom>
          <a:noFill/>
          <a:ln/>
        </p:spPr>
        <p:txBody>
          <a:bodyPr wrap="square" lIns="0" tIns="0" rIns="0" bIns="0" rtlCol="0" anchor="ctr"/>
          <a:lstStyle/>
          <a:p>
            <a:pPr marL="0" indent="0">
              <a:buNone/>
            </a:pPr>
            <a:r>
              <a:rPr lang="en-US" sz="1300" b="1" dirty="0">
                <a:solidFill>
                  <a:srgbClr val="16A34A"/>
                </a:solidFill>
                <a:latin typeface="Calibri" pitchFamily="34" charset="0"/>
                <a:ea typeface="Calibri" pitchFamily="34" charset="-122"/>
                <a:cs typeface="Calibri" pitchFamily="34" charset="-120"/>
              </a:rPr>
              <a:t>0 rows</a:t>
            </a:r>
            <a:endParaRPr lang="en-US" sz="1300" dirty="0"/>
          </a:p>
        </p:txBody>
      </p:sp>
      <p:sp>
        <p:nvSpPr>
          <p:cNvPr id="19" name="a2fd0_d18"/>
          <p:cNvSpPr txBox="1"/>
          <p:nvPr/>
        </p:nvSpPr>
        <p:spPr>
          <a:xfrm>
            <a:off x="5623560" y="2194560"/>
            <a:ext cx="3063240" cy="36576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Stored balances all agree with the transactions.</a:t>
            </a:r>
            <a:endParaRPr lang="en-US" sz="1100" dirty="0"/>
          </a:p>
        </p:txBody>
      </p:sp>
      <p:sp>
        <p:nvSpPr>
          <p:cNvPr id="20" name="a2fd200_t19"/>
          <p:cNvSpPr txBox="1"/>
          <p:nvPr/>
        </p:nvSpPr>
        <p:spPr>
          <a:xfrm>
            <a:off x="5623560" y="2606040"/>
            <a:ext cx="3063240" cy="274320"/>
          </a:xfrm>
          <a:prstGeom prst="rect">
            <a:avLst/>
          </a:prstGeom>
          <a:noFill/>
          <a:ln/>
        </p:spPr>
        <p:txBody>
          <a:bodyPr wrap="square" lIns="0" tIns="0" rIns="0" bIns="0" rtlCol="0" anchor="ctr"/>
          <a:lstStyle/>
          <a:p>
            <a:pPr marL="0" indent="0">
              <a:buNone/>
            </a:pPr>
            <a:r>
              <a:rPr lang="en-US" sz="1300" b="1" dirty="0">
                <a:solidFill>
                  <a:srgbClr val="DC2626"/>
                </a:solidFill>
                <a:latin typeface="Calibri" pitchFamily="34" charset="0"/>
                <a:ea typeface="Calibri" pitchFamily="34" charset="-122"/>
                <a:cs typeface="Calibri" pitchFamily="34" charset="-120"/>
              </a:rPr>
              <a:t>Any row</a:t>
            </a:r>
            <a:endParaRPr lang="en-US" sz="1300" dirty="0"/>
          </a:p>
        </p:txBody>
      </p:sp>
      <p:sp>
        <p:nvSpPr>
          <p:cNvPr id="21" name="a2fd200_d20"/>
          <p:cNvSpPr txBox="1"/>
          <p:nvPr/>
        </p:nvSpPr>
        <p:spPr>
          <a:xfrm>
            <a:off x="5623560" y="2880360"/>
            <a:ext cx="3063240" cy="36576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An alert — a code path changed one side without the other.</a:t>
            </a:r>
            <a:endParaRPr lang="en-US" sz="1100" dirty="0"/>
          </a:p>
        </p:txBody>
      </p:sp>
      <p:sp>
        <p:nvSpPr>
          <p:cNvPr id="22" name="a3u_nb21"/>
          <p:cNvSpPr/>
          <p:nvPr/>
        </p:nvSpPr>
        <p:spPr>
          <a:xfrm>
            <a:off x="5623560" y="3383280"/>
            <a:ext cx="3063240" cy="1234440"/>
          </a:xfrm>
          <a:prstGeom prst="roundRect">
            <a:avLst>
              <a:gd name="adj" fmla="val 9412"/>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pic>
        <p:nvPicPr>
          <p:cNvPr id="23" name="a3u_ni22" descr="image.png"/>
          <p:cNvPicPr>
            <a:picLocks noChangeAspect="1"/>
          </p:cNvPicPr>
          <p:nvPr/>
        </p:nvPicPr>
        <p:blipFill>
          <a:blip r:embed="rId3"/>
          <a:stretch>
            <a:fillRect/>
          </a:stretch>
        </p:blipFill>
        <p:spPr>
          <a:xfrm>
            <a:off x="5760720" y="3840480"/>
            <a:ext cx="320040" cy="320040"/>
          </a:xfrm>
          <a:prstGeom prst="rect">
            <a:avLst/>
          </a:prstGeom>
        </p:spPr>
      </p:pic>
      <p:sp>
        <p:nvSpPr>
          <p:cNvPr id="24" name="a3u_nt23"/>
          <p:cNvSpPr txBox="1"/>
          <p:nvPr/>
        </p:nvSpPr>
        <p:spPr>
          <a:xfrm>
            <a:off x="6172200" y="3383280"/>
            <a:ext cx="2377440" cy="1234440"/>
          </a:xfrm>
          <a:prstGeom prst="rect">
            <a:avLst/>
          </a:prstGeom>
          <a:noFill/>
          <a:ln/>
        </p:spPr>
        <p:txBody>
          <a:bodyPr wrap="square" lIns="0" tIns="0" rIns="0" bIns="0" rtlCol="0" anchor="ctr"/>
          <a:lstStyle/>
          <a:p>
            <a:pPr marL="0" indent="0">
              <a:buNone/>
            </a:pPr>
            <a:r>
              <a:rPr lang="en-US" sz="1150" b="1" dirty="0">
                <a:solidFill>
                  <a:srgbClr val="334155"/>
                </a:solidFill>
                <a:latin typeface="Calibri" pitchFamily="34" charset="0"/>
                <a:ea typeface="Calibri" pitchFamily="34" charset="-122"/>
                <a:cs typeface="Calibri" pitchFamily="34" charset="-120"/>
              </a:rPr>
              <a:t>All of Module 3 in one query: </a:t>
            </a:r>
            <a:r>
              <a:rPr lang="en-US" sz="1150" dirty="0">
                <a:solidFill>
                  <a:srgbClr val="334155"/>
                </a:solidFill>
                <a:latin typeface="Calibri" pitchFamily="34" charset="0"/>
                <a:ea typeface="Calibri" pitchFamily="34" charset="-122"/>
                <a:cs typeface="Calibri" pitchFamily="34" charset="-120"/>
              </a:rPr>
              <a:t>LEFT JOIN, GROUP BY, HAVING and conditional aggregation.</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par>
                                <p:cTn id="11" presetID="22" presetClass="entr" presetSubtype="8" fill="hold" grpId="0" nodeType="withEffect">
                                  <p:stCondLst>
                                    <p:cond delay="15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par>
                                <p:cTn id="14" presetID="22" presetClass="entr" presetSubtype="8" fill="hold" grpId="0" nodeType="withEffect">
                                  <p:stCondLst>
                                    <p:cond delay="30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par>
                                <p:cTn id="17" presetID="22" presetClass="entr" presetSubtype="8" fill="hold" grpId="0" nodeType="withEffect">
                                  <p:stCondLst>
                                    <p:cond delay="45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par>
                                <p:cTn id="20" presetID="22" presetClass="entr" presetSubtype="8" fill="hold" grpId="0" nodeType="withEffect">
                                  <p:stCondLst>
                                    <p:cond delay="60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par>
                                <p:cTn id="23" presetID="22" presetClass="entr" presetSubtype="8" fill="hold" grpId="0" nodeType="withEffect">
                                  <p:stCondLst>
                                    <p:cond delay="75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500"/>
                                        <p:tgtEl>
                                          <p:spTgt spid="10"/>
                                        </p:tgtEl>
                                      </p:cBhvr>
                                    </p:animEffect>
                                  </p:childTnLst>
                                </p:cTn>
                              </p:par>
                              <p:par>
                                <p:cTn id="26" presetID="22" presetClass="entr" presetSubtype="8" fill="hold" grpId="0" nodeType="withEffect">
                                  <p:stCondLst>
                                    <p:cond delay="90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500"/>
                                        <p:tgtEl>
                                          <p:spTgt spid="11"/>
                                        </p:tgtEl>
                                      </p:cBhvr>
                                    </p:animEffect>
                                  </p:childTnLst>
                                </p:cTn>
                              </p:par>
                              <p:par>
                                <p:cTn id="29" presetID="22" presetClass="entr" presetSubtype="8" fill="hold" grpId="0" nodeType="withEffect">
                                  <p:stCondLst>
                                    <p:cond delay="105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500"/>
                                        <p:tgtEl>
                                          <p:spTgt spid="12"/>
                                        </p:tgtEl>
                                      </p:cBhvr>
                                    </p:animEffect>
                                  </p:childTnLst>
                                </p:cTn>
                              </p:par>
                              <p:par>
                                <p:cTn id="32" presetID="22" presetClass="entr" presetSubtype="8" fill="hold" grpId="0" nodeType="withEffect">
                                  <p:stCondLst>
                                    <p:cond delay="1200"/>
                                  </p:stCondLst>
                                  <p:childTnLst>
                                    <p:set>
                                      <p:cBhvr>
                                        <p:cTn id="33" dur="1" fill="hold">
                                          <p:stCondLst>
                                            <p:cond delay="0"/>
                                          </p:stCondLst>
                                        </p:cTn>
                                        <p:tgtEl>
                                          <p:spTgt spid="13"/>
                                        </p:tgtEl>
                                        <p:attrNameLst>
                                          <p:attrName>style.visibility</p:attrName>
                                        </p:attrNameLst>
                                      </p:cBhvr>
                                      <p:to>
                                        <p:strVal val="visible"/>
                                      </p:to>
                                    </p:set>
                                    <p:animEffect transition="in" filter="wipe(left)">
                                      <p:cBhvr>
                                        <p:cTn id="34" dur="500"/>
                                        <p:tgtEl>
                                          <p:spTgt spid="13"/>
                                        </p:tgtEl>
                                      </p:cBhvr>
                                    </p:animEffect>
                                  </p:childTnLst>
                                </p:cTn>
                              </p:par>
                              <p:par>
                                <p:cTn id="35" presetID="22" presetClass="entr" presetSubtype="8" fill="hold" grpId="0" nodeType="withEffect">
                                  <p:stCondLst>
                                    <p:cond delay="1350"/>
                                  </p:stCondLst>
                                  <p:childTnLst>
                                    <p:set>
                                      <p:cBhvr>
                                        <p:cTn id="36" dur="1" fill="hold">
                                          <p:stCondLst>
                                            <p:cond delay="0"/>
                                          </p:stCondLst>
                                        </p:cTn>
                                        <p:tgtEl>
                                          <p:spTgt spid="14"/>
                                        </p:tgtEl>
                                        <p:attrNameLst>
                                          <p:attrName>style.visibility</p:attrName>
                                        </p:attrNameLst>
                                      </p:cBhvr>
                                      <p:to>
                                        <p:strVal val="visible"/>
                                      </p:to>
                                    </p:set>
                                    <p:animEffect transition="in" filter="wipe(left)">
                                      <p:cBhvr>
                                        <p:cTn id="37" dur="500"/>
                                        <p:tgtEl>
                                          <p:spTgt spid="14"/>
                                        </p:tgtEl>
                                      </p:cBhvr>
                                    </p:animEffect>
                                  </p:childTnLst>
                                </p:cTn>
                              </p:par>
                              <p:par>
                                <p:cTn id="38" presetID="22" presetClass="entr" presetSubtype="8" fill="hold" grpId="0" nodeType="withEffect">
                                  <p:stCondLst>
                                    <p:cond delay="1500"/>
                                  </p:stCondLst>
                                  <p:childTnLst>
                                    <p:set>
                                      <p:cBhvr>
                                        <p:cTn id="39" dur="1" fill="hold">
                                          <p:stCondLst>
                                            <p:cond delay="0"/>
                                          </p:stCondLst>
                                        </p:cTn>
                                        <p:tgtEl>
                                          <p:spTgt spid="15"/>
                                        </p:tgtEl>
                                        <p:attrNameLst>
                                          <p:attrName>style.visibility</p:attrName>
                                        </p:attrNameLst>
                                      </p:cBhvr>
                                      <p:to>
                                        <p:strVal val="visible"/>
                                      </p:to>
                                    </p:set>
                                    <p:animEffect transition="in" filter="wipe(left)">
                                      <p:cBhvr>
                                        <p:cTn id="40" dur="500"/>
                                        <p:tgtEl>
                                          <p:spTgt spid="15"/>
                                        </p:tgtEl>
                                      </p:cBhvr>
                                    </p:animEffect>
                                  </p:childTnLst>
                                </p:cTn>
                              </p:par>
                              <p:par>
                                <p:cTn id="41" presetID="22" presetClass="entr" presetSubtype="8" fill="hold" grpId="0" nodeType="withEffect">
                                  <p:stCondLst>
                                    <p:cond delay="1650"/>
                                  </p:stCondLst>
                                  <p:childTnLst>
                                    <p:set>
                                      <p:cBhvr>
                                        <p:cTn id="42" dur="1" fill="hold">
                                          <p:stCondLst>
                                            <p:cond delay="0"/>
                                          </p:stCondLst>
                                        </p:cTn>
                                        <p:tgtEl>
                                          <p:spTgt spid="16"/>
                                        </p:tgtEl>
                                        <p:attrNameLst>
                                          <p:attrName>style.visibility</p:attrName>
                                        </p:attrNameLst>
                                      </p:cBhvr>
                                      <p:to>
                                        <p:strVal val="visible"/>
                                      </p:to>
                                    </p:set>
                                    <p:animEffect transition="in" filter="wipe(left)">
                                      <p:cBhvr>
                                        <p:cTn id="43" dur="500"/>
                                        <p:tgtEl>
                                          <p:spTgt spid="16"/>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par>
                                <p:cTn id="55" presetID="10" presetClass="entr" presetSubtype="0" fill="hold" grpId="0" nodeType="withEffect">
                                  <p:stCondLst>
                                    <p:cond delay="20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par>
                                <p:cTn id="58" presetID="10" presetClass="entr" presetSubtype="0" fill="hold" grpId="0" nodeType="withEffect">
                                  <p:stCondLst>
                                    <p:cond delay="20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22"/>
                                        </p:tgtEl>
                                        <p:attrNameLst>
                                          <p:attrName>style.visibility</p:attrName>
                                        </p:attrNameLst>
                                      </p:cBhvr>
                                      <p:to>
                                        <p:strVal val="visible"/>
                                      </p:to>
                                    </p:set>
                                    <p:anim calcmode="lin" valueType="num">
                                      <p:cBhvr additive="base">
                                        <p:cTn id="65" dur="500" fill="hold"/>
                                        <p:tgtEl>
                                          <p:spTgt spid="22"/>
                                        </p:tgtEl>
                                        <p:attrNameLst>
                                          <p:attrName>ppt_x</p:attrName>
                                        </p:attrNameLst>
                                      </p:cBhvr>
                                      <p:tavLst>
                                        <p:tav tm="0">
                                          <p:val>
                                            <p:strVal val="#ppt_x"/>
                                          </p:val>
                                        </p:tav>
                                        <p:tav tm="100000">
                                          <p:val>
                                            <p:strVal val="#ppt_x"/>
                                          </p:val>
                                        </p:tav>
                                      </p:tavLst>
                                    </p:anim>
                                    <p:anim calcmode="lin" valueType="num">
                                      <p:cBhvr additive="base">
                                        <p:cTn id="66" dur="500" fill="hold"/>
                                        <p:tgtEl>
                                          <p:spTgt spid="22"/>
                                        </p:tgtEl>
                                        <p:attrNameLst>
                                          <p:attrName>ppt_y</p:attrName>
                                        </p:attrNameLst>
                                      </p:cBhvr>
                                      <p:tavLst>
                                        <p:tav tm="0">
                                          <p:val>
                                            <p:strVal val="#ppt_y+0.1"/>
                                          </p:val>
                                        </p:tav>
                                        <p:tav tm="100000">
                                          <p:val>
                                            <p:strVal val="#ppt_y"/>
                                          </p:val>
                                        </p:tav>
                                      </p:tavLst>
                                    </p:anim>
                                    <p:animEffect transition="in" filter="fade">
                                      <p:cBhvr>
                                        <p:cTn id="67" dur="500"/>
                                        <p:tgtEl>
                                          <p:spTgt spid="22"/>
                                        </p:tgtEl>
                                      </p:cBhvr>
                                    </p:animEffect>
                                  </p:childTnLst>
                                </p:cTn>
                              </p:par>
                              <p:par>
                                <p:cTn id="68" presetID="2" presetClass="entr" presetSubtype="4" fill="hold" nodeType="withEffect">
                                  <p:stCondLst>
                                    <p:cond delay="0"/>
                                  </p:stCondLst>
                                  <p:childTnLst>
                                    <p:set>
                                      <p:cBhvr>
                                        <p:cTn id="69" dur="1" fill="hold">
                                          <p:stCondLst>
                                            <p:cond delay="0"/>
                                          </p:stCondLst>
                                        </p:cTn>
                                        <p:tgtEl>
                                          <p:spTgt spid="23"/>
                                        </p:tgtEl>
                                        <p:attrNameLst>
                                          <p:attrName>style.visibility</p:attrName>
                                        </p:attrNameLst>
                                      </p:cBhvr>
                                      <p:to>
                                        <p:strVal val="visible"/>
                                      </p:to>
                                    </p:set>
                                    <p:anim calcmode="lin" valueType="num">
                                      <p:cBhvr additive="base">
                                        <p:cTn id="70" dur="500" fill="hold"/>
                                        <p:tgtEl>
                                          <p:spTgt spid="23"/>
                                        </p:tgtEl>
                                        <p:attrNameLst>
                                          <p:attrName>ppt_x</p:attrName>
                                        </p:attrNameLst>
                                      </p:cBhvr>
                                      <p:tavLst>
                                        <p:tav tm="0">
                                          <p:val>
                                            <p:strVal val="#ppt_x"/>
                                          </p:val>
                                        </p:tav>
                                        <p:tav tm="100000">
                                          <p:val>
                                            <p:strVal val="#ppt_x"/>
                                          </p:val>
                                        </p:tav>
                                      </p:tavLst>
                                    </p:anim>
                                    <p:anim calcmode="lin" valueType="num">
                                      <p:cBhvr additive="base">
                                        <p:cTn id="71" dur="500" fill="hold"/>
                                        <p:tgtEl>
                                          <p:spTgt spid="23"/>
                                        </p:tgtEl>
                                        <p:attrNameLst>
                                          <p:attrName>ppt_y</p:attrName>
                                        </p:attrNameLst>
                                      </p:cBhvr>
                                      <p:tavLst>
                                        <p:tav tm="0">
                                          <p:val>
                                            <p:strVal val="#ppt_y+0.1"/>
                                          </p:val>
                                        </p:tav>
                                        <p:tav tm="100000">
                                          <p:val>
                                            <p:strVal val="#ppt_y"/>
                                          </p:val>
                                        </p:tav>
                                      </p:tavLst>
                                    </p:anim>
                                    <p:animEffect transition="in" filter="fade">
                                      <p:cBhvr>
                                        <p:cTn id="72" dur="500"/>
                                        <p:tgtEl>
                                          <p:spTgt spid="23"/>
                                        </p:tgtEl>
                                      </p:cBhvr>
                                    </p:animEffect>
                                  </p:childTnLst>
                                </p:cTn>
                              </p:par>
                              <p:par>
                                <p:cTn id="73" presetID="2" presetClass="entr" presetSubtype="4" fill="hold" grpId="0" nodeType="withEffect">
                                  <p:stCondLst>
                                    <p:cond delay="0"/>
                                  </p:stCondLst>
                                  <p:childTnLst>
                                    <p:set>
                                      <p:cBhvr>
                                        <p:cTn id="74" dur="1" fill="hold">
                                          <p:stCondLst>
                                            <p:cond delay="0"/>
                                          </p:stCondLst>
                                        </p:cTn>
                                        <p:tgtEl>
                                          <p:spTgt spid="24"/>
                                        </p:tgtEl>
                                        <p:attrNameLst>
                                          <p:attrName>style.visibility</p:attrName>
                                        </p:attrNameLst>
                                      </p:cBhvr>
                                      <p:to>
                                        <p:strVal val="visible"/>
                                      </p:to>
                                    </p:set>
                                    <p:anim calcmode="lin" valueType="num">
                                      <p:cBhvr additive="base">
                                        <p:cTn id="75" dur="500" fill="hold"/>
                                        <p:tgtEl>
                                          <p:spTgt spid="24"/>
                                        </p:tgtEl>
                                        <p:attrNameLst>
                                          <p:attrName>ppt_x</p:attrName>
                                        </p:attrNameLst>
                                      </p:cBhvr>
                                      <p:tavLst>
                                        <p:tav tm="0">
                                          <p:val>
                                            <p:strVal val="#ppt_x"/>
                                          </p:val>
                                        </p:tav>
                                        <p:tav tm="100000">
                                          <p:val>
                                            <p:strVal val="#ppt_x"/>
                                          </p:val>
                                        </p:tav>
                                      </p:tavLst>
                                    </p:anim>
                                    <p:anim calcmode="lin" valueType="num">
                                      <p:cBhvr additive="base">
                                        <p:cTn id="76" dur="500" fill="hold"/>
                                        <p:tgtEl>
                                          <p:spTgt spid="24"/>
                                        </p:tgtEl>
                                        <p:attrNameLst>
                                          <p:attrName>ppt_y</p:attrName>
                                        </p:attrNameLst>
                                      </p:cBhvr>
                                      <p:tavLst>
                                        <p:tav tm="0">
                                          <p:val>
                                            <p:strVal val="#ppt_y+0.1"/>
                                          </p:val>
                                        </p:tav>
                                        <p:tav tm="100000">
                                          <p:val>
                                            <p:strVal val="#ppt_y"/>
                                          </p:val>
                                        </p:tav>
                                      </p:tavLst>
                                    </p:anim>
                                    <p:animEffect transition="in" filter="fade">
                                      <p:cBhvr>
                                        <p:cTn id="7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4"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1"/>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Two Schemas, Two Targets</a:t>
            </a:r>
            <a:endParaRPr lang="en-US" sz="2800" dirty="0"/>
          </a:p>
        </p:txBody>
      </p:sp>
      <p:sp>
        <p:nvSpPr>
          <p:cNvPr id="3" name="Text 2"/>
          <p:cNvSpPr txBox="1"/>
          <p:nvPr/>
        </p:nvSpPr>
        <p:spPr>
          <a:xfrm>
            <a:off x="457200" y="749808"/>
            <a:ext cx="8229600" cy="320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The bank runs both — each is correct for its own job</a:t>
            </a:r>
            <a:endParaRPr lang="en-US" sz="1300" dirty="0"/>
          </a:p>
        </p:txBody>
      </p:sp>
      <p:sp>
        <p:nvSpPr>
          <p:cNvPr id="4" name="a1f_box3"/>
          <p:cNvSpPr txBox="1"/>
          <p:nvPr/>
        </p:nvSpPr>
        <p:spPr>
          <a:xfrm>
            <a:off x="2103120" y="1234440"/>
            <a:ext cx="3200400" cy="438912"/>
          </a:xfrm>
          <a:prstGeom prst="roundRect">
            <a:avLst>
              <a:gd name="adj" fmla="val 10000"/>
            </a:avLst>
          </a:prstGeom>
          <a:solidFill>
            <a:srgbClr val="0F766E"/>
          </a:solidFill>
          <a:ln w="12700">
            <a:solidFill>
              <a:srgbClr val="0F766E"/>
            </a:solidFill>
            <a:prstDash val="solid"/>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OLTP CORE BANKING</a:t>
            </a:r>
            <a:endParaRPr lang="en-US" sz="1400" dirty="0"/>
          </a:p>
        </p:txBody>
      </p:sp>
      <p:sp>
        <p:nvSpPr>
          <p:cNvPr id="5" name="a1f_box4"/>
          <p:cNvSpPr txBox="1"/>
          <p:nvPr/>
        </p:nvSpPr>
        <p:spPr>
          <a:xfrm>
            <a:off x="5440680" y="1234440"/>
            <a:ext cx="3200400" cy="438912"/>
          </a:xfrm>
          <a:prstGeom prst="roundRect">
            <a:avLst>
              <a:gd name="adj" fmla="val 10000"/>
            </a:avLst>
          </a:prstGeom>
          <a:solidFill>
            <a:srgbClr val="B45309"/>
          </a:solidFill>
          <a:ln w="12700">
            <a:solidFill>
              <a:srgbClr val="B45309"/>
            </a:solidFill>
            <a:prstDash val="solid"/>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REPORTING WAREHOUSE</a:t>
            </a:r>
            <a:endParaRPr lang="en-US" sz="1400" dirty="0"/>
          </a:p>
        </p:txBody>
      </p:sp>
      <p:sp>
        <p:nvSpPr>
          <p:cNvPr id="6" name="a2f_box5"/>
          <p:cNvSpPr txBox="1"/>
          <p:nvPr/>
        </p:nvSpPr>
        <p:spPr>
          <a:xfrm>
            <a:off x="457200" y="1801368"/>
            <a:ext cx="1508760" cy="457200"/>
          </a:xfrm>
          <a:prstGeom prst="roundRect">
            <a:avLst>
              <a:gd name="adj" fmla="val 10000"/>
            </a:avLst>
          </a:prstGeom>
          <a:solidFill>
            <a:srgbClr val="E2E8F0"/>
          </a:solidFill>
          <a:ln w="12700">
            <a:solidFill>
              <a:srgbClr val="E2E8F0"/>
            </a:solidFill>
            <a:prstDash val="solid"/>
          </a:ln>
        </p:spPr>
        <p:txBody>
          <a:bodyPr wrap="square" lIns="0" tIns="0" rIns="0" bIns="0"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Target</a:t>
            </a:r>
            <a:endParaRPr lang="en-US" sz="1200" dirty="0"/>
          </a:p>
        </p:txBody>
      </p:sp>
      <p:sp>
        <p:nvSpPr>
          <p:cNvPr id="7" name="a2wd100_box6"/>
          <p:cNvSpPr txBox="1"/>
          <p:nvPr/>
        </p:nvSpPr>
        <p:spPr>
          <a:xfrm>
            <a:off x="2103120" y="1801368"/>
            <a:ext cx="3200400" cy="457200"/>
          </a:xfrm>
          <a:prstGeom prst="roundRect">
            <a:avLst>
              <a:gd name="adj" fmla="val 10000"/>
            </a:avLst>
          </a:prstGeom>
          <a:solidFill>
            <a:srgbClr val="FFFFFF"/>
          </a:solidFill>
          <a:ln w="12700">
            <a:solidFill>
              <a:srgbClr val="E2E8F0"/>
            </a:solidFill>
            <a:prstDash val="solid"/>
          </a:ln>
        </p:spPr>
        <p:txBody>
          <a:bodyPr wrap="square" lIns="0" tIns="0" rIns="0" bIns="0"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3NF or BCNF</a:t>
            </a:r>
            <a:endParaRPr lang="en-US" sz="1200" dirty="0"/>
          </a:p>
        </p:txBody>
      </p:sp>
      <p:sp>
        <p:nvSpPr>
          <p:cNvPr id="8" name="a2wd300_box7"/>
          <p:cNvSpPr txBox="1"/>
          <p:nvPr/>
        </p:nvSpPr>
        <p:spPr>
          <a:xfrm>
            <a:off x="5440680" y="1801368"/>
            <a:ext cx="3200400" cy="457200"/>
          </a:xfrm>
          <a:prstGeom prst="roundRect">
            <a:avLst>
              <a:gd name="adj" fmla="val 10000"/>
            </a:avLst>
          </a:prstGeom>
          <a:solidFill>
            <a:srgbClr val="FFEDD5"/>
          </a:solidFill>
          <a:ln w="12700">
            <a:solidFill>
              <a:srgbClr val="FFEDD5"/>
            </a:solidFill>
            <a:prstDash val="solid"/>
          </a:ln>
        </p:spPr>
        <p:txBody>
          <a:bodyPr wrap="square" lIns="0" tIns="0" rIns="0" bIns="0"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Star schema — deliberately denormalized</a:t>
            </a:r>
            <a:endParaRPr lang="en-US" sz="1200" dirty="0"/>
          </a:p>
        </p:txBody>
      </p:sp>
      <p:sp>
        <p:nvSpPr>
          <p:cNvPr id="9" name="a3f_box8"/>
          <p:cNvSpPr txBox="1"/>
          <p:nvPr/>
        </p:nvSpPr>
        <p:spPr>
          <a:xfrm>
            <a:off x="457200" y="2350008"/>
            <a:ext cx="1508760" cy="457200"/>
          </a:xfrm>
          <a:prstGeom prst="roundRect">
            <a:avLst>
              <a:gd name="adj" fmla="val 10000"/>
            </a:avLst>
          </a:prstGeom>
          <a:solidFill>
            <a:srgbClr val="E2E8F0"/>
          </a:solidFill>
          <a:ln w="12700">
            <a:solidFill>
              <a:srgbClr val="E2E8F0"/>
            </a:solidFill>
            <a:prstDash val="solid"/>
          </a:ln>
        </p:spPr>
        <p:txBody>
          <a:bodyPr wrap="square" lIns="0" tIns="0" rIns="0" bIns="0"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Optimized for</a:t>
            </a:r>
            <a:endParaRPr lang="en-US" sz="1200" dirty="0"/>
          </a:p>
        </p:txBody>
      </p:sp>
      <p:sp>
        <p:nvSpPr>
          <p:cNvPr id="10" name="a3wd100_box9"/>
          <p:cNvSpPr txBox="1"/>
          <p:nvPr/>
        </p:nvSpPr>
        <p:spPr>
          <a:xfrm>
            <a:off x="2103120" y="2350008"/>
            <a:ext cx="3200400" cy="457200"/>
          </a:xfrm>
          <a:prstGeom prst="roundRect">
            <a:avLst>
              <a:gd name="adj" fmla="val 10000"/>
            </a:avLst>
          </a:prstGeom>
          <a:solidFill>
            <a:srgbClr val="FFFFFF"/>
          </a:solidFill>
          <a:ln w="12700">
            <a:solidFill>
              <a:srgbClr val="E2E8F0"/>
            </a:solidFill>
            <a:prstDash val="solid"/>
          </a:ln>
        </p:spPr>
        <p:txBody>
          <a:bodyPr wrap="square" lIns="0" tIns="0" rIns="0" bIns="0"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Correct, fast writes</a:t>
            </a:r>
            <a:endParaRPr lang="en-US" sz="1200" dirty="0"/>
          </a:p>
        </p:txBody>
      </p:sp>
      <p:sp>
        <p:nvSpPr>
          <p:cNvPr id="11" name="a3wd300_box10"/>
          <p:cNvSpPr txBox="1"/>
          <p:nvPr/>
        </p:nvSpPr>
        <p:spPr>
          <a:xfrm>
            <a:off x="5440680" y="2350008"/>
            <a:ext cx="3200400" cy="457200"/>
          </a:xfrm>
          <a:prstGeom prst="roundRect">
            <a:avLst>
              <a:gd name="adj" fmla="val 10000"/>
            </a:avLst>
          </a:prstGeom>
          <a:solidFill>
            <a:srgbClr val="FFEDD5"/>
          </a:solidFill>
          <a:ln w="12700">
            <a:solidFill>
              <a:srgbClr val="FFEDD5"/>
            </a:solidFill>
            <a:prstDash val="solid"/>
          </a:ln>
        </p:spPr>
        <p:txBody>
          <a:bodyPr wrap="square" lIns="0" tIns="0" rIns="0" bIns="0"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Fast aggregate reads</a:t>
            </a:r>
            <a:endParaRPr lang="en-US" sz="1200" dirty="0"/>
          </a:p>
        </p:txBody>
      </p:sp>
      <p:sp>
        <p:nvSpPr>
          <p:cNvPr id="12" name="a4f_box11"/>
          <p:cNvSpPr txBox="1"/>
          <p:nvPr/>
        </p:nvSpPr>
        <p:spPr>
          <a:xfrm>
            <a:off x="457200" y="2898648"/>
            <a:ext cx="1508760" cy="457200"/>
          </a:xfrm>
          <a:prstGeom prst="roundRect">
            <a:avLst>
              <a:gd name="adj" fmla="val 10000"/>
            </a:avLst>
          </a:prstGeom>
          <a:solidFill>
            <a:srgbClr val="E2E8F0"/>
          </a:solidFill>
          <a:ln w="12700">
            <a:solidFill>
              <a:srgbClr val="E2E8F0"/>
            </a:solidFill>
            <a:prstDash val="solid"/>
          </a:ln>
        </p:spPr>
        <p:txBody>
          <a:bodyPr wrap="square" lIns="0" tIns="0" rIns="0" bIns="0"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Redundancy</a:t>
            </a:r>
            <a:endParaRPr lang="en-US" sz="1200" dirty="0"/>
          </a:p>
        </p:txBody>
      </p:sp>
      <p:sp>
        <p:nvSpPr>
          <p:cNvPr id="13" name="a4wd100_box12"/>
          <p:cNvSpPr txBox="1"/>
          <p:nvPr/>
        </p:nvSpPr>
        <p:spPr>
          <a:xfrm>
            <a:off x="2103120" y="2898648"/>
            <a:ext cx="3200400" cy="457200"/>
          </a:xfrm>
          <a:prstGeom prst="roundRect">
            <a:avLst>
              <a:gd name="adj" fmla="val 10000"/>
            </a:avLst>
          </a:prstGeom>
          <a:solidFill>
            <a:srgbClr val="FFFFFF"/>
          </a:solidFill>
          <a:ln w="12700">
            <a:solidFill>
              <a:srgbClr val="E2E8F0"/>
            </a:solidFill>
            <a:prstDash val="solid"/>
          </a:ln>
        </p:spPr>
        <p:txBody>
          <a:bodyPr wrap="square" lIns="0" tIns="0" rIns="0" bIns="0"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Eliminated</a:t>
            </a:r>
            <a:endParaRPr lang="en-US" sz="1200" dirty="0"/>
          </a:p>
        </p:txBody>
      </p:sp>
      <p:sp>
        <p:nvSpPr>
          <p:cNvPr id="14" name="a4wd300_box13"/>
          <p:cNvSpPr txBox="1"/>
          <p:nvPr/>
        </p:nvSpPr>
        <p:spPr>
          <a:xfrm>
            <a:off x="5440680" y="2898648"/>
            <a:ext cx="3200400" cy="457200"/>
          </a:xfrm>
          <a:prstGeom prst="roundRect">
            <a:avLst>
              <a:gd name="adj" fmla="val 10000"/>
            </a:avLst>
          </a:prstGeom>
          <a:solidFill>
            <a:srgbClr val="FFEDD5"/>
          </a:solidFill>
          <a:ln w="12700">
            <a:solidFill>
              <a:srgbClr val="FFEDD5"/>
            </a:solidFill>
            <a:prstDash val="solid"/>
          </a:ln>
        </p:spPr>
        <p:txBody>
          <a:bodyPr wrap="square" lIns="0" tIns="0" rIns="0" bIns="0"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Accepted and controlled</a:t>
            </a:r>
            <a:endParaRPr lang="en-US" sz="1200" dirty="0"/>
          </a:p>
        </p:txBody>
      </p:sp>
      <p:sp>
        <p:nvSpPr>
          <p:cNvPr id="15" name="a5f_box14"/>
          <p:cNvSpPr txBox="1"/>
          <p:nvPr/>
        </p:nvSpPr>
        <p:spPr>
          <a:xfrm>
            <a:off x="457200" y="3447288"/>
            <a:ext cx="1508760" cy="457200"/>
          </a:xfrm>
          <a:prstGeom prst="roundRect">
            <a:avLst>
              <a:gd name="adj" fmla="val 10000"/>
            </a:avLst>
          </a:prstGeom>
          <a:solidFill>
            <a:srgbClr val="E2E8F0"/>
          </a:solidFill>
          <a:ln w="12700">
            <a:solidFill>
              <a:srgbClr val="E2E8F0"/>
            </a:solidFill>
            <a:prstDash val="solid"/>
          </a:ln>
        </p:spPr>
        <p:txBody>
          <a:bodyPr wrap="square" lIns="0" tIns="0" rIns="0" bIns="0"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Updated</a:t>
            </a:r>
            <a:endParaRPr lang="en-US" sz="1200" dirty="0"/>
          </a:p>
        </p:txBody>
      </p:sp>
      <p:sp>
        <p:nvSpPr>
          <p:cNvPr id="16" name="a5wd100_box15"/>
          <p:cNvSpPr txBox="1"/>
          <p:nvPr/>
        </p:nvSpPr>
        <p:spPr>
          <a:xfrm>
            <a:off x="2103120" y="3447288"/>
            <a:ext cx="3200400" cy="457200"/>
          </a:xfrm>
          <a:prstGeom prst="roundRect">
            <a:avLst>
              <a:gd name="adj" fmla="val 10000"/>
            </a:avLst>
          </a:prstGeom>
          <a:solidFill>
            <a:srgbClr val="FFFFFF"/>
          </a:solidFill>
          <a:ln w="12700">
            <a:solidFill>
              <a:srgbClr val="E2E8F0"/>
            </a:solidFill>
            <a:prstDash val="solid"/>
          </a:ln>
        </p:spPr>
        <p:txBody>
          <a:bodyPr wrap="square" lIns="0" tIns="0" rIns="0" bIns="0"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Continuously</a:t>
            </a:r>
            <a:endParaRPr lang="en-US" sz="1200" dirty="0"/>
          </a:p>
        </p:txBody>
      </p:sp>
      <p:sp>
        <p:nvSpPr>
          <p:cNvPr id="17" name="a5wd300_box16"/>
          <p:cNvSpPr txBox="1"/>
          <p:nvPr/>
        </p:nvSpPr>
        <p:spPr>
          <a:xfrm>
            <a:off x="5440680" y="3447288"/>
            <a:ext cx="3200400" cy="457200"/>
          </a:xfrm>
          <a:prstGeom prst="roundRect">
            <a:avLst>
              <a:gd name="adj" fmla="val 10000"/>
            </a:avLst>
          </a:prstGeom>
          <a:solidFill>
            <a:srgbClr val="FFEDD5"/>
          </a:solidFill>
          <a:ln w="12700">
            <a:solidFill>
              <a:srgbClr val="FFEDD5"/>
            </a:solidFill>
            <a:prstDash val="solid"/>
          </a:ln>
        </p:spPr>
        <p:txBody>
          <a:bodyPr wrap="square" lIns="0" tIns="0" rIns="0" bIns="0"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Nightly load</a:t>
            </a:r>
            <a:endParaRPr lang="en-US" sz="1200" dirty="0"/>
          </a:p>
        </p:txBody>
      </p:sp>
      <p:sp>
        <p:nvSpPr>
          <p:cNvPr id="18" name="a6f_box17"/>
          <p:cNvSpPr txBox="1"/>
          <p:nvPr/>
        </p:nvSpPr>
        <p:spPr>
          <a:xfrm>
            <a:off x="457200" y="3995928"/>
            <a:ext cx="1508760" cy="457200"/>
          </a:xfrm>
          <a:prstGeom prst="roundRect">
            <a:avLst>
              <a:gd name="adj" fmla="val 10000"/>
            </a:avLst>
          </a:prstGeom>
          <a:solidFill>
            <a:srgbClr val="E2E8F0"/>
          </a:solidFill>
          <a:ln w="12700">
            <a:solidFill>
              <a:srgbClr val="E2E8F0"/>
            </a:solidFill>
            <a:prstDash val="solid"/>
          </a:ln>
        </p:spPr>
        <p:txBody>
          <a:bodyPr wrap="square" lIns="0" tIns="0" rIns="0" bIns="0"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Correctness by</a:t>
            </a:r>
            <a:endParaRPr lang="en-US" sz="1200" dirty="0"/>
          </a:p>
        </p:txBody>
      </p:sp>
      <p:sp>
        <p:nvSpPr>
          <p:cNvPr id="19" name="a6wd100_box18"/>
          <p:cNvSpPr txBox="1"/>
          <p:nvPr/>
        </p:nvSpPr>
        <p:spPr>
          <a:xfrm>
            <a:off x="2103120" y="3995928"/>
            <a:ext cx="3200400" cy="457200"/>
          </a:xfrm>
          <a:prstGeom prst="roundRect">
            <a:avLst>
              <a:gd name="adj" fmla="val 10000"/>
            </a:avLst>
          </a:prstGeom>
          <a:solidFill>
            <a:srgbClr val="FFFFFF"/>
          </a:solidFill>
          <a:ln w="12700">
            <a:solidFill>
              <a:srgbClr val="E2E8F0"/>
            </a:solidFill>
            <a:prstDash val="solid"/>
          </a:ln>
        </p:spPr>
        <p:txBody>
          <a:bodyPr wrap="square" lIns="0" tIns="0" rIns="0" bIns="0"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Declared constraints</a:t>
            </a:r>
            <a:endParaRPr lang="en-US" sz="1200" dirty="0"/>
          </a:p>
        </p:txBody>
      </p:sp>
      <p:sp>
        <p:nvSpPr>
          <p:cNvPr id="20" name="a6wd300_box19"/>
          <p:cNvSpPr txBox="1"/>
          <p:nvPr/>
        </p:nvSpPr>
        <p:spPr>
          <a:xfrm>
            <a:off x="5440680" y="3995928"/>
            <a:ext cx="3200400" cy="457200"/>
          </a:xfrm>
          <a:prstGeom prst="roundRect">
            <a:avLst>
              <a:gd name="adj" fmla="val 10000"/>
            </a:avLst>
          </a:prstGeom>
          <a:solidFill>
            <a:srgbClr val="FFEDD5"/>
          </a:solidFill>
          <a:ln w="12700">
            <a:solidFill>
              <a:srgbClr val="FFEDD5"/>
            </a:solidFill>
            <a:prstDash val="solid"/>
          </a:ln>
        </p:spPr>
        <p:txBody>
          <a:bodyPr wrap="square" lIns="0" tIns="0" rIns="0" bIns="0"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The ETL job</a:t>
            </a:r>
            <a:endParaRPr lang="en-US" sz="1200" dirty="0"/>
          </a:p>
        </p:txBody>
      </p:sp>
      <p:sp>
        <p:nvSpPr>
          <p:cNvPr id="21" name="a7u_rt20"/>
          <p:cNvSpPr txBox="1"/>
          <p:nvPr/>
        </p:nvSpPr>
        <p:spPr>
          <a:xfrm>
            <a:off x="457200" y="4590288"/>
            <a:ext cx="8229600" cy="320040"/>
          </a:xfrm>
          <a:prstGeom prst="rect">
            <a:avLst/>
          </a:prstGeom>
          <a:noFill/>
          <a:ln/>
        </p:spPr>
        <p:txBody>
          <a:bodyPr wrap="square" lIns="0" tIns="0" rIns="0" bIns="0" rtlCol="0" anchor="ctr"/>
          <a:lstStyle/>
          <a:p>
            <a:pPr marL="0" indent="0">
              <a:buNone/>
            </a:pPr>
            <a:r>
              <a:rPr lang="en-US" sz="1300" b="1" dirty="0">
                <a:solidFill>
                  <a:srgbClr val="6D28D9"/>
                </a:solidFill>
                <a:latin typeface="Calibri" pitchFamily="34" charset="0"/>
                <a:ea typeface="Calibri" pitchFamily="34" charset="-122"/>
                <a:cs typeface="Calibri" pitchFamily="34" charset="-120"/>
              </a:rPr>
              <a:t>Module 10 builds the warehouse; Module 11 moves data between the two.</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22" presetClass="entr" presetSubtype="8" fill="hold" grpId="0" nodeType="withEffect">
                                  <p:stCondLst>
                                    <p:cond delay="10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8" dur="500"/>
                                        <p:tgtEl>
                                          <p:spTgt spid="7"/>
                                        </p:tgtEl>
                                      </p:cBhvr>
                                    </p:animEffect>
                                  </p:childTnLst>
                                </p:cTn>
                              </p:par>
                              <p:par>
                                <p:cTn id="19" presetID="22" presetClass="entr" presetSubtype="8" fill="hold" grpId="0" nodeType="withEffect">
                                  <p:stCondLst>
                                    <p:cond delay="30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22" presetClass="entr" presetSubtype="8" fill="hold" grpId="0" nodeType="withEffect">
                                  <p:stCondLst>
                                    <p:cond delay="100"/>
                                  </p:stCondLst>
                                  <p:childTnLst>
                                    <p:set>
                                      <p:cBhvr>
                                        <p:cTn id="28" dur="1" fill="hold">
                                          <p:stCondLst>
                                            <p:cond delay="0"/>
                                          </p:stCondLst>
                                        </p:cTn>
                                        <p:tgtEl>
                                          <p:spTgt spid="10"/>
                                        </p:tgtEl>
                                        <p:attrNameLst>
                                          <p:attrName>style.visibility</p:attrName>
                                        </p:attrNameLst>
                                      </p:cBhvr>
                                      <p:to>
                                        <p:strVal val="visible"/>
                                      </p:to>
                                    </p:set>
                                    <p:animEffect transition="in" filter="wipe(left)">
                                      <p:cBhvr>
                                        <p:cTn id="29" dur="500"/>
                                        <p:tgtEl>
                                          <p:spTgt spid="10"/>
                                        </p:tgtEl>
                                      </p:cBhvr>
                                    </p:animEffect>
                                  </p:childTnLst>
                                </p:cTn>
                              </p:par>
                              <p:par>
                                <p:cTn id="30" presetID="22" presetClass="entr" presetSubtype="8" fill="hold" grpId="0" nodeType="withEffect">
                                  <p:stCondLst>
                                    <p:cond delay="30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22" presetClass="entr" presetSubtype="8" fill="hold" grpId="0" nodeType="withEffect">
                                  <p:stCondLst>
                                    <p:cond delay="100"/>
                                  </p:stCondLst>
                                  <p:childTnLst>
                                    <p:set>
                                      <p:cBhvr>
                                        <p:cTn id="39" dur="1" fill="hold">
                                          <p:stCondLst>
                                            <p:cond delay="0"/>
                                          </p:stCondLst>
                                        </p:cTn>
                                        <p:tgtEl>
                                          <p:spTgt spid="13"/>
                                        </p:tgtEl>
                                        <p:attrNameLst>
                                          <p:attrName>style.visibility</p:attrName>
                                        </p:attrNameLst>
                                      </p:cBhvr>
                                      <p:to>
                                        <p:strVal val="visible"/>
                                      </p:to>
                                    </p:set>
                                    <p:animEffect transition="in" filter="wipe(left)">
                                      <p:cBhvr>
                                        <p:cTn id="40" dur="500"/>
                                        <p:tgtEl>
                                          <p:spTgt spid="13"/>
                                        </p:tgtEl>
                                      </p:cBhvr>
                                    </p:animEffect>
                                  </p:childTnLst>
                                </p:cTn>
                              </p:par>
                              <p:par>
                                <p:cTn id="41" presetID="22" presetClass="entr" presetSubtype="8" fill="hold" grpId="0" nodeType="withEffect">
                                  <p:stCondLst>
                                    <p:cond delay="300"/>
                                  </p:stCondLst>
                                  <p:childTnLst>
                                    <p:set>
                                      <p:cBhvr>
                                        <p:cTn id="42" dur="1" fill="hold">
                                          <p:stCondLst>
                                            <p:cond delay="0"/>
                                          </p:stCondLst>
                                        </p:cTn>
                                        <p:tgtEl>
                                          <p:spTgt spid="14"/>
                                        </p:tgtEl>
                                        <p:attrNameLst>
                                          <p:attrName>style.visibility</p:attrName>
                                        </p:attrNameLst>
                                      </p:cBhvr>
                                      <p:to>
                                        <p:strVal val="visible"/>
                                      </p:to>
                                    </p:set>
                                    <p:animEffect transition="in" filter="wipe(left)">
                                      <p:cBhvr>
                                        <p:cTn id="43" dur="500"/>
                                        <p:tgtEl>
                                          <p:spTgt spid="14"/>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500"/>
                                        <p:tgtEl>
                                          <p:spTgt spid="15"/>
                                        </p:tgtEl>
                                      </p:cBhvr>
                                    </p:animEffect>
                                  </p:childTnLst>
                                </p:cTn>
                              </p:par>
                              <p:par>
                                <p:cTn id="49" presetID="22" presetClass="entr" presetSubtype="8" fill="hold" grpId="0" nodeType="withEffect">
                                  <p:stCondLst>
                                    <p:cond delay="100"/>
                                  </p:stCondLst>
                                  <p:childTnLst>
                                    <p:set>
                                      <p:cBhvr>
                                        <p:cTn id="50" dur="1" fill="hold">
                                          <p:stCondLst>
                                            <p:cond delay="0"/>
                                          </p:stCondLst>
                                        </p:cTn>
                                        <p:tgtEl>
                                          <p:spTgt spid="16"/>
                                        </p:tgtEl>
                                        <p:attrNameLst>
                                          <p:attrName>style.visibility</p:attrName>
                                        </p:attrNameLst>
                                      </p:cBhvr>
                                      <p:to>
                                        <p:strVal val="visible"/>
                                      </p:to>
                                    </p:set>
                                    <p:animEffect transition="in" filter="wipe(left)">
                                      <p:cBhvr>
                                        <p:cTn id="51" dur="500"/>
                                        <p:tgtEl>
                                          <p:spTgt spid="16"/>
                                        </p:tgtEl>
                                      </p:cBhvr>
                                    </p:animEffect>
                                  </p:childTnLst>
                                </p:cTn>
                              </p:par>
                              <p:par>
                                <p:cTn id="52" presetID="22" presetClass="entr" presetSubtype="8" fill="hold" grpId="0" nodeType="withEffect">
                                  <p:stCondLst>
                                    <p:cond delay="300"/>
                                  </p:stCondLst>
                                  <p:childTnLst>
                                    <p:set>
                                      <p:cBhvr>
                                        <p:cTn id="53" dur="1" fill="hold">
                                          <p:stCondLst>
                                            <p:cond delay="0"/>
                                          </p:stCondLst>
                                        </p:cTn>
                                        <p:tgtEl>
                                          <p:spTgt spid="17"/>
                                        </p:tgtEl>
                                        <p:attrNameLst>
                                          <p:attrName>style.visibility</p:attrName>
                                        </p:attrNameLst>
                                      </p:cBhvr>
                                      <p:to>
                                        <p:strVal val="visible"/>
                                      </p:to>
                                    </p:set>
                                    <p:animEffect transition="in" filter="wipe(left)">
                                      <p:cBhvr>
                                        <p:cTn id="54" dur="500"/>
                                        <p:tgtEl>
                                          <p:spTgt spid="17"/>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500"/>
                                        <p:tgtEl>
                                          <p:spTgt spid="18"/>
                                        </p:tgtEl>
                                      </p:cBhvr>
                                    </p:animEffect>
                                  </p:childTnLst>
                                </p:cTn>
                              </p:par>
                              <p:par>
                                <p:cTn id="60" presetID="22" presetClass="entr" presetSubtype="8" fill="hold" grpId="0" nodeType="withEffect">
                                  <p:stCondLst>
                                    <p:cond delay="100"/>
                                  </p:stCondLst>
                                  <p:childTnLst>
                                    <p:set>
                                      <p:cBhvr>
                                        <p:cTn id="61" dur="1" fill="hold">
                                          <p:stCondLst>
                                            <p:cond delay="0"/>
                                          </p:stCondLst>
                                        </p:cTn>
                                        <p:tgtEl>
                                          <p:spTgt spid="19"/>
                                        </p:tgtEl>
                                        <p:attrNameLst>
                                          <p:attrName>style.visibility</p:attrName>
                                        </p:attrNameLst>
                                      </p:cBhvr>
                                      <p:to>
                                        <p:strVal val="visible"/>
                                      </p:to>
                                    </p:set>
                                    <p:animEffect transition="in" filter="wipe(left)">
                                      <p:cBhvr>
                                        <p:cTn id="62" dur="500"/>
                                        <p:tgtEl>
                                          <p:spTgt spid="19"/>
                                        </p:tgtEl>
                                      </p:cBhvr>
                                    </p:animEffect>
                                  </p:childTnLst>
                                </p:cTn>
                              </p:par>
                              <p:par>
                                <p:cTn id="63" presetID="22" presetClass="entr" presetSubtype="8" fill="hold" grpId="0" nodeType="withEffect">
                                  <p:stCondLst>
                                    <p:cond delay="300"/>
                                  </p:stCondLst>
                                  <p:childTnLst>
                                    <p:set>
                                      <p:cBhvr>
                                        <p:cTn id="64" dur="1" fill="hold">
                                          <p:stCondLst>
                                            <p:cond delay="0"/>
                                          </p:stCondLst>
                                        </p:cTn>
                                        <p:tgtEl>
                                          <p:spTgt spid="20"/>
                                        </p:tgtEl>
                                        <p:attrNameLst>
                                          <p:attrName>style.visibility</p:attrName>
                                        </p:attrNameLst>
                                      </p:cBhvr>
                                      <p:to>
                                        <p:strVal val="visible"/>
                                      </p:to>
                                    </p:set>
                                    <p:animEffect transition="in" filter="wipe(left)">
                                      <p:cBhvr>
                                        <p:cTn id="65" dur="500"/>
                                        <p:tgtEl>
                                          <p:spTgt spid="20"/>
                                        </p:tgtEl>
                                      </p:cBhvr>
                                    </p:animEffect>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grpId="0" nodeType="clickEffect">
                                  <p:stCondLst>
                                    <p:cond delay="0"/>
                                  </p:stCondLst>
                                  <p:childTnLst>
                                    <p:set>
                                      <p:cBhvr>
                                        <p:cTn id="69" dur="1" fill="hold">
                                          <p:stCondLst>
                                            <p:cond delay="0"/>
                                          </p:stCondLst>
                                        </p:cTn>
                                        <p:tgtEl>
                                          <p:spTgt spid="21"/>
                                        </p:tgtEl>
                                        <p:attrNameLst>
                                          <p:attrName>style.visibility</p:attrName>
                                        </p:attrNameLst>
                                      </p:cBhvr>
                                      <p:to>
                                        <p:strVal val="visible"/>
                                      </p:to>
                                    </p:set>
                                    <p:anim calcmode="lin" valueType="num">
                                      <p:cBhvr additive="base">
                                        <p:cTn id="70" dur="500" fill="hold"/>
                                        <p:tgtEl>
                                          <p:spTgt spid="21"/>
                                        </p:tgtEl>
                                        <p:attrNameLst>
                                          <p:attrName>ppt_x</p:attrName>
                                        </p:attrNameLst>
                                      </p:cBhvr>
                                      <p:tavLst>
                                        <p:tav tm="0">
                                          <p:val>
                                            <p:strVal val="#ppt_x"/>
                                          </p:val>
                                        </p:tav>
                                        <p:tav tm="100000">
                                          <p:val>
                                            <p:strVal val="#ppt_x"/>
                                          </p:val>
                                        </p:tav>
                                      </p:tavLst>
                                    </p:anim>
                                    <p:anim calcmode="lin" valueType="num">
                                      <p:cBhvr additive="base">
                                        <p:cTn id="71" dur="500" fill="hold"/>
                                        <p:tgtEl>
                                          <p:spTgt spid="21"/>
                                        </p:tgtEl>
                                        <p:attrNameLst>
                                          <p:attrName>ppt_y</p:attrName>
                                        </p:attrNameLst>
                                      </p:cBhvr>
                                      <p:tavLst>
                                        <p:tav tm="0">
                                          <p:val>
                                            <p:strVal val="#ppt_y+0.1"/>
                                          </p:val>
                                        </p:tav>
                                        <p:tav tm="100000">
                                          <p:val>
                                            <p:strVal val="#ppt_y"/>
                                          </p:val>
                                        </p:tav>
                                      </p:tavLst>
                                    </p:anim>
                                    <p:animEffect transition="in" filter="fade">
                                      <p:cBhvr>
                                        <p:cTn id="7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1"/>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172A"/>
                </a:solidFill>
                <a:latin typeface="Calibri" pitchFamily="34" charset="0"/>
                <a:ea typeface="Calibri" pitchFamily="34" charset="-122"/>
                <a:cs typeface="Calibri" pitchFamily="34" charset="-120"/>
              </a:rPr>
              <a:t>Closing the Ticket</a:t>
            </a:r>
            <a:endParaRPr lang="en-US" sz="2800" dirty="0"/>
          </a:p>
        </p:txBody>
      </p:sp>
      <p:sp>
        <p:nvSpPr>
          <p:cNvPr id="3" name="Text 2"/>
          <p:cNvSpPr txBox="1"/>
          <p:nvPr/>
        </p:nvSpPr>
        <p:spPr>
          <a:xfrm>
            <a:off x="457200" y="749808"/>
            <a:ext cx="8229600" cy="320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ICICI-4577 — both audit findings, traced to a rule</a:t>
            </a:r>
            <a:endParaRPr lang="en-US" sz="1300" dirty="0"/>
          </a:p>
        </p:txBody>
      </p:sp>
      <p:sp>
        <p:nvSpPr>
          <p:cNvPr id="4" name="a1u_c3"/>
          <p:cNvSpPr/>
          <p:nvPr/>
        </p:nvSpPr>
        <p:spPr>
          <a:xfrm>
            <a:off x="457200" y="1280160"/>
            <a:ext cx="8229600" cy="1097280"/>
          </a:xfrm>
          <a:prstGeom prst="roundRect">
            <a:avLst>
              <a:gd name="adj" fmla="val 6000"/>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sp>
        <p:nvSpPr>
          <p:cNvPr id="5" name="a1u_n4"/>
          <p:cNvSpPr txBox="1"/>
          <p:nvPr/>
        </p:nvSpPr>
        <p:spPr>
          <a:xfrm>
            <a:off x="640080" y="1600200"/>
            <a:ext cx="420624" cy="420624"/>
          </a:xfrm>
          <a:prstGeom prst="ellipse">
            <a:avLst/>
          </a:prstGeom>
          <a:solidFill>
            <a:srgbClr val="DC2626"/>
          </a:solidFill>
          <a:ln w="12700">
            <a:solidFill>
              <a:srgbClr val="DC2626"/>
            </a:solidFill>
            <a:prstDash val="solid"/>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a1u_f5"/>
          <p:cNvSpPr txBox="1"/>
          <p:nvPr/>
        </p:nvSpPr>
        <p:spPr>
          <a:xfrm>
            <a:off x="1234440" y="1371600"/>
            <a:ext cx="2377440" cy="914400"/>
          </a:xfrm>
          <a:prstGeom prst="rect">
            <a:avLst/>
          </a:prstGeom>
          <a:noFill/>
          <a:ln/>
        </p:spPr>
        <p:txBody>
          <a:bodyPr wrap="square" lIns="0" tIns="0" rIns="0" bIns="0" rtlCol="0" anchor="ctr"/>
          <a:lstStyle/>
          <a:p>
            <a:pPr marL="0" indent="0">
              <a:buNone/>
            </a:pPr>
            <a:r>
              <a:rPr lang="en-US" sz="1250" b="1" dirty="0">
                <a:solidFill>
                  <a:srgbClr val="0F172A"/>
                </a:solidFill>
                <a:latin typeface="Calibri" pitchFamily="34" charset="0"/>
                <a:ea typeface="Calibri" pitchFamily="34" charset="-122"/>
                <a:cs typeface="Calibri" pitchFamily="34" charset="-120"/>
              </a:rPr>
              <a:t>Four spellings of one branch name</a:t>
            </a:r>
            <a:endParaRPr lang="en-US" sz="1250" dirty="0"/>
          </a:p>
        </p:txBody>
      </p:sp>
      <p:sp>
        <p:nvSpPr>
          <p:cNvPr id="7" name="a1u_c26"/>
          <p:cNvSpPr txBox="1"/>
          <p:nvPr/>
        </p:nvSpPr>
        <p:spPr>
          <a:xfrm>
            <a:off x="3703320" y="1371600"/>
            <a:ext cx="2514600" cy="914400"/>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ROOT CAUSE
</a:t>
            </a:r>
            <a:r>
              <a:rPr lang="en-US" sz="1100" dirty="0">
                <a:solidFill>
                  <a:srgbClr val="334155"/>
                </a:solidFill>
                <a:latin typeface="Calibri" pitchFamily="34" charset="0"/>
                <a:ea typeface="Calibri" pitchFamily="34" charset="-122"/>
                <a:cs typeface="Calibri" pitchFamily="34" charset="-120"/>
              </a:rPr>
              <a:t>Transitive dependency: customer_id → branch_code → branch_name</a:t>
            </a:r>
            <a:endParaRPr lang="en-US" sz="900" dirty="0"/>
          </a:p>
        </p:txBody>
      </p:sp>
      <p:sp>
        <p:nvSpPr>
          <p:cNvPr id="8" name="a1u_x7"/>
          <p:cNvSpPr txBox="1"/>
          <p:nvPr/>
        </p:nvSpPr>
        <p:spPr>
          <a:xfrm>
            <a:off x="6309360" y="1371600"/>
            <a:ext cx="2286000" cy="914400"/>
          </a:xfrm>
          <a:prstGeom prst="rect">
            <a:avLst/>
          </a:prstGeom>
          <a:noFill/>
          <a:ln/>
        </p:spPr>
        <p:txBody>
          <a:bodyPr wrap="square" lIns="0" tIns="0" rIns="0" bIns="0" rtlCol="0" anchor="ctr"/>
          <a:lstStyle/>
          <a:p>
            <a:pPr marL="0" indent="0">
              <a:buNone/>
            </a:pPr>
            <a:r>
              <a:rPr lang="en-US" sz="900" b="1" dirty="0">
                <a:solidFill>
                  <a:srgbClr val="16A34A"/>
                </a:solidFill>
                <a:latin typeface="Calibri" pitchFamily="34" charset="0"/>
                <a:ea typeface="Calibri" pitchFamily="34" charset="-122"/>
                <a:cs typeface="Calibri" pitchFamily="34" charset="-120"/>
              </a:rPr>
              <a:t>FIXED BY
</a:t>
            </a:r>
            <a:r>
              <a:rPr lang="en-US" sz="1150" b="1" dirty="0">
                <a:solidFill>
                  <a:srgbClr val="16A34A"/>
                </a:solidFill>
                <a:latin typeface="Calibri" pitchFamily="34" charset="0"/>
                <a:ea typeface="Calibri" pitchFamily="34" charset="-122"/>
                <a:cs typeface="Calibri" pitchFamily="34" charset="-120"/>
              </a:rPr>
              <a:t>3NF — branch details moved into branch</a:t>
            </a:r>
            <a:endParaRPr lang="en-US" sz="900" dirty="0"/>
          </a:p>
        </p:txBody>
      </p:sp>
      <p:sp>
        <p:nvSpPr>
          <p:cNvPr id="9" name="a2u_c8"/>
          <p:cNvSpPr/>
          <p:nvPr/>
        </p:nvSpPr>
        <p:spPr>
          <a:xfrm>
            <a:off x="457200" y="2514600"/>
            <a:ext cx="8229600" cy="1097280"/>
          </a:xfrm>
          <a:prstGeom prst="roundRect">
            <a:avLst>
              <a:gd name="adj" fmla="val 6000"/>
            </a:avLst>
          </a:prstGeom>
          <a:solidFill>
            <a:srgbClr val="FFFFFF"/>
          </a:solidFill>
          <a:ln w="12700">
            <a:solidFill>
              <a:srgbClr val="E2E8F0"/>
            </a:solidFill>
            <a:prstDash val="solid"/>
          </a:ln>
          <a:effectLst>
            <a:outerShdw blurRad="76200" dist="25400" dir="5400000" algn="bl" rotWithShape="0">
              <a:srgbClr val="000000">
                <a:alpha val="12000"/>
              </a:srgbClr>
            </a:outerShdw>
          </a:effectLst>
        </p:spPr>
      </p:sp>
      <p:sp>
        <p:nvSpPr>
          <p:cNvPr id="10" name="a2u_n9"/>
          <p:cNvSpPr txBox="1"/>
          <p:nvPr/>
        </p:nvSpPr>
        <p:spPr>
          <a:xfrm>
            <a:off x="640080" y="2834640"/>
            <a:ext cx="420624" cy="420624"/>
          </a:xfrm>
          <a:prstGeom prst="ellipse">
            <a:avLst/>
          </a:prstGeom>
          <a:solidFill>
            <a:srgbClr val="DC2626"/>
          </a:solidFill>
          <a:ln w="12700">
            <a:solidFill>
              <a:srgbClr val="DC2626"/>
            </a:solidFill>
            <a:prstDash val="solid"/>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a2u_f10"/>
          <p:cNvSpPr txBox="1"/>
          <p:nvPr/>
        </p:nvSpPr>
        <p:spPr>
          <a:xfrm>
            <a:off x="1234440" y="2606040"/>
            <a:ext cx="2377440" cy="914400"/>
          </a:xfrm>
          <a:prstGeom prst="rect">
            <a:avLst/>
          </a:prstGeom>
          <a:noFill/>
          <a:ln/>
        </p:spPr>
        <p:txBody>
          <a:bodyPr wrap="square" lIns="0" tIns="0" rIns="0" bIns="0" rtlCol="0" anchor="ctr"/>
          <a:lstStyle/>
          <a:p>
            <a:pPr marL="0" indent="0">
              <a:buNone/>
            </a:pPr>
            <a:r>
              <a:rPr lang="en-US" sz="1250" b="1" dirty="0">
                <a:solidFill>
                  <a:srgbClr val="0F172A"/>
                </a:solidFill>
                <a:latin typeface="Calibri" pitchFamily="34" charset="0"/>
                <a:ea typeface="Calibri" pitchFamily="34" charset="-122"/>
                <a:cs typeface="Calibri" pitchFamily="34" charset="-120"/>
              </a:rPr>
              <a:t>Closing an account deleted the phone number</a:t>
            </a:r>
            <a:endParaRPr lang="en-US" sz="1250" dirty="0"/>
          </a:p>
        </p:txBody>
      </p:sp>
      <p:sp>
        <p:nvSpPr>
          <p:cNvPr id="12" name="a2u_c211"/>
          <p:cNvSpPr txBox="1"/>
          <p:nvPr/>
        </p:nvSpPr>
        <p:spPr>
          <a:xfrm>
            <a:off x="3703320" y="2606040"/>
            <a:ext cx="2514600" cy="914400"/>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ROOT CAUSE
</a:t>
            </a:r>
            <a:r>
              <a:rPr lang="en-US" sz="1100" dirty="0">
                <a:solidFill>
                  <a:srgbClr val="334155"/>
                </a:solidFill>
                <a:latin typeface="Calibri" pitchFamily="34" charset="0"/>
                <a:ea typeface="Calibri" pitchFamily="34" charset="-122"/>
                <a:cs typeface="Calibri" pitchFamily="34" charset="-120"/>
              </a:rPr>
              <a:t>Two entities merged into one row (delete anomaly)</a:t>
            </a:r>
            <a:endParaRPr lang="en-US" sz="900" dirty="0"/>
          </a:p>
        </p:txBody>
      </p:sp>
      <p:sp>
        <p:nvSpPr>
          <p:cNvPr id="13" name="a2u_x12"/>
          <p:cNvSpPr txBox="1"/>
          <p:nvPr/>
        </p:nvSpPr>
        <p:spPr>
          <a:xfrm>
            <a:off x="6309360" y="2606040"/>
            <a:ext cx="2286000" cy="914400"/>
          </a:xfrm>
          <a:prstGeom prst="rect">
            <a:avLst/>
          </a:prstGeom>
          <a:noFill/>
          <a:ln/>
        </p:spPr>
        <p:txBody>
          <a:bodyPr wrap="square" lIns="0" tIns="0" rIns="0" bIns="0" rtlCol="0" anchor="ctr"/>
          <a:lstStyle/>
          <a:p>
            <a:pPr marL="0" indent="0">
              <a:buNone/>
            </a:pPr>
            <a:r>
              <a:rPr lang="en-US" sz="900" b="1" dirty="0">
                <a:solidFill>
                  <a:srgbClr val="16A34A"/>
                </a:solidFill>
                <a:latin typeface="Calibri" pitchFamily="34" charset="0"/>
                <a:ea typeface="Calibri" pitchFamily="34" charset="-122"/>
                <a:cs typeface="Calibri" pitchFamily="34" charset="-120"/>
              </a:rPr>
              <a:t>FIXED BY
</a:t>
            </a:r>
            <a:r>
              <a:rPr lang="en-US" sz="1150" b="1" dirty="0">
                <a:solidFill>
                  <a:srgbClr val="16A34A"/>
                </a:solidFill>
                <a:latin typeface="Calibri" pitchFamily="34" charset="0"/>
                <a:ea typeface="Calibri" pitchFamily="34" charset="-122"/>
                <a:cs typeface="Calibri" pitchFamily="34" charset="-120"/>
              </a:rPr>
              <a:t>1NF + 3NF decomposition, plus ON DELETE RESTRICT</a:t>
            </a:r>
            <a:endParaRPr lang="en-US" sz="900" dirty="0"/>
          </a:p>
        </p:txBody>
      </p:sp>
      <p:sp>
        <p:nvSpPr>
          <p:cNvPr id="14" name="a3u_tb13"/>
          <p:cNvSpPr/>
          <p:nvPr/>
        </p:nvSpPr>
        <p:spPr>
          <a:xfrm>
            <a:off x="457200" y="3840480"/>
            <a:ext cx="8229600" cy="822960"/>
          </a:xfrm>
          <a:prstGeom prst="roundRect">
            <a:avLst>
              <a:gd name="adj" fmla="val 5926"/>
            </a:avLst>
          </a:prstGeom>
          <a:solidFill>
            <a:srgbClr val="6D28D9"/>
          </a:solidFill>
          <a:ln w="12700">
            <a:solidFill>
              <a:srgbClr val="6D28D9"/>
            </a:solidFill>
            <a:prstDash val="solid"/>
          </a:ln>
        </p:spPr>
      </p:sp>
      <p:sp>
        <p:nvSpPr>
          <p:cNvPr id="15" name="a3u_tt14"/>
          <p:cNvSpPr txBox="1"/>
          <p:nvPr/>
        </p:nvSpPr>
        <p:spPr>
          <a:xfrm>
            <a:off x="640080" y="3840480"/>
            <a:ext cx="7909560" cy="82296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Delivered: the nine-table schema you have used since Module 1 — plus fixed_deposit from Module 2.</a:t>
            </a:r>
            <a:endParaRPr lang="en-US" sz="13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ppt_y+0.1"/>
                                          </p:val>
                                        </p:tav>
                                        <p:tav tm="100000">
                                          <p:val>
                                            <p:strVal val="#ppt_y"/>
                                          </p:val>
                                        </p:tav>
                                      </p:tavLst>
                                    </p:anim>
                                    <p:animEffect transition="in" filter="fade">
                                      <p:cBhvr>
                                        <p:cTn id="9" dur="500"/>
                                        <p:tgtEl>
                                          <p:spTgt spid="4"/>
                                        </p:tgtEl>
                                      </p:cBhvr>
                                    </p:animEffect>
                                  </p:childTnLst>
                                </p:cTn>
                              </p:par>
                              <p:par>
                                <p:cTn id="10" presetID="2" presetClass="entr" presetSubtype="4"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ppt_y+0.1"/>
                                          </p:val>
                                        </p:tav>
                                        <p:tav tm="100000">
                                          <p:val>
                                            <p:strVal val="#ppt_y"/>
                                          </p:val>
                                        </p:tav>
                                      </p:tavLst>
                                    </p:anim>
                                    <p:animEffect transition="in" filter="fade">
                                      <p:cBhvr>
                                        <p:cTn id="14" dur="500"/>
                                        <p:tgtEl>
                                          <p:spTgt spid="5"/>
                                        </p:tgtEl>
                                      </p:cBhvr>
                                    </p:animEffect>
                                  </p:childTnLst>
                                </p:cTn>
                              </p:par>
                              <p:par>
                                <p:cTn id="15" presetID="2" presetClass="entr" presetSubtype="4"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ppt_y+0.1"/>
                                          </p:val>
                                        </p:tav>
                                        <p:tav tm="100000">
                                          <p:val>
                                            <p:strVal val="#ppt_y"/>
                                          </p:val>
                                        </p:tav>
                                      </p:tavLst>
                                    </p:anim>
                                    <p:animEffect transition="in" filter="fade">
                                      <p:cBhvr>
                                        <p:cTn id="19" dur="500"/>
                                        <p:tgtEl>
                                          <p:spTgt spid="6"/>
                                        </p:tgtEl>
                                      </p:cBhvr>
                                    </p:animEffect>
                                  </p:childTnLst>
                                </p:cTn>
                              </p:par>
                              <p:par>
                                <p:cTn id="20" presetID="2" presetClass="entr" presetSubtype="4"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ppt_y+0.1"/>
                                          </p:val>
                                        </p:tav>
                                        <p:tav tm="100000">
                                          <p:val>
                                            <p:strVal val="#ppt_y"/>
                                          </p:val>
                                        </p:tav>
                                      </p:tavLst>
                                    </p:anim>
                                    <p:animEffect transition="in" filter="fade">
                                      <p:cBhvr>
                                        <p:cTn id="24" dur="500"/>
                                        <p:tgtEl>
                                          <p:spTgt spid="7"/>
                                        </p:tgtEl>
                                      </p:cBhvr>
                                    </p:animEffect>
                                  </p:childTnLst>
                                </p:cTn>
                              </p:par>
                              <p:par>
                                <p:cTn id="25" presetID="2" presetClass="entr" presetSubtype="4"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ppt_y+0.1"/>
                                          </p:val>
                                        </p:tav>
                                        <p:tav tm="100000">
                                          <p:val>
                                            <p:strVal val="#ppt_y"/>
                                          </p:val>
                                        </p:tav>
                                      </p:tavLst>
                                    </p:anim>
                                    <p:animEffect transition="in" filter="fade">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500" fill="hold"/>
                                        <p:tgtEl>
                                          <p:spTgt spid="9"/>
                                        </p:tgtEl>
                                        <p:attrNameLst>
                                          <p:attrName>ppt_x</p:attrName>
                                        </p:attrNameLst>
                                      </p:cBhvr>
                                      <p:tavLst>
                                        <p:tav tm="0">
                                          <p:val>
                                            <p:strVal val="#ppt_x"/>
                                          </p:val>
                                        </p:tav>
                                        <p:tav tm="100000">
                                          <p:val>
                                            <p:strVal val="#ppt_x"/>
                                          </p:val>
                                        </p:tav>
                                      </p:tavLst>
                                    </p:anim>
                                    <p:anim calcmode="lin" valueType="num">
                                      <p:cBhvr additive="base">
                                        <p:cTn id="35" dur="500" fill="hold"/>
                                        <p:tgtEl>
                                          <p:spTgt spid="9"/>
                                        </p:tgtEl>
                                        <p:attrNameLst>
                                          <p:attrName>ppt_y</p:attrName>
                                        </p:attrNameLst>
                                      </p:cBhvr>
                                      <p:tavLst>
                                        <p:tav tm="0">
                                          <p:val>
                                            <p:strVal val="#ppt_y+0.1"/>
                                          </p:val>
                                        </p:tav>
                                        <p:tav tm="100000">
                                          <p:val>
                                            <p:strVal val="#ppt_y"/>
                                          </p:val>
                                        </p:tav>
                                      </p:tavLst>
                                    </p:anim>
                                    <p:animEffect transition="in" filter="fade">
                                      <p:cBhvr>
                                        <p:cTn id="36" dur="500"/>
                                        <p:tgtEl>
                                          <p:spTgt spid="9"/>
                                        </p:tgtEl>
                                      </p:cBhvr>
                                    </p:animEffect>
                                  </p:childTnLst>
                                </p:cTn>
                              </p:par>
                              <p:par>
                                <p:cTn id="37" presetID="2" presetClass="entr" presetSubtype="4"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500" fill="hold"/>
                                        <p:tgtEl>
                                          <p:spTgt spid="10"/>
                                        </p:tgtEl>
                                        <p:attrNameLst>
                                          <p:attrName>ppt_x</p:attrName>
                                        </p:attrNameLst>
                                      </p:cBhvr>
                                      <p:tavLst>
                                        <p:tav tm="0">
                                          <p:val>
                                            <p:strVal val="#ppt_x"/>
                                          </p:val>
                                        </p:tav>
                                        <p:tav tm="100000">
                                          <p:val>
                                            <p:strVal val="#ppt_x"/>
                                          </p:val>
                                        </p:tav>
                                      </p:tavLst>
                                    </p:anim>
                                    <p:anim calcmode="lin" valueType="num">
                                      <p:cBhvr additive="base">
                                        <p:cTn id="40" dur="500" fill="hold"/>
                                        <p:tgtEl>
                                          <p:spTgt spid="10"/>
                                        </p:tgtEl>
                                        <p:attrNameLst>
                                          <p:attrName>ppt_y</p:attrName>
                                        </p:attrNameLst>
                                      </p:cBhvr>
                                      <p:tavLst>
                                        <p:tav tm="0">
                                          <p:val>
                                            <p:strVal val="#ppt_y+0.1"/>
                                          </p:val>
                                        </p:tav>
                                        <p:tav tm="100000">
                                          <p:val>
                                            <p:strVal val="#ppt_y"/>
                                          </p:val>
                                        </p:tav>
                                      </p:tavLst>
                                    </p:anim>
                                    <p:animEffect transition="in" filter="fade">
                                      <p:cBhvr>
                                        <p:cTn id="41" dur="500"/>
                                        <p:tgtEl>
                                          <p:spTgt spid="10"/>
                                        </p:tgtEl>
                                      </p:cBhvr>
                                    </p:animEffect>
                                  </p:childTnLst>
                                </p:cTn>
                              </p:par>
                              <p:par>
                                <p:cTn id="42" presetID="2" presetClass="entr" presetSubtype="4"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additive="base">
                                        <p:cTn id="44" dur="500" fill="hold"/>
                                        <p:tgtEl>
                                          <p:spTgt spid="11"/>
                                        </p:tgtEl>
                                        <p:attrNameLst>
                                          <p:attrName>ppt_x</p:attrName>
                                        </p:attrNameLst>
                                      </p:cBhvr>
                                      <p:tavLst>
                                        <p:tav tm="0">
                                          <p:val>
                                            <p:strVal val="#ppt_x"/>
                                          </p:val>
                                        </p:tav>
                                        <p:tav tm="100000">
                                          <p:val>
                                            <p:strVal val="#ppt_x"/>
                                          </p:val>
                                        </p:tav>
                                      </p:tavLst>
                                    </p:anim>
                                    <p:anim calcmode="lin" valueType="num">
                                      <p:cBhvr additive="base">
                                        <p:cTn id="45" dur="500" fill="hold"/>
                                        <p:tgtEl>
                                          <p:spTgt spid="11"/>
                                        </p:tgtEl>
                                        <p:attrNameLst>
                                          <p:attrName>ppt_y</p:attrName>
                                        </p:attrNameLst>
                                      </p:cBhvr>
                                      <p:tavLst>
                                        <p:tav tm="0">
                                          <p:val>
                                            <p:strVal val="#ppt_y+0.1"/>
                                          </p:val>
                                        </p:tav>
                                        <p:tav tm="100000">
                                          <p:val>
                                            <p:strVal val="#ppt_y"/>
                                          </p:val>
                                        </p:tav>
                                      </p:tavLst>
                                    </p:anim>
                                    <p:animEffect transition="in" filter="fade">
                                      <p:cBhvr>
                                        <p:cTn id="46" dur="500"/>
                                        <p:tgtEl>
                                          <p:spTgt spid="11"/>
                                        </p:tgtEl>
                                      </p:cBhvr>
                                    </p:animEffect>
                                  </p:childTnLst>
                                </p:cTn>
                              </p:par>
                              <p:par>
                                <p:cTn id="47" presetID="2" presetClass="entr" presetSubtype="4"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additive="base">
                                        <p:cTn id="49" dur="500" fill="hold"/>
                                        <p:tgtEl>
                                          <p:spTgt spid="12"/>
                                        </p:tgtEl>
                                        <p:attrNameLst>
                                          <p:attrName>ppt_x</p:attrName>
                                        </p:attrNameLst>
                                      </p:cBhvr>
                                      <p:tavLst>
                                        <p:tav tm="0">
                                          <p:val>
                                            <p:strVal val="#ppt_x"/>
                                          </p:val>
                                        </p:tav>
                                        <p:tav tm="100000">
                                          <p:val>
                                            <p:strVal val="#ppt_x"/>
                                          </p:val>
                                        </p:tav>
                                      </p:tavLst>
                                    </p:anim>
                                    <p:anim calcmode="lin" valueType="num">
                                      <p:cBhvr additive="base">
                                        <p:cTn id="50" dur="500" fill="hold"/>
                                        <p:tgtEl>
                                          <p:spTgt spid="12"/>
                                        </p:tgtEl>
                                        <p:attrNameLst>
                                          <p:attrName>ppt_y</p:attrName>
                                        </p:attrNameLst>
                                      </p:cBhvr>
                                      <p:tavLst>
                                        <p:tav tm="0">
                                          <p:val>
                                            <p:strVal val="#ppt_y+0.1"/>
                                          </p:val>
                                        </p:tav>
                                        <p:tav tm="100000">
                                          <p:val>
                                            <p:strVal val="#ppt_y"/>
                                          </p:val>
                                        </p:tav>
                                      </p:tavLst>
                                    </p:anim>
                                    <p:animEffect transition="in" filter="fade">
                                      <p:cBhvr>
                                        <p:cTn id="51" dur="500"/>
                                        <p:tgtEl>
                                          <p:spTgt spid="12"/>
                                        </p:tgtEl>
                                      </p:cBhvr>
                                    </p:animEffect>
                                  </p:childTnLst>
                                </p:cTn>
                              </p:par>
                              <p:par>
                                <p:cTn id="52" presetID="2" presetClass="entr" presetSubtype="4" fill="hold" grpId="0" nodeType="withEffect">
                                  <p:stCondLst>
                                    <p:cond delay="0"/>
                                  </p:stCondLst>
                                  <p:childTnLst>
                                    <p:set>
                                      <p:cBhvr>
                                        <p:cTn id="53" dur="1" fill="hold">
                                          <p:stCondLst>
                                            <p:cond delay="0"/>
                                          </p:stCondLst>
                                        </p:cTn>
                                        <p:tgtEl>
                                          <p:spTgt spid="13"/>
                                        </p:tgtEl>
                                        <p:attrNameLst>
                                          <p:attrName>style.visibility</p:attrName>
                                        </p:attrNameLst>
                                      </p:cBhvr>
                                      <p:to>
                                        <p:strVal val="visible"/>
                                      </p:to>
                                    </p:set>
                                    <p:anim calcmode="lin" valueType="num">
                                      <p:cBhvr additive="base">
                                        <p:cTn id="54" dur="500" fill="hold"/>
                                        <p:tgtEl>
                                          <p:spTgt spid="13"/>
                                        </p:tgtEl>
                                        <p:attrNameLst>
                                          <p:attrName>ppt_x</p:attrName>
                                        </p:attrNameLst>
                                      </p:cBhvr>
                                      <p:tavLst>
                                        <p:tav tm="0">
                                          <p:val>
                                            <p:strVal val="#ppt_x"/>
                                          </p:val>
                                        </p:tav>
                                        <p:tav tm="100000">
                                          <p:val>
                                            <p:strVal val="#ppt_x"/>
                                          </p:val>
                                        </p:tav>
                                      </p:tavLst>
                                    </p:anim>
                                    <p:anim calcmode="lin" valueType="num">
                                      <p:cBhvr additive="base">
                                        <p:cTn id="55" dur="500" fill="hold"/>
                                        <p:tgtEl>
                                          <p:spTgt spid="13"/>
                                        </p:tgtEl>
                                        <p:attrNameLst>
                                          <p:attrName>ppt_y</p:attrName>
                                        </p:attrNameLst>
                                      </p:cBhvr>
                                      <p:tavLst>
                                        <p:tav tm="0">
                                          <p:val>
                                            <p:strVal val="#ppt_y+0.1"/>
                                          </p:val>
                                        </p:tav>
                                        <p:tav tm="100000">
                                          <p:val>
                                            <p:strVal val="#ppt_y"/>
                                          </p:val>
                                        </p:tav>
                                      </p:tavLst>
                                    </p:anim>
                                    <p:animEffect transition="in" filter="fade">
                                      <p:cBhvr>
                                        <p:cTn id="56" dur="500"/>
                                        <p:tgtEl>
                                          <p:spTgt spid="13"/>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4"/>
                                        </p:tgtEl>
                                        <p:attrNameLst>
                                          <p:attrName>style.visibility</p:attrName>
                                        </p:attrNameLst>
                                      </p:cBhvr>
                                      <p:to>
                                        <p:strVal val="visible"/>
                                      </p:to>
                                    </p:set>
                                    <p:anim calcmode="lin" valueType="num">
                                      <p:cBhvr additive="base">
                                        <p:cTn id="61" dur="500" fill="hold"/>
                                        <p:tgtEl>
                                          <p:spTgt spid="14"/>
                                        </p:tgtEl>
                                        <p:attrNameLst>
                                          <p:attrName>ppt_x</p:attrName>
                                        </p:attrNameLst>
                                      </p:cBhvr>
                                      <p:tavLst>
                                        <p:tav tm="0">
                                          <p:val>
                                            <p:strVal val="#ppt_x"/>
                                          </p:val>
                                        </p:tav>
                                        <p:tav tm="100000">
                                          <p:val>
                                            <p:strVal val="#ppt_x"/>
                                          </p:val>
                                        </p:tav>
                                      </p:tavLst>
                                    </p:anim>
                                    <p:anim calcmode="lin" valueType="num">
                                      <p:cBhvr additive="base">
                                        <p:cTn id="62" dur="500" fill="hold"/>
                                        <p:tgtEl>
                                          <p:spTgt spid="14"/>
                                        </p:tgtEl>
                                        <p:attrNameLst>
                                          <p:attrName>ppt_y</p:attrName>
                                        </p:attrNameLst>
                                      </p:cBhvr>
                                      <p:tavLst>
                                        <p:tav tm="0">
                                          <p:val>
                                            <p:strVal val="#ppt_y+0.1"/>
                                          </p:val>
                                        </p:tav>
                                        <p:tav tm="100000">
                                          <p:val>
                                            <p:strVal val="#ppt_y"/>
                                          </p:val>
                                        </p:tav>
                                      </p:tavLst>
                                    </p:anim>
                                    <p:animEffect transition="in" filter="fade">
                                      <p:cBhvr>
                                        <p:cTn id="63" dur="500"/>
                                        <p:tgtEl>
                                          <p:spTgt spid="14"/>
                                        </p:tgtEl>
                                      </p:cBhvr>
                                    </p:animEffect>
                                  </p:childTnLst>
                                </p:cTn>
                              </p:par>
                              <p:par>
                                <p:cTn id="64" presetID="2" presetClass="entr" presetSubtype="4" fill="hold" grpId="0" nodeType="withEffect">
                                  <p:stCondLst>
                                    <p:cond delay="0"/>
                                  </p:stCondLst>
                                  <p:childTnLst>
                                    <p:set>
                                      <p:cBhvr>
                                        <p:cTn id="65" dur="1" fill="hold">
                                          <p:stCondLst>
                                            <p:cond delay="0"/>
                                          </p:stCondLst>
                                        </p:cTn>
                                        <p:tgtEl>
                                          <p:spTgt spid="15"/>
                                        </p:tgtEl>
                                        <p:attrNameLst>
                                          <p:attrName>style.visibility</p:attrName>
                                        </p:attrNameLst>
                                      </p:cBhvr>
                                      <p:to>
                                        <p:strVal val="visible"/>
                                      </p:to>
                                    </p:set>
                                    <p:anim calcmode="lin" valueType="num">
                                      <p:cBhvr additive="base">
                                        <p:cTn id="66" dur="500" fill="hold"/>
                                        <p:tgtEl>
                                          <p:spTgt spid="15"/>
                                        </p:tgtEl>
                                        <p:attrNameLst>
                                          <p:attrName>ppt_x</p:attrName>
                                        </p:attrNameLst>
                                      </p:cBhvr>
                                      <p:tavLst>
                                        <p:tav tm="0">
                                          <p:val>
                                            <p:strVal val="#ppt_x"/>
                                          </p:val>
                                        </p:tav>
                                        <p:tav tm="100000">
                                          <p:val>
                                            <p:strVal val="#ppt_x"/>
                                          </p:val>
                                        </p:tav>
                                      </p:tavLst>
                                    </p:anim>
                                    <p:anim calcmode="lin" valueType="num">
                                      <p:cBhvr additive="base">
                                        <p:cTn id="67" dur="500" fill="hold"/>
                                        <p:tgtEl>
                                          <p:spTgt spid="15"/>
                                        </p:tgtEl>
                                        <p:attrNameLst>
                                          <p:attrName>ppt_y</p:attrName>
                                        </p:attrNameLst>
                                      </p:cBhvr>
                                      <p:tavLst>
                                        <p:tav tm="0">
                                          <p:val>
                                            <p:strVal val="#ppt_y+0.1"/>
                                          </p:val>
                                        </p:tav>
                                        <p:tav tm="100000">
                                          <p:val>
                                            <p:strVal val="#ppt_y"/>
                                          </p:val>
                                        </p:tav>
                                      </p:tavLst>
                                    </p:anim>
                                    <p:animEffect transition="in" filter="fade">
                                      <p:cBhvr>
                                        <p:cTn id="6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a0f_h1"/>
          <p:cNvSpPr txBox="1"/>
          <p:nvPr/>
        </p:nvSpPr>
        <p:spPr>
          <a:xfrm>
            <a:off x="548640" y="411480"/>
            <a:ext cx="8046720" cy="64008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Key Takeaways · Database Design</a:t>
            </a:r>
            <a:endParaRPr lang="en-US" sz="3000" dirty="0"/>
          </a:p>
        </p:txBody>
      </p:sp>
      <p:sp>
        <p:nvSpPr>
          <p:cNvPr id="3" name="a1u_n2"/>
          <p:cNvSpPr txBox="1"/>
          <p:nvPr/>
        </p:nvSpPr>
        <p:spPr>
          <a:xfrm>
            <a:off x="548640" y="1234440"/>
            <a:ext cx="384048" cy="384048"/>
          </a:xfrm>
          <a:prstGeom prst="ellipse">
            <a:avLst/>
          </a:prstGeom>
          <a:solidFill>
            <a:srgbClr val="8B5CF6"/>
          </a:solidFill>
          <a:ln w="12700">
            <a:solidFill>
              <a:srgbClr val="8B5CF6"/>
            </a:solidFill>
            <a:prstDash val="solid"/>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a1u_t3"/>
          <p:cNvSpPr txBox="1"/>
          <p:nvPr/>
        </p:nvSpPr>
        <p:spPr>
          <a:xfrm>
            <a:off x="1097280" y="1197864"/>
            <a:ext cx="4937760" cy="457200"/>
          </a:xfrm>
          <a:prstGeom prst="rect">
            <a:avLst/>
          </a:prstGeom>
          <a:noFill/>
          <a:ln/>
        </p:spPr>
        <p:txBody>
          <a:bodyPr wrap="square" lIns="0" tIns="0" rIns="0" bIns="0" rtlCol="0" anchor="ctr"/>
          <a:lstStyle/>
          <a:p>
            <a:pPr marL="0" indent="0">
              <a:buNone/>
            </a:pPr>
            <a:r>
              <a:rPr lang="en-US" sz="1250" dirty="0">
                <a:solidFill>
                  <a:srgbClr val="E2E8F0"/>
                </a:solidFill>
                <a:latin typeface="Calibri" pitchFamily="34" charset="0"/>
                <a:ea typeface="Calibri" pitchFamily="34" charset="-122"/>
                <a:cs typeface="Calibri" pitchFamily="34" charset="-120"/>
              </a:rPr>
              <a:t>Primary key = the stable candidate key you choose. Prefer a surrogate, keep the natural key UNIQUE.</a:t>
            </a:r>
            <a:endParaRPr lang="en-US" sz="1250" dirty="0"/>
          </a:p>
        </p:txBody>
      </p:sp>
      <p:sp>
        <p:nvSpPr>
          <p:cNvPr id="5" name="a2u_n4"/>
          <p:cNvSpPr txBox="1"/>
          <p:nvPr/>
        </p:nvSpPr>
        <p:spPr>
          <a:xfrm>
            <a:off x="548640" y="1801368"/>
            <a:ext cx="384048" cy="384048"/>
          </a:xfrm>
          <a:prstGeom prst="ellipse">
            <a:avLst/>
          </a:prstGeom>
          <a:solidFill>
            <a:srgbClr val="8B5CF6"/>
          </a:solidFill>
          <a:ln w="12700">
            <a:solidFill>
              <a:srgbClr val="8B5CF6"/>
            </a:solidFill>
            <a:prstDash val="solid"/>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6" name="a2u_t5"/>
          <p:cNvSpPr txBox="1"/>
          <p:nvPr/>
        </p:nvSpPr>
        <p:spPr>
          <a:xfrm>
            <a:off x="1097280" y="1764792"/>
            <a:ext cx="4937760" cy="457200"/>
          </a:xfrm>
          <a:prstGeom prst="rect">
            <a:avLst/>
          </a:prstGeom>
          <a:noFill/>
          <a:ln/>
        </p:spPr>
        <p:txBody>
          <a:bodyPr wrap="square" lIns="0" tIns="0" rIns="0" bIns="0" rtlCol="0" anchor="ctr"/>
          <a:lstStyle/>
          <a:p>
            <a:pPr marL="0" indent="0">
              <a:buNone/>
            </a:pPr>
            <a:r>
              <a:rPr lang="en-US" sz="1250" dirty="0">
                <a:solidFill>
                  <a:srgbClr val="E2E8F0"/>
                </a:solidFill>
                <a:latin typeface="Calibri" pitchFamily="34" charset="0"/>
                <a:ea typeface="Calibri" pitchFamily="34" charset="-122"/>
                <a:cs typeface="Calibri" pitchFamily="34" charset="-120"/>
              </a:rPr>
              <a:t>Every FK needs a deliberate rule: RESTRICT for financial records, CASCADE only for owned children.</a:t>
            </a:r>
            <a:endParaRPr lang="en-US" sz="1250" dirty="0"/>
          </a:p>
        </p:txBody>
      </p:sp>
      <p:sp>
        <p:nvSpPr>
          <p:cNvPr id="7" name="a3u_n6"/>
          <p:cNvSpPr txBox="1"/>
          <p:nvPr/>
        </p:nvSpPr>
        <p:spPr>
          <a:xfrm>
            <a:off x="548640" y="2368296"/>
            <a:ext cx="384048" cy="384048"/>
          </a:xfrm>
          <a:prstGeom prst="ellipse">
            <a:avLst/>
          </a:prstGeom>
          <a:solidFill>
            <a:srgbClr val="8B5CF6"/>
          </a:solidFill>
          <a:ln w="12700">
            <a:solidFill>
              <a:srgbClr val="8B5CF6"/>
            </a:solidFill>
            <a:prstDash val="solid"/>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8" name="a3u_t7"/>
          <p:cNvSpPr txBox="1"/>
          <p:nvPr/>
        </p:nvSpPr>
        <p:spPr>
          <a:xfrm>
            <a:off x="1097280" y="2331720"/>
            <a:ext cx="4937760" cy="457200"/>
          </a:xfrm>
          <a:prstGeom prst="rect">
            <a:avLst/>
          </a:prstGeom>
          <a:noFill/>
          <a:ln/>
        </p:spPr>
        <p:txBody>
          <a:bodyPr wrap="square" lIns="0" tIns="0" rIns="0" bIns="0" rtlCol="0" anchor="ctr"/>
          <a:lstStyle/>
          <a:p>
            <a:pPr marL="0" indent="0">
              <a:buNone/>
            </a:pPr>
            <a:r>
              <a:rPr lang="en-US" sz="1250" dirty="0">
                <a:solidFill>
                  <a:srgbClr val="E2E8F0"/>
                </a:solidFill>
                <a:latin typeface="Calibri" pitchFamily="34" charset="0"/>
                <a:ea typeface="Calibri" pitchFamily="34" charset="-122"/>
                <a:cs typeface="Calibri" pitchFamily="34" charset="-120"/>
              </a:rPr>
              <a:t>Draw the ER model first — crow's foot optionality decides NULL vs NOT NULL.</a:t>
            </a:r>
            <a:endParaRPr lang="en-US" sz="1250" dirty="0"/>
          </a:p>
        </p:txBody>
      </p:sp>
      <p:sp>
        <p:nvSpPr>
          <p:cNvPr id="9" name="a4u_n8"/>
          <p:cNvSpPr txBox="1"/>
          <p:nvPr/>
        </p:nvSpPr>
        <p:spPr>
          <a:xfrm>
            <a:off x="548640" y="2935224"/>
            <a:ext cx="384048" cy="384048"/>
          </a:xfrm>
          <a:prstGeom prst="ellipse">
            <a:avLst/>
          </a:prstGeom>
          <a:solidFill>
            <a:srgbClr val="8B5CF6"/>
          </a:solidFill>
          <a:ln w="12700">
            <a:solidFill>
              <a:srgbClr val="8B5CF6"/>
            </a:solidFill>
            <a:prstDash val="solid"/>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0" name="a4u_t9"/>
          <p:cNvSpPr txBox="1"/>
          <p:nvPr/>
        </p:nvSpPr>
        <p:spPr>
          <a:xfrm>
            <a:off x="1097280" y="2898648"/>
            <a:ext cx="4937760" cy="457200"/>
          </a:xfrm>
          <a:prstGeom prst="rect">
            <a:avLst/>
          </a:prstGeom>
          <a:noFill/>
          <a:ln/>
        </p:spPr>
        <p:txBody>
          <a:bodyPr wrap="square" lIns="0" tIns="0" rIns="0" bIns="0" rtlCol="0" anchor="ctr"/>
          <a:lstStyle/>
          <a:p>
            <a:pPr marL="0" indent="0">
              <a:buNone/>
            </a:pPr>
            <a:r>
              <a:rPr lang="en-US" sz="1250" dirty="0">
                <a:solidFill>
                  <a:srgbClr val="E2E8F0"/>
                </a:solidFill>
                <a:latin typeface="Calibri" pitchFamily="34" charset="0"/>
                <a:ea typeface="Calibri" pitchFamily="34" charset="-122"/>
                <a:cs typeface="Calibri" pitchFamily="34" charset="-120"/>
              </a:rPr>
              <a:t>Many-to-many always becomes a junction table with a composite primary key.</a:t>
            </a:r>
            <a:endParaRPr lang="en-US" sz="1250" dirty="0"/>
          </a:p>
        </p:txBody>
      </p:sp>
      <p:sp>
        <p:nvSpPr>
          <p:cNvPr id="11" name="a5u_n10"/>
          <p:cNvSpPr txBox="1"/>
          <p:nvPr/>
        </p:nvSpPr>
        <p:spPr>
          <a:xfrm>
            <a:off x="548640" y="3502152"/>
            <a:ext cx="384048" cy="384048"/>
          </a:xfrm>
          <a:prstGeom prst="ellipse">
            <a:avLst/>
          </a:prstGeom>
          <a:solidFill>
            <a:srgbClr val="8B5CF6"/>
          </a:solidFill>
          <a:ln w="12700">
            <a:solidFill>
              <a:srgbClr val="8B5CF6"/>
            </a:solidFill>
            <a:prstDash val="solid"/>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2" name="a5u_t11"/>
          <p:cNvSpPr txBox="1"/>
          <p:nvPr/>
        </p:nvSpPr>
        <p:spPr>
          <a:xfrm>
            <a:off x="1097280" y="3465576"/>
            <a:ext cx="4937760" cy="457200"/>
          </a:xfrm>
          <a:prstGeom prst="rect">
            <a:avLst/>
          </a:prstGeom>
          <a:noFill/>
          <a:ln/>
        </p:spPr>
        <p:txBody>
          <a:bodyPr wrap="square" lIns="0" tIns="0" rIns="0" bIns="0" rtlCol="0" anchor="ctr"/>
          <a:lstStyle/>
          <a:p>
            <a:pPr marL="0" indent="0">
              <a:buNone/>
            </a:pPr>
            <a:r>
              <a:rPr lang="en-US" sz="1250" dirty="0">
                <a:solidFill>
                  <a:srgbClr val="E2E8F0"/>
                </a:solidFill>
                <a:latin typeface="Calibri" pitchFamily="34" charset="0"/>
                <a:ea typeface="Calibri" pitchFamily="34" charset="-122"/>
                <a:cs typeface="Calibri" pitchFamily="34" charset="-120"/>
              </a:rPr>
              <a:t>The key (1NF), the whole key (2NF), nothing but the key (3NF) — BCNF when keys overlap.</a:t>
            </a:r>
            <a:endParaRPr lang="en-US" sz="1250" dirty="0"/>
          </a:p>
        </p:txBody>
      </p:sp>
      <p:sp>
        <p:nvSpPr>
          <p:cNvPr id="13" name="a6u_n12"/>
          <p:cNvSpPr txBox="1"/>
          <p:nvPr/>
        </p:nvSpPr>
        <p:spPr>
          <a:xfrm>
            <a:off x="548640" y="4069080"/>
            <a:ext cx="384048" cy="384048"/>
          </a:xfrm>
          <a:prstGeom prst="ellipse">
            <a:avLst/>
          </a:prstGeom>
          <a:solidFill>
            <a:srgbClr val="8B5CF6"/>
          </a:solidFill>
          <a:ln w="12700">
            <a:solidFill>
              <a:srgbClr val="8B5CF6"/>
            </a:solidFill>
            <a:prstDash val="solid"/>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14" name="a6u_t13"/>
          <p:cNvSpPr txBox="1"/>
          <p:nvPr/>
        </p:nvSpPr>
        <p:spPr>
          <a:xfrm>
            <a:off x="1097280" y="4032504"/>
            <a:ext cx="4937760" cy="457200"/>
          </a:xfrm>
          <a:prstGeom prst="rect">
            <a:avLst/>
          </a:prstGeom>
          <a:noFill/>
          <a:ln/>
        </p:spPr>
        <p:txBody>
          <a:bodyPr wrap="square" lIns="0" tIns="0" rIns="0" bIns="0" rtlCol="0" anchor="ctr"/>
          <a:lstStyle/>
          <a:p>
            <a:pPr marL="0" indent="0">
              <a:buNone/>
            </a:pPr>
            <a:r>
              <a:rPr lang="en-US" sz="1250" dirty="0">
                <a:solidFill>
                  <a:srgbClr val="E2E8F0"/>
                </a:solidFill>
                <a:latin typeface="Calibri" pitchFamily="34" charset="0"/>
                <a:ea typeface="Calibri" pitchFamily="34" charset="-122"/>
                <a:cs typeface="Calibri" pitchFamily="34" charset="-120"/>
              </a:rPr>
              <a:t>Denormalize only with a named query, a measurement and a reconciliation.</a:t>
            </a:r>
            <a:endParaRPr lang="en-US" sz="1250" dirty="0"/>
          </a:p>
        </p:txBody>
      </p:sp>
      <p:sp>
        <p:nvSpPr>
          <p:cNvPr id="15" name="a0fd300_v14"/>
          <p:cNvSpPr txBox="1"/>
          <p:nvPr/>
        </p:nvSpPr>
        <p:spPr>
          <a:xfrm>
            <a:off x="6421240" y="2147226"/>
            <a:ext cx="475488" cy="419548"/>
          </a:xfrm>
          <a:prstGeom prst="rect">
            <a:avLst/>
          </a:prstGeom>
          <a:solidFill>
            <a:srgbClr val="475569"/>
          </a:solidFill>
          <a:ln>
            <a:noFill/>
          </a:ln>
        </p:spPr>
        <p:txBody>
          <a:bodyPr wrap="square" lIns="0" tIns="0" rIns="0" bIns="0" rtlCol="0" anchor="ctr"/>
          <a:lstStyle/>
          <a:p>
            <a:pPr marL="0" indent="0" algn="ctr">
              <a:buNone/>
            </a:pPr>
            <a:r>
              <a:rPr lang="en-US" sz="1682" b="1" dirty="0">
                <a:solidFill>
                  <a:srgbClr val="FFFFFF"/>
                </a:solidFill>
                <a:latin typeface="Calibri" pitchFamily="34" charset="0"/>
                <a:ea typeface="Calibri" pitchFamily="34" charset="-122"/>
                <a:cs typeface="Calibri" pitchFamily="34" charset="-120"/>
              </a:rPr>
              <a:t>1</a:t>
            </a:r>
            <a:endParaRPr lang="en-US" sz="1682" dirty="0"/>
          </a:p>
        </p:txBody>
      </p:sp>
      <p:sp>
        <p:nvSpPr>
          <p:cNvPr id="16" name="a0fd300_v15"/>
          <p:cNvSpPr txBox="1"/>
          <p:nvPr/>
        </p:nvSpPr>
        <p:spPr>
          <a:xfrm>
            <a:off x="6980637" y="1937452"/>
            <a:ext cx="475488" cy="629322"/>
          </a:xfrm>
          <a:prstGeom prst="rect">
            <a:avLst/>
          </a:prstGeom>
          <a:solidFill>
            <a:srgbClr val="14B8A6"/>
          </a:solidFill>
          <a:ln>
            <a:noFill/>
          </a:ln>
        </p:spPr>
        <p:txBody>
          <a:bodyPr wrap="square" lIns="0" tIns="0" rIns="0" bIns="0" rtlCol="0" anchor="ctr"/>
          <a:lstStyle/>
          <a:p>
            <a:pPr marL="0" indent="0" algn="ctr">
              <a:buNone/>
            </a:pPr>
            <a:r>
              <a:rPr lang="en-US" sz="1682" b="1" dirty="0">
                <a:solidFill>
                  <a:srgbClr val="FFFFFF"/>
                </a:solidFill>
                <a:latin typeface="Calibri" pitchFamily="34" charset="0"/>
                <a:ea typeface="Calibri" pitchFamily="34" charset="-122"/>
                <a:cs typeface="Calibri" pitchFamily="34" charset="-120"/>
              </a:rPr>
              <a:t>2</a:t>
            </a:r>
            <a:endParaRPr lang="en-US" sz="1682" dirty="0"/>
          </a:p>
        </p:txBody>
      </p:sp>
      <p:sp>
        <p:nvSpPr>
          <p:cNvPr id="17" name="a0fd300_v16"/>
          <p:cNvSpPr txBox="1"/>
          <p:nvPr/>
        </p:nvSpPr>
        <p:spPr>
          <a:xfrm>
            <a:off x="7540035" y="1727678"/>
            <a:ext cx="475488" cy="839096"/>
          </a:xfrm>
          <a:prstGeom prst="rect">
            <a:avLst/>
          </a:prstGeom>
          <a:solidFill>
            <a:srgbClr val="A78BFA"/>
          </a:solidFill>
          <a:ln>
            <a:noFill/>
          </a:ln>
        </p:spPr>
        <p:txBody>
          <a:bodyPr wrap="square" lIns="0" tIns="0" rIns="0" bIns="0" rtlCol="0" anchor="ctr"/>
          <a:lstStyle/>
          <a:p>
            <a:pPr marL="0" indent="0" algn="ctr">
              <a:buNone/>
            </a:pPr>
            <a:r>
              <a:rPr lang="en-US" sz="1682" b="1" dirty="0">
                <a:solidFill>
                  <a:srgbClr val="FFFFFF"/>
                </a:solidFill>
                <a:latin typeface="Calibri" pitchFamily="34" charset="0"/>
                <a:ea typeface="Calibri" pitchFamily="34" charset="-122"/>
                <a:cs typeface="Calibri" pitchFamily="34" charset="-120"/>
              </a:rPr>
              <a:t>3</a:t>
            </a:r>
            <a:endParaRPr lang="en-US" sz="1682" dirty="0"/>
          </a:p>
        </p:txBody>
      </p:sp>
      <p:sp>
        <p:nvSpPr>
          <p:cNvPr id="18" name="a0fd300_v17"/>
          <p:cNvSpPr txBox="1"/>
          <p:nvPr/>
        </p:nvSpPr>
        <p:spPr>
          <a:xfrm>
            <a:off x="8099432" y="1475949"/>
            <a:ext cx="475488" cy="1090825"/>
          </a:xfrm>
          <a:prstGeom prst="rect">
            <a:avLst/>
          </a:prstGeom>
          <a:solidFill>
            <a:srgbClr val="8B5CF6"/>
          </a:solidFill>
          <a:ln>
            <a:noFill/>
          </a:ln>
        </p:spPr>
        <p:txBody>
          <a:bodyPr wrap="square" lIns="0" tIns="0" rIns="0" bIns="0" rtlCol="0" anchor="ctr"/>
          <a:lstStyle/>
          <a:p>
            <a:pPr marL="0" indent="0" algn="ctr">
              <a:buNone/>
            </a:pPr>
            <a:r>
              <a:rPr lang="en-US" sz="1682" b="1" dirty="0">
                <a:solidFill>
                  <a:srgbClr val="FFFFFF"/>
                </a:solidFill>
                <a:latin typeface="Calibri" pitchFamily="34" charset="0"/>
                <a:ea typeface="Calibri" pitchFamily="34" charset="-122"/>
                <a:cs typeface="Calibri" pitchFamily="34" charset="-120"/>
              </a:rPr>
              <a:t>BC</a:t>
            </a:r>
            <a:endParaRPr lang="en-US" sz="1682" dirty="0"/>
          </a:p>
        </p:txBody>
      </p:sp>
      <p:sp>
        <p:nvSpPr>
          <p:cNvPr id="19" name="a7u_next18"/>
          <p:cNvSpPr txBox="1"/>
          <p:nvPr/>
        </p:nvSpPr>
        <p:spPr>
          <a:xfrm>
            <a:off x="6217920" y="3108960"/>
            <a:ext cx="2468880" cy="914400"/>
          </a:xfrm>
          <a:prstGeom prst="roundRect">
            <a:avLst>
              <a:gd name="adj" fmla="val 8000"/>
            </a:avLst>
          </a:prstGeom>
          <a:solidFill>
            <a:srgbClr val="1E293B"/>
          </a:solidFill>
          <a:ln w="12700">
            <a:solidFill>
              <a:srgbClr val="334155"/>
            </a:solidFill>
            <a:prstDash val="solid"/>
          </a:ln>
        </p:spPr>
        <p:txBody>
          <a:bodyPr wrap="square" lIns="182880" tIns="91440" rIns="182880" bIns="91440" rtlCol="0" anchor="ctr"/>
          <a:lstStyle/>
          <a:p>
            <a:pPr marL="0" indent="0">
              <a:buNone/>
            </a:pPr>
            <a:r>
              <a:rPr lang="en-US" sz="1300" b="1" dirty="0">
                <a:solidFill>
                  <a:srgbClr val="A78BFA"/>
                </a:solidFill>
                <a:latin typeface="Calibri" pitchFamily="34" charset="0"/>
                <a:ea typeface="Calibri" pitchFamily="34" charset="-122"/>
                <a:cs typeface="Calibri" pitchFamily="34" charset="-120"/>
              </a:rPr>
              <a:t>Up next  </a:t>
            </a:r>
            <a:r>
              <a:rPr lang="en-US" sz="1300" dirty="0">
                <a:solidFill>
                  <a:srgbClr val="E2E8F0"/>
                </a:solidFill>
                <a:latin typeface="Calibri" pitchFamily="34" charset="0"/>
                <a:ea typeface="Calibri" pitchFamily="34" charset="-122"/>
                <a:cs typeface="Calibri" pitchFamily="34" charset="-120"/>
              </a:rPr>
              <a:t>Module 5 — making the joins of a normalized schema fast</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30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30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grpId="0" nodeType="withEffect">
                                  <p:stCondLst>
                                    <p:cond delay="30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par>
                                <p:cTn id="17" presetID="10" presetClass="entr" presetSubtype="0" fill="hold" grpId="0" nodeType="withEffect">
                                  <p:stCondLst>
                                    <p:cond delay="30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500" fill="hold"/>
                                        <p:tgtEl>
                                          <p:spTgt spid="3"/>
                                        </p:tgtEl>
                                        <p:attrNameLst>
                                          <p:attrName>ppt_x</p:attrName>
                                        </p:attrNameLst>
                                      </p:cBhvr>
                                      <p:tavLst>
                                        <p:tav tm="0">
                                          <p:val>
                                            <p:strVal val="#ppt_x"/>
                                          </p:val>
                                        </p:tav>
                                        <p:tav tm="100000">
                                          <p:val>
                                            <p:strVal val="#ppt_x"/>
                                          </p:val>
                                        </p:tav>
                                      </p:tavLst>
                                    </p:anim>
                                    <p:anim calcmode="lin" valueType="num">
                                      <p:cBhvr additive="base">
                                        <p:cTn id="25" dur="500" fill="hold"/>
                                        <p:tgtEl>
                                          <p:spTgt spid="3"/>
                                        </p:tgtEl>
                                        <p:attrNameLst>
                                          <p:attrName>ppt_y</p:attrName>
                                        </p:attrNameLst>
                                      </p:cBhvr>
                                      <p:tavLst>
                                        <p:tav tm="0">
                                          <p:val>
                                            <p:strVal val="#ppt_y+0.1"/>
                                          </p:val>
                                        </p:tav>
                                        <p:tav tm="100000">
                                          <p:val>
                                            <p:strVal val="#ppt_y"/>
                                          </p:val>
                                        </p:tav>
                                      </p:tavLst>
                                    </p:anim>
                                    <p:animEffect transition="in" filter="fade">
                                      <p:cBhvr>
                                        <p:cTn id="26" dur="500"/>
                                        <p:tgtEl>
                                          <p:spTgt spid="3"/>
                                        </p:tgtEl>
                                      </p:cBhvr>
                                    </p:animEffect>
                                  </p:childTnLst>
                                </p:cTn>
                              </p:par>
                              <p:par>
                                <p:cTn id="27" presetID="2" presetClass="entr" presetSubtype="4" fill="hold" grpId="0" nodeType="with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additive="base">
                                        <p:cTn id="29" dur="500" fill="hold"/>
                                        <p:tgtEl>
                                          <p:spTgt spid="4"/>
                                        </p:tgtEl>
                                        <p:attrNameLst>
                                          <p:attrName>ppt_x</p:attrName>
                                        </p:attrNameLst>
                                      </p:cBhvr>
                                      <p:tavLst>
                                        <p:tav tm="0">
                                          <p:val>
                                            <p:strVal val="#ppt_x"/>
                                          </p:val>
                                        </p:tav>
                                        <p:tav tm="100000">
                                          <p:val>
                                            <p:strVal val="#ppt_x"/>
                                          </p:val>
                                        </p:tav>
                                      </p:tavLst>
                                    </p:anim>
                                    <p:anim calcmode="lin" valueType="num">
                                      <p:cBhvr additive="base">
                                        <p:cTn id="30" dur="500" fill="hold"/>
                                        <p:tgtEl>
                                          <p:spTgt spid="4"/>
                                        </p:tgtEl>
                                        <p:attrNameLst>
                                          <p:attrName>ppt_y</p:attrName>
                                        </p:attrNameLst>
                                      </p:cBhvr>
                                      <p:tavLst>
                                        <p:tav tm="0">
                                          <p:val>
                                            <p:strVal val="#ppt_y+0.1"/>
                                          </p:val>
                                        </p:tav>
                                        <p:tav tm="100000">
                                          <p:val>
                                            <p:strVal val="#ppt_y"/>
                                          </p:val>
                                        </p:tav>
                                      </p:tavLst>
                                    </p:anim>
                                    <p:animEffect transition="in" filter="fade">
                                      <p:cBhvr>
                                        <p:cTn id="31" dur="500"/>
                                        <p:tgtEl>
                                          <p:spTgt spid="4"/>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5"/>
                                        </p:tgtEl>
                                        <p:attrNameLst>
                                          <p:attrName>style.visibility</p:attrName>
                                        </p:attrNameLst>
                                      </p:cBhvr>
                                      <p:to>
                                        <p:strVal val="visible"/>
                                      </p:to>
                                    </p:set>
                                    <p:anim calcmode="lin" valueType="num">
                                      <p:cBhvr additive="base">
                                        <p:cTn id="36" dur="500" fill="hold"/>
                                        <p:tgtEl>
                                          <p:spTgt spid="5"/>
                                        </p:tgtEl>
                                        <p:attrNameLst>
                                          <p:attrName>ppt_x</p:attrName>
                                        </p:attrNameLst>
                                      </p:cBhvr>
                                      <p:tavLst>
                                        <p:tav tm="0">
                                          <p:val>
                                            <p:strVal val="#ppt_x"/>
                                          </p:val>
                                        </p:tav>
                                        <p:tav tm="100000">
                                          <p:val>
                                            <p:strVal val="#ppt_x"/>
                                          </p:val>
                                        </p:tav>
                                      </p:tavLst>
                                    </p:anim>
                                    <p:anim calcmode="lin" valueType="num">
                                      <p:cBhvr additive="base">
                                        <p:cTn id="37" dur="500" fill="hold"/>
                                        <p:tgtEl>
                                          <p:spTgt spid="5"/>
                                        </p:tgtEl>
                                        <p:attrNameLst>
                                          <p:attrName>ppt_y</p:attrName>
                                        </p:attrNameLst>
                                      </p:cBhvr>
                                      <p:tavLst>
                                        <p:tav tm="0">
                                          <p:val>
                                            <p:strVal val="#ppt_y+0.1"/>
                                          </p:val>
                                        </p:tav>
                                        <p:tav tm="100000">
                                          <p:val>
                                            <p:strVal val="#ppt_y"/>
                                          </p:val>
                                        </p:tav>
                                      </p:tavLst>
                                    </p:anim>
                                    <p:animEffect transition="in" filter="fade">
                                      <p:cBhvr>
                                        <p:cTn id="38" dur="500"/>
                                        <p:tgtEl>
                                          <p:spTgt spid="5"/>
                                        </p:tgtEl>
                                      </p:cBhvr>
                                    </p:animEffect>
                                  </p:childTnLst>
                                </p:cTn>
                              </p:par>
                              <p:par>
                                <p:cTn id="39" presetID="2" presetClass="entr" presetSubtype="4" fill="hold" grpId="0" nodeType="withEffect">
                                  <p:stCondLst>
                                    <p:cond delay="0"/>
                                  </p:stCondLst>
                                  <p:childTnLst>
                                    <p:set>
                                      <p:cBhvr>
                                        <p:cTn id="40" dur="1" fill="hold">
                                          <p:stCondLst>
                                            <p:cond delay="0"/>
                                          </p:stCondLst>
                                        </p:cTn>
                                        <p:tgtEl>
                                          <p:spTgt spid="6"/>
                                        </p:tgtEl>
                                        <p:attrNameLst>
                                          <p:attrName>style.visibility</p:attrName>
                                        </p:attrNameLst>
                                      </p:cBhvr>
                                      <p:to>
                                        <p:strVal val="visible"/>
                                      </p:to>
                                    </p:set>
                                    <p:anim calcmode="lin" valueType="num">
                                      <p:cBhvr additive="base">
                                        <p:cTn id="41" dur="500" fill="hold"/>
                                        <p:tgtEl>
                                          <p:spTgt spid="6"/>
                                        </p:tgtEl>
                                        <p:attrNameLst>
                                          <p:attrName>ppt_x</p:attrName>
                                        </p:attrNameLst>
                                      </p:cBhvr>
                                      <p:tavLst>
                                        <p:tav tm="0">
                                          <p:val>
                                            <p:strVal val="#ppt_x"/>
                                          </p:val>
                                        </p:tav>
                                        <p:tav tm="100000">
                                          <p:val>
                                            <p:strVal val="#ppt_x"/>
                                          </p:val>
                                        </p:tav>
                                      </p:tavLst>
                                    </p:anim>
                                    <p:anim calcmode="lin" valueType="num">
                                      <p:cBhvr additive="base">
                                        <p:cTn id="42" dur="500" fill="hold"/>
                                        <p:tgtEl>
                                          <p:spTgt spid="6"/>
                                        </p:tgtEl>
                                        <p:attrNameLst>
                                          <p:attrName>ppt_y</p:attrName>
                                        </p:attrNameLst>
                                      </p:cBhvr>
                                      <p:tavLst>
                                        <p:tav tm="0">
                                          <p:val>
                                            <p:strVal val="#ppt_y+0.1"/>
                                          </p:val>
                                        </p:tav>
                                        <p:tav tm="100000">
                                          <p:val>
                                            <p:strVal val="#ppt_y"/>
                                          </p:val>
                                        </p:tav>
                                      </p:tavLst>
                                    </p:anim>
                                    <p:animEffect transition="in" filter="fade">
                                      <p:cBhvr>
                                        <p:cTn id="43" dur="500"/>
                                        <p:tgtEl>
                                          <p:spTgt spid="6"/>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7"/>
                                        </p:tgtEl>
                                        <p:attrNameLst>
                                          <p:attrName>style.visibility</p:attrName>
                                        </p:attrNameLst>
                                      </p:cBhvr>
                                      <p:to>
                                        <p:strVal val="visible"/>
                                      </p:to>
                                    </p:set>
                                    <p:anim calcmode="lin" valueType="num">
                                      <p:cBhvr additive="base">
                                        <p:cTn id="48" dur="500" fill="hold"/>
                                        <p:tgtEl>
                                          <p:spTgt spid="7"/>
                                        </p:tgtEl>
                                        <p:attrNameLst>
                                          <p:attrName>ppt_x</p:attrName>
                                        </p:attrNameLst>
                                      </p:cBhvr>
                                      <p:tavLst>
                                        <p:tav tm="0">
                                          <p:val>
                                            <p:strVal val="#ppt_x"/>
                                          </p:val>
                                        </p:tav>
                                        <p:tav tm="100000">
                                          <p:val>
                                            <p:strVal val="#ppt_x"/>
                                          </p:val>
                                        </p:tav>
                                      </p:tavLst>
                                    </p:anim>
                                    <p:anim calcmode="lin" valueType="num">
                                      <p:cBhvr additive="base">
                                        <p:cTn id="49" dur="500" fill="hold"/>
                                        <p:tgtEl>
                                          <p:spTgt spid="7"/>
                                        </p:tgtEl>
                                        <p:attrNameLst>
                                          <p:attrName>ppt_y</p:attrName>
                                        </p:attrNameLst>
                                      </p:cBhvr>
                                      <p:tavLst>
                                        <p:tav tm="0">
                                          <p:val>
                                            <p:strVal val="#ppt_y+0.1"/>
                                          </p:val>
                                        </p:tav>
                                        <p:tav tm="100000">
                                          <p:val>
                                            <p:strVal val="#ppt_y"/>
                                          </p:val>
                                        </p:tav>
                                      </p:tavLst>
                                    </p:anim>
                                    <p:animEffect transition="in" filter="fade">
                                      <p:cBhvr>
                                        <p:cTn id="50" dur="500"/>
                                        <p:tgtEl>
                                          <p:spTgt spid="7"/>
                                        </p:tgtEl>
                                      </p:cBhvr>
                                    </p:animEffect>
                                  </p:childTnLst>
                                </p:cTn>
                              </p:par>
                              <p:par>
                                <p:cTn id="51" presetID="2" presetClass="entr" presetSubtype="4" fill="hold" grpId="0" nodeType="withEffect">
                                  <p:stCondLst>
                                    <p:cond delay="0"/>
                                  </p:stCondLst>
                                  <p:childTnLst>
                                    <p:set>
                                      <p:cBhvr>
                                        <p:cTn id="52" dur="1" fill="hold">
                                          <p:stCondLst>
                                            <p:cond delay="0"/>
                                          </p:stCondLst>
                                        </p:cTn>
                                        <p:tgtEl>
                                          <p:spTgt spid="8"/>
                                        </p:tgtEl>
                                        <p:attrNameLst>
                                          <p:attrName>style.visibility</p:attrName>
                                        </p:attrNameLst>
                                      </p:cBhvr>
                                      <p:to>
                                        <p:strVal val="visible"/>
                                      </p:to>
                                    </p:set>
                                    <p:anim calcmode="lin" valueType="num">
                                      <p:cBhvr additive="base">
                                        <p:cTn id="53" dur="500" fill="hold"/>
                                        <p:tgtEl>
                                          <p:spTgt spid="8"/>
                                        </p:tgtEl>
                                        <p:attrNameLst>
                                          <p:attrName>ppt_x</p:attrName>
                                        </p:attrNameLst>
                                      </p:cBhvr>
                                      <p:tavLst>
                                        <p:tav tm="0">
                                          <p:val>
                                            <p:strVal val="#ppt_x"/>
                                          </p:val>
                                        </p:tav>
                                        <p:tav tm="100000">
                                          <p:val>
                                            <p:strVal val="#ppt_x"/>
                                          </p:val>
                                        </p:tav>
                                      </p:tavLst>
                                    </p:anim>
                                    <p:anim calcmode="lin" valueType="num">
                                      <p:cBhvr additive="base">
                                        <p:cTn id="54" dur="500" fill="hold"/>
                                        <p:tgtEl>
                                          <p:spTgt spid="8"/>
                                        </p:tgtEl>
                                        <p:attrNameLst>
                                          <p:attrName>ppt_y</p:attrName>
                                        </p:attrNameLst>
                                      </p:cBhvr>
                                      <p:tavLst>
                                        <p:tav tm="0">
                                          <p:val>
                                            <p:strVal val="#ppt_y+0.1"/>
                                          </p:val>
                                        </p:tav>
                                        <p:tav tm="100000">
                                          <p:val>
                                            <p:strVal val="#ppt_y"/>
                                          </p:val>
                                        </p:tav>
                                      </p:tavLst>
                                    </p:anim>
                                    <p:animEffect transition="in" filter="fade">
                                      <p:cBhvr>
                                        <p:cTn id="55" dur="500"/>
                                        <p:tgtEl>
                                          <p:spTgt spid="8"/>
                                        </p:tgtEl>
                                      </p:cBhvr>
                                    </p:animEffect>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9"/>
                                        </p:tgtEl>
                                        <p:attrNameLst>
                                          <p:attrName>style.visibility</p:attrName>
                                        </p:attrNameLst>
                                      </p:cBhvr>
                                      <p:to>
                                        <p:strVal val="visible"/>
                                      </p:to>
                                    </p:set>
                                    <p:anim calcmode="lin" valueType="num">
                                      <p:cBhvr additive="base">
                                        <p:cTn id="60" dur="500" fill="hold"/>
                                        <p:tgtEl>
                                          <p:spTgt spid="9"/>
                                        </p:tgtEl>
                                        <p:attrNameLst>
                                          <p:attrName>ppt_x</p:attrName>
                                        </p:attrNameLst>
                                      </p:cBhvr>
                                      <p:tavLst>
                                        <p:tav tm="0">
                                          <p:val>
                                            <p:strVal val="#ppt_x"/>
                                          </p:val>
                                        </p:tav>
                                        <p:tav tm="100000">
                                          <p:val>
                                            <p:strVal val="#ppt_x"/>
                                          </p:val>
                                        </p:tav>
                                      </p:tavLst>
                                    </p:anim>
                                    <p:anim calcmode="lin" valueType="num">
                                      <p:cBhvr additive="base">
                                        <p:cTn id="61" dur="500" fill="hold"/>
                                        <p:tgtEl>
                                          <p:spTgt spid="9"/>
                                        </p:tgtEl>
                                        <p:attrNameLst>
                                          <p:attrName>ppt_y</p:attrName>
                                        </p:attrNameLst>
                                      </p:cBhvr>
                                      <p:tavLst>
                                        <p:tav tm="0">
                                          <p:val>
                                            <p:strVal val="#ppt_y+0.1"/>
                                          </p:val>
                                        </p:tav>
                                        <p:tav tm="100000">
                                          <p:val>
                                            <p:strVal val="#ppt_y"/>
                                          </p:val>
                                        </p:tav>
                                      </p:tavLst>
                                    </p:anim>
                                    <p:animEffect transition="in" filter="fade">
                                      <p:cBhvr>
                                        <p:cTn id="62" dur="500"/>
                                        <p:tgtEl>
                                          <p:spTgt spid="9"/>
                                        </p:tgtEl>
                                      </p:cBhvr>
                                    </p:animEffect>
                                  </p:childTnLst>
                                </p:cTn>
                              </p:par>
                              <p:par>
                                <p:cTn id="63" presetID="2" presetClass="entr" presetSubtype="4" fill="hold" grpId="0" nodeType="withEffect">
                                  <p:stCondLst>
                                    <p:cond delay="0"/>
                                  </p:stCondLst>
                                  <p:childTnLst>
                                    <p:set>
                                      <p:cBhvr>
                                        <p:cTn id="64" dur="1" fill="hold">
                                          <p:stCondLst>
                                            <p:cond delay="0"/>
                                          </p:stCondLst>
                                        </p:cTn>
                                        <p:tgtEl>
                                          <p:spTgt spid="10"/>
                                        </p:tgtEl>
                                        <p:attrNameLst>
                                          <p:attrName>style.visibility</p:attrName>
                                        </p:attrNameLst>
                                      </p:cBhvr>
                                      <p:to>
                                        <p:strVal val="visible"/>
                                      </p:to>
                                    </p:set>
                                    <p:anim calcmode="lin" valueType="num">
                                      <p:cBhvr additive="base">
                                        <p:cTn id="65" dur="500" fill="hold"/>
                                        <p:tgtEl>
                                          <p:spTgt spid="10"/>
                                        </p:tgtEl>
                                        <p:attrNameLst>
                                          <p:attrName>ppt_x</p:attrName>
                                        </p:attrNameLst>
                                      </p:cBhvr>
                                      <p:tavLst>
                                        <p:tav tm="0">
                                          <p:val>
                                            <p:strVal val="#ppt_x"/>
                                          </p:val>
                                        </p:tav>
                                        <p:tav tm="100000">
                                          <p:val>
                                            <p:strVal val="#ppt_x"/>
                                          </p:val>
                                        </p:tav>
                                      </p:tavLst>
                                    </p:anim>
                                    <p:anim calcmode="lin" valueType="num">
                                      <p:cBhvr additive="base">
                                        <p:cTn id="66" dur="500" fill="hold"/>
                                        <p:tgtEl>
                                          <p:spTgt spid="10"/>
                                        </p:tgtEl>
                                        <p:attrNameLst>
                                          <p:attrName>ppt_y</p:attrName>
                                        </p:attrNameLst>
                                      </p:cBhvr>
                                      <p:tavLst>
                                        <p:tav tm="0">
                                          <p:val>
                                            <p:strVal val="#ppt_y+0.1"/>
                                          </p:val>
                                        </p:tav>
                                        <p:tav tm="100000">
                                          <p:val>
                                            <p:strVal val="#ppt_y"/>
                                          </p:val>
                                        </p:tav>
                                      </p:tavLst>
                                    </p:anim>
                                    <p:animEffect transition="in" filter="fade">
                                      <p:cBhvr>
                                        <p:cTn id="67" dur="500"/>
                                        <p:tgtEl>
                                          <p:spTgt spid="10"/>
                                        </p:tgtEl>
                                      </p:cBhvr>
                                    </p:animEffect>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grpId="0" nodeType="clickEffect">
                                  <p:stCondLst>
                                    <p:cond delay="0"/>
                                  </p:stCondLst>
                                  <p:childTnLst>
                                    <p:set>
                                      <p:cBhvr>
                                        <p:cTn id="71" dur="1" fill="hold">
                                          <p:stCondLst>
                                            <p:cond delay="0"/>
                                          </p:stCondLst>
                                        </p:cTn>
                                        <p:tgtEl>
                                          <p:spTgt spid="11"/>
                                        </p:tgtEl>
                                        <p:attrNameLst>
                                          <p:attrName>style.visibility</p:attrName>
                                        </p:attrNameLst>
                                      </p:cBhvr>
                                      <p:to>
                                        <p:strVal val="visible"/>
                                      </p:to>
                                    </p:set>
                                    <p:anim calcmode="lin" valueType="num">
                                      <p:cBhvr additive="base">
                                        <p:cTn id="72" dur="500" fill="hold"/>
                                        <p:tgtEl>
                                          <p:spTgt spid="11"/>
                                        </p:tgtEl>
                                        <p:attrNameLst>
                                          <p:attrName>ppt_x</p:attrName>
                                        </p:attrNameLst>
                                      </p:cBhvr>
                                      <p:tavLst>
                                        <p:tav tm="0">
                                          <p:val>
                                            <p:strVal val="#ppt_x"/>
                                          </p:val>
                                        </p:tav>
                                        <p:tav tm="100000">
                                          <p:val>
                                            <p:strVal val="#ppt_x"/>
                                          </p:val>
                                        </p:tav>
                                      </p:tavLst>
                                    </p:anim>
                                    <p:anim calcmode="lin" valueType="num">
                                      <p:cBhvr additive="base">
                                        <p:cTn id="73" dur="500" fill="hold"/>
                                        <p:tgtEl>
                                          <p:spTgt spid="11"/>
                                        </p:tgtEl>
                                        <p:attrNameLst>
                                          <p:attrName>ppt_y</p:attrName>
                                        </p:attrNameLst>
                                      </p:cBhvr>
                                      <p:tavLst>
                                        <p:tav tm="0">
                                          <p:val>
                                            <p:strVal val="#ppt_y+0.1"/>
                                          </p:val>
                                        </p:tav>
                                        <p:tav tm="100000">
                                          <p:val>
                                            <p:strVal val="#ppt_y"/>
                                          </p:val>
                                        </p:tav>
                                      </p:tavLst>
                                    </p:anim>
                                    <p:animEffect transition="in" filter="fade">
                                      <p:cBhvr>
                                        <p:cTn id="74" dur="500"/>
                                        <p:tgtEl>
                                          <p:spTgt spid="11"/>
                                        </p:tgtEl>
                                      </p:cBhvr>
                                    </p:animEffect>
                                  </p:childTnLst>
                                </p:cTn>
                              </p:par>
                              <p:par>
                                <p:cTn id="75" presetID="2" presetClass="entr" presetSubtype="4" fill="hold" grpId="0" nodeType="withEffect">
                                  <p:stCondLst>
                                    <p:cond delay="0"/>
                                  </p:stCondLst>
                                  <p:childTnLst>
                                    <p:set>
                                      <p:cBhvr>
                                        <p:cTn id="76" dur="1" fill="hold">
                                          <p:stCondLst>
                                            <p:cond delay="0"/>
                                          </p:stCondLst>
                                        </p:cTn>
                                        <p:tgtEl>
                                          <p:spTgt spid="12"/>
                                        </p:tgtEl>
                                        <p:attrNameLst>
                                          <p:attrName>style.visibility</p:attrName>
                                        </p:attrNameLst>
                                      </p:cBhvr>
                                      <p:to>
                                        <p:strVal val="visible"/>
                                      </p:to>
                                    </p:set>
                                    <p:anim calcmode="lin" valueType="num">
                                      <p:cBhvr additive="base">
                                        <p:cTn id="77" dur="500" fill="hold"/>
                                        <p:tgtEl>
                                          <p:spTgt spid="12"/>
                                        </p:tgtEl>
                                        <p:attrNameLst>
                                          <p:attrName>ppt_x</p:attrName>
                                        </p:attrNameLst>
                                      </p:cBhvr>
                                      <p:tavLst>
                                        <p:tav tm="0">
                                          <p:val>
                                            <p:strVal val="#ppt_x"/>
                                          </p:val>
                                        </p:tav>
                                        <p:tav tm="100000">
                                          <p:val>
                                            <p:strVal val="#ppt_x"/>
                                          </p:val>
                                        </p:tav>
                                      </p:tavLst>
                                    </p:anim>
                                    <p:anim calcmode="lin" valueType="num">
                                      <p:cBhvr additive="base">
                                        <p:cTn id="78" dur="500" fill="hold"/>
                                        <p:tgtEl>
                                          <p:spTgt spid="12"/>
                                        </p:tgtEl>
                                        <p:attrNameLst>
                                          <p:attrName>ppt_y</p:attrName>
                                        </p:attrNameLst>
                                      </p:cBhvr>
                                      <p:tavLst>
                                        <p:tav tm="0">
                                          <p:val>
                                            <p:strVal val="#ppt_y+0.1"/>
                                          </p:val>
                                        </p:tav>
                                        <p:tav tm="100000">
                                          <p:val>
                                            <p:strVal val="#ppt_y"/>
                                          </p:val>
                                        </p:tav>
                                      </p:tavLst>
                                    </p:anim>
                                    <p:animEffect transition="in" filter="fade">
                                      <p:cBhvr>
                                        <p:cTn id="79" dur="500"/>
                                        <p:tgtEl>
                                          <p:spTgt spid="12"/>
                                        </p:tgtEl>
                                      </p:cBhvr>
                                    </p:animEffect>
                                  </p:childTnLst>
                                </p:cTn>
                              </p:par>
                            </p:childTnLst>
                          </p:cTn>
                        </p:par>
                      </p:childTnLst>
                    </p:cTn>
                  </p:par>
                  <p:par>
                    <p:cTn id="80" fill="hold">
                      <p:stCondLst>
                        <p:cond delay="indefinite"/>
                      </p:stCondLst>
                      <p:childTnLst>
                        <p:par>
                          <p:cTn id="81" fill="hold">
                            <p:stCondLst>
                              <p:cond delay="0"/>
                            </p:stCondLst>
                            <p:childTnLst>
                              <p:par>
                                <p:cTn id="82" presetID="2" presetClass="entr" presetSubtype="4" fill="hold" grpId="0" nodeType="clickEffect">
                                  <p:stCondLst>
                                    <p:cond delay="0"/>
                                  </p:stCondLst>
                                  <p:childTnLst>
                                    <p:set>
                                      <p:cBhvr>
                                        <p:cTn id="83" dur="1" fill="hold">
                                          <p:stCondLst>
                                            <p:cond delay="0"/>
                                          </p:stCondLst>
                                        </p:cTn>
                                        <p:tgtEl>
                                          <p:spTgt spid="13"/>
                                        </p:tgtEl>
                                        <p:attrNameLst>
                                          <p:attrName>style.visibility</p:attrName>
                                        </p:attrNameLst>
                                      </p:cBhvr>
                                      <p:to>
                                        <p:strVal val="visible"/>
                                      </p:to>
                                    </p:set>
                                    <p:anim calcmode="lin" valueType="num">
                                      <p:cBhvr additive="base">
                                        <p:cTn id="84" dur="500" fill="hold"/>
                                        <p:tgtEl>
                                          <p:spTgt spid="13"/>
                                        </p:tgtEl>
                                        <p:attrNameLst>
                                          <p:attrName>ppt_x</p:attrName>
                                        </p:attrNameLst>
                                      </p:cBhvr>
                                      <p:tavLst>
                                        <p:tav tm="0">
                                          <p:val>
                                            <p:strVal val="#ppt_x"/>
                                          </p:val>
                                        </p:tav>
                                        <p:tav tm="100000">
                                          <p:val>
                                            <p:strVal val="#ppt_x"/>
                                          </p:val>
                                        </p:tav>
                                      </p:tavLst>
                                    </p:anim>
                                    <p:anim calcmode="lin" valueType="num">
                                      <p:cBhvr additive="base">
                                        <p:cTn id="85" dur="500" fill="hold"/>
                                        <p:tgtEl>
                                          <p:spTgt spid="13"/>
                                        </p:tgtEl>
                                        <p:attrNameLst>
                                          <p:attrName>ppt_y</p:attrName>
                                        </p:attrNameLst>
                                      </p:cBhvr>
                                      <p:tavLst>
                                        <p:tav tm="0">
                                          <p:val>
                                            <p:strVal val="#ppt_y+0.1"/>
                                          </p:val>
                                        </p:tav>
                                        <p:tav tm="100000">
                                          <p:val>
                                            <p:strVal val="#ppt_y"/>
                                          </p:val>
                                        </p:tav>
                                      </p:tavLst>
                                    </p:anim>
                                    <p:animEffect transition="in" filter="fade">
                                      <p:cBhvr>
                                        <p:cTn id="86" dur="500"/>
                                        <p:tgtEl>
                                          <p:spTgt spid="13"/>
                                        </p:tgtEl>
                                      </p:cBhvr>
                                    </p:animEffect>
                                  </p:childTnLst>
                                </p:cTn>
                              </p:par>
                              <p:par>
                                <p:cTn id="87" presetID="2" presetClass="entr" presetSubtype="4" fill="hold" grpId="0" nodeType="withEffect">
                                  <p:stCondLst>
                                    <p:cond delay="0"/>
                                  </p:stCondLst>
                                  <p:childTnLst>
                                    <p:set>
                                      <p:cBhvr>
                                        <p:cTn id="88" dur="1" fill="hold">
                                          <p:stCondLst>
                                            <p:cond delay="0"/>
                                          </p:stCondLst>
                                        </p:cTn>
                                        <p:tgtEl>
                                          <p:spTgt spid="14"/>
                                        </p:tgtEl>
                                        <p:attrNameLst>
                                          <p:attrName>style.visibility</p:attrName>
                                        </p:attrNameLst>
                                      </p:cBhvr>
                                      <p:to>
                                        <p:strVal val="visible"/>
                                      </p:to>
                                    </p:set>
                                    <p:anim calcmode="lin" valueType="num">
                                      <p:cBhvr additive="base">
                                        <p:cTn id="89" dur="500" fill="hold"/>
                                        <p:tgtEl>
                                          <p:spTgt spid="14"/>
                                        </p:tgtEl>
                                        <p:attrNameLst>
                                          <p:attrName>ppt_x</p:attrName>
                                        </p:attrNameLst>
                                      </p:cBhvr>
                                      <p:tavLst>
                                        <p:tav tm="0">
                                          <p:val>
                                            <p:strVal val="#ppt_x"/>
                                          </p:val>
                                        </p:tav>
                                        <p:tav tm="100000">
                                          <p:val>
                                            <p:strVal val="#ppt_x"/>
                                          </p:val>
                                        </p:tav>
                                      </p:tavLst>
                                    </p:anim>
                                    <p:anim calcmode="lin" valueType="num">
                                      <p:cBhvr additive="base">
                                        <p:cTn id="90" dur="500" fill="hold"/>
                                        <p:tgtEl>
                                          <p:spTgt spid="14"/>
                                        </p:tgtEl>
                                        <p:attrNameLst>
                                          <p:attrName>ppt_y</p:attrName>
                                        </p:attrNameLst>
                                      </p:cBhvr>
                                      <p:tavLst>
                                        <p:tav tm="0">
                                          <p:val>
                                            <p:strVal val="#ppt_y+0.1"/>
                                          </p:val>
                                        </p:tav>
                                        <p:tav tm="100000">
                                          <p:val>
                                            <p:strVal val="#ppt_y"/>
                                          </p:val>
                                        </p:tav>
                                      </p:tavLst>
                                    </p:anim>
                                    <p:animEffect transition="in" filter="fade">
                                      <p:cBhvr>
                                        <p:cTn id="91" dur="500"/>
                                        <p:tgtEl>
                                          <p:spTgt spid="14"/>
                                        </p:tgtEl>
                                      </p:cBhvr>
                                    </p:animEffect>
                                  </p:childTnLst>
                                </p:cTn>
                              </p:par>
                            </p:childTnLst>
                          </p:cTn>
                        </p:par>
                      </p:childTnLst>
                    </p:cTn>
                  </p:par>
                  <p:par>
                    <p:cTn id="92" fill="hold">
                      <p:stCondLst>
                        <p:cond delay="indefinite"/>
                      </p:stCondLst>
                      <p:childTnLst>
                        <p:par>
                          <p:cTn id="93" fill="hold">
                            <p:stCondLst>
                              <p:cond delay="0"/>
                            </p:stCondLst>
                            <p:childTnLst>
                              <p:par>
                                <p:cTn id="94" presetID="2" presetClass="entr" presetSubtype="4" fill="hold" grpId="0" nodeType="clickEffect">
                                  <p:stCondLst>
                                    <p:cond delay="0"/>
                                  </p:stCondLst>
                                  <p:childTnLst>
                                    <p:set>
                                      <p:cBhvr>
                                        <p:cTn id="95" dur="1" fill="hold">
                                          <p:stCondLst>
                                            <p:cond delay="0"/>
                                          </p:stCondLst>
                                        </p:cTn>
                                        <p:tgtEl>
                                          <p:spTgt spid="19"/>
                                        </p:tgtEl>
                                        <p:attrNameLst>
                                          <p:attrName>style.visibility</p:attrName>
                                        </p:attrNameLst>
                                      </p:cBhvr>
                                      <p:to>
                                        <p:strVal val="visible"/>
                                      </p:to>
                                    </p:set>
                                    <p:anim calcmode="lin" valueType="num">
                                      <p:cBhvr additive="base">
                                        <p:cTn id="96" dur="500" fill="hold"/>
                                        <p:tgtEl>
                                          <p:spTgt spid="19"/>
                                        </p:tgtEl>
                                        <p:attrNameLst>
                                          <p:attrName>ppt_x</p:attrName>
                                        </p:attrNameLst>
                                      </p:cBhvr>
                                      <p:tavLst>
                                        <p:tav tm="0">
                                          <p:val>
                                            <p:strVal val="#ppt_x"/>
                                          </p:val>
                                        </p:tav>
                                        <p:tav tm="100000">
                                          <p:val>
                                            <p:strVal val="#ppt_x"/>
                                          </p:val>
                                        </p:tav>
                                      </p:tavLst>
                                    </p:anim>
                                    <p:anim calcmode="lin" valueType="num">
                                      <p:cBhvr additive="base">
                                        <p:cTn id="97" dur="500" fill="hold"/>
                                        <p:tgtEl>
                                          <p:spTgt spid="19"/>
                                        </p:tgtEl>
                                        <p:attrNameLst>
                                          <p:attrName>ppt_y</p:attrName>
                                        </p:attrNameLst>
                                      </p:cBhvr>
                                      <p:tavLst>
                                        <p:tav tm="0">
                                          <p:val>
                                            <p:strVal val="#ppt_y+0.1"/>
                                          </p:val>
                                        </p:tav>
                                        <p:tav tm="100000">
                                          <p:val>
                                            <p:strVal val="#ppt_y"/>
                                          </p:val>
                                        </p:tav>
                                      </p:tavLst>
                                    </p:anim>
                                    <p:animEffect transition="in" filter="fade">
                                      <p:cBhvr>
                                        <p:cTn id="9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TotalTime>
  <Words>9926</Words>
  <Application>Microsoft Office PowerPoint</Application>
  <PresentationFormat>On-screen Show (16:9)</PresentationFormat>
  <Paragraphs>1302</Paragraphs>
  <Slides>50</Slides>
  <Notes>50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50</vt:i4>
      </vt:variant>
    </vt:vector>
  </HeadingPairs>
  <TitlesOfParts>
    <vt:vector size="54"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Joins Basics</dc:title>
  <dc:subject>PptxGenJS Presentation</dc:subject>
  <dc:creator>PptxGenJS</dc:creator>
  <cp:lastModifiedBy>Subramanian Murugan</cp:lastModifiedBy>
  <cp:revision>3</cp:revision>
  <dcterms:created xsi:type="dcterms:W3CDTF">2026-09-17T16:10:42Z</dcterms:created>
  <dcterms:modified xsi:type="dcterms:W3CDTF">2026-09-19T00:55:04Z</dcterms:modified>
</cp:coreProperties>
</file>