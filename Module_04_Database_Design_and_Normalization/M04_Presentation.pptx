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audit findings are textbook anomalies. Come back to them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 key is the loosest and primary key the strictest. Walk down the table in that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ticket here. Fresh graduates find this concrete and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`products` column 'FD,LOAN,CARD' in the flat table is an unresolved many-to-many.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 that phrase: 1NF the key, 2NF the whole key, 3NF nothing but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ICICI Bank schema they have been using since Module 1. Point that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spend long here. Mention it exists,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who has seen a validation that lived in one app and not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judgement point of the whole module. Do not rush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463040" cy="8229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Constraints, Database Design &amp; Normalization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A9C6DA"/>
                </a:solidFill>
                <a:latin typeface="Segoe UI"/>
              </a:rPr>
              <a:t>Module 4  |  8 Hours  |  Enterprise Data Engineering with SQL, Redis &amp;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8FAAC0"/>
                </a:solidFill>
                <a:latin typeface="Segoe UI"/>
              </a:rPr>
              <a:t>ICICI Bank Learning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we left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Module 3 had you writing four-table joins to answer a single business question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one of those joins existed because somebody split the data into separate tables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You paid the cost. Today you find out what you bought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9067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09067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8211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Joins are the price of a good design. This module shows you what happens without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Today's ticket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314363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314363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869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TICKET  ICICI-4577                                   Priority: HIGH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-----------------------------------------------------------------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Raised by : Head of Data Governance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Subject   : Retire the branch "customer master" spreadsheet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Every branch maintains CUSTOMER_MASTER.xls. It has been loaded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into the database as-is, one wide table, and three reports now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read it. Audit has raised two findings: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the same branch address appears with three different spellings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- closing an account deleted the customer's phone number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Fix the design. Also produce a proper ER model for the bank so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this cannot happen again with the new credit card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you will be able to do by 5 pm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127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Name and choose between super, candidate, primary, alternate, composite, surrogate and foreign keys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Explain referential integrity and pick the correct cascading rule for a banking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Draw an ER model in crow's foot notation and convert it into tables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Resolve a many-to-many relationship with a junction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Take a table through </a:t>
            </a:r>
            <a:r>
              <a:rPr b="1" sz="1800">
                <a:solidFill>
                  <a:srgbClr val="1B2633"/>
                </a:solidFill>
                <a:latin typeface="Segoe UI"/>
              </a:rPr>
              <a:t>1NF, 2NF, 3NF and BCNF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say what anomaly each stage removes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Decide when to </a:t>
            </a:r>
            <a:r>
              <a:rPr b="1" sz="1800">
                <a:solidFill>
                  <a:srgbClr val="1B2633"/>
                </a:solidFill>
                <a:latin typeface="Segoe UI"/>
              </a:rPr>
              <a:t>denormalize on purpose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how to keep it honest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table that started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355353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355353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3279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BRANCH_CUSTOMER_FLAT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cust_id cust_name     branch_code branch_name     branch_ifsc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 ------------- ----------- --------------- 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1003    Rohan Iyer    BR03        Koramangala     ICIC0000203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1011    Rahul Khan    BR03        Koramangla      ICIC0000203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1019    Manish Chopra BR03        Kormangala      ICIC0000203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1027    Gaurav Patel  BR03        'Koramangala '  ICIC0000203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...continued, same four rows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acct_no_1        acct_type_1 balance_1   acct_no_2       balance_2  products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  ---------------- ----------- ----------  --------------- ---------  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ICIC0000009003   SAVINGS     341244.80   (null)          (null)     FD,LOAN,CARD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ICIC0000009013   SAVINGS     410879.83   (null)          (null)     LOAN,CARD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ICIC0000009022   SAVINGS      71007.07   (null)          (null)     LOAN,CARD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ICIC0000009032   SAVINGS     138102.26   (null)          (null)    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94342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94342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03486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Three separate design failures are visible in this one screen. Find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1 - Keys and referential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family of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35"/>
                <a:gridCol w="5559803"/>
                <a:gridCol w="4144580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Key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Definition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ICICI Bank example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Super key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Any set of columns that uniquely identifies a row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(account_id, balance)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573786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Candidate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minimal super key - remove a column and it stops being unique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account_id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and separately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account_number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Primary key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candidate key you choose as the row's identity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account_id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Alternate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candidate keys you did not choose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account_number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Composite key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key made of more than one column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(loan_id, due_date)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Foreign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column whose value must exist as a key elsewhere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account.customer_id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Choosing a primary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Unique</a:t>
            </a:r>
            <a:r>
              <a:rPr b="0" sz="1800">
                <a:solidFill>
                  <a:srgbClr val="1B2633"/>
                </a:solidFill>
                <a:latin typeface="Segoe UI"/>
              </a:rPr>
              <a:t> - no two rows may share it, ever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Not 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- every row must have one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Stable</a:t>
            </a:r>
            <a:r>
              <a:rPr b="0" sz="1800">
                <a:solidFill>
                  <a:srgbClr val="1B2633"/>
                </a:solidFill>
                <a:latin typeface="Segoe UI"/>
              </a:rPr>
              <a:t> - it must never need to change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Minimal</a:t>
            </a:r>
            <a:r>
              <a:rPr b="0" sz="1800">
                <a:solidFill>
                  <a:srgbClr val="1B2633"/>
                </a:solidFill>
                <a:latin typeface="Segoe UI"/>
              </a:rPr>
              <a:t> - as few columns as will do the job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Meaningless, ideally</a:t>
            </a:r>
            <a:r>
              <a:rPr b="0" sz="1800">
                <a:solidFill>
                  <a:srgbClr val="1B2633"/>
                </a:solidFill>
                <a:latin typeface="Segoe UI"/>
              </a:rPr>
              <a:t> - business meaning changes, identity must not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10128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310128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0156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phone number is unique today. It is not stable. It is not a primary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Surrogate versus natural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711"/>
                <a:gridCol w="2867833"/>
                <a:gridCol w="4980974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Surrogate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Natural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customer_id 1001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pan_number ABCDE1234F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Business meaning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Stability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Permanent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Changes when the business changes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Size in a foreign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Small integer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Often a long string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Readability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Poor without a join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Good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ICICI Bank uses surrogate keys everywhere, and enforces the natural key with a </a:t>
            </a:r>
            <a:r>
              <a:rPr b="0" sz="1800">
                <a:solidFill>
                  <a:srgbClr val="008C8C"/>
                </a:solidFill>
                <a:latin typeface="Consolas"/>
              </a:rPr>
              <a:t>UNIQUE</a:t>
            </a:r>
            <a:r>
              <a:rPr b="0" sz="1800">
                <a:solidFill>
                  <a:srgbClr val="1B2633"/>
                </a:solidFill>
                <a:latin typeface="Segoe UI"/>
              </a:rPr>
              <a:t> constraint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245102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245102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382262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 INTEGER      NOT NULL,   -- surrogate, the identity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pan_number   CHAR(10)     NOT NULL UNIQUE,  -- natural, still enforced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Referential integrity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foreign key value must match an existing primary key, or be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engine checks it on </a:t>
            </a:r>
            <a:r>
              <a:rPr b="1" sz="1800">
                <a:solidFill>
                  <a:srgbClr val="1B2633"/>
                </a:solidFill>
                <a:latin typeface="Segoe UI"/>
              </a:rPr>
              <a:t>insert</a:t>
            </a:r>
            <a:r>
              <a:rPr b="0" sz="1800">
                <a:solidFill>
                  <a:srgbClr val="1B2633"/>
                </a:solidFill>
                <a:latin typeface="Segoe UI"/>
              </a:rPr>
              <a:t>, on </a:t>
            </a:r>
            <a:r>
              <a:rPr b="1" sz="1800">
                <a:solidFill>
                  <a:srgbClr val="1B2633"/>
                </a:solidFill>
                <a:latin typeface="Segoe UI"/>
              </a:rPr>
              <a:t>update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on </a:t>
            </a:r>
            <a:r>
              <a:rPr b="1" sz="1800">
                <a:solidFill>
                  <a:srgbClr val="1B2633"/>
                </a:solidFill>
                <a:latin typeface="Segoe UI"/>
              </a:rPr>
              <a:t>delete of the parent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57984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57984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95144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INSERT INTO account (..., customer_id, ...) VALUES (..., 9999, ...);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ERROR: violates foreign key constraint "fk_account_customer_id"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       Key (customer_id)=(9999) is not present in table "customer"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38597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Without it you get </a:t>
            </a:r>
            <a:r>
              <a:rPr b="1" sz="1800">
                <a:solidFill>
                  <a:srgbClr val="1B2633"/>
                </a:solidFill>
                <a:latin typeface="Segoe UI"/>
              </a:rPr>
              <a:t>orphan rows</a:t>
            </a:r>
            <a:r>
              <a:rPr b="0" sz="1800">
                <a:solidFill>
                  <a:srgbClr val="1B2633"/>
                </a:solidFill>
                <a:latin typeface="Segoe UI"/>
              </a:rPr>
              <a:t>: an account belonging to nobody, a transaction on no 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88405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888405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979845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An orphan row is undetectable in a report. It just quietly makes every total slightly wrong.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Cascading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324"/>
                <a:gridCol w="5282852"/>
                <a:gridCol w="4075343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On delete of the parent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On update of the parent key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NO ACTION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Reject, checked at end of statement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Reject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RESTRICT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Reject immediately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Reject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CASCADE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Delete the children too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Change the children too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SET NULL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Set the child's FK to NULL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Same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SET DEFAULT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Set the child's FK to its default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Same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495294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495294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632454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fk_account_customer FOREIGN KEY (customer_id)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REFERENCES customer(customer_id) ON DELETE RESTRICT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Which rule for which banking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324"/>
                <a:gridCol w="1062026"/>
                <a:gridCol w="6903169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Child table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on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customer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RESTRICT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Never silently delete someone's accounts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account_txn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on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RESTRICT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Transaction history is regulated evidence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loan_payment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on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loan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CASCADE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payment schedule has no meaning without its loan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beneficiary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on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customer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CASCADE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payee list is a preference, not a financial record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employee.manager_id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SET NULL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manager leaves; their team must not vanish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49529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49529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586734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Default to </a:t>
            </a:r>
            <a:r>
              <a:rPr b="0" sz="1450">
                <a:solidFill>
                  <a:srgbClr val="008C8C"/>
                </a:solidFill>
                <a:latin typeface="Consolas"/>
              </a:rPr>
              <a:t>RESTRICT</a:t>
            </a:r>
            <a:r>
              <a:rPr b="1" sz="1450">
                <a:solidFill>
                  <a:srgbClr val="6B4A00"/>
                </a:solidFill>
                <a:latin typeface="Segoe UI"/>
              </a:rPr>
              <a:t> on anything financial. </a:t>
            </a:r>
            <a:r>
              <a:rPr b="0" sz="1450">
                <a:solidFill>
                  <a:srgbClr val="008C8C"/>
                </a:solidFill>
                <a:latin typeface="Consolas"/>
              </a:rPr>
              <a:t>CASCADE</a:t>
            </a:r>
            <a:r>
              <a:rPr b="1" sz="1450">
                <a:solidFill>
                  <a:srgbClr val="6B4A00"/>
                </a:solidFill>
                <a:latin typeface="Segoe UI"/>
              </a:rPr>
              <a:t> is for data that is genuinely owned by its parent.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audit finding, explained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47927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47927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"Closing an account deleted the customer's phone number."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69159"/>
            <a:ext cx="1106424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In the flat table, the customer's details and the account's details are </a:t>
            </a:r>
            <a:r>
              <a:rPr b="1" sz="1800">
                <a:solidFill>
                  <a:srgbClr val="1B2633"/>
                </a:solidFill>
                <a:latin typeface="Segoe UI"/>
              </a:rPr>
              <a:t>the same row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Delete the account, and you delete the customer. There is nowhere else the phone number lives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This is a </a:t>
            </a:r>
            <a:r>
              <a:rPr b="1" sz="1800">
                <a:solidFill>
                  <a:srgbClr val="1B2633"/>
                </a:solidFill>
                <a:latin typeface="Segoe UI"/>
              </a:rPr>
              <a:t>deletion anomaly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no constraint can fix it. Only a redesign can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2 - Entity relationship modelling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three building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Entity</a:t>
            </a:r>
            <a:r>
              <a:rPr b="0" sz="1800">
                <a:solidFill>
                  <a:srgbClr val="1B2633"/>
                </a:solidFill>
                <a:latin typeface="Segoe UI"/>
              </a:rPr>
              <a:t> - a thing the bank needs to remember. </a:t>
            </a:r>
            <a:r>
              <a:rPr b="0" sz="1800">
                <a:solidFill>
                  <a:srgbClr val="008C8C"/>
                </a:solidFill>
                <a:latin typeface="Consolas"/>
              </a:rPr>
              <a:t>CUSTOMER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BRANCH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b="0" sz="1550">
                <a:solidFill>
                  <a:srgbClr val="5A6673"/>
                </a:solidFill>
                <a:latin typeface="Segoe UI"/>
              </a:rPr>
              <a:t>Becomes a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Attribute</a:t>
            </a:r>
            <a:r>
              <a:rPr b="0" sz="1800">
                <a:solidFill>
                  <a:srgbClr val="1B2633"/>
                </a:solidFill>
                <a:latin typeface="Segoe UI"/>
              </a:rPr>
              <a:t> - a fact about an entity. </a:t>
            </a:r>
            <a:r>
              <a:rPr b="0" sz="1800">
                <a:solidFill>
                  <a:srgbClr val="008C8C"/>
                </a:solidFill>
                <a:latin typeface="Consolas"/>
              </a:rPr>
              <a:t>first_name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balance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opened_date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b="0" sz="1550">
                <a:solidFill>
                  <a:srgbClr val="5A6673"/>
                </a:solidFill>
                <a:latin typeface="Segoe UI"/>
              </a:rPr>
              <a:t>Becomes a column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Relationship</a:t>
            </a:r>
            <a:r>
              <a:rPr b="0" sz="1800">
                <a:solidFill>
                  <a:srgbClr val="1B2633"/>
                </a:solidFill>
                <a:latin typeface="Segoe UI"/>
              </a:rPr>
              <a:t> - how entities connect. "a customer *holds* accounts"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b="0" sz="1550">
                <a:solidFill>
                  <a:srgbClr val="5A6673"/>
                </a:solidFill>
                <a:latin typeface="Segoe UI"/>
              </a:rPr>
              <a:t>Becomes a foreign key, or a whole new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9417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69417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Nouns become entities, facts become attributes, verbs become relationships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Cardinality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259"/>
                <a:gridCol w="3987654"/>
                <a:gridCol w="5771605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Cardinality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ICICI Bank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One to one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Each side has at most one of the other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An account and its passbook record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One to many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parent, many children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customer holds many accounts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Many to many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Both sides have many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Customers hold many products, products are held by many customers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93492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One to many is by far the most common, and becomes a foreign key on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many</a:t>
            </a:r>
            <a:r>
              <a:rPr b="0" sz="1800">
                <a:solidFill>
                  <a:srgbClr val="1B2633"/>
                </a:solidFill>
                <a:latin typeface="Segoe UI"/>
              </a:rPr>
              <a:t> side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Many to many cannot be stored directly. It needs a third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Optionality matters as much as cardinality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 ||------o{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|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|                  +-- an account MUST have a customer   (mandatory)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+-- a customer MAY have zero accounts                    (optional)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484012"/>
          <a:ext cx="11018517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481"/>
                <a:gridCol w="3379012"/>
                <a:gridCol w="3379012"/>
                <a:gridCol w="3379012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Symbol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Exactly one - mandatory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`o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Zero or one - optional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`}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`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or many - mandatory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o{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Zero or many - optional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4329957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Optionality decides </a:t>
            </a:r>
            <a:r>
              <a:rPr b="0" sz="1800">
                <a:solidFill>
                  <a:srgbClr val="008C8C"/>
                </a:solidFill>
                <a:latin typeface="Consolas"/>
              </a:rPr>
              <a:t>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or </a:t>
            </a:r>
            <a:r>
              <a:rPr b="0" sz="1800">
                <a:solidFill>
                  <a:srgbClr val="008C8C"/>
                </a:solidFill>
                <a:latin typeface="Consolas"/>
              </a:rPr>
              <a:t>NOT NULL</a:t>
            </a:r>
            <a:r>
              <a:rPr b="0" sz="1800">
                <a:solidFill>
                  <a:srgbClr val="1B2633"/>
                </a:solidFill>
                <a:latin typeface="Segoe UI"/>
              </a:rPr>
              <a:t> on the foreign key column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ICICI Bank 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93868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93868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664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BRANCH ||-----o{ CUSTOMER ||-----o{ ACCOUNT ||-----o{ ACCOUNT_TXN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                  ||-----o{ CARD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||-----o{ LOAN ||------|{ LOAN_PAYMENT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||-----o{ BENEFICIARY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                ||-----o{ FIXED_DEPOSIT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||-----o{ EMPLOYEE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|  ^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+--+   manages (self-referencing, 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28571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328571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20011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Nine entities, ten relationships, and every join you wrote in Module 3 is one of these lines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Resolving many to many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WRONG                          RIGHT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                          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 }o------o{ PRODUCT    CUSTOMER ||---o{ CUSTOMER_PRODUCT }o---|| PRODUCT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            (the junction table)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84012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84012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21172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CREATE TABLE customer_product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customer_id  INTEGER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product_code VARCHAR(10)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enrolled_on  DATE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status       VARCHAR(10) NOT NULL,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pk_customer_product PRIMARY KEY (customer_id, product_code),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fk_cp_customer FOREIGN KEY (customer_id)  REFERENCES customer(customer_id),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CONSTRAINT fk_cp_product  FOREIGN KEY (product_code) REFERENCES product(product_code)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94331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junction table has a </a:t>
            </a:r>
            <a:r>
              <a:rPr b="1" sz="1800">
                <a:solidFill>
                  <a:srgbClr val="1B2633"/>
                </a:solidFill>
                <a:latin typeface="Segoe UI"/>
              </a:rPr>
              <a:t>composite primary key</a:t>
            </a:r>
            <a:r>
              <a:rPr b="0" sz="1800">
                <a:solidFill>
                  <a:srgbClr val="1B2633"/>
                </a:solidFill>
                <a:latin typeface="Segoe UI"/>
              </a:rPr>
              <a:t>, and can carry its own attributes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Weak entities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</a:t>
            </a:r>
            <a:r>
              <a:rPr b="1" sz="1800">
                <a:solidFill>
                  <a:srgbClr val="1B2633"/>
                </a:solidFill>
                <a:latin typeface="Segoe UI"/>
              </a:rPr>
              <a:t>weak entity</a:t>
            </a:r>
            <a:r>
              <a:rPr b="0" sz="1800">
                <a:solidFill>
                  <a:srgbClr val="1B2633"/>
                </a:solidFill>
                <a:latin typeface="Segoe UI"/>
              </a:rPr>
              <a:t> cannot exist without its parent, and is identified partly by the parent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LOAN_PAYMENT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weak: instalment 7 means nothing without knowing which loan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pk_loan_payment PRIMARY KEY (loan_id, installment_no),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CONSTRAINT fk_lp_loan FOREIGN KEY (loan_id) REFERENCES loan(loan_id) ON DELETE CASCADE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7966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Weak entities are where </a:t>
            </a:r>
            <a:r>
              <a:rPr b="0" sz="1800">
                <a:solidFill>
                  <a:srgbClr val="008C8C"/>
                </a:solidFill>
                <a:latin typeface="Consolas"/>
              </a:rPr>
              <a:t>ON DELETE CASCADE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genuinely correct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68345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68345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7489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If the child is meaningless without the parent, cascade. Otherwise restrict.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Generalization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(account_id, customer_id, balance, status)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+-----------+-----------+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|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SAVINGS_ACCOUNT        CURRENT_ACCOUNT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(interest_rate,        (overdraft_limit,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min_balance)           sweep_flag)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Common attributes in the parent, specific ones in the subtype tables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Or keep one table with a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account_type</a:t>
            </a:r>
            <a:r>
              <a:rPr b="0" sz="1800">
                <a:solidFill>
                  <a:srgbClr val="1B2633"/>
                </a:solidFill>
                <a:latin typeface="Segoe UI"/>
              </a:rPr>
              <a:t> discriminator and nullable columns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163352"/>
          <a:ext cx="11018519" cy="1052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792"/>
                <a:gridCol w="7046727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Good when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Separate subtype tables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Subtypes differ a lot, and are queried separately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table with nullable columns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Subtypes differ slightly, and are usually queried together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From ER model to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688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1. Every </a:t>
            </a:r>
            <a:r>
              <a:rPr b="1" sz="1800">
                <a:solidFill>
                  <a:srgbClr val="1B2633"/>
                </a:solidFill>
                <a:latin typeface="Segoe UI"/>
              </a:rPr>
              <a:t>entity</a:t>
            </a:r>
            <a:r>
              <a:rPr b="0" sz="1800">
                <a:solidFill>
                  <a:srgbClr val="1B2633"/>
                </a:solidFill>
                <a:latin typeface="Segoe UI"/>
              </a:rPr>
              <a:t> becomes a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2. Every </a:t>
            </a:r>
            <a:r>
              <a:rPr b="1" sz="1800">
                <a:solidFill>
                  <a:srgbClr val="1B2633"/>
                </a:solidFill>
                <a:latin typeface="Segoe UI"/>
              </a:rPr>
              <a:t>attribute</a:t>
            </a:r>
            <a:r>
              <a:rPr b="0" sz="1800">
                <a:solidFill>
                  <a:srgbClr val="1B2633"/>
                </a:solidFill>
                <a:latin typeface="Segoe UI"/>
              </a:rPr>
              <a:t> becomes a column, with a type and a nullability decision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3. Choose a </a:t>
            </a:r>
            <a:r>
              <a:rPr b="1" sz="1800">
                <a:solidFill>
                  <a:srgbClr val="1B2633"/>
                </a:solidFill>
                <a:latin typeface="Segoe UI"/>
              </a:rPr>
              <a:t>primary key</a:t>
            </a:r>
            <a:r>
              <a:rPr b="0" sz="1800">
                <a:solidFill>
                  <a:srgbClr val="1B2633"/>
                </a:solidFill>
                <a:latin typeface="Segoe UI"/>
              </a:rPr>
              <a:t> for each table, preferring a surrogate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4. Every </a:t>
            </a:r>
            <a:r>
              <a:rPr b="1" sz="1800">
                <a:solidFill>
                  <a:srgbClr val="1B2633"/>
                </a:solidFill>
                <a:latin typeface="Segoe UI"/>
              </a:rPr>
              <a:t>one to many</a:t>
            </a:r>
            <a:r>
              <a:rPr b="0" sz="1800">
                <a:solidFill>
                  <a:srgbClr val="1B2633"/>
                </a:solidFill>
                <a:latin typeface="Segoe UI"/>
              </a:rPr>
              <a:t> relationship becomes a foreign key on the many side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5. Every </a:t>
            </a:r>
            <a:r>
              <a:rPr b="1" sz="1800">
                <a:solidFill>
                  <a:srgbClr val="1B2633"/>
                </a:solidFill>
                <a:latin typeface="Segoe UI"/>
              </a:rPr>
              <a:t>many to many</a:t>
            </a:r>
            <a:r>
              <a:rPr b="0" sz="1800">
                <a:solidFill>
                  <a:srgbClr val="1B2633"/>
                </a:solidFill>
                <a:latin typeface="Segoe UI"/>
              </a:rPr>
              <a:t> becomes a junction table with a composite key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6. Set a </a:t>
            </a:r>
            <a:r>
              <a:rPr b="1" sz="1800">
                <a:solidFill>
                  <a:srgbClr val="1B2633"/>
                </a:solidFill>
                <a:latin typeface="Segoe UI"/>
              </a:rPr>
              <a:t>cascading rule</a:t>
            </a:r>
            <a:r>
              <a:rPr b="0" sz="1800">
                <a:solidFill>
                  <a:srgbClr val="1B2633"/>
                </a:solidFill>
                <a:latin typeface="Segoe UI"/>
              </a:rPr>
              <a:t> on every foreign key, deliberately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7. Add </a:t>
            </a:r>
            <a:r>
              <a:rPr b="0" sz="1800">
                <a:solidFill>
                  <a:srgbClr val="008C8C"/>
                </a:solidFill>
                <a:latin typeface="Consolas"/>
              </a:rPr>
              <a:t>CHECK</a:t>
            </a:r>
            <a:r>
              <a:rPr b="0" sz="1800">
                <a:solidFill>
                  <a:srgbClr val="1B2633"/>
                </a:solidFill>
                <a:latin typeface="Segoe UI"/>
              </a:rPr>
              <a:t> constraints for every business rule you can express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7822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7822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16966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Steps 6 and 7 are the ones people skip, and they are the ones the auditor asks about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3 - Normalization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three anomalies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626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31"/>
                <a:gridCol w="4449786"/>
                <a:gridCol w="5827101"/>
              </a:tblGrid>
              <a:tr h="573786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Anomaly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In the flat table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Insert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You cannot record one fact without another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Cannot register a new branch until it has a customer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Update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same fact must be changed in many rows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Branch renamed: update every customer row, or spellings diverge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Removing one fact destroys another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Closing the account removes the customer's phone number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016377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Both audit findings on ticket ICICI-4577 are on this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91865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491865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83305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Normalization is not theory for its own sake. It is the systematic removal of these three failures.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Functional 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A -&gt; B</a:t>
            </a:r>
            <a:r>
              <a:rPr b="0" sz="1800">
                <a:solidFill>
                  <a:srgbClr val="1B2633"/>
                </a:solidFill>
                <a:latin typeface="Segoe UI"/>
              </a:rPr>
              <a:t> means: if you know A, you know exactly one B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73936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11096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 -&gt;  first_name, last_name, phone, city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branch_code  -&gt;  branch_name, branch_ifsc, branch_city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account_no   -&gt;  account_type,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54549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Normalization is the process of making sure </a:t>
            </a:r>
            <a:r>
              <a:rPr b="1" sz="1800">
                <a:solidFill>
                  <a:srgbClr val="1B2633"/>
                </a:solidFill>
                <a:latin typeface="Segoe UI"/>
              </a:rPr>
              <a:t>every non-key column depends on the key of its own table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classic phrase: *the key, the whole key, and nothing but the key*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First Normal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value is </a:t>
            </a:r>
            <a:r>
              <a:rPr b="1" sz="1800">
                <a:solidFill>
                  <a:srgbClr val="1B2633"/>
                </a:solidFill>
                <a:latin typeface="Segoe UI"/>
              </a:rPr>
              <a:t>atomic</a:t>
            </a:r>
            <a:r>
              <a:rPr b="0" sz="1800">
                <a:solidFill>
                  <a:srgbClr val="1B2633"/>
                </a:solidFill>
                <a:latin typeface="Segoe UI"/>
              </a:rPr>
              <a:t> - one value per cell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 </a:t>
            </a:r>
            <a:r>
              <a:rPr b="1" sz="1800">
                <a:solidFill>
                  <a:srgbClr val="1B2633"/>
                </a:solidFill>
                <a:latin typeface="Segoe UI"/>
              </a:rPr>
              <a:t>repeating groups</a:t>
            </a:r>
            <a:r>
              <a:rPr b="0" sz="1800">
                <a:solidFill>
                  <a:srgbClr val="1B2633"/>
                </a:solidFill>
                <a:latin typeface="Segoe UI"/>
              </a:rPr>
              <a:t> - no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acct_no_1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acct_no_2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row is uniquely identifiable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42032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42032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679192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VIOLATION 1: products = 'FD,LOAN,CARD'      -&gt; not atomic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VIOLATION 2: acct_no_1, acct_no_2, acct_no_3 -&gt; repeating group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1769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1769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409134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comma-separated list in a column means you cannot index it, join it, constrain it or count 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Fixing 1NF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BEFORE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cust_id cust_name    acct_no_1  bal_1   acct_no_2  bal_2   products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1003    Rohan Iyer   ...9003    341244  ...9004    421425  LOAN,CARD,FD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AFTER  (customer)              (customer_account)          (customer_product)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cust_id cust_name              cust_id acct_no  balance    cust_id product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1003    Rohan Iyer             1003    ...9003  341244     1003    LOAN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1003    ...9004  421425     1003    CARD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                         1003    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repeating group became </a:t>
            </a:r>
            <a:r>
              <a:rPr b="1" sz="1800">
                <a:solidFill>
                  <a:srgbClr val="1B2633"/>
                </a:solidFill>
                <a:latin typeface="Segoe UI"/>
              </a:rPr>
              <a:t>rows</a:t>
            </a:r>
            <a:r>
              <a:rPr b="0" sz="1800">
                <a:solidFill>
                  <a:srgbClr val="1B2633"/>
                </a:solidFill>
                <a:latin typeface="Segoe UI"/>
              </a:rPr>
              <a:t> instead of columns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Now a customer may hold three accounts without a schema change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Second Normal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Must already be in 1NF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No partial dependency</a:t>
            </a:r>
            <a:r>
              <a:rPr b="0" sz="1800">
                <a:solidFill>
                  <a:srgbClr val="1B2633"/>
                </a:solidFill>
                <a:latin typeface="Segoe UI"/>
              </a:rPr>
              <a:t>: no non-key column may depend on only part of a composite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10698480" cy="1024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ACCOUNT_TXN_FLAT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PRIMARY KEY (account_id, txn_id)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account_id, txn_id  -&gt;  amount, txn_date       (depends on the whole key)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account_id          -&gt;  account_type, balance  (depends on PART of the key)  &lt;-- 2NF violation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22819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822819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4259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2NF only ever applies to tables with a </a:t>
            </a:r>
            <a:r>
              <a:rPr b="1" sz="1450">
                <a:solidFill>
                  <a:srgbClr val="6B4A00"/>
                </a:solidFill>
                <a:latin typeface="Segoe UI"/>
              </a:rPr>
              <a:t>composite</a:t>
            </a:r>
            <a:r>
              <a:rPr b="1" sz="1450">
                <a:solidFill>
                  <a:srgbClr val="6B4A00"/>
                </a:solidFill>
                <a:latin typeface="Segoe UI"/>
              </a:rPr>
              <a:t> primary key. A single-column key cannot have a partial dependency.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Fixing 2NF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4346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BEFORE                              AFTER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ACCOUNT_TXN_FLAT                    ACCOUNT              ACCOUNT_TXN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(account_id, txn_id) PK             account_id PK        txn_id PK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account_type                        account_type         account_id FK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balance                             balance              amount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amount                                                   txn_date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txn_date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98865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account's own facts moved to the account table, stored </a:t>
            </a:r>
            <a:r>
              <a:rPr b="1" sz="1800">
                <a:solidFill>
                  <a:srgbClr val="1B2633"/>
                </a:solidFill>
                <a:latin typeface="Segoe UI"/>
              </a:rPr>
              <a:t>once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account_type</a:t>
            </a:r>
            <a:r>
              <a:rPr b="0" sz="1800">
                <a:solidFill>
                  <a:srgbClr val="1B2633"/>
                </a:solidFill>
                <a:latin typeface="Segoe UI"/>
              </a:rPr>
              <a:t> was repeated on every transaction. Now it appears once per account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Third Normal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Must already be in 2NF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No transitive dependency</a:t>
            </a:r>
            <a:r>
              <a:rPr b="0" sz="1800">
                <a:solidFill>
                  <a:srgbClr val="1B2633"/>
                </a:solidFill>
                <a:latin typeface="Segoe UI"/>
              </a:rPr>
              <a:t>: no non-key column may depend on another non-key 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CUSTOMER_FLAT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PK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-&gt; branch_code        (fine, depends on the key)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branch_code -&gt; branch_name        (branch_name depends on a NON-key column)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-&gt; transitive, 3NF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2777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This is exactly the "three different spellings of the branch address" 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503258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503258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594698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Any column that describes something </a:t>
            </a:r>
            <a:r>
              <a:rPr b="1" sz="1450">
                <a:solidFill>
                  <a:srgbClr val="6B4A00"/>
                </a:solidFill>
                <a:latin typeface="Segoe UI"/>
              </a:rPr>
              <a:t>other than the row's subject</a:t>
            </a:r>
            <a:r>
              <a:rPr b="1" sz="1450">
                <a:solidFill>
                  <a:srgbClr val="6B4A00"/>
                </a:solidFill>
                <a:latin typeface="Segoe UI"/>
              </a:rPr>
              <a:t> is a 3NF violation waiting to happen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Fixing 3NF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BEFORE                                AFTER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CUSTOMER_FLAT                         CUSTOMER            BRANCH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customer_id  PK                       customer_id PK      branch_id PK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first_name                            first_name          branch_name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branch_code                           branch_id FK        ifsc_code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branch_name       &lt;- repeated                             city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branch_ifsc       &lt;- repeated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branch_city       &lt;- repeated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branch name is now stored </a:t>
            </a:r>
            <a:r>
              <a:rPr b="1" sz="1800">
                <a:solidFill>
                  <a:srgbClr val="1B2633"/>
                </a:solidFill>
                <a:latin typeface="Segoe UI"/>
              </a:rPr>
              <a:t>once</a:t>
            </a:r>
            <a:r>
              <a:rPr b="0" sz="1800">
                <a:solidFill>
                  <a:srgbClr val="1B2633"/>
                </a:solidFill>
                <a:latin typeface="Segoe UI"/>
              </a:rPr>
              <a:t>. It cannot have three spellings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Renaming a branch is one </a:t>
            </a:r>
            <a:r>
              <a:rPr b="0" sz="1800">
                <a:solidFill>
                  <a:srgbClr val="008C8C"/>
                </a:solidFill>
                <a:latin typeface="Consolas"/>
              </a:rPr>
              <a:t>UPDATE</a:t>
            </a:r>
            <a:r>
              <a:rPr b="0" sz="1800">
                <a:solidFill>
                  <a:srgbClr val="1B2633"/>
                </a:solidFill>
                <a:latin typeface="Segoe UI"/>
              </a:rPr>
              <a:t> of one row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Boyce-Codd Normal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stricter 3NF: </a:t>
            </a:r>
            <a:r>
              <a:rPr b="1" sz="1800">
                <a:solidFill>
                  <a:srgbClr val="1B2633"/>
                </a:solidFill>
                <a:latin typeface="Segoe UI"/>
              </a:rPr>
              <a:t>every determinant must be a candidate key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Bites when a table has overlapping candidate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57984"/>
            <a:ext cx="11018520" cy="1094124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57984"/>
            <a:ext cx="50292" cy="109412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95144"/>
            <a:ext cx="10698480" cy="81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BRANCH_RM_ASSIGNMENT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(branch_id, product_code) -&gt; rm_id       both are candidate keys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rm_id                     -&gt; product_code   rm_id is a determinant, but NOT a candidate 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            -&gt; BCNF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435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Fix: split into </a:t>
            </a:r>
            <a:r>
              <a:rPr b="0" sz="1800">
                <a:solidFill>
                  <a:srgbClr val="008C8C"/>
                </a:solidFill>
                <a:latin typeface="Consolas"/>
              </a:rPr>
              <a:t>RM_PRODUCT (rm_id, product_code)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BRANCH_RM (branch_id, rm_id)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9335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09335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84796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Most 3NF tables are already in BCNF. When they are not, it is always this shape.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Higher normal forms, briefly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568"/>
                <a:gridCol w="6733540"/>
                <a:gridCol w="3550412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Removes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Realistically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4NF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Multi-valued dependencies - two independent one-to-many facts in one 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Occasionally useful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5NF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Join dependencies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Rare in practice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6NF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Every non-key column in its own 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Temporal data warehouses only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93492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3NF or BCNF is the target for an OLTP banking schema.</a:t>
            </a:r>
            <a:r>
              <a:rPr b="0" sz="1800">
                <a:solidFill>
                  <a:srgbClr val="1B2633"/>
                </a:solidFill>
                <a:latin typeface="Segoe UI"/>
              </a:rPr>
              <a:t> Past that, the joins cost more than the anomalies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whole journey, one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97"/>
                <a:gridCol w="5065986"/>
                <a:gridCol w="5192635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Form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Anomaly removed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1NF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Atomic values, no repeating groups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Cannot store or query multiple values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2NF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 partial dependency on a composite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Redundant repetition of parent facts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3NF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 transitive dependency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Update anomaly, inconsistent spellings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BCNF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Every determinant is a candidate key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Residual redundancy with overlapping keys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235833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*The key, the whole key, and nothing but the key, so help me Codd.*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4 - Functions in the schema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 rule in the schema beats a rule in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Modules 2 and 3 used functions to shape </a:t>
            </a:r>
            <a:r>
              <a:rPr b="1" sz="1800">
                <a:solidFill>
                  <a:srgbClr val="1B2633"/>
                </a:solidFill>
                <a:latin typeface="Segoe UI"/>
              </a:rPr>
              <a:t>output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Here they enforce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design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rule in the schema is met by every application, batch job and DBA alike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rule in application code is met by whoever remembered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2608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This is Codd's </a:t>
            </a:r>
            <a:r>
              <a:rPr b="1" sz="1450">
                <a:solidFill>
                  <a:srgbClr val="6B4A00"/>
                </a:solidFill>
                <a:latin typeface="Segoe UI"/>
              </a:rPr>
              <a:t>rule 10</a:t>
            </a:r>
            <a:r>
              <a:rPr b="1" sz="1450">
                <a:solidFill>
                  <a:srgbClr val="6B4A00"/>
                </a:solidFill>
                <a:latin typeface="Segoe UI"/>
              </a:rPr>
              <a:t> from Module 1, made concrete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DEFAULT expressions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CREATE TABLE ex4_locker_agreement 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agreement_id  BIGINT      GENERATED ALWAYS AS IDENTITY PRIMARY KEY,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customer_id   INTEGER     NOT NULL REFERENCES customer(customer_id),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start_date    DATE        NOT NULL DEFAULT CURRENT_DATE,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status        VARCHAR(12) NOT NULL DEFAULT 'ACTIVE',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created_at    TIMESTAMP   NOT NULL DEFAULT NOW(),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reference     UUID        NOT NULL DEFAULT gen_random_uuid()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GENERATED ALWAYS AS IDENTITY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the </a:t>
            </a:r>
            <a:r>
              <a:rPr b="1" sz="1800">
                <a:solidFill>
                  <a:srgbClr val="1B2633"/>
                </a:solidFill>
                <a:latin typeface="Segoe UI"/>
              </a:rPr>
              <a:t>standard</a:t>
            </a:r>
            <a:r>
              <a:rPr b="0" sz="1800">
                <a:solidFill>
                  <a:srgbClr val="1B2633"/>
                </a:solidFill>
                <a:latin typeface="Segoe UI"/>
              </a:rPr>
              <a:t> form, and replaces </a:t>
            </a:r>
            <a:r>
              <a:rPr b="0" sz="1800">
                <a:solidFill>
                  <a:srgbClr val="008C8C"/>
                </a:solidFill>
                <a:latin typeface="Consolas"/>
              </a:rPr>
              <a:t>SERIAL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SERIAL</a:t>
            </a:r>
            <a:r>
              <a:rPr b="0" sz="1800">
                <a:solidFill>
                  <a:srgbClr val="1B2633"/>
                </a:solidFill>
                <a:latin typeface="Segoe UI"/>
              </a:rPr>
              <a:t> leaves the column an ordinary integer, so an application can override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3767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43767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52911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default is </a:t>
            </a:r>
            <a:r>
              <a:rPr b="1" sz="1450">
                <a:solidFill>
                  <a:srgbClr val="6B4A00"/>
                </a:solidFill>
                <a:latin typeface="Segoe UI"/>
              </a:rPr>
              <a:t>not</a:t>
            </a:r>
            <a:r>
              <a:rPr b="1" sz="1450">
                <a:solidFill>
                  <a:srgbClr val="6B4A00"/>
                </a:solidFill>
                <a:latin typeface="Segoe UI"/>
              </a:rPr>
              <a:t> a constraint. </a:t>
            </a:r>
            <a:r>
              <a:rPr b="0" sz="1450">
                <a:solidFill>
                  <a:srgbClr val="008C8C"/>
                </a:solidFill>
                <a:latin typeface="Consolas"/>
              </a:rPr>
              <a:t>DEFAULT 'ACTIVE'</a:t>
            </a:r>
            <a:r>
              <a:rPr b="1" sz="1450">
                <a:solidFill>
                  <a:srgbClr val="6B4A00"/>
                </a:solidFill>
                <a:latin typeface="Segoe UI"/>
              </a:rPr>
              <a:t> does not stop someone inserting </a:t>
            </a:r>
            <a:r>
              <a:rPr b="0" sz="1450">
                <a:solidFill>
                  <a:srgbClr val="008C8C"/>
                </a:solidFill>
                <a:latin typeface="Consolas"/>
              </a:rPr>
              <a:t>'BANANA'</a:t>
            </a:r>
            <a:r>
              <a:rPr b="1" sz="1450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CHECK constraints with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branch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ADD CONSTRAINT ck_branch_ifsc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CHECK (ifsc_code ~ '^[A-Z]{4}0[A-Z0-9]{6}$');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279061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602"/>
                <a:gridCol w="6197917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Constraint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IFSC format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ifsc_code ~ '^[A-Z]{4}0[A-Z0-9]{6}$'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PAN format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pan ~ '^[A-Z]{5}[0-9]{4}[A-Z]$'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Indian mobile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phone ~ '^[6-9][0-9]{9}$'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 leading or trailing space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branch_name = TRIM(branch_name)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412500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2500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16446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That last one would have made </a:t>
            </a:r>
            <a:r>
              <a:rPr b="0" sz="1450">
                <a:solidFill>
                  <a:srgbClr val="008C8C"/>
                </a:solidFill>
                <a:latin typeface="Consolas"/>
              </a:rPr>
              <a:t>'Koramangala '</a:t>
            </a:r>
            <a:r>
              <a:rPr b="1" sz="1450">
                <a:solidFill>
                  <a:srgbClr val="6B4A00"/>
                </a:solidFill>
                <a:latin typeface="Segoe UI"/>
              </a:rPr>
              <a:t> impossible, and most of today's lab unnecessary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rule a CHECK may not express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684222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684222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409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Wrong, even where the database lets you write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CHECK (start_date &gt;= CURRENT_DATE)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74110"/>
            <a:ext cx="110642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</a:t>
            </a:r>
            <a:r>
              <a:rPr b="0" sz="1800">
                <a:solidFill>
                  <a:srgbClr val="008C8C"/>
                </a:solidFill>
                <a:latin typeface="Consolas"/>
              </a:rPr>
              <a:t>CHECK</a:t>
            </a:r>
            <a:r>
              <a:rPr b="0" sz="1800">
                <a:solidFill>
                  <a:srgbClr val="1B2633"/>
                </a:solidFill>
                <a:latin typeface="Segoe UI"/>
              </a:rPr>
              <a:t> may depend only on </a:t>
            </a:r>
            <a:r>
              <a:rPr b="1" sz="1800">
                <a:solidFill>
                  <a:srgbClr val="1B2633"/>
                </a:solidFill>
                <a:latin typeface="Segoe UI"/>
              </a:rPr>
              <a:t>its own row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 subquery, no other table, and </a:t>
            </a:r>
            <a:r>
              <a:rPr b="1" sz="1800">
                <a:solidFill>
                  <a:srgbClr val="1B2633"/>
                </a:solidFill>
                <a:latin typeface="Segoe UI"/>
              </a:rPr>
              <a:t>not the clock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constraint is re-evaluated when a </a:t>
            </a:r>
            <a:r>
              <a:rPr b="1" sz="1800">
                <a:solidFill>
                  <a:srgbClr val="1B2633"/>
                </a:solidFill>
                <a:latin typeface="Segoe UI"/>
              </a:rPr>
              <a:t>backup is restored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row valid when inserted fails a year later, and the restore stops part 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0174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70174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9318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Any rule involving *now* belongs in a trigger or the application. "The customer must exist" is a </a:t>
            </a:r>
            <a:r>
              <a:rPr b="0" sz="1450">
                <a:solidFill>
                  <a:srgbClr val="008C8C"/>
                </a:solidFill>
                <a:latin typeface="Consolas"/>
              </a:rPr>
              <a:t>FOREIGN KEY</a:t>
            </a:r>
            <a:r>
              <a:rPr b="1" sz="1450">
                <a:solidFill>
                  <a:srgbClr val="6B4A0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Generated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ADD COLUMN masked_number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GENERATED ALWAYS AS ('XXXXXXXXXX' || RIGHT(account_number, 4)) STORED;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279061"/>
          <a:ext cx="11018519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4931"/>
                <a:gridCol w="1377315"/>
                <a:gridCol w="2410301"/>
                <a:gridCol w="2065972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Computed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Can be indexed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Can go stale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Generated column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 write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View column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 read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Not directly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column the application fills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Never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1B2633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3774105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expression must be </a:t>
            </a:r>
            <a:r>
              <a:rPr b="1" sz="1800">
                <a:solidFill>
                  <a:srgbClr val="1B2633"/>
                </a:solidFill>
                <a:latin typeface="Segoe UI"/>
              </a:rPr>
              <a:t>immutable</a:t>
            </a:r>
            <a:r>
              <a:rPr b="0" sz="1800">
                <a:solidFill>
                  <a:srgbClr val="1B2633"/>
                </a:solidFill>
                <a:latin typeface="Segoe UI"/>
              </a:rPr>
              <a:t>, so </a:t>
            </a:r>
            <a:r>
              <a:rPr b="0" sz="1800">
                <a:solidFill>
                  <a:srgbClr val="008C8C"/>
                </a:solidFill>
                <a:latin typeface="Consolas"/>
              </a:rPr>
              <a:t>CURRENT_DATE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refused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49593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249593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341033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This is the honest version of denormalization. The database owns the value, so it cannot drift.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functions normalization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DISTINCT branch_name AS raw,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UPPER(REGEXP_REPLACE(TRIM(branch_name), '\s+', ' ', 'g')) AS normalised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branch_customer_flat WHERE branch_code = 'BR03' ORDER BY raw;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raw      | normalised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---------------+-------------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Koramangala   | KORAMANGALA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Koramangala   | KORAMANGALA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Koramangla    | KORAMANGLA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Kormangala    | KORMANGALA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13718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Four spellings collapse to </a:t>
            </a:r>
            <a:r>
              <a:rPr b="1" sz="1800">
                <a:solidFill>
                  <a:srgbClr val="1B2633"/>
                </a:solidFill>
                <a:latin typeface="Segoe UI"/>
              </a:rPr>
              <a:t>three</a:t>
            </a:r>
            <a:r>
              <a:rPr b="0" sz="1800">
                <a:solidFill>
                  <a:srgbClr val="1B2633"/>
                </a:solidFill>
                <a:latin typeface="Segoe UI"/>
              </a:rPr>
              <a:t>, not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920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18920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80646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0" sz="1450">
                <a:solidFill>
                  <a:srgbClr val="008C8C"/>
                </a:solidFill>
                <a:latin typeface="Consolas"/>
              </a:rPr>
              <a:t>Koramangla</a:t>
            </a:r>
            <a:r>
              <a:rPr b="1" sz="1450">
                <a:solidFill>
                  <a:srgbClr val="6B4A00"/>
                </a:solidFill>
                <a:latin typeface="Segoe UI"/>
              </a:rPr>
              <a:t> and </a:t>
            </a:r>
            <a:r>
              <a:rPr b="0" sz="1450">
                <a:solidFill>
                  <a:srgbClr val="008C8C"/>
                </a:solidFill>
                <a:latin typeface="Consolas"/>
              </a:rPr>
              <a:t>Kormangala</a:t>
            </a:r>
            <a:r>
              <a:rPr b="1" sz="1450">
                <a:solidFill>
                  <a:srgbClr val="6B4A00"/>
                </a:solidFill>
                <a:latin typeface="Segoe UI"/>
              </a:rPr>
              <a:t> are </a:t>
            </a:r>
            <a:r>
              <a:rPr b="1" sz="1450">
                <a:solidFill>
                  <a:srgbClr val="6B4A00"/>
                </a:solidFill>
                <a:latin typeface="Segoe UI"/>
              </a:rPr>
              <a:t>misspellings</a:t>
            </a:r>
            <a:r>
              <a:rPr b="1" sz="1450">
                <a:solidFill>
                  <a:srgbClr val="6B4A00"/>
                </a:solidFill>
                <a:latin typeface="Segoe UI"/>
              </a:rPr>
              <a:t>, not formatting. No function can pick the right one.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Normalize formatting. Never normalize meaning.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Whitespace and case are </a:t>
            </a:r>
            <a:r>
              <a:rPr b="1" sz="1800">
                <a:solidFill>
                  <a:srgbClr val="1B2633"/>
                </a:solidFill>
                <a:latin typeface="Segoe UI"/>
              </a:rPr>
              <a:t>formatting</a:t>
            </a:r>
            <a:r>
              <a:rPr b="0" sz="1800">
                <a:solidFill>
                  <a:srgbClr val="1B2633"/>
                </a:solidFill>
                <a:latin typeface="Segoe UI"/>
              </a:rPr>
              <a:t> - collapse them automatically, it is safe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misspelling is a </a:t>
            </a:r>
            <a:r>
              <a:rPr b="1" sz="1800">
                <a:solidFill>
                  <a:srgbClr val="1B2633"/>
                </a:solidFill>
                <a:latin typeface="Segoe UI"/>
              </a:rPr>
              <a:t>competing claim about a fact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Resolving it silently enshrines an error, with no record a decision was made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fix needs the RBI IFSC directory and a human, and a mapping table recording why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29184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This is exactly the exercise question you will answer at the end of today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to put a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065"/>
                <a:gridCol w="5922454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The rule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Where it belongs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One of a fixed set of values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CHECK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, or a lookup table with a foreign key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Must match a format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CHECK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with a regular expression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Must exist in another 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FOREIGN KEY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Must be unique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Derived from other columns in the row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Generated column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Involves today's date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trigger, or the application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Spans several rows or tables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trigger, or a procedure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197096"/>
            <a:ext cx="11064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Top half: enforced for </a:t>
            </a:r>
            <a:r>
              <a:rPr b="1" sz="1800">
                <a:solidFill>
                  <a:srgbClr val="1B2633"/>
                </a:solidFill>
                <a:latin typeface="Segoe UI"/>
              </a:rPr>
              <a:t>every</a:t>
            </a:r>
            <a:r>
              <a:rPr b="0" sz="1800">
                <a:solidFill>
                  <a:srgbClr val="1B2633"/>
                </a:solidFill>
                <a:latin typeface="Segoe UI"/>
              </a:rPr>
              <a:t> caller, no exceptions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Bottom half: depends on code somebody can forget to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5663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05663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148072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Module 9's audit findings are almost all about the bottom half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5 - Denormalization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When to break the rules on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Normalization optimises for </a:t>
            </a:r>
            <a:r>
              <a:rPr b="1" sz="1800">
                <a:solidFill>
                  <a:srgbClr val="1B2633"/>
                </a:solidFill>
                <a:latin typeface="Segoe UI"/>
              </a:rPr>
              <a:t>correct writes</a:t>
            </a:r>
            <a:r>
              <a:rPr b="0" sz="1800">
                <a:solidFill>
                  <a:srgbClr val="1B2633"/>
                </a:solidFill>
                <a:latin typeface="Segoe UI"/>
              </a:rPr>
              <a:t>. Reporting optimises for </a:t>
            </a:r>
            <a:r>
              <a:rPr b="1" sz="1800">
                <a:solidFill>
                  <a:srgbClr val="1B2633"/>
                </a:solidFill>
                <a:latin typeface="Segoe UI"/>
              </a:rPr>
              <a:t>fast reads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Denormalize only when you can name the query that needs it, and you have measured the problem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706624"/>
          <a:ext cx="11018520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400"/>
                <a:gridCol w="4897120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Situation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Denormalization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Every mini-statement recomputes the balance from 40m rows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Store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account.balance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and maintain it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warehouse joins 8 tables for every report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Star schema with a wide fact table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 screen shows the branch name on every row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Duplicate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branch_name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into the summary table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pack takes 40 seconds each morning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Overnight summary table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552569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552569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44009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Denormalize the </a:t>
            </a:r>
            <a:r>
              <a:rPr b="1" sz="1450">
                <a:solidFill>
                  <a:srgbClr val="6B4A00"/>
                </a:solidFill>
                <a:latin typeface="Segoe UI"/>
              </a:rPr>
              <a:t>reporting</a:t>
            </a:r>
            <a:r>
              <a:rPr b="1" sz="1450">
                <a:solidFill>
                  <a:srgbClr val="6B4A00"/>
                </a:solidFill>
                <a:latin typeface="Segoe UI"/>
              </a:rPr>
              <a:t> copy. Keep the transactional copy normalized.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ICICI Bank's own deliberate denormalization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889173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889173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61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account.balance is derivable, and stored anyway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SUM(CASE WHEN txn_type='CREDIT' THEN amount ELSE -amount END)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account_txn WHERE account_id = 9003;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79061"/>
            <a:ext cx="1106424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Correct, and it reads every transaction that account has ever had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ICICI Bank stores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account.balance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updates it inside the same transaction as the posting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cost: the stored value can drift. The control: a nightly reconciliation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71285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71285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62725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Every denormalization needs a </a:t>
            </a:r>
            <a:r>
              <a:rPr b="1" sz="1450">
                <a:solidFill>
                  <a:srgbClr val="6B4A00"/>
                </a:solidFill>
                <a:latin typeface="Segoe UI"/>
              </a:rPr>
              <a:t>reconciliation</a:t>
            </a:r>
            <a:r>
              <a:rPr b="1" sz="1450">
                <a:solidFill>
                  <a:srgbClr val="6B4A00"/>
                </a:solidFill>
                <a:latin typeface="Segoe UI"/>
              </a:rPr>
              <a:t> that proves it is still true. No exceptions.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Keeping denormalized data honest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050"/>
                <a:gridCol w="7769469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Same transaction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Update the derived value in the same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BEGIN...COMMIT</a:t>
                      </a:r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 as the source change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Trigger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database maintains it, so no application can forget - Module 10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Scheduled recomputation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Rebuild the summary nightly - Module 10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Reconciliation report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Compare stored against computed, alert on any difference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1504026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0292" cy="1504026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281553"/>
            <a:ext cx="10698480" cy="12297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The nightly control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a.account_id, a.balance AS stored,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COALESCE(SUM(CASE WHEN t.txn_type='CREDIT' THEN t.amount ELSE -t.amount END),0) AS computed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account a LEFT JOIN account_txn t ON t.account_id = a.account_id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 BY a.account_id, a.balance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HAVING a.balance &lt;&gt; COALESCE(SUM(CASE WHEN t.txn_type='CREDIT' THEN t.amount ELSE -t.amount END),0);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Normalized or denormalized?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73"/>
                <a:gridCol w="3193773"/>
                <a:gridCol w="4630972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OLTP core banking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Reporting warehouse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Target form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3NF or BCNF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Star schema, deliberately 2NF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Optimised for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Correct, fast writes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Fast aggregate reads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Redundancy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Eliminated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Accepted and controlled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Update frequency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Constant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Nightly load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Who owns correctness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constraints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The ETL job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Both exist at ICICI Bank. Module 10 builds the second one, Module 11 moves data between them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6 - Closing the ticket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we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008C8C"/>
                </a:solidFill>
                <a:latin typeface="Consolas"/>
              </a:rPr>
              <a:t>BRANCH_CUSTOMER_FLAT</a:t>
            </a:r>
            <a:r>
              <a:rPr b="0" sz="1800">
                <a:solidFill>
                  <a:srgbClr val="1B2633"/>
                </a:solidFill>
                <a:latin typeface="Segoe UI"/>
              </a:rPr>
              <a:t> decomposed into </a:t>
            </a:r>
            <a:r>
              <a:rPr b="0" sz="1800">
                <a:solidFill>
                  <a:srgbClr val="008C8C"/>
                </a:solidFill>
                <a:latin typeface="Consolas"/>
              </a:rPr>
              <a:t>branch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customer</a:t>
            </a:r>
            <a:r>
              <a:rPr b="0" sz="1800">
                <a:solidFill>
                  <a:srgbClr val="1B2633"/>
                </a:solidFill>
                <a:latin typeface="Segoe UI"/>
              </a:rPr>
              <a:t>, </a:t>
            </a:r>
            <a:r>
              <a:rPr b="0" sz="1800">
                <a:solidFill>
                  <a:srgbClr val="008C8C"/>
                </a:solidFill>
                <a:latin typeface="Consolas"/>
              </a:rPr>
              <a:t>account</a:t>
            </a:r>
            <a:r>
              <a:rPr b="0" sz="1800">
                <a:solidFill>
                  <a:srgbClr val="1B2633"/>
                </a:solidFill>
                <a:latin typeface="Segoe UI"/>
              </a:rPr>
              <a:t> and </a:t>
            </a:r>
            <a:r>
              <a:rPr b="0" sz="1800">
                <a:solidFill>
                  <a:srgbClr val="008C8C"/>
                </a:solidFill>
                <a:latin typeface="Consolas"/>
              </a:rPr>
              <a:t>customer_product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Every foreign key declared, with a deliberate cascading rule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The ER model drawn, reviewed, and used as the basis for the credit card subsystem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090672"/>
          <a:ext cx="11018519" cy="1052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5062"/>
                <a:gridCol w="2484568"/>
                <a:gridCol w="3888889"/>
              </a:tblGrid>
              <a:tr h="350901"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Audit finding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Root cause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Fixed by</a:t>
                      </a:r>
                    </a:p>
                  </a:txBody>
                  <a:tcPr marL="91440" marR="54864" marT="18288" marB="18288" anchor="ctr">
                    <a:solidFill>
                      <a:srgbClr val="0B2A4A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Three spellings of the branch address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Transitive dependency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3NF: branch details moved to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branch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50901"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Closing an account deleted the phone number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Two entities in one row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50">
                          <a:solidFill>
                            <a:srgbClr val="1B2633"/>
                          </a:solidFill>
                          <a:latin typeface="Segoe UI"/>
                        </a:rPr>
                        <a:t>1NF and 3NF, plus </a:t>
                      </a:r>
                      <a:r>
                        <a:rPr b="0" sz="1350">
                          <a:solidFill>
                            <a:srgbClr val="008C8C"/>
                          </a:solidFill>
                          <a:latin typeface="Consolas"/>
                        </a:rPr>
                        <a:t>ON DELETE RESTRICT</a:t>
                      </a:r>
                    </a:p>
                  </a:txBody>
                  <a:tcPr marL="91440" marR="54864" marT="18288" marB="1828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40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 </a:t>
            </a:r>
            <a:r>
              <a:rPr b="1" sz="1800">
                <a:solidFill>
                  <a:srgbClr val="1B2633"/>
                </a:solidFill>
                <a:latin typeface="Segoe UI"/>
              </a:rPr>
              <a:t>primary key</a:t>
            </a:r>
            <a:r>
              <a:rPr b="0" sz="1800">
                <a:solidFill>
                  <a:srgbClr val="1B2633"/>
                </a:solidFill>
                <a:latin typeface="Segoe UI"/>
              </a:rPr>
              <a:t> is unique, not null, stable, minimal and preferably meaningless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Referential integrity</a:t>
            </a:r>
            <a:r>
              <a:rPr b="0" sz="1800">
                <a:solidFill>
                  <a:srgbClr val="1B2633"/>
                </a:solidFill>
                <a:latin typeface="Segoe UI"/>
              </a:rPr>
              <a:t> stops orphan rows; the cascading rule is a deliberate decision, not a default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An </a:t>
            </a:r>
            <a:r>
              <a:rPr b="1" sz="1800">
                <a:solidFill>
                  <a:srgbClr val="1B2633"/>
                </a:solidFill>
                <a:latin typeface="Segoe UI"/>
              </a:rPr>
              <a:t>ER model</a:t>
            </a:r>
            <a:r>
              <a:rPr b="0" sz="1800">
                <a:solidFill>
                  <a:srgbClr val="1B2633"/>
                </a:solidFill>
                <a:latin typeface="Segoe UI"/>
              </a:rPr>
              <a:t> turns nouns into tables, verbs into foreign keys, and many-to-many into junction tables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1NF</a:t>
            </a:r>
            <a:r>
              <a:rPr b="0" sz="1800">
                <a:solidFill>
                  <a:srgbClr val="1B2633"/>
                </a:solidFill>
                <a:latin typeface="Segoe UI"/>
              </a:rPr>
              <a:t> atomic values, </a:t>
            </a:r>
            <a:r>
              <a:rPr b="1" sz="1800">
                <a:solidFill>
                  <a:srgbClr val="1B2633"/>
                </a:solidFill>
                <a:latin typeface="Segoe UI"/>
              </a:rPr>
              <a:t>2NF</a:t>
            </a:r>
            <a:r>
              <a:rPr b="0" sz="1800">
                <a:solidFill>
                  <a:srgbClr val="1B2633"/>
                </a:solidFill>
                <a:latin typeface="Segoe UI"/>
              </a:rPr>
              <a:t> no partial dependency, </a:t>
            </a:r>
            <a:r>
              <a:rPr b="1" sz="1800">
                <a:solidFill>
                  <a:srgbClr val="1B2633"/>
                </a:solidFill>
                <a:latin typeface="Segoe UI"/>
              </a:rPr>
              <a:t>3NF</a:t>
            </a:r>
            <a:r>
              <a:rPr b="0" sz="1800">
                <a:solidFill>
                  <a:srgbClr val="1B2633"/>
                </a:solidFill>
                <a:latin typeface="Segoe UI"/>
              </a:rPr>
              <a:t> no transitive dependency, </a:t>
            </a:r>
            <a:r>
              <a:rPr b="1" sz="1800">
                <a:solidFill>
                  <a:srgbClr val="1B2633"/>
                </a:solidFill>
                <a:latin typeface="Segoe UI"/>
              </a:rPr>
              <a:t>BCNF</a:t>
            </a:r>
            <a:r>
              <a:rPr b="0" sz="1800">
                <a:solidFill>
                  <a:srgbClr val="1B2633"/>
                </a:solidFill>
                <a:latin typeface="Segoe UI"/>
              </a:rPr>
              <a:t> every determinant is a candidate key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Normalization removes insert, update and delete anomalies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1" sz="1800">
                <a:solidFill>
                  <a:srgbClr val="1B2633"/>
                </a:solidFill>
                <a:latin typeface="Segoe UI"/>
              </a:rPr>
              <a:t>Denormalize deliberately</a:t>
            </a:r>
            <a:r>
              <a:rPr b="0" sz="1800">
                <a:solidFill>
                  <a:srgbClr val="1B2633"/>
                </a:solidFill>
                <a:latin typeface="Segoe UI"/>
              </a:rPr>
              <a:t>, for a named query, with a reconciliation that proves it stays true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4 - Database Design and Normalization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Next - 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Your schema is now correct. It is not yet fast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Module 5 covers </a:t>
            </a:r>
            <a:r>
              <a:rPr b="1" sz="1800">
                <a:solidFill>
                  <a:srgbClr val="1B2633"/>
                </a:solidFill>
                <a:latin typeface="Segoe UI"/>
              </a:rPr>
              <a:t>B-tree and hash indexes, execution plans and query optimization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b="0" sz="1800">
                <a:solidFill>
                  <a:srgbClr val="1B2633"/>
                </a:solidFill>
                <a:latin typeface="Segoe UI"/>
              </a:rPr>
              <a:t>You will take the mini-statement query from 9 seconds to under 50 milliseconds, then move the logic into stored procedures and 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90672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090672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82112"/>
            <a:ext cx="106070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b="1" sz="1450">
                <a:solidFill>
                  <a:srgbClr val="6B4A00"/>
                </a:solidFill>
                <a:latin typeface="Segoe UI"/>
              </a:rPr>
              <a:t>A normalized schema without indexes is a correct system that nobody can use. Tomorrow we make it usable.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