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A78BFA"/>
                </a:solidFill>
                <a:latin typeface="Calibri"/>
              </a:rPr>
              <a:t>MODULE 07 · NOSQL &amp; REDIS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Redis Persistence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RDB, AOF and the hybrid model - run, broken and recovered on purpose, in Docker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RDB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AOF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HYBRID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DOCKER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Deck 6 of 6  ·  Module 07  ·  NoSQL &amp; Redis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Persistence Is a Decision, Not a Default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Redis keeps everything in RAM. What happens when the process stops is up to you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216152"/>
            <a:ext cx="2609088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RAM is the only copy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UNLESS YOU SAY OTHERWISE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docker stop / kill -9 / OOM-kill erase it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Off by default - persistence is opt-in</a:t>
            </a:r>
          </a:p>
        </p:txBody>
      </p:sp>
      <p:sp>
        <p:nvSpPr>
          <p:cNvPr id="12" name="a2u_card11"/>
          <p:cNvSpPr/>
          <p:nvPr/>
        </p:nvSpPr>
        <p:spPr>
          <a:xfrm>
            <a:off x="3267456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3267456" y="1216152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3432048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343204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3432048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container adds a risk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3432048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BEYOND A NORMAL CRASH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3432048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docker rm deletes the writable layer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3432048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volume is what survives removal</a:t>
            </a:r>
          </a:p>
        </p:txBody>
      </p:sp>
      <p:sp>
        <p:nvSpPr>
          <p:cNvPr id="20" name="a3u_card19"/>
          <p:cNvSpPr/>
          <p:nvPr/>
        </p:nvSpPr>
        <p:spPr>
          <a:xfrm>
            <a:off x="6077712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acc20"/>
          <p:cNvSpPr/>
          <p:nvPr/>
        </p:nvSpPr>
        <p:spPr>
          <a:xfrm>
            <a:off x="6077712" y="1216152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60_ic21"/>
          <p:cNvSpPr/>
          <p:nvPr/>
        </p:nvSpPr>
        <p:spPr>
          <a:xfrm>
            <a:off x="6242304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60_ict22"/>
          <p:cNvSpPr txBox="1"/>
          <p:nvPr/>
        </p:nvSpPr>
        <p:spPr>
          <a:xfrm>
            <a:off x="624230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6242304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Not every key deserves it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6242304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PERSISTENCE HAS A COST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6242304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fsync-per-write slows every command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6242304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rate-limit key rebuilds in a minute</a:t>
            </a:r>
          </a:p>
        </p:txBody>
      </p:sp>
      <p:sp>
        <p:nvSpPr>
          <p:cNvPr id="28" name="a4u_nb27"/>
          <p:cNvSpPr/>
          <p:nvPr/>
        </p:nvSpPr>
        <p:spPr>
          <a:xfrm>
            <a:off x="457200" y="34290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_nacc28"/>
          <p:cNvSpPr/>
          <p:nvPr/>
        </p:nvSpPr>
        <p:spPr>
          <a:xfrm>
            <a:off x="457200" y="3429000"/>
            <a:ext cx="5029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_nt29"/>
          <p:cNvSpPr txBox="1"/>
          <p:nvPr/>
        </p:nvSpPr>
        <p:spPr>
          <a:xfrm>
            <a:off x="658368" y="342900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8B5CF6"/>
                </a:solidFill>
                <a:latin typeface="Calibri"/>
              </a:rPr>
              <a:t>NOTE  </a:t>
            </a:r>
            <a:r>
              <a:rPr sz="1150" b="0">
                <a:solidFill>
                  <a:srgbClr val="334155"/>
                </a:solidFill>
                <a:latin typeface="Calibri"/>
              </a:rPr>
              <a:t>This deck answers three questions in order: how does each mechanism actually work, which one fits which workload, and how do you run it correctly when the filesystem itself is disposable - which is exactly what a container's is.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RDB · Snapshots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whole dataset, forked and written to one compact file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SAVE / BGSAVE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fork + COW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dump.rdb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redis-check-rdb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How BGSAVE Actually Works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system call away from a database that never blocks to save itself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8229600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621792" y="1271016"/>
            <a:ext cx="1783080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30_sn5"/>
          <p:cNvSpPr txBox="1"/>
          <p:nvPr/>
        </p:nvSpPr>
        <p:spPr>
          <a:xfrm>
            <a:off x="62179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1 · fork()</a:t>
            </a:r>
          </a:p>
        </p:txBody>
      </p:sp>
      <p:sp>
        <p:nvSpPr>
          <p:cNvPr id="7" name="a1ud60_sd6"/>
          <p:cNvSpPr txBox="1"/>
          <p:nvPr/>
        </p:nvSpPr>
        <p:spPr>
          <a:xfrm>
            <a:off x="621792" y="1618488"/>
            <a:ext cx="1783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Calibri"/>
              </a:rPr>
              <a:t>The OS clones the process. Parent and child share the same memory pages - instantly, no copying yet.</a:t>
            </a:r>
          </a:p>
        </p:txBody>
      </p:sp>
      <p:sp>
        <p:nvSpPr>
          <p:cNvPr id="8" name="a1ud100_acc7"/>
          <p:cNvSpPr/>
          <p:nvPr/>
        </p:nvSpPr>
        <p:spPr>
          <a:xfrm>
            <a:off x="2633472" y="1271016"/>
            <a:ext cx="178308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130_sn8"/>
          <p:cNvSpPr txBox="1"/>
          <p:nvPr/>
        </p:nvSpPr>
        <p:spPr>
          <a:xfrm>
            <a:off x="263347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2 · Child writes</a:t>
            </a:r>
          </a:p>
        </p:txBody>
      </p:sp>
      <p:sp>
        <p:nvSpPr>
          <p:cNvPr id="10" name="a1ud160_sd9"/>
          <p:cNvSpPr txBox="1"/>
          <p:nvPr/>
        </p:nvSpPr>
        <p:spPr>
          <a:xfrm>
            <a:off x="2633472" y="1618488"/>
            <a:ext cx="1783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Calibri"/>
              </a:rPr>
              <a:t>The child walks every key and writes dump.rdb. The parent keeps serving clients on the original pages, completely unaffected.</a:t>
            </a:r>
          </a:p>
        </p:txBody>
      </p:sp>
      <p:sp>
        <p:nvSpPr>
          <p:cNvPr id="11" name="a1ud200_acc10"/>
          <p:cNvSpPr/>
          <p:nvPr/>
        </p:nvSpPr>
        <p:spPr>
          <a:xfrm>
            <a:off x="4645152" y="1271016"/>
            <a:ext cx="17830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230_sn11"/>
          <p:cNvSpPr txBox="1"/>
          <p:nvPr/>
        </p:nvSpPr>
        <p:spPr>
          <a:xfrm>
            <a:off x="464515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3 · Copy-on-write</a:t>
            </a:r>
          </a:p>
        </p:txBody>
      </p:sp>
      <p:sp>
        <p:nvSpPr>
          <p:cNvPr id="13" name="a1ud260_sd12"/>
          <p:cNvSpPr txBox="1"/>
          <p:nvPr/>
        </p:nvSpPr>
        <p:spPr>
          <a:xfrm>
            <a:off x="4645152" y="1618488"/>
            <a:ext cx="1783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Calibri"/>
              </a:rPr>
              <a:t>If the parent modifies a page the child still needs, the kernel copies just that one page first. Only changed pages cost memory.</a:t>
            </a:r>
          </a:p>
        </p:txBody>
      </p:sp>
      <p:sp>
        <p:nvSpPr>
          <p:cNvPr id="14" name="a1ud300_acc13"/>
          <p:cNvSpPr/>
          <p:nvPr/>
        </p:nvSpPr>
        <p:spPr>
          <a:xfrm>
            <a:off x="6656832" y="1271016"/>
            <a:ext cx="178308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330_sn14"/>
          <p:cNvSpPr txBox="1"/>
          <p:nvPr/>
        </p:nvSpPr>
        <p:spPr>
          <a:xfrm>
            <a:off x="665683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4 · Exit</a:t>
            </a:r>
          </a:p>
        </p:txBody>
      </p:sp>
      <p:sp>
        <p:nvSpPr>
          <p:cNvPr id="16" name="a1ud360_sd15"/>
          <p:cNvSpPr txBox="1"/>
          <p:nvPr/>
        </p:nvSpPr>
        <p:spPr>
          <a:xfrm>
            <a:off x="6656832" y="1618488"/>
            <a:ext cx="1783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Calibri"/>
              </a:rPr>
              <a:t>The child exits, dump.rdb is renamed into place atomically, and rdb_last_bgsave_status flips to ok.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57200" y="2697480"/>
            <a:ext cx="8229600" cy="1353312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585216" y="2752344"/>
            <a:ext cx="79735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machine, 2026-09-23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585216" y="309981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icici-redis redis-cli BGSAVE</a:t>
            </a:r>
          </a:p>
        </p:txBody>
      </p:sp>
      <p:sp>
        <p:nvSpPr>
          <p:cNvPr id="20" name="a2wd90_code19"/>
          <p:cNvSpPr txBox="1"/>
          <p:nvPr/>
        </p:nvSpPr>
        <p:spPr>
          <a:xfrm>
            <a:off x="585216" y="330555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Background saving started</a:t>
            </a:r>
          </a:p>
        </p:txBody>
      </p:sp>
      <p:sp>
        <p:nvSpPr>
          <p:cNvPr id="21" name="a2wd180_code20"/>
          <p:cNvSpPr txBox="1"/>
          <p:nvPr/>
        </p:nvSpPr>
        <p:spPr>
          <a:xfrm>
            <a:off x="585216" y="351129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icici-redis redis-cli INFO persistence | grep rdb_</a:t>
            </a:r>
          </a:p>
        </p:txBody>
      </p:sp>
      <p:sp>
        <p:nvSpPr>
          <p:cNvPr id="22" name="a2wd270_code21"/>
          <p:cNvSpPr txBox="1"/>
          <p:nvPr/>
        </p:nvSpPr>
        <p:spPr>
          <a:xfrm>
            <a:off x="585216" y="371703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rdb_bgsave_in_progress:0   rdb_last_bgsave_status:ok   rdb_changes_since_last_save:0</a:t>
            </a:r>
          </a:p>
        </p:txBody>
      </p:sp>
      <p:sp>
        <p:nvSpPr>
          <p:cNvPr id="23" name="a3u_nb22"/>
          <p:cNvSpPr/>
          <p:nvPr/>
        </p:nvSpPr>
        <p:spPr>
          <a:xfrm>
            <a:off x="457200" y="3922776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acc23"/>
          <p:cNvSpPr/>
          <p:nvPr/>
        </p:nvSpPr>
        <p:spPr>
          <a:xfrm>
            <a:off x="457200" y="3922776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_nt24"/>
          <p:cNvSpPr txBox="1"/>
          <p:nvPr/>
        </p:nvSpPr>
        <p:spPr>
          <a:xfrm>
            <a:off x="658368" y="3922776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BGSAVE never blocks the server - only a plain SAVE does, running in the main thread. A dataset that mutates faster than pages can copy-on-write can briefly double memory usage during the fork.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Three Ways a Snapshot Gets Written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you should never call yourself, one for you, one Redis does on its own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331720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Trigger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72184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472184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SAVE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801368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801368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BGSAVE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130552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130552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save 900 1 / 300 10 / 60 10000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459736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459736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SHUTDOWN / SHUTDOWN NOSAVE</a:t>
            </a:r>
          </a:p>
        </p:txBody>
      </p:sp>
      <p:sp>
        <p:nvSpPr>
          <p:cNvPr id="14" name="a1f_th13"/>
          <p:cNvSpPr/>
          <p:nvPr/>
        </p:nvSpPr>
        <p:spPr>
          <a:xfrm>
            <a:off x="2788920" y="1143000"/>
            <a:ext cx="1965960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f_tht14"/>
          <p:cNvSpPr txBox="1"/>
          <p:nvPr/>
        </p:nvSpPr>
        <p:spPr>
          <a:xfrm>
            <a:off x="2862072" y="1143000"/>
            <a:ext cx="18562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Blocks clients?</a:t>
            </a:r>
          </a:p>
        </p:txBody>
      </p:sp>
      <p:sp>
        <p:nvSpPr>
          <p:cNvPr id="16" name="a1wd110_td15"/>
          <p:cNvSpPr/>
          <p:nvPr/>
        </p:nvSpPr>
        <p:spPr>
          <a:xfrm>
            <a:off x="2788920" y="1472184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110_tdt16"/>
          <p:cNvSpPr txBox="1"/>
          <p:nvPr/>
        </p:nvSpPr>
        <p:spPr>
          <a:xfrm>
            <a:off x="2862072" y="1472184"/>
            <a:ext cx="18562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Yes - the whole server freezes</a:t>
            </a:r>
          </a:p>
        </p:txBody>
      </p:sp>
      <p:sp>
        <p:nvSpPr>
          <p:cNvPr id="18" name="a1wd220_td17"/>
          <p:cNvSpPr/>
          <p:nvPr/>
        </p:nvSpPr>
        <p:spPr>
          <a:xfrm>
            <a:off x="2788920" y="1801368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220_tdt18"/>
          <p:cNvSpPr txBox="1"/>
          <p:nvPr/>
        </p:nvSpPr>
        <p:spPr>
          <a:xfrm>
            <a:off x="2862072" y="1801368"/>
            <a:ext cx="18562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 - forks a child process</a:t>
            </a:r>
          </a:p>
        </p:txBody>
      </p:sp>
      <p:sp>
        <p:nvSpPr>
          <p:cNvPr id="20" name="a1wd330_td19"/>
          <p:cNvSpPr/>
          <p:nvPr/>
        </p:nvSpPr>
        <p:spPr>
          <a:xfrm>
            <a:off x="2788920" y="2130552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330_tdt20"/>
          <p:cNvSpPr txBox="1"/>
          <p:nvPr/>
        </p:nvSpPr>
        <p:spPr>
          <a:xfrm>
            <a:off x="2862072" y="2130552"/>
            <a:ext cx="18562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22" name="a1wd440_td21"/>
          <p:cNvSpPr/>
          <p:nvPr/>
        </p:nvSpPr>
        <p:spPr>
          <a:xfrm>
            <a:off x="2788920" y="2459736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440_tdt22"/>
          <p:cNvSpPr txBox="1"/>
          <p:nvPr/>
        </p:nvSpPr>
        <p:spPr>
          <a:xfrm>
            <a:off x="2862072" y="2459736"/>
            <a:ext cx="18562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Briefly by design / N/A</a:t>
            </a:r>
          </a:p>
        </p:txBody>
      </p:sp>
      <p:sp>
        <p:nvSpPr>
          <p:cNvPr id="24" name="a1f_th23"/>
          <p:cNvSpPr/>
          <p:nvPr/>
        </p:nvSpPr>
        <p:spPr>
          <a:xfrm>
            <a:off x="4754879" y="1143000"/>
            <a:ext cx="3931920" cy="3291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4828031" y="1143000"/>
            <a:ext cx="38221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When it fires</a:t>
            </a:r>
          </a:p>
        </p:txBody>
      </p:sp>
      <p:sp>
        <p:nvSpPr>
          <p:cNvPr id="26" name="a1wd110_td25"/>
          <p:cNvSpPr/>
          <p:nvPr/>
        </p:nvSpPr>
        <p:spPr>
          <a:xfrm>
            <a:off x="4754879" y="1472184"/>
            <a:ext cx="3931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10_tdt26"/>
          <p:cNvSpPr txBox="1"/>
          <p:nvPr/>
        </p:nvSpPr>
        <p:spPr>
          <a:xfrm>
            <a:off x="4828031" y="1472184"/>
            <a:ext cx="38221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Only call this by hand, on a server you can afford to pause</a:t>
            </a:r>
          </a:p>
        </p:txBody>
      </p:sp>
      <p:sp>
        <p:nvSpPr>
          <p:cNvPr id="28" name="a1wd220_td27"/>
          <p:cNvSpPr/>
          <p:nvPr/>
        </p:nvSpPr>
        <p:spPr>
          <a:xfrm>
            <a:off x="4754879" y="1801368"/>
            <a:ext cx="3931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20_tdt28"/>
          <p:cNvSpPr txBox="1"/>
          <p:nvPr/>
        </p:nvSpPr>
        <p:spPr>
          <a:xfrm>
            <a:off x="4828031" y="1801368"/>
            <a:ext cx="38221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Manually, or from a script before a risky change</a:t>
            </a:r>
          </a:p>
        </p:txBody>
      </p:sp>
      <p:sp>
        <p:nvSpPr>
          <p:cNvPr id="30" name="a1wd330_td29"/>
          <p:cNvSpPr/>
          <p:nvPr/>
        </p:nvSpPr>
        <p:spPr>
          <a:xfrm>
            <a:off x="4754879" y="2130552"/>
            <a:ext cx="3931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30_tdt30"/>
          <p:cNvSpPr txBox="1"/>
          <p:nvPr/>
        </p:nvSpPr>
        <p:spPr>
          <a:xfrm>
            <a:off x="4828031" y="2130552"/>
            <a:ext cx="38221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Automatically: N changes within a time window</a:t>
            </a:r>
          </a:p>
        </p:txBody>
      </p:sp>
      <p:sp>
        <p:nvSpPr>
          <p:cNvPr id="32" name="a1wd440_td31"/>
          <p:cNvSpPr/>
          <p:nvPr/>
        </p:nvSpPr>
        <p:spPr>
          <a:xfrm>
            <a:off x="4754879" y="2459736"/>
            <a:ext cx="3931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440_tdt32"/>
          <p:cNvSpPr txBox="1"/>
          <p:nvPr/>
        </p:nvSpPr>
        <p:spPr>
          <a:xfrm>
            <a:off x="4828031" y="2459736"/>
            <a:ext cx="38221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Clean stop saves once more, unless NOSAVE</a:t>
            </a:r>
          </a:p>
        </p:txBody>
      </p:sp>
      <p:sp>
        <p:nvSpPr>
          <p:cNvPr id="34" name="a2f_codebg33"/>
          <p:cNvSpPr/>
          <p:nvPr/>
        </p:nvSpPr>
        <p:spPr>
          <a:xfrm>
            <a:off x="457200" y="2880360"/>
            <a:ext cx="8229600" cy="969264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_code34"/>
          <p:cNvSpPr txBox="1"/>
          <p:nvPr/>
        </p:nvSpPr>
        <p:spPr>
          <a:xfrm>
            <a:off x="566928" y="2990088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CONFIG GET save</a:t>
            </a:r>
          </a:p>
        </p:txBody>
      </p:sp>
      <p:sp>
        <p:nvSpPr>
          <p:cNvPr id="36" name="a2wd110_code35"/>
          <p:cNvSpPr txBox="1"/>
          <p:nvPr/>
        </p:nvSpPr>
        <p:spPr>
          <a:xfrm>
            <a:off x="566928" y="3177540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1) "save"   2) "900 1 300 10 60 10000"</a:t>
            </a:r>
          </a:p>
        </p:txBody>
      </p:sp>
      <p:sp>
        <p:nvSpPr>
          <p:cNvPr id="37" name="a2wd220_code36"/>
          <p:cNvSpPr txBox="1"/>
          <p:nvPr/>
        </p:nvSpPr>
        <p:spPr>
          <a:xfrm>
            <a:off x="566928" y="3364992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disable RDB entirely - AOF-only setups do this</a:t>
            </a:r>
          </a:p>
        </p:txBody>
      </p:sp>
      <p:sp>
        <p:nvSpPr>
          <p:cNvPr id="38" name="a2wd330_code37"/>
          <p:cNvSpPr txBox="1"/>
          <p:nvPr/>
        </p:nvSpPr>
        <p:spPr>
          <a:xfrm>
            <a:off x="566928" y="3552444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CONFIG SET save ""</a:t>
            </a:r>
          </a:p>
        </p:txBody>
      </p:sp>
      <p:sp>
        <p:nvSpPr>
          <p:cNvPr id="39" name="a3u_nb38"/>
          <p:cNvSpPr/>
          <p:nvPr/>
        </p:nvSpPr>
        <p:spPr>
          <a:xfrm>
            <a:off x="457200" y="3941063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3u_nacc39"/>
          <p:cNvSpPr/>
          <p:nvPr/>
        </p:nvSpPr>
        <p:spPr>
          <a:xfrm>
            <a:off x="457200" y="3941063"/>
            <a:ext cx="50292" cy="420624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u_nt40"/>
          <p:cNvSpPr txBox="1"/>
          <p:nvPr/>
        </p:nvSpPr>
        <p:spPr>
          <a:xfrm>
            <a:off x="658368" y="3941063"/>
            <a:ext cx="782726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!  </a:t>
            </a:r>
            <a:r>
              <a:rPr sz="950" b="0">
                <a:solidFill>
                  <a:srgbClr val="334155"/>
                </a:solidFill>
                <a:latin typeface="Calibri"/>
              </a:rPr>
              <a:t>A container's process manager sends SIGTERM on `docker stop` - Redis saves before exiting, but only if a save point is configured. `docker kill` (SIGKILL) skips that entirely.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Inside the RDB File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compact, compressed, checksummed file - and the tool that validates it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2455163"/>
          </a:xfrm>
          <a:prstGeom prst="roundRect">
            <a:avLst>
              <a:gd name="adj" fmla="val 29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redis-persistence.conf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############# SNAPSHOTTING ##############</a:t>
            </a:r>
          </a:p>
        </p:txBody>
      </p:sp>
      <p:sp>
        <p:nvSpPr>
          <p:cNvPr id="7" name="a1wd75_code6"/>
          <p:cNvSpPr txBox="1"/>
          <p:nvPr/>
        </p:nvSpPr>
        <p:spPr>
          <a:xfrm>
            <a:off x="621792" y="17876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save 900 1</a:t>
            </a:r>
          </a:p>
        </p:txBody>
      </p:sp>
      <p:sp>
        <p:nvSpPr>
          <p:cNvPr id="8" name="a1wd150_code7"/>
          <p:cNvSpPr txBox="1"/>
          <p:nvPr/>
        </p:nvSpPr>
        <p:spPr>
          <a:xfrm>
            <a:off x="621792" y="199339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save 300 10</a:t>
            </a:r>
          </a:p>
        </p:txBody>
      </p:sp>
      <p:sp>
        <p:nvSpPr>
          <p:cNvPr id="9" name="a1wd225_code8"/>
          <p:cNvSpPr txBox="1"/>
          <p:nvPr/>
        </p:nvSpPr>
        <p:spPr>
          <a:xfrm>
            <a:off x="621792" y="21991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save 60 10000</a:t>
            </a:r>
          </a:p>
        </p:txBody>
      </p:sp>
      <p:sp>
        <p:nvSpPr>
          <p:cNvPr id="10" name="a1wd300_code9"/>
          <p:cNvSpPr txBox="1"/>
          <p:nvPr/>
        </p:nvSpPr>
        <p:spPr>
          <a:xfrm>
            <a:off x="621792" y="240487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stop-writes-on-bgsave-error yes</a:t>
            </a:r>
          </a:p>
        </p:txBody>
      </p:sp>
      <p:sp>
        <p:nvSpPr>
          <p:cNvPr id="11" name="a1wd375_code10"/>
          <p:cNvSpPr txBox="1"/>
          <p:nvPr/>
        </p:nvSpPr>
        <p:spPr>
          <a:xfrm>
            <a:off x="621792" y="26106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rdbcompression yes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163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rdbchecksum yes</a:t>
            </a:r>
          </a:p>
        </p:txBody>
      </p:sp>
      <p:sp>
        <p:nvSpPr>
          <p:cNvPr id="13" name="a1wd525_code12"/>
          <p:cNvSpPr txBox="1"/>
          <p:nvPr/>
        </p:nvSpPr>
        <p:spPr>
          <a:xfrm>
            <a:off x="621792" y="3022091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dbfilename dump.rdb</a:t>
            </a:r>
          </a:p>
        </p:txBody>
      </p:sp>
      <p:sp>
        <p:nvSpPr>
          <p:cNvPr id="14" name="a1wd600_code13"/>
          <p:cNvSpPr txBox="1"/>
          <p:nvPr/>
        </p:nvSpPr>
        <p:spPr>
          <a:xfrm>
            <a:off x="621792" y="32278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dir /data          # MUST be a mounted volume</a:t>
            </a:r>
          </a:p>
        </p:txBody>
      </p:sp>
      <p:sp>
        <p:nvSpPr>
          <p:cNvPr id="15" name="a2f_codebg14"/>
          <p:cNvSpPr/>
          <p:nvPr/>
        </p:nvSpPr>
        <p:spPr>
          <a:xfrm>
            <a:off x="4800600" y="1143000"/>
            <a:ext cx="3886200" cy="2157984"/>
          </a:xfrm>
          <a:prstGeom prst="roundRect">
            <a:avLst>
              <a:gd name="adj" fmla="val 33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codeh15"/>
          <p:cNvSpPr txBox="1"/>
          <p:nvPr/>
        </p:nvSpPr>
        <p:spPr>
          <a:xfrm>
            <a:off x="4919472" y="1197864"/>
            <a:ext cx="3648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4919472" y="1536192"/>
            <a:ext cx="36484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icici-redis ls -la /data</a:t>
            </a:r>
          </a:p>
        </p:txBody>
      </p:sp>
      <p:sp>
        <p:nvSpPr>
          <p:cNvPr id="18" name="a2wd90_code17"/>
          <p:cNvSpPr txBox="1"/>
          <p:nvPr/>
        </p:nvSpPr>
        <p:spPr>
          <a:xfrm>
            <a:off x="4919472" y="1741932"/>
            <a:ext cx="36484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-rw-------  1 redis redis  186 dump.rdb</a:t>
            </a:r>
          </a:p>
        </p:txBody>
      </p:sp>
      <p:sp>
        <p:nvSpPr>
          <p:cNvPr id="19" name="a2wd180_code18"/>
          <p:cNvSpPr txBox="1"/>
          <p:nvPr/>
        </p:nvSpPr>
        <p:spPr>
          <a:xfrm>
            <a:off x="4919472" y="1947672"/>
            <a:ext cx="36484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0" name="a2wd270_code19"/>
          <p:cNvSpPr txBox="1"/>
          <p:nvPr/>
        </p:nvSpPr>
        <p:spPr>
          <a:xfrm>
            <a:off x="4919472" y="2153412"/>
            <a:ext cx="36484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run --rm -v icici_redis_data:/data \</a:t>
            </a:r>
          </a:p>
        </p:txBody>
      </p:sp>
      <p:sp>
        <p:nvSpPr>
          <p:cNvPr id="21" name="a2wd360_code20"/>
          <p:cNvSpPr txBox="1"/>
          <p:nvPr/>
        </p:nvSpPr>
        <p:spPr>
          <a:xfrm>
            <a:off x="4919472" y="2359152"/>
            <a:ext cx="36484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redis:7-alpine redis-check-rdb /data/dump.rdb</a:t>
            </a:r>
          </a:p>
        </p:txBody>
      </p:sp>
      <p:sp>
        <p:nvSpPr>
          <p:cNvPr id="22" name="a2wd450_code21"/>
          <p:cNvSpPr txBox="1"/>
          <p:nvPr/>
        </p:nvSpPr>
        <p:spPr>
          <a:xfrm>
            <a:off x="4919472" y="2564892"/>
            <a:ext cx="36484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[offset 26] Checking RDB file /data/dump.rdb</a:t>
            </a:r>
          </a:p>
        </p:txBody>
      </p:sp>
      <p:sp>
        <p:nvSpPr>
          <p:cNvPr id="23" name="a2wd540_code22"/>
          <p:cNvSpPr txBox="1"/>
          <p:nvPr/>
        </p:nvSpPr>
        <p:spPr>
          <a:xfrm>
            <a:off x="4919472" y="2770632"/>
            <a:ext cx="36484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[offset 186] Checksum OK</a:t>
            </a:r>
          </a:p>
        </p:txBody>
      </p:sp>
      <p:sp>
        <p:nvSpPr>
          <p:cNvPr id="24" name="a2wd630_code23"/>
          <p:cNvSpPr txBox="1"/>
          <p:nvPr/>
        </p:nvSpPr>
        <p:spPr>
          <a:xfrm>
            <a:off x="4919472" y="2976372"/>
            <a:ext cx="36484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[offset 186] \o/ RDB looks OK! \o/</a:t>
            </a:r>
          </a:p>
        </p:txBody>
      </p:sp>
      <p:sp>
        <p:nvSpPr>
          <p:cNvPr id="25" name="a3u_nb24"/>
          <p:cNvSpPr/>
          <p:nvPr/>
        </p:nvSpPr>
        <p:spPr>
          <a:xfrm>
            <a:off x="457200" y="3707891"/>
            <a:ext cx="8229600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_nacc25"/>
          <p:cNvSpPr/>
          <p:nvPr/>
        </p:nvSpPr>
        <p:spPr>
          <a:xfrm>
            <a:off x="457200" y="3707891"/>
            <a:ext cx="50292" cy="640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_nt26"/>
          <p:cNvSpPr txBox="1"/>
          <p:nvPr/>
        </p:nvSpPr>
        <p:spPr>
          <a:xfrm>
            <a:off x="658368" y="3707891"/>
            <a:ext cx="78272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stop-writes-on-bgsave-error yes is the safety net: if the disk fills and a BGSAVE fails, Redis refuses further writes rather than run with no way to persist them. redis-check-rdb is read-only and safe against a live file - run it on every backup before you trust it, not after a restore fails.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RDB · Strengths and Blind Spots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right tool for backups and fast restarts - the wrong one for durability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2331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hh5"/>
          <p:cNvSpPr txBox="1"/>
          <p:nvPr/>
        </p:nvSpPr>
        <p:spPr>
          <a:xfrm>
            <a:off x="65836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WHERE RDB WINS</a:t>
            </a:r>
          </a:p>
        </p:txBody>
      </p:sp>
      <p:sp>
        <p:nvSpPr>
          <p:cNvPr id="7" name="a1ud60_dot6"/>
          <p:cNvSpPr/>
          <p:nvPr/>
        </p:nvSpPr>
        <p:spPr>
          <a:xfrm>
            <a:off x="658368" y="1627632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60_b7"/>
          <p:cNvSpPr txBox="1"/>
          <p:nvPr/>
        </p:nvSpPr>
        <p:spPr>
          <a:xfrm>
            <a:off x="877824" y="1527048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One small file - trivial to copy, ship offsite, or version</a:t>
            </a:r>
          </a:p>
        </p:txBody>
      </p:sp>
      <p:sp>
        <p:nvSpPr>
          <p:cNvPr id="9" name="a1ud170_dot8"/>
          <p:cNvSpPr/>
          <p:nvPr/>
        </p:nvSpPr>
        <p:spPr>
          <a:xfrm>
            <a:off x="658368" y="1938527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70_b9"/>
          <p:cNvSpPr txBox="1"/>
          <p:nvPr/>
        </p:nvSpPr>
        <p:spPr>
          <a:xfrm>
            <a:off x="877824" y="1837943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Fastest possible restart: load one file, done</a:t>
            </a:r>
          </a:p>
        </p:txBody>
      </p:sp>
      <p:sp>
        <p:nvSpPr>
          <p:cNvPr id="11" name="a1ud280_dot10"/>
          <p:cNvSpPr/>
          <p:nvPr/>
        </p:nvSpPr>
        <p:spPr>
          <a:xfrm>
            <a:off x="658368" y="2249423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280_b11"/>
          <p:cNvSpPr txBox="1"/>
          <p:nvPr/>
        </p:nvSpPr>
        <p:spPr>
          <a:xfrm>
            <a:off x="877824" y="2148839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Near-zero runtime overhead between saves</a:t>
            </a:r>
          </a:p>
        </p:txBody>
      </p:sp>
      <p:sp>
        <p:nvSpPr>
          <p:cNvPr id="13" name="a1ud390_dot12"/>
          <p:cNvSpPr/>
          <p:nvPr/>
        </p:nvSpPr>
        <p:spPr>
          <a:xfrm>
            <a:off x="658368" y="256031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390_b13"/>
          <p:cNvSpPr txBox="1"/>
          <p:nvPr/>
        </p:nvSpPr>
        <p:spPr>
          <a:xfrm>
            <a:off x="877824" y="2459735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natural format for a scheduled backup job</a:t>
            </a:r>
          </a:p>
        </p:txBody>
      </p:sp>
      <p:sp>
        <p:nvSpPr>
          <p:cNvPr id="15" name="a2u_card14"/>
          <p:cNvSpPr/>
          <p:nvPr/>
        </p:nvSpPr>
        <p:spPr>
          <a:xfrm>
            <a:off x="4754880" y="1143000"/>
            <a:ext cx="3931920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acc15"/>
          <p:cNvSpPr/>
          <p:nvPr/>
        </p:nvSpPr>
        <p:spPr>
          <a:xfrm>
            <a:off x="4754880" y="1143000"/>
            <a:ext cx="50292" cy="2331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hh16"/>
          <p:cNvSpPr txBox="1"/>
          <p:nvPr/>
        </p:nvSpPr>
        <p:spPr>
          <a:xfrm>
            <a:off x="495604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WHERE RDB LOSES</a:t>
            </a:r>
          </a:p>
        </p:txBody>
      </p:sp>
      <p:sp>
        <p:nvSpPr>
          <p:cNvPr id="18" name="a2ud60_dot17"/>
          <p:cNvSpPr/>
          <p:nvPr/>
        </p:nvSpPr>
        <p:spPr>
          <a:xfrm>
            <a:off x="4956048" y="1627632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60_b18"/>
          <p:cNvSpPr txBox="1"/>
          <p:nvPr/>
        </p:nvSpPr>
        <p:spPr>
          <a:xfrm>
            <a:off x="5175504" y="1527048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Everything since the last snapshot is gone on a crash</a:t>
            </a:r>
          </a:p>
        </p:txBody>
      </p:sp>
      <p:sp>
        <p:nvSpPr>
          <p:cNvPr id="20" name="a2ud170_dot19"/>
          <p:cNvSpPr/>
          <p:nvPr/>
        </p:nvSpPr>
        <p:spPr>
          <a:xfrm>
            <a:off x="4956048" y="1938527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170_b20"/>
          <p:cNvSpPr txBox="1"/>
          <p:nvPr/>
        </p:nvSpPr>
        <p:spPr>
          <a:xfrm>
            <a:off x="5175504" y="1837943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fork() briefly needs headroom for copy-on-write pages</a:t>
            </a:r>
          </a:p>
        </p:txBody>
      </p:sp>
      <p:sp>
        <p:nvSpPr>
          <p:cNvPr id="22" name="a2ud280_dot21"/>
          <p:cNvSpPr/>
          <p:nvPr/>
        </p:nvSpPr>
        <p:spPr>
          <a:xfrm>
            <a:off x="4956048" y="2249423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280_b22"/>
          <p:cNvSpPr txBox="1"/>
          <p:nvPr/>
        </p:nvSpPr>
        <p:spPr>
          <a:xfrm>
            <a:off x="5175504" y="2148839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 point-in-time granularity finer than your save rule</a:t>
            </a:r>
          </a:p>
        </p:txBody>
      </p:sp>
      <p:sp>
        <p:nvSpPr>
          <p:cNvPr id="24" name="a2ud390_dot23"/>
          <p:cNvSpPr/>
          <p:nvPr/>
        </p:nvSpPr>
        <p:spPr>
          <a:xfrm>
            <a:off x="4956048" y="2560319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390_b24"/>
          <p:cNvSpPr txBox="1"/>
          <p:nvPr/>
        </p:nvSpPr>
        <p:spPr>
          <a:xfrm>
            <a:off x="5175504" y="2459735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crash mid-BGSAVE leaves the OLD dump.rdb - never a half-written one</a:t>
            </a:r>
          </a:p>
        </p:txBody>
      </p:sp>
      <p:sp>
        <p:nvSpPr>
          <p:cNvPr id="26" name="a3u_nb25"/>
          <p:cNvSpPr/>
          <p:nvPr/>
        </p:nvSpPr>
        <p:spPr>
          <a:xfrm>
            <a:off x="457200" y="36118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_nacc26"/>
          <p:cNvSpPr/>
          <p:nvPr/>
        </p:nvSpPr>
        <p:spPr>
          <a:xfrm>
            <a:off x="457200" y="3611880"/>
            <a:ext cx="50292" cy="5303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nt27"/>
          <p:cNvSpPr txBox="1"/>
          <p:nvPr/>
        </p:nvSpPr>
        <p:spPr>
          <a:xfrm>
            <a:off x="658368" y="3611880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i  </a:t>
            </a:r>
            <a:r>
              <a:rPr sz="1000" b="0">
                <a:solidFill>
                  <a:srgbClr val="334155"/>
                </a:solidFill>
                <a:latin typeface="Calibri"/>
              </a:rPr>
              <a:t>That last line is not a flaw - it is the one guarantee RDB makes. The rename to dump.rdb is atomic, so a reader never sees a partially-written snapshot, only the last complete one.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AOF · The Append-Only Log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Every write, replayed - Redis 7's Multi Part AOF, base plus incremental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appendfsync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BGREWRITEAOF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Multi Part AOF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redis-check-aof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How AOF Works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durable log of the commands that changed the dataset, not the data itself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8229600" cy="1078992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D28D9"/>
                </a:solidFill>
                <a:latin typeface="Calibri"/>
              </a:rPr>
              <a:t>EVERY WRITE COMMAND IS APPENDED TO THE LOG BEFORE THE CLIENT SEES OK</a:t>
            </a:r>
          </a:p>
        </p:txBody>
      </p:sp>
      <p:sp>
        <p:nvSpPr>
          <p:cNvPr id="6" name="a1fd80_codebg5"/>
          <p:cNvSpPr/>
          <p:nvPr/>
        </p:nvSpPr>
        <p:spPr>
          <a:xfrm>
            <a:off x="640080" y="1508760"/>
            <a:ext cx="7863840" cy="621792"/>
          </a:xfrm>
          <a:prstGeom prst="roundRect">
            <a:avLst>
              <a:gd name="adj" fmla="val 117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80_code6"/>
          <p:cNvSpPr txBox="1"/>
          <p:nvPr/>
        </p:nvSpPr>
        <p:spPr>
          <a:xfrm>
            <a:off x="731519" y="1600200"/>
            <a:ext cx="768096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SET icici:bal:9003 341244.80   -&gt;  appended as a RESP command to the AOF tail</a:t>
            </a:r>
          </a:p>
        </p:txBody>
      </p:sp>
      <p:sp>
        <p:nvSpPr>
          <p:cNvPr id="8" name="a1wd190_code7"/>
          <p:cNvSpPr txBox="1"/>
          <p:nvPr/>
        </p:nvSpPr>
        <p:spPr>
          <a:xfrm>
            <a:off x="731519" y="1819656"/>
            <a:ext cx="768096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INCR icici:cnt:txn:2026-09-21  -&gt;  appended  ·  EXPIRE ... 1800  -&gt;  appended</a:t>
            </a:r>
          </a:p>
        </p:txBody>
      </p:sp>
      <p:sp>
        <p:nvSpPr>
          <p:cNvPr id="9" name="a2f_th8"/>
          <p:cNvSpPr/>
          <p:nvPr/>
        </p:nvSpPr>
        <p:spPr>
          <a:xfrm>
            <a:off x="457200" y="2386584"/>
            <a:ext cx="173736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f_tht9"/>
          <p:cNvSpPr txBox="1"/>
          <p:nvPr/>
        </p:nvSpPr>
        <p:spPr>
          <a:xfrm>
            <a:off x="530352" y="2386584"/>
            <a:ext cx="16276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appendfsync</a:t>
            </a:r>
          </a:p>
        </p:txBody>
      </p:sp>
      <p:sp>
        <p:nvSpPr>
          <p:cNvPr id="11" name="a2wd110_td10"/>
          <p:cNvSpPr/>
          <p:nvPr/>
        </p:nvSpPr>
        <p:spPr>
          <a:xfrm>
            <a:off x="457200" y="2752344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wd110_tdt11"/>
          <p:cNvSpPr txBox="1"/>
          <p:nvPr/>
        </p:nvSpPr>
        <p:spPr>
          <a:xfrm>
            <a:off x="530352" y="2752344"/>
            <a:ext cx="16276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always</a:t>
            </a:r>
          </a:p>
        </p:txBody>
      </p:sp>
      <p:sp>
        <p:nvSpPr>
          <p:cNvPr id="13" name="a2wd220_td12"/>
          <p:cNvSpPr/>
          <p:nvPr/>
        </p:nvSpPr>
        <p:spPr>
          <a:xfrm>
            <a:off x="457200" y="3118104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wd220_tdt13"/>
          <p:cNvSpPr txBox="1"/>
          <p:nvPr/>
        </p:nvSpPr>
        <p:spPr>
          <a:xfrm>
            <a:off x="530352" y="3118104"/>
            <a:ext cx="16276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everysec</a:t>
            </a:r>
          </a:p>
        </p:txBody>
      </p:sp>
      <p:sp>
        <p:nvSpPr>
          <p:cNvPr id="15" name="a2wd330_td14"/>
          <p:cNvSpPr/>
          <p:nvPr/>
        </p:nvSpPr>
        <p:spPr>
          <a:xfrm>
            <a:off x="457200" y="3483864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wd330_tdt15"/>
          <p:cNvSpPr txBox="1"/>
          <p:nvPr/>
        </p:nvSpPr>
        <p:spPr>
          <a:xfrm>
            <a:off x="530352" y="3483864"/>
            <a:ext cx="16276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no</a:t>
            </a:r>
          </a:p>
        </p:txBody>
      </p:sp>
      <p:sp>
        <p:nvSpPr>
          <p:cNvPr id="17" name="a2f_th16"/>
          <p:cNvSpPr/>
          <p:nvPr/>
        </p:nvSpPr>
        <p:spPr>
          <a:xfrm>
            <a:off x="2194560" y="2386584"/>
            <a:ext cx="3154680" cy="3657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tht17"/>
          <p:cNvSpPr txBox="1"/>
          <p:nvPr/>
        </p:nvSpPr>
        <p:spPr>
          <a:xfrm>
            <a:off x="2267712" y="2386584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Durability</a:t>
            </a:r>
          </a:p>
        </p:txBody>
      </p:sp>
      <p:sp>
        <p:nvSpPr>
          <p:cNvPr id="19" name="a2wd110_td18"/>
          <p:cNvSpPr/>
          <p:nvPr/>
        </p:nvSpPr>
        <p:spPr>
          <a:xfrm>
            <a:off x="2194560" y="2752344"/>
            <a:ext cx="3154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wd110_tdt19"/>
          <p:cNvSpPr txBox="1"/>
          <p:nvPr/>
        </p:nvSpPr>
        <p:spPr>
          <a:xfrm>
            <a:off x="2267712" y="2752344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fsync on every single write - at most 0 lost</a:t>
            </a:r>
          </a:p>
        </p:txBody>
      </p:sp>
      <p:sp>
        <p:nvSpPr>
          <p:cNvPr id="21" name="a2wd220_td20"/>
          <p:cNvSpPr/>
          <p:nvPr/>
        </p:nvSpPr>
        <p:spPr>
          <a:xfrm>
            <a:off x="2194560" y="3118104"/>
            <a:ext cx="3154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d220_tdt21"/>
          <p:cNvSpPr txBox="1"/>
          <p:nvPr/>
        </p:nvSpPr>
        <p:spPr>
          <a:xfrm>
            <a:off x="2267712" y="3118104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fsync once a second - at most 1s lost</a:t>
            </a:r>
          </a:p>
        </p:txBody>
      </p:sp>
      <p:sp>
        <p:nvSpPr>
          <p:cNvPr id="23" name="a2wd330_td22"/>
          <p:cNvSpPr/>
          <p:nvPr/>
        </p:nvSpPr>
        <p:spPr>
          <a:xfrm>
            <a:off x="2194560" y="3483864"/>
            <a:ext cx="3154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wd330_tdt23"/>
          <p:cNvSpPr txBox="1"/>
          <p:nvPr/>
        </p:nvSpPr>
        <p:spPr>
          <a:xfrm>
            <a:off x="2267712" y="3483864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OS decides when to flush - could lose minutes</a:t>
            </a:r>
          </a:p>
        </p:txBody>
      </p:sp>
      <p:sp>
        <p:nvSpPr>
          <p:cNvPr id="25" name="a2f_th24"/>
          <p:cNvSpPr/>
          <p:nvPr/>
        </p:nvSpPr>
        <p:spPr>
          <a:xfrm>
            <a:off x="5349240" y="2386584"/>
            <a:ext cx="333756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f_tht25"/>
          <p:cNvSpPr txBox="1"/>
          <p:nvPr/>
        </p:nvSpPr>
        <p:spPr>
          <a:xfrm>
            <a:off x="5422392" y="2386584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27" name="a2wd110_td26"/>
          <p:cNvSpPr/>
          <p:nvPr/>
        </p:nvSpPr>
        <p:spPr>
          <a:xfrm>
            <a:off x="5349240" y="2752344"/>
            <a:ext cx="3337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wd110_tdt27"/>
          <p:cNvSpPr txBox="1"/>
          <p:nvPr/>
        </p:nvSpPr>
        <p:spPr>
          <a:xfrm>
            <a:off x="5422392" y="2752344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Slowest - one disk flush per command</a:t>
            </a:r>
          </a:p>
        </p:txBody>
      </p:sp>
      <p:sp>
        <p:nvSpPr>
          <p:cNvPr id="29" name="a2wd220_td28"/>
          <p:cNvSpPr/>
          <p:nvPr/>
        </p:nvSpPr>
        <p:spPr>
          <a:xfrm>
            <a:off x="5349240" y="3118104"/>
            <a:ext cx="3337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220_tdt29"/>
          <p:cNvSpPr txBox="1"/>
          <p:nvPr/>
        </p:nvSpPr>
        <p:spPr>
          <a:xfrm>
            <a:off x="5422392" y="3118104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The production default - near-always fast</a:t>
            </a:r>
          </a:p>
        </p:txBody>
      </p:sp>
      <p:sp>
        <p:nvSpPr>
          <p:cNvPr id="31" name="a2wd330_td30"/>
          <p:cNvSpPr/>
          <p:nvPr/>
        </p:nvSpPr>
        <p:spPr>
          <a:xfrm>
            <a:off x="5349240" y="3483864"/>
            <a:ext cx="3337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d330_tdt31"/>
          <p:cNvSpPr txBox="1"/>
          <p:nvPr/>
        </p:nvSpPr>
        <p:spPr>
          <a:xfrm>
            <a:off x="5422392" y="3483864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Fastest, and the least safe</a:t>
            </a:r>
          </a:p>
        </p:txBody>
      </p:sp>
      <p:sp>
        <p:nvSpPr>
          <p:cNvPr id="33" name="a3f_codebg32"/>
          <p:cNvSpPr/>
          <p:nvPr/>
        </p:nvSpPr>
        <p:spPr>
          <a:xfrm>
            <a:off x="457200" y="3959352"/>
            <a:ext cx="8229600" cy="630936"/>
          </a:xfrm>
          <a:prstGeom prst="roundRect">
            <a:avLst>
              <a:gd name="adj" fmla="val 115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w_code33"/>
          <p:cNvSpPr txBox="1"/>
          <p:nvPr/>
        </p:nvSpPr>
        <p:spPr>
          <a:xfrm>
            <a:off x="566928" y="4069080"/>
            <a:ext cx="8010144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icici-redis redis-cli CONFIG GET appendfsync</a:t>
            </a:r>
          </a:p>
        </p:txBody>
      </p:sp>
      <p:sp>
        <p:nvSpPr>
          <p:cNvPr id="35" name="a3wd120_code34"/>
          <p:cNvSpPr txBox="1"/>
          <p:nvPr/>
        </p:nvSpPr>
        <p:spPr>
          <a:xfrm>
            <a:off x="566928" y="4274820"/>
            <a:ext cx="8010144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1) "appendfsync"   2) "everysec"        # measured on this machine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Multi Part AOF (Redis 7)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directory, three kinds of file - measured live from a training container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pn4"/>
          <p:cNvSpPr/>
          <p:nvPr/>
        </p:nvSpPr>
        <p:spPr>
          <a:xfrm>
            <a:off x="640080" y="1252728"/>
            <a:ext cx="2468880" cy="274320"/>
          </a:xfrm>
          <a:prstGeom prst="roundRect">
            <a:avLst>
              <a:gd name="adj" fmla="val 16666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pnt5"/>
          <p:cNvSpPr txBox="1"/>
          <p:nvPr/>
        </p:nvSpPr>
        <p:spPr>
          <a:xfrm>
            <a:off x="640080" y="12527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appendonly.aof.1.base.rdb</a:t>
            </a:r>
          </a:p>
        </p:txBody>
      </p:sp>
      <p:sp>
        <p:nvSpPr>
          <p:cNvPr id="7" name="a1ud40_pns6"/>
          <p:cNvSpPr txBox="1"/>
          <p:nvPr/>
        </p:nvSpPr>
        <p:spPr>
          <a:xfrm>
            <a:off x="640080" y="1563624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8B5CF6"/>
                </a:solidFill>
                <a:latin typeface="Calibri"/>
              </a:rPr>
              <a:t>186 B  ·  measured</a:t>
            </a:r>
          </a:p>
        </p:txBody>
      </p:sp>
      <p:sp>
        <p:nvSpPr>
          <p:cNvPr id="8" name="a1ud70_pnd7"/>
          <p:cNvSpPr txBox="1"/>
          <p:nvPr/>
        </p:nvSpPr>
        <p:spPr>
          <a:xfrm>
            <a:off x="640080" y="1783080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334155"/>
                </a:solidFill>
                <a:latin typeface="Calibri"/>
              </a:rPr>
              <a:t>A full snapshot, in RDB format - the starting point</a:t>
            </a:r>
          </a:p>
        </p:txBody>
      </p:sp>
      <p:sp>
        <p:nvSpPr>
          <p:cNvPr id="9" name="a1ud100_pn8"/>
          <p:cNvSpPr/>
          <p:nvPr/>
        </p:nvSpPr>
        <p:spPr>
          <a:xfrm>
            <a:off x="3337560" y="1252728"/>
            <a:ext cx="2468880" cy="274320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00_pnt9"/>
          <p:cNvSpPr txBox="1"/>
          <p:nvPr/>
        </p:nvSpPr>
        <p:spPr>
          <a:xfrm>
            <a:off x="3337560" y="12527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appendonly.aof.1.incr.aof</a:t>
            </a:r>
          </a:p>
        </p:txBody>
      </p:sp>
      <p:sp>
        <p:nvSpPr>
          <p:cNvPr id="11" name="a1ud140_pns10"/>
          <p:cNvSpPr txBox="1"/>
          <p:nvPr/>
        </p:nvSpPr>
        <p:spPr>
          <a:xfrm>
            <a:off x="3337560" y="1563624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Calibri"/>
              </a:rPr>
              <a:t>0 B  ·  measured</a:t>
            </a:r>
          </a:p>
        </p:txBody>
      </p:sp>
      <p:sp>
        <p:nvSpPr>
          <p:cNvPr id="12" name="a1ud170_pnd11"/>
          <p:cNvSpPr txBox="1"/>
          <p:nvPr/>
        </p:nvSpPr>
        <p:spPr>
          <a:xfrm>
            <a:off x="3337560" y="1783080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334155"/>
                </a:solidFill>
                <a:latin typeface="Calibri"/>
              </a:rPr>
              <a:t>Plain commands appended since the base was written</a:t>
            </a:r>
          </a:p>
        </p:txBody>
      </p:sp>
      <p:sp>
        <p:nvSpPr>
          <p:cNvPr id="13" name="a1ud200_pn12"/>
          <p:cNvSpPr/>
          <p:nvPr/>
        </p:nvSpPr>
        <p:spPr>
          <a:xfrm>
            <a:off x="6035040" y="1252728"/>
            <a:ext cx="2468880" cy="274320"/>
          </a:xfrm>
          <a:prstGeom prst="roundRect">
            <a:avLst>
              <a:gd name="adj" fmla="val 16666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200_pnt13"/>
          <p:cNvSpPr txBox="1"/>
          <p:nvPr/>
        </p:nvSpPr>
        <p:spPr>
          <a:xfrm>
            <a:off x="6035040" y="12527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appendonly.aof.manifest</a:t>
            </a:r>
          </a:p>
        </p:txBody>
      </p:sp>
      <p:sp>
        <p:nvSpPr>
          <p:cNvPr id="15" name="a1ud240_pns14"/>
          <p:cNvSpPr txBox="1"/>
          <p:nvPr/>
        </p:nvSpPr>
        <p:spPr>
          <a:xfrm>
            <a:off x="6035040" y="1563624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Calibri"/>
              </a:rPr>
              <a:t>88 B  ·  measured</a:t>
            </a:r>
          </a:p>
        </p:txBody>
      </p:sp>
      <p:sp>
        <p:nvSpPr>
          <p:cNvPr id="16" name="a1ud270_pnd15"/>
          <p:cNvSpPr txBox="1"/>
          <p:nvPr/>
        </p:nvSpPr>
        <p:spPr>
          <a:xfrm>
            <a:off x="6035040" y="1783080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334155"/>
                </a:solidFill>
                <a:latin typeface="Calibri"/>
              </a:rPr>
              <a:t>The index: which base + which incr files, in order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57200" y="2478024"/>
            <a:ext cx="8229600" cy="1129284"/>
          </a:xfrm>
          <a:prstGeom prst="roundRect">
            <a:avLst>
              <a:gd name="adj" fmla="val 64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576072" y="2532888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machine, 2026-09-23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576072" y="2871215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icici-redis cat /data/appendonlydir/appendonly.aof.manifest</a:t>
            </a:r>
          </a:p>
        </p:txBody>
      </p:sp>
      <p:sp>
        <p:nvSpPr>
          <p:cNvPr id="20" name="a2wd100_code19"/>
          <p:cNvSpPr txBox="1"/>
          <p:nvPr/>
        </p:nvSpPr>
        <p:spPr>
          <a:xfrm>
            <a:off x="576072" y="3076956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file appendonly.aof.1.base.rdb seq 1 type b</a:t>
            </a:r>
          </a:p>
        </p:txBody>
      </p:sp>
      <p:sp>
        <p:nvSpPr>
          <p:cNvPr id="21" name="a2wd200_code20"/>
          <p:cNvSpPr txBox="1"/>
          <p:nvPr/>
        </p:nvSpPr>
        <p:spPr>
          <a:xfrm>
            <a:off x="576072" y="3282696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file appendonly.aof.1.incr.aof seq 1 type i</a:t>
            </a:r>
          </a:p>
        </p:txBody>
      </p:sp>
      <p:sp>
        <p:nvSpPr>
          <p:cNvPr id="22" name="a3u_nb21"/>
          <p:cNvSpPr/>
          <p:nvPr/>
        </p:nvSpPr>
        <p:spPr>
          <a:xfrm>
            <a:off x="457200" y="371703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nacc22"/>
          <p:cNvSpPr/>
          <p:nvPr/>
        </p:nvSpPr>
        <p:spPr>
          <a:xfrm>
            <a:off x="457200" y="3717036"/>
            <a:ext cx="50292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t23"/>
          <p:cNvSpPr txBox="1"/>
          <p:nvPr/>
        </p:nvSpPr>
        <p:spPr>
          <a:xfrm>
            <a:off x="658368" y="3717036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i  </a:t>
            </a:r>
            <a:r>
              <a:rPr sz="1000" b="0">
                <a:solidFill>
                  <a:srgbClr val="334155"/>
                </a:solidFill>
                <a:latin typeface="Calibri"/>
              </a:rPr>
              <a:t>Before Redis 7 this was ONE growing file. Splitting base from incr means a rewrite writes a brand-new base file and only truncates the incr file when it is safely on disk - a crash mid-rewrite can no longer corrupt the file the server would need to recover.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AOF Rewrite · BGREWRITEAOF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log only grows - a rewrite compacts it back to the minimum needed to rebuild state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1746504"/>
          </a:xfrm>
          <a:prstGeom prst="roundRect">
            <a:avLst>
              <a:gd name="adj" fmla="val 41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before · 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50 more SETs against the running container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419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for i in $(seq 1 50); do redis-cli \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4767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SET icici:cnt:txn:$i $((i*1000)); done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5341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576072" y="235915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ls -la /data/appendonlydir</a:t>
            </a:r>
          </a:p>
        </p:txBody>
      </p:sp>
      <p:sp>
        <p:nvSpPr>
          <p:cNvPr id="11" name="a1wd450_code10"/>
          <p:cNvSpPr txBox="1"/>
          <p:nvPr/>
        </p:nvSpPr>
        <p:spPr>
          <a:xfrm>
            <a:off x="576072" y="25648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appendonly.aof.1.incr.aof   2355 bytes</a:t>
            </a:r>
          </a:p>
        </p:txBody>
      </p:sp>
      <p:sp>
        <p:nvSpPr>
          <p:cNvPr id="12" name="a2f_codebg11"/>
          <p:cNvSpPr/>
          <p:nvPr/>
        </p:nvSpPr>
        <p:spPr>
          <a:xfrm>
            <a:off x="4709160" y="1143000"/>
            <a:ext cx="3977639" cy="1746504"/>
          </a:xfrm>
          <a:prstGeom prst="roundRect">
            <a:avLst>
              <a:gd name="adj" fmla="val 41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f_codeh12"/>
          <p:cNvSpPr txBox="1"/>
          <p:nvPr/>
        </p:nvSpPr>
        <p:spPr>
          <a:xfrm>
            <a:off x="482803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after · measured, same run</a:t>
            </a:r>
          </a:p>
        </p:txBody>
      </p:sp>
      <p:sp>
        <p:nvSpPr>
          <p:cNvPr id="14" name="a2w_code13"/>
          <p:cNvSpPr txBox="1"/>
          <p:nvPr/>
        </p:nvSpPr>
        <p:spPr>
          <a:xfrm>
            <a:off x="4828032" y="15361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redis-cli BGREWRITEAOF</a:t>
            </a:r>
          </a:p>
        </p:txBody>
      </p:sp>
      <p:sp>
        <p:nvSpPr>
          <p:cNvPr id="15" name="a2wd90_code14"/>
          <p:cNvSpPr txBox="1"/>
          <p:nvPr/>
        </p:nvSpPr>
        <p:spPr>
          <a:xfrm>
            <a:off x="4828032" y="17419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Background append only file rewriting started</a:t>
            </a:r>
          </a:p>
        </p:txBody>
      </p:sp>
      <p:sp>
        <p:nvSpPr>
          <p:cNvPr id="16" name="a2wd180_code15"/>
          <p:cNvSpPr txBox="1"/>
          <p:nvPr/>
        </p:nvSpPr>
        <p:spPr>
          <a:xfrm>
            <a:off x="4828032" y="194767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7" name="a2wd270_code16"/>
          <p:cNvSpPr txBox="1"/>
          <p:nvPr/>
        </p:nvSpPr>
        <p:spPr>
          <a:xfrm>
            <a:off x="4828032" y="215341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ls -la /data/appendonlydir</a:t>
            </a:r>
          </a:p>
        </p:txBody>
      </p:sp>
      <p:sp>
        <p:nvSpPr>
          <p:cNvPr id="18" name="a2wd360_code17"/>
          <p:cNvSpPr txBox="1"/>
          <p:nvPr/>
        </p:nvSpPr>
        <p:spPr>
          <a:xfrm>
            <a:off x="4828032" y="235915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appendonly.aof.2.base.rdb   1263 bytes</a:t>
            </a:r>
          </a:p>
        </p:txBody>
      </p:sp>
      <p:sp>
        <p:nvSpPr>
          <p:cNvPr id="19" name="a2wd450_code18"/>
          <p:cNvSpPr txBox="1"/>
          <p:nvPr/>
        </p:nvSpPr>
        <p:spPr>
          <a:xfrm>
            <a:off x="4828032" y="25648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appendonly.aof.2.incr.aof      0 bytes</a:t>
            </a:r>
          </a:p>
        </p:txBody>
      </p:sp>
      <p:sp>
        <p:nvSpPr>
          <p:cNvPr id="20" name="a3f_th19"/>
          <p:cNvSpPr/>
          <p:nvPr/>
        </p:nvSpPr>
        <p:spPr>
          <a:xfrm>
            <a:off x="457200" y="2999232"/>
            <a:ext cx="2834640" cy="34747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f_tht20"/>
          <p:cNvSpPr txBox="1"/>
          <p:nvPr/>
        </p:nvSpPr>
        <p:spPr>
          <a:xfrm>
            <a:off x="530352" y="2999232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auto-aof-rewrite-percentage</a:t>
            </a:r>
          </a:p>
        </p:txBody>
      </p:sp>
      <p:sp>
        <p:nvSpPr>
          <p:cNvPr id="22" name="a3wd140_td21"/>
          <p:cNvSpPr/>
          <p:nvPr/>
        </p:nvSpPr>
        <p:spPr>
          <a:xfrm>
            <a:off x="457200" y="3346704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wd140_tdt22"/>
          <p:cNvSpPr txBox="1"/>
          <p:nvPr/>
        </p:nvSpPr>
        <p:spPr>
          <a:xfrm>
            <a:off x="530352" y="3346704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100</a:t>
            </a:r>
          </a:p>
        </p:txBody>
      </p:sp>
      <p:sp>
        <p:nvSpPr>
          <p:cNvPr id="24" name="a3f_th23"/>
          <p:cNvSpPr/>
          <p:nvPr/>
        </p:nvSpPr>
        <p:spPr>
          <a:xfrm>
            <a:off x="3291840" y="2999232"/>
            <a:ext cx="2743200" cy="3474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f_tht24"/>
          <p:cNvSpPr txBox="1"/>
          <p:nvPr/>
        </p:nvSpPr>
        <p:spPr>
          <a:xfrm>
            <a:off x="3364992" y="2999232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auto-aof-rewrite-min-size</a:t>
            </a:r>
          </a:p>
        </p:txBody>
      </p:sp>
      <p:sp>
        <p:nvSpPr>
          <p:cNvPr id="26" name="a3wd140_td25"/>
          <p:cNvSpPr/>
          <p:nvPr/>
        </p:nvSpPr>
        <p:spPr>
          <a:xfrm>
            <a:off x="3291840" y="334670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wd140_tdt26"/>
          <p:cNvSpPr txBox="1"/>
          <p:nvPr/>
        </p:nvSpPr>
        <p:spPr>
          <a:xfrm>
            <a:off x="3364992" y="3346704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64mb</a:t>
            </a:r>
          </a:p>
        </p:txBody>
      </p:sp>
      <p:sp>
        <p:nvSpPr>
          <p:cNvPr id="28" name="a3f_th27"/>
          <p:cNvSpPr/>
          <p:nvPr/>
        </p:nvSpPr>
        <p:spPr>
          <a:xfrm>
            <a:off x="6035040" y="2999232"/>
            <a:ext cx="265176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f_tht28"/>
          <p:cNvSpPr txBox="1"/>
          <p:nvPr/>
        </p:nvSpPr>
        <p:spPr>
          <a:xfrm>
            <a:off x="6108192" y="2999232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30" name="a3wd140_td29"/>
          <p:cNvSpPr/>
          <p:nvPr/>
        </p:nvSpPr>
        <p:spPr>
          <a:xfrm>
            <a:off x="6035040" y="3346704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wd140_tdt30"/>
          <p:cNvSpPr txBox="1"/>
          <p:nvPr/>
        </p:nvSpPr>
        <p:spPr>
          <a:xfrm>
            <a:off x="6108192" y="3346704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Rewrite once the file has doubled past 64 MB - the default</a:t>
            </a:r>
          </a:p>
        </p:txBody>
      </p:sp>
      <p:sp>
        <p:nvSpPr>
          <p:cNvPr id="32" name="a4u_nb31"/>
          <p:cNvSpPr/>
          <p:nvPr/>
        </p:nvSpPr>
        <p:spPr>
          <a:xfrm>
            <a:off x="457200" y="3785615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_nacc32"/>
          <p:cNvSpPr/>
          <p:nvPr/>
        </p:nvSpPr>
        <p:spPr>
          <a:xfrm>
            <a:off x="457200" y="3785615"/>
            <a:ext cx="5029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_nt33"/>
          <p:cNvSpPr txBox="1"/>
          <p:nvPr/>
        </p:nvSpPr>
        <p:spPr>
          <a:xfrm>
            <a:off x="658368" y="3785615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Sequence number went from 1 to 2 - a rewrite never edits a file in place, it writes new base and incr files, updates the manifest last, and only then deletes the old ones. That ordering is what makes a rewrite crash-safe.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When AOF Breaks - Captured Live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A corrupted tail, the exact refusal, and the fix - one real sequence, unedited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2363724"/>
          </a:xfrm>
          <a:prstGeom prst="roundRect">
            <a:avLst>
              <a:gd name="adj" fmla="val 3094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server refuses to start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stop the server, corrupt the incr file</a:t>
            </a:r>
          </a:p>
        </p:txBody>
      </p:sp>
      <p:sp>
        <p:nvSpPr>
          <p:cNvPr id="7" name="a1wd75_code6"/>
          <p:cNvSpPr txBox="1"/>
          <p:nvPr/>
        </p:nvSpPr>
        <p:spPr>
          <a:xfrm>
            <a:off x="576072" y="17419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printf '\n*3\r\n$3\r\nSET\r\n\</a:t>
            </a:r>
          </a:p>
        </p:txBody>
      </p:sp>
      <p:sp>
        <p:nvSpPr>
          <p:cNvPr id="8" name="a1wd150_code7"/>
          <p:cNvSpPr txBox="1"/>
          <p:nvPr/>
        </p:nvSpPr>
        <p:spPr>
          <a:xfrm>
            <a:off x="576072" y="194767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corrupt-partial-write' &gt;&gt; ....incr.aof</a:t>
            </a:r>
          </a:p>
        </p:txBody>
      </p:sp>
      <p:sp>
        <p:nvSpPr>
          <p:cNvPr id="9" name="a1wd225_code8"/>
          <p:cNvSpPr txBox="1"/>
          <p:nvPr/>
        </p:nvSpPr>
        <p:spPr>
          <a:xfrm>
            <a:off x="576072" y="215341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300_code9"/>
          <p:cNvSpPr txBox="1"/>
          <p:nvPr/>
        </p:nvSpPr>
        <p:spPr>
          <a:xfrm>
            <a:off x="576072" y="235915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redis-server --dir /data --appendonly yes</a:t>
            </a:r>
          </a:p>
        </p:txBody>
      </p:sp>
      <p:sp>
        <p:nvSpPr>
          <p:cNvPr id="11" name="a1wd375_code10"/>
          <p:cNvSpPr txBox="1"/>
          <p:nvPr/>
        </p:nvSpPr>
        <p:spPr>
          <a:xfrm>
            <a:off x="576072" y="25648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... DB loaded from base file: 53 keys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576072" y="27706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# Bad file format reading the append</a:t>
            </a:r>
          </a:p>
        </p:txBody>
      </p:sp>
      <p:sp>
        <p:nvSpPr>
          <p:cNvPr id="13" name="a1wd525_code12"/>
          <p:cNvSpPr txBox="1"/>
          <p:nvPr/>
        </p:nvSpPr>
        <p:spPr>
          <a:xfrm>
            <a:off x="576072" y="297637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# only file ....incr.aof: make a backup,</a:t>
            </a:r>
          </a:p>
        </p:txBody>
      </p:sp>
      <p:sp>
        <p:nvSpPr>
          <p:cNvPr id="14" name="a1wd600_code13"/>
          <p:cNvSpPr txBox="1"/>
          <p:nvPr/>
        </p:nvSpPr>
        <p:spPr>
          <a:xfrm>
            <a:off x="576072" y="318211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# then use ./redis-check-aof --fix ...</a:t>
            </a:r>
          </a:p>
        </p:txBody>
      </p:sp>
      <p:sp>
        <p:nvSpPr>
          <p:cNvPr id="15" name="a2f_codebg14"/>
          <p:cNvSpPr/>
          <p:nvPr/>
        </p:nvSpPr>
        <p:spPr>
          <a:xfrm>
            <a:off x="4709160" y="1143000"/>
            <a:ext cx="3977639" cy="2363724"/>
          </a:xfrm>
          <a:prstGeom prst="roundRect">
            <a:avLst>
              <a:gd name="adj" fmla="val 3094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codeh15"/>
          <p:cNvSpPr txBox="1"/>
          <p:nvPr/>
        </p:nvSpPr>
        <p:spPr>
          <a:xfrm>
            <a:off x="482803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repaired, starts clean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4828032" y="15361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redis-check-aof --fix \</a:t>
            </a:r>
          </a:p>
        </p:txBody>
      </p:sp>
      <p:sp>
        <p:nvSpPr>
          <p:cNvPr id="18" name="a2wd75_code17"/>
          <p:cNvSpPr txBox="1"/>
          <p:nvPr/>
        </p:nvSpPr>
        <p:spPr>
          <a:xfrm>
            <a:off x="4828032" y="17419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/data/appendonlydir/....manifest</a:t>
            </a:r>
          </a:p>
        </p:txBody>
      </p:sp>
      <p:sp>
        <p:nvSpPr>
          <p:cNvPr id="19" name="a2wd150_code18"/>
          <p:cNvSpPr txBox="1"/>
          <p:nvPr/>
        </p:nvSpPr>
        <p:spPr>
          <a:xfrm>
            <a:off x="4828032" y="194767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AOF ....incr.aof format error</a:t>
            </a:r>
          </a:p>
        </p:txBody>
      </p:sp>
      <p:sp>
        <p:nvSpPr>
          <p:cNvPr id="20" name="a2wd225_code19"/>
          <p:cNvSpPr txBox="1"/>
          <p:nvPr/>
        </p:nvSpPr>
        <p:spPr>
          <a:xfrm>
            <a:off x="4828032" y="215341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This will shrink the AOF from 35 bytes</a:t>
            </a:r>
          </a:p>
        </p:txBody>
      </p:sp>
      <p:sp>
        <p:nvSpPr>
          <p:cNvPr id="21" name="a2wd300_code20"/>
          <p:cNvSpPr txBox="1"/>
          <p:nvPr/>
        </p:nvSpPr>
        <p:spPr>
          <a:xfrm>
            <a:off x="4828032" y="235915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  to 0 bytes. Continue? [y/N]: y</a:t>
            </a:r>
          </a:p>
        </p:txBody>
      </p:sp>
      <p:sp>
        <p:nvSpPr>
          <p:cNvPr id="22" name="a2wd375_code21"/>
          <p:cNvSpPr txBox="1"/>
          <p:nvPr/>
        </p:nvSpPr>
        <p:spPr>
          <a:xfrm>
            <a:off x="4828032" y="25648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Successfully truncated AOF ....incr.aof</a:t>
            </a:r>
          </a:p>
        </p:txBody>
      </p:sp>
      <p:sp>
        <p:nvSpPr>
          <p:cNvPr id="23" name="a2wd450_code22"/>
          <p:cNvSpPr txBox="1"/>
          <p:nvPr/>
        </p:nvSpPr>
        <p:spPr>
          <a:xfrm>
            <a:off x="4828032" y="27706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All AOF files and manifest are valid</a:t>
            </a:r>
          </a:p>
        </p:txBody>
      </p:sp>
      <p:sp>
        <p:nvSpPr>
          <p:cNvPr id="24" name="a2wd525_code23"/>
          <p:cNvSpPr txBox="1"/>
          <p:nvPr/>
        </p:nvSpPr>
        <p:spPr>
          <a:xfrm>
            <a:off x="4828032" y="297637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5" name="a2wd600_code24"/>
          <p:cNvSpPr txBox="1"/>
          <p:nvPr/>
        </p:nvSpPr>
        <p:spPr>
          <a:xfrm>
            <a:off x="4828032" y="318211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$ redis-server ...   -&gt;   Ready to accept</a:t>
            </a:r>
          </a:p>
        </p:txBody>
      </p:sp>
      <p:sp>
        <p:nvSpPr>
          <p:cNvPr id="26" name="a3u_nb25"/>
          <p:cNvSpPr/>
          <p:nvPr/>
        </p:nvSpPr>
        <p:spPr>
          <a:xfrm>
            <a:off x="457200" y="361645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_nacc26"/>
          <p:cNvSpPr/>
          <p:nvPr/>
        </p:nvSpPr>
        <p:spPr>
          <a:xfrm>
            <a:off x="457200" y="3616452"/>
            <a:ext cx="50292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nt27"/>
          <p:cNvSpPr txBox="1"/>
          <p:nvPr/>
        </p:nvSpPr>
        <p:spPr>
          <a:xfrm>
            <a:off x="658368" y="3616452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E2E8F0"/>
                </a:solidFill>
                <a:latin typeface="Calibri"/>
              </a:rPr>
              <a:t>Nothing here was staged - the 35 bytes are the exact garbage this deck's author appended by hand. redis-check-aof told us precisely how many bytes were bad and asked before truncating; the server then loaded the same 53 keys it had before the corruption.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RDB, AOF or Both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decision that trades restart speed against how much you can afford to lose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Comparison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Hybrid preamble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Per-workload choice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RDB vs AOF vs Both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Same three questions decide it every time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1691640" cy="3657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508760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50876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Worst-case data loss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874519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874519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Restart speed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240280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24028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File size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606040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60604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Runtime cost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971800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297180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Corruption recovery</a:t>
            </a:r>
          </a:p>
        </p:txBody>
      </p:sp>
      <p:sp>
        <p:nvSpPr>
          <p:cNvPr id="16" name="a1f_th15"/>
          <p:cNvSpPr/>
          <p:nvPr/>
        </p:nvSpPr>
        <p:spPr>
          <a:xfrm>
            <a:off x="2148840" y="1143000"/>
            <a:ext cx="2148840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2221992" y="114300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RDB only</a:t>
            </a:r>
          </a:p>
        </p:txBody>
      </p:sp>
      <p:sp>
        <p:nvSpPr>
          <p:cNvPr id="18" name="a1wd110_td17"/>
          <p:cNvSpPr/>
          <p:nvPr/>
        </p:nvSpPr>
        <p:spPr>
          <a:xfrm>
            <a:off x="2148840" y="150876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10_tdt18"/>
          <p:cNvSpPr txBox="1"/>
          <p:nvPr/>
        </p:nvSpPr>
        <p:spPr>
          <a:xfrm>
            <a:off x="2221992" y="150876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Up to the save interval</a:t>
            </a:r>
          </a:p>
        </p:txBody>
      </p:sp>
      <p:sp>
        <p:nvSpPr>
          <p:cNvPr id="20" name="a1wd220_td19"/>
          <p:cNvSpPr/>
          <p:nvPr/>
        </p:nvSpPr>
        <p:spPr>
          <a:xfrm>
            <a:off x="2148840" y="1874519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20_tdt20"/>
          <p:cNvSpPr txBox="1"/>
          <p:nvPr/>
        </p:nvSpPr>
        <p:spPr>
          <a:xfrm>
            <a:off x="2221992" y="1874519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Fastest - one binary file</a:t>
            </a:r>
          </a:p>
        </p:txBody>
      </p:sp>
      <p:sp>
        <p:nvSpPr>
          <p:cNvPr id="22" name="a1wd330_td21"/>
          <p:cNvSpPr/>
          <p:nvPr/>
        </p:nvSpPr>
        <p:spPr>
          <a:xfrm>
            <a:off x="2148840" y="224028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30_tdt22"/>
          <p:cNvSpPr txBox="1"/>
          <p:nvPr/>
        </p:nvSpPr>
        <p:spPr>
          <a:xfrm>
            <a:off x="2221992" y="224028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Smallest, compressed</a:t>
            </a:r>
          </a:p>
        </p:txBody>
      </p:sp>
      <p:sp>
        <p:nvSpPr>
          <p:cNvPr id="24" name="a1wd440_td23"/>
          <p:cNvSpPr/>
          <p:nvPr/>
        </p:nvSpPr>
        <p:spPr>
          <a:xfrm>
            <a:off x="2148840" y="260604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440_tdt24"/>
          <p:cNvSpPr txBox="1"/>
          <p:nvPr/>
        </p:nvSpPr>
        <p:spPr>
          <a:xfrm>
            <a:off x="2221992" y="260604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Only during BGSAVE</a:t>
            </a:r>
          </a:p>
        </p:txBody>
      </p:sp>
      <p:sp>
        <p:nvSpPr>
          <p:cNvPr id="26" name="a1wd550_td25"/>
          <p:cNvSpPr/>
          <p:nvPr/>
        </p:nvSpPr>
        <p:spPr>
          <a:xfrm>
            <a:off x="2148840" y="297180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550_tdt26"/>
          <p:cNvSpPr txBox="1"/>
          <p:nvPr/>
        </p:nvSpPr>
        <p:spPr>
          <a:xfrm>
            <a:off x="2221992" y="297180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redis-check-rdb</a:t>
            </a:r>
          </a:p>
        </p:txBody>
      </p:sp>
      <p:sp>
        <p:nvSpPr>
          <p:cNvPr id="28" name="a1f_th27"/>
          <p:cNvSpPr/>
          <p:nvPr/>
        </p:nvSpPr>
        <p:spPr>
          <a:xfrm>
            <a:off x="4297680" y="1143000"/>
            <a:ext cx="214884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4370832" y="114300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AOF only</a:t>
            </a:r>
          </a:p>
        </p:txBody>
      </p:sp>
      <p:sp>
        <p:nvSpPr>
          <p:cNvPr id="30" name="a1wd110_td29"/>
          <p:cNvSpPr/>
          <p:nvPr/>
        </p:nvSpPr>
        <p:spPr>
          <a:xfrm>
            <a:off x="4297680" y="150876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10_tdt30"/>
          <p:cNvSpPr txBox="1"/>
          <p:nvPr/>
        </p:nvSpPr>
        <p:spPr>
          <a:xfrm>
            <a:off x="4370832" y="150876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≤1s with everysec</a:t>
            </a:r>
          </a:p>
        </p:txBody>
      </p:sp>
      <p:sp>
        <p:nvSpPr>
          <p:cNvPr id="32" name="a1wd220_td31"/>
          <p:cNvSpPr/>
          <p:nvPr/>
        </p:nvSpPr>
        <p:spPr>
          <a:xfrm>
            <a:off x="4297680" y="1874519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20_tdt32"/>
          <p:cNvSpPr txBox="1"/>
          <p:nvPr/>
        </p:nvSpPr>
        <p:spPr>
          <a:xfrm>
            <a:off x="4370832" y="1874519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Slower - replays the log</a:t>
            </a:r>
          </a:p>
        </p:txBody>
      </p:sp>
      <p:sp>
        <p:nvSpPr>
          <p:cNvPr id="34" name="a1wd330_td33"/>
          <p:cNvSpPr/>
          <p:nvPr/>
        </p:nvSpPr>
        <p:spPr>
          <a:xfrm>
            <a:off x="4297680" y="224028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30_tdt34"/>
          <p:cNvSpPr txBox="1"/>
          <p:nvPr/>
        </p:nvSpPr>
        <p:spPr>
          <a:xfrm>
            <a:off x="4370832" y="224028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Largest, grows until rewrite</a:t>
            </a:r>
          </a:p>
        </p:txBody>
      </p:sp>
      <p:sp>
        <p:nvSpPr>
          <p:cNvPr id="36" name="a1wd440_td35"/>
          <p:cNvSpPr/>
          <p:nvPr/>
        </p:nvSpPr>
        <p:spPr>
          <a:xfrm>
            <a:off x="4297680" y="260604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40_tdt36"/>
          <p:cNvSpPr txBox="1"/>
          <p:nvPr/>
        </p:nvSpPr>
        <p:spPr>
          <a:xfrm>
            <a:off x="4370832" y="260604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One fsync per second (or write)</a:t>
            </a:r>
          </a:p>
        </p:txBody>
      </p:sp>
      <p:sp>
        <p:nvSpPr>
          <p:cNvPr id="38" name="a1wd550_td37"/>
          <p:cNvSpPr/>
          <p:nvPr/>
        </p:nvSpPr>
        <p:spPr>
          <a:xfrm>
            <a:off x="4297680" y="297180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550_tdt38"/>
          <p:cNvSpPr txBox="1"/>
          <p:nvPr/>
        </p:nvSpPr>
        <p:spPr>
          <a:xfrm>
            <a:off x="4370832" y="2971800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redis-check-aof --fix</a:t>
            </a:r>
          </a:p>
        </p:txBody>
      </p:sp>
      <p:sp>
        <p:nvSpPr>
          <p:cNvPr id="40" name="a1f_th39"/>
          <p:cNvSpPr/>
          <p:nvPr/>
        </p:nvSpPr>
        <p:spPr>
          <a:xfrm>
            <a:off x="6446520" y="1143000"/>
            <a:ext cx="2240280" cy="36576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f_tht40"/>
          <p:cNvSpPr txBox="1"/>
          <p:nvPr/>
        </p:nvSpPr>
        <p:spPr>
          <a:xfrm>
            <a:off x="6519672" y="114300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Both (hybrid)</a:t>
            </a:r>
          </a:p>
        </p:txBody>
      </p:sp>
      <p:sp>
        <p:nvSpPr>
          <p:cNvPr id="42" name="a1wd110_td41"/>
          <p:cNvSpPr/>
          <p:nvPr/>
        </p:nvSpPr>
        <p:spPr>
          <a:xfrm>
            <a:off x="6446520" y="150876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110_tdt42"/>
          <p:cNvSpPr txBox="1"/>
          <p:nvPr/>
        </p:nvSpPr>
        <p:spPr>
          <a:xfrm>
            <a:off x="6519672" y="150876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≤1s with everysec</a:t>
            </a:r>
          </a:p>
        </p:txBody>
      </p:sp>
      <p:sp>
        <p:nvSpPr>
          <p:cNvPr id="44" name="a1wd220_td43"/>
          <p:cNvSpPr/>
          <p:nvPr/>
        </p:nvSpPr>
        <p:spPr>
          <a:xfrm>
            <a:off x="6446520" y="1874519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220_tdt44"/>
          <p:cNvSpPr txBox="1"/>
          <p:nvPr/>
        </p:nvSpPr>
        <p:spPr>
          <a:xfrm>
            <a:off x="6519672" y="1874519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Fast - RDB preamble, small tail</a:t>
            </a:r>
          </a:p>
        </p:txBody>
      </p:sp>
      <p:sp>
        <p:nvSpPr>
          <p:cNvPr id="46" name="a1wd330_td45"/>
          <p:cNvSpPr/>
          <p:nvPr/>
        </p:nvSpPr>
        <p:spPr>
          <a:xfrm>
            <a:off x="6446520" y="224028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330_tdt46"/>
          <p:cNvSpPr txBox="1"/>
          <p:nvPr/>
        </p:nvSpPr>
        <p:spPr>
          <a:xfrm>
            <a:off x="6519672" y="224028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Base is compact, tail is small</a:t>
            </a:r>
          </a:p>
        </p:txBody>
      </p:sp>
      <p:sp>
        <p:nvSpPr>
          <p:cNvPr id="48" name="a1wd440_td47"/>
          <p:cNvSpPr/>
          <p:nvPr/>
        </p:nvSpPr>
        <p:spPr>
          <a:xfrm>
            <a:off x="6446520" y="260604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440_tdt48"/>
          <p:cNvSpPr txBox="1"/>
          <p:nvPr/>
        </p:nvSpPr>
        <p:spPr>
          <a:xfrm>
            <a:off x="6519672" y="260604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Both costs, together</a:t>
            </a:r>
          </a:p>
        </p:txBody>
      </p:sp>
      <p:sp>
        <p:nvSpPr>
          <p:cNvPr id="50" name="a1wd550_td49"/>
          <p:cNvSpPr/>
          <p:nvPr/>
        </p:nvSpPr>
        <p:spPr>
          <a:xfrm>
            <a:off x="6446520" y="297180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550_tdt50"/>
          <p:cNvSpPr txBox="1"/>
          <p:nvPr/>
        </p:nvSpPr>
        <p:spPr>
          <a:xfrm>
            <a:off x="6519672" y="297180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Both tools apply</a:t>
            </a:r>
          </a:p>
        </p:txBody>
      </p:sp>
      <p:sp>
        <p:nvSpPr>
          <p:cNvPr id="52" name="a2u_nb51"/>
          <p:cNvSpPr/>
          <p:nvPr/>
        </p:nvSpPr>
        <p:spPr>
          <a:xfrm>
            <a:off x="457200" y="344728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u_nacc52"/>
          <p:cNvSpPr/>
          <p:nvPr/>
        </p:nvSpPr>
        <p:spPr>
          <a:xfrm>
            <a:off x="457200" y="3447288"/>
            <a:ext cx="50292" cy="6035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u_nt53"/>
          <p:cNvSpPr txBox="1"/>
          <p:nvPr/>
        </p:nvSpPr>
        <p:spPr>
          <a:xfrm>
            <a:off x="658368" y="3447288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KEY  </a:t>
            </a:r>
            <a:r>
              <a:rPr sz="1050" b="0">
                <a:solidFill>
                  <a:srgbClr val="334155"/>
                </a:solidFill>
                <a:latin typeface="Calibri"/>
              </a:rPr>
              <a:t>Redis 7's default IS the hybrid: appendonly yes with aof-use-rdb-preamble yes. The AOF base file you saw earlier was literally an RDB file - redis-check-aof confirmed it with "Checking RDB file ... RDB looks OK!" before it even reached the incr tail.</a:t>
            </a:r>
          </a:p>
        </p:txBody>
      </p:sp>
      <p:sp>
        <p:nvSpPr>
          <p:cNvPr id="55" name="ft5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6" name="ft5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Match Persistence to the Workload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most common mistake is applying one policy to every key in the server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19456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Workload</a:t>
            </a:r>
          </a:p>
        </p:txBody>
      </p:sp>
      <p:sp>
        <p:nvSpPr>
          <p:cNvPr id="6" name="a1wd105_td5"/>
          <p:cNvSpPr/>
          <p:nvPr/>
        </p:nvSpPr>
        <p:spPr>
          <a:xfrm>
            <a:off x="457200" y="150876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05_tdt6"/>
          <p:cNvSpPr txBox="1"/>
          <p:nvPr/>
        </p:nvSpPr>
        <p:spPr>
          <a:xfrm>
            <a:off x="530352" y="150876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Balance / profile cache</a:t>
            </a:r>
          </a:p>
        </p:txBody>
      </p:sp>
      <p:sp>
        <p:nvSpPr>
          <p:cNvPr id="8" name="a1wd210_td7"/>
          <p:cNvSpPr/>
          <p:nvPr/>
        </p:nvSpPr>
        <p:spPr>
          <a:xfrm>
            <a:off x="457200" y="1874519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10_tdt8"/>
          <p:cNvSpPr txBox="1"/>
          <p:nvPr/>
        </p:nvSpPr>
        <p:spPr>
          <a:xfrm>
            <a:off x="530352" y="1874519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Login sessions</a:t>
            </a:r>
          </a:p>
        </p:txBody>
      </p:sp>
      <p:sp>
        <p:nvSpPr>
          <p:cNvPr id="10" name="a1wd315_td9"/>
          <p:cNvSpPr/>
          <p:nvPr/>
        </p:nvSpPr>
        <p:spPr>
          <a:xfrm>
            <a:off x="457200" y="224028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15_tdt10"/>
          <p:cNvSpPr txBox="1"/>
          <p:nvPr/>
        </p:nvSpPr>
        <p:spPr>
          <a:xfrm>
            <a:off x="530352" y="224028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Rate-limit counters</a:t>
            </a:r>
          </a:p>
        </p:txBody>
      </p:sp>
      <p:sp>
        <p:nvSpPr>
          <p:cNvPr id="12" name="a1wd420_td11"/>
          <p:cNvSpPr/>
          <p:nvPr/>
        </p:nvSpPr>
        <p:spPr>
          <a:xfrm>
            <a:off x="457200" y="260604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20_tdt12"/>
          <p:cNvSpPr txBox="1"/>
          <p:nvPr/>
        </p:nvSpPr>
        <p:spPr>
          <a:xfrm>
            <a:off x="530352" y="260604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Job queues (BRPOP)</a:t>
            </a:r>
          </a:p>
        </p:txBody>
      </p:sp>
      <p:sp>
        <p:nvSpPr>
          <p:cNvPr id="14" name="a1wd525_td13"/>
          <p:cNvSpPr/>
          <p:nvPr/>
        </p:nvSpPr>
        <p:spPr>
          <a:xfrm>
            <a:off x="457200" y="29718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25_tdt14"/>
          <p:cNvSpPr txBox="1"/>
          <p:nvPr/>
        </p:nvSpPr>
        <p:spPr>
          <a:xfrm>
            <a:off x="530352" y="297180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Distributed locks</a:t>
            </a:r>
          </a:p>
        </p:txBody>
      </p:sp>
      <p:sp>
        <p:nvSpPr>
          <p:cNvPr id="16" name="a1wd630_td15"/>
          <p:cNvSpPr/>
          <p:nvPr/>
        </p:nvSpPr>
        <p:spPr>
          <a:xfrm>
            <a:off x="457200" y="333756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630_tdt16"/>
          <p:cNvSpPr txBox="1"/>
          <p:nvPr/>
        </p:nvSpPr>
        <p:spPr>
          <a:xfrm>
            <a:off x="530352" y="333756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The ledger of record</a:t>
            </a:r>
          </a:p>
        </p:txBody>
      </p:sp>
      <p:sp>
        <p:nvSpPr>
          <p:cNvPr id="18" name="a1f_th17"/>
          <p:cNvSpPr/>
          <p:nvPr/>
        </p:nvSpPr>
        <p:spPr>
          <a:xfrm>
            <a:off x="2651760" y="1143000"/>
            <a:ext cx="1920240" cy="3657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f_tht18"/>
          <p:cNvSpPr txBox="1"/>
          <p:nvPr/>
        </p:nvSpPr>
        <p:spPr>
          <a:xfrm>
            <a:off x="2724912" y="114300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Persistence</a:t>
            </a:r>
          </a:p>
        </p:txBody>
      </p:sp>
      <p:sp>
        <p:nvSpPr>
          <p:cNvPr id="20" name="a1wd105_td19"/>
          <p:cNvSpPr/>
          <p:nvPr/>
        </p:nvSpPr>
        <p:spPr>
          <a:xfrm>
            <a:off x="2651760" y="1508760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05_tdt20"/>
          <p:cNvSpPr txBox="1"/>
          <p:nvPr/>
        </p:nvSpPr>
        <p:spPr>
          <a:xfrm>
            <a:off x="2724912" y="150876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None, or RDB only</a:t>
            </a:r>
          </a:p>
        </p:txBody>
      </p:sp>
      <p:sp>
        <p:nvSpPr>
          <p:cNvPr id="22" name="a1wd210_td21"/>
          <p:cNvSpPr/>
          <p:nvPr/>
        </p:nvSpPr>
        <p:spPr>
          <a:xfrm>
            <a:off x="2651760" y="1874519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10_tdt22"/>
          <p:cNvSpPr txBox="1"/>
          <p:nvPr/>
        </p:nvSpPr>
        <p:spPr>
          <a:xfrm>
            <a:off x="2724912" y="1874519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AOF, everysec</a:t>
            </a:r>
          </a:p>
        </p:txBody>
      </p:sp>
      <p:sp>
        <p:nvSpPr>
          <p:cNvPr id="24" name="a1wd315_td23"/>
          <p:cNvSpPr/>
          <p:nvPr/>
        </p:nvSpPr>
        <p:spPr>
          <a:xfrm>
            <a:off x="2651760" y="2240280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315_tdt24"/>
          <p:cNvSpPr txBox="1"/>
          <p:nvPr/>
        </p:nvSpPr>
        <p:spPr>
          <a:xfrm>
            <a:off x="2724912" y="224028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None</a:t>
            </a:r>
          </a:p>
        </p:txBody>
      </p:sp>
      <p:sp>
        <p:nvSpPr>
          <p:cNvPr id="26" name="a1wd420_td25"/>
          <p:cNvSpPr/>
          <p:nvPr/>
        </p:nvSpPr>
        <p:spPr>
          <a:xfrm>
            <a:off x="2651760" y="2606040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420_tdt26"/>
          <p:cNvSpPr txBox="1"/>
          <p:nvPr/>
        </p:nvSpPr>
        <p:spPr>
          <a:xfrm>
            <a:off x="2724912" y="260604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AOF, everysec</a:t>
            </a:r>
          </a:p>
        </p:txBody>
      </p:sp>
      <p:sp>
        <p:nvSpPr>
          <p:cNvPr id="28" name="a1wd525_td27"/>
          <p:cNvSpPr/>
          <p:nvPr/>
        </p:nvSpPr>
        <p:spPr>
          <a:xfrm>
            <a:off x="2651760" y="2971800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525_tdt28"/>
          <p:cNvSpPr txBox="1"/>
          <p:nvPr/>
        </p:nvSpPr>
        <p:spPr>
          <a:xfrm>
            <a:off x="2724912" y="297180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AOF, everysec</a:t>
            </a:r>
          </a:p>
        </p:txBody>
      </p:sp>
      <p:sp>
        <p:nvSpPr>
          <p:cNvPr id="30" name="a1wd630_td29"/>
          <p:cNvSpPr/>
          <p:nvPr/>
        </p:nvSpPr>
        <p:spPr>
          <a:xfrm>
            <a:off x="2651760" y="3337560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630_tdt30"/>
          <p:cNvSpPr txBox="1"/>
          <p:nvPr/>
        </p:nvSpPr>
        <p:spPr>
          <a:xfrm>
            <a:off x="2724912" y="333756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Neither - use PostgreSQL</a:t>
            </a:r>
          </a:p>
        </p:txBody>
      </p:sp>
      <p:sp>
        <p:nvSpPr>
          <p:cNvPr id="32" name="a1f_th31"/>
          <p:cNvSpPr/>
          <p:nvPr/>
        </p:nvSpPr>
        <p:spPr>
          <a:xfrm>
            <a:off x="4572000" y="1143000"/>
            <a:ext cx="411480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f_tht32"/>
          <p:cNvSpPr txBox="1"/>
          <p:nvPr/>
        </p:nvSpPr>
        <p:spPr>
          <a:xfrm>
            <a:off x="4645152" y="114300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34" name="a1wd105_td33"/>
          <p:cNvSpPr/>
          <p:nvPr/>
        </p:nvSpPr>
        <p:spPr>
          <a:xfrm>
            <a:off x="4572000" y="15087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05_tdt34"/>
          <p:cNvSpPr txBox="1"/>
          <p:nvPr/>
        </p:nvSpPr>
        <p:spPr>
          <a:xfrm>
            <a:off x="4645152" y="150876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restart is a cold cache - the next miss refills it from Postgres</a:t>
            </a:r>
          </a:p>
        </p:txBody>
      </p:sp>
      <p:sp>
        <p:nvSpPr>
          <p:cNvPr id="36" name="a1wd210_td35"/>
          <p:cNvSpPr/>
          <p:nvPr/>
        </p:nvSpPr>
        <p:spPr>
          <a:xfrm>
            <a:off x="4572000" y="1874519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10_tdt36"/>
          <p:cNvSpPr txBox="1"/>
          <p:nvPr/>
        </p:nvSpPr>
        <p:spPr>
          <a:xfrm>
            <a:off x="4645152" y="1874519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Losing sessions logs out every customer at once</a:t>
            </a:r>
          </a:p>
        </p:txBody>
      </p:sp>
      <p:sp>
        <p:nvSpPr>
          <p:cNvPr id="38" name="a1wd315_td37"/>
          <p:cNvSpPr/>
          <p:nvPr/>
        </p:nvSpPr>
        <p:spPr>
          <a:xfrm>
            <a:off x="4572000" y="22402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15_tdt38"/>
          <p:cNvSpPr txBox="1"/>
          <p:nvPr/>
        </p:nvSpPr>
        <p:spPr>
          <a:xfrm>
            <a:off x="4645152" y="224028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one-minute window rebuilds itself within a minute</a:t>
            </a:r>
          </a:p>
        </p:txBody>
      </p:sp>
      <p:sp>
        <p:nvSpPr>
          <p:cNvPr id="40" name="a1wd420_td39"/>
          <p:cNvSpPr/>
          <p:nvPr/>
        </p:nvSpPr>
        <p:spPr>
          <a:xfrm>
            <a:off x="4572000" y="26060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20_tdt40"/>
          <p:cNvSpPr txBox="1"/>
          <p:nvPr/>
        </p:nvSpPr>
        <p:spPr>
          <a:xfrm>
            <a:off x="4645152" y="260604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lost job is work that silently never happens</a:t>
            </a:r>
          </a:p>
        </p:txBody>
      </p:sp>
      <p:sp>
        <p:nvSpPr>
          <p:cNvPr id="42" name="a1wd525_td41"/>
          <p:cNvSpPr/>
          <p:nvPr/>
        </p:nvSpPr>
        <p:spPr>
          <a:xfrm>
            <a:off x="4572000" y="29718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525_tdt42"/>
          <p:cNvSpPr txBox="1"/>
          <p:nvPr/>
        </p:nvSpPr>
        <p:spPr>
          <a:xfrm>
            <a:off x="4645152" y="297180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lost lock lets two batch jobs run at the same time</a:t>
            </a:r>
          </a:p>
        </p:txBody>
      </p:sp>
      <p:sp>
        <p:nvSpPr>
          <p:cNvPr id="44" name="a1wd630_td43"/>
          <p:cNvSpPr/>
          <p:nvPr/>
        </p:nvSpPr>
        <p:spPr>
          <a:xfrm>
            <a:off x="4572000" y="33375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630_tdt44"/>
          <p:cNvSpPr txBox="1"/>
          <p:nvPr/>
        </p:nvSpPr>
        <p:spPr>
          <a:xfrm>
            <a:off x="4645152" y="333756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Redis is not the system of record for money</a:t>
            </a:r>
          </a:p>
        </p:txBody>
      </p:sp>
      <p:sp>
        <p:nvSpPr>
          <p:cNvPr id="46" name="a2u_nb45"/>
          <p:cNvSpPr/>
          <p:nvPr/>
        </p:nvSpPr>
        <p:spPr>
          <a:xfrm>
            <a:off x="457200" y="3794760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u_nacc46"/>
          <p:cNvSpPr/>
          <p:nvPr/>
        </p:nvSpPr>
        <p:spPr>
          <a:xfrm>
            <a:off x="457200" y="3794760"/>
            <a:ext cx="50292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u_nt47"/>
          <p:cNvSpPr txBox="1"/>
          <p:nvPr/>
        </p:nvSpPr>
        <p:spPr>
          <a:xfrm>
            <a:off x="658368" y="3794760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45309"/>
                </a:solidFill>
                <a:latin typeface="Calibri"/>
              </a:rPr>
              <a:t>!  </a:t>
            </a:r>
            <a:r>
              <a:rPr sz="950" b="0">
                <a:solidFill>
                  <a:srgbClr val="334155"/>
                </a:solidFill>
                <a:latin typeface="Calibri"/>
              </a:rPr>
              <a:t>Redis has one persistence setting per SERVER, not per key. Run a cache instance with persistence off, and a sessions/locks/queues instance with AOF on - two containers, not one compromise.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Persistence in Docker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container adds one more failure mode on top of everything so far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Volumes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docker-compose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Backup &amp; restore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down vs down -v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Container Filesystem Trap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No -v flag, one key, one docker rm - reproduced and measured on this machine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1952243"/>
          </a:xfrm>
          <a:prstGeom prst="roundRect">
            <a:avLst>
              <a:gd name="adj" fmla="val 3747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write a key · no volume mounted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run -d --name r -p 6398:6379 \</a:t>
            </a:r>
          </a:p>
        </p:txBody>
      </p:sp>
      <p:sp>
        <p:nvSpPr>
          <p:cNvPr id="7" name="a1wd85_code6"/>
          <p:cNvSpPr txBox="1"/>
          <p:nvPr/>
        </p:nvSpPr>
        <p:spPr>
          <a:xfrm>
            <a:off x="576072" y="17419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redis:7-alpine</a:t>
            </a:r>
          </a:p>
        </p:txBody>
      </p:sp>
      <p:sp>
        <p:nvSpPr>
          <p:cNvPr id="8" name="a1wd170_code7"/>
          <p:cNvSpPr txBox="1"/>
          <p:nvPr/>
        </p:nvSpPr>
        <p:spPr>
          <a:xfrm>
            <a:off x="576072" y="194767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 redis-cli \</a:t>
            </a:r>
          </a:p>
        </p:txBody>
      </p:sp>
      <p:sp>
        <p:nvSpPr>
          <p:cNvPr id="9" name="a1wd255_code8"/>
          <p:cNvSpPr txBox="1"/>
          <p:nvPr/>
        </p:nvSpPr>
        <p:spPr>
          <a:xfrm>
            <a:off x="576072" y="215341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SET icici:demo "no volume"</a:t>
            </a:r>
          </a:p>
        </p:txBody>
      </p:sp>
      <p:sp>
        <p:nvSpPr>
          <p:cNvPr id="10" name="a1wd340_code9"/>
          <p:cNvSpPr txBox="1"/>
          <p:nvPr/>
        </p:nvSpPr>
        <p:spPr>
          <a:xfrm>
            <a:off x="576072" y="235915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11" name="a1wd425_code10"/>
          <p:cNvSpPr txBox="1"/>
          <p:nvPr/>
        </p:nvSpPr>
        <p:spPr>
          <a:xfrm>
            <a:off x="576072" y="25648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 redis-cli DBSIZE</a:t>
            </a:r>
          </a:p>
        </p:txBody>
      </p:sp>
      <p:sp>
        <p:nvSpPr>
          <p:cNvPr id="12" name="a1wd510_code11"/>
          <p:cNvSpPr txBox="1"/>
          <p:nvPr/>
        </p:nvSpPr>
        <p:spPr>
          <a:xfrm>
            <a:off x="576072" y="27706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709160" y="1143000"/>
            <a:ext cx="3977639" cy="1952243"/>
          </a:xfrm>
          <a:prstGeom prst="roundRect">
            <a:avLst>
              <a:gd name="adj" fmla="val 3747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f_codeh13"/>
          <p:cNvSpPr txBox="1"/>
          <p:nvPr/>
        </p:nvSpPr>
        <p:spPr>
          <a:xfrm>
            <a:off x="482803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recreate the container · measured, same run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4828032" y="15361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rm -f r</a:t>
            </a:r>
          </a:p>
        </p:txBody>
      </p:sp>
      <p:sp>
        <p:nvSpPr>
          <p:cNvPr id="16" name="a2wd85_code15"/>
          <p:cNvSpPr txBox="1"/>
          <p:nvPr/>
        </p:nvSpPr>
        <p:spPr>
          <a:xfrm>
            <a:off x="4828032" y="17419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run -d --name r -p 6398:6379 \</a:t>
            </a:r>
          </a:p>
        </p:txBody>
      </p:sp>
      <p:sp>
        <p:nvSpPr>
          <p:cNvPr id="17" name="a2wd170_code16"/>
          <p:cNvSpPr txBox="1"/>
          <p:nvPr/>
        </p:nvSpPr>
        <p:spPr>
          <a:xfrm>
            <a:off x="4828032" y="194767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redis:7-alpine</a:t>
            </a:r>
          </a:p>
        </p:txBody>
      </p:sp>
      <p:sp>
        <p:nvSpPr>
          <p:cNvPr id="18" name="a2wd255_code17"/>
          <p:cNvSpPr txBox="1"/>
          <p:nvPr/>
        </p:nvSpPr>
        <p:spPr>
          <a:xfrm>
            <a:off x="4828032" y="215341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 redis-cli DBSIZE</a:t>
            </a:r>
          </a:p>
        </p:txBody>
      </p:sp>
      <p:sp>
        <p:nvSpPr>
          <p:cNvPr id="19" name="a2wd340_code18"/>
          <p:cNvSpPr txBox="1"/>
          <p:nvPr/>
        </p:nvSpPr>
        <p:spPr>
          <a:xfrm>
            <a:off x="4828032" y="235915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(integer) 0</a:t>
            </a:r>
          </a:p>
        </p:txBody>
      </p:sp>
      <p:sp>
        <p:nvSpPr>
          <p:cNvPr id="20" name="a2wd425_code19"/>
          <p:cNvSpPr txBox="1"/>
          <p:nvPr/>
        </p:nvSpPr>
        <p:spPr>
          <a:xfrm>
            <a:off x="4828032" y="256489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 redis-cli GET icici:demo</a:t>
            </a:r>
          </a:p>
        </p:txBody>
      </p:sp>
      <p:sp>
        <p:nvSpPr>
          <p:cNvPr id="21" name="a2wd510_code20"/>
          <p:cNvSpPr txBox="1"/>
          <p:nvPr/>
        </p:nvSpPr>
        <p:spPr>
          <a:xfrm>
            <a:off x="4828032" y="2770632"/>
            <a:ext cx="373989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(nil)                    &lt;- gone</a:t>
            </a:r>
          </a:p>
        </p:txBody>
      </p:sp>
      <p:sp>
        <p:nvSpPr>
          <p:cNvPr id="22" name="a3u_nb21"/>
          <p:cNvSpPr/>
          <p:nvPr/>
        </p:nvSpPr>
        <p:spPr>
          <a:xfrm>
            <a:off x="457200" y="320497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nacc22"/>
          <p:cNvSpPr/>
          <p:nvPr/>
        </p:nvSpPr>
        <p:spPr>
          <a:xfrm>
            <a:off x="457200" y="3204972"/>
            <a:ext cx="50292" cy="53035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t23"/>
          <p:cNvSpPr txBox="1"/>
          <p:nvPr/>
        </p:nvSpPr>
        <p:spPr>
          <a:xfrm>
            <a:off x="658368" y="3204972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!  </a:t>
            </a:r>
            <a:r>
              <a:rPr sz="1000" b="0">
                <a:solidFill>
                  <a:srgbClr val="E2E8F0"/>
                </a:solidFill>
                <a:latin typeface="Calibri"/>
              </a:rPr>
              <a:t>This is not a bug and RDB/AOF being off is not the point - a container with no volume writes dump.rdb into its own writable layer, and docker rm deletes that layer along with the container. The fix is one flag: -v.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Volumes: the Fix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Data lives outside the container's writable layer, so removing the container is safe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1645920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6" name="a1wd100_td5"/>
          <p:cNvSpPr/>
          <p:nvPr/>
        </p:nvSpPr>
        <p:spPr>
          <a:xfrm>
            <a:off x="457200" y="1472184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00_tdt6"/>
          <p:cNvSpPr txBox="1"/>
          <p:nvPr/>
        </p:nvSpPr>
        <p:spPr>
          <a:xfrm>
            <a:off x="530352" y="1472184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Syntax</a:t>
            </a:r>
          </a:p>
        </p:txBody>
      </p:sp>
      <p:sp>
        <p:nvSpPr>
          <p:cNvPr id="8" name="a1wd200_td7"/>
          <p:cNvSpPr/>
          <p:nvPr/>
        </p:nvSpPr>
        <p:spPr>
          <a:xfrm>
            <a:off x="457200" y="1801368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00_tdt8"/>
          <p:cNvSpPr txBox="1"/>
          <p:nvPr/>
        </p:nvSpPr>
        <p:spPr>
          <a:xfrm>
            <a:off x="530352" y="1801368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Managed by</a:t>
            </a:r>
          </a:p>
        </p:txBody>
      </p:sp>
      <p:sp>
        <p:nvSpPr>
          <p:cNvPr id="10" name="a1wd300_td9"/>
          <p:cNvSpPr/>
          <p:nvPr/>
        </p:nvSpPr>
        <p:spPr>
          <a:xfrm>
            <a:off x="457200" y="2130552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00_tdt10"/>
          <p:cNvSpPr txBox="1"/>
          <p:nvPr/>
        </p:nvSpPr>
        <p:spPr>
          <a:xfrm>
            <a:off x="530352" y="2130552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Survives docker rm</a:t>
            </a:r>
          </a:p>
        </p:txBody>
      </p:sp>
      <p:sp>
        <p:nvSpPr>
          <p:cNvPr id="12" name="a1wd400_td11"/>
          <p:cNvSpPr/>
          <p:nvPr/>
        </p:nvSpPr>
        <p:spPr>
          <a:xfrm>
            <a:off x="457200" y="2459736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00_tdt12"/>
          <p:cNvSpPr txBox="1"/>
          <p:nvPr/>
        </p:nvSpPr>
        <p:spPr>
          <a:xfrm>
            <a:off x="530352" y="2459736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Survives compose down -v</a:t>
            </a:r>
          </a:p>
        </p:txBody>
      </p:sp>
      <p:sp>
        <p:nvSpPr>
          <p:cNvPr id="14" name="a1f_th13"/>
          <p:cNvSpPr/>
          <p:nvPr/>
        </p:nvSpPr>
        <p:spPr>
          <a:xfrm>
            <a:off x="2103120" y="1143000"/>
            <a:ext cx="3429000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f_tht14"/>
          <p:cNvSpPr txBox="1"/>
          <p:nvPr/>
        </p:nvSpPr>
        <p:spPr>
          <a:xfrm>
            <a:off x="2176272" y="1143000"/>
            <a:ext cx="33192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Named volume</a:t>
            </a:r>
          </a:p>
        </p:txBody>
      </p:sp>
      <p:sp>
        <p:nvSpPr>
          <p:cNvPr id="16" name="a1wd100_td15"/>
          <p:cNvSpPr/>
          <p:nvPr/>
        </p:nvSpPr>
        <p:spPr>
          <a:xfrm>
            <a:off x="2103120" y="1472184"/>
            <a:ext cx="3429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100_tdt16"/>
          <p:cNvSpPr txBox="1"/>
          <p:nvPr/>
        </p:nvSpPr>
        <p:spPr>
          <a:xfrm>
            <a:off x="2176272" y="1472184"/>
            <a:ext cx="33192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-v icici_redis_data:/data</a:t>
            </a:r>
          </a:p>
        </p:txBody>
      </p:sp>
      <p:sp>
        <p:nvSpPr>
          <p:cNvPr id="18" name="a1wd200_td17"/>
          <p:cNvSpPr/>
          <p:nvPr/>
        </p:nvSpPr>
        <p:spPr>
          <a:xfrm>
            <a:off x="2103120" y="1801368"/>
            <a:ext cx="3429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200_tdt18"/>
          <p:cNvSpPr txBox="1"/>
          <p:nvPr/>
        </p:nvSpPr>
        <p:spPr>
          <a:xfrm>
            <a:off x="2176272" y="1801368"/>
            <a:ext cx="33192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Docker (docker volume ls)</a:t>
            </a:r>
          </a:p>
        </p:txBody>
      </p:sp>
      <p:sp>
        <p:nvSpPr>
          <p:cNvPr id="20" name="a1wd300_td19"/>
          <p:cNvSpPr/>
          <p:nvPr/>
        </p:nvSpPr>
        <p:spPr>
          <a:xfrm>
            <a:off x="2103120" y="2130552"/>
            <a:ext cx="3429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300_tdt20"/>
          <p:cNvSpPr txBox="1"/>
          <p:nvPr/>
        </p:nvSpPr>
        <p:spPr>
          <a:xfrm>
            <a:off x="2176272" y="2130552"/>
            <a:ext cx="33192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22" name="a1wd400_td21"/>
          <p:cNvSpPr/>
          <p:nvPr/>
        </p:nvSpPr>
        <p:spPr>
          <a:xfrm>
            <a:off x="2103120" y="2459736"/>
            <a:ext cx="3429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400_tdt22"/>
          <p:cNvSpPr txBox="1"/>
          <p:nvPr/>
        </p:nvSpPr>
        <p:spPr>
          <a:xfrm>
            <a:off x="2176272" y="2459736"/>
            <a:ext cx="33192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 - deleted on purpose</a:t>
            </a:r>
          </a:p>
        </p:txBody>
      </p:sp>
      <p:sp>
        <p:nvSpPr>
          <p:cNvPr id="24" name="a1f_th23"/>
          <p:cNvSpPr/>
          <p:nvPr/>
        </p:nvSpPr>
        <p:spPr>
          <a:xfrm>
            <a:off x="5532120" y="1143000"/>
            <a:ext cx="3154680" cy="3291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5605272" y="1143000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Bind mount</a:t>
            </a:r>
          </a:p>
        </p:txBody>
      </p:sp>
      <p:sp>
        <p:nvSpPr>
          <p:cNvPr id="26" name="a1wd100_td25"/>
          <p:cNvSpPr/>
          <p:nvPr/>
        </p:nvSpPr>
        <p:spPr>
          <a:xfrm>
            <a:off x="5532120" y="1472184"/>
            <a:ext cx="3154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00_tdt26"/>
          <p:cNvSpPr txBox="1"/>
          <p:nvPr/>
        </p:nvSpPr>
        <p:spPr>
          <a:xfrm>
            <a:off x="5605272" y="1472184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-v $(pwd)/data:/data</a:t>
            </a:r>
          </a:p>
        </p:txBody>
      </p:sp>
      <p:sp>
        <p:nvSpPr>
          <p:cNvPr id="28" name="a1wd200_td27"/>
          <p:cNvSpPr/>
          <p:nvPr/>
        </p:nvSpPr>
        <p:spPr>
          <a:xfrm>
            <a:off x="5532120" y="1801368"/>
            <a:ext cx="3154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00_tdt28"/>
          <p:cNvSpPr txBox="1"/>
          <p:nvPr/>
        </p:nvSpPr>
        <p:spPr>
          <a:xfrm>
            <a:off x="5605272" y="1801368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You - it is a real host folder</a:t>
            </a:r>
          </a:p>
        </p:txBody>
      </p:sp>
      <p:sp>
        <p:nvSpPr>
          <p:cNvPr id="30" name="a1wd300_td29"/>
          <p:cNvSpPr/>
          <p:nvPr/>
        </p:nvSpPr>
        <p:spPr>
          <a:xfrm>
            <a:off x="5532120" y="2130552"/>
            <a:ext cx="3154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00_tdt30"/>
          <p:cNvSpPr txBox="1"/>
          <p:nvPr/>
        </p:nvSpPr>
        <p:spPr>
          <a:xfrm>
            <a:off x="5605272" y="2130552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32" name="a1wd400_td31"/>
          <p:cNvSpPr/>
          <p:nvPr/>
        </p:nvSpPr>
        <p:spPr>
          <a:xfrm>
            <a:off x="5532120" y="2459736"/>
            <a:ext cx="3154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400_tdt32"/>
          <p:cNvSpPr txBox="1"/>
          <p:nvPr/>
        </p:nvSpPr>
        <p:spPr>
          <a:xfrm>
            <a:off x="5605272" y="245973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Yes - not a Docker object</a:t>
            </a:r>
          </a:p>
        </p:txBody>
      </p:sp>
      <p:sp>
        <p:nvSpPr>
          <p:cNvPr id="34" name="a2f_codebg33"/>
          <p:cNvSpPr/>
          <p:nvPr/>
        </p:nvSpPr>
        <p:spPr>
          <a:xfrm>
            <a:off x="457200" y="2898648"/>
            <a:ext cx="8229600" cy="1540764"/>
          </a:xfrm>
          <a:prstGeom prst="roundRect">
            <a:avLst>
              <a:gd name="adj" fmla="val 47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f_codeh34"/>
          <p:cNvSpPr txBox="1"/>
          <p:nvPr/>
        </p:nvSpPr>
        <p:spPr>
          <a:xfrm>
            <a:off x="576072" y="2953512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machine, 2026-09-23</a:t>
            </a:r>
          </a:p>
        </p:txBody>
      </p:sp>
      <p:sp>
        <p:nvSpPr>
          <p:cNvPr id="36" name="a2w_code35"/>
          <p:cNvSpPr txBox="1"/>
          <p:nvPr/>
        </p:nvSpPr>
        <p:spPr>
          <a:xfrm>
            <a:off x="576072" y="3291839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volume create icici_redis_data</a:t>
            </a:r>
          </a:p>
        </p:txBody>
      </p:sp>
      <p:sp>
        <p:nvSpPr>
          <p:cNvPr id="37" name="a2wd95_code36"/>
          <p:cNvSpPr txBox="1"/>
          <p:nvPr/>
        </p:nvSpPr>
        <p:spPr>
          <a:xfrm>
            <a:off x="576072" y="3497579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run -d --name icici-redis -v icici_redis_data:/data ...      # write 3 keys, BGSAVE</a:t>
            </a:r>
          </a:p>
        </p:txBody>
      </p:sp>
      <p:sp>
        <p:nvSpPr>
          <p:cNvPr id="38" name="a2wd190_code37"/>
          <p:cNvSpPr txBox="1"/>
          <p:nvPr/>
        </p:nvSpPr>
        <p:spPr>
          <a:xfrm>
            <a:off x="576072" y="3703320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$ docker exec icici-redis redis-cli DBSIZE                     -&gt;    (integer) 3</a:t>
            </a:r>
          </a:p>
        </p:txBody>
      </p:sp>
      <p:sp>
        <p:nvSpPr>
          <p:cNvPr id="39" name="a2wd285_code38"/>
          <p:cNvSpPr txBox="1"/>
          <p:nvPr/>
        </p:nvSpPr>
        <p:spPr>
          <a:xfrm>
            <a:off x="576072" y="3909059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rm -f icici-redis   &amp;&amp;   docker run -d ... -v icici_redis_data:/data ...</a:t>
            </a:r>
          </a:p>
        </p:txBody>
      </p:sp>
      <p:sp>
        <p:nvSpPr>
          <p:cNvPr id="40" name="a2wd380_code39"/>
          <p:cNvSpPr txBox="1"/>
          <p:nvPr/>
        </p:nvSpPr>
        <p:spPr>
          <a:xfrm>
            <a:off x="576072" y="4114800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$ docker exec icici-redis redis-cli DBSIZE   # same volume, NEW container   -&gt;   (integer) 3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docker-compose.yml, Explained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whole training setup in one file - verified to reach "healthy" in about 15 seconds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892040" cy="2788920"/>
          </a:xfrm>
          <a:prstGeom prst="roundRect">
            <a:avLst>
              <a:gd name="adj" fmla="val 262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85216" y="1197864"/>
            <a:ext cx="46360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persistence_docker/docker-compose.yml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85216" y="1545336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services:</a:t>
            </a:r>
          </a:p>
        </p:txBody>
      </p:sp>
      <p:sp>
        <p:nvSpPr>
          <p:cNvPr id="7" name="a1wd55_code6"/>
          <p:cNvSpPr txBox="1"/>
          <p:nvPr/>
        </p:nvSpPr>
        <p:spPr>
          <a:xfrm>
            <a:off x="585216" y="1719072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  redis:</a:t>
            </a:r>
          </a:p>
        </p:txBody>
      </p:sp>
      <p:sp>
        <p:nvSpPr>
          <p:cNvPr id="8" name="a1wd110_code7"/>
          <p:cNvSpPr txBox="1"/>
          <p:nvPr/>
        </p:nvSpPr>
        <p:spPr>
          <a:xfrm>
            <a:off x="585216" y="1892807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image: redis:7-alpine</a:t>
            </a:r>
          </a:p>
        </p:txBody>
      </p:sp>
      <p:sp>
        <p:nvSpPr>
          <p:cNvPr id="9" name="a1wd165_code8"/>
          <p:cNvSpPr txBox="1"/>
          <p:nvPr/>
        </p:nvSpPr>
        <p:spPr>
          <a:xfrm>
            <a:off x="585216" y="2066543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restart: unless-stopped</a:t>
            </a:r>
          </a:p>
        </p:txBody>
      </p:sp>
      <p:sp>
        <p:nvSpPr>
          <p:cNvPr id="10" name="a1wd220_code9"/>
          <p:cNvSpPr txBox="1"/>
          <p:nvPr/>
        </p:nvSpPr>
        <p:spPr>
          <a:xfrm>
            <a:off x="585216" y="2240280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    volumes:</a:t>
            </a:r>
          </a:p>
        </p:txBody>
      </p:sp>
      <p:sp>
        <p:nvSpPr>
          <p:cNvPr id="11" name="a1wd275_code10"/>
          <p:cNvSpPr txBox="1"/>
          <p:nvPr/>
        </p:nvSpPr>
        <p:spPr>
          <a:xfrm>
            <a:off x="585216" y="2414015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  - redis_data:/data</a:t>
            </a:r>
          </a:p>
        </p:txBody>
      </p:sp>
      <p:sp>
        <p:nvSpPr>
          <p:cNvPr id="12" name="a1wd330_code11"/>
          <p:cNvSpPr txBox="1"/>
          <p:nvPr/>
        </p:nvSpPr>
        <p:spPr>
          <a:xfrm>
            <a:off x="585216" y="2587752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  - ./redis-persistence.conf:...:ro</a:t>
            </a:r>
          </a:p>
        </p:txBody>
      </p:sp>
      <p:sp>
        <p:nvSpPr>
          <p:cNvPr id="13" name="a1wd385_code12"/>
          <p:cNvSpPr txBox="1"/>
          <p:nvPr/>
        </p:nvSpPr>
        <p:spPr>
          <a:xfrm>
            <a:off x="585216" y="2761488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    healthcheck:</a:t>
            </a:r>
          </a:p>
        </p:txBody>
      </p:sp>
      <p:sp>
        <p:nvSpPr>
          <p:cNvPr id="14" name="a1wd440_code13"/>
          <p:cNvSpPr txBox="1"/>
          <p:nvPr/>
        </p:nvSpPr>
        <p:spPr>
          <a:xfrm>
            <a:off x="585216" y="2935224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  test: ["CMD-SHELL",</a:t>
            </a:r>
          </a:p>
        </p:txBody>
      </p:sp>
      <p:sp>
        <p:nvSpPr>
          <p:cNvPr id="15" name="a1wd495_code14"/>
          <p:cNvSpPr txBox="1"/>
          <p:nvPr/>
        </p:nvSpPr>
        <p:spPr>
          <a:xfrm>
            <a:off x="585216" y="3108960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    "redis-cli -a $$REDIS_PASSWORD PING"]</a:t>
            </a:r>
          </a:p>
        </p:txBody>
      </p:sp>
      <p:sp>
        <p:nvSpPr>
          <p:cNvPr id="16" name="a1wd550_code15"/>
          <p:cNvSpPr txBox="1"/>
          <p:nvPr/>
        </p:nvSpPr>
        <p:spPr>
          <a:xfrm>
            <a:off x="585216" y="3282696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volumes:</a:t>
            </a:r>
          </a:p>
        </p:txBody>
      </p:sp>
      <p:sp>
        <p:nvSpPr>
          <p:cNvPr id="17" name="a1wd605_code16"/>
          <p:cNvSpPr txBox="1"/>
          <p:nvPr/>
        </p:nvSpPr>
        <p:spPr>
          <a:xfrm>
            <a:off x="585216" y="3456432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redis_data:</a:t>
            </a:r>
          </a:p>
        </p:txBody>
      </p:sp>
      <p:sp>
        <p:nvSpPr>
          <p:cNvPr id="18" name="a1wd660_code17"/>
          <p:cNvSpPr txBox="1"/>
          <p:nvPr/>
        </p:nvSpPr>
        <p:spPr>
          <a:xfrm>
            <a:off x="585216" y="3630168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name: icici_redis_data</a:t>
            </a:r>
          </a:p>
        </p:txBody>
      </p:sp>
      <p:sp>
        <p:nvSpPr>
          <p:cNvPr id="19" name="a2u_card18"/>
          <p:cNvSpPr/>
          <p:nvPr/>
        </p:nvSpPr>
        <p:spPr>
          <a:xfrm>
            <a:off x="5532120" y="1143000"/>
            <a:ext cx="3154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hh19"/>
          <p:cNvSpPr txBox="1"/>
          <p:nvPr/>
        </p:nvSpPr>
        <p:spPr>
          <a:xfrm>
            <a:off x="5715000" y="1252728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WHY EACH PART IS THERE</a:t>
            </a:r>
          </a:p>
        </p:txBody>
      </p:sp>
      <p:sp>
        <p:nvSpPr>
          <p:cNvPr id="21" name="a2u_wk20"/>
          <p:cNvSpPr txBox="1"/>
          <p:nvPr/>
        </p:nvSpPr>
        <p:spPr>
          <a:xfrm>
            <a:off x="5715000" y="1508760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named volume</a:t>
            </a:r>
          </a:p>
        </p:txBody>
      </p:sp>
      <p:sp>
        <p:nvSpPr>
          <p:cNvPr id="22" name="a2u_wv21"/>
          <p:cNvSpPr txBox="1"/>
          <p:nvPr/>
        </p:nvSpPr>
        <p:spPr>
          <a:xfrm>
            <a:off x="5715000" y="1682495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survives `down`, deleted only by `down -v`</a:t>
            </a:r>
          </a:p>
        </p:txBody>
      </p:sp>
      <p:sp>
        <p:nvSpPr>
          <p:cNvPr id="23" name="a2ud80_wk22"/>
          <p:cNvSpPr txBox="1"/>
          <p:nvPr/>
        </p:nvSpPr>
        <p:spPr>
          <a:xfrm>
            <a:off x="5715000" y="1929384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conf mounted :ro</a:t>
            </a:r>
          </a:p>
        </p:txBody>
      </p:sp>
      <p:sp>
        <p:nvSpPr>
          <p:cNvPr id="24" name="a2ud80_wv23"/>
          <p:cNvSpPr txBox="1"/>
          <p:nvPr/>
        </p:nvSpPr>
        <p:spPr>
          <a:xfrm>
            <a:off x="5715000" y="2103120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the container cannot edit its own config</a:t>
            </a:r>
          </a:p>
        </p:txBody>
      </p:sp>
      <p:sp>
        <p:nvSpPr>
          <p:cNvPr id="25" name="a2ud160_wk24"/>
          <p:cNvSpPr txBox="1"/>
          <p:nvPr/>
        </p:nvSpPr>
        <p:spPr>
          <a:xfrm>
            <a:off x="5715000" y="2350008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healthcheck</a:t>
            </a:r>
          </a:p>
        </p:txBody>
      </p:sp>
      <p:sp>
        <p:nvSpPr>
          <p:cNvPr id="26" name="a2ud160_wv25"/>
          <p:cNvSpPr txBox="1"/>
          <p:nvPr/>
        </p:nvSpPr>
        <p:spPr>
          <a:xfrm>
            <a:off x="5715000" y="2523744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compose waits for real readiness</a:t>
            </a:r>
          </a:p>
        </p:txBody>
      </p:sp>
      <p:sp>
        <p:nvSpPr>
          <p:cNvPr id="27" name="a2ud240_wk26"/>
          <p:cNvSpPr txBox="1"/>
          <p:nvPr/>
        </p:nvSpPr>
        <p:spPr>
          <a:xfrm>
            <a:off x="5715000" y="2770632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restart: unless-stopped</a:t>
            </a:r>
          </a:p>
        </p:txBody>
      </p:sp>
      <p:sp>
        <p:nvSpPr>
          <p:cNvPr id="28" name="a2ud240_wv27"/>
          <p:cNvSpPr txBox="1"/>
          <p:nvPr/>
        </p:nvSpPr>
        <p:spPr>
          <a:xfrm>
            <a:off x="5715000" y="2944368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comes back after a host reboot</a:t>
            </a:r>
          </a:p>
        </p:txBody>
      </p:sp>
      <p:sp>
        <p:nvSpPr>
          <p:cNvPr id="29" name="a2ud320_wk28"/>
          <p:cNvSpPr txBox="1"/>
          <p:nvPr/>
        </p:nvSpPr>
        <p:spPr>
          <a:xfrm>
            <a:off x="5715000" y="3191256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mem_limit 768m</a:t>
            </a:r>
          </a:p>
        </p:txBody>
      </p:sp>
      <p:sp>
        <p:nvSpPr>
          <p:cNvPr id="30" name="a2ud320_wv29"/>
          <p:cNvSpPr txBox="1"/>
          <p:nvPr/>
        </p:nvSpPr>
        <p:spPr>
          <a:xfrm>
            <a:off x="5715000" y="3364992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caps it so it cannot starve the host</a:t>
            </a:r>
          </a:p>
        </p:txBody>
      </p:sp>
      <p:sp>
        <p:nvSpPr>
          <p:cNvPr id="31" name="a3f_codebg30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w_code31"/>
          <p:cNvSpPr txBox="1"/>
          <p:nvPr/>
        </p:nvSpPr>
        <p:spPr>
          <a:xfrm>
            <a:off x="548640" y="4114800"/>
            <a:ext cx="8046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compose up -d   &amp;&amp;   docker compose ps</a:t>
            </a:r>
          </a:p>
        </p:txBody>
      </p:sp>
      <p:sp>
        <p:nvSpPr>
          <p:cNvPr id="33" name="a3wd100_code32"/>
          <p:cNvSpPr txBox="1"/>
          <p:nvPr/>
        </p:nvSpPr>
        <p:spPr>
          <a:xfrm>
            <a:off x="548640" y="4315968"/>
            <a:ext cx="8046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STATUS   Up 17 seconds (healthy)      # measured on this machine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Backup and Restore · The Disaster Recovery Drill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Copy the file out, copy it into a brand-new container and volume, check the data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1517904"/>
          </a:xfrm>
          <a:prstGeom prst="roundRect">
            <a:avLst>
              <a:gd name="adj" fmla="val 481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1 · back up · 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redis-cli BGSAVE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37360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Background saving started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38528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cp icici-redis:/data/. ./backup/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39696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ls backup/</a:t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576072" y="2340864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dump.rdb  appendonlydir/</a:t>
            </a:r>
          </a:p>
        </p:txBody>
      </p:sp>
      <p:sp>
        <p:nvSpPr>
          <p:cNvPr id="11" name="a2f_codebg10"/>
          <p:cNvSpPr/>
          <p:nvPr/>
        </p:nvSpPr>
        <p:spPr>
          <a:xfrm>
            <a:off x="4709160" y="1143000"/>
            <a:ext cx="3977639" cy="1517904"/>
          </a:xfrm>
          <a:prstGeom prst="roundRect">
            <a:avLst>
              <a:gd name="adj" fmla="val 481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f_codeh11"/>
          <p:cNvSpPr txBox="1"/>
          <p:nvPr/>
        </p:nvSpPr>
        <p:spPr>
          <a:xfrm>
            <a:off x="482803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2 · restore into a NEW container</a:t>
            </a:r>
          </a:p>
        </p:txBody>
      </p:sp>
      <p:sp>
        <p:nvSpPr>
          <p:cNvPr id="13" name="a2w_code12"/>
          <p:cNvSpPr txBox="1"/>
          <p:nvPr/>
        </p:nvSpPr>
        <p:spPr>
          <a:xfrm>
            <a:off x="4828032" y="1536192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volume create icici_redis_restored</a:t>
            </a:r>
          </a:p>
        </p:txBody>
      </p:sp>
      <p:sp>
        <p:nvSpPr>
          <p:cNvPr id="14" name="a2wd90_code13"/>
          <p:cNvSpPr txBox="1"/>
          <p:nvPr/>
        </p:nvSpPr>
        <p:spPr>
          <a:xfrm>
            <a:off x="4828032" y="1737360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run -d --name r2 \</a:t>
            </a:r>
          </a:p>
        </p:txBody>
      </p:sp>
      <p:sp>
        <p:nvSpPr>
          <p:cNvPr id="15" name="a2wd180_code14"/>
          <p:cNvSpPr txBox="1"/>
          <p:nvPr/>
        </p:nvSpPr>
        <p:spPr>
          <a:xfrm>
            <a:off x="4828032" y="1938528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-v icici_redis_restored:/data redis:7-alpine</a:t>
            </a:r>
          </a:p>
        </p:txBody>
      </p:sp>
      <p:sp>
        <p:nvSpPr>
          <p:cNvPr id="16" name="a2wd270_code15"/>
          <p:cNvSpPr txBox="1"/>
          <p:nvPr/>
        </p:nvSpPr>
        <p:spPr>
          <a:xfrm>
            <a:off x="4828032" y="2139696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cp backup/dump.rdb r2:/data/dump.rdb</a:t>
            </a:r>
          </a:p>
        </p:txBody>
      </p:sp>
      <p:sp>
        <p:nvSpPr>
          <p:cNvPr id="17" name="a2wd360_code16"/>
          <p:cNvSpPr txBox="1"/>
          <p:nvPr/>
        </p:nvSpPr>
        <p:spPr>
          <a:xfrm>
            <a:off x="4828032" y="2340864"/>
            <a:ext cx="37398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restart r2</a:t>
            </a:r>
          </a:p>
        </p:txBody>
      </p:sp>
      <p:sp>
        <p:nvSpPr>
          <p:cNvPr id="18" name="a3f_codebg17"/>
          <p:cNvSpPr/>
          <p:nvPr/>
        </p:nvSpPr>
        <p:spPr>
          <a:xfrm>
            <a:off x="457200" y="2752344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f_codeh18"/>
          <p:cNvSpPr txBox="1"/>
          <p:nvPr/>
        </p:nvSpPr>
        <p:spPr>
          <a:xfrm>
            <a:off x="576072" y="2807208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3 · verify · measured on this machine</a:t>
            </a:r>
          </a:p>
        </p:txBody>
      </p:sp>
      <p:sp>
        <p:nvSpPr>
          <p:cNvPr id="20" name="a3w_code19"/>
          <p:cNvSpPr txBox="1"/>
          <p:nvPr/>
        </p:nvSpPr>
        <p:spPr>
          <a:xfrm>
            <a:off x="576072" y="3145536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r2 redis-cli DBSIZE</a:t>
            </a:r>
          </a:p>
        </p:txBody>
      </p:sp>
      <p:sp>
        <p:nvSpPr>
          <p:cNvPr id="21" name="a3wd100_code20"/>
          <p:cNvSpPr txBox="1"/>
          <p:nvPr/>
        </p:nvSpPr>
        <p:spPr>
          <a:xfrm>
            <a:off x="576072" y="3337560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(integer) 53                          # every key came back</a:t>
            </a:r>
          </a:p>
        </p:txBody>
      </p:sp>
      <p:sp>
        <p:nvSpPr>
          <p:cNvPr id="22" name="a3wd200_code21"/>
          <p:cNvSpPr txBox="1"/>
          <p:nvPr/>
        </p:nvSpPr>
        <p:spPr>
          <a:xfrm>
            <a:off x="576072" y="3529584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r2 redis-cli GET icici:persist:test</a:t>
            </a:r>
          </a:p>
        </p:txBody>
      </p:sp>
      <p:sp>
        <p:nvSpPr>
          <p:cNvPr id="23" name="a3wd300_code22"/>
          <p:cNvSpPr txBox="1"/>
          <p:nvPr/>
        </p:nvSpPr>
        <p:spPr>
          <a:xfrm>
            <a:off x="576072" y="3721608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"alive before restart"                # measured, same run</a:t>
            </a:r>
          </a:p>
        </p:txBody>
      </p:sp>
      <p:sp>
        <p:nvSpPr>
          <p:cNvPr id="24" name="a4u_nb23"/>
          <p:cNvSpPr/>
          <p:nvPr/>
        </p:nvSpPr>
        <p:spPr>
          <a:xfrm>
            <a:off x="457200" y="412394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4u_nacc24"/>
          <p:cNvSpPr/>
          <p:nvPr/>
        </p:nvSpPr>
        <p:spPr>
          <a:xfrm>
            <a:off x="457200" y="4123944"/>
            <a:ext cx="50292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4u_nt25"/>
          <p:cNvSpPr txBox="1"/>
          <p:nvPr/>
        </p:nvSpPr>
        <p:spPr>
          <a:xfrm>
            <a:off x="658368" y="4123944"/>
            <a:ext cx="7827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KEY  </a:t>
            </a:r>
            <a:r>
              <a:rPr sz="950" b="0">
                <a:solidFill>
                  <a:srgbClr val="334155"/>
                </a:solidFill>
                <a:latin typeface="Calibri"/>
              </a:rPr>
              <a:t>This is the drill that actually matters: not "does BGSAVE work" but "can a fresh container, on a fresh volume, come back with the data." Run it before you trust a backup job, not after.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`down` vs `down -v` - the Command That Loses Data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One word, and the difference between a routine restart and an outage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1783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hh5"/>
          <p:cNvSpPr txBox="1"/>
          <p:nvPr/>
        </p:nvSpPr>
        <p:spPr>
          <a:xfrm>
            <a:off x="65836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ourier New"/>
              </a:rPr>
              <a:t>docker compose down</a:t>
            </a:r>
          </a:p>
        </p:txBody>
      </p:sp>
      <p:sp>
        <p:nvSpPr>
          <p:cNvPr id="7" name="a1fd80_codebg6"/>
          <p:cNvSpPr/>
          <p:nvPr/>
        </p:nvSpPr>
        <p:spPr>
          <a:xfrm>
            <a:off x="658368" y="1545336"/>
            <a:ext cx="3529584" cy="1280160"/>
          </a:xfrm>
          <a:prstGeom prst="roundRect">
            <a:avLst>
              <a:gd name="adj" fmla="val 5714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80_code7"/>
          <p:cNvSpPr txBox="1"/>
          <p:nvPr/>
        </p:nvSpPr>
        <p:spPr>
          <a:xfrm>
            <a:off x="749808" y="163677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$ docker compose down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749808" y="181965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$ docker volume ls | grep icici</a:t>
            </a:r>
          </a:p>
        </p:txBody>
      </p:sp>
      <p:sp>
        <p:nvSpPr>
          <p:cNvPr id="10" name="a1wd260_code9"/>
          <p:cNvSpPr txBox="1"/>
          <p:nvPr/>
        </p:nvSpPr>
        <p:spPr>
          <a:xfrm>
            <a:off x="749808" y="200253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86EFAC"/>
                </a:solidFill>
                <a:latin typeface="Courier New"/>
              </a:rPr>
              <a:t>  icici_redis_data          &lt;- still there</a:t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749808" y="218541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$ docker compose up -d</a:t>
            </a:r>
          </a:p>
        </p:txBody>
      </p:sp>
      <p:sp>
        <p:nvSpPr>
          <p:cNvPr id="12" name="a1wd440_code11"/>
          <p:cNvSpPr txBox="1"/>
          <p:nvPr/>
        </p:nvSpPr>
        <p:spPr>
          <a:xfrm>
            <a:off x="749808" y="236829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$ redis-cli GET icici:compose:test</a:t>
            </a:r>
          </a:p>
        </p:txBody>
      </p:sp>
      <p:sp>
        <p:nvSpPr>
          <p:cNvPr id="13" name="a1wd530_code12"/>
          <p:cNvSpPr txBox="1"/>
          <p:nvPr/>
        </p:nvSpPr>
        <p:spPr>
          <a:xfrm>
            <a:off x="749808" y="255117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86EFAC"/>
                </a:solidFill>
                <a:latin typeface="Courier New"/>
              </a:rPr>
              <a:t>  "up via compose"          &lt;- measured, survived</a:t>
            </a:r>
          </a:p>
        </p:txBody>
      </p:sp>
      <p:sp>
        <p:nvSpPr>
          <p:cNvPr id="14" name="a2u_card13"/>
          <p:cNvSpPr/>
          <p:nvPr/>
        </p:nvSpPr>
        <p:spPr>
          <a:xfrm>
            <a:off x="4754880" y="11430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12700">
            <a:solidFill>
              <a:srgbClr val="DC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acc14"/>
          <p:cNvSpPr/>
          <p:nvPr/>
        </p:nvSpPr>
        <p:spPr>
          <a:xfrm>
            <a:off x="4754880" y="1143000"/>
            <a:ext cx="50292" cy="178308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hh15"/>
          <p:cNvSpPr txBox="1"/>
          <p:nvPr/>
        </p:nvSpPr>
        <p:spPr>
          <a:xfrm>
            <a:off x="495604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CA5A5"/>
                </a:solidFill>
                <a:latin typeface="Courier New"/>
              </a:rPr>
              <a:t>docker compose down -v</a:t>
            </a:r>
          </a:p>
        </p:txBody>
      </p:sp>
      <p:sp>
        <p:nvSpPr>
          <p:cNvPr id="17" name="a2fd80_codebg16"/>
          <p:cNvSpPr/>
          <p:nvPr/>
        </p:nvSpPr>
        <p:spPr>
          <a:xfrm>
            <a:off x="4956048" y="1545336"/>
            <a:ext cx="3529584" cy="1097280"/>
          </a:xfrm>
          <a:prstGeom prst="roundRect">
            <a:avLst>
              <a:gd name="adj" fmla="val 6666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wd80_code17"/>
          <p:cNvSpPr txBox="1"/>
          <p:nvPr/>
        </p:nvSpPr>
        <p:spPr>
          <a:xfrm>
            <a:off x="5047488" y="163677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$ docker compose down -v</a:t>
            </a:r>
          </a:p>
        </p:txBody>
      </p:sp>
      <p:sp>
        <p:nvSpPr>
          <p:cNvPr id="19" name="a2wd170_code18"/>
          <p:cNvSpPr txBox="1"/>
          <p:nvPr/>
        </p:nvSpPr>
        <p:spPr>
          <a:xfrm>
            <a:off x="5047488" y="181965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FCA5A5"/>
                </a:solidFill>
                <a:latin typeface="Courier New"/>
              </a:rPr>
              <a:t>  Volume icici_redis_data Removing</a:t>
            </a:r>
          </a:p>
        </p:txBody>
      </p:sp>
      <p:sp>
        <p:nvSpPr>
          <p:cNvPr id="20" name="a2wd260_code19"/>
          <p:cNvSpPr txBox="1"/>
          <p:nvPr/>
        </p:nvSpPr>
        <p:spPr>
          <a:xfrm>
            <a:off x="5047488" y="200253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FCA5A5"/>
                </a:solidFill>
                <a:latin typeface="Courier New"/>
              </a:rPr>
              <a:t>  Volume icici_redis_data Removed</a:t>
            </a:r>
          </a:p>
        </p:txBody>
      </p:sp>
      <p:sp>
        <p:nvSpPr>
          <p:cNvPr id="21" name="a2wd350_code20"/>
          <p:cNvSpPr txBox="1"/>
          <p:nvPr/>
        </p:nvSpPr>
        <p:spPr>
          <a:xfrm>
            <a:off x="5047488" y="218541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$ docker volume ls | grep icici</a:t>
            </a:r>
          </a:p>
        </p:txBody>
      </p:sp>
      <p:sp>
        <p:nvSpPr>
          <p:cNvPr id="22" name="a2wd440_code21"/>
          <p:cNvSpPr txBox="1"/>
          <p:nvPr/>
        </p:nvSpPr>
        <p:spPr>
          <a:xfrm>
            <a:off x="5047488" y="2368296"/>
            <a:ext cx="3346703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FCA5A5"/>
                </a:solidFill>
                <a:latin typeface="Courier New"/>
              </a:rPr>
              <a:t>  (nothing - measured, gone for good)</a:t>
            </a:r>
          </a:p>
        </p:txBody>
      </p:sp>
      <p:sp>
        <p:nvSpPr>
          <p:cNvPr id="23" name="a3u_nb22"/>
          <p:cNvSpPr/>
          <p:nvPr/>
        </p:nvSpPr>
        <p:spPr>
          <a:xfrm>
            <a:off x="457200" y="30266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acc23"/>
          <p:cNvSpPr/>
          <p:nvPr/>
        </p:nvSpPr>
        <p:spPr>
          <a:xfrm>
            <a:off x="457200" y="3026664"/>
            <a:ext cx="50292" cy="54864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_nt24"/>
          <p:cNvSpPr txBox="1"/>
          <p:nvPr/>
        </p:nvSpPr>
        <p:spPr>
          <a:xfrm>
            <a:off x="658368" y="3026664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!  </a:t>
            </a:r>
            <a:r>
              <a:rPr sz="1050" b="0">
                <a:solidFill>
                  <a:srgbClr val="E2E8F0"/>
                </a:solidFill>
                <a:latin typeface="Calibri"/>
              </a:rPr>
              <a:t>The -v flag is explicit and deliberate by design - it is meant for exactly this. The failure mode in the field is never reading the flag, or a teammate copy-pasting a "clean reset" command against the wrong environment. Never run it against data you have not already backed up.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redis-persistence.conf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baseline for this course - copy it, change the password, tested end to end in Docker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5029200" cy="3602735"/>
          </a:xfrm>
          <a:prstGeom prst="roundRect">
            <a:avLst>
              <a:gd name="adj" fmla="val 20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4700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persistence_docker/redis-persistence.conf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bind 0.0.0.0            # the container IS the boundary</a:t>
            </a:r>
          </a:p>
        </p:txBody>
      </p:sp>
      <p:sp>
        <p:nvSpPr>
          <p:cNvPr id="7" name="a1wd58_code6"/>
          <p:cNvSpPr txBox="1"/>
          <p:nvPr/>
        </p:nvSpPr>
        <p:spPr>
          <a:xfrm>
            <a:off x="621792" y="1769364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protected-mode yes</a:t>
            </a:r>
          </a:p>
        </p:txBody>
      </p:sp>
      <p:sp>
        <p:nvSpPr>
          <p:cNvPr id="8" name="a1wd116_code7"/>
          <p:cNvSpPr txBox="1"/>
          <p:nvPr/>
        </p:nvSpPr>
        <p:spPr>
          <a:xfrm>
            <a:off x="621792" y="1956816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requirepass ${REDIS_PASSWORD}</a:t>
            </a:r>
          </a:p>
        </p:txBody>
      </p:sp>
      <p:sp>
        <p:nvSpPr>
          <p:cNvPr id="9" name="a1wd174_code8"/>
          <p:cNvSpPr txBox="1"/>
          <p:nvPr/>
        </p:nvSpPr>
        <p:spPr>
          <a:xfrm>
            <a:off x="621792" y="2144268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32_code9"/>
          <p:cNvSpPr txBox="1"/>
          <p:nvPr/>
        </p:nvSpPr>
        <p:spPr>
          <a:xfrm>
            <a:off x="621792" y="2331720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daemonize no             # PID 1 must stay in the foreground</a:t>
            </a:r>
          </a:p>
        </p:txBody>
      </p:sp>
      <p:sp>
        <p:nvSpPr>
          <p:cNvPr id="11" name="a1wd290_code10"/>
          <p:cNvSpPr txBox="1"/>
          <p:nvPr/>
        </p:nvSpPr>
        <p:spPr>
          <a:xfrm>
            <a:off x="621792" y="2519172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logfile ""               # stdout, so `docker logs` sees it</a:t>
            </a:r>
          </a:p>
        </p:txBody>
      </p:sp>
      <p:sp>
        <p:nvSpPr>
          <p:cNvPr id="12" name="a1wd348_code11"/>
          <p:cNvSpPr txBox="1"/>
          <p:nvPr/>
        </p:nvSpPr>
        <p:spPr>
          <a:xfrm>
            <a:off x="621792" y="2706624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406_code12"/>
          <p:cNvSpPr txBox="1"/>
          <p:nvPr/>
        </p:nvSpPr>
        <p:spPr>
          <a:xfrm>
            <a:off x="621792" y="2894076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save 900 1</a:t>
            </a:r>
          </a:p>
        </p:txBody>
      </p:sp>
      <p:sp>
        <p:nvSpPr>
          <p:cNvPr id="14" name="a1wd464_code13"/>
          <p:cNvSpPr txBox="1"/>
          <p:nvPr/>
        </p:nvSpPr>
        <p:spPr>
          <a:xfrm>
            <a:off x="621792" y="3081528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appendonly yes</a:t>
            </a:r>
          </a:p>
        </p:txBody>
      </p:sp>
      <p:sp>
        <p:nvSpPr>
          <p:cNvPr id="15" name="a1wd522_code14"/>
          <p:cNvSpPr txBox="1"/>
          <p:nvPr/>
        </p:nvSpPr>
        <p:spPr>
          <a:xfrm>
            <a:off x="621792" y="3268980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appendfsync everysec</a:t>
            </a:r>
          </a:p>
        </p:txBody>
      </p:sp>
      <p:sp>
        <p:nvSpPr>
          <p:cNvPr id="16" name="a1wd580_code15"/>
          <p:cNvSpPr txBox="1"/>
          <p:nvPr/>
        </p:nvSpPr>
        <p:spPr>
          <a:xfrm>
            <a:off x="621792" y="3456432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aof-use-rdb-preamble yes  # the Redis 7 hybrid</a:t>
            </a:r>
          </a:p>
        </p:txBody>
      </p:sp>
      <p:sp>
        <p:nvSpPr>
          <p:cNvPr id="17" name="a1wd638_code16"/>
          <p:cNvSpPr txBox="1"/>
          <p:nvPr/>
        </p:nvSpPr>
        <p:spPr>
          <a:xfrm>
            <a:off x="621792" y="3643884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dir /data                 # MUST be a mounted volume</a:t>
            </a:r>
          </a:p>
        </p:txBody>
      </p:sp>
      <p:sp>
        <p:nvSpPr>
          <p:cNvPr id="18" name="a1wd696_code17"/>
          <p:cNvSpPr txBox="1"/>
          <p:nvPr/>
        </p:nvSpPr>
        <p:spPr>
          <a:xfrm>
            <a:off x="621792" y="3831335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9" name="a1wd754_code18"/>
          <p:cNvSpPr txBox="1"/>
          <p:nvPr/>
        </p:nvSpPr>
        <p:spPr>
          <a:xfrm>
            <a:off x="621792" y="4018787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maxmemory 512mb           # a fraction of the container limit</a:t>
            </a:r>
          </a:p>
        </p:txBody>
      </p:sp>
      <p:sp>
        <p:nvSpPr>
          <p:cNvPr id="20" name="a1wd812_code19"/>
          <p:cNvSpPr txBox="1"/>
          <p:nvPr/>
        </p:nvSpPr>
        <p:spPr>
          <a:xfrm>
            <a:off x="621792" y="4206240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rename-command FLUSHALL ""</a:t>
            </a:r>
          </a:p>
        </p:txBody>
      </p:sp>
      <p:sp>
        <p:nvSpPr>
          <p:cNvPr id="21" name="a1wd870_code20"/>
          <p:cNvSpPr txBox="1"/>
          <p:nvPr/>
        </p:nvSpPr>
        <p:spPr>
          <a:xfrm>
            <a:off x="621792" y="4393692"/>
            <a:ext cx="4700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rename-command KEYS ""</a:t>
            </a:r>
          </a:p>
        </p:txBody>
      </p:sp>
      <p:sp>
        <p:nvSpPr>
          <p:cNvPr id="22" name="a2u_card21"/>
          <p:cNvSpPr/>
          <p:nvPr/>
        </p:nvSpPr>
        <p:spPr>
          <a:xfrm>
            <a:off x="5669280" y="1143000"/>
            <a:ext cx="3017520" cy="30632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_hh22"/>
          <p:cNvSpPr txBox="1"/>
          <p:nvPr/>
        </p:nvSpPr>
        <p:spPr>
          <a:xfrm>
            <a:off x="5852160" y="125272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VERIFIED, THIS MACHINE</a:t>
            </a:r>
          </a:p>
        </p:txBody>
      </p:sp>
      <p:sp>
        <p:nvSpPr>
          <p:cNvPr id="24" name="a2fd60_codebg23"/>
          <p:cNvSpPr/>
          <p:nvPr/>
        </p:nvSpPr>
        <p:spPr>
          <a:xfrm>
            <a:off x="5852160" y="1527048"/>
            <a:ext cx="2651760" cy="1682495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60_code24"/>
          <p:cNvSpPr txBox="1"/>
          <p:nvPr/>
        </p:nvSpPr>
        <p:spPr>
          <a:xfrm>
            <a:off x="5943600" y="1618488"/>
            <a:ext cx="246887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C4B5FD"/>
                </a:solidFill>
                <a:latin typeface="Courier New"/>
              </a:rPr>
              <a:t>redis-cli PING</a:t>
            </a:r>
          </a:p>
        </p:txBody>
      </p:sp>
      <p:sp>
        <p:nvSpPr>
          <p:cNvPr id="26" name="a2wd150_code25"/>
          <p:cNvSpPr txBox="1"/>
          <p:nvPr/>
        </p:nvSpPr>
        <p:spPr>
          <a:xfrm>
            <a:off x="5943600" y="1805940"/>
            <a:ext cx="246887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urier New"/>
              </a:rPr>
              <a:t>  PONG</a:t>
            </a:r>
          </a:p>
        </p:txBody>
      </p:sp>
      <p:sp>
        <p:nvSpPr>
          <p:cNvPr id="27" name="a2wd240_code26"/>
          <p:cNvSpPr txBox="1"/>
          <p:nvPr/>
        </p:nvSpPr>
        <p:spPr>
          <a:xfrm>
            <a:off x="5943600" y="1993392"/>
            <a:ext cx="246887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C4B5FD"/>
                </a:solidFill>
                <a:latin typeface="Courier New"/>
              </a:rPr>
              <a:t>CONFIG GET maxmemory</a:t>
            </a:r>
          </a:p>
        </p:txBody>
      </p:sp>
      <p:sp>
        <p:nvSpPr>
          <p:cNvPr id="28" name="a2wd330_code27"/>
          <p:cNvSpPr txBox="1"/>
          <p:nvPr/>
        </p:nvSpPr>
        <p:spPr>
          <a:xfrm>
            <a:off x="5943600" y="2180844"/>
            <a:ext cx="246887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urier New"/>
              </a:rPr>
              <a:t>  536870912</a:t>
            </a:r>
          </a:p>
        </p:txBody>
      </p:sp>
      <p:sp>
        <p:nvSpPr>
          <p:cNvPr id="29" name="a2wd420_code28"/>
          <p:cNvSpPr txBox="1"/>
          <p:nvPr/>
        </p:nvSpPr>
        <p:spPr>
          <a:xfrm>
            <a:off x="5943600" y="2368296"/>
            <a:ext cx="246887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C4B5FD"/>
                </a:solidFill>
                <a:latin typeface="Courier New"/>
              </a:rPr>
              <a:t>FLUSHALL</a:t>
            </a:r>
          </a:p>
        </p:txBody>
      </p:sp>
      <p:sp>
        <p:nvSpPr>
          <p:cNvPr id="30" name="a2wd510_code29"/>
          <p:cNvSpPr txBox="1"/>
          <p:nvPr/>
        </p:nvSpPr>
        <p:spPr>
          <a:xfrm>
            <a:off x="5943600" y="2555748"/>
            <a:ext cx="246887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urier New"/>
              </a:rPr>
              <a:t>  (error) unknown cmd</a:t>
            </a:r>
          </a:p>
        </p:txBody>
      </p:sp>
      <p:sp>
        <p:nvSpPr>
          <p:cNvPr id="31" name="a2wd600_code30"/>
          <p:cNvSpPr txBox="1"/>
          <p:nvPr/>
        </p:nvSpPr>
        <p:spPr>
          <a:xfrm>
            <a:off x="5943600" y="2743200"/>
            <a:ext cx="246887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C4B5FD"/>
                </a:solidFill>
                <a:latin typeface="Courier New"/>
              </a:rPr>
              <a:t>redis-cli PING  # no -a</a:t>
            </a:r>
          </a:p>
        </p:txBody>
      </p:sp>
      <p:sp>
        <p:nvSpPr>
          <p:cNvPr id="32" name="a2wd690_code31"/>
          <p:cNvSpPr txBox="1"/>
          <p:nvPr/>
        </p:nvSpPr>
        <p:spPr>
          <a:xfrm>
            <a:off x="5943600" y="2930652"/>
            <a:ext cx="246887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urier New"/>
              </a:rPr>
              <a:t>  NOAUTH ...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6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74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48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06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22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38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96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754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812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Cheat Sheet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slide to keep beside you during the persistence labs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1956816" cy="20116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1956816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30_gn5"/>
          <p:cNvSpPr txBox="1"/>
          <p:nvPr/>
        </p:nvSpPr>
        <p:spPr>
          <a:xfrm>
            <a:off x="585216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RDB</a:t>
            </a:r>
          </a:p>
        </p:txBody>
      </p:sp>
      <p:sp>
        <p:nvSpPr>
          <p:cNvPr id="7" name="a1ud60_gc6"/>
          <p:cNvSpPr txBox="1"/>
          <p:nvPr/>
        </p:nvSpPr>
        <p:spPr>
          <a:xfrm>
            <a:off x="585216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SAVE  ·  BGSAVE</a:t>
            </a:r>
          </a:p>
        </p:txBody>
      </p:sp>
      <p:sp>
        <p:nvSpPr>
          <p:cNvPr id="8" name="a1ud110_gc7"/>
          <p:cNvSpPr txBox="1"/>
          <p:nvPr/>
        </p:nvSpPr>
        <p:spPr>
          <a:xfrm>
            <a:off x="585216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LASTSAVE</a:t>
            </a:r>
          </a:p>
        </p:txBody>
      </p:sp>
      <p:sp>
        <p:nvSpPr>
          <p:cNvPr id="9" name="a1ud160_gc8"/>
          <p:cNvSpPr txBox="1"/>
          <p:nvPr/>
        </p:nvSpPr>
        <p:spPr>
          <a:xfrm>
            <a:off x="585216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CONFIG GET save</a:t>
            </a:r>
          </a:p>
        </p:txBody>
      </p:sp>
      <p:sp>
        <p:nvSpPr>
          <p:cNvPr id="10" name="a1ud210_gc9"/>
          <p:cNvSpPr txBox="1"/>
          <p:nvPr/>
        </p:nvSpPr>
        <p:spPr>
          <a:xfrm>
            <a:off x="585216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redis-check-rdb</a:t>
            </a:r>
          </a:p>
        </p:txBody>
      </p:sp>
      <p:sp>
        <p:nvSpPr>
          <p:cNvPr id="11" name="a1ud100_card10"/>
          <p:cNvSpPr/>
          <p:nvPr/>
        </p:nvSpPr>
        <p:spPr>
          <a:xfrm>
            <a:off x="2578608" y="1143000"/>
            <a:ext cx="1956816" cy="20116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100_acc11"/>
          <p:cNvSpPr/>
          <p:nvPr/>
        </p:nvSpPr>
        <p:spPr>
          <a:xfrm>
            <a:off x="2578608" y="1143000"/>
            <a:ext cx="1956816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130_gn12"/>
          <p:cNvSpPr txBox="1"/>
          <p:nvPr/>
        </p:nvSpPr>
        <p:spPr>
          <a:xfrm>
            <a:off x="2706624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AOF</a:t>
            </a:r>
          </a:p>
        </p:txBody>
      </p:sp>
      <p:sp>
        <p:nvSpPr>
          <p:cNvPr id="14" name="a1ud160_gc13"/>
          <p:cNvSpPr txBox="1"/>
          <p:nvPr/>
        </p:nvSpPr>
        <p:spPr>
          <a:xfrm>
            <a:off x="2706624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CONFIG SET appendonly yes</a:t>
            </a:r>
          </a:p>
        </p:txBody>
      </p:sp>
      <p:sp>
        <p:nvSpPr>
          <p:cNvPr id="15" name="a1ud210_gc14"/>
          <p:cNvSpPr txBox="1"/>
          <p:nvPr/>
        </p:nvSpPr>
        <p:spPr>
          <a:xfrm>
            <a:off x="2706624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BGREWRITEAOF</a:t>
            </a:r>
          </a:p>
        </p:txBody>
      </p:sp>
      <p:sp>
        <p:nvSpPr>
          <p:cNvPr id="16" name="a1ud260_gc15"/>
          <p:cNvSpPr txBox="1"/>
          <p:nvPr/>
        </p:nvSpPr>
        <p:spPr>
          <a:xfrm>
            <a:off x="2706624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CONFIG GET appendfsync</a:t>
            </a:r>
          </a:p>
        </p:txBody>
      </p:sp>
      <p:sp>
        <p:nvSpPr>
          <p:cNvPr id="17" name="a1ud310_gc16"/>
          <p:cNvSpPr txBox="1"/>
          <p:nvPr/>
        </p:nvSpPr>
        <p:spPr>
          <a:xfrm>
            <a:off x="2706624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redis-check-aof --fix</a:t>
            </a:r>
          </a:p>
        </p:txBody>
      </p:sp>
      <p:sp>
        <p:nvSpPr>
          <p:cNvPr id="18" name="a1ud200_card17"/>
          <p:cNvSpPr/>
          <p:nvPr/>
        </p:nvSpPr>
        <p:spPr>
          <a:xfrm>
            <a:off x="4700016" y="1143000"/>
            <a:ext cx="1956816" cy="20116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200_acc18"/>
          <p:cNvSpPr/>
          <p:nvPr/>
        </p:nvSpPr>
        <p:spPr>
          <a:xfrm>
            <a:off x="4700016" y="1143000"/>
            <a:ext cx="1956816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230_gn19"/>
          <p:cNvSpPr txBox="1"/>
          <p:nvPr/>
        </p:nvSpPr>
        <p:spPr>
          <a:xfrm>
            <a:off x="4828031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INFO</a:t>
            </a:r>
          </a:p>
        </p:txBody>
      </p:sp>
      <p:sp>
        <p:nvSpPr>
          <p:cNvPr id="21" name="a1ud260_gc20"/>
          <p:cNvSpPr txBox="1"/>
          <p:nvPr/>
        </p:nvSpPr>
        <p:spPr>
          <a:xfrm>
            <a:off x="4828031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INFO persistence</a:t>
            </a:r>
          </a:p>
        </p:txBody>
      </p:sp>
      <p:sp>
        <p:nvSpPr>
          <p:cNvPr id="22" name="a1ud310_gc21"/>
          <p:cNvSpPr txBox="1"/>
          <p:nvPr/>
        </p:nvSpPr>
        <p:spPr>
          <a:xfrm>
            <a:off x="4828031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rdb_last_bgsave_status</a:t>
            </a:r>
          </a:p>
        </p:txBody>
      </p:sp>
      <p:sp>
        <p:nvSpPr>
          <p:cNvPr id="23" name="a1ud360_gc22"/>
          <p:cNvSpPr txBox="1"/>
          <p:nvPr/>
        </p:nvSpPr>
        <p:spPr>
          <a:xfrm>
            <a:off x="4828031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aof_last_bgrewrite_status</a:t>
            </a:r>
          </a:p>
        </p:txBody>
      </p:sp>
      <p:sp>
        <p:nvSpPr>
          <p:cNvPr id="24" name="a1ud410_gc23"/>
          <p:cNvSpPr txBox="1"/>
          <p:nvPr/>
        </p:nvSpPr>
        <p:spPr>
          <a:xfrm>
            <a:off x="4828031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aof_enabled</a:t>
            </a:r>
          </a:p>
        </p:txBody>
      </p:sp>
      <p:sp>
        <p:nvSpPr>
          <p:cNvPr id="25" name="a1ud300_card24"/>
          <p:cNvSpPr/>
          <p:nvPr/>
        </p:nvSpPr>
        <p:spPr>
          <a:xfrm>
            <a:off x="6821423" y="1143000"/>
            <a:ext cx="1956816" cy="20116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ud300_acc25"/>
          <p:cNvSpPr/>
          <p:nvPr/>
        </p:nvSpPr>
        <p:spPr>
          <a:xfrm>
            <a:off x="6821423" y="1143000"/>
            <a:ext cx="1956816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ud330_gn26"/>
          <p:cNvSpPr txBox="1"/>
          <p:nvPr/>
        </p:nvSpPr>
        <p:spPr>
          <a:xfrm>
            <a:off x="6949439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C382C"/>
                </a:solidFill>
                <a:latin typeface="Calibri"/>
              </a:rPr>
              <a:t>DOCKER</a:t>
            </a:r>
          </a:p>
        </p:txBody>
      </p:sp>
      <p:sp>
        <p:nvSpPr>
          <p:cNvPr id="28" name="a1ud360_gc27"/>
          <p:cNvSpPr txBox="1"/>
          <p:nvPr/>
        </p:nvSpPr>
        <p:spPr>
          <a:xfrm>
            <a:off x="6949439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docker volume create</a:t>
            </a:r>
          </a:p>
        </p:txBody>
      </p:sp>
      <p:sp>
        <p:nvSpPr>
          <p:cNvPr id="29" name="a1ud410_gc28"/>
          <p:cNvSpPr txBox="1"/>
          <p:nvPr/>
        </p:nvSpPr>
        <p:spPr>
          <a:xfrm>
            <a:off x="6949439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-v name:/data</a:t>
            </a:r>
          </a:p>
        </p:txBody>
      </p:sp>
      <p:sp>
        <p:nvSpPr>
          <p:cNvPr id="30" name="a1ud460_gc29"/>
          <p:cNvSpPr txBox="1"/>
          <p:nvPr/>
        </p:nvSpPr>
        <p:spPr>
          <a:xfrm>
            <a:off x="6949439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docker cp ctr:/data/. .</a:t>
            </a:r>
          </a:p>
        </p:txBody>
      </p:sp>
      <p:sp>
        <p:nvSpPr>
          <p:cNvPr id="31" name="a1ud510_gc30"/>
          <p:cNvSpPr txBox="1"/>
          <p:nvPr/>
        </p:nvSpPr>
        <p:spPr>
          <a:xfrm>
            <a:off x="6949439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compose down (no -v!)</a:t>
            </a:r>
          </a:p>
        </p:txBody>
      </p:sp>
      <p:sp>
        <p:nvSpPr>
          <p:cNvPr id="32" name="a2u_nb31"/>
          <p:cNvSpPr/>
          <p:nvPr/>
        </p:nvSpPr>
        <p:spPr>
          <a:xfrm>
            <a:off x="457200" y="328269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u_nacc32"/>
          <p:cNvSpPr/>
          <p:nvPr/>
        </p:nvSpPr>
        <p:spPr>
          <a:xfrm>
            <a:off x="457200" y="3282696"/>
            <a:ext cx="5029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u_nt33"/>
          <p:cNvSpPr txBox="1"/>
          <p:nvPr/>
        </p:nvSpPr>
        <p:spPr>
          <a:xfrm>
            <a:off x="658368" y="3282696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KEY  </a:t>
            </a:r>
            <a:r>
              <a:rPr sz="1050" b="0">
                <a:solidFill>
                  <a:srgbClr val="334155"/>
                </a:solidFill>
                <a:latin typeface="Calibri"/>
              </a:rPr>
              <a:t>If you remember one line from this whole deck: persistence protects you from a process crash; a volume protects you from a container being removed. You need both, and they are two different, independent decisions.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 · 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RDB is a fork and a rename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Copy-on-write keeps it non-blocking; the atomic rename means a reader never sees a half-written snapshot.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AOF is a log, and Redis 7 splits it in three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base.rdb + incr.aof + manifest, rewritten by BGREWRITEAOF without ever editing a file in place.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appendfsync everysec is the answer almost every time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always is safer and slower; no is faster and can lose minutes - everysec is the production default for a reason.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volume is a second, independent decision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Persistence protects you from a crash. -v protects you from docker rm. Skipping either loses data, measured on this machine.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42976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42976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52144" y="4251959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Rehearse the restore, not just the backup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docker cp into a brand-new container and volume is the drill that proves a backup is actually usable.</a:t>
            </a:r>
          </a:p>
        </p:txBody>
      </p:sp>
      <p:sp>
        <p:nvSpPr>
          <p:cNvPr id="18" name="a2u_next17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extt18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A78BFA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Lab P.1 to P.6 · run every failure on purpose, in your own container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