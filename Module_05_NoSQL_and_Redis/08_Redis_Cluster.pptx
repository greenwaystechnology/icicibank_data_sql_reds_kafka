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 Cluster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Sharding across masters, with failover built in - set up and measured in Docker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SLOTS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MOVED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FAILOVER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RESHARD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8 of 8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Why a Cluster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Replication (deck 7) copies ONE dataset. A cluster SPLITS the dataset across masters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Writes scale out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SHARDING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Each master owns part of the keyspace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Add masters, add write capacity and RAM</a:t>
            </a:r>
          </a:p>
        </p:txBody>
      </p:sp>
      <p:sp>
        <p:nvSpPr>
          <p:cNvPr id="12" name="a2u_card11"/>
          <p:cNvSpPr/>
          <p:nvPr/>
        </p:nvSpPr>
        <p:spPr>
          <a:xfrm>
            <a:off x="3267456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3267456" y="1216152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343204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343204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3432048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Failover is built in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3432048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NO SENTINEL NEEDED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3432048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Masters vote a replica up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3432048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Measured: about 8 seconds, no human</a:t>
            </a:r>
          </a:p>
        </p:txBody>
      </p:sp>
      <p:sp>
        <p:nvSpPr>
          <p:cNvPr id="20" name="a3u_card19"/>
          <p:cNvSpPr/>
          <p:nvPr/>
        </p:nvSpPr>
        <p:spPr>
          <a:xfrm>
            <a:off x="6077712" y="1216152"/>
            <a:ext cx="2609088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6077712" y="1216152"/>
            <a:ext cx="2609088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624230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624230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6242304" y="1892808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It costs you something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6242304" y="2167128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THE RULES CHANGE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6242304" y="242316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Multi-key ops need one slot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6242304" y="2807208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Only database 0, KEYS sees one node</a:t>
            </a:r>
          </a:p>
        </p:txBody>
      </p:sp>
      <p:sp>
        <p:nvSpPr>
          <p:cNvPr id="28" name="a4u_nb27"/>
          <p:cNvSpPr/>
          <p:nvPr/>
        </p:nvSpPr>
        <p:spPr>
          <a:xfrm>
            <a:off x="457200" y="3429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u_nacc28"/>
          <p:cNvSpPr/>
          <p:nvPr/>
        </p:nvSpPr>
        <p:spPr>
          <a:xfrm>
            <a:off x="457200" y="3429000"/>
            <a:ext cx="5029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4u_nt29"/>
          <p:cNvSpPr txBox="1"/>
          <p:nvPr/>
        </p:nvSpPr>
        <p:spPr>
          <a:xfrm>
            <a:off x="658368" y="3429000"/>
            <a:ext cx="78272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NOTE  </a:t>
            </a:r>
            <a:r>
              <a:rPr sz="1050" b="0">
                <a:solidFill>
                  <a:srgbClr val="334155"/>
                </a:solidFill>
                <a:latin typeface="Calibri"/>
              </a:rPr>
              <a:t>Reach for a cluster when one machine's RAM or write throughput is the limit. If one primary copes and you only need a standby, deck 7's replication is simpler - and has none of the multi-key restrictions this deck spends time on.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How Cluster Works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16384 hash slots, redirection, and keeping related keys together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slots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MOVED / -c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tags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CROSSSLOT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16384 Hash Slots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key maps to exactly one slot; every slot is owned by exactly one master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d50_f4"/>
          <p:cNvSpPr txBox="1"/>
          <p:nvPr/>
        </p:nvSpPr>
        <p:spPr>
          <a:xfrm>
            <a:off x="640080" y="12344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Courier New"/>
              </a:rPr>
              <a:t>slot = CRC16(key) mod 16384</a:t>
            </a:r>
          </a:p>
        </p:txBody>
      </p:sp>
      <p:sp>
        <p:nvSpPr>
          <p:cNvPr id="6" name="a1ud100_fd5"/>
          <p:cNvSpPr txBox="1"/>
          <p:nvPr/>
        </p:nvSpPr>
        <p:spPr>
          <a:xfrm>
            <a:off x="640080" y="1581912"/>
            <a:ext cx="361188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slot, not the key, is what gets assigned to a master. Moving data between masters means moving slots - the key's slot never changes.</a:t>
            </a:r>
          </a:p>
        </p:txBody>
      </p:sp>
      <p:sp>
        <p:nvSpPr>
          <p:cNvPr id="7" name="a2f_tl6"/>
          <p:cNvSpPr txBox="1"/>
          <p:nvPr/>
        </p:nvSpPr>
        <p:spPr>
          <a:xfrm>
            <a:off x="4663440" y="1143000"/>
            <a:ext cx="402335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Calibri"/>
              </a:rPr>
              <a:t>measured · CLUSTER KEYSLOT</a:t>
            </a:r>
          </a:p>
        </p:txBody>
      </p:sp>
      <p:sp>
        <p:nvSpPr>
          <p:cNvPr id="8" name="a2f_th7"/>
          <p:cNvSpPr/>
          <p:nvPr/>
        </p:nvSpPr>
        <p:spPr>
          <a:xfrm>
            <a:off x="4663440" y="1417320"/>
            <a:ext cx="233172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2f_tht8"/>
          <p:cNvSpPr txBox="1"/>
          <p:nvPr/>
        </p:nvSpPr>
        <p:spPr>
          <a:xfrm>
            <a:off x="4736592" y="1417320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Key</a:t>
            </a:r>
          </a:p>
        </p:txBody>
      </p:sp>
      <p:sp>
        <p:nvSpPr>
          <p:cNvPr id="10" name="a2wd100_td9"/>
          <p:cNvSpPr/>
          <p:nvPr/>
        </p:nvSpPr>
        <p:spPr>
          <a:xfrm>
            <a:off x="4663440" y="1709928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wd100_tdt10"/>
          <p:cNvSpPr txBox="1"/>
          <p:nvPr/>
        </p:nvSpPr>
        <p:spPr>
          <a:xfrm>
            <a:off x="4736592" y="1709928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icici:acct:1001</a:t>
            </a:r>
          </a:p>
        </p:txBody>
      </p:sp>
      <p:sp>
        <p:nvSpPr>
          <p:cNvPr id="12" name="a2wd200_td11"/>
          <p:cNvSpPr/>
          <p:nvPr/>
        </p:nvSpPr>
        <p:spPr>
          <a:xfrm>
            <a:off x="4663440" y="2002536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wd200_tdt12"/>
          <p:cNvSpPr txBox="1"/>
          <p:nvPr/>
        </p:nvSpPr>
        <p:spPr>
          <a:xfrm>
            <a:off x="4736592" y="2002536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icici:acct:1002</a:t>
            </a:r>
          </a:p>
        </p:txBody>
      </p:sp>
      <p:sp>
        <p:nvSpPr>
          <p:cNvPr id="14" name="a2wd300_td13"/>
          <p:cNvSpPr/>
          <p:nvPr/>
        </p:nvSpPr>
        <p:spPr>
          <a:xfrm>
            <a:off x="4663440" y="2295144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wd300_tdt14"/>
          <p:cNvSpPr txBox="1"/>
          <p:nvPr/>
        </p:nvSpPr>
        <p:spPr>
          <a:xfrm>
            <a:off x="4736592" y="2295144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icici:bal:9003</a:t>
            </a:r>
          </a:p>
        </p:txBody>
      </p:sp>
      <p:sp>
        <p:nvSpPr>
          <p:cNvPr id="16" name="a2wd400_td15"/>
          <p:cNvSpPr/>
          <p:nvPr/>
        </p:nvSpPr>
        <p:spPr>
          <a:xfrm>
            <a:off x="4663440" y="2587752"/>
            <a:ext cx="2331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400_tdt16"/>
          <p:cNvSpPr txBox="1"/>
          <p:nvPr/>
        </p:nvSpPr>
        <p:spPr>
          <a:xfrm>
            <a:off x="4736592" y="2587752"/>
            <a:ext cx="222199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{icici:cust:42}:profile</a:t>
            </a:r>
          </a:p>
        </p:txBody>
      </p:sp>
      <p:sp>
        <p:nvSpPr>
          <p:cNvPr id="18" name="a2f_th17"/>
          <p:cNvSpPr/>
          <p:nvPr/>
        </p:nvSpPr>
        <p:spPr>
          <a:xfrm>
            <a:off x="6995159" y="1417320"/>
            <a:ext cx="777240" cy="29260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f_tht18"/>
          <p:cNvSpPr txBox="1"/>
          <p:nvPr/>
        </p:nvSpPr>
        <p:spPr>
          <a:xfrm>
            <a:off x="7068312" y="1417320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Slot</a:t>
            </a:r>
          </a:p>
        </p:txBody>
      </p:sp>
      <p:sp>
        <p:nvSpPr>
          <p:cNvPr id="20" name="a2wd100_td19"/>
          <p:cNvSpPr/>
          <p:nvPr/>
        </p:nvSpPr>
        <p:spPr>
          <a:xfrm>
            <a:off x="6995159" y="1709928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100_tdt20"/>
          <p:cNvSpPr txBox="1"/>
          <p:nvPr/>
        </p:nvSpPr>
        <p:spPr>
          <a:xfrm>
            <a:off x="7068312" y="1709928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12170</a:t>
            </a:r>
          </a:p>
        </p:txBody>
      </p:sp>
      <p:sp>
        <p:nvSpPr>
          <p:cNvPr id="22" name="a2wd200_td21"/>
          <p:cNvSpPr/>
          <p:nvPr/>
        </p:nvSpPr>
        <p:spPr>
          <a:xfrm>
            <a:off x="6995159" y="2002536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200_tdt22"/>
          <p:cNvSpPr txBox="1"/>
          <p:nvPr/>
        </p:nvSpPr>
        <p:spPr>
          <a:xfrm>
            <a:off x="7068312" y="2002536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8169</a:t>
            </a:r>
          </a:p>
        </p:txBody>
      </p:sp>
      <p:sp>
        <p:nvSpPr>
          <p:cNvPr id="24" name="a2wd300_td23"/>
          <p:cNvSpPr/>
          <p:nvPr/>
        </p:nvSpPr>
        <p:spPr>
          <a:xfrm>
            <a:off x="6995159" y="2295144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300_tdt24"/>
          <p:cNvSpPr txBox="1"/>
          <p:nvPr/>
        </p:nvSpPr>
        <p:spPr>
          <a:xfrm>
            <a:off x="7068312" y="2295144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6348</a:t>
            </a:r>
          </a:p>
        </p:txBody>
      </p:sp>
      <p:sp>
        <p:nvSpPr>
          <p:cNvPr id="26" name="a2wd400_td25"/>
          <p:cNvSpPr/>
          <p:nvPr/>
        </p:nvSpPr>
        <p:spPr>
          <a:xfrm>
            <a:off x="6995159" y="2587752"/>
            <a:ext cx="777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400_tdt26"/>
          <p:cNvSpPr txBox="1"/>
          <p:nvPr/>
        </p:nvSpPr>
        <p:spPr>
          <a:xfrm>
            <a:off x="7068312" y="2587752"/>
            <a:ext cx="6675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2022</a:t>
            </a:r>
          </a:p>
        </p:txBody>
      </p:sp>
      <p:sp>
        <p:nvSpPr>
          <p:cNvPr id="28" name="a2f_th27"/>
          <p:cNvSpPr/>
          <p:nvPr/>
        </p:nvSpPr>
        <p:spPr>
          <a:xfrm>
            <a:off x="7772400" y="1417320"/>
            <a:ext cx="914400" cy="29260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f_tht28"/>
          <p:cNvSpPr txBox="1"/>
          <p:nvPr/>
        </p:nvSpPr>
        <p:spPr>
          <a:xfrm>
            <a:off x="7845552" y="1417320"/>
            <a:ext cx="8046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Master</a:t>
            </a:r>
          </a:p>
        </p:txBody>
      </p:sp>
      <p:sp>
        <p:nvSpPr>
          <p:cNvPr id="30" name="a2wd100_td29"/>
          <p:cNvSpPr/>
          <p:nvPr/>
        </p:nvSpPr>
        <p:spPr>
          <a:xfrm>
            <a:off x="7772400" y="170992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100_tdt30"/>
          <p:cNvSpPr txBox="1"/>
          <p:nvPr/>
        </p:nvSpPr>
        <p:spPr>
          <a:xfrm>
            <a:off x="7845552" y="1709928"/>
            <a:ext cx="8046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node3</a:t>
            </a:r>
          </a:p>
        </p:txBody>
      </p:sp>
      <p:sp>
        <p:nvSpPr>
          <p:cNvPr id="32" name="a2wd200_td31"/>
          <p:cNvSpPr/>
          <p:nvPr/>
        </p:nvSpPr>
        <p:spPr>
          <a:xfrm>
            <a:off x="7772400" y="2002536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wd200_tdt32"/>
          <p:cNvSpPr txBox="1"/>
          <p:nvPr/>
        </p:nvSpPr>
        <p:spPr>
          <a:xfrm>
            <a:off x="7845552" y="2002536"/>
            <a:ext cx="8046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node2</a:t>
            </a:r>
          </a:p>
        </p:txBody>
      </p:sp>
      <p:sp>
        <p:nvSpPr>
          <p:cNvPr id="34" name="a2wd300_td33"/>
          <p:cNvSpPr/>
          <p:nvPr/>
        </p:nvSpPr>
        <p:spPr>
          <a:xfrm>
            <a:off x="7772400" y="2295144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2wd300_tdt34"/>
          <p:cNvSpPr txBox="1"/>
          <p:nvPr/>
        </p:nvSpPr>
        <p:spPr>
          <a:xfrm>
            <a:off x="7845552" y="2295144"/>
            <a:ext cx="8046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node2</a:t>
            </a:r>
          </a:p>
        </p:txBody>
      </p:sp>
      <p:sp>
        <p:nvSpPr>
          <p:cNvPr id="36" name="a2wd400_td35"/>
          <p:cNvSpPr/>
          <p:nvPr/>
        </p:nvSpPr>
        <p:spPr>
          <a:xfrm>
            <a:off x="7772400" y="2587752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a2wd400_tdt36"/>
          <p:cNvSpPr txBox="1"/>
          <p:nvPr/>
        </p:nvSpPr>
        <p:spPr>
          <a:xfrm>
            <a:off x="7845552" y="2587752"/>
            <a:ext cx="8046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node1</a:t>
            </a:r>
          </a:p>
        </p:txBody>
      </p:sp>
      <p:sp>
        <p:nvSpPr>
          <p:cNvPr id="38" name="a3w_bar37"/>
          <p:cNvSpPr/>
          <p:nvPr/>
        </p:nvSpPr>
        <p:spPr>
          <a:xfrm>
            <a:off x="457200" y="3108960"/>
            <a:ext cx="2706456" cy="42062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3w_bart38"/>
          <p:cNvSpPr txBox="1"/>
          <p:nvPr/>
        </p:nvSpPr>
        <p:spPr>
          <a:xfrm>
            <a:off x="457200" y="3108960"/>
            <a:ext cx="27064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node1  ·  0 - 5460</a:t>
            </a:r>
          </a:p>
        </p:txBody>
      </p:sp>
      <p:sp>
        <p:nvSpPr>
          <p:cNvPr id="40" name="a3wd150_bar39"/>
          <p:cNvSpPr/>
          <p:nvPr/>
        </p:nvSpPr>
        <p:spPr>
          <a:xfrm>
            <a:off x="3200232" y="3108960"/>
            <a:ext cx="2706958" cy="4206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a3wd150_bart40"/>
          <p:cNvSpPr txBox="1"/>
          <p:nvPr/>
        </p:nvSpPr>
        <p:spPr>
          <a:xfrm>
            <a:off x="3200232" y="3108960"/>
            <a:ext cx="27069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node2  ·  5461 - 10922</a:t>
            </a:r>
          </a:p>
        </p:txBody>
      </p:sp>
      <p:sp>
        <p:nvSpPr>
          <p:cNvPr id="42" name="a3wd300_bar41"/>
          <p:cNvSpPr/>
          <p:nvPr/>
        </p:nvSpPr>
        <p:spPr>
          <a:xfrm>
            <a:off x="5943767" y="3108960"/>
            <a:ext cx="2706456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a3wd300_bart42"/>
          <p:cNvSpPr txBox="1"/>
          <p:nvPr/>
        </p:nvSpPr>
        <p:spPr>
          <a:xfrm>
            <a:off x="5943767" y="3108960"/>
            <a:ext cx="270645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urier New"/>
              </a:rPr>
              <a:t>node3  ·  10923 - 16383</a:t>
            </a:r>
          </a:p>
        </p:txBody>
      </p:sp>
      <p:sp>
        <p:nvSpPr>
          <p:cNvPr id="44" name="a3fd500_bn43"/>
          <p:cNvSpPr txBox="1"/>
          <p:nvPr/>
        </p:nvSpPr>
        <p:spPr>
          <a:xfrm>
            <a:off x="457200" y="358444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How --cluster create split the slots across 3 masters on this machine: 5461 / 5462 / 5461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Topology We Build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Six containers: three masters own the slots, three replicas stand by</a:t>
            </a:r>
          </a:p>
        </p:txBody>
      </p:sp>
      <p:sp>
        <p:nvSpPr>
          <p:cNvPr id="4" name="a1u_m3"/>
          <p:cNvSpPr/>
          <p:nvPr/>
        </p:nvSpPr>
        <p:spPr>
          <a:xfrm>
            <a:off x="457200" y="1170432"/>
            <a:ext cx="2596896" cy="932688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mt4"/>
          <p:cNvSpPr txBox="1"/>
          <p:nvPr/>
        </p:nvSpPr>
        <p:spPr>
          <a:xfrm>
            <a:off x="621792" y="12527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MASTER · redis-node1</a:t>
            </a:r>
          </a:p>
        </p:txBody>
      </p:sp>
      <p:sp>
        <p:nvSpPr>
          <p:cNvPr id="6" name="a1u_ms5"/>
          <p:cNvSpPr txBox="1"/>
          <p:nvPr/>
        </p:nvSpPr>
        <p:spPr>
          <a:xfrm>
            <a:off x="621792" y="154533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4B5FD"/>
                </a:solidFill>
                <a:latin typeface="Courier New"/>
              </a:rPr>
              <a:t>slots 0 - 5460</a:t>
            </a:r>
          </a:p>
        </p:txBody>
      </p:sp>
      <p:sp>
        <p:nvSpPr>
          <p:cNvPr id="7" name="a1u_md6"/>
          <p:cNvSpPr txBox="1"/>
          <p:nvPr/>
        </p:nvSpPr>
        <p:spPr>
          <a:xfrm>
            <a:off x="621792" y="1801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reads + writes for its slots</a:t>
            </a:r>
          </a:p>
        </p:txBody>
      </p:sp>
      <p:cxnSp>
        <p:nvCxnSpPr>
          <p:cNvPr id="8" name="a2f_ln7"/>
          <p:cNvCxnSpPr/>
          <p:nvPr/>
        </p:nvCxnSpPr>
        <p:spPr>
          <a:xfrm>
            <a:off x="1755648" y="2130552"/>
            <a:ext cx="0" cy="384048"/>
          </a:xfrm>
          <a:prstGeom prst="line">
            <a:avLst/>
          </a:prstGeom>
          <a:ln w="1905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2u_r8"/>
          <p:cNvSpPr/>
          <p:nvPr/>
        </p:nvSpPr>
        <p:spPr>
          <a:xfrm>
            <a:off x="457200" y="2551176"/>
            <a:ext cx="2596896" cy="676656"/>
          </a:xfrm>
          <a:prstGeom prst="roundRect">
            <a:avLst>
              <a:gd name="adj" fmla="val 10810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2u_rt9"/>
          <p:cNvSpPr txBox="1"/>
          <p:nvPr/>
        </p:nvSpPr>
        <p:spPr>
          <a:xfrm>
            <a:off x="621792" y="26243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REPLICA · redis-node5</a:t>
            </a:r>
          </a:p>
        </p:txBody>
      </p:sp>
      <p:sp>
        <p:nvSpPr>
          <p:cNvPr id="11" name="a2u_rd10"/>
          <p:cNvSpPr txBox="1"/>
          <p:nvPr/>
        </p:nvSpPr>
        <p:spPr>
          <a:xfrm>
            <a:off x="621792" y="28986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promoted if its master dies</a:t>
            </a:r>
          </a:p>
        </p:txBody>
      </p:sp>
      <p:sp>
        <p:nvSpPr>
          <p:cNvPr id="12" name="a1ud120_m11"/>
          <p:cNvSpPr/>
          <p:nvPr/>
        </p:nvSpPr>
        <p:spPr>
          <a:xfrm>
            <a:off x="3273552" y="1170432"/>
            <a:ext cx="2596896" cy="932688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20_mt12"/>
          <p:cNvSpPr txBox="1"/>
          <p:nvPr/>
        </p:nvSpPr>
        <p:spPr>
          <a:xfrm>
            <a:off x="3438144" y="12527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MASTER · redis-node2</a:t>
            </a:r>
          </a:p>
        </p:txBody>
      </p:sp>
      <p:sp>
        <p:nvSpPr>
          <p:cNvPr id="14" name="a1ud120_ms13"/>
          <p:cNvSpPr txBox="1"/>
          <p:nvPr/>
        </p:nvSpPr>
        <p:spPr>
          <a:xfrm>
            <a:off x="3438144" y="154533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4B5FD"/>
                </a:solidFill>
                <a:latin typeface="Courier New"/>
              </a:rPr>
              <a:t>slots 5461 - 10922</a:t>
            </a:r>
          </a:p>
        </p:txBody>
      </p:sp>
      <p:sp>
        <p:nvSpPr>
          <p:cNvPr id="15" name="a1ud120_md14"/>
          <p:cNvSpPr txBox="1"/>
          <p:nvPr/>
        </p:nvSpPr>
        <p:spPr>
          <a:xfrm>
            <a:off x="3438144" y="1801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reads + writes for its slots</a:t>
            </a:r>
          </a:p>
        </p:txBody>
      </p:sp>
      <p:cxnSp>
        <p:nvCxnSpPr>
          <p:cNvPr id="16" name="a2fd120_ln15"/>
          <p:cNvCxnSpPr/>
          <p:nvPr/>
        </p:nvCxnSpPr>
        <p:spPr>
          <a:xfrm>
            <a:off x="4572000" y="2130552"/>
            <a:ext cx="0" cy="384048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2ud120_r16"/>
          <p:cNvSpPr/>
          <p:nvPr/>
        </p:nvSpPr>
        <p:spPr>
          <a:xfrm>
            <a:off x="3273552" y="2551176"/>
            <a:ext cx="2596896" cy="676656"/>
          </a:xfrm>
          <a:prstGeom prst="roundRect">
            <a:avLst>
              <a:gd name="adj" fmla="val 10810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d120_rt17"/>
          <p:cNvSpPr txBox="1"/>
          <p:nvPr/>
        </p:nvSpPr>
        <p:spPr>
          <a:xfrm>
            <a:off x="3438144" y="26243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REPLICA · redis-node6</a:t>
            </a:r>
          </a:p>
        </p:txBody>
      </p:sp>
      <p:sp>
        <p:nvSpPr>
          <p:cNvPr id="19" name="a2ud120_rd18"/>
          <p:cNvSpPr txBox="1"/>
          <p:nvPr/>
        </p:nvSpPr>
        <p:spPr>
          <a:xfrm>
            <a:off x="3438144" y="28986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promoted if its master dies</a:t>
            </a:r>
          </a:p>
        </p:txBody>
      </p:sp>
      <p:sp>
        <p:nvSpPr>
          <p:cNvPr id="20" name="a1ud240_m19"/>
          <p:cNvSpPr/>
          <p:nvPr/>
        </p:nvSpPr>
        <p:spPr>
          <a:xfrm>
            <a:off x="6089904" y="1170432"/>
            <a:ext cx="2596896" cy="932688"/>
          </a:xfrm>
          <a:prstGeom prst="roundRect">
            <a:avLst>
              <a:gd name="adj" fmla="val 7843"/>
            </a:avLst>
          </a:prstGeom>
          <a:solidFill>
            <a:srgbClr val="1E293B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ud240_mt20"/>
          <p:cNvSpPr txBox="1"/>
          <p:nvPr/>
        </p:nvSpPr>
        <p:spPr>
          <a:xfrm>
            <a:off x="6254496" y="12527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MASTER · redis-node3</a:t>
            </a:r>
          </a:p>
        </p:txBody>
      </p:sp>
      <p:sp>
        <p:nvSpPr>
          <p:cNvPr id="22" name="a1ud240_ms21"/>
          <p:cNvSpPr txBox="1"/>
          <p:nvPr/>
        </p:nvSpPr>
        <p:spPr>
          <a:xfrm>
            <a:off x="6254496" y="154533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C4B5FD"/>
                </a:solidFill>
                <a:latin typeface="Courier New"/>
              </a:rPr>
              <a:t>slots 10923 - 16383</a:t>
            </a:r>
          </a:p>
        </p:txBody>
      </p:sp>
      <p:sp>
        <p:nvSpPr>
          <p:cNvPr id="23" name="a1ud240_md22"/>
          <p:cNvSpPr txBox="1"/>
          <p:nvPr/>
        </p:nvSpPr>
        <p:spPr>
          <a:xfrm>
            <a:off x="6254496" y="1801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reads + writes for its slots</a:t>
            </a:r>
          </a:p>
        </p:txBody>
      </p:sp>
      <p:cxnSp>
        <p:nvCxnSpPr>
          <p:cNvPr id="24" name="a2fd240_ln23"/>
          <p:cNvCxnSpPr/>
          <p:nvPr/>
        </p:nvCxnSpPr>
        <p:spPr>
          <a:xfrm>
            <a:off x="7388352" y="2130552"/>
            <a:ext cx="0" cy="384048"/>
          </a:xfrm>
          <a:prstGeom prst="line">
            <a:avLst/>
          </a:prstGeom>
          <a:ln w="1905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2ud240_r24"/>
          <p:cNvSpPr/>
          <p:nvPr/>
        </p:nvSpPr>
        <p:spPr>
          <a:xfrm>
            <a:off x="6089904" y="2551176"/>
            <a:ext cx="2596896" cy="676656"/>
          </a:xfrm>
          <a:prstGeom prst="roundRect">
            <a:avLst>
              <a:gd name="adj" fmla="val 10810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2ud240_rt25"/>
          <p:cNvSpPr txBox="1"/>
          <p:nvPr/>
        </p:nvSpPr>
        <p:spPr>
          <a:xfrm>
            <a:off x="6254496" y="262432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E2E8F0"/>
                </a:solidFill>
                <a:latin typeface="Calibri"/>
              </a:rPr>
              <a:t>REPLICA · redis-node4</a:t>
            </a:r>
          </a:p>
        </p:txBody>
      </p:sp>
      <p:sp>
        <p:nvSpPr>
          <p:cNvPr id="27" name="a2ud240_rd26"/>
          <p:cNvSpPr txBox="1"/>
          <p:nvPr/>
        </p:nvSpPr>
        <p:spPr>
          <a:xfrm>
            <a:off x="6254496" y="289864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promoted if its master dies</a:t>
            </a:r>
          </a:p>
        </p:txBody>
      </p:sp>
      <p:sp>
        <p:nvSpPr>
          <p:cNvPr id="28" name="a3u_nb27"/>
          <p:cNvSpPr/>
          <p:nvPr/>
        </p:nvSpPr>
        <p:spPr>
          <a:xfrm>
            <a:off x="457200" y="33924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u_nacc28"/>
          <p:cNvSpPr/>
          <p:nvPr/>
        </p:nvSpPr>
        <p:spPr>
          <a:xfrm>
            <a:off x="457200" y="3392424"/>
            <a:ext cx="50292" cy="6035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3u_nt29"/>
          <p:cNvSpPr txBox="1"/>
          <p:nvPr/>
        </p:nvSpPr>
        <p:spPr>
          <a:xfrm>
            <a:off x="658368" y="3392424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BUS  </a:t>
            </a:r>
            <a:r>
              <a:rPr sz="1000" b="0">
                <a:solidFill>
                  <a:srgbClr val="E2E8F0"/>
                </a:solidFill>
                <a:latin typeface="Calibri"/>
              </a:rPr>
              <a:t>Every node talks to every other on a second port, the cluster bus - client port + 10000, so 16379 here. Node state, failure reports and votes travel over it. Clients never use it, but a firewall that blocks it breaks the cluster.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MOVED - The Cluster Tells You Where to Go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node never proxies a request for a slot it does not own; it redirects the client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plain redis-cli, connected to node1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redis-cli SET icici:acct:1001 Asha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3278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MOVED 12170 172.18.0.4:6379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29384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25980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slot 12170 belongs to node3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22576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node1 answers with the slot and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576072" y="251917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the owner's address - nothing else</a:t>
            </a:r>
          </a:p>
        </p:txBody>
      </p:sp>
      <p:sp>
        <p:nvSpPr>
          <p:cNvPr id="12" name="a2f_codebg11"/>
          <p:cNvSpPr/>
          <p:nvPr/>
        </p:nvSpPr>
        <p:spPr>
          <a:xfrm>
            <a:off x="4709160" y="1143000"/>
            <a:ext cx="3977639" cy="2281428"/>
          </a:xfrm>
          <a:prstGeom prst="roundRect">
            <a:avLst>
              <a:gd name="adj" fmla="val 320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codeh12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-c = cluster mode: follow MOVED</a:t>
            </a:r>
          </a:p>
        </p:txBody>
      </p:sp>
      <p:sp>
        <p:nvSpPr>
          <p:cNvPr id="14" name="a2w_code13"/>
          <p:cNvSpPr txBox="1"/>
          <p:nvPr/>
        </p:nvSpPr>
        <p:spPr>
          <a:xfrm>
            <a:off x="4828032" y="153619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redis-cli -c</a:t>
            </a:r>
          </a:p>
        </p:txBody>
      </p:sp>
      <p:sp>
        <p:nvSpPr>
          <p:cNvPr id="15" name="a2wd90_code14"/>
          <p:cNvSpPr txBox="1"/>
          <p:nvPr/>
        </p:nvSpPr>
        <p:spPr>
          <a:xfrm>
            <a:off x="4828032" y="173278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&gt; SET icici:acct:1002 Ravi</a:t>
            </a:r>
          </a:p>
        </p:txBody>
      </p:sp>
      <p:sp>
        <p:nvSpPr>
          <p:cNvPr id="16" name="a2wd180_code15"/>
          <p:cNvSpPr txBox="1"/>
          <p:nvPr/>
        </p:nvSpPr>
        <p:spPr>
          <a:xfrm>
            <a:off x="4828032" y="1929384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-&gt; Redirected to slot [8169] located at</a:t>
            </a:r>
          </a:p>
        </p:txBody>
      </p:sp>
      <p:sp>
        <p:nvSpPr>
          <p:cNvPr id="17" name="a2wd270_code16"/>
          <p:cNvSpPr txBox="1"/>
          <p:nvPr/>
        </p:nvSpPr>
        <p:spPr>
          <a:xfrm>
            <a:off x="4828032" y="2125980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172.18.0.3:6379</a:t>
            </a:r>
          </a:p>
        </p:txBody>
      </p:sp>
      <p:sp>
        <p:nvSpPr>
          <p:cNvPr id="18" name="a2wd360_code17"/>
          <p:cNvSpPr txBox="1"/>
          <p:nvPr/>
        </p:nvSpPr>
        <p:spPr>
          <a:xfrm>
            <a:off x="4828032" y="2322576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OK</a:t>
            </a:r>
          </a:p>
        </p:txBody>
      </p:sp>
      <p:sp>
        <p:nvSpPr>
          <p:cNvPr id="19" name="a2wd450_code18"/>
          <p:cNvSpPr txBox="1"/>
          <p:nvPr/>
        </p:nvSpPr>
        <p:spPr>
          <a:xfrm>
            <a:off x="4828032" y="251917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&gt; GET icici:acct:1001</a:t>
            </a:r>
          </a:p>
        </p:txBody>
      </p:sp>
      <p:sp>
        <p:nvSpPr>
          <p:cNvPr id="20" name="a2wd540_code19"/>
          <p:cNvSpPr txBox="1"/>
          <p:nvPr/>
        </p:nvSpPr>
        <p:spPr>
          <a:xfrm>
            <a:off x="4828032" y="271576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-&gt; Redirected to slot [12170] located at</a:t>
            </a:r>
          </a:p>
        </p:txBody>
      </p:sp>
      <p:sp>
        <p:nvSpPr>
          <p:cNvPr id="21" name="a2wd630_code20"/>
          <p:cNvSpPr txBox="1"/>
          <p:nvPr/>
        </p:nvSpPr>
        <p:spPr>
          <a:xfrm>
            <a:off x="4828032" y="2912364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 172.18.0.4:6379</a:t>
            </a:r>
          </a:p>
        </p:txBody>
      </p:sp>
      <p:sp>
        <p:nvSpPr>
          <p:cNvPr id="22" name="a2wd720_code21"/>
          <p:cNvSpPr txBox="1"/>
          <p:nvPr/>
        </p:nvSpPr>
        <p:spPr>
          <a:xfrm>
            <a:off x="4828032" y="3108960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86EFAC"/>
                </a:solidFill>
                <a:latin typeface="Courier New"/>
              </a:rPr>
              <a:t>Asha</a:t>
            </a:r>
          </a:p>
        </p:txBody>
      </p:sp>
      <p:sp>
        <p:nvSpPr>
          <p:cNvPr id="23" name="a3u_nb22"/>
          <p:cNvSpPr/>
          <p:nvPr/>
        </p:nvSpPr>
        <p:spPr>
          <a:xfrm>
            <a:off x="457200" y="35341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acc23"/>
          <p:cNvSpPr/>
          <p:nvPr/>
        </p:nvSpPr>
        <p:spPr>
          <a:xfrm>
            <a:off x="457200" y="3534156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u_nt24"/>
          <p:cNvSpPr txBox="1"/>
          <p:nvPr/>
        </p:nvSpPr>
        <p:spPr>
          <a:xfrm>
            <a:off x="658368" y="3534156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Cluster-aware clients (redis-cli -c, node-redis createCluster) cache the slot map, so after the first few requests they go straight to the right master. MOVED only reappears when slots move - a failover or a reshard.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Hash Tags and CROSSSLOT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Only the part of the key inside { } is hashed - use it to keep related keys together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048256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redis-cli -c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MSET icici:acct:1001 a icici:acct:1002 b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28216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CROSSSLOT Keys in request don't hash to the same slot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20240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12264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&gt; CLUSTER KEYSLOT {icici:cust:42}:profile    -&gt; 2022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04288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&gt; CLUSTER KEYSLOT {icici:cust:42}:balance    -&gt; 2022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576072" y="2496312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&gt; CLUSTER KEYSLOT {icici:cust:42}:txns       -&gt; 2022</a:t>
            </a:r>
          </a:p>
        </p:txBody>
      </p:sp>
      <p:sp>
        <p:nvSpPr>
          <p:cNvPr id="12" name="a1wd540_code11"/>
          <p:cNvSpPr txBox="1"/>
          <p:nvPr/>
        </p:nvSpPr>
        <p:spPr>
          <a:xfrm>
            <a:off x="576072" y="2688336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MSET {icici:cust:42}:profile Asha {icici:cust:42}:balance 5000 {icici:cust:42}:txns 3</a:t>
            </a:r>
          </a:p>
        </p:txBody>
      </p:sp>
      <p:sp>
        <p:nvSpPr>
          <p:cNvPr id="13" name="a1wd630_code12"/>
          <p:cNvSpPr txBox="1"/>
          <p:nvPr/>
        </p:nvSpPr>
        <p:spPr>
          <a:xfrm>
            <a:off x="576072" y="2880360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OK</a:t>
            </a:r>
          </a:p>
        </p:txBody>
      </p:sp>
      <p:sp>
        <p:nvSpPr>
          <p:cNvPr id="14" name="a2f_th13"/>
          <p:cNvSpPr/>
          <p:nvPr/>
        </p:nvSpPr>
        <p:spPr>
          <a:xfrm>
            <a:off x="457200" y="3319272"/>
            <a:ext cx="4206240" cy="29260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tht14"/>
          <p:cNvSpPr txBox="1"/>
          <p:nvPr/>
        </p:nvSpPr>
        <p:spPr>
          <a:xfrm>
            <a:off x="530352" y="3319272"/>
            <a:ext cx="409651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Needs all keys in ONE slot</a:t>
            </a:r>
          </a:p>
        </p:txBody>
      </p:sp>
      <p:sp>
        <p:nvSpPr>
          <p:cNvPr id="16" name="a2wd100_td15"/>
          <p:cNvSpPr/>
          <p:nvPr/>
        </p:nvSpPr>
        <p:spPr>
          <a:xfrm>
            <a:off x="457200" y="3611880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100_tdt16"/>
          <p:cNvSpPr txBox="1"/>
          <p:nvPr/>
        </p:nvSpPr>
        <p:spPr>
          <a:xfrm>
            <a:off x="530352" y="3611880"/>
            <a:ext cx="409651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MSET / MGET, DEL k1 k2, SUNION, RENAME</a:t>
            </a:r>
          </a:p>
        </p:txBody>
      </p:sp>
      <p:sp>
        <p:nvSpPr>
          <p:cNvPr id="18" name="a2wd200_td17"/>
          <p:cNvSpPr/>
          <p:nvPr/>
        </p:nvSpPr>
        <p:spPr>
          <a:xfrm>
            <a:off x="457200" y="3904488"/>
            <a:ext cx="4206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200_tdt18"/>
          <p:cNvSpPr txBox="1"/>
          <p:nvPr/>
        </p:nvSpPr>
        <p:spPr>
          <a:xfrm>
            <a:off x="530352" y="3904488"/>
            <a:ext cx="409651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MULTI / EXEC, Lua scripts, WATCH</a:t>
            </a:r>
          </a:p>
        </p:txBody>
      </p:sp>
      <p:sp>
        <p:nvSpPr>
          <p:cNvPr id="20" name="a2f_th19"/>
          <p:cNvSpPr/>
          <p:nvPr/>
        </p:nvSpPr>
        <p:spPr>
          <a:xfrm>
            <a:off x="4663440" y="3319272"/>
            <a:ext cx="4023360" cy="29260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f_tht20"/>
          <p:cNvSpPr txBox="1"/>
          <p:nvPr/>
        </p:nvSpPr>
        <p:spPr>
          <a:xfrm>
            <a:off x="4736592" y="3319272"/>
            <a:ext cx="3913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22" name="a2wd100_td21"/>
          <p:cNvSpPr/>
          <p:nvPr/>
        </p:nvSpPr>
        <p:spPr>
          <a:xfrm>
            <a:off x="4663440" y="3611880"/>
            <a:ext cx="4023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wd100_tdt22"/>
          <p:cNvSpPr txBox="1"/>
          <p:nvPr/>
        </p:nvSpPr>
        <p:spPr>
          <a:xfrm>
            <a:off x="4736592" y="3611880"/>
            <a:ext cx="3913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one command runs on one master</a:t>
            </a:r>
          </a:p>
        </p:txBody>
      </p:sp>
      <p:sp>
        <p:nvSpPr>
          <p:cNvPr id="24" name="a2wd200_td23"/>
          <p:cNvSpPr/>
          <p:nvPr/>
        </p:nvSpPr>
        <p:spPr>
          <a:xfrm>
            <a:off x="4663440" y="3904488"/>
            <a:ext cx="4023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200_tdt24"/>
          <p:cNvSpPr txBox="1"/>
          <p:nvPr/>
        </p:nvSpPr>
        <p:spPr>
          <a:xfrm>
            <a:off x="4736592" y="3904488"/>
            <a:ext cx="39136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a transaction cannot span masters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7" name="ft2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What Else Changes on a Cluster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All measured against the 6-node cluster - habits from a single node that break here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606040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You type</a:t>
            </a:r>
          </a:p>
        </p:txBody>
      </p:sp>
      <p:sp>
        <p:nvSpPr>
          <p:cNvPr id="6" name="a1wd110_td5"/>
          <p:cNvSpPr/>
          <p:nvPr/>
        </p:nvSpPr>
        <p:spPr>
          <a:xfrm>
            <a:off x="457200" y="1508760"/>
            <a:ext cx="260604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wd110_tdt6"/>
          <p:cNvSpPr txBox="1"/>
          <p:nvPr/>
        </p:nvSpPr>
        <p:spPr>
          <a:xfrm>
            <a:off x="530352" y="1508760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SELECT 1</a:t>
            </a:r>
          </a:p>
        </p:txBody>
      </p:sp>
      <p:sp>
        <p:nvSpPr>
          <p:cNvPr id="8" name="a1wd220_td7"/>
          <p:cNvSpPr/>
          <p:nvPr/>
        </p:nvSpPr>
        <p:spPr>
          <a:xfrm>
            <a:off x="457200" y="1874519"/>
            <a:ext cx="260604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wd220_tdt8"/>
          <p:cNvSpPr txBox="1"/>
          <p:nvPr/>
        </p:nvSpPr>
        <p:spPr>
          <a:xfrm>
            <a:off x="530352" y="1874519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KEYS icici:acct:*</a:t>
            </a:r>
          </a:p>
        </p:txBody>
      </p:sp>
      <p:sp>
        <p:nvSpPr>
          <p:cNvPr id="10" name="a1wd330_td9"/>
          <p:cNvSpPr/>
          <p:nvPr/>
        </p:nvSpPr>
        <p:spPr>
          <a:xfrm>
            <a:off x="457200" y="2240280"/>
            <a:ext cx="260604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1wd330_tdt10"/>
          <p:cNvSpPr txBox="1"/>
          <p:nvPr/>
        </p:nvSpPr>
        <p:spPr>
          <a:xfrm>
            <a:off x="530352" y="2240280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DBSIZE</a:t>
            </a:r>
          </a:p>
        </p:txBody>
      </p:sp>
      <p:sp>
        <p:nvSpPr>
          <p:cNvPr id="12" name="a1wd440_td11"/>
          <p:cNvSpPr/>
          <p:nvPr/>
        </p:nvSpPr>
        <p:spPr>
          <a:xfrm>
            <a:off x="457200" y="2606040"/>
            <a:ext cx="260604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wd440_tdt12"/>
          <p:cNvSpPr txBox="1"/>
          <p:nvPr/>
        </p:nvSpPr>
        <p:spPr>
          <a:xfrm>
            <a:off x="530352" y="2606040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GET on a replica</a:t>
            </a:r>
          </a:p>
        </p:txBody>
      </p:sp>
      <p:sp>
        <p:nvSpPr>
          <p:cNvPr id="14" name="a1wd550_td13"/>
          <p:cNvSpPr/>
          <p:nvPr/>
        </p:nvSpPr>
        <p:spPr>
          <a:xfrm>
            <a:off x="457200" y="2971800"/>
            <a:ext cx="260604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wd550_tdt14"/>
          <p:cNvSpPr txBox="1"/>
          <p:nvPr/>
        </p:nvSpPr>
        <p:spPr>
          <a:xfrm>
            <a:off x="530352" y="2971800"/>
            <a:ext cx="24963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MULTI across slots (node-redis)</a:t>
            </a:r>
          </a:p>
        </p:txBody>
      </p:sp>
      <p:sp>
        <p:nvSpPr>
          <p:cNvPr id="16" name="a1f_th15"/>
          <p:cNvSpPr/>
          <p:nvPr/>
        </p:nvSpPr>
        <p:spPr>
          <a:xfrm>
            <a:off x="3063240" y="1143000"/>
            <a:ext cx="5623560" cy="3657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1f_tht16"/>
          <p:cNvSpPr txBox="1"/>
          <p:nvPr/>
        </p:nvSpPr>
        <p:spPr>
          <a:xfrm>
            <a:off x="3136392" y="114300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On a cluster you get</a:t>
            </a:r>
          </a:p>
        </p:txBody>
      </p:sp>
      <p:sp>
        <p:nvSpPr>
          <p:cNvPr id="18" name="a1wd110_td17"/>
          <p:cNvSpPr/>
          <p:nvPr/>
        </p:nvSpPr>
        <p:spPr>
          <a:xfrm>
            <a:off x="3063240" y="1508760"/>
            <a:ext cx="5623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wd110_tdt18"/>
          <p:cNvSpPr txBox="1"/>
          <p:nvPr/>
        </p:nvSpPr>
        <p:spPr>
          <a:xfrm>
            <a:off x="3136392" y="150876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ERR SELECT is not allowed in cluster mode - only database 0</a:t>
            </a:r>
          </a:p>
        </p:txBody>
      </p:sp>
      <p:sp>
        <p:nvSpPr>
          <p:cNvPr id="20" name="a1wd220_td19"/>
          <p:cNvSpPr/>
          <p:nvPr/>
        </p:nvSpPr>
        <p:spPr>
          <a:xfrm>
            <a:off x="3063240" y="1874519"/>
            <a:ext cx="5623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1wd220_tdt20"/>
          <p:cNvSpPr txBox="1"/>
          <p:nvPr/>
        </p:nvSpPr>
        <p:spPr>
          <a:xfrm>
            <a:off x="3136392" y="1874519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only THAT node's keys: node1 none, node2 acct:1002, node3 acct:1001</a:t>
            </a:r>
          </a:p>
        </p:txBody>
      </p:sp>
      <p:sp>
        <p:nvSpPr>
          <p:cNvPr id="22" name="a1wd330_td21"/>
          <p:cNvSpPr/>
          <p:nvPr/>
        </p:nvSpPr>
        <p:spPr>
          <a:xfrm>
            <a:off x="3063240" y="2240280"/>
            <a:ext cx="5623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1wd330_tdt22"/>
          <p:cNvSpPr txBox="1"/>
          <p:nvPr/>
        </p:nvSpPr>
        <p:spPr>
          <a:xfrm>
            <a:off x="3136392" y="224028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that node's count - 1011 / 1002 / 992 after 3000 SETs</a:t>
            </a:r>
          </a:p>
        </p:txBody>
      </p:sp>
      <p:sp>
        <p:nvSpPr>
          <p:cNvPr id="24" name="a1wd440_td23"/>
          <p:cNvSpPr/>
          <p:nvPr/>
        </p:nvSpPr>
        <p:spPr>
          <a:xfrm>
            <a:off x="3063240" y="2606040"/>
            <a:ext cx="5623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1wd440_tdt24"/>
          <p:cNvSpPr txBox="1"/>
          <p:nvPr/>
        </p:nvSpPr>
        <p:spPr>
          <a:xfrm>
            <a:off x="3136392" y="260604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MOVED to its master, unless you send READONLY first</a:t>
            </a:r>
          </a:p>
        </p:txBody>
      </p:sp>
      <p:sp>
        <p:nvSpPr>
          <p:cNvPr id="26" name="a1wd550_td25"/>
          <p:cNvSpPr/>
          <p:nvPr/>
        </p:nvSpPr>
        <p:spPr>
          <a:xfrm>
            <a:off x="3063240" y="2971800"/>
            <a:ext cx="56235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wd550_tdt26"/>
          <p:cNvSpPr txBox="1"/>
          <p:nvPr/>
        </p:nvSpPr>
        <p:spPr>
          <a:xfrm>
            <a:off x="3136392" y="2971800"/>
            <a:ext cx="55138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alibri"/>
              </a:rPr>
              <a:t>MaxCommandRedirectionsError: Too many Cluster redirections</a:t>
            </a:r>
          </a:p>
        </p:txBody>
      </p:sp>
      <p:sp>
        <p:nvSpPr>
          <p:cNvPr id="28" name="a2u_nb27"/>
          <p:cNvSpPr/>
          <p:nvPr/>
        </p:nvSpPr>
        <p:spPr>
          <a:xfrm>
            <a:off x="457200" y="346557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u_nacc28"/>
          <p:cNvSpPr/>
          <p:nvPr/>
        </p:nvSpPr>
        <p:spPr>
          <a:xfrm>
            <a:off x="457200" y="3465576"/>
            <a:ext cx="5029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a2u_nt29"/>
          <p:cNvSpPr txBox="1"/>
          <p:nvPr/>
        </p:nvSpPr>
        <p:spPr>
          <a:xfrm>
            <a:off x="658368" y="3465576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!  </a:t>
            </a:r>
            <a:r>
              <a:rPr sz="1000" b="0">
                <a:solidFill>
                  <a:srgbClr val="E2E8F0"/>
                </a:solidFill>
                <a:latin typeface="Calibri"/>
              </a:rPr>
              <a:t>The server log says it on startup: "Changing databases number from 16 to 1 since we are in cluster mode". For a whole-cluster view use redis-cli --cluster info, or SCAN each master.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Building It in Docker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Six containers, one create command,
and a compose file that survives restarts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cluster-enabled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--cluster create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CLUSTER NODES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compose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Six Cluster-Enabled Containers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Same image as every other deck - four extra flags turn a server into a cluster node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bash / Git Bash / WSL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network create icici-cluster-net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32788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for i in 1 2 3 4 5 6; do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29384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docker run -d --name redis-node$i --network icici-cluster-net -p 710$i:6379 \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25980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redis:7-alpine redis-server --cluster-enabled yes \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22576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      --cluster-config-file nodes.conf --cluster-node-timeout 5000 --appendonly yes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576072" y="2519172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done</a:t>
            </a:r>
          </a:p>
        </p:txBody>
      </p:sp>
      <p:sp>
        <p:nvSpPr>
          <p:cNvPr id="12" name="a2f_th11"/>
          <p:cNvSpPr/>
          <p:nvPr/>
        </p:nvSpPr>
        <p:spPr>
          <a:xfrm>
            <a:off x="457200" y="2962656"/>
            <a:ext cx="2606040" cy="3017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tht12"/>
          <p:cNvSpPr txBox="1"/>
          <p:nvPr/>
        </p:nvSpPr>
        <p:spPr>
          <a:xfrm>
            <a:off x="530352" y="2962656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Flag</a:t>
            </a:r>
          </a:p>
        </p:txBody>
      </p:sp>
      <p:sp>
        <p:nvSpPr>
          <p:cNvPr id="14" name="a2wd100_td13"/>
          <p:cNvSpPr/>
          <p:nvPr/>
        </p:nvSpPr>
        <p:spPr>
          <a:xfrm>
            <a:off x="457200" y="3264408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wd100_tdt14"/>
          <p:cNvSpPr txBox="1"/>
          <p:nvPr/>
        </p:nvSpPr>
        <p:spPr>
          <a:xfrm>
            <a:off x="530352" y="3264408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--cluster-enabled yes</a:t>
            </a:r>
          </a:p>
        </p:txBody>
      </p:sp>
      <p:sp>
        <p:nvSpPr>
          <p:cNvPr id="16" name="a2wd200_td15"/>
          <p:cNvSpPr/>
          <p:nvPr/>
        </p:nvSpPr>
        <p:spPr>
          <a:xfrm>
            <a:off x="457200" y="3566160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wd200_tdt16"/>
          <p:cNvSpPr txBox="1"/>
          <p:nvPr/>
        </p:nvSpPr>
        <p:spPr>
          <a:xfrm>
            <a:off x="530352" y="3566160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--cluster-config-file nodes.conf</a:t>
            </a:r>
          </a:p>
        </p:txBody>
      </p:sp>
      <p:sp>
        <p:nvSpPr>
          <p:cNvPr id="18" name="a2wd300_td17"/>
          <p:cNvSpPr/>
          <p:nvPr/>
        </p:nvSpPr>
        <p:spPr>
          <a:xfrm>
            <a:off x="457200" y="3867912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wd300_tdt18"/>
          <p:cNvSpPr txBox="1"/>
          <p:nvPr/>
        </p:nvSpPr>
        <p:spPr>
          <a:xfrm>
            <a:off x="530352" y="3867912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--cluster-node-timeout 5000</a:t>
            </a:r>
          </a:p>
        </p:txBody>
      </p:sp>
      <p:sp>
        <p:nvSpPr>
          <p:cNvPr id="20" name="a2wd400_td19"/>
          <p:cNvSpPr/>
          <p:nvPr/>
        </p:nvSpPr>
        <p:spPr>
          <a:xfrm>
            <a:off x="457200" y="4169664"/>
            <a:ext cx="2606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2wd400_tdt20"/>
          <p:cNvSpPr txBox="1"/>
          <p:nvPr/>
        </p:nvSpPr>
        <p:spPr>
          <a:xfrm>
            <a:off x="530352" y="4169664"/>
            <a:ext cx="249631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--appendonly yes</a:t>
            </a:r>
          </a:p>
        </p:txBody>
      </p:sp>
      <p:sp>
        <p:nvSpPr>
          <p:cNvPr id="22" name="a2f_th21"/>
          <p:cNvSpPr/>
          <p:nvPr/>
        </p:nvSpPr>
        <p:spPr>
          <a:xfrm>
            <a:off x="3063240" y="2962656"/>
            <a:ext cx="5623560" cy="30175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2f_tht22"/>
          <p:cNvSpPr txBox="1"/>
          <p:nvPr/>
        </p:nvSpPr>
        <p:spPr>
          <a:xfrm>
            <a:off x="3136392" y="2962656"/>
            <a:ext cx="55138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24" name="a2wd100_td23"/>
          <p:cNvSpPr/>
          <p:nvPr/>
        </p:nvSpPr>
        <p:spPr>
          <a:xfrm>
            <a:off x="3063240" y="3264408"/>
            <a:ext cx="5623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2wd100_tdt24"/>
          <p:cNvSpPr txBox="1"/>
          <p:nvPr/>
        </p:nvSpPr>
        <p:spPr>
          <a:xfrm>
            <a:off x="3136392" y="3264408"/>
            <a:ext cx="55138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Run in cluster mode: slots, the bus on port 16379, db 0 only</a:t>
            </a:r>
          </a:p>
        </p:txBody>
      </p:sp>
      <p:sp>
        <p:nvSpPr>
          <p:cNvPr id="26" name="a2wd200_td25"/>
          <p:cNvSpPr/>
          <p:nvPr/>
        </p:nvSpPr>
        <p:spPr>
          <a:xfrm>
            <a:off x="3063240" y="3566160"/>
            <a:ext cx="5623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2wd200_tdt26"/>
          <p:cNvSpPr txBox="1"/>
          <p:nvPr/>
        </p:nvSpPr>
        <p:spPr>
          <a:xfrm>
            <a:off x="3136392" y="3566160"/>
            <a:ext cx="55138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Redis writes its node ID, peers and slots here - never edit it</a:t>
            </a:r>
          </a:p>
        </p:txBody>
      </p:sp>
      <p:sp>
        <p:nvSpPr>
          <p:cNvPr id="28" name="a2wd300_td27"/>
          <p:cNvSpPr/>
          <p:nvPr/>
        </p:nvSpPr>
        <p:spPr>
          <a:xfrm>
            <a:off x="3063240" y="3867912"/>
            <a:ext cx="5623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2wd300_tdt28"/>
          <p:cNvSpPr txBox="1"/>
          <p:nvPr/>
        </p:nvSpPr>
        <p:spPr>
          <a:xfrm>
            <a:off x="3136392" y="3867912"/>
            <a:ext cx="55138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ms a peer may be silent before it is suspected as failing</a:t>
            </a:r>
          </a:p>
        </p:txBody>
      </p:sp>
      <p:sp>
        <p:nvSpPr>
          <p:cNvPr id="30" name="a2wd400_td29"/>
          <p:cNvSpPr/>
          <p:nvPr/>
        </p:nvSpPr>
        <p:spPr>
          <a:xfrm>
            <a:off x="3063240" y="4169664"/>
            <a:ext cx="56235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2wd400_tdt30"/>
          <p:cNvSpPr txBox="1"/>
          <p:nvPr/>
        </p:nvSpPr>
        <p:spPr>
          <a:xfrm>
            <a:off x="3136392" y="4169664"/>
            <a:ext cx="5513832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Persistence per node - a cluster does not replace deck 6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Before the Cluster Exists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nodes started with cluster-enabled are six strangers owning zero slots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redis-node1 \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3278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    redis-cli CLUSTER INFO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29384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cluster_state:fail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25980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cluster_slots_assigned:0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576072" y="2322576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cluster_known_nodes:1</a:t>
            </a:r>
          </a:p>
        </p:txBody>
      </p:sp>
      <p:sp>
        <p:nvSpPr>
          <p:cNvPr id="11" name="a1wd450_code10"/>
          <p:cNvSpPr txBox="1"/>
          <p:nvPr/>
        </p:nvSpPr>
        <p:spPr>
          <a:xfrm>
            <a:off x="576072" y="251917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cluster_size:0</a:t>
            </a:r>
          </a:p>
        </p:txBody>
      </p:sp>
      <p:sp>
        <p:nvSpPr>
          <p:cNvPr id="12" name="a2f_codebg11"/>
          <p:cNvSpPr/>
          <p:nvPr/>
        </p:nvSpPr>
        <p:spPr>
          <a:xfrm>
            <a:off x="4709160" y="1143000"/>
            <a:ext cx="3977639" cy="1888236"/>
          </a:xfrm>
          <a:prstGeom prst="roundRect">
            <a:avLst>
              <a:gd name="adj" fmla="val 387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codeh12"/>
          <p:cNvSpPr txBox="1"/>
          <p:nvPr/>
        </p:nvSpPr>
        <p:spPr>
          <a:xfrm>
            <a:off x="4828032" y="1197864"/>
            <a:ext cx="3739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14" name="a2w_code13"/>
          <p:cNvSpPr txBox="1"/>
          <p:nvPr/>
        </p:nvSpPr>
        <p:spPr>
          <a:xfrm>
            <a:off x="4828032" y="153619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exec redis-node1 \</a:t>
            </a:r>
          </a:p>
        </p:txBody>
      </p:sp>
      <p:sp>
        <p:nvSpPr>
          <p:cNvPr id="15" name="a2wd90_code14"/>
          <p:cNvSpPr txBox="1"/>
          <p:nvPr/>
        </p:nvSpPr>
        <p:spPr>
          <a:xfrm>
            <a:off x="4828032" y="173278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    redis-cli SET icici:k v</a:t>
            </a:r>
          </a:p>
        </p:txBody>
      </p:sp>
      <p:sp>
        <p:nvSpPr>
          <p:cNvPr id="16" name="a2wd180_code15"/>
          <p:cNvSpPr txBox="1"/>
          <p:nvPr/>
        </p:nvSpPr>
        <p:spPr>
          <a:xfrm>
            <a:off x="4828032" y="1929384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FCA5A5"/>
                </a:solidFill>
                <a:latin typeface="Courier New"/>
              </a:rPr>
              <a:t>  CLUSTERDOWN Hash slot not served</a:t>
            </a:r>
          </a:p>
        </p:txBody>
      </p:sp>
      <p:sp>
        <p:nvSpPr>
          <p:cNvPr id="17" name="a2wd270_code16"/>
          <p:cNvSpPr txBox="1"/>
          <p:nvPr/>
        </p:nvSpPr>
        <p:spPr>
          <a:xfrm>
            <a:off x="4828032" y="2125980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8" name="a2wd360_code17"/>
          <p:cNvSpPr txBox="1"/>
          <p:nvPr/>
        </p:nvSpPr>
        <p:spPr>
          <a:xfrm>
            <a:off x="4828032" y="2322576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docker logs redis-node1</a:t>
            </a:r>
          </a:p>
        </p:txBody>
      </p:sp>
      <p:sp>
        <p:nvSpPr>
          <p:cNvPr id="19" name="a2wd450_code18"/>
          <p:cNvSpPr txBox="1"/>
          <p:nvPr/>
        </p:nvSpPr>
        <p:spPr>
          <a:xfrm>
            <a:off x="4828032" y="2519172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No cluster configuration found,</a:t>
            </a:r>
          </a:p>
        </p:txBody>
      </p:sp>
      <p:sp>
        <p:nvSpPr>
          <p:cNvPr id="20" name="a2wd540_code19"/>
          <p:cNvSpPr txBox="1"/>
          <p:nvPr/>
        </p:nvSpPr>
        <p:spPr>
          <a:xfrm>
            <a:off x="4828032" y="2715768"/>
            <a:ext cx="373989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I'm 8262e3b9b5e18b97...</a:t>
            </a:r>
          </a:p>
        </p:txBody>
      </p:sp>
      <p:sp>
        <p:nvSpPr>
          <p:cNvPr id="21" name="a3u_nb20"/>
          <p:cNvSpPr/>
          <p:nvPr/>
        </p:nvSpPr>
        <p:spPr>
          <a:xfrm>
            <a:off x="457200" y="31409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_nacc21"/>
          <p:cNvSpPr/>
          <p:nvPr/>
        </p:nvSpPr>
        <p:spPr>
          <a:xfrm>
            <a:off x="457200" y="3140964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t22"/>
          <p:cNvSpPr txBox="1"/>
          <p:nvPr/>
        </p:nvSpPr>
        <p:spPr>
          <a:xfrm>
            <a:off x="658368" y="3140964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Each node has already generated a permanent 40-character node ID and saved it in nodes.conf. Nodes are identified by that ID from now on - not by container name and not by IP.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redis-cli --cluster create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One command assigns the slots, pairs replicas with masters, and introduces everyone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574036"/>
          </a:xfrm>
          <a:prstGeom prst="roundRect">
            <a:avLst>
              <a:gd name="adj" fmla="val 2841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Redis 7.4.11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redis-node1 redis-cli --cluster create redis-node1:6379 redis-node2:6379 \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76072" y="172364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redis-node3:6379 redis-node4:6379 redis-node5:6379 redis-node6:6379 \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76072" y="191109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--cluster-replicas 1 --cluster-yes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76072" y="209854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>&gt;&gt;&gt; Performing hash slots allocation on 6 nodes...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76072" y="228600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Master[0] -&gt; Slots 0 - 5460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76072" y="247345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Master[1] -&gt; Slots 5461 - 10922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76072" y="266090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Master[2] -&gt; Slots 10923 - 16383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76072" y="284835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Adding replica redis-node5:6379 to redis-node1:6379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76072" y="303580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Adding replica redis-node6:6379 to redis-node2:6379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576072" y="322326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Adding replica redis-node4:6379 to redis-node3:6379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576072" y="341071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[OK] All 16384 slots covered.</a:t>
            </a:r>
          </a:p>
        </p:txBody>
      </p:sp>
      <p:sp>
        <p:nvSpPr>
          <p:cNvPr id="17" name="a2u_nb16"/>
          <p:cNvSpPr/>
          <p:nvPr/>
        </p:nvSpPr>
        <p:spPr>
          <a:xfrm>
            <a:off x="457200" y="3826763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acc17"/>
          <p:cNvSpPr/>
          <p:nvPr/>
        </p:nvSpPr>
        <p:spPr>
          <a:xfrm>
            <a:off x="457200" y="3826763"/>
            <a:ext cx="50292" cy="5486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t18"/>
          <p:cNvSpPr txBox="1"/>
          <p:nvPr/>
        </p:nvSpPr>
        <p:spPr>
          <a:xfrm>
            <a:off x="658368" y="3826763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  <a:latin typeface="Calibri"/>
              </a:rPr>
              <a:t>i  </a:t>
            </a:r>
            <a:r>
              <a:rPr sz="1000" b="0">
                <a:solidFill>
                  <a:srgbClr val="E2E8F0"/>
                </a:solidFill>
                <a:latin typeface="Calibri"/>
              </a:rPr>
              <a:t>--cluster-replicas 1 means one replica per master, so the first three nodes listed become masters. The pairing is redis-cli's own choice - here node5 -&gt; node1, node6 -&gt; node2, node4 -&gt; node3, not the order typed. Read the output rather than assuming.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Reading CLUSTER INFO and CLUSTER NODES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two commands that tell you whether the cluster is healthy - and who owns what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2514600" cy="1618488"/>
          </a:xfrm>
          <a:prstGeom prst="roundRect">
            <a:avLst>
              <a:gd name="adj" fmla="val 451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2295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CLUSTER INFO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cluster_state:ok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66928" y="1714500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cluster_slots_assigned:16384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66928" y="1901952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cluster_slots_ok:16384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66928" y="2089404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cluster_known_nodes:6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66928" y="2276856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cluster_size:3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66928" y="2464308"/>
            <a:ext cx="2295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cluster_current_epoch:6</a:t>
            </a:r>
          </a:p>
        </p:txBody>
      </p:sp>
      <p:sp>
        <p:nvSpPr>
          <p:cNvPr id="12" name="a2f_codebg11"/>
          <p:cNvSpPr/>
          <p:nvPr/>
        </p:nvSpPr>
        <p:spPr>
          <a:xfrm>
            <a:off x="3108960" y="1143000"/>
            <a:ext cx="5577840" cy="1618488"/>
          </a:xfrm>
          <a:prstGeom prst="roundRect">
            <a:avLst>
              <a:gd name="adj" fmla="val 451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f_codeh12"/>
          <p:cNvSpPr txBox="1"/>
          <p:nvPr/>
        </p:nvSpPr>
        <p:spPr>
          <a:xfrm>
            <a:off x="3218688" y="1197864"/>
            <a:ext cx="53583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CLUSTER NODES (3 of 6 lines, IDs cut)</a:t>
            </a:r>
          </a:p>
        </p:txBody>
      </p:sp>
      <p:sp>
        <p:nvSpPr>
          <p:cNvPr id="14" name="a2w_code13"/>
          <p:cNvSpPr txBox="1"/>
          <p:nvPr/>
        </p:nvSpPr>
        <p:spPr>
          <a:xfrm>
            <a:off x="3218688" y="1527048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8262e3b9... 172.18.0.2:6379@16379 myself,master</a:t>
            </a:r>
          </a:p>
        </p:txBody>
      </p:sp>
      <p:sp>
        <p:nvSpPr>
          <p:cNvPr id="15" name="a2wd80_code14"/>
          <p:cNvSpPr txBox="1"/>
          <p:nvPr/>
        </p:nvSpPr>
        <p:spPr>
          <a:xfrm>
            <a:off x="3218688" y="1714500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  - 0 0 1 connected 0-5460</a:t>
            </a:r>
          </a:p>
        </p:txBody>
      </p:sp>
      <p:sp>
        <p:nvSpPr>
          <p:cNvPr id="16" name="a2wd160_code15"/>
          <p:cNvSpPr txBox="1"/>
          <p:nvPr/>
        </p:nvSpPr>
        <p:spPr>
          <a:xfrm>
            <a:off x="3218688" y="1901952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b7e17bae... 172.18.0.3:6379@16379 master</a:t>
            </a:r>
          </a:p>
        </p:txBody>
      </p:sp>
      <p:sp>
        <p:nvSpPr>
          <p:cNvPr id="17" name="a2wd240_code16"/>
          <p:cNvSpPr txBox="1"/>
          <p:nvPr/>
        </p:nvSpPr>
        <p:spPr>
          <a:xfrm>
            <a:off x="3218688" y="2089404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  - 0 1790214645548 2 connected 5461-10922</a:t>
            </a:r>
          </a:p>
        </p:txBody>
      </p:sp>
      <p:sp>
        <p:nvSpPr>
          <p:cNvPr id="18" name="a2wd320_code17"/>
          <p:cNvSpPr txBox="1"/>
          <p:nvPr/>
        </p:nvSpPr>
        <p:spPr>
          <a:xfrm>
            <a:off x="3218688" y="2276856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7bd7d3dc... 172.18.0.6:6379@16379 slave 8262e3b9...</a:t>
            </a:r>
          </a:p>
        </p:txBody>
      </p:sp>
      <p:sp>
        <p:nvSpPr>
          <p:cNvPr id="19" name="a2wd400_code18"/>
          <p:cNvSpPr txBox="1"/>
          <p:nvPr/>
        </p:nvSpPr>
        <p:spPr>
          <a:xfrm>
            <a:off x="3218688" y="2464308"/>
            <a:ext cx="53583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14B8A6"/>
                </a:solidFill>
                <a:latin typeface="Courier New"/>
              </a:rPr>
              <a:t>    0 1790214644942 1 connected</a:t>
            </a:r>
          </a:p>
        </p:txBody>
      </p:sp>
      <p:sp>
        <p:nvSpPr>
          <p:cNvPr id="20" name="a3f_th19"/>
          <p:cNvSpPr/>
          <p:nvPr/>
        </p:nvSpPr>
        <p:spPr>
          <a:xfrm>
            <a:off x="457200" y="2889504"/>
            <a:ext cx="2514600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f_tht20"/>
          <p:cNvSpPr txBox="1"/>
          <p:nvPr/>
        </p:nvSpPr>
        <p:spPr>
          <a:xfrm>
            <a:off x="530352" y="2889504"/>
            <a:ext cx="2404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CLUSTER NODES field</a:t>
            </a:r>
          </a:p>
        </p:txBody>
      </p:sp>
      <p:sp>
        <p:nvSpPr>
          <p:cNvPr id="22" name="a3wd100_td21"/>
          <p:cNvSpPr/>
          <p:nvPr/>
        </p:nvSpPr>
        <p:spPr>
          <a:xfrm>
            <a:off x="457200" y="3182112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wd100_tdt22"/>
          <p:cNvSpPr txBox="1"/>
          <p:nvPr/>
        </p:nvSpPr>
        <p:spPr>
          <a:xfrm>
            <a:off x="530352" y="3182112"/>
            <a:ext cx="2404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id  ip:port@busport</a:t>
            </a:r>
          </a:p>
        </p:txBody>
      </p:sp>
      <p:sp>
        <p:nvSpPr>
          <p:cNvPr id="24" name="a3wd200_td23"/>
          <p:cNvSpPr/>
          <p:nvPr/>
        </p:nvSpPr>
        <p:spPr>
          <a:xfrm>
            <a:off x="457200" y="3474720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a3wd200_tdt24"/>
          <p:cNvSpPr txBox="1"/>
          <p:nvPr/>
        </p:nvSpPr>
        <p:spPr>
          <a:xfrm>
            <a:off x="530352" y="3474720"/>
            <a:ext cx="2404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flags  master-id</a:t>
            </a:r>
          </a:p>
        </p:txBody>
      </p:sp>
      <p:sp>
        <p:nvSpPr>
          <p:cNvPr id="26" name="a3wd300_td25"/>
          <p:cNvSpPr/>
          <p:nvPr/>
        </p:nvSpPr>
        <p:spPr>
          <a:xfrm>
            <a:off x="457200" y="3767328"/>
            <a:ext cx="25146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3wd300_tdt26"/>
          <p:cNvSpPr txBox="1"/>
          <p:nvPr/>
        </p:nvSpPr>
        <p:spPr>
          <a:xfrm>
            <a:off x="530352" y="3767328"/>
            <a:ext cx="24048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config-epoch  link  slots</a:t>
            </a:r>
          </a:p>
        </p:txBody>
      </p:sp>
      <p:sp>
        <p:nvSpPr>
          <p:cNvPr id="28" name="a3f_th27"/>
          <p:cNvSpPr/>
          <p:nvPr/>
        </p:nvSpPr>
        <p:spPr>
          <a:xfrm>
            <a:off x="2971800" y="2889504"/>
            <a:ext cx="5715000" cy="29260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3f_tht28"/>
          <p:cNvSpPr txBox="1"/>
          <p:nvPr/>
        </p:nvSpPr>
        <p:spPr>
          <a:xfrm>
            <a:off x="3044952" y="2889504"/>
            <a:ext cx="56052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30" name="a3wd100_td29"/>
          <p:cNvSpPr/>
          <p:nvPr/>
        </p:nvSpPr>
        <p:spPr>
          <a:xfrm>
            <a:off x="2971800" y="3182112"/>
            <a:ext cx="5715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a3wd100_tdt30"/>
          <p:cNvSpPr txBox="1"/>
          <p:nvPr/>
        </p:nvSpPr>
        <p:spPr>
          <a:xfrm>
            <a:off x="3044952" y="3182112"/>
            <a:ext cx="56052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permanent node ID, then client port and cluster-bus port</a:t>
            </a:r>
          </a:p>
        </p:txBody>
      </p:sp>
      <p:sp>
        <p:nvSpPr>
          <p:cNvPr id="32" name="a3wd200_td31"/>
          <p:cNvSpPr/>
          <p:nvPr/>
        </p:nvSpPr>
        <p:spPr>
          <a:xfrm>
            <a:off x="2971800" y="3474720"/>
            <a:ext cx="5715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wd200_tdt32"/>
          <p:cNvSpPr txBox="1"/>
          <p:nvPr/>
        </p:nvSpPr>
        <p:spPr>
          <a:xfrm>
            <a:off x="3044952" y="3474720"/>
            <a:ext cx="56052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myself / master / slave / fail; a replica names its master's ID</a:t>
            </a:r>
          </a:p>
        </p:txBody>
      </p:sp>
      <p:sp>
        <p:nvSpPr>
          <p:cNvPr id="34" name="a3wd300_td33"/>
          <p:cNvSpPr/>
          <p:nvPr/>
        </p:nvSpPr>
        <p:spPr>
          <a:xfrm>
            <a:off x="2971800" y="3767328"/>
            <a:ext cx="57150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a3wd300_tdt34"/>
          <p:cNvSpPr txBox="1"/>
          <p:nvPr/>
        </p:nvSpPr>
        <p:spPr>
          <a:xfrm>
            <a:off x="3044952" y="3767328"/>
            <a:ext cx="560527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who won the latest election; connected; slot ranges owned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Compose Version - Built to Survive Restarts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cluster_docker/docker-compose.yml: what it adds over six docker run commands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97864"/>
            <a:ext cx="26090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97864"/>
            <a:ext cx="2609088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60_ic5"/>
          <p:cNvSpPr/>
          <p:nvPr/>
        </p:nvSpPr>
        <p:spPr>
          <a:xfrm>
            <a:off x="621792" y="139903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60_ict6"/>
          <p:cNvSpPr txBox="1"/>
          <p:nvPr/>
        </p:nvSpPr>
        <p:spPr>
          <a:xfrm>
            <a:off x="621792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74519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Fixed IPs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48839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ipv4_address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04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bus remembers peers by IP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8892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Pinned, nodes.conf stays true</a:t>
            </a:r>
          </a:p>
        </p:txBody>
      </p:sp>
      <p:sp>
        <p:nvSpPr>
          <p:cNvPr id="12" name="a2u_card11"/>
          <p:cNvSpPr/>
          <p:nvPr/>
        </p:nvSpPr>
        <p:spPr>
          <a:xfrm>
            <a:off x="3267456" y="1197864"/>
            <a:ext cx="26090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2u_acc12"/>
          <p:cNvSpPr/>
          <p:nvPr/>
        </p:nvSpPr>
        <p:spPr>
          <a:xfrm>
            <a:off x="3267456" y="1197864"/>
            <a:ext cx="2609088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ud60_ic13"/>
          <p:cNvSpPr/>
          <p:nvPr/>
        </p:nvSpPr>
        <p:spPr>
          <a:xfrm>
            <a:off x="3432048" y="139903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ud60_ict14"/>
          <p:cNvSpPr txBox="1"/>
          <p:nvPr/>
        </p:nvSpPr>
        <p:spPr>
          <a:xfrm>
            <a:off x="3432048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3432048" y="1874519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 volume per node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3432048" y="2148839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/data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3432048" y="2404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Holds nodes.conf and the AOF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3432048" y="278892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Lose it = node forgets the cluster</a:t>
            </a:r>
          </a:p>
        </p:txBody>
      </p:sp>
      <p:sp>
        <p:nvSpPr>
          <p:cNvPr id="20" name="a3u_card19"/>
          <p:cNvSpPr/>
          <p:nvPr/>
        </p:nvSpPr>
        <p:spPr>
          <a:xfrm>
            <a:off x="6077712" y="1197864"/>
            <a:ext cx="26090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a3u_acc20"/>
          <p:cNvSpPr/>
          <p:nvPr/>
        </p:nvSpPr>
        <p:spPr>
          <a:xfrm>
            <a:off x="6077712" y="1197864"/>
            <a:ext cx="2609088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a3ud60_ic21"/>
          <p:cNvSpPr/>
          <p:nvPr/>
        </p:nvSpPr>
        <p:spPr>
          <a:xfrm>
            <a:off x="6242304" y="1399032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d60_ict22"/>
          <p:cNvSpPr txBox="1"/>
          <p:nvPr/>
        </p:nvSpPr>
        <p:spPr>
          <a:xfrm>
            <a:off x="6242304" y="13990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6242304" y="1874519"/>
            <a:ext cx="227990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 one-shot init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6242304" y="2148839"/>
            <a:ext cx="22799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cluster-init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6242304" y="2404872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Waits for 6 healthy nodes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6242304" y="2788920"/>
            <a:ext cx="227990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Creates once, skips after</a:t>
            </a:r>
          </a:p>
        </p:txBody>
      </p:sp>
      <p:sp>
        <p:nvSpPr>
          <p:cNvPr id="28" name="a4f_codebg27"/>
          <p:cNvSpPr/>
          <p:nvPr/>
        </p:nvSpPr>
        <p:spPr>
          <a:xfrm>
            <a:off x="457200" y="3044952"/>
            <a:ext cx="8229600" cy="1101852"/>
          </a:xfrm>
          <a:prstGeom prst="roundRect">
            <a:avLst>
              <a:gd name="adj" fmla="val 663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a4f_codeh28"/>
          <p:cNvSpPr txBox="1"/>
          <p:nvPr/>
        </p:nvSpPr>
        <p:spPr>
          <a:xfrm>
            <a:off x="576072" y="3099816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30" name="a4w_code29"/>
          <p:cNvSpPr txBox="1"/>
          <p:nvPr/>
        </p:nvSpPr>
        <p:spPr>
          <a:xfrm>
            <a:off x="576072" y="3438144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compose down ; docker compose up -d        # containers destroyed and recreated</a:t>
            </a:r>
          </a:p>
        </p:txBody>
      </p:sp>
      <p:sp>
        <p:nvSpPr>
          <p:cNvPr id="31" name="a4wd90_code30"/>
          <p:cNvSpPr txBox="1"/>
          <p:nvPr/>
        </p:nvSpPr>
        <p:spPr>
          <a:xfrm>
            <a:off x="576072" y="3634739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cluster-init: cluster already formed - nothing to do</a:t>
            </a:r>
          </a:p>
        </p:txBody>
      </p:sp>
      <p:sp>
        <p:nvSpPr>
          <p:cNvPr id="32" name="a4wd180_code31"/>
          <p:cNvSpPr txBox="1"/>
          <p:nvPr/>
        </p:nvSpPr>
        <p:spPr>
          <a:xfrm>
            <a:off x="576072" y="3831335"/>
            <a:ext cx="7991856" cy="1965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cluster_state:ok   same node id: yes   [OK] 3001 keys in 3 masters.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Failure and Failover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the cluster does on its own when a master dies - and when it cannot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node-timeout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election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CLUSTER FAILOVER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full coverage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Automatic Failover, Timed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docker stop redis-node1 - and nobody touches anything after that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481328"/>
          </a:xfrm>
          <a:prstGeom prst="roundRect">
            <a:avLst>
              <a:gd name="adj" fmla="val 6172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621792" y="1271016"/>
            <a:ext cx="178308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sn5"/>
          <p:cNvSpPr txBox="1"/>
          <p:nvPr/>
        </p:nvSpPr>
        <p:spPr>
          <a:xfrm>
            <a:off x="62179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+0.0 s  ·  down</a:t>
            </a:r>
          </a:p>
        </p:txBody>
      </p:sp>
      <p:sp>
        <p:nvSpPr>
          <p:cNvPr id="7" name="a1ud60_sd6"/>
          <p:cNvSpPr txBox="1"/>
          <p:nvPr/>
        </p:nvSpPr>
        <p:spPr>
          <a:xfrm>
            <a:off x="621792" y="1636776"/>
            <a:ext cx="17830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node1 (master, slots 0-5460) shuts down. Its replica node5 loses the link and keeps retrying.</a:t>
            </a:r>
          </a:p>
        </p:txBody>
      </p:sp>
      <p:sp>
        <p:nvSpPr>
          <p:cNvPr id="8" name="a1ud120_acc7"/>
          <p:cNvSpPr/>
          <p:nvPr/>
        </p:nvSpPr>
        <p:spPr>
          <a:xfrm>
            <a:off x="2633472" y="1271016"/>
            <a:ext cx="178308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50_sn8"/>
          <p:cNvSpPr txBox="1"/>
          <p:nvPr/>
        </p:nvSpPr>
        <p:spPr>
          <a:xfrm>
            <a:off x="263347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+6.9 s  ·  FAIL</a:t>
            </a:r>
          </a:p>
        </p:txBody>
      </p:sp>
      <p:sp>
        <p:nvSpPr>
          <p:cNvPr id="10" name="a1ud180_sd9"/>
          <p:cNvSpPr txBox="1"/>
          <p:nvPr/>
        </p:nvSpPr>
        <p:spPr>
          <a:xfrm>
            <a:off x="2633472" y="1636776"/>
            <a:ext cx="17830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node-timeout (5 s) passes; masters agree: "Marking node ... as failing (quorum reached)". Cluster state: fail.</a:t>
            </a:r>
          </a:p>
        </p:txBody>
      </p:sp>
      <p:sp>
        <p:nvSpPr>
          <p:cNvPr id="11" name="a1ud240_acc10"/>
          <p:cNvSpPr/>
          <p:nvPr/>
        </p:nvSpPr>
        <p:spPr>
          <a:xfrm>
            <a:off x="4645152" y="1271016"/>
            <a:ext cx="17830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70_sn11"/>
          <p:cNvSpPr txBox="1"/>
          <p:nvPr/>
        </p:nvSpPr>
        <p:spPr>
          <a:xfrm>
            <a:off x="464515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+7.9 s  ·  vote</a:t>
            </a:r>
          </a:p>
        </p:txBody>
      </p:sp>
      <p:sp>
        <p:nvSpPr>
          <p:cNvPr id="13" name="a1ud300_sd12"/>
          <p:cNvSpPr txBox="1"/>
          <p:nvPr/>
        </p:nvSpPr>
        <p:spPr>
          <a:xfrm>
            <a:off x="4645152" y="1636776"/>
            <a:ext cx="17830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node5 waited out "Start of election delayed for 808 milliseconds", then asks the masters for votes for epoch 7.</a:t>
            </a:r>
          </a:p>
        </p:txBody>
      </p:sp>
      <p:sp>
        <p:nvSpPr>
          <p:cNvPr id="14" name="a1ud360_acc13"/>
          <p:cNvSpPr/>
          <p:nvPr/>
        </p:nvSpPr>
        <p:spPr>
          <a:xfrm>
            <a:off x="6656832" y="1271016"/>
            <a:ext cx="17830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1ud390_sn14"/>
          <p:cNvSpPr txBox="1"/>
          <p:nvPr/>
        </p:nvSpPr>
        <p:spPr>
          <a:xfrm>
            <a:off x="6656832" y="1362456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+8.0 s  ·  ok</a:t>
            </a:r>
          </a:p>
        </p:txBody>
      </p:sp>
      <p:sp>
        <p:nvSpPr>
          <p:cNvPr id="16" name="a1ud420_sd15"/>
          <p:cNvSpPr txBox="1"/>
          <p:nvPr/>
        </p:nvSpPr>
        <p:spPr>
          <a:xfrm>
            <a:off x="6656832" y="1636776"/>
            <a:ext cx="178308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CBD5E1"/>
                </a:solidFill>
                <a:latin typeface="Calibri"/>
              </a:rPr>
              <a:t>"Failover election won: I'm the new master." Slots 0-5460 served again; cluster state: ok.</a:t>
            </a:r>
          </a:p>
        </p:txBody>
      </p:sp>
      <p:sp>
        <p:nvSpPr>
          <p:cNvPr id="17" name="a2f_codebg16"/>
          <p:cNvSpPr/>
          <p:nvPr/>
        </p:nvSpPr>
        <p:spPr>
          <a:xfrm>
            <a:off x="457200" y="2752344"/>
            <a:ext cx="8229600" cy="1431036"/>
          </a:xfrm>
          <a:prstGeom prst="roundRect">
            <a:avLst>
              <a:gd name="adj" fmla="val 5111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f_codeh17"/>
          <p:cNvSpPr txBox="1"/>
          <p:nvPr/>
        </p:nvSpPr>
        <p:spPr>
          <a:xfrm>
            <a:off x="566928" y="2807208"/>
            <a:ext cx="801014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the real log lines - node5 lost node1 at 01:51:55.657</a:t>
            </a:r>
          </a:p>
        </p:txBody>
      </p:sp>
      <p:sp>
        <p:nvSpPr>
          <p:cNvPr id="19" name="a2w_code18"/>
          <p:cNvSpPr txBox="1"/>
          <p:nvPr/>
        </p:nvSpPr>
        <p:spPr>
          <a:xfrm>
            <a:off x="566928" y="3136391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01:52:02.532  Marking node 8262e3b9... as failing (quorum reached).   # node2</a:t>
            </a:r>
          </a:p>
        </p:txBody>
      </p:sp>
      <p:sp>
        <p:nvSpPr>
          <p:cNvPr id="20" name="a2wd90_code19"/>
          <p:cNvSpPr txBox="1"/>
          <p:nvPr/>
        </p:nvSpPr>
        <p:spPr>
          <a:xfrm>
            <a:off x="566928" y="3323844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  <a:latin typeface="Courier New"/>
              </a:rPr>
              <a:t>01:52:02.532  Cluster state changed: fail                             # node2</a:t>
            </a:r>
          </a:p>
        </p:txBody>
      </p:sp>
      <p:sp>
        <p:nvSpPr>
          <p:cNvPr id="21" name="a2wd180_code20"/>
          <p:cNvSpPr txBox="1"/>
          <p:nvPr/>
        </p:nvSpPr>
        <p:spPr>
          <a:xfrm>
            <a:off x="566928" y="3511296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01:52:03.635  Failover auth granted to 7bd7d3dc... for epoch 7        # node2 votes</a:t>
            </a:r>
          </a:p>
        </p:txBody>
      </p:sp>
      <p:sp>
        <p:nvSpPr>
          <p:cNvPr id="22" name="a2wd270_code21"/>
          <p:cNvSpPr txBox="1"/>
          <p:nvPr/>
        </p:nvSpPr>
        <p:spPr>
          <a:xfrm>
            <a:off x="566928" y="3698748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01:52:03.660  Failover election won: I'm the new master.              # node5</a:t>
            </a:r>
          </a:p>
        </p:txBody>
      </p:sp>
      <p:sp>
        <p:nvSpPr>
          <p:cNvPr id="23" name="a2wd360_code22"/>
          <p:cNvSpPr txBox="1"/>
          <p:nvPr/>
        </p:nvSpPr>
        <p:spPr>
          <a:xfrm>
            <a:off x="566928" y="3886200"/>
            <a:ext cx="80101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01:52:03.674  Cluster state changed: ok                               # node2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Old Master Returns - and a Planned Switch-Back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No manual REPLICAOF needed: the cluster reconfigures the returning node itself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start redis-node1                      # its log, 2 ms after "Ready to accept"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576072" y="1728216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Configuration change detected. Reconfiguring myself as a replica of 7bd7d3dc...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576072" y="1920240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Trying a partial resynchronization (request d941eb26...:1).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576072" y="2112264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Full resync from master: ab098575...:43949</a:t>
            </a:r>
          </a:p>
        </p:txBody>
      </p:sp>
      <p:sp>
        <p:nvSpPr>
          <p:cNvPr id="10" name="a2f_codebg9"/>
          <p:cNvSpPr/>
          <p:nvPr/>
        </p:nvSpPr>
        <p:spPr>
          <a:xfrm>
            <a:off x="457200" y="2514600"/>
            <a:ext cx="3977639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a2f_codeh10"/>
          <p:cNvSpPr txBox="1"/>
          <p:nvPr/>
        </p:nvSpPr>
        <p:spPr>
          <a:xfrm>
            <a:off x="566928" y="25694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sent to the REPLICA</a:t>
            </a:r>
          </a:p>
        </p:txBody>
      </p:sp>
      <p:sp>
        <p:nvSpPr>
          <p:cNvPr id="12" name="a2w_code11"/>
          <p:cNvSpPr txBox="1"/>
          <p:nvPr/>
        </p:nvSpPr>
        <p:spPr>
          <a:xfrm>
            <a:off x="566928" y="289864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redis-node1 \</a:t>
            </a:r>
          </a:p>
        </p:txBody>
      </p:sp>
      <p:sp>
        <p:nvSpPr>
          <p:cNvPr id="13" name="a2wd90_code12"/>
          <p:cNvSpPr txBox="1"/>
          <p:nvPr/>
        </p:nvSpPr>
        <p:spPr>
          <a:xfrm>
            <a:off x="566928" y="3090672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redis-cli CLUSTER FAILOVER</a:t>
            </a:r>
          </a:p>
        </p:txBody>
      </p:sp>
      <p:sp>
        <p:nvSpPr>
          <p:cNvPr id="14" name="a2wd180_code13"/>
          <p:cNvSpPr txBox="1"/>
          <p:nvPr/>
        </p:nvSpPr>
        <p:spPr>
          <a:xfrm>
            <a:off x="566928" y="3282696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OK</a:t>
            </a:r>
          </a:p>
        </p:txBody>
      </p:sp>
      <p:sp>
        <p:nvSpPr>
          <p:cNvPr id="15" name="a2wd270_code14"/>
          <p:cNvSpPr txBox="1"/>
          <p:nvPr/>
        </p:nvSpPr>
        <p:spPr>
          <a:xfrm>
            <a:off x="566928" y="3474720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node1 role:master  node5 role:slave</a:t>
            </a:r>
          </a:p>
        </p:txBody>
      </p:sp>
      <p:sp>
        <p:nvSpPr>
          <p:cNvPr id="16" name="a3f_codebg15"/>
          <p:cNvSpPr/>
          <p:nvPr/>
        </p:nvSpPr>
        <p:spPr>
          <a:xfrm>
            <a:off x="4709160" y="2514600"/>
            <a:ext cx="3977639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3f_codeh16"/>
          <p:cNvSpPr txBox="1"/>
          <p:nvPr/>
        </p:nvSpPr>
        <p:spPr>
          <a:xfrm>
            <a:off x="4818888" y="25694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sent to a master</a:t>
            </a:r>
          </a:p>
        </p:txBody>
      </p:sp>
      <p:sp>
        <p:nvSpPr>
          <p:cNvPr id="18" name="a3w_code17"/>
          <p:cNvSpPr txBox="1"/>
          <p:nvPr/>
        </p:nvSpPr>
        <p:spPr>
          <a:xfrm>
            <a:off x="4818888" y="289864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redis-node2 \</a:t>
            </a:r>
          </a:p>
        </p:txBody>
      </p:sp>
      <p:sp>
        <p:nvSpPr>
          <p:cNvPr id="19" name="a3wd90_code18"/>
          <p:cNvSpPr txBox="1"/>
          <p:nvPr/>
        </p:nvSpPr>
        <p:spPr>
          <a:xfrm>
            <a:off x="4818888" y="3090672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redis-cli CLUSTER FAILOVER</a:t>
            </a:r>
          </a:p>
        </p:txBody>
      </p:sp>
      <p:sp>
        <p:nvSpPr>
          <p:cNvPr id="20" name="a3wd180_code19"/>
          <p:cNvSpPr txBox="1"/>
          <p:nvPr/>
        </p:nvSpPr>
        <p:spPr>
          <a:xfrm>
            <a:off x="4818888" y="3282696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ERR You should send CLUSTER</a:t>
            </a:r>
          </a:p>
        </p:txBody>
      </p:sp>
      <p:sp>
        <p:nvSpPr>
          <p:cNvPr id="21" name="a3wd270_code20"/>
          <p:cNvSpPr txBox="1"/>
          <p:nvPr/>
        </p:nvSpPr>
        <p:spPr>
          <a:xfrm>
            <a:off x="4818888" y="3474720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FAILOVER to a replica</a:t>
            </a:r>
          </a:p>
        </p:txBody>
      </p:sp>
      <p:sp>
        <p:nvSpPr>
          <p:cNvPr id="22" name="a4u_nb21"/>
          <p:cNvSpPr/>
          <p:nvPr/>
        </p:nvSpPr>
        <p:spPr>
          <a:xfrm>
            <a:off x="457200" y="3886200"/>
            <a:ext cx="8229600" cy="4754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4u_nacc22"/>
          <p:cNvSpPr/>
          <p:nvPr/>
        </p:nvSpPr>
        <p:spPr>
          <a:xfrm>
            <a:off x="457200" y="3886200"/>
            <a:ext cx="5029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4u_nt23"/>
          <p:cNvSpPr txBox="1"/>
          <p:nvPr/>
        </p:nvSpPr>
        <p:spPr>
          <a:xfrm>
            <a:off x="658368" y="3886200"/>
            <a:ext cx="782726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A manual CLUSTER FAILOVER waits until the replica has processed the master's whole stream, then swaps - no writes lost. Use it for maintenance; automatic failover is for accidents.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When a Whole Shard Is Gone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Stop a master AND its replica - the cluster refuses every key, not just that shard's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837943"/>
          </a:xfrm>
          <a:prstGeom prst="roundRect">
            <a:avLst>
              <a:gd name="adj" fmla="val 39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slot 2022 is on healthy node1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stop redis-node2 redis-node6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566928" y="1719072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CLUSTER INFO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566928" y="1911095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cluster_state:fail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566928" y="2103120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cluster_slots_ok:10923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566928" y="2295144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cluster_slots_fail:5461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566928" y="248716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-c GET {icici:cust:42}:profile</a:t>
            </a:r>
          </a:p>
        </p:txBody>
      </p:sp>
      <p:sp>
        <p:nvSpPr>
          <p:cNvPr id="12" name="a1wd510_code11"/>
          <p:cNvSpPr txBox="1"/>
          <p:nvPr/>
        </p:nvSpPr>
        <p:spPr>
          <a:xfrm>
            <a:off x="566928" y="2679191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CLUSTERDOWN The cluster is down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09160" y="1143000"/>
            <a:ext cx="3977639" cy="1837943"/>
          </a:xfrm>
          <a:prstGeom prst="roundRect">
            <a:avLst>
              <a:gd name="adj" fmla="val 398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81888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on every surviving node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818888" y="152704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CONFIG SET cluster-require-full-coverage no</a:t>
            </a:r>
          </a:p>
        </p:txBody>
      </p:sp>
      <p:sp>
        <p:nvSpPr>
          <p:cNvPr id="16" name="a2wd85_code15"/>
          <p:cNvSpPr txBox="1"/>
          <p:nvPr/>
        </p:nvSpPr>
        <p:spPr>
          <a:xfrm>
            <a:off x="4818888" y="1719072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CLUSTER INFO</a:t>
            </a:r>
          </a:p>
        </p:txBody>
      </p:sp>
      <p:sp>
        <p:nvSpPr>
          <p:cNvPr id="17" name="a2wd170_code16"/>
          <p:cNvSpPr txBox="1"/>
          <p:nvPr/>
        </p:nvSpPr>
        <p:spPr>
          <a:xfrm>
            <a:off x="4818888" y="1911095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cluster_state:ok</a:t>
            </a:r>
          </a:p>
        </p:txBody>
      </p:sp>
      <p:sp>
        <p:nvSpPr>
          <p:cNvPr id="18" name="a2wd255_code17"/>
          <p:cNvSpPr txBox="1"/>
          <p:nvPr/>
        </p:nvSpPr>
        <p:spPr>
          <a:xfrm>
            <a:off x="4818888" y="2103120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-c GET {icici:cust:42}:profile</a:t>
            </a:r>
          </a:p>
        </p:txBody>
      </p:sp>
      <p:sp>
        <p:nvSpPr>
          <p:cNvPr id="19" name="a2wd340_code18"/>
          <p:cNvSpPr txBox="1"/>
          <p:nvPr/>
        </p:nvSpPr>
        <p:spPr>
          <a:xfrm>
            <a:off x="4818888" y="2295144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Asha</a:t>
            </a:r>
          </a:p>
        </p:txBody>
      </p:sp>
      <p:sp>
        <p:nvSpPr>
          <p:cNvPr id="20" name="a2wd425_code19"/>
          <p:cNvSpPr txBox="1"/>
          <p:nvPr/>
        </p:nvSpPr>
        <p:spPr>
          <a:xfrm>
            <a:off x="4818888" y="2487168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-c GET icici:acct:1002</a:t>
            </a:r>
          </a:p>
        </p:txBody>
      </p:sp>
      <p:sp>
        <p:nvSpPr>
          <p:cNvPr id="21" name="a2wd510_code20"/>
          <p:cNvSpPr txBox="1"/>
          <p:nvPr/>
        </p:nvSpPr>
        <p:spPr>
          <a:xfrm>
            <a:off x="4818888" y="2679191"/>
            <a:ext cx="3758183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Could not connect ... Host is unreachable</a:t>
            </a:r>
          </a:p>
        </p:txBody>
      </p:sp>
      <p:sp>
        <p:nvSpPr>
          <p:cNvPr id="22" name="a3u_nb21"/>
          <p:cNvSpPr/>
          <p:nvPr/>
        </p:nvSpPr>
        <p:spPr>
          <a:xfrm>
            <a:off x="457200" y="3090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acc22"/>
          <p:cNvSpPr/>
          <p:nvPr/>
        </p:nvSpPr>
        <p:spPr>
          <a:xfrm>
            <a:off x="457200" y="3090672"/>
            <a:ext cx="5029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658368" y="3090672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default (yes) is the safe choice: a cluster missing a third of its data stops, instead of silently answering "key not found". Turn it off only if partial service is better than none for your use case. Both nodes restarted: all 16384 slots ok, no data lost.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Reading From Replicas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Replicas redirect reads too - until a connection opts in with READONLY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386584"/>
          </a:xfrm>
          <a:prstGeom prst="roundRect">
            <a:avLst>
              <a:gd name="adj" fmla="val 306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docker exec -i redis-node5 redis-cli    # node5 replicates node1, owner of slot 2022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76072" y="172364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GET {icici:cust:42}:profile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76072" y="191109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MOVED 2022 172.18.0.2:6379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76072" y="209854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READONLY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76072" y="228600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OK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76072" y="247345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GET {icici:cust:42}:profile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76072" y="266090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Asha                                    # served by the replica itself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76072" y="284835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SET {icici:cust:42}:profile x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76072" y="303580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MOVED 2022 172.18.0.2:6379              # writes still go to the master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576072" y="322326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&gt; READWRITE</a:t>
            </a:r>
          </a:p>
        </p:txBody>
      </p:sp>
      <p:sp>
        <p:nvSpPr>
          <p:cNvPr id="16" name="a2u_nb15"/>
          <p:cNvSpPr/>
          <p:nvPr/>
        </p:nvSpPr>
        <p:spPr>
          <a:xfrm>
            <a:off x="457200" y="3639312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a2u_nacc16"/>
          <p:cNvSpPr/>
          <p:nvPr/>
        </p:nvSpPr>
        <p:spPr>
          <a:xfrm>
            <a:off x="457200" y="3639312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t17"/>
          <p:cNvSpPr txBox="1"/>
          <p:nvPr/>
        </p:nvSpPr>
        <p:spPr>
          <a:xfrm>
            <a:off x="658368" y="3639312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  </a:t>
            </a:r>
            <a:r>
              <a:rPr sz="1000" b="0">
                <a:solidFill>
                  <a:srgbClr val="334155"/>
                </a:solidFill>
                <a:latin typeface="Calibri"/>
              </a:rPr>
              <a:t>READONLY is per connection and only for keys that replica's master owns. A replica read can be a few milliseconds stale - fine for a balance display, wrong for a balance check before a debit.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Scaling Out and In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Add a master, move slots to it, balance - then take it away again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add-node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reshard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rebalance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del-node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Adding a Master: add-node, then reshard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 new node joins with zero slots - it serves nothing until slots are moved to it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8229600" cy="2574036"/>
          </a:xfrm>
          <a:prstGeom prst="roundRect">
            <a:avLst>
              <a:gd name="adj" fmla="val 284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76072" y="11978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- including the failure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76072" y="153619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$ redis-cli --cluster add-node redis-node7:6379 redis-node1:6379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76072" y="172364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86EFAC"/>
                </a:solidFill>
                <a:latin typeface="Courier New"/>
              </a:rPr>
              <a:t>  [OK] New node added correctly.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76072" y="191109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$ redis-cli --cluster info redis-node1:6379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76072" y="209854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  172.18.0.8:6379 (d61167d8...) -&gt; 0 keys | 0 slots | 0 slaves.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76072" y="228600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$ redis-cli --cluster reshard redis-node1:6379 --cluster-from all \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76072" y="247345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    --cluster-to &lt;node7-id&gt; --cluster-slots 1000 --cluster-yes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76072" y="2660904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FCA5A5"/>
                </a:solidFill>
                <a:latin typeface="Courier New"/>
              </a:rPr>
              <a:t>  ERR Target instance replied with error: CLUSTERDOWN The cluster is down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576072" y="2848356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$ redis-cli --cluster check redis-node1:6379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576072" y="3035808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FCA5A5"/>
                </a:solidFill>
                <a:latin typeface="Courier New"/>
              </a:rPr>
              <a:t>  [WARNING] The following slots are open: 5466.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576072" y="3223260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C4B5FD"/>
                </a:solidFill>
                <a:latin typeface="Courier New"/>
              </a:rPr>
              <a:t>$ redis-cli --cluster fix redis-node1:6379 --cluster-yes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576072" y="3410712"/>
            <a:ext cx="799185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80" b="0">
                <a:solidFill>
                  <a:srgbClr val="14B8A6"/>
                </a:solidFill>
                <a:latin typeface="Courier New"/>
              </a:rPr>
              <a:t>  &gt;&gt;&gt; Case 1: Moving slot 5466 from 172.18.0.3:6379 to 172.18.0.8:6379</a:t>
            </a:r>
          </a:p>
        </p:txBody>
      </p:sp>
      <p:sp>
        <p:nvSpPr>
          <p:cNvPr id="17" name="a2u_nb16"/>
          <p:cNvSpPr/>
          <p:nvPr/>
        </p:nvSpPr>
        <p:spPr>
          <a:xfrm>
            <a:off x="457200" y="3826763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a2u_nacc17"/>
          <p:cNvSpPr/>
          <p:nvPr/>
        </p:nvSpPr>
        <p:spPr>
          <a:xfrm>
            <a:off x="457200" y="3826763"/>
            <a:ext cx="50292" cy="6035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t18"/>
          <p:cNvSpPr txBox="1"/>
          <p:nvPr/>
        </p:nvSpPr>
        <p:spPr>
          <a:xfrm>
            <a:off x="658368" y="3826763"/>
            <a:ext cx="782726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alibri"/>
              </a:rPr>
              <a:t>!  </a:t>
            </a:r>
            <a:r>
              <a:rPr sz="1000" b="0">
                <a:solidFill>
                  <a:srgbClr val="334155"/>
                </a:solidFill>
                <a:latin typeface="Calibri"/>
              </a:rPr>
              <a:t>The reshard started seconds after add-node, before node7 itself saw cluster_state:ok, and stopped halfway through slot 5466. check found it, fix finished the move, and the rerun moved 994 more slots in 10 s: node7 ended with 1000 slots and 179 keys, total still 3005.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rebalance, and Scaling Back In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Weights decide the share of slots; weight 0 empties a node so it can be removed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3977639" cy="1805939"/>
          </a:xfrm>
          <a:prstGeom prst="roundRect">
            <a:avLst>
              <a:gd name="adj" fmla="val 40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16384 / 4 = 4096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redis-cli --cluster rebalance \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566928" y="171450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redis-node1:6379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566928" y="1901952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Rebalancing across 4 nodes.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566928" y="2089404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node1 755 keys | 4096 slots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566928" y="2276856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node7 746 keys | 4096 slots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566928" y="246430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node2 754 keys | 4096 slots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566928" y="265176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node3 750 keys | 4096 slots</a:t>
            </a:r>
          </a:p>
        </p:txBody>
      </p:sp>
      <p:sp>
        <p:nvSpPr>
          <p:cNvPr id="13" name="a2f_codebg12"/>
          <p:cNvSpPr/>
          <p:nvPr/>
        </p:nvSpPr>
        <p:spPr>
          <a:xfrm>
            <a:off x="4709160" y="1143000"/>
            <a:ext cx="3977639" cy="1805939"/>
          </a:xfrm>
          <a:prstGeom prst="roundRect">
            <a:avLst>
              <a:gd name="adj" fmla="val 40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a2f_codeh13"/>
          <p:cNvSpPr txBox="1"/>
          <p:nvPr/>
        </p:nvSpPr>
        <p:spPr>
          <a:xfrm>
            <a:off x="4818888" y="1197864"/>
            <a:ext cx="37581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back to 3 masters</a:t>
            </a:r>
          </a:p>
        </p:txBody>
      </p:sp>
      <p:sp>
        <p:nvSpPr>
          <p:cNvPr id="15" name="a2w_code14"/>
          <p:cNvSpPr txBox="1"/>
          <p:nvPr/>
        </p:nvSpPr>
        <p:spPr>
          <a:xfrm>
            <a:off x="4818888" y="152704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... rebalance redis-node1:6379 \</a:t>
            </a:r>
          </a:p>
        </p:txBody>
      </p:sp>
      <p:sp>
        <p:nvSpPr>
          <p:cNvPr id="16" name="a2wd80_code15"/>
          <p:cNvSpPr txBox="1"/>
          <p:nvPr/>
        </p:nvSpPr>
        <p:spPr>
          <a:xfrm>
            <a:off x="4818888" y="171450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    --cluster-weight &lt;node7-id&gt;=0</a:t>
            </a:r>
          </a:p>
        </p:txBody>
      </p:sp>
      <p:sp>
        <p:nvSpPr>
          <p:cNvPr id="17" name="a2wd160_code16"/>
          <p:cNvSpPr txBox="1"/>
          <p:nvPr/>
        </p:nvSpPr>
        <p:spPr>
          <a:xfrm>
            <a:off x="4818888" y="1901952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node1 1011 keys | 5462 slots</a:t>
            </a:r>
          </a:p>
        </p:txBody>
      </p:sp>
      <p:sp>
        <p:nvSpPr>
          <p:cNvPr id="18" name="a2wd240_code17"/>
          <p:cNvSpPr txBox="1"/>
          <p:nvPr/>
        </p:nvSpPr>
        <p:spPr>
          <a:xfrm>
            <a:off x="4818888" y="2089404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node2 1002 keys | 5461 slots</a:t>
            </a:r>
          </a:p>
        </p:txBody>
      </p:sp>
      <p:sp>
        <p:nvSpPr>
          <p:cNvPr id="19" name="a2wd320_code18"/>
          <p:cNvSpPr txBox="1"/>
          <p:nvPr/>
        </p:nvSpPr>
        <p:spPr>
          <a:xfrm>
            <a:off x="4818888" y="2276856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6EFAC"/>
                </a:solidFill>
                <a:latin typeface="Courier New"/>
              </a:rPr>
              <a:t>  node3  992 keys | 5461 slots</a:t>
            </a:r>
          </a:p>
        </p:txBody>
      </p:sp>
      <p:sp>
        <p:nvSpPr>
          <p:cNvPr id="20" name="a2wd400_code19"/>
          <p:cNvSpPr txBox="1"/>
          <p:nvPr/>
        </p:nvSpPr>
        <p:spPr>
          <a:xfrm>
            <a:off x="4818888" y="2464308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... del-node redis-node1:6379 &lt;id&gt;</a:t>
            </a:r>
          </a:p>
        </p:txBody>
      </p:sp>
      <p:sp>
        <p:nvSpPr>
          <p:cNvPr id="21" name="a2wd480_code20"/>
          <p:cNvSpPr txBox="1"/>
          <p:nvPr/>
        </p:nvSpPr>
        <p:spPr>
          <a:xfrm>
            <a:off x="4818888" y="2651760"/>
            <a:ext cx="37581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14B8A6"/>
                </a:solidFill>
                <a:latin typeface="Courier New"/>
              </a:rPr>
              <a:t>  &gt;&gt;&gt; Sending CLUSTER FORGET ...</a:t>
            </a:r>
          </a:p>
        </p:txBody>
      </p:sp>
      <p:sp>
        <p:nvSpPr>
          <p:cNvPr id="22" name="a3u_nb21"/>
          <p:cNvSpPr/>
          <p:nvPr/>
        </p:nvSpPr>
        <p:spPr>
          <a:xfrm>
            <a:off x="457200" y="305866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a3u_nacc22"/>
          <p:cNvSpPr/>
          <p:nvPr/>
        </p:nvSpPr>
        <p:spPr>
          <a:xfrm>
            <a:off x="457200" y="3058668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a3u_nt23"/>
          <p:cNvSpPr txBox="1"/>
          <p:nvPr/>
        </p:nvSpPr>
        <p:spPr>
          <a:xfrm>
            <a:off x="658368" y="3058668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Order matters: attach the new master's replica (add-node --cluster-slave --cluster-master-id), and when removing, empty a master with weight 0 BEFORE del-node. Measured: the emptied node7 and its replica were re-parented under node3 until del-node removed them.</a:t>
            </a:r>
          </a:p>
        </p:txBody>
      </p:sp>
      <p:sp>
        <p:nvSpPr>
          <p:cNvPr id="25" name="ft2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6" name="ft2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05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Connecting Applications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The Docker-on-Windows address trap, and a node-redis cluster client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createCluster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nodeAddressMap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hash tags in code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Address Trap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The cluster hands clients its private Docker IPs - the Windows host cannot reach them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8229600" cy="1243584"/>
          </a:xfrm>
          <a:prstGeom prst="roundRect">
            <a:avLst>
              <a:gd name="adj" fmla="val 7352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640080" y="1271016"/>
            <a:ext cx="242316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sn5"/>
          <p:cNvSpPr txBox="1"/>
          <p:nvPr/>
        </p:nvSpPr>
        <p:spPr>
          <a:xfrm>
            <a:off x="640080" y="136245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 · Connect</a:t>
            </a:r>
          </a:p>
        </p:txBody>
      </p:sp>
      <p:sp>
        <p:nvSpPr>
          <p:cNvPr id="7" name="a1ud60_sd6"/>
          <p:cNvSpPr txBox="1"/>
          <p:nvPr/>
        </p:nvSpPr>
        <p:spPr>
          <a:xfrm>
            <a:off x="640080" y="1636776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Client dials localhost:7101 - the published port. This part works.</a:t>
            </a:r>
          </a:p>
        </p:txBody>
      </p:sp>
      <p:sp>
        <p:nvSpPr>
          <p:cNvPr id="8" name="a1ud120_acc7"/>
          <p:cNvSpPr/>
          <p:nvPr/>
        </p:nvSpPr>
        <p:spPr>
          <a:xfrm>
            <a:off x="3337560" y="1271016"/>
            <a:ext cx="242316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a1ud150_sn8"/>
          <p:cNvSpPr txBox="1"/>
          <p:nvPr/>
        </p:nvSpPr>
        <p:spPr>
          <a:xfrm>
            <a:off x="3337560" y="136245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 · Discover</a:t>
            </a:r>
          </a:p>
        </p:txBody>
      </p:sp>
      <p:sp>
        <p:nvSpPr>
          <p:cNvPr id="10" name="a1ud180_sd9"/>
          <p:cNvSpPr txBox="1"/>
          <p:nvPr/>
        </p:nvSpPr>
        <p:spPr>
          <a:xfrm>
            <a:off x="3337560" y="1636776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It asks for the slot map. The answer lists 172.30.0.11-16:6379, the Docker network's own addresses.</a:t>
            </a:r>
          </a:p>
        </p:txBody>
      </p:sp>
      <p:sp>
        <p:nvSpPr>
          <p:cNvPr id="11" name="a1ud240_acc10"/>
          <p:cNvSpPr/>
          <p:nvPr/>
        </p:nvSpPr>
        <p:spPr>
          <a:xfrm>
            <a:off x="6035040" y="1271016"/>
            <a:ext cx="242316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270_sn11"/>
          <p:cNvSpPr txBox="1"/>
          <p:nvPr/>
        </p:nvSpPr>
        <p:spPr>
          <a:xfrm>
            <a:off x="6035040" y="1362456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 · Stuck</a:t>
            </a:r>
          </a:p>
        </p:txBody>
      </p:sp>
      <p:sp>
        <p:nvSpPr>
          <p:cNvPr id="13" name="a1ud300_sd12"/>
          <p:cNvSpPr txBox="1"/>
          <p:nvPr/>
        </p:nvSpPr>
        <p:spPr>
          <a:xfrm>
            <a:off x="6035040" y="1636776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Every command must now go to a 172.30.0.x address. From Windows none of them answer - the client hangs.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57200" y="2514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623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a2f_codeh14"/>
          <p:cNvSpPr txBox="1"/>
          <p:nvPr/>
        </p:nvSpPr>
        <p:spPr>
          <a:xfrm>
            <a:off x="576072" y="2569464"/>
            <a:ext cx="79918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 · node-redis 6.2.1 on the Windows host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576072" y="2907791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C4B5FD"/>
                </a:solidFill>
                <a:latin typeface="Courier New"/>
              </a:rPr>
              <a:t>$ node naive.js</a:t>
            </a:r>
          </a:p>
        </p:txBody>
      </p:sp>
      <p:sp>
        <p:nvSpPr>
          <p:cNvPr id="17" name="a2wd90_code16"/>
          <p:cNvSpPr txBox="1"/>
          <p:nvPr/>
        </p:nvSpPr>
        <p:spPr>
          <a:xfrm>
            <a:off x="576072" y="3099815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CA5A5"/>
                </a:solidFill>
                <a:latin typeface="Courier New"/>
              </a:rPr>
              <a:t>  no reply after 10s - the client is stuck dialling 172.30.0.x addresses</a:t>
            </a:r>
          </a:p>
        </p:txBody>
      </p:sp>
      <p:sp>
        <p:nvSpPr>
          <p:cNvPr id="18" name="a2wd180_code17"/>
          <p:cNvSpPr txBox="1"/>
          <p:nvPr/>
        </p:nvSpPr>
        <p:spPr>
          <a:xfrm>
            <a:off x="576072" y="3291839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19" name="a2wd270_code18"/>
          <p:cNvSpPr txBox="1"/>
          <p:nvPr/>
        </p:nvSpPr>
        <p:spPr>
          <a:xfrm>
            <a:off x="576072" y="3483863"/>
            <a:ext cx="7991856" cy="1920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ourier New"/>
              </a:rPr>
              <a:t># redis-cli inside the network never hits this: it runs where 172.30.0.x is reachable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node-redis createCluster with nodeAddressMap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Rewrite each advertised address to its published localhost port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937760" cy="2871216"/>
          </a:xfrm>
          <a:prstGeom prst="roundRect">
            <a:avLst>
              <a:gd name="adj" fmla="val 25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f_codeh4"/>
          <p:cNvSpPr txBox="1"/>
          <p:nvPr/>
        </p:nvSpPr>
        <p:spPr>
          <a:xfrm>
            <a:off x="566928" y="1197864"/>
            <a:ext cx="4718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cluster_docker/client/cluster_client.js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566928" y="152704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import { createCluster } from 'redis';</a:t>
            </a:r>
          </a:p>
        </p:txBody>
      </p:sp>
      <p:sp>
        <p:nvSpPr>
          <p:cNvPr id="7" name="a1wd70_code6"/>
          <p:cNvSpPr txBox="1"/>
          <p:nvPr/>
        </p:nvSpPr>
        <p:spPr>
          <a:xfrm>
            <a:off x="566928" y="170992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8" name="a1wd140_code7"/>
          <p:cNvSpPr txBox="1"/>
          <p:nvPr/>
        </p:nvSpPr>
        <p:spPr>
          <a:xfrm>
            <a:off x="566928" y="1892807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const nodeAddressMap = {</a:t>
            </a:r>
          </a:p>
        </p:txBody>
      </p:sp>
      <p:sp>
        <p:nvSpPr>
          <p:cNvPr id="9" name="a1wd210_code8"/>
          <p:cNvSpPr txBox="1"/>
          <p:nvPr/>
        </p:nvSpPr>
        <p:spPr>
          <a:xfrm>
            <a:off x="566928" y="207568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'172.30.0.11:6379': { host: 'localhost', port: 7101 },</a:t>
            </a:r>
          </a:p>
        </p:txBody>
      </p:sp>
      <p:sp>
        <p:nvSpPr>
          <p:cNvPr id="10" name="a1wd280_code9"/>
          <p:cNvSpPr txBox="1"/>
          <p:nvPr/>
        </p:nvSpPr>
        <p:spPr>
          <a:xfrm>
            <a:off x="566928" y="225856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'172.30.0.12:6379': { host: 'localhost', port: 7102 },</a:t>
            </a:r>
          </a:p>
        </p:txBody>
      </p:sp>
      <p:sp>
        <p:nvSpPr>
          <p:cNvPr id="11" name="a1wd350_code10"/>
          <p:cNvSpPr txBox="1"/>
          <p:nvPr/>
        </p:nvSpPr>
        <p:spPr>
          <a:xfrm>
            <a:off x="566928" y="244144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ourier New"/>
              </a:rPr>
              <a:t>  // ... one entry per node, 13 to 16</a:t>
            </a:r>
          </a:p>
        </p:txBody>
      </p:sp>
      <p:sp>
        <p:nvSpPr>
          <p:cNvPr id="12" name="a1wd420_code11"/>
          <p:cNvSpPr txBox="1"/>
          <p:nvPr/>
        </p:nvSpPr>
        <p:spPr>
          <a:xfrm>
            <a:off x="566928" y="262432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};</a:t>
            </a:r>
          </a:p>
        </p:txBody>
      </p:sp>
      <p:sp>
        <p:nvSpPr>
          <p:cNvPr id="13" name="a1wd490_code12"/>
          <p:cNvSpPr txBox="1"/>
          <p:nvPr/>
        </p:nvSpPr>
        <p:spPr>
          <a:xfrm>
            <a:off x="566928" y="280720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const cluster = createCluster({</a:t>
            </a:r>
          </a:p>
        </p:txBody>
      </p:sp>
      <p:sp>
        <p:nvSpPr>
          <p:cNvPr id="14" name="a1wd560_code13"/>
          <p:cNvSpPr txBox="1"/>
          <p:nvPr/>
        </p:nvSpPr>
        <p:spPr>
          <a:xfrm>
            <a:off x="566928" y="299008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rootNodes: [7101, 7102, 7103, 7104, 7105, 7106]</a:t>
            </a:r>
          </a:p>
        </p:txBody>
      </p:sp>
      <p:sp>
        <p:nvSpPr>
          <p:cNvPr id="15" name="a1wd630_code14"/>
          <p:cNvSpPr txBox="1"/>
          <p:nvPr/>
        </p:nvSpPr>
        <p:spPr>
          <a:xfrm>
            <a:off x="566928" y="317296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  .map((port) =&gt; ({ url: `redis://localhost:${port}` })),</a:t>
            </a:r>
          </a:p>
        </p:txBody>
      </p:sp>
      <p:sp>
        <p:nvSpPr>
          <p:cNvPr id="16" name="a1wd700_code15"/>
          <p:cNvSpPr txBox="1"/>
          <p:nvPr/>
        </p:nvSpPr>
        <p:spPr>
          <a:xfrm>
            <a:off x="566928" y="335584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E2E8F0"/>
                </a:solidFill>
                <a:latin typeface="Courier New"/>
              </a:rPr>
              <a:t>  nodeAddressMap,</a:t>
            </a:r>
          </a:p>
        </p:txBody>
      </p:sp>
      <p:sp>
        <p:nvSpPr>
          <p:cNvPr id="17" name="a1wd770_code16"/>
          <p:cNvSpPr txBox="1"/>
          <p:nvPr/>
        </p:nvSpPr>
        <p:spPr>
          <a:xfrm>
            <a:off x="566928" y="353872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});</a:t>
            </a:r>
          </a:p>
        </p:txBody>
      </p:sp>
      <p:sp>
        <p:nvSpPr>
          <p:cNvPr id="18" name="a1wd840_code17"/>
          <p:cNvSpPr txBox="1"/>
          <p:nvPr/>
        </p:nvSpPr>
        <p:spPr>
          <a:xfrm>
            <a:off x="566928" y="3721608"/>
            <a:ext cx="471830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await cluster.connect();</a:t>
            </a:r>
          </a:p>
        </p:txBody>
      </p:sp>
      <p:sp>
        <p:nvSpPr>
          <p:cNvPr id="19" name="a2f_codebg18"/>
          <p:cNvSpPr/>
          <p:nvPr/>
        </p:nvSpPr>
        <p:spPr>
          <a:xfrm>
            <a:off x="5532120" y="1143000"/>
            <a:ext cx="3154680" cy="2322576"/>
          </a:xfrm>
          <a:prstGeom prst="roundRect">
            <a:avLst>
              <a:gd name="adj" fmla="val 31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2f_codeh19"/>
          <p:cNvSpPr txBox="1"/>
          <p:nvPr/>
        </p:nvSpPr>
        <p:spPr>
          <a:xfrm>
            <a:off x="5641848" y="1197864"/>
            <a:ext cx="293522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measured</a:t>
            </a:r>
          </a:p>
        </p:txBody>
      </p:sp>
      <p:sp>
        <p:nvSpPr>
          <p:cNvPr id="21" name="a2w_code20"/>
          <p:cNvSpPr txBox="1"/>
          <p:nvPr/>
        </p:nvSpPr>
        <p:spPr>
          <a:xfrm>
            <a:off x="5641848" y="152704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4B5FD"/>
                </a:solidFill>
                <a:latin typeface="Courier New"/>
              </a:rPr>
              <a:t>$ npm start</a:t>
            </a:r>
          </a:p>
        </p:txBody>
      </p:sp>
      <p:sp>
        <p:nvSpPr>
          <p:cNvPr id="22" name="a2wd80_code21"/>
          <p:cNvSpPr txBox="1"/>
          <p:nvPr/>
        </p:nvSpPr>
        <p:spPr>
          <a:xfrm>
            <a:off x="5641848" y="170992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connected - 3 masters</a:t>
            </a:r>
          </a:p>
        </p:txBody>
      </p:sp>
      <p:sp>
        <p:nvSpPr>
          <p:cNvPr id="23" name="a2wd160_code22"/>
          <p:cNvSpPr txBox="1"/>
          <p:nvPr/>
        </p:nvSpPr>
        <p:spPr>
          <a:xfrm>
            <a:off x="5641848" y="1892807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icici:acct:1001 -&gt; Asha</a:t>
            </a:r>
          </a:p>
        </p:txBody>
      </p:sp>
      <p:sp>
        <p:nvSpPr>
          <p:cNvPr id="24" name="a2wd240_code23"/>
          <p:cNvSpPr txBox="1"/>
          <p:nvPr/>
        </p:nvSpPr>
        <p:spPr>
          <a:xfrm>
            <a:off x="5641848" y="207568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icici:acct:1002 -&gt; Ravi</a:t>
            </a:r>
          </a:p>
        </p:txBody>
      </p:sp>
      <p:sp>
        <p:nvSpPr>
          <p:cNvPr id="25" name="a2wd320_code24"/>
          <p:cNvSpPr txBox="1"/>
          <p:nvPr/>
        </p:nvSpPr>
        <p:spPr>
          <a:xfrm>
            <a:off x="5641848" y="225856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MULTI on one slot -&gt;</a:t>
            </a:r>
          </a:p>
        </p:txBody>
      </p:sp>
      <p:sp>
        <p:nvSpPr>
          <p:cNvPr id="26" name="a2wd400_code25"/>
          <p:cNvSpPr txBox="1"/>
          <p:nvPr/>
        </p:nvSpPr>
        <p:spPr>
          <a:xfrm>
            <a:off x="5641848" y="244144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86EFAC"/>
                </a:solidFill>
                <a:latin typeface="Courier New"/>
              </a:rPr>
              <a:t>  Meera now has 1750</a:t>
            </a:r>
          </a:p>
        </p:txBody>
      </p:sp>
      <p:sp>
        <p:nvSpPr>
          <p:cNvPr id="27" name="a2wd480_code26"/>
          <p:cNvSpPr txBox="1"/>
          <p:nvPr/>
        </p:nvSpPr>
        <p:spPr>
          <a:xfrm>
            <a:off x="5641848" y="262432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  <a:latin typeface="Courier New"/>
              </a:rPr>
              <a:t>MULTI across slots -&gt;</a:t>
            </a:r>
          </a:p>
        </p:txBody>
      </p:sp>
      <p:sp>
        <p:nvSpPr>
          <p:cNvPr id="28" name="a2wd560_code27"/>
          <p:cNvSpPr txBox="1"/>
          <p:nvPr/>
        </p:nvSpPr>
        <p:spPr>
          <a:xfrm>
            <a:off x="5641848" y="280720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  <a:latin typeface="Courier New"/>
              </a:rPr>
              <a:t>  MaxCommandRedirections</a:t>
            </a:r>
          </a:p>
        </p:txBody>
      </p:sp>
      <p:sp>
        <p:nvSpPr>
          <p:cNvPr id="29" name="a2wd640_code28"/>
          <p:cNvSpPr txBox="1"/>
          <p:nvPr/>
        </p:nvSpPr>
        <p:spPr>
          <a:xfrm>
            <a:off x="5641848" y="299008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  <a:latin typeface="Courier New"/>
              </a:rPr>
              <a:t>  Error: Too many Cluster</a:t>
            </a:r>
          </a:p>
        </p:txBody>
      </p:sp>
      <p:sp>
        <p:nvSpPr>
          <p:cNvPr id="30" name="a2wd720_code29"/>
          <p:cNvSpPr txBox="1"/>
          <p:nvPr/>
        </p:nvSpPr>
        <p:spPr>
          <a:xfrm>
            <a:off x="5641848" y="3172968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FCA5A5"/>
                </a:solidFill>
                <a:latin typeface="Courier New"/>
              </a:rPr>
              <a:t>  redirections</a:t>
            </a:r>
          </a:p>
        </p:txBody>
      </p:sp>
      <p:sp>
        <p:nvSpPr>
          <p:cNvPr id="31" name="a3u_nb30"/>
          <p:cNvSpPr/>
          <p:nvPr/>
        </p:nvSpPr>
        <p:spPr>
          <a:xfrm>
            <a:off x="457200" y="4123944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a3u_nacc31"/>
          <p:cNvSpPr/>
          <p:nvPr/>
        </p:nvSpPr>
        <p:spPr>
          <a:xfrm>
            <a:off x="457200" y="4123944"/>
            <a:ext cx="50292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3u_nt32"/>
          <p:cNvSpPr txBox="1"/>
          <p:nvPr/>
        </p:nvSpPr>
        <p:spPr>
          <a:xfrm>
            <a:off x="658368" y="4123944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KEY  </a:t>
            </a:r>
            <a:r>
              <a:rPr sz="1000" b="0">
                <a:solidFill>
                  <a:srgbClr val="334155"/>
                </a:solidFill>
                <a:latin typeface="Calibri"/>
              </a:rPr>
              <a:t>Seed with every node: measured with node1 stopped, a client seeded only with 7101 threw RootNodesUnavailableError at connect() while the cluster served every slot. The map can be written once only because compose pins the IPs.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Cheat Sheet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One slide to keep beside you during the cluster labs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20240" cy="20116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2024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a1ud30_gn5"/>
          <p:cNvSpPr txBox="1"/>
          <p:nvPr/>
        </p:nvSpPr>
        <p:spPr>
          <a:xfrm>
            <a:off x="585216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BUILD</a:t>
            </a:r>
          </a:p>
        </p:txBody>
      </p:sp>
      <p:sp>
        <p:nvSpPr>
          <p:cNvPr id="7" name="a1ud60_gc6"/>
          <p:cNvSpPr txBox="1"/>
          <p:nvPr/>
        </p:nvSpPr>
        <p:spPr>
          <a:xfrm>
            <a:off x="585216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--cluster-enabled yes</a:t>
            </a:r>
          </a:p>
        </p:txBody>
      </p:sp>
      <p:sp>
        <p:nvSpPr>
          <p:cNvPr id="8" name="a1ud110_gc7"/>
          <p:cNvSpPr txBox="1"/>
          <p:nvPr/>
        </p:nvSpPr>
        <p:spPr>
          <a:xfrm>
            <a:off x="585216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create ...</a:t>
            </a:r>
          </a:p>
        </p:txBody>
      </p:sp>
      <p:sp>
        <p:nvSpPr>
          <p:cNvPr id="9" name="a1ud160_gc8"/>
          <p:cNvSpPr txBox="1"/>
          <p:nvPr/>
        </p:nvSpPr>
        <p:spPr>
          <a:xfrm>
            <a:off x="585216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--cluster-replicas 1</a:t>
            </a:r>
          </a:p>
        </p:txBody>
      </p:sp>
      <p:sp>
        <p:nvSpPr>
          <p:cNvPr id="10" name="a1ud210_gc9"/>
          <p:cNvSpPr txBox="1"/>
          <p:nvPr/>
        </p:nvSpPr>
        <p:spPr>
          <a:xfrm>
            <a:off x="585216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bus = port + 10000</a:t>
            </a:r>
          </a:p>
        </p:txBody>
      </p:sp>
      <p:sp>
        <p:nvSpPr>
          <p:cNvPr id="11" name="a1ud100_card10"/>
          <p:cNvSpPr/>
          <p:nvPr/>
        </p:nvSpPr>
        <p:spPr>
          <a:xfrm>
            <a:off x="2560320" y="1143000"/>
            <a:ext cx="1920240" cy="20116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a1ud100_acc11"/>
          <p:cNvSpPr/>
          <p:nvPr/>
        </p:nvSpPr>
        <p:spPr>
          <a:xfrm>
            <a:off x="2560320" y="1143000"/>
            <a:ext cx="192024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130_gn12"/>
          <p:cNvSpPr txBox="1"/>
          <p:nvPr/>
        </p:nvSpPr>
        <p:spPr>
          <a:xfrm>
            <a:off x="2688336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INSPECT</a:t>
            </a:r>
          </a:p>
        </p:txBody>
      </p:sp>
      <p:sp>
        <p:nvSpPr>
          <p:cNvPr id="14" name="a1ud160_gc13"/>
          <p:cNvSpPr txBox="1"/>
          <p:nvPr/>
        </p:nvSpPr>
        <p:spPr>
          <a:xfrm>
            <a:off x="2688336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CLUSTER INFO</a:t>
            </a:r>
          </a:p>
        </p:txBody>
      </p:sp>
      <p:sp>
        <p:nvSpPr>
          <p:cNvPr id="15" name="a1ud210_gc14"/>
          <p:cNvSpPr txBox="1"/>
          <p:nvPr/>
        </p:nvSpPr>
        <p:spPr>
          <a:xfrm>
            <a:off x="2688336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CLUSTER NODES</a:t>
            </a:r>
          </a:p>
        </p:txBody>
      </p:sp>
      <p:sp>
        <p:nvSpPr>
          <p:cNvPr id="16" name="a1ud260_gc15"/>
          <p:cNvSpPr txBox="1"/>
          <p:nvPr/>
        </p:nvSpPr>
        <p:spPr>
          <a:xfrm>
            <a:off x="2688336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CLUSTER KEYSLOT key</a:t>
            </a:r>
          </a:p>
        </p:txBody>
      </p:sp>
      <p:sp>
        <p:nvSpPr>
          <p:cNvPr id="17" name="a1ud310_gc16"/>
          <p:cNvSpPr txBox="1"/>
          <p:nvPr/>
        </p:nvSpPr>
        <p:spPr>
          <a:xfrm>
            <a:off x="2688336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check / info</a:t>
            </a:r>
          </a:p>
        </p:txBody>
      </p:sp>
      <p:sp>
        <p:nvSpPr>
          <p:cNvPr id="18" name="a1ud200_card17"/>
          <p:cNvSpPr/>
          <p:nvPr/>
        </p:nvSpPr>
        <p:spPr>
          <a:xfrm>
            <a:off x="4663440" y="1143000"/>
            <a:ext cx="1920240" cy="20116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1ud200_acc18"/>
          <p:cNvSpPr/>
          <p:nvPr/>
        </p:nvSpPr>
        <p:spPr>
          <a:xfrm>
            <a:off x="4663440" y="1143000"/>
            <a:ext cx="1920240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a1ud230_gn19"/>
          <p:cNvSpPr txBox="1"/>
          <p:nvPr/>
        </p:nvSpPr>
        <p:spPr>
          <a:xfrm>
            <a:off x="4791455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OPERATE</a:t>
            </a:r>
          </a:p>
        </p:txBody>
      </p:sp>
      <p:sp>
        <p:nvSpPr>
          <p:cNvPr id="21" name="a1ud260_gc20"/>
          <p:cNvSpPr txBox="1"/>
          <p:nvPr/>
        </p:nvSpPr>
        <p:spPr>
          <a:xfrm>
            <a:off x="4791455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CLUSTER FAILOVER</a:t>
            </a:r>
          </a:p>
        </p:txBody>
      </p:sp>
      <p:sp>
        <p:nvSpPr>
          <p:cNvPr id="22" name="a1ud310_gc21"/>
          <p:cNvSpPr txBox="1"/>
          <p:nvPr/>
        </p:nvSpPr>
        <p:spPr>
          <a:xfrm>
            <a:off x="4791455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READONLY / READWRITE</a:t>
            </a:r>
          </a:p>
        </p:txBody>
      </p:sp>
      <p:sp>
        <p:nvSpPr>
          <p:cNvPr id="23" name="a1ud360_gc22"/>
          <p:cNvSpPr txBox="1"/>
          <p:nvPr/>
        </p:nvSpPr>
        <p:spPr>
          <a:xfrm>
            <a:off x="4791455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fix</a:t>
            </a:r>
          </a:p>
        </p:txBody>
      </p:sp>
      <p:sp>
        <p:nvSpPr>
          <p:cNvPr id="24" name="a1ud410_gc23"/>
          <p:cNvSpPr txBox="1"/>
          <p:nvPr/>
        </p:nvSpPr>
        <p:spPr>
          <a:xfrm>
            <a:off x="4791455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require-full-coverage</a:t>
            </a:r>
          </a:p>
        </p:txBody>
      </p:sp>
      <p:sp>
        <p:nvSpPr>
          <p:cNvPr id="25" name="a1ud300_card24"/>
          <p:cNvSpPr/>
          <p:nvPr/>
        </p:nvSpPr>
        <p:spPr>
          <a:xfrm>
            <a:off x="6766559" y="1143000"/>
            <a:ext cx="1920240" cy="20116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a1ud300_acc25"/>
          <p:cNvSpPr/>
          <p:nvPr/>
        </p:nvSpPr>
        <p:spPr>
          <a:xfrm>
            <a:off x="6766559" y="1143000"/>
            <a:ext cx="1920240" cy="4572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a1ud330_gn26"/>
          <p:cNvSpPr txBox="1"/>
          <p:nvPr/>
        </p:nvSpPr>
        <p:spPr>
          <a:xfrm>
            <a:off x="6894575" y="12527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C382C"/>
                </a:solidFill>
                <a:latin typeface="Calibri"/>
              </a:rPr>
              <a:t>SCALE</a:t>
            </a:r>
          </a:p>
        </p:txBody>
      </p:sp>
      <p:sp>
        <p:nvSpPr>
          <p:cNvPr id="28" name="a1ud360_gc27"/>
          <p:cNvSpPr txBox="1"/>
          <p:nvPr/>
        </p:nvSpPr>
        <p:spPr>
          <a:xfrm>
            <a:off x="6894575" y="1545336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add-node</a:t>
            </a:r>
          </a:p>
        </p:txBody>
      </p:sp>
      <p:sp>
        <p:nvSpPr>
          <p:cNvPr id="29" name="a1ud410_gc28"/>
          <p:cNvSpPr txBox="1"/>
          <p:nvPr/>
        </p:nvSpPr>
        <p:spPr>
          <a:xfrm>
            <a:off x="6894575" y="1929384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reshard</a:t>
            </a:r>
          </a:p>
        </p:txBody>
      </p:sp>
      <p:sp>
        <p:nvSpPr>
          <p:cNvPr id="30" name="a1ud460_gc29"/>
          <p:cNvSpPr txBox="1"/>
          <p:nvPr/>
        </p:nvSpPr>
        <p:spPr>
          <a:xfrm>
            <a:off x="6894575" y="2313432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rebalance</a:t>
            </a:r>
          </a:p>
        </p:txBody>
      </p:sp>
      <p:sp>
        <p:nvSpPr>
          <p:cNvPr id="31" name="a1ud510_gc30"/>
          <p:cNvSpPr txBox="1"/>
          <p:nvPr/>
        </p:nvSpPr>
        <p:spPr>
          <a:xfrm>
            <a:off x="6894575" y="2697480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0">
                <a:solidFill>
                  <a:srgbClr val="334155"/>
                </a:solidFill>
                <a:latin typeface="Courier New"/>
              </a:rPr>
              <a:t>--cluster del-node</a:t>
            </a:r>
          </a:p>
        </p:txBody>
      </p:sp>
      <p:sp>
        <p:nvSpPr>
          <p:cNvPr id="32" name="a2u_nb31"/>
          <p:cNvSpPr/>
          <p:nvPr/>
        </p:nvSpPr>
        <p:spPr>
          <a:xfrm>
            <a:off x="457200" y="328269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a2u_nacc32"/>
          <p:cNvSpPr/>
          <p:nvPr/>
        </p:nvSpPr>
        <p:spPr>
          <a:xfrm>
            <a:off x="457200" y="3282696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a2u_nt33"/>
          <p:cNvSpPr txBox="1"/>
          <p:nvPr/>
        </p:nvSpPr>
        <p:spPr>
          <a:xfrm>
            <a:off x="658368" y="3282696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KEY  </a:t>
            </a:r>
            <a:r>
              <a:rPr sz="1050" b="0">
                <a:solidFill>
                  <a:srgbClr val="334155"/>
                </a:solidFill>
                <a:latin typeface="Calibri"/>
              </a:rPr>
              <a:t>If you remember one line from this deck: a cluster shards by slot, so every key that must be read or changed together needs the same {hash tag}.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6" name="ft35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8 ·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16384 slots, CRC16(key) mod 16384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Masters own slot ranges; nodes answer MOVED rather than proxy, and cluster clients follow it.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Related keys need one {hash tag}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MSET, MULTI and Lua across slots fail with CROSSSLOT - design key names before you shard.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Failover is automatic and took about 8 s here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node-timeout 5 s, then quorum, a replica election - and the old master rejoins as a replica.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Lose a master and its replica and everything stops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cluster-require-full-coverage yes is the safe default - partial answers are worse than none.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Scale with add-node, reshard, rebalance - then check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Keys travel with their slots; --cluster check and fix clean up a move that was interrupted.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Labs C.1 to C.7 · build, break, reshard and connect to your own cluster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