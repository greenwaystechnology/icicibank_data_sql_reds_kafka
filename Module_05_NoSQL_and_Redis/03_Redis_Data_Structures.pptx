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 Data
Structures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classical structures first, then the nine types Redis builds from them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STRING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LIST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SET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ZSET</a:t>
            </a:r>
          </a:p>
        </p:txBody>
      </p:sp>
      <p:sp>
        <p:nvSpPr>
          <p:cNvPr id="9" name="a0ud1400_pill8"/>
          <p:cNvSpPr/>
          <p:nvPr/>
        </p:nvSpPr>
        <p:spPr>
          <a:xfrm>
            <a:off x="4645152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HASH</a:t>
            </a:r>
          </a:p>
        </p:txBody>
      </p:sp>
      <p:sp>
        <p:nvSpPr>
          <p:cNvPr id="10" name="a0fd1400_nt9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3 of 5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This Deck Covers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Fundamentals first - the Redis types then make sense on their own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190652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classics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PART 1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Array, linked list, stack, queue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Hash table, map, set, skip list</a:t>
            </a:r>
          </a:p>
        </p:txBody>
      </p:sp>
      <p:sp>
        <p:nvSpPr>
          <p:cNvPr id="12" name="a2u_card11"/>
          <p:cNvSpPr/>
          <p:nvPr/>
        </p:nvSpPr>
        <p:spPr>
          <a:xfrm>
            <a:off x="2564892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2564892" y="1216152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272948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272948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2729484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In-memory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2729484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PART 1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2729484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Why "in-memory" is a design, not a setting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2729484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Pointers, locality, Big-O</a:t>
            </a:r>
          </a:p>
        </p:txBody>
      </p:sp>
      <p:sp>
        <p:nvSpPr>
          <p:cNvPr id="20" name="a3u_card19"/>
          <p:cNvSpPr/>
          <p:nvPr/>
        </p:nvSpPr>
        <p:spPr>
          <a:xfrm>
            <a:off x="4672584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4672584" y="1216152"/>
            <a:ext cx="1906524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4837176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4837176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4837176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Redis types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4837176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PART 2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4837176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Nine types, one slide each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4837176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Commands and banking examples</a:t>
            </a:r>
          </a:p>
        </p:txBody>
      </p:sp>
      <p:sp>
        <p:nvSpPr>
          <p:cNvPr id="28" name="a4u_card27"/>
          <p:cNvSpPr/>
          <p:nvPr/>
        </p:nvSpPr>
        <p:spPr>
          <a:xfrm>
            <a:off x="6780276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acc28"/>
          <p:cNvSpPr/>
          <p:nvPr/>
        </p:nvSpPr>
        <p:spPr>
          <a:xfrm>
            <a:off x="6780276" y="1216152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d60_ic29"/>
          <p:cNvSpPr/>
          <p:nvPr/>
        </p:nvSpPr>
        <p:spPr>
          <a:xfrm>
            <a:off x="694486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d60_ict30"/>
          <p:cNvSpPr txBox="1"/>
          <p:nvPr/>
        </p:nvSpPr>
        <p:spPr>
          <a:xfrm>
            <a:off x="694486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a4ud90_ct31"/>
          <p:cNvSpPr txBox="1"/>
          <p:nvPr/>
        </p:nvSpPr>
        <p:spPr>
          <a:xfrm>
            <a:off x="6944868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Choosing</a:t>
            </a:r>
          </a:p>
        </p:txBody>
      </p:sp>
      <p:sp>
        <p:nvSpPr>
          <p:cNvPr id="33" name="a4ud120_cs32"/>
          <p:cNvSpPr txBox="1"/>
          <p:nvPr/>
        </p:nvSpPr>
        <p:spPr>
          <a:xfrm>
            <a:off x="6944868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PART 2</a:t>
            </a:r>
          </a:p>
        </p:txBody>
      </p:sp>
      <p:sp>
        <p:nvSpPr>
          <p:cNvPr id="34" name="a4ud150_cb33"/>
          <p:cNvSpPr txBox="1"/>
          <p:nvPr/>
        </p:nvSpPr>
        <p:spPr>
          <a:xfrm>
            <a:off x="6944868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decision table you can keep</a:t>
            </a:r>
          </a:p>
        </p:txBody>
      </p:sp>
      <p:sp>
        <p:nvSpPr>
          <p:cNvPr id="35" name="a4ud220_cb34"/>
          <p:cNvSpPr txBox="1"/>
          <p:nvPr/>
        </p:nvSpPr>
        <p:spPr>
          <a:xfrm>
            <a:off x="6944868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What each type costs in memory</a:t>
            </a:r>
          </a:p>
        </p:txBody>
      </p:sp>
      <p:sp>
        <p:nvSpPr>
          <p:cNvPr id="36" name="a5u_nb35"/>
          <p:cNvSpPr/>
          <p:nvPr/>
        </p:nvSpPr>
        <p:spPr>
          <a:xfrm>
            <a:off x="457200" y="2907791"/>
            <a:ext cx="822960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5u_nacc36"/>
          <p:cNvSpPr/>
          <p:nvPr/>
        </p:nvSpPr>
        <p:spPr>
          <a:xfrm>
            <a:off x="457200" y="2907791"/>
            <a:ext cx="50292" cy="6217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5u_nt37"/>
          <p:cNvSpPr txBox="1"/>
          <p:nvPr/>
        </p:nvSpPr>
        <p:spPr>
          <a:xfrm>
            <a:off x="658368" y="2907791"/>
            <a:ext cx="78272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8B5CF6"/>
                </a:solidFill>
                <a:latin typeface="Calibri"/>
              </a:rPr>
              <a:t>NOTE  </a:t>
            </a:r>
            <a:r>
              <a:rPr sz="1150" b="0">
                <a:solidFill>
                  <a:srgbClr val="334155"/>
                </a:solidFill>
                <a:latin typeface="Calibri"/>
              </a:rPr>
              <a:t>Tools, the RESP protocol, redis.conf and the storage model are deck 4. Every command in detail, with real-time use cases, is deck 5.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In-Memory Data Structures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computer-science layer underneath every Redis command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Array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Linked list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Stack &amp; queue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Hash table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Set</a:t>
            </a:r>
          </a:p>
        </p:txBody>
      </p:sp>
      <p:sp>
        <p:nvSpPr>
          <p:cNvPr id="10" name="a0ud1350_pill9"/>
          <p:cNvSpPr/>
          <p:nvPr/>
        </p:nvSpPr>
        <p:spPr>
          <a:xfrm>
            <a:off x="5532120" y="37033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Skip list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"In-Memory Data Structure" Actually Means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properties that disk-based structures cannot have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0432"/>
            <a:ext cx="50292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40_pt5"/>
          <p:cNvSpPr txBox="1"/>
          <p:nvPr/>
        </p:nvSpPr>
        <p:spPr>
          <a:xfrm>
            <a:off x="685800" y="12618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Addressable by pointer</a:t>
            </a:r>
          </a:p>
        </p:txBody>
      </p:sp>
      <p:sp>
        <p:nvSpPr>
          <p:cNvPr id="7" name="a1ud80_pd6"/>
          <p:cNvSpPr txBox="1"/>
          <p:nvPr/>
        </p:nvSpPr>
        <p:spPr>
          <a:xfrm>
            <a:off x="685800" y="1554480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Any element is one pointer dereference away. No block, no page, no seek. A structure can be scattered across RAM and still be fast.</a:t>
            </a:r>
          </a:p>
        </p:txBody>
      </p:sp>
      <p:sp>
        <p:nvSpPr>
          <p:cNvPr id="8" name="a2u_card7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u_acc8"/>
          <p:cNvSpPr/>
          <p:nvPr/>
        </p:nvSpPr>
        <p:spPr>
          <a:xfrm>
            <a:off x="457200" y="2103120"/>
            <a:ext cx="50292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d40_pt9"/>
          <p:cNvSpPr txBox="1"/>
          <p:nvPr/>
        </p:nvSpPr>
        <p:spPr>
          <a:xfrm>
            <a:off x="685800" y="2194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Nanoseconds, not milliseconds</a:t>
            </a:r>
          </a:p>
        </p:txBody>
      </p:sp>
      <p:sp>
        <p:nvSpPr>
          <p:cNvPr id="11" name="a2ud80_pd10"/>
          <p:cNvSpPr txBox="1"/>
          <p:nvPr/>
        </p:nvSpPr>
        <p:spPr>
          <a:xfrm>
            <a:off x="685800" y="2487168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 RAM access is ~100 ns. That is 100 000x faster than a disk seek, which is why Redis can afford structures that touch memory many times per command.</a:t>
            </a:r>
          </a:p>
        </p:txBody>
      </p:sp>
      <p:sp>
        <p:nvSpPr>
          <p:cNvPr id="12" name="a3u_card11"/>
          <p:cNvSpPr/>
          <p:nvPr/>
        </p:nvSpPr>
        <p:spPr>
          <a:xfrm>
            <a:off x="457200" y="3035808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3u_acc12"/>
          <p:cNvSpPr/>
          <p:nvPr/>
        </p:nvSpPr>
        <p:spPr>
          <a:xfrm>
            <a:off x="457200" y="3035808"/>
            <a:ext cx="50292" cy="82296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3ud40_pt13"/>
          <p:cNvSpPr txBox="1"/>
          <p:nvPr/>
        </p:nvSpPr>
        <p:spPr>
          <a:xfrm>
            <a:off x="685800" y="31272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Volatile by default</a:t>
            </a:r>
          </a:p>
        </p:txBody>
      </p:sp>
      <p:sp>
        <p:nvSpPr>
          <p:cNvPr id="15" name="a3ud80_pd14"/>
          <p:cNvSpPr txBox="1"/>
          <p:nvPr/>
        </p:nvSpPr>
        <p:spPr>
          <a:xfrm>
            <a:off x="685800" y="3419856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Power off and it is gone. Persistence is something you bolt on deliberately - RDB snapshots or an append-only log - and it costs you either time or throughput.</a:t>
            </a:r>
          </a:p>
        </p:txBody>
      </p:sp>
      <p:sp>
        <p:nvSpPr>
          <p:cNvPr id="16" name="a4u_nb15"/>
          <p:cNvSpPr/>
          <p:nvPr/>
        </p:nvSpPr>
        <p:spPr>
          <a:xfrm>
            <a:off x="457200" y="4050791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4u_nacc16"/>
          <p:cNvSpPr/>
          <p:nvPr/>
        </p:nvSpPr>
        <p:spPr>
          <a:xfrm>
            <a:off x="457200" y="4050791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4u_nt17"/>
          <p:cNvSpPr txBox="1"/>
          <p:nvPr/>
        </p:nvSpPr>
        <p:spPr>
          <a:xfrm>
            <a:off x="658368" y="4050791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A relational engine spends most of its design effort hiding the disk - B-trees, buffer pools, write-ahead logs. Remove the disk from the read path and all of that machinery disappears. What is left is a dictionary.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Array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block of memory, fixed element size, constant-time index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CONTIGUOUS BLOCK, INDEXED FROM 0</a:t>
            </a:r>
          </a:p>
        </p:txBody>
      </p:sp>
      <p:sp>
        <p:nvSpPr>
          <p:cNvPr id="6" name="a1w_cell5"/>
          <p:cNvSpPr/>
          <p:nvPr/>
        </p:nvSpPr>
        <p:spPr>
          <a:xfrm>
            <a:off x="658368" y="1600200"/>
            <a:ext cx="676656" cy="420624"/>
          </a:xfrm>
          <a:prstGeom prst="roundRect">
            <a:avLst>
              <a:gd name="adj" fmla="val 1086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_cv6"/>
          <p:cNvSpPr txBox="1"/>
          <p:nvPr/>
        </p:nvSpPr>
        <p:spPr>
          <a:xfrm>
            <a:off x="658368" y="1600200"/>
            <a:ext cx="6766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120</a:t>
            </a:r>
          </a:p>
        </p:txBody>
      </p:sp>
      <p:sp>
        <p:nvSpPr>
          <p:cNvPr id="8" name="a1fd100_ci7"/>
          <p:cNvSpPr txBox="1"/>
          <p:nvPr/>
        </p:nvSpPr>
        <p:spPr>
          <a:xfrm>
            <a:off x="658368" y="2057400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ourier New"/>
              </a:rPr>
              <a:t>[0]</a:t>
            </a:r>
          </a:p>
        </p:txBody>
      </p:sp>
      <p:sp>
        <p:nvSpPr>
          <p:cNvPr id="9" name="a1wd70_cell8"/>
          <p:cNvSpPr/>
          <p:nvPr/>
        </p:nvSpPr>
        <p:spPr>
          <a:xfrm>
            <a:off x="1371600" y="1600200"/>
            <a:ext cx="676656" cy="420624"/>
          </a:xfrm>
          <a:prstGeom prst="roundRect">
            <a:avLst>
              <a:gd name="adj" fmla="val 1086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70_cv9"/>
          <p:cNvSpPr txBox="1"/>
          <p:nvPr/>
        </p:nvSpPr>
        <p:spPr>
          <a:xfrm>
            <a:off x="1371600" y="1600200"/>
            <a:ext cx="6766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340</a:t>
            </a:r>
          </a:p>
        </p:txBody>
      </p:sp>
      <p:sp>
        <p:nvSpPr>
          <p:cNvPr id="11" name="a1fd170_ci10"/>
          <p:cNvSpPr txBox="1"/>
          <p:nvPr/>
        </p:nvSpPr>
        <p:spPr>
          <a:xfrm>
            <a:off x="1371600" y="2057400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ourier New"/>
              </a:rPr>
              <a:t>[1]</a:t>
            </a:r>
          </a:p>
        </p:txBody>
      </p:sp>
      <p:sp>
        <p:nvSpPr>
          <p:cNvPr id="12" name="a1wd140_cell11"/>
          <p:cNvSpPr/>
          <p:nvPr/>
        </p:nvSpPr>
        <p:spPr>
          <a:xfrm>
            <a:off x="2084832" y="1600200"/>
            <a:ext cx="676656" cy="420624"/>
          </a:xfrm>
          <a:prstGeom prst="roundRect">
            <a:avLst>
              <a:gd name="adj" fmla="val 1086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40_cv12"/>
          <p:cNvSpPr txBox="1"/>
          <p:nvPr/>
        </p:nvSpPr>
        <p:spPr>
          <a:xfrm>
            <a:off x="2084832" y="1600200"/>
            <a:ext cx="6766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915</a:t>
            </a:r>
          </a:p>
        </p:txBody>
      </p:sp>
      <p:sp>
        <p:nvSpPr>
          <p:cNvPr id="14" name="a1fd240_ci13"/>
          <p:cNvSpPr txBox="1"/>
          <p:nvPr/>
        </p:nvSpPr>
        <p:spPr>
          <a:xfrm>
            <a:off x="2084832" y="2057400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ourier New"/>
              </a:rPr>
              <a:t>[2]</a:t>
            </a:r>
          </a:p>
        </p:txBody>
      </p:sp>
      <p:sp>
        <p:nvSpPr>
          <p:cNvPr id="15" name="a1wd210_cell14"/>
          <p:cNvSpPr/>
          <p:nvPr/>
        </p:nvSpPr>
        <p:spPr>
          <a:xfrm>
            <a:off x="2798063" y="1600200"/>
            <a:ext cx="676656" cy="420624"/>
          </a:xfrm>
          <a:prstGeom prst="roundRect">
            <a:avLst>
              <a:gd name="adj" fmla="val 1086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10_cv15"/>
          <p:cNvSpPr txBox="1"/>
          <p:nvPr/>
        </p:nvSpPr>
        <p:spPr>
          <a:xfrm>
            <a:off x="2798063" y="1600200"/>
            <a:ext cx="6766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402</a:t>
            </a:r>
          </a:p>
        </p:txBody>
      </p:sp>
      <p:sp>
        <p:nvSpPr>
          <p:cNvPr id="17" name="a1fd310_ci16"/>
          <p:cNvSpPr txBox="1"/>
          <p:nvPr/>
        </p:nvSpPr>
        <p:spPr>
          <a:xfrm>
            <a:off x="2798063" y="2057400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ourier New"/>
              </a:rPr>
              <a:t>[3]</a:t>
            </a:r>
          </a:p>
        </p:txBody>
      </p:sp>
      <p:sp>
        <p:nvSpPr>
          <p:cNvPr id="18" name="a1wd280_cell17"/>
          <p:cNvSpPr/>
          <p:nvPr/>
        </p:nvSpPr>
        <p:spPr>
          <a:xfrm>
            <a:off x="3511296" y="1600200"/>
            <a:ext cx="676656" cy="420624"/>
          </a:xfrm>
          <a:prstGeom prst="roundRect">
            <a:avLst>
              <a:gd name="adj" fmla="val 1086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80_cv18"/>
          <p:cNvSpPr txBox="1"/>
          <p:nvPr/>
        </p:nvSpPr>
        <p:spPr>
          <a:xfrm>
            <a:off x="3511296" y="1600200"/>
            <a:ext cx="6766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778</a:t>
            </a:r>
          </a:p>
        </p:txBody>
      </p:sp>
      <p:sp>
        <p:nvSpPr>
          <p:cNvPr id="20" name="a1fd380_ci19"/>
          <p:cNvSpPr txBox="1"/>
          <p:nvPr/>
        </p:nvSpPr>
        <p:spPr>
          <a:xfrm>
            <a:off x="3511296" y="2057400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ourier New"/>
              </a:rPr>
              <a:t>[4]</a:t>
            </a:r>
          </a:p>
        </p:txBody>
      </p:sp>
      <p:sp>
        <p:nvSpPr>
          <p:cNvPr id="21" name="a1wd350_cell20"/>
          <p:cNvSpPr/>
          <p:nvPr/>
        </p:nvSpPr>
        <p:spPr>
          <a:xfrm>
            <a:off x="4224528" y="1600200"/>
            <a:ext cx="676656" cy="420624"/>
          </a:xfrm>
          <a:prstGeom prst="roundRect">
            <a:avLst>
              <a:gd name="adj" fmla="val 1086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350_cv21"/>
          <p:cNvSpPr txBox="1"/>
          <p:nvPr/>
        </p:nvSpPr>
        <p:spPr>
          <a:xfrm>
            <a:off x="4224528" y="1600200"/>
            <a:ext cx="6766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231</a:t>
            </a:r>
          </a:p>
        </p:txBody>
      </p:sp>
      <p:sp>
        <p:nvSpPr>
          <p:cNvPr id="23" name="a1fd450_ci22"/>
          <p:cNvSpPr txBox="1"/>
          <p:nvPr/>
        </p:nvSpPr>
        <p:spPr>
          <a:xfrm>
            <a:off x="4224528" y="2057400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ourier New"/>
              </a:rPr>
              <a:t>[5]</a:t>
            </a:r>
          </a:p>
        </p:txBody>
      </p:sp>
      <p:sp>
        <p:nvSpPr>
          <p:cNvPr id="24" name="a1fd520_cap23"/>
          <p:cNvSpPr txBox="1"/>
          <p:nvPr/>
        </p:nvSpPr>
        <p:spPr>
          <a:xfrm>
            <a:off x="640080" y="2295144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address(i) = base + i × size — the index is arithmetic, not a search.</a:t>
            </a:r>
          </a:p>
        </p:txBody>
      </p:sp>
      <p:sp>
        <p:nvSpPr>
          <p:cNvPr id="25" name="a2u_card24"/>
          <p:cNvSpPr/>
          <p:nvPr/>
        </p:nvSpPr>
        <p:spPr>
          <a:xfrm>
            <a:off x="5394960" y="1143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hh25"/>
          <p:cNvSpPr txBox="1"/>
          <p:nvPr/>
        </p:nvSpPr>
        <p:spPr>
          <a:xfrm>
            <a:off x="5577840" y="1252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OPERATIONS &amp; COST</a:t>
            </a:r>
          </a:p>
        </p:txBody>
      </p:sp>
      <p:sp>
        <p:nvSpPr>
          <p:cNvPr id="27" name="a2w_op26"/>
          <p:cNvSpPr txBox="1"/>
          <p:nvPr/>
        </p:nvSpPr>
        <p:spPr>
          <a:xfrm>
            <a:off x="5577840" y="15087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get(i)</a:t>
            </a:r>
          </a:p>
        </p:txBody>
      </p:sp>
      <p:sp>
        <p:nvSpPr>
          <p:cNvPr id="28" name="a2w_cb27"/>
          <p:cNvSpPr/>
          <p:nvPr/>
        </p:nvSpPr>
        <p:spPr>
          <a:xfrm>
            <a:off x="6931152" y="153619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_ct28"/>
          <p:cNvSpPr txBox="1"/>
          <p:nvPr/>
        </p:nvSpPr>
        <p:spPr>
          <a:xfrm>
            <a:off x="6931152" y="152704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0" name="a2w_on29"/>
          <p:cNvSpPr txBox="1"/>
          <p:nvPr/>
        </p:nvSpPr>
        <p:spPr>
          <a:xfrm>
            <a:off x="7534656" y="150876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arithmetic</a:t>
            </a:r>
          </a:p>
        </p:txBody>
      </p:sp>
      <p:sp>
        <p:nvSpPr>
          <p:cNvPr id="31" name="a2wd70_op30"/>
          <p:cNvSpPr txBox="1"/>
          <p:nvPr/>
        </p:nvSpPr>
        <p:spPr>
          <a:xfrm>
            <a:off x="557784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set(i, v)</a:t>
            </a:r>
          </a:p>
        </p:txBody>
      </p:sp>
      <p:sp>
        <p:nvSpPr>
          <p:cNvPr id="32" name="a2wd70_cb31"/>
          <p:cNvSpPr/>
          <p:nvPr/>
        </p:nvSpPr>
        <p:spPr>
          <a:xfrm>
            <a:off x="6931152" y="181051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70_ct32"/>
          <p:cNvSpPr txBox="1"/>
          <p:nvPr/>
        </p:nvSpPr>
        <p:spPr>
          <a:xfrm>
            <a:off x="6931152" y="180136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4" name="a2wd70_on33"/>
          <p:cNvSpPr txBox="1"/>
          <p:nvPr/>
        </p:nvSpPr>
        <p:spPr>
          <a:xfrm>
            <a:off x="7534656" y="178308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arithmetic</a:t>
            </a:r>
          </a:p>
        </p:txBody>
      </p:sp>
      <p:sp>
        <p:nvSpPr>
          <p:cNvPr id="35" name="a2wd140_op34"/>
          <p:cNvSpPr txBox="1"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append</a:t>
            </a:r>
          </a:p>
        </p:txBody>
      </p:sp>
      <p:sp>
        <p:nvSpPr>
          <p:cNvPr id="36" name="a2wd140_cb35"/>
          <p:cNvSpPr/>
          <p:nvPr/>
        </p:nvSpPr>
        <p:spPr>
          <a:xfrm>
            <a:off x="6931152" y="208483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140_ct36"/>
          <p:cNvSpPr txBox="1"/>
          <p:nvPr/>
        </p:nvSpPr>
        <p:spPr>
          <a:xfrm>
            <a:off x="6931152" y="207568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O(1)*</a:t>
            </a:r>
          </a:p>
        </p:txBody>
      </p:sp>
      <p:sp>
        <p:nvSpPr>
          <p:cNvPr id="38" name="a2wd140_on37"/>
          <p:cNvSpPr txBox="1"/>
          <p:nvPr/>
        </p:nvSpPr>
        <p:spPr>
          <a:xfrm>
            <a:off x="7534656" y="205740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amortised</a:t>
            </a:r>
          </a:p>
        </p:txBody>
      </p:sp>
      <p:sp>
        <p:nvSpPr>
          <p:cNvPr id="39" name="a2wd210_op38"/>
          <p:cNvSpPr txBox="1"/>
          <p:nvPr/>
        </p:nvSpPr>
        <p:spPr>
          <a:xfrm>
            <a:off x="5577840" y="23317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insert(i)</a:t>
            </a:r>
          </a:p>
        </p:txBody>
      </p:sp>
      <p:sp>
        <p:nvSpPr>
          <p:cNvPr id="40" name="a2wd210_cb39"/>
          <p:cNvSpPr/>
          <p:nvPr/>
        </p:nvSpPr>
        <p:spPr>
          <a:xfrm>
            <a:off x="6931152" y="235915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210_ct40"/>
          <p:cNvSpPr txBox="1"/>
          <p:nvPr/>
        </p:nvSpPr>
        <p:spPr>
          <a:xfrm>
            <a:off x="6931152" y="235000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42" name="a2wd210_on41"/>
          <p:cNvSpPr txBox="1"/>
          <p:nvPr/>
        </p:nvSpPr>
        <p:spPr>
          <a:xfrm>
            <a:off x="7534656" y="233172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shift the rest</a:t>
            </a:r>
          </a:p>
        </p:txBody>
      </p:sp>
      <p:sp>
        <p:nvSpPr>
          <p:cNvPr id="43" name="a2wd280_op42"/>
          <p:cNvSpPr txBox="1"/>
          <p:nvPr/>
        </p:nvSpPr>
        <p:spPr>
          <a:xfrm>
            <a:off x="5577840" y="2606039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search</a:t>
            </a:r>
          </a:p>
        </p:txBody>
      </p:sp>
      <p:sp>
        <p:nvSpPr>
          <p:cNvPr id="44" name="a2wd280_cb43"/>
          <p:cNvSpPr/>
          <p:nvPr/>
        </p:nvSpPr>
        <p:spPr>
          <a:xfrm>
            <a:off x="6931152" y="263347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280_ct44"/>
          <p:cNvSpPr txBox="1"/>
          <p:nvPr/>
        </p:nvSpPr>
        <p:spPr>
          <a:xfrm>
            <a:off x="6931152" y="2624327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46" name="a2wd280_on45"/>
          <p:cNvSpPr txBox="1"/>
          <p:nvPr/>
        </p:nvSpPr>
        <p:spPr>
          <a:xfrm>
            <a:off x="7534656" y="2606039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O(log n) if sorted</a:t>
            </a:r>
          </a:p>
        </p:txBody>
      </p:sp>
      <p:sp>
        <p:nvSpPr>
          <p:cNvPr id="47" name="a3u_card46"/>
          <p:cNvSpPr/>
          <p:nvPr/>
        </p:nvSpPr>
        <p:spPr>
          <a:xfrm>
            <a:off x="457200" y="2843784"/>
            <a:ext cx="475488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3u_hh47"/>
          <p:cNvSpPr txBox="1"/>
          <p:nvPr/>
        </p:nvSpPr>
        <p:spPr>
          <a:xfrm>
            <a:off x="640080" y="2953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WHERE YOU MEET IT</a:t>
            </a:r>
          </a:p>
        </p:txBody>
      </p:sp>
      <p:sp>
        <p:nvSpPr>
          <p:cNvPr id="49" name="a3ud60_dot48"/>
          <p:cNvSpPr/>
          <p:nvPr/>
        </p:nvSpPr>
        <p:spPr>
          <a:xfrm>
            <a:off x="640080" y="331012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3ud60_b49"/>
          <p:cNvSpPr txBox="1"/>
          <p:nvPr/>
        </p:nvSpPr>
        <p:spPr>
          <a:xfrm>
            <a:off x="859536" y="3209544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Every compiled language's [] operator</a:t>
            </a:r>
          </a:p>
        </p:txBody>
      </p:sp>
      <p:sp>
        <p:nvSpPr>
          <p:cNvPr id="51" name="a3ud160_dot50"/>
          <p:cNvSpPr/>
          <p:nvPr/>
        </p:nvSpPr>
        <p:spPr>
          <a:xfrm>
            <a:off x="640080" y="36118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3ud160_b51"/>
          <p:cNvSpPr txBox="1"/>
          <p:nvPr/>
        </p:nvSpPr>
        <p:spPr>
          <a:xfrm>
            <a:off x="859536" y="3511296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backing store of JavaScript arrays and Java ArrayList</a:t>
            </a:r>
          </a:p>
        </p:txBody>
      </p:sp>
      <p:sp>
        <p:nvSpPr>
          <p:cNvPr id="53" name="a3ud260_dot52"/>
          <p:cNvSpPr/>
          <p:nvPr/>
        </p:nvSpPr>
        <p:spPr>
          <a:xfrm>
            <a:off x="640080" y="391363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3ud260_b53"/>
          <p:cNvSpPr txBox="1"/>
          <p:nvPr/>
        </p:nvSpPr>
        <p:spPr>
          <a:xfrm>
            <a:off x="859536" y="3813048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Fixed-size buffers, ring buffers, matrices</a:t>
            </a:r>
          </a:p>
        </p:txBody>
      </p:sp>
      <p:sp>
        <p:nvSpPr>
          <p:cNvPr id="55" name="a4u_card54"/>
          <p:cNvSpPr/>
          <p:nvPr/>
        </p:nvSpPr>
        <p:spPr>
          <a:xfrm>
            <a:off x="5394960" y="2843784"/>
            <a:ext cx="3291840" cy="132588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4u_hh55"/>
          <p:cNvSpPr txBox="1"/>
          <p:nvPr/>
        </p:nvSpPr>
        <p:spPr>
          <a:xfrm>
            <a:off x="5577840" y="2953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IN REDIS</a:t>
            </a:r>
          </a:p>
        </p:txBody>
      </p:sp>
      <p:sp>
        <p:nvSpPr>
          <p:cNvPr id="57" name="a4ud60_rl56"/>
          <p:cNvSpPr txBox="1"/>
          <p:nvPr/>
        </p:nvSpPr>
        <p:spPr>
          <a:xfrm>
            <a:off x="5577840" y="3209544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No array type is exposed directly. Internally, small lists, hashes and sorted sets are stored in a listpack — a flat, array-like block — because contiguous memory is cache-friendly and has almost no per-element overhead.</a:t>
            </a:r>
          </a:p>
        </p:txBody>
      </p:sp>
      <p:sp>
        <p:nvSpPr>
          <p:cNvPr id="58" name="ft5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9" name="ft5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Linked List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Cheap at the ends, expensive in the middle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NODES + POINTERS, SCATTERED IN MEMORY</a:t>
            </a:r>
          </a:p>
        </p:txBody>
      </p:sp>
      <p:sp>
        <p:nvSpPr>
          <p:cNvPr id="6" name="a1u_n5"/>
          <p:cNvSpPr/>
          <p:nvPr/>
        </p:nvSpPr>
        <p:spPr>
          <a:xfrm>
            <a:off x="713232" y="1636776"/>
            <a:ext cx="658368" cy="402336"/>
          </a:xfrm>
          <a:prstGeom prst="roundRect">
            <a:avLst>
              <a:gd name="adj" fmla="val 1136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_nv6"/>
          <p:cNvSpPr txBox="1"/>
          <p:nvPr/>
        </p:nvSpPr>
        <p:spPr>
          <a:xfrm>
            <a:off x="713232" y="1636776"/>
            <a:ext cx="658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cxnSp>
        <p:nvCxnSpPr>
          <p:cNvPr id="8" name="a1wd60_ar7"/>
          <p:cNvCxnSpPr/>
          <p:nvPr/>
        </p:nvCxnSpPr>
        <p:spPr>
          <a:xfrm>
            <a:off x="1389888" y="1837943"/>
            <a:ext cx="420624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1ud100_n8"/>
          <p:cNvSpPr/>
          <p:nvPr/>
        </p:nvSpPr>
        <p:spPr>
          <a:xfrm>
            <a:off x="1828800" y="1636776"/>
            <a:ext cx="658368" cy="402336"/>
          </a:xfrm>
          <a:prstGeom prst="roundRect">
            <a:avLst>
              <a:gd name="adj" fmla="val 1136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00_nv9"/>
          <p:cNvSpPr txBox="1"/>
          <p:nvPr/>
        </p:nvSpPr>
        <p:spPr>
          <a:xfrm>
            <a:off x="1828800" y="1636776"/>
            <a:ext cx="658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cxnSp>
        <p:nvCxnSpPr>
          <p:cNvPr id="11" name="a1wd160_ar10"/>
          <p:cNvCxnSpPr/>
          <p:nvPr/>
        </p:nvCxnSpPr>
        <p:spPr>
          <a:xfrm>
            <a:off x="2505456" y="1837943"/>
            <a:ext cx="420624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1ud200_n11"/>
          <p:cNvSpPr/>
          <p:nvPr/>
        </p:nvSpPr>
        <p:spPr>
          <a:xfrm>
            <a:off x="2944368" y="1636776"/>
            <a:ext cx="658368" cy="402336"/>
          </a:xfrm>
          <a:prstGeom prst="roundRect">
            <a:avLst>
              <a:gd name="adj" fmla="val 1136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200_nv12"/>
          <p:cNvSpPr txBox="1"/>
          <p:nvPr/>
        </p:nvSpPr>
        <p:spPr>
          <a:xfrm>
            <a:off x="2944368" y="1636776"/>
            <a:ext cx="658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cxnSp>
        <p:nvCxnSpPr>
          <p:cNvPr id="14" name="a1wd260_ar13"/>
          <p:cNvCxnSpPr/>
          <p:nvPr/>
        </p:nvCxnSpPr>
        <p:spPr>
          <a:xfrm>
            <a:off x="3621024" y="1837943"/>
            <a:ext cx="420624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1ud300_n14"/>
          <p:cNvSpPr/>
          <p:nvPr/>
        </p:nvSpPr>
        <p:spPr>
          <a:xfrm>
            <a:off x="4059936" y="1636776"/>
            <a:ext cx="658368" cy="402336"/>
          </a:xfrm>
          <a:prstGeom prst="roundRect">
            <a:avLst>
              <a:gd name="adj" fmla="val 1136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300_nv15"/>
          <p:cNvSpPr txBox="1"/>
          <p:nvPr/>
        </p:nvSpPr>
        <p:spPr>
          <a:xfrm>
            <a:off x="4059936" y="1636776"/>
            <a:ext cx="658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17" name="a1fd480_cap16"/>
          <p:cNvSpPr txBox="1"/>
          <p:nvPr/>
        </p:nvSpPr>
        <p:spPr>
          <a:xfrm>
            <a:off x="640080" y="214884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Insert or delete at either end is just a pointer swap. Finding element k means walking k links — there is no arithmetic shortcut.</a:t>
            </a:r>
          </a:p>
        </p:txBody>
      </p:sp>
      <p:sp>
        <p:nvSpPr>
          <p:cNvPr id="18" name="a2u_card17"/>
          <p:cNvSpPr/>
          <p:nvPr/>
        </p:nvSpPr>
        <p:spPr>
          <a:xfrm>
            <a:off x="5394960" y="1143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hh18"/>
          <p:cNvSpPr txBox="1"/>
          <p:nvPr/>
        </p:nvSpPr>
        <p:spPr>
          <a:xfrm>
            <a:off x="5577840" y="1252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OPERATIONS &amp; COST</a:t>
            </a:r>
          </a:p>
        </p:txBody>
      </p:sp>
      <p:sp>
        <p:nvSpPr>
          <p:cNvPr id="20" name="a2w_op19"/>
          <p:cNvSpPr txBox="1"/>
          <p:nvPr/>
        </p:nvSpPr>
        <p:spPr>
          <a:xfrm>
            <a:off x="5577840" y="15087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push front</a:t>
            </a:r>
          </a:p>
        </p:txBody>
      </p:sp>
      <p:sp>
        <p:nvSpPr>
          <p:cNvPr id="21" name="a2w_cb20"/>
          <p:cNvSpPr/>
          <p:nvPr/>
        </p:nvSpPr>
        <p:spPr>
          <a:xfrm>
            <a:off x="6931152" y="153619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_ct21"/>
          <p:cNvSpPr txBox="1"/>
          <p:nvPr/>
        </p:nvSpPr>
        <p:spPr>
          <a:xfrm>
            <a:off x="6931152" y="152704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23" name="a2w_on22"/>
          <p:cNvSpPr txBox="1"/>
          <p:nvPr/>
        </p:nvSpPr>
        <p:spPr>
          <a:xfrm>
            <a:off x="7534656" y="150876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pointer swap</a:t>
            </a:r>
          </a:p>
        </p:txBody>
      </p:sp>
      <p:sp>
        <p:nvSpPr>
          <p:cNvPr id="24" name="a2wd70_op23"/>
          <p:cNvSpPr txBox="1"/>
          <p:nvPr/>
        </p:nvSpPr>
        <p:spPr>
          <a:xfrm>
            <a:off x="557784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push back</a:t>
            </a:r>
          </a:p>
        </p:txBody>
      </p:sp>
      <p:sp>
        <p:nvSpPr>
          <p:cNvPr id="25" name="a2wd70_cb24"/>
          <p:cNvSpPr/>
          <p:nvPr/>
        </p:nvSpPr>
        <p:spPr>
          <a:xfrm>
            <a:off x="6931152" y="181051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70_ct25"/>
          <p:cNvSpPr txBox="1"/>
          <p:nvPr/>
        </p:nvSpPr>
        <p:spPr>
          <a:xfrm>
            <a:off x="6931152" y="180136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27" name="a2wd70_on26"/>
          <p:cNvSpPr txBox="1"/>
          <p:nvPr/>
        </p:nvSpPr>
        <p:spPr>
          <a:xfrm>
            <a:off x="7534656" y="178308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tail pointer</a:t>
            </a:r>
          </a:p>
        </p:txBody>
      </p:sp>
      <p:sp>
        <p:nvSpPr>
          <p:cNvPr id="28" name="a2wd140_op27"/>
          <p:cNvSpPr txBox="1"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pop front</a:t>
            </a:r>
          </a:p>
        </p:txBody>
      </p:sp>
      <p:sp>
        <p:nvSpPr>
          <p:cNvPr id="29" name="a2wd140_cb28"/>
          <p:cNvSpPr/>
          <p:nvPr/>
        </p:nvSpPr>
        <p:spPr>
          <a:xfrm>
            <a:off x="6931152" y="208483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140_ct29"/>
          <p:cNvSpPr txBox="1"/>
          <p:nvPr/>
        </p:nvSpPr>
        <p:spPr>
          <a:xfrm>
            <a:off x="6931152" y="207568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1" name="a2wd140_on30"/>
          <p:cNvSpPr txBox="1"/>
          <p:nvPr/>
        </p:nvSpPr>
        <p:spPr>
          <a:xfrm>
            <a:off x="7534656" y="205740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pointer swap</a:t>
            </a:r>
          </a:p>
        </p:txBody>
      </p:sp>
      <p:sp>
        <p:nvSpPr>
          <p:cNvPr id="32" name="a2wd210_op31"/>
          <p:cNvSpPr txBox="1"/>
          <p:nvPr/>
        </p:nvSpPr>
        <p:spPr>
          <a:xfrm>
            <a:off x="5577840" y="23317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get(i)</a:t>
            </a:r>
          </a:p>
        </p:txBody>
      </p:sp>
      <p:sp>
        <p:nvSpPr>
          <p:cNvPr id="33" name="a2wd210_cb32"/>
          <p:cNvSpPr/>
          <p:nvPr/>
        </p:nvSpPr>
        <p:spPr>
          <a:xfrm>
            <a:off x="6931152" y="235915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d210_ct33"/>
          <p:cNvSpPr txBox="1"/>
          <p:nvPr/>
        </p:nvSpPr>
        <p:spPr>
          <a:xfrm>
            <a:off x="6931152" y="235000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35" name="a2wd210_on34"/>
          <p:cNvSpPr txBox="1"/>
          <p:nvPr/>
        </p:nvSpPr>
        <p:spPr>
          <a:xfrm>
            <a:off x="7534656" y="233172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walk the links</a:t>
            </a:r>
          </a:p>
        </p:txBody>
      </p:sp>
      <p:sp>
        <p:nvSpPr>
          <p:cNvPr id="36" name="a2wd280_op35"/>
          <p:cNvSpPr txBox="1"/>
          <p:nvPr/>
        </p:nvSpPr>
        <p:spPr>
          <a:xfrm>
            <a:off x="5577840" y="2606039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search</a:t>
            </a:r>
          </a:p>
        </p:txBody>
      </p:sp>
      <p:sp>
        <p:nvSpPr>
          <p:cNvPr id="37" name="a2wd280_cb36"/>
          <p:cNvSpPr/>
          <p:nvPr/>
        </p:nvSpPr>
        <p:spPr>
          <a:xfrm>
            <a:off x="6931152" y="263347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wd280_ct37"/>
          <p:cNvSpPr txBox="1"/>
          <p:nvPr/>
        </p:nvSpPr>
        <p:spPr>
          <a:xfrm>
            <a:off x="6931152" y="2624327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39" name="a2wd280_on38"/>
          <p:cNvSpPr txBox="1"/>
          <p:nvPr/>
        </p:nvSpPr>
        <p:spPr>
          <a:xfrm>
            <a:off x="7534656" y="2606039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no shortcut</a:t>
            </a:r>
          </a:p>
        </p:txBody>
      </p:sp>
      <p:sp>
        <p:nvSpPr>
          <p:cNvPr id="40" name="a3u_card39"/>
          <p:cNvSpPr/>
          <p:nvPr/>
        </p:nvSpPr>
        <p:spPr>
          <a:xfrm>
            <a:off x="457200" y="2843784"/>
            <a:ext cx="475488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u_hh40"/>
          <p:cNvSpPr txBox="1"/>
          <p:nvPr/>
        </p:nvSpPr>
        <p:spPr>
          <a:xfrm>
            <a:off x="640080" y="2953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WHERE YOU MEET IT</a:t>
            </a:r>
          </a:p>
        </p:txBody>
      </p:sp>
      <p:sp>
        <p:nvSpPr>
          <p:cNvPr id="42" name="a3ud60_dot41"/>
          <p:cNvSpPr/>
          <p:nvPr/>
        </p:nvSpPr>
        <p:spPr>
          <a:xfrm>
            <a:off x="640080" y="331012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ud60_b42"/>
          <p:cNvSpPr txBox="1"/>
          <p:nvPr/>
        </p:nvSpPr>
        <p:spPr>
          <a:xfrm>
            <a:off x="859536" y="3209544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Queues and deques in every standard library</a:t>
            </a:r>
          </a:p>
        </p:txBody>
      </p:sp>
      <p:sp>
        <p:nvSpPr>
          <p:cNvPr id="44" name="a3ud160_dot43"/>
          <p:cNvSpPr/>
          <p:nvPr/>
        </p:nvSpPr>
        <p:spPr>
          <a:xfrm>
            <a:off x="640080" y="36118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ud160_b44"/>
          <p:cNvSpPr txBox="1"/>
          <p:nvPr/>
        </p:nvSpPr>
        <p:spPr>
          <a:xfrm>
            <a:off x="859536" y="3511296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LRU caches - move a node to the head on access</a:t>
            </a:r>
          </a:p>
        </p:txBody>
      </p:sp>
      <p:sp>
        <p:nvSpPr>
          <p:cNvPr id="46" name="a3ud260_dot45"/>
          <p:cNvSpPr/>
          <p:nvPr/>
        </p:nvSpPr>
        <p:spPr>
          <a:xfrm>
            <a:off x="640080" y="391363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ud260_b46"/>
          <p:cNvSpPr txBox="1"/>
          <p:nvPr/>
        </p:nvSpPr>
        <p:spPr>
          <a:xfrm>
            <a:off x="859536" y="3813048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Undo stacks, playlists, event buffers</a:t>
            </a:r>
          </a:p>
        </p:txBody>
      </p:sp>
      <p:sp>
        <p:nvSpPr>
          <p:cNvPr id="48" name="a4u_card47"/>
          <p:cNvSpPr/>
          <p:nvPr/>
        </p:nvSpPr>
        <p:spPr>
          <a:xfrm>
            <a:off x="5394960" y="2843784"/>
            <a:ext cx="3291840" cy="132588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4u_hh48"/>
          <p:cNvSpPr txBox="1"/>
          <p:nvPr/>
        </p:nvSpPr>
        <p:spPr>
          <a:xfrm>
            <a:off x="5577840" y="2953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IN REDIS</a:t>
            </a:r>
          </a:p>
        </p:txBody>
      </p:sp>
      <p:sp>
        <p:nvSpPr>
          <p:cNvPr id="50" name="a4ud60_rl49"/>
          <p:cNvSpPr txBox="1"/>
          <p:nvPr/>
        </p:nvSpPr>
        <p:spPr>
          <a:xfrm>
            <a:off x="5577840" y="3209544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The Redis List type. Large lists use a quicklist — a linked list of listpack nodes — so you get O(1) push and pop at both ends without one allocation per element.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Stack and Queue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access disciplines over the same underlying storage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SAME STORAGE, DIFFERENT DISCIPLINE</a:t>
            </a:r>
          </a:p>
        </p:txBody>
      </p:sp>
      <p:sp>
        <p:nvSpPr>
          <p:cNvPr id="6" name="a1ud40_sl5"/>
          <p:cNvSpPr txBox="1"/>
          <p:nvPr/>
        </p:nvSpPr>
        <p:spPr>
          <a:xfrm>
            <a:off x="658368" y="152704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STACK · LIFO</a:t>
            </a:r>
          </a:p>
        </p:txBody>
      </p:sp>
      <p:sp>
        <p:nvSpPr>
          <p:cNvPr id="7" name="a1w_sc6"/>
          <p:cNvSpPr/>
          <p:nvPr/>
        </p:nvSpPr>
        <p:spPr>
          <a:xfrm>
            <a:off x="822960" y="1764792"/>
            <a:ext cx="786384" cy="237744"/>
          </a:xfrm>
          <a:prstGeom prst="roundRect">
            <a:avLst>
              <a:gd name="adj" fmla="val 15384"/>
            </a:avLst>
          </a:prstGeom>
          <a:solidFill>
            <a:srgbClr val="DC382C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_sv7"/>
          <p:cNvSpPr txBox="1"/>
          <p:nvPr/>
        </p:nvSpPr>
        <p:spPr>
          <a:xfrm>
            <a:off x="822960" y="176479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9" name="a1wd80_sc8"/>
          <p:cNvSpPr/>
          <p:nvPr/>
        </p:nvSpPr>
        <p:spPr>
          <a:xfrm>
            <a:off x="822960" y="2039112"/>
            <a:ext cx="786384" cy="237744"/>
          </a:xfrm>
          <a:prstGeom prst="roundRect">
            <a:avLst>
              <a:gd name="adj" fmla="val 15384"/>
            </a:avLst>
          </a:prstGeom>
          <a:solidFill>
            <a:srgbClr val="FEE2E2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80_sv9"/>
          <p:cNvSpPr txBox="1"/>
          <p:nvPr/>
        </p:nvSpPr>
        <p:spPr>
          <a:xfrm>
            <a:off x="822960" y="203911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991B1B"/>
                </a:solidFill>
                <a:latin typeface="Courier New"/>
              </a:rPr>
              <a:t>B</a:t>
            </a:r>
          </a:p>
        </p:txBody>
      </p:sp>
      <p:sp>
        <p:nvSpPr>
          <p:cNvPr id="11" name="a1wd160_sc10"/>
          <p:cNvSpPr/>
          <p:nvPr/>
        </p:nvSpPr>
        <p:spPr>
          <a:xfrm>
            <a:off x="822960" y="2313432"/>
            <a:ext cx="786384" cy="237744"/>
          </a:xfrm>
          <a:prstGeom prst="roundRect">
            <a:avLst>
              <a:gd name="adj" fmla="val 15384"/>
            </a:avLst>
          </a:prstGeom>
          <a:solidFill>
            <a:srgbClr val="FEE2E2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160_sv11"/>
          <p:cNvSpPr txBox="1"/>
          <p:nvPr/>
        </p:nvSpPr>
        <p:spPr>
          <a:xfrm>
            <a:off x="822960" y="231343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991B1B"/>
                </a:solidFill>
                <a:latin typeface="Courier New"/>
              </a:rPr>
              <a:t>A</a:t>
            </a:r>
          </a:p>
        </p:txBody>
      </p:sp>
      <p:sp>
        <p:nvSpPr>
          <p:cNvPr id="13" name="a1fd260_sp12"/>
          <p:cNvSpPr txBox="1"/>
          <p:nvPr/>
        </p:nvSpPr>
        <p:spPr>
          <a:xfrm>
            <a:off x="1700784" y="176479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DC382C"/>
                </a:solidFill>
                <a:latin typeface="Calibri"/>
              </a:rPr>
              <a:t>← push/pop</a:t>
            </a:r>
          </a:p>
        </p:txBody>
      </p:sp>
      <p:sp>
        <p:nvSpPr>
          <p:cNvPr id="14" name="a2u_ql13"/>
          <p:cNvSpPr txBox="1"/>
          <p:nvPr/>
        </p:nvSpPr>
        <p:spPr>
          <a:xfrm>
            <a:off x="2834640" y="15270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QUEUE · FIFO</a:t>
            </a:r>
          </a:p>
        </p:txBody>
      </p:sp>
      <p:sp>
        <p:nvSpPr>
          <p:cNvPr id="15" name="a2w_qc14"/>
          <p:cNvSpPr/>
          <p:nvPr/>
        </p:nvSpPr>
        <p:spPr>
          <a:xfrm>
            <a:off x="2852928" y="1837943"/>
            <a:ext cx="530352" cy="292608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w_qv15"/>
          <p:cNvSpPr txBox="1"/>
          <p:nvPr/>
        </p:nvSpPr>
        <p:spPr>
          <a:xfrm>
            <a:off x="2852928" y="1837943"/>
            <a:ext cx="5303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7" name="a2wd80_qc16"/>
          <p:cNvSpPr/>
          <p:nvPr/>
        </p:nvSpPr>
        <p:spPr>
          <a:xfrm>
            <a:off x="3419856" y="1837943"/>
            <a:ext cx="530352" cy="292608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wd80_qv17"/>
          <p:cNvSpPr txBox="1"/>
          <p:nvPr/>
        </p:nvSpPr>
        <p:spPr>
          <a:xfrm>
            <a:off x="3419856" y="1837943"/>
            <a:ext cx="5303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F766E"/>
                </a:solidFill>
                <a:latin typeface="Courier New"/>
              </a:rPr>
              <a:t>B</a:t>
            </a:r>
          </a:p>
        </p:txBody>
      </p:sp>
      <p:sp>
        <p:nvSpPr>
          <p:cNvPr id="19" name="a2wd160_qc18"/>
          <p:cNvSpPr/>
          <p:nvPr/>
        </p:nvSpPr>
        <p:spPr>
          <a:xfrm>
            <a:off x="3986784" y="1837943"/>
            <a:ext cx="530352" cy="292608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d160_qv19"/>
          <p:cNvSpPr txBox="1"/>
          <p:nvPr/>
        </p:nvSpPr>
        <p:spPr>
          <a:xfrm>
            <a:off x="3986784" y="1837943"/>
            <a:ext cx="5303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F766E"/>
                </a:solidFill>
                <a:latin typeface="Courier New"/>
              </a:rPr>
              <a:t>C</a:t>
            </a:r>
          </a:p>
        </p:txBody>
      </p:sp>
      <p:sp>
        <p:nvSpPr>
          <p:cNvPr id="21" name="a2fd260_qo20"/>
          <p:cNvSpPr txBox="1"/>
          <p:nvPr/>
        </p:nvSpPr>
        <p:spPr>
          <a:xfrm>
            <a:off x="2852928" y="2167128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766E"/>
                </a:solidFill>
                <a:latin typeface="Calibri"/>
              </a:rPr>
              <a:t>out</a:t>
            </a:r>
          </a:p>
        </p:txBody>
      </p:sp>
      <p:sp>
        <p:nvSpPr>
          <p:cNvPr id="22" name="a2fd280_qi21"/>
          <p:cNvSpPr txBox="1"/>
          <p:nvPr/>
        </p:nvSpPr>
        <p:spPr>
          <a:xfrm>
            <a:off x="3986784" y="2167128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766E"/>
                </a:solidFill>
                <a:latin typeface="Calibri"/>
              </a:rPr>
              <a:t>in</a:t>
            </a:r>
          </a:p>
        </p:txBody>
      </p:sp>
      <p:sp>
        <p:nvSpPr>
          <p:cNvPr id="23" name="a2fd400_cap22"/>
          <p:cNvSpPr txBox="1"/>
          <p:nvPr/>
        </p:nvSpPr>
        <p:spPr>
          <a:xfrm>
            <a:off x="640080" y="2404872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Both are abstract types - the storage underneath is an array or a linked list.</a:t>
            </a:r>
          </a:p>
        </p:txBody>
      </p:sp>
      <p:sp>
        <p:nvSpPr>
          <p:cNvPr id="24" name="a2u_card23"/>
          <p:cNvSpPr/>
          <p:nvPr/>
        </p:nvSpPr>
        <p:spPr>
          <a:xfrm>
            <a:off x="5394960" y="1143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_hh24"/>
          <p:cNvSpPr txBox="1"/>
          <p:nvPr/>
        </p:nvSpPr>
        <p:spPr>
          <a:xfrm>
            <a:off x="5577840" y="1252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OPERATIONS &amp; COST</a:t>
            </a:r>
          </a:p>
        </p:txBody>
      </p:sp>
      <p:sp>
        <p:nvSpPr>
          <p:cNvPr id="26" name="a2w_op25"/>
          <p:cNvSpPr txBox="1"/>
          <p:nvPr/>
        </p:nvSpPr>
        <p:spPr>
          <a:xfrm>
            <a:off x="5577840" y="15087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push</a:t>
            </a:r>
          </a:p>
        </p:txBody>
      </p:sp>
      <p:sp>
        <p:nvSpPr>
          <p:cNvPr id="27" name="a2w_cb26"/>
          <p:cNvSpPr/>
          <p:nvPr/>
        </p:nvSpPr>
        <p:spPr>
          <a:xfrm>
            <a:off x="6931152" y="153619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_ct27"/>
          <p:cNvSpPr txBox="1"/>
          <p:nvPr/>
        </p:nvSpPr>
        <p:spPr>
          <a:xfrm>
            <a:off x="6931152" y="152704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29" name="a2w_on28"/>
          <p:cNvSpPr txBox="1"/>
          <p:nvPr/>
        </p:nvSpPr>
        <p:spPr>
          <a:xfrm>
            <a:off x="7534656" y="150876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either end</a:t>
            </a:r>
          </a:p>
        </p:txBody>
      </p:sp>
      <p:sp>
        <p:nvSpPr>
          <p:cNvPr id="30" name="a2wd70_op29"/>
          <p:cNvSpPr txBox="1"/>
          <p:nvPr/>
        </p:nvSpPr>
        <p:spPr>
          <a:xfrm>
            <a:off x="557784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pop</a:t>
            </a:r>
          </a:p>
        </p:txBody>
      </p:sp>
      <p:sp>
        <p:nvSpPr>
          <p:cNvPr id="31" name="a2wd70_cb30"/>
          <p:cNvSpPr/>
          <p:nvPr/>
        </p:nvSpPr>
        <p:spPr>
          <a:xfrm>
            <a:off x="6931152" y="181051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70_ct31"/>
          <p:cNvSpPr txBox="1"/>
          <p:nvPr/>
        </p:nvSpPr>
        <p:spPr>
          <a:xfrm>
            <a:off x="6931152" y="180136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3" name="a2wd70_on32"/>
          <p:cNvSpPr txBox="1"/>
          <p:nvPr/>
        </p:nvSpPr>
        <p:spPr>
          <a:xfrm>
            <a:off x="7534656" y="178308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either end</a:t>
            </a:r>
          </a:p>
        </p:txBody>
      </p:sp>
      <p:sp>
        <p:nvSpPr>
          <p:cNvPr id="34" name="a2wd140_op33"/>
          <p:cNvSpPr txBox="1"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peek</a:t>
            </a:r>
          </a:p>
        </p:txBody>
      </p:sp>
      <p:sp>
        <p:nvSpPr>
          <p:cNvPr id="35" name="a2wd140_cb34"/>
          <p:cNvSpPr/>
          <p:nvPr/>
        </p:nvSpPr>
        <p:spPr>
          <a:xfrm>
            <a:off x="6931152" y="208483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140_ct35"/>
          <p:cNvSpPr txBox="1"/>
          <p:nvPr/>
        </p:nvSpPr>
        <p:spPr>
          <a:xfrm>
            <a:off x="6931152" y="207568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7" name="a2wd140_on36"/>
          <p:cNvSpPr txBox="1"/>
          <p:nvPr/>
        </p:nvSpPr>
        <p:spPr>
          <a:xfrm>
            <a:off x="7534656" y="205740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look, no remove</a:t>
            </a:r>
          </a:p>
        </p:txBody>
      </p:sp>
      <p:sp>
        <p:nvSpPr>
          <p:cNvPr id="38" name="a2wd210_op37"/>
          <p:cNvSpPr txBox="1"/>
          <p:nvPr/>
        </p:nvSpPr>
        <p:spPr>
          <a:xfrm>
            <a:off x="5577840" y="23317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search</a:t>
            </a:r>
          </a:p>
        </p:txBody>
      </p:sp>
      <p:sp>
        <p:nvSpPr>
          <p:cNvPr id="39" name="a2wd210_cb38"/>
          <p:cNvSpPr/>
          <p:nvPr/>
        </p:nvSpPr>
        <p:spPr>
          <a:xfrm>
            <a:off x="6931152" y="235915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wd210_ct39"/>
          <p:cNvSpPr txBox="1"/>
          <p:nvPr/>
        </p:nvSpPr>
        <p:spPr>
          <a:xfrm>
            <a:off x="6931152" y="235000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41" name="a2wd210_on40"/>
          <p:cNvSpPr txBox="1"/>
          <p:nvPr/>
        </p:nvSpPr>
        <p:spPr>
          <a:xfrm>
            <a:off x="7534656" y="233172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not the point</a:t>
            </a:r>
          </a:p>
        </p:txBody>
      </p:sp>
      <p:sp>
        <p:nvSpPr>
          <p:cNvPr id="42" name="a2wd280_op41"/>
          <p:cNvSpPr txBox="1"/>
          <p:nvPr/>
        </p:nvSpPr>
        <p:spPr>
          <a:xfrm>
            <a:off x="5577840" y="2606039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size</a:t>
            </a:r>
          </a:p>
        </p:txBody>
      </p:sp>
      <p:sp>
        <p:nvSpPr>
          <p:cNvPr id="43" name="a2wd280_cb42"/>
          <p:cNvSpPr/>
          <p:nvPr/>
        </p:nvSpPr>
        <p:spPr>
          <a:xfrm>
            <a:off x="6931152" y="263347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wd280_ct43"/>
          <p:cNvSpPr txBox="1"/>
          <p:nvPr/>
        </p:nvSpPr>
        <p:spPr>
          <a:xfrm>
            <a:off x="6931152" y="2624327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45" name="a2wd280_on44"/>
          <p:cNvSpPr txBox="1"/>
          <p:nvPr/>
        </p:nvSpPr>
        <p:spPr>
          <a:xfrm>
            <a:off x="7534656" y="2606039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counter</a:t>
            </a:r>
          </a:p>
        </p:txBody>
      </p:sp>
      <p:sp>
        <p:nvSpPr>
          <p:cNvPr id="46" name="a3u_card45"/>
          <p:cNvSpPr/>
          <p:nvPr/>
        </p:nvSpPr>
        <p:spPr>
          <a:xfrm>
            <a:off x="457200" y="2843784"/>
            <a:ext cx="475488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u_hh46"/>
          <p:cNvSpPr txBox="1"/>
          <p:nvPr/>
        </p:nvSpPr>
        <p:spPr>
          <a:xfrm>
            <a:off x="640080" y="2953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WHERE YOU MEET IT</a:t>
            </a:r>
          </a:p>
        </p:txBody>
      </p:sp>
      <p:sp>
        <p:nvSpPr>
          <p:cNvPr id="48" name="a3ud60_dot47"/>
          <p:cNvSpPr/>
          <p:nvPr/>
        </p:nvSpPr>
        <p:spPr>
          <a:xfrm>
            <a:off x="640080" y="331012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ud60_b48"/>
          <p:cNvSpPr txBox="1"/>
          <p:nvPr/>
        </p:nvSpPr>
        <p:spPr>
          <a:xfrm>
            <a:off x="859536" y="3209544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Stack: call frames, expression parsing, undo</a:t>
            </a:r>
          </a:p>
        </p:txBody>
      </p:sp>
      <p:sp>
        <p:nvSpPr>
          <p:cNvPr id="50" name="a3ud160_dot49"/>
          <p:cNvSpPr/>
          <p:nvPr/>
        </p:nvSpPr>
        <p:spPr>
          <a:xfrm>
            <a:off x="640080" y="36118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3ud160_b50"/>
          <p:cNvSpPr txBox="1"/>
          <p:nvPr/>
        </p:nvSpPr>
        <p:spPr>
          <a:xfrm>
            <a:off x="859536" y="3511296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Queue: job dispatch, print spoolers, BFS</a:t>
            </a:r>
          </a:p>
        </p:txBody>
      </p:sp>
      <p:sp>
        <p:nvSpPr>
          <p:cNvPr id="52" name="a3ud260_dot51"/>
          <p:cNvSpPr/>
          <p:nvPr/>
        </p:nvSpPr>
        <p:spPr>
          <a:xfrm>
            <a:off x="640080" y="391363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3ud260_b52"/>
          <p:cNvSpPr txBox="1"/>
          <p:nvPr/>
        </p:nvSpPr>
        <p:spPr>
          <a:xfrm>
            <a:off x="859536" y="3813048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Deque: both ends - work stealing, sliding windows</a:t>
            </a:r>
          </a:p>
        </p:txBody>
      </p:sp>
      <p:sp>
        <p:nvSpPr>
          <p:cNvPr id="54" name="a4u_card53"/>
          <p:cNvSpPr/>
          <p:nvPr/>
        </p:nvSpPr>
        <p:spPr>
          <a:xfrm>
            <a:off x="5394960" y="2843784"/>
            <a:ext cx="3291840" cy="132588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4u_hh54"/>
          <p:cNvSpPr txBox="1"/>
          <p:nvPr/>
        </p:nvSpPr>
        <p:spPr>
          <a:xfrm>
            <a:off x="5577840" y="2953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IN REDIS</a:t>
            </a:r>
          </a:p>
        </p:txBody>
      </p:sp>
      <p:sp>
        <p:nvSpPr>
          <p:cNvPr id="56" name="a4ud60_rl55"/>
          <p:cNvSpPr txBox="1"/>
          <p:nvPr/>
        </p:nvSpPr>
        <p:spPr>
          <a:xfrm>
            <a:off x="5577840" y="3209544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One Redis type gives you both. LPUSH + LPOP is a stack; LPUSH + RPOP is a queue; BRPOP turns it into a blocking work queue with no polling loop.</a:t>
            </a:r>
          </a:p>
        </p:txBody>
      </p:sp>
      <p:sp>
        <p:nvSpPr>
          <p:cNvPr id="57" name="ft5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8" name="ft5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Hash Table and Map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structure Redis is named after - a remote dictionary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KEY → HASH FUNCTION → BUCKET</a:t>
            </a:r>
          </a:p>
        </p:txBody>
      </p:sp>
      <p:sp>
        <p:nvSpPr>
          <p:cNvPr id="6" name="a1u_k5"/>
          <p:cNvSpPr/>
          <p:nvPr/>
        </p:nvSpPr>
        <p:spPr>
          <a:xfrm>
            <a:off x="658368" y="1545336"/>
            <a:ext cx="1188720" cy="310896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_kt6"/>
          <p:cNvSpPr txBox="1"/>
          <p:nvPr/>
        </p:nvSpPr>
        <p:spPr>
          <a:xfrm>
            <a:off x="658368" y="154533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ourier New"/>
              </a:rPr>
              <a:t>"acct:9003"</a:t>
            </a:r>
          </a:p>
        </p:txBody>
      </p:sp>
      <p:cxnSp>
        <p:nvCxnSpPr>
          <p:cNvPr id="8" name="a1wd120_a17"/>
          <p:cNvCxnSpPr/>
          <p:nvPr/>
        </p:nvCxnSpPr>
        <p:spPr>
          <a:xfrm>
            <a:off x="1865376" y="1700784"/>
            <a:ext cx="329184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1ud160_h8"/>
          <p:cNvSpPr/>
          <p:nvPr/>
        </p:nvSpPr>
        <p:spPr>
          <a:xfrm>
            <a:off x="2231136" y="1545336"/>
            <a:ext cx="786384" cy="310896"/>
          </a:xfrm>
          <a:prstGeom prst="roundRect">
            <a:avLst>
              <a:gd name="adj" fmla="val 14705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60_ht9"/>
          <p:cNvSpPr txBox="1"/>
          <p:nvPr/>
        </p:nvSpPr>
        <p:spPr>
          <a:xfrm>
            <a:off x="2231136" y="154533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hash()</a:t>
            </a:r>
          </a:p>
        </p:txBody>
      </p:sp>
      <p:cxnSp>
        <p:nvCxnSpPr>
          <p:cNvPr id="11" name="a1wd220_a210"/>
          <p:cNvCxnSpPr/>
          <p:nvPr/>
        </p:nvCxnSpPr>
        <p:spPr>
          <a:xfrm>
            <a:off x="3035808" y="1700784"/>
            <a:ext cx="329184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1fd260_m11"/>
          <p:cNvSpPr txBox="1"/>
          <p:nvPr/>
        </p:nvSpPr>
        <p:spPr>
          <a:xfrm>
            <a:off x="3401568" y="15453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% 8  →  bucket 5</a:t>
            </a:r>
          </a:p>
        </p:txBody>
      </p:sp>
      <p:sp>
        <p:nvSpPr>
          <p:cNvPr id="13" name="a1wd300_b12"/>
          <p:cNvSpPr/>
          <p:nvPr/>
        </p:nvSpPr>
        <p:spPr>
          <a:xfrm>
            <a:off x="658368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300_bt13"/>
          <p:cNvSpPr txBox="1"/>
          <p:nvPr/>
        </p:nvSpPr>
        <p:spPr>
          <a:xfrm>
            <a:off x="658368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0</a:t>
            </a:r>
          </a:p>
        </p:txBody>
      </p:sp>
      <p:sp>
        <p:nvSpPr>
          <p:cNvPr id="15" name="a1wd340_b14"/>
          <p:cNvSpPr/>
          <p:nvPr/>
        </p:nvSpPr>
        <p:spPr>
          <a:xfrm>
            <a:off x="1207007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340_bt15"/>
          <p:cNvSpPr txBox="1"/>
          <p:nvPr/>
        </p:nvSpPr>
        <p:spPr>
          <a:xfrm>
            <a:off x="1207007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1</a:t>
            </a:r>
          </a:p>
        </p:txBody>
      </p:sp>
      <p:sp>
        <p:nvSpPr>
          <p:cNvPr id="17" name="a1wd380_b16"/>
          <p:cNvSpPr/>
          <p:nvPr/>
        </p:nvSpPr>
        <p:spPr>
          <a:xfrm>
            <a:off x="1755648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80_bt17"/>
          <p:cNvSpPr txBox="1"/>
          <p:nvPr/>
        </p:nvSpPr>
        <p:spPr>
          <a:xfrm>
            <a:off x="1755648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2</a:t>
            </a:r>
          </a:p>
        </p:txBody>
      </p:sp>
      <p:sp>
        <p:nvSpPr>
          <p:cNvPr id="19" name="a1wd420_b18"/>
          <p:cNvSpPr/>
          <p:nvPr/>
        </p:nvSpPr>
        <p:spPr>
          <a:xfrm>
            <a:off x="2304287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20_bt19"/>
          <p:cNvSpPr txBox="1"/>
          <p:nvPr/>
        </p:nvSpPr>
        <p:spPr>
          <a:xfrm>
            <a:off x="2304287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3</a:t>
            </a:r>
          </a:p>
        </p:txBody>
      </p:sp>
      <p:sp>
        <p:nvSpPr>
          <p:cNvPr id="21" name="a1wd460_b20"/>
          <p:cNvSpPr/>
          <p:nvPr/>
        </p:nvSpPr>
        <p:spPr>
          <a:xfrm>
            <a:off x="2852928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60_bt21"/>
          <p:cNvSpPr txBox="1"/>
          <p:nvPr/>
        </p:nvSpPr>
        <p:spPr>
          <a:xfrm>
            <a:off x="2852928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4</a:t>
            </a:r>
          </a:p>
        </p:txBody>
      </p:sp>
      <p:sp>
        <p:nvSpPr>
          <p:cNvPr id="23" name="a1wd500_b22"/>
          <p:cNvSpPr/>
          <p:nvPr/>
        </p:nvSpPr>
        <p:spPr>
          <a:xfrm>
            <a:off x="3401568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DC382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00_bt23"/>
          <p:cNvSpPr txBox="1"/>
          <p:nvPr/>
        </p:nvSpPr>
        <p:spPr>
          <a:xfrm>
            <a:off x="3401568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25" name="a1wd540_b24"/>
          <p:cNvSpPr/>
          <p:nvPr/>
        </p:nvSpPr>
        <p:spPr>
          <a:xfrm>
            <a:off x="3950207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540_bt25"/>
          <p:cNvSpPr txBox="1"/>
          <p:nvPr/>
        </p:nvSpPr>
        <p:spPr>
          <a:xfrm>
            <a:off x="3950207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6</a:t>
            </a:r>
          </a:p>
        </p:txBody>
      </p:sp>
      <p:sp>
        <p:nvSpPr>
          <p:cNvPr id="27" name="a1wd580_b26"/>
          <p:cNvSpPr/>
          <p:nvPr/>
        </p:nvSpPr>
        <p:spPr>
          <a:xfrm>
            <a:off x="4498848" y="2002536"/>
            <a:ext cx="51206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580_bt27"/>
          <p:cNvSpPr txBox="1"/>
          <p:nvPr/>
        </p:nvSpPr>
        <p:spPr>
          <a:xfrm>
            <a:off x="4498848" y="200253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7</a:t>
            </a:r>
          </a:p>
        </p:txBody>
      </p:sp>
      <p:sp>
        <p:nvSpPr>
          <p:cNvPr id="29" name="a1fd640_cap28"/>
          <p:cNvSpPr txBox="1"/>
          <p:nvPr/>
        </p:nvSpPr>
        <p:spPr>
          <a:xfrm>
            <a:off x="640080" y="23317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Collisions are normal. Redis chains colliding entries in a linked list and rehashes incrementally as the table grows.</a:t>
            </a:r>
          </a:p>
        </p:txBody>
      </p:sp>
      <p:sp>
        <p:nvSpPr>
          <p:cNvPr id="30" name="a2u_card29"/>
          <p:cNvSpPr/>
          <p:nvPr/>
        </p:nvSpPr>
        <p:spPr>
          <a:xfrm>
            <a:off x="5394960" y="1143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_hh30"/>
          <p:cNvSpPr txBox="1"/>
          <p:nvPr/>
        </p:nvSpPr>
        <p:spPr>
          <a:xfrm>
            <a:off x="5577840" y="1252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OPERATIONS &amp; COST</a:t>
            </a:r>
          </a:p>
        </p:txBody>
      </p:sp>
      <p:sp>
        <p:nvSpPr>
          <p:cNvPr id="32" name="a2w_op31"/>
          <p:cNvSpPr txBox="1"/>
          <p:nvPr/>
        </p:nvSpPr>
        <p:spPr>
          <a:xfrm>
            <a:off x="5577840" y="15087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get(k)</a:t>
            </a:r>
          </a:p>
        </p:txBody>
      </p:sp>
      <p:sp>
        <p:nvSpPr>
          <p:cNvPr id="33" name="a2w_cb32"/>
          <p:cNvSpPr/>
          <p:nvPr/>
        </p:nvSpPr>
        <p:spPr>
          <a:xfrm>
            <a:off x="6931152" y="153619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_ct33"/>
          <p:cNvSpPr txBox="1"/>
          <p:nvPr/>
        </p:nvSpPr>
        <p:spPr>
          <a:xfrm>
            <a:off x="6931152" y="152704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5" name="a2w_on34"/>
          <p:cNvSpPr txBox="1"/>
          <p:nvPr/>
        </p:nvSpPr>
        <p:spPr>
          <a:xfrm>
            <a:off x="7534656" y="150876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36" name="a2wd70_op35"/>
          <p:cNvSpPr txBox="1"/>
          <p:nvPr/>
        </p:nvSpPr>
        <p:spPr>
          <a:xfrm>
            <a:off x="557784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put(k, v)</a:t>
            </a:r>
          </a:p>
        </p:txBody>
      </p:sp>
      <p:sp>
        <p:nvSpPr>
          <p:cNvPr id="37" name="a2wd70_cb36"/>
          <p:cNvSpPr/>
          <p:nvPr/>
        </p:nvSpPr>
        <p:spPr>
          <a:xfrm>
            <a:off x="6931152" y="181051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wd70_ct37"/>
          <p:cNvSpPr txBox="1"/>
          <p:nvPr/>
        </p:nvSpPr>
        <p:spPr>
          <a:xfrm>
            <a:off x="6931152" y="180136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9" name="a2wd70_on38"/>
          <p:cNvSpPr txBox="1"/>
          <p:nvPr/>
        </p:nvSpPr>
        <p:spPr>
          <a:xfrm>
            <a:off x="7534656" y="178308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40" name="a2wd140_op39"/>
          <p:cNvSpPr txBox="1"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delete(k)</a:t>
            </a:r>
          </a:p>
        </p:txBody>
      </p:sp>
      <p:sp>
        <p:nvSpPr>
          <p:cNvPr id="41" name="a2wd140_cb40"/>
          <p:cNvSpPr/>
          <p:nvPr/>
        </p:nvSpPr>
        <p:spPr>
          <a:xfrm>
            <a:off x="6931152" y="208483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wd140_ct41"/>
          <p:cNvSpPr txBox="1"/>
          <p:nvPr/>
        </p:nvSpPr>
        <p:spPr>
          <a:xfrm>
            <a:off x="6931152" y="207568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43" name="a2wd140_on42"/>
          <p:cNvSpPr txBox="1"/>
          <p:nvPr/>
        </p:nvSpPr>
        <p:spPr>
          <a:xfrm>
            <a:off x="7534656" y="205740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44" name="a2wd210_op43"/>
          <p:cNvSpPr txBox="1"/>
          <p:nvPr/>
        </p:nvSpPr>
        <p:spPr>
          <a:xfrm>
            <a:off x="5577840" y="23317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worst case</a:t>
            </a:r>
          </a:p>
        </p:txBody>
      </p:sp>
      <p:sp>
        <p:nvSpPr>
          <p:cNvPr id="45" name="a2wd210_cb44"/>
          <p:cNvSpPr/>
          <p:nvPr/>
        </p:nvSpPr>
        <p:spPr>
          <a:xfrm>
            <a:off x="6931152" y="235915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wd210_ct45"/>
          <p:cNvSpPr txBox="1"/>
          <p:nvPr/>
        </p:nvSpPr>
        <p:spPr>
          <a:xfrm>
            <a:off x="6931152" y="235000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47" name="a2wd210_on46"/>
          <p:cNvSpPr txBox="1"/>
          <p:nvPr/>
        </p:nvSpPr>
        <p:spPr>
          <a:xfrm>
            <a:off x="7534656" y="233172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all collide</a:t>
            </a:r>
          </a:p>
        </p:txBody>
      </p:sp>
      <p:sp>
        <p:nvSpPr>
          <p:cNvPr id="48" name="a2wd280_op47"/>
          <p:cNvSpPr txBox="1"/>
          <p:nvPr/>
        </p:nvSpPr>
        <p:spPr>
          <a:xfrm>
            <a:off x="5577840" y="2606039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ordered scan</a:t>
            </a:r>
          </a:p>
        </p:txBody>
      </p:sp>
      <p:sp>
        <p:nvSpPr>
          <p:cNvPr id="49" name="a2wd280_cb48"/>
          <p:cNvSpPr/>
          <p:nvPr/>
        </p:nvSpPr>
        <p:spPr>
          <a:xfrm>
            <a:off x="6931152" y="263347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wd280_ct49"/>
          <p:cNvSpPr txBox="1"/>
          <p:nvPr/>
        </p:nvSpPr>
        <p:spPr>
          <a:xfrm>
            <a:off x="6931152" y="2624327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n/a</a:t>
            </a:r>
          </a:p>
        </p:txBody>
      </p:sp>
      <p:sp>
        <p:nvSpPr>
          <p:cNvPr id="51" name="a2wd280_on50"/>
          <p:cNvSpPr txBox="1"/>
          <p:nvPr/>
        </p:nvSpPr>
        <p:spPr>
          <a:xfrm>
            <a:off x="7534656" y="2606039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use a tree</a:t>
            </a:r>
          </a:p>
        </p:txBody>
      </p:sp>
      <p:sp>
        <p:nvSpPr>
          <p:cNvPr id="52" name="a3u_card51"/>
          <p:cNvSpPr/>
          <p:nvPr/>
        </p:nvSpPr>
        <p:spPr>
          <a:xfrm>
            <a:off x="457200" y="2843784"/>
            <a:ext cx="475488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3u_hh52"/>
          <p:cNvSpPr txBox="1"/>
          <p:nvPr/>
        </p:nvSpPr>
        <p:spPr>
          <a:xfrm>
            <a:off x="640080" y="2953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WHERE YOU MEET IT</a:t>
            </a:r>
          </a:p>
        </p:txBody>
      </p:sp>
      <p:sp>
        <p:nvSpPr>
          <p:cNvPr id="54" name="a3ud60_dot53"/>
          <p:cNvSpPr/>
          <p:nvPr/>
        </p:nvSpPr>
        <p:spPr>
          <a:xfrm>
            <a:off x="640080" y="331012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3ud60_b54"/>
          <p:cNvSpPr txBox="1"/>
          <p:nvPr/>
        </p:nvSpPr>
        <p:spPr>
          <a:xfrm>
            <a:off x="859536" y="3209544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JavaScript Map and object, Java HashMap</a:t>
            </a:r>
          </a:p>
        </p:txBody>
      </p:sp>
      <p:sp>
        <p:nvSpPr>
          <p:cNvPr id="56" name="a3ud160_dot55"/>
          <p:cNvSpPr/>
          <p:nvPr/>
        </p:nvSpPr>
        <p:spPr>
          <a:xfrm>
            <a:off x="640080" y="36118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ud160_b56"/>
          <p:cNvSpPr txBox="1"/>
          <p:nvPr/>
        </p:nvSpPr>
        <p:spPr>
          <a:xfrm>
            <a:off x="859536" y="3511296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Database indexes on equality lookups</a:t>
            </a:r>
          </a:p>
        </p:txBody>
      </p:sp>
      <p:sp>
        <p:nvSpPr>
          <p:cNvPr id="58" name="a3ud260_dot57"/>
          <p:cNvSpPr/>
          <p:nvPr/>
        </p:nvSpPr>
        <p:spPr>
          <a:xfrm>
            <a:off x="640080" y="391363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ud260_b58"/>
          <p:cNvSpPr txBox="1"/>
          <p:nvPr/>
        </p:nvSpPr>
        <p:spPr>
          <a:xfrm>
            <a:off x="859536" y="3813048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Any cache keyed by an identifier</a:t>
            </a:r>
          </a:p>
        </p:txBody>
      </p:sp>
      <p:sp>
        <p:nvSpPr>
          <p:cNvPr id="60" name="a4u_card59"/>
          <p:cNvSpPr/>
          <p:nvPr/>
        </p:nvSpPr>
        <p:spPr>
          <a:xfrm>
            <a:off x="5394960" y="2843784"/>
            <a:ext cx="3291840" cy="132588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4u_hh60"/>
          <p:cNvSpPr txBox="1"/>
          <p:nvPr/>
        </p:nvSpPr>
        <p:spPr>
          <a:xfrm>
            <a:off x="5577840" y="2953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IN REDIS</a:t>
            </a:r>
          </a:p>
        </p:txBody>
      </p:sp>
      <p:sp>
        <p:nvSpPr>
          <p:cNvPr id="62" name="a4ud60_rl61"/>
          <p:cNvSpPr txBox="1"/>
          <p:nvPr/>
        </p:nvSpPr>
        <p:spPr>
          <a:xfrm>
            <a:off x="5577840" y="3209544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This is the Redis keyspace itself: one dict mapping every key name to its value object. The Hash type is then a second dict nested inside a single value, for field/value pairs.</a:t>
            </a:r>
          </a:p>
        </p:txBody>
      </p:sp>
      <p:sp>
        <p:nvSpPr>
          <p:cNvPr id="63" name="ft6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4" name="ft6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Uniqueness for free, and algebra over collections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UNIQUE MEMBERS, NO ORDER, FAST MEMBERSHIP</a:t>
            </a:r>
          </a:p>
        </p:txBody>
      </p:sp>
      <p:sp>
        <p:nvSpPr>
          <p:cNvPr id="6" name="a1u_m5"/>
          <p:cNvSpPr/>
          <p:nvPr/>
        </p:nvSpPr>
        <p:spPr>
          <a:xfrm>
            <a:off x="713232" y="160020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_mv6"/>
          <p:cNvSpPr txBox="1"/>
          <p:nvPr/>
        </p:nvSpPr>
        <p:spPr>
          <a:xfrm>
            <a:off x="713232" y="1600200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9003</a:t>
            </a:r>
          </a:p>
        </p:txBody>
      </p:sp>
      <p:sp>
        <p:nvSpPr>
          <p:cNvPr id="8" name="a1ud80_m7"/>
          <p:cNvSpPr/>
          <p:nvPr/>
        </p:nvSpPr>
        <p:spPr>
          <a:xfrm>
            <a:off x="1645920" y="160020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80_mv8"/>
          <p:cNvSpPr txBox="1"/>
          <p:nvPr/>
        </p:nvSpPr>
        <p:spPr>
          <a:xfrm>
            <a:off x="1645920" y="1600200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7711</a:t>
            </a:r>
          </a:p>
        </p:txBody>
      </p:sp>
      <p:sp>
        <p:nvSpPr>
          <p:cNvPr id="10" name="a1ud160_m9"/>
          <p:cNvSpPr/>
          <p:nvPr/>
        </p:nvSpPr>
        <p:spPr>
          <a:xfrm>
            <a:off x="2578608" y="160020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160_mv10"/>
          <p:cNvSpPr txBox="1"/>
          <p:nvPr/>
        </p:nvSpPr>
        <p:spPr>
          <a:xfrm>
            <a:off x="2578608" y="1600200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4502</a:t>
            </a:r>
          </a:p>
        </p:txBody>
      </p:sp>
      <p:sp>
        <p:nvSpPr>
          <p:cNvPr id="12" name="a1ud240_m11"/>
          <p:cNvSpPr/>
          <p:nvPr/>
        </p:nvSpPr>
        <p:spPr>
          <a:xfrm>
            <a:off x="3511296" y="160020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240_mv12"/>
          <p:cNvSpPr txBox="1"/>
          <p:nvPr/>
        </p:nvSpPr>
        <p:spPr>
          <a:xfrm>
            <a:off x="3511296" y="1600200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8890</a:t>
            </a:r>
          </a:p>
        </p:txBody>
      </p:sp>
      <p:sp>
        <p:nvSpPr>
          <p:cNvPr id="14" name="a1wd360_d113"/>
          <p:cNvSpPr/>
          <p:nvPr/>
        </p:nvSpPr>
        <p:spPr>
          <a:xfrm>
            <a:off x="658368" y="2039112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60_d1t14"/>
          <p:cNvSpPr txBox="1"/>
          <p:nvPr/>
        </p:nvSpPr>
        <p:spPr>
          <a:xfrm>
            <a:off x="731520" y="2039112"/>
            <a:ext cx="177393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add 9003 again → 0</a:t>
            </a:r>
          </a:p>
        </p:txBody>
      </p:sp>
      <p:sp>
        <p:nvSpPr>
          <p:cNvPr id="16" name="a1wd420_d215"/>
          <p:cNvSpPr/>
          <p:nvPr/>
        </p:nvSpPr>
        <p:spPr>
          <a:xfrm>
            <a:off x="2706624" y="2039112"/>
            <a:ext cx="22860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20_d2t16"/>
          <p:cNvSpPr txBox="1"/>
          <p:nvPr/>
        </p:nvSpPr>
        <p:spPr>
          <a:xfrm>
            <a:off x="2779776" y="2039112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A ∪ B · A ∩ B · A − B</a:t>
            </a:r>
          </a:p>
        </p:txBody>
      </p:sp>
      <p:sp>
        <p:nvSpPr>
          <p:cNvPr id="18" name="a1fd480_cap17"/>
          <p:cNvSpPr txBox="1"/>
          <p:nvPr/>
        </p:nvSpPr>
        <p:spPr>
          <a:xfrm>
            <a:off x="640080" y="238658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Implemented as a hash table where only the keys matter - the value is ignored.</a:t>
            </a:r>
          </a:p>
        </p:txBody>
      </p:sp>
      <p:sp>
        <p:nvSpPr>
          <p:cNvPr id="19" name="a2u_card18"/>
          <p:cNvSpPr/>
          <p:nvPr/>
        </p:nvSpPr>
        <p:spPr>
          <a:xfrm>
            <a:off x="5394960" y="1143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hh19"/>
          <p:cNvSpPr txBox="1"/>
          <p:nvPr/>
        </p:nvSpPr>
        <p:spPr>
          <a:xfrm>
            <a:off x="5577840" y="1252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OPERATIONS &amp; COST</a:t>
            </a:r>
          </a:p>
        </p:txBody>
      </p:sp>
      <p:sp>
        <p:nvSpPr>
          <p:cNvPr id="21" name="a2w_op20"/>
          <p:cNvSpPr txBox="1"/>
          <p:nvPr/>
        </p:nvSpPr>
        <p:spPr>
          <a:xfrm>
            <a:off x="5577840" y="15087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add</a:t>
            </a:r>
          </a:p>
        </p:txBody>
      </p:sp>
      <p:sp>
        <p:nvSpPr>
          <p:cNvPr id="22" name="a2w_cb21"/>
          <p:cNvSpPr/>
          <p:nvPr/>
        </p:nvSpPr>
        <p:spPr>
          <a:xfrm>
            <a:off x="6931152" y="153619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_ct22"/>
          <p:cNvSpPr txBox="1"/>
          <p:nvPr/>
        </p:nvSpPr>
        <p:spPr>
          <a:xfrm>
            <a:off x="6931152" y="152704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24" name="a2w_on23"/>
          <p:cNvSpPr txBox="1"/>
          <p:nvPr/>
        </p:nvSpPr>
        <p:spPr>
          <a:xfrm>
            <a:off x="7534656" y="150876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25" name="a2wd70_op24"/>
          <p:cNvSpPr txBox="1"/>
          <p:nvPr/>
        </p:nvSpPr>
        <p:spPr>
          <a:xfrm>
            <a:off x="557784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is member?</a:t>
            </a:r>
          </a:p>
        </p:txBody>
      </p:sp>
      <p:sp>
        <p:nvSpPr>
          <p:cNvPr id="26" name="a2wd70_cb25"/>
          <p:cNvSpPr/>
          <p:nvPr/>
        </p:nvSpPr>
        <p:spPr>
          <a:xfrm>
            <a:off x="6931152" y="181051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70_ct26"/>
          <p:cNvSpPr txBox="1"/>
          <p:nvPr/>
        </p:nvSpPr>
        <p:spPr>
          <a:xfrm>
            <a:off x="6931152" y="180136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28" name="a2wd70_on27"/>
          <p:cNvSpPr txBox="1"/>
          <p:nvPr/>
        </p:nvSpPr>
        <p:spPr>
          <a:xfrm>
            <a:off x="7534656" y="178308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29" name="a2wd140_op28"/>
          <p:cNvSpPr txBox="1"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remove</a:t>
            </a:r>
          </a:p>
        </p:txBody>
      </p:sp>
      <p:sp>
        <p:nvSpPr>
          <p:cNvPr id="30" name="a2wd140_cb29"/>
          <p:cNvSpPr/>
          <p:nvPr/>
        </p:nvSpPr>
        <p:spPr>
          <a:xfrm>
            <a:off x="6931152" y="208483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140_ct30"/>
          <p:cNvSpPr txBox="1"/>
          <p:nvPr/>
        </p:nvSpPr>
        <p:spPr>
          <a:xfrm>
            <a:off x="6931152" y="207568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32" name="a2wd140_on31"/>
          <p:cNvSpPr txBox="1"/>
          <p:nvPr/>
        </p:nvSpPr>
        <p:spPr>
          <a:xfrm>
            <a:off x="7534656" y="205740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average</a:t>
            </a:r>
          </a:p>
        </p:txBody>
      </p:sp>
      <p:sp>
        <p:nvSpPr>
          <p:cNvPr id="33" name="a2wd210_op32"/>
          <p:cNvSpPr txBox="1"/>
          <p:nvPr/>
        </p:nvSpPr>
        <p:spPr>
          <a:xfrm>
            <a:off x="5577840" y="23317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union</a:t>
            </a:r>
          </a:p>
        </p:txBody>
      </p:sp>
      <p:sp>
        <p:nvSpPr>
          <p:cNvPr id="34" name="a2wd210_cb33"/>
          <p:cNvSpPr/>
          <p:nvPr/>
        </p:nvSpPr>
        <p:spPr>
          <a:xfrm>
            <a:off x="6931152" y="235915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210_ct34"/>
          <p:cNvSpPr txBox="1"/>
          <p:nvPr/>
        </p:nvSpPr>
        <p:spPr>
          <a:xfrm>
            <a:off x="6931152" y="235000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O(n+m)</a:t>
            </a:r>
          </a:p>
        </p:txBody>
      </p:sp>
      <p:sp>
        <p:nvSpPr>
          <p:cNvPr id="36" name="a2wd210_on35"/>
          <p:cNvSpPr txBox="1"/>
          <p:nvPr/>
        </p:nvSpPr>
        <p:spPr>
          <a:xfrm>
            <a:off x="7534656" y="233172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both sides</a:t>
            </a:r>
          </a:p>
        </p:txBody>
      </p:sp>
      <p:sp>
        <p:nvSpPr>
          <p:cNvPr id="37" name="a2wd280_op36"/>
          <p:cNvSpPr txBox="1"/>
          <p:nvPr/>
        </p:nvSpPr>
        <p:spPr>
          <a:xfrm>
            <a:off x="5577840" y="2606039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intersect</a:t>
            </a:r>
          </a:p>
        </p:txBody>
      </p:sp>
      <p:sp>
        <p:nvSpPr>
          <p:cNvPr id="38" name="a2wd280_cb37"/>
          <p:cNvSpPr/>
          <p:nvPr/>
        </p:nvSpPr>
        <p:spPr>
          <a:xfrm>
            <a:off x="6931152" y="263347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280_ct38"/>
          <p:cNvSpPr txBox="1"/>
          <p:nvPr/>
        </p:nvSpPr>
        <p:spPr>
          <a:xfrm>
            <a:off x="6931152" y="2624327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O(n·m)</a:t>
            </a:r>
          </a:p>
        </p:txBody>
      </p:sp>
      <p:sp>
        <p:nvSpPr>
          <p:cNvPr id="40" name="a2wd280_on39"/>
          <p:cNvSpPr txBox="1"/>
          <p:nvPr/>
        </p:nvSpPr>
        <p:spPr>
          <a:xfrm>
            <a:off x="7534656" y="2606039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smallest first</a:t>
            </a:r>
          </a:p>
        </p:txBody>
      </p:sp>
      <p:sp>
        <p:nvSpPr>
          <p:cNvPr id="41" name="a3u_card40"/>
          <p:cNvSpPr/>
          <p:nvPr/>
        </p:nvSpPr>
        <p:spPr>
          <a:xfrm>
            <a:off x="457200" y="2843784"/>
            <a:ext cx="475488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3u_hh41"/>
          <p:cNvSpPr txBox="1"/>
          <p:nvPr/>
        </p:nvSpPr>
        <p:spPr>
          <a:xfrm>
            <a:off x="640080" y="2953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WHERE YOU MEET IT</a:t>
            </a:r>
          </a:p>
        </p:txBody>
      </p:sp>
      <p:sp>
        <p:nvSpPr>
          <p:cNvPr id="43" name="a3ud60_dot42"/>
          <p:cNvSpPr/>
          <p:nvPr/>
        </p:nvSpPr>
        <p:spPr>
          <a:xfrm>
            <a:off x="640080" y="331012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3ud60_b43"/>
          <p:cNvSpPr txBox="1"/>
          <p:nvPr/>
        </p:nvSpPr>
        <p:spPr>
          <a:xfrm>
            <a:off x="859536" y="3209544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De-duplication - seen IDs, processed messages</a:t>
            </a:r>
          </a:p>
        </p:txBody>
      </p:sp>
      <p:sp>
        <p:nvSpPr>
          <p:cNvPr id="45" name="a3ud160_dot44"/>
          <p:cNvSpPr/>
          <p:nvPr/>
        </p:nvSpPr>
        <p:spPr>
          <a:xfrm>
            <a:off x="640080" y="36118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3ud160_b45"/>
          <p:cNvSpPr txBox="1"/>
          <p:nvPr/>
        </p:nvSpPr>
        <p:spPr>
          <a:xfrm>
            <a:off x="859536" y="3511296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Tags, permissions, feature flags per user</a:t>
            </a:r>
          </a:p>
        </p:txBody>
      </p:sp>
      <p:sp>
        <p:nvSpPr>
          <p:cNvPr id="47" name="a3ud260_dot46"/>
          <p:cNvSpPr/>
          <p:nvPr/>
        </p:nvSpPr>
        <p:spPr>
          <a:xfrm>
            <a:off x="640080" y="391363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3ud260_b47"/>
          <p:cNvSpPr txBox="1"/>
          <p:nvPr/>
        </p:nvSpPr>
        <p:spPr>
          <a:xfrm>
            <a:off x="859536" y="3813048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Audience overlap: who is in both segments?</a:t>
            </a:r>
          </a:p>
        </p:txBody>
      </p:sp>
      <p:sp>
        <p:nvSpPr>
          <p:cNvPr id="49" name="a4u_card48"/>
          <p:cNvSpPr/>
          <p:nvPr/>
        </p:nvSpPr>
        <p:spPr>
          <a:xfrm>
            <a:off x="5394960" y="2843784"/>
            <a:ext cx="3291840" cy="132588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4u_hh49"/>
          <p:cNvSpPr txBox="1"/>
          <p:nvPr/>
        </p:nvSpPr>
        <p:spPr>
          <a:xfrm>
            <a:off x="5577840" y="2953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IN REDIS</a:t>
            </a:r>
          </a:p>
        </p:txBody>
      </p:sp>
      <p:sp>
        <p:nvSpPr>
          <p:cNvPr id="51" name="a4ud60_rl50"/>
          <p:cNvSpPr txBox="1"/>
          <p:nvPr/>
        </p:nvSpPr>
        <p:spPr>
          <a:xfrm>
            <a:off x="5577840" y="3209544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The Redis Set type, with SADD, SISMEMBER, SINTER and SDIFF running server-side. A set of only integers is stored compactly as a sorted intset.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Skip List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How a sorted collection stays sorted without a balanced tree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SKIP LIST · EXPRESS LANES OVER A SORTED LIST</a:t>
            </a:r>
          </a:p>
        </p:txBody>
      </p:sp>
      <p:sp>
        <p:nvSpPr>
          <p:cNvPr id="6" name="a1f_ln5"/>
          <p:cNvSpPr txBox="1"/>
          <p:nvPr/>
        </p:nvSpPr>
        <p:spPr>
          <a:xfrm>
            <a:off x="548640" y="154533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ourier New"/>
              </a:rPr>
              <a:t>L2</a:t>
            </a:r>
          </a:p>
        </p:txBody>
      </p:sp>
      <p:sp>
        <p:nvSpPr>
          <p:cNvPr id="7" name="a1w_sk6"/>
          <p:cNvSpPr/>
          <p:nvPr/>
        </p:nvSpPr>
        <p:spPr>
          <a:xfrm>
            <a:off x="868680" y="1545336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_skv7"/>
          <p:cNvSpPr txBox="1"/>
          <p:nvPr/>
        </p:nvSpPr>
        <p:spPr>
          <a:xfrm>
            <a:off x="868680" y="154533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9" name="a1wd150_sk8"/>
          <p:cNvSpPr/>
          <p:nvPr/>
        </p:nvSpPr>
        <p:spPr>
          <a:xfrm>
            <a:off x="2953512" y="1545336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150_skv9"/>
          <p:cNvSpPr txBox="1"/>
          <p:nvPr/>
        </p:nvSpPr>
        <p:spPr>
          <a:xfrm>
            <a:off x="2953512" y="154533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40</a:t>
            </a:r>
          </a:p>
        </p:txBody>
      </p:sp>
      <p:cxnSp>
        <p:nvCxnSpPr>
          <p:cNvPr id="11" name="a1wd150_sa10"/>
          <p:cNvCxnSpPr/>
          <p:nvPr/>
        </p:nvCxnSpPr>
        <p:spPr>
          <a:xfrm>
            <a:off x="1444752" y="1673352"/>
            <a:ext cx="1499616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1fd100_ln11"/>
          <p:cNvSpPr txBox="1"/>
          <p:nvPr/>
        </p:nvSpPr>
        <p:spPr>
          <a:xfrm>
            <a:off x="548640" y="1856231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ourier New"/>
              </a:rPr>
              <a:t>L1</a:t>
            </a:r>
          </a:p>
        </p:txBody>
      </p:sp>
      <p:sp>
        <p:nvSpPr>
          <p:cNvPr id="13" name="a1wd100_sk12"/>
          <p:cNvSpPr/>
          <p:nvPr/>
        </p:nvSpPr>
        <p:spPr>
          <a:xfrm>
            <a:off x="868680" y="1856231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00_skv13"/>
          <p:cNvSpPr txBox="1"/>
          <p:nvPr/>
        </p:nvSpPr>
        <p:spPr>
          <a:xfrm>
            <a:off x="868680" y="1856231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10</a:t>
            </a:r>
          </a:p>
        </p:txBody>
      </p:sp>
      <p:sp>
        <p:nvSpPr>
          <p:cNvPr id="15" name="a1wd150_sk14"/>
          <p:cNvSpPr/>
          <p:nvPr/>
        </p:nvSpPr>
        <p:spPr>
          <a:xfrm>
            <a:off x="1563624" y="1856231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150_skv15"/>
          <p:cNvSpPr txBox="1"/>
          <p:nvPr/>
        </p:nvSpPr>
        <p:spPr>
          <a:xfrm>
            <a:off x="1563624" y="1856231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20</a:t>
            </a:r>
          </a:p>
        </p:txBody>
      </p:sp>
      <p:cxnSp>
        <p:nvCxnSpPr>
          <p:cNvPr id="17" name="a1wd150_sa16"/>
          <p:cNvCxnSpPr/>
          <p:nvPr/>
        </p:nvCxnSpPr>
        <p:spPr>
          <a:xfrm>
            <a:off x="1444752" y="1984248"/>
            <a:ext cx="109728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1wd250_sk17"/>
          <p:cNvSpPr/>
          <p:nvPr/>
        </p:nvSpPr>
        <p:spPr>
          <a:xfrm>
            <a:off x="2953512" y="1856231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50_skv18"/>
          <p:cNvSpPr txBox="1"/>
          <p:nvPr/>
        </p:nvSpPr>
        <p:spPr>
          <a:xfrm>
            <a:off x="2953512" y="1856231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40</a:t>
            </a:r>
          </a:p>
        </p:txBody>
      </p:sp>
      <p:cxnSp>
        <p:nvCxnSpPr>
          <p:cNvPr id="20" name="a1wd250_sa19"/>
          <p:cNvCxnSpPr/>
          <p:nvPr/>
        </p:nvCxnSpPr>
        <p:spPr>
          <a:xfrm>
            <a:off x="2139696" y="1984248"/>
            <a:ext cx="804672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1wd350_sk20"/>
          <p:cNvSpPr/>
          <p:nvPr/>
        </p:nvSpPr>
        <p:spPr>
          <a:xfrm>
            <a:off x="4343400" y="1856231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350_skv21"/>
          <p:cNvSpPr txBox="1"/>
          <p:nvPr/>
        </p:nvSpPr>
        <p:spPr>
          <a:xfrm>
            <a:off x="4343400" y="1856231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60</a:t>
            </a:r>
          </a:p>
        </p:txBody>
      </p:sp>
      <p:cxnSp>
        <p:nvCxnSpPr>
          <p:cNvPr id="23" name="a1wd350_sa22"/>
          <p:cNvCxnSpPr/>
          <p:nvPr/>
        </p:nvCxnSpPr>
        <p:spPr>
          <a:xfrm>
            <a:off x="3529584" y="1984248"/>
            <a:ext cx="804672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1fd200_ln23"/>
          <p:cNvSpPr txBox="1"/>
          <p:nvPr/>
        </p:nvSpPr>
        <p:spPr>
          <a:xfrm>
            <a:off x="548640" y="216712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Courier New"/>
              </a:rPr>
              <a:t>L0</a:t>
            </a:r>
          </a:p>
        </p:txBody>
      </p:sp>
      <p:sp>
        <p:nvSpPr>
          <p:cNvPr id="25" name="a1wd200_sk24"/>
          <p:cNvSpPr/>
          <p:nvPr/>
        </p:nvSpPr>
        <p:spPr>
          <a:xfrm>
            <a:off x="868680" y="2167128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200_skv25"/>
          <p:cNvSpPr txBox="1"/>
          <p:nvPr/>
        </p:nvSpPr>
        <p:spPr>
          <a:xfrm>
            <a:off x="868680" y="21671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10</a:t>
            </a:r>
          </a:p>
        </p:txBody>
      </p:sp>
      <p:sp>
        <p:nvSpPr>
          <p:cNvPr id="27" name="a1wd250_sk26"/>
          <p:cNvSpPr/>
          <p:nvPr/>
        </p:nvSpPr>
        <p:spPr>
          <a:xfrm>
            <a:off x="1563624" y="2167128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250_skv27"/>
          <p:cNvSpPr txBox="1"/>
          <p:nvPr/>
        </p:nvSpPr>
        <p:spPr>
          <a:xfrm>
            <a:off x="1563624" y="21671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20</a:t>
            </a:r>
          </a:p>
        </p:txBody>
      </p:sp>
      <p:cxnSp>
        <p:nvCxnSpPr>
          <p:cNvPr id="29" name="a1wd250_sa28"/>
          <p:cNvCxnSpPr/>
          <p:nvPr/>
        </p:nvCxnSpPr>
        <p:spPr>
          <a:xfrm>
            <a:off x="1444752" y="2295144"/>
            <a:ext cx="109728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1wd300_sk29"/>
          <p:cNvSpPr/>
          <p:nvPr/>
        </p:nvSpPr>
        <p:spPr>
          <a:xfrm>
            <a:off x="2258568" y="2167128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00_skv30"/>
          <p:cNvSpPr txBox="1"/>
          <p:nvPr/>
        </p:nvSpPr>
        <p:spPr>
          <a:xfrm>
            <a:off x="2258568" y="21671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30</a:t>
            </a:r>
          </a:p>
        </p:txBody>
      </p:sp>
      <p:cxnSp>
        <p:nvCxnSpPr>
          <p:cNvPr id="32" name="a1wd300_sa31"/>
          <p:cNvCxnSpPr/>
          <p:nvPr/>
        </p:nvCxnSpPr>
        <p:spPr>
          <a:xfrm>
            <a:off x="2139696" y="2295144"/>
            <a:ext cx="109728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1wd350_sk32"/>
          <p:cNvSpPr/>
          <p:nvPr/>
        </p:nvSpPr>
        <p:spPr>
          <a:xfrm>
            <a:off x="2953512" y="2167128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350_skv33"/>
          <p:cNvSpPr txBox="1"/>
          <p:nvPr/>
        </p:nvSpPr>
        <p:spPr>
          <a:xfrm>
            <a:off x="2953512" y="21671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40</a:t>
            </a:r>
          </a:p>
        </p:txBody>
      </p:sp>
      <p:cxnSp>
        <p:nvCxnSpPr>
          <p:cNvPr id="35" name="a1wd350_sa34"/>
          <p:cNvCxnSpPr/>
          <p:nvPr/>
        </p:nvCxnSpPr>
        <p:spPr>
          <a:xfrm>
            <a:off x="2834639" y="2295144"/>
            <a:ext cx="109729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1wd400_sk35"/>
          <p:cNvSpPr/>
          <p:nvPr/>
        </p:nvSpPr>
        <p:spPr>
          <a:xfrm>
            <a:off x="3648456" y="2167128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00_skv36"/>
          <p:cNvSpPr txBox="1"/>
          <p:nvPr/>
        </p:nvSpPr>
        <p:spPr>
          <a:xfrm>
            <a:off x="3648456" y="21671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50</a:t>
            </a:r>
          </a:p>
        </p:txBody>
      </p:sp>
      <p:cxnSp>
        <p:nvCxnSpPr>
          <p:cNvPr id="38" name="a1wd400_sa37"/>
          <p:cNvCxnSpPr/>
          <p:nvPr/>
        </p:nvCxnSpPr>
        <p:spPr>
          <a:xfrm>
            <a:off x="3529584" y="2295144"/>
            <a:ext cx="109728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1wd450_sk38"/>
          <p:cNvSpPr/>
          <p:nvPr/>
        </p:nvSpPr>
        <p:spPr>
          <a:xfrm>
            <a:off x="4343400" y="2167128"/>
            <a:ext cx="566928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450_skv39"/>
          <p:cNvSpPr txBox="1"/>
          <p:nvPr/>
        </p:nvSpPr>
        <p:spPr>
          <a:xfrm>
            <a:off x="4343400" y="21671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Courier New"/>
              </a:rPr>
              <a:t>60</a:t>
            </a:r>
          </a:p>
        </p:txBody>
      </p:sp>
      <p:cxnSp>
        <p:nvCxnSpPr>
          <p:cNvPr id="41" name="a1wd450_sa40"/>
          <p:cNvCxnSpPr/>
          <p:nvPr/>
        </p:nvCxnSpPr>
        <p:spPr>
          <a:xfrm>
            <a:off x="4224528" y="2295144"/>
            <a:ext cx="109728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1fd620_cap41"/>
          <p:cNvSpPr txBox="1"/>
          <p:nvPr/>
        </p:nvSpPr>
        <p:spPr>
          <a:xfrm>
            <a:off x="640080" y="2478024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Search drops down a lane when the next hop overshoots — O(log n) on average.</a:t>
            </a:r>
          </a:p>
        </p:txBody>
      </p:sp>
      <p:sp>
        <p:nvSpPr>
          <p:cNvPr id="43" name="a2u_card42"/>
          <p:cNvSpPr/>
          <p:nvPr/>
        </p:nvSpPr>
        <p:spPr>
          <a:xfrm>
            <a:off x="5394960" y="1143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u_hh43"/>
          <p:cNvSpPr txBox="1"/>
          <p:nvPr/>
        </p:nvSpPr>
        <p:spPr>
          <a:xfrm>
            <a:off x="5577840" y="1252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OPERATIONS &amp; COST</a:t>
            </a:r>
          </a:p>
        </p:txBody>
      </p:sp>
      <p:sp>
        <p:nvSpPr>
          <p:cNvPr id="45" name="a2w_op44"/>
          <p:cNvSpPr txBox="1"/>
          <p:nvPr/>
        </p:nvSpPr>
        <p:spPr>
          <a:xfrm>
            <a:off x="5577840" y="15087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insert</a:t>
            </a:r>
          </a:p>
        </p:txBody>
      </p:sp>
      <p:sp>
        <p:nvSpPr>
          <p:cNvPr id="46" name="a2w_cb45"/>
          <p:cNvSpPr/>
          <p:nvPr/>
        </p:nvSpPr>
        <p:spPr>
          <a:xfrm>
            <a:off x="6931152" y="153619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_ct46"/>
          <p:cNvSpPr txBox="1"/>
          <p:nvPr/>
        </p:nvSpPr>
        <p:spPr>
          <a:xfrm>
            <a:off x="6931152" y="152704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O(log n)</a:t>
            </a:r>
          </a:p>
        </p:txBody>
      </p:sp>
      <p:sp>
        <p:nvSpPr>
          <p:cNvPr id="48" name="a2w_on47"/>
          <p:cNvSpPr txBox="1"/>
          <p:nvPr/>
        </p:nvSpPr>
        <p:spPr>
          <a:xfrm>
            <a:off x="7534656" y="150876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probabilistic</a:t>
            </a:r>
          </a:p>
        </p:txBody>
      </p:sp>
      <p:sp>
        <p:nvSpPr>
          <p:cNvPr id="49" name="a2wd70_op48"/>
          <p:cNvSpPr txBox="1"/>
          <p:nvPr/>
        </p:nvSpPr>
        <p:spPr>
          <a:xfrm>
            <a:off x="557784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delete</a:t>
            </a:r>
          </a:p>
        </p:txBody>
      </p:sp>
      <p:sp>
        <p:nvSpPr>
          <p:cNvPr id="50" name="a2wd70_cb49"/>
          <p:cNvSpPr/>
          <p:nvPr/>
        </p:nvSpPr>
        <p:spPr>
          <a:xfrm>
            <a:off x="6931152" y="1810512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2wd70_ct50"/>
          <p:cNvSpPr txBox="1"/>
          <p:nvPr/>
        </p:nvSpPr>
        <p:spPr>
          <a:xfrm>
            <a:off x="6931152" y="180136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O(log n)</a:t>
            </a:r>
          </a:p>
        </p:txBody>
      </p:sp>
      <p:sp>
        <p:nvSpPr>
          <p:cNvPr id="52" name="a2wd70_on51"/>
          <p:cNvSpPr txBox="1"/>
          <p:nvPr/>
        </p:nvSpPr>
        <p:spPr>
          <a:xfrm>
            <a:off x="7534656" y="178308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probabilistic</a:t>
            </a:r>
          </a:p>
        </p:txBody>
      </p:sp>
      <p:sp>
        <p:nvSpPr>
          <p:cNvPr id="53" name="a2wd140_op52"/>
          <p:cNvSpPr txBox="1"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rank(m)</a:t>
            </a:r>
          </a:p>
        </p:txBody>
      </p:sp>
      <p:sp>
        <p:nvSpPr>
          <p:cNvPr id="54" name="a2wd140_cb53"/>
          <p:cNvSpPr/>
          <p:nvPr/>
        </p:nvSpPr>
        <p:spPr>
          <a:xfrm>
            <a:off x="6931152" y="208483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wd140_ct54"/>
          <p:cNvSpPr txBox="1"/>
          <p:nvPr/>
        </p:nvSpPr>
        <p:spPr>
          <a:xfrm>
            <a:off x="6931152" y="207568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O(log n)</a:t>
            </a:r>
          </a:p>
        </p:txBody>
      </p:sp>
      <p:sp>
        <p:nvSpPr>
          <p:cNvPr id="56" name="a2wd140_on55"/>
          <p:cNvSpPr txBox="1"/>
          <p:nvPr/>
        </p:nvSpPr>
        <p:spPr>
          <a:xfrm>
            <a:off x="7534656" y="205740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span counters</a:t>
            </a:r>
          </a:p>
        </p:txBody>
      </p:sp>
      <p:sp>
        <p:nvSpPr>
          <p:cNvPr id="57" name="a2wd210_op56"/>
          <p:cNvSpPr txBox="1"/>
          <p:nvPr/>
        </p:nvSpPr>
        <p:spPr>
          <a:xfrm>
            <a:off x="5577840" y="23317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range(a,b)</a:t>
            </a:r>
          </a:p>
        </p:txBody>
      </p:sp>
      <p:sp>
        <p:nvSpPr>
          <p:cNvPr id="58" name="a2wd210_cb57"/>
          <p:cNvSpPr/>
          <p:nvPr/>
        </p:nvSpPr>
        <p:spPr>
          <a:xfrm>
            <a:off x="6931152" y="235915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2wd210_ct58"/>
          <p:cNvSpPr txBox="1"/>
          <p:nvPr/>
        </p:nvSpPr>
        <p:spPr>
          <a:xfrm>
            <a:off x="6931152" y="2350008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O(log n+k)</a:t>
            </a:r>
          </a:p>
        </p:txBody>
      </p:sp>
      <p:sp>
        <p:nvSpPr>
          <p:cNvPr id="60" name="a2wd210_on59"/>
          <p:cNvSpPr txBox="1"/>
          <p:nvPr/>
        </p:nvSpPr>
        <p:spPr>
          <a:xfrm>
            <a:off x="7534656" y="233172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then walk</a:t>
            </a:r>
          </a:p>
        </p:txBody>
      </p:sp>
      <p:sp>
        <p:nvSpPr>
          <p:cNvPr id="61" name="a2wd280_op60"/>
          <p:cNvSpPr txBox="1"/>
          <p:nvPr/>
        </p:nvSpPr>
        <p:spPr>
          <a:xfrm>
            <a:off x="5577840" y="2606039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ourier New"/>
              </a:rPr>
              <a:t>by score</a:t>
            </a:r>
          </a:p>
        </p:txBody>
      </p:sp>
      <p:sp>
        <p:nvSpPr>
          <p:cNvPr id="62" name="a2wd280_cb61"/>
          <p:cNvSpPr/>
          <p:nvPr/>
        </p:nvSpPr>
        <p:spPr>
          <a:xfrm>
            <a:off x="6931152" y="2633471"/>
            <a:ext cx="530352" cy="201168"/>
          </a:xfrm>
          <a:prstGeom prst="roundRect">
            <a:avLst>
              <a:gd name="adj" fmla="val 18181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2wd280_ct62"/>
          <p:cNvSpPr txBox="1"/>
          <p:nvPr/>
        </p:nvSpPr>
        <p:spPr>
          <a:xfrm>
            <a:off x="6931152" y="2624327"/>
            <a:ext cx="5303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O(log n)</a:t>
            </a:r>
          </a:p>
        </p:txBody>
      </p:sp>
      <p:sp>
        <p:nvSpPr>
          <p:cNvPr id="64" name="a2wd280_on63"/>
          <p:cNvSpPr txBox="1"/>
          <p:nvPr/>
        </p:nvSpPr>
        <p:spPr>
          <a:xfrm>
            <a:off x="7534656" y="2606039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the whole point</a:t>
            </a:r>
          </a:p>
        </p:txBody>
      </p:sp>
      <p:sp>
        <p:nvSpPr>
          <p:cNvPr id="65" name="a3u_card64"/>
          <p:cNvSpPr/>
          <p:nvPr/>
        </p:nvSpPr>
        <p:spPr>
          <a:xfrm>
            <a:off x="457200" y="2843784"/>
            <a:ext cx="475488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3u_hh65"/>
          <p:cNvSpPr txBox="1"/>
          <p:nvPr/>
        </p:nvSpPr>
        <p:spPr>
          <a:xfrm>
            <a:off x="640080" y="2953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WHERE YOU MEET IT</a:t>
            </a:r>
          </a:p>
        </p:txBody>
      </p:sp>
      <p:sp>
        <p:nvSpPr>
          <p:cNvPr id="67" name="a3ud60_dot66"/>
          <p:cNvSpPr/>
          <p:nvPr/>
        </p:nvSpPr>
        <p:spPr>
          <a:xfrm>
            <a:off x="640080" y="331012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3ud60_b67"/>
          <p:cNvSpPr txBox="1"/>
          <p:nvPr/>
        </p:nvSpPr>
        <p:spPr>
          <a:xfrm>
            <a:off x="859536" y="3209544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Ordered indexes without rebalancing code</a:t>
            </a:r>
          </a:p>
        </p:txBody>
      </p:sp>
      <p:sp>
        <p:nvSpPr>
          <p:cNvPr id="69" name="a3ud160_dot68"/>
          <p:cNvSpPr/>
          <p:nvPr/>
        </p:nvSpPr>
        <p:spPr>
          <a:xfrm>
            <a:off x="640080" y="36118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3ud160_b69"/>
          <p:cNvSpPr txBox="1"/>
          <p:nvPr/>
        </p:nvSpPr>
        <p:spPr>
          <a:xfrm>
            <a:off x="859536" y="3511296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Leaderboards, priority queues, time-ordered feeds</a:t>
            </a:r>
          </a:p>
        </p:txBody>
      </p:sp>
      <p:sp>
        <p:nvSpPr>
          <p:cNvPr id="71" name="a3ud260_dot70"/>
          <p:cNvSpPr/>
          <p:nvPr/>
        </p:nvSpPr>
        <p:spPr>
          <a:xfrm>
            <a:off x="640080" y="391363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3ud260_b71"/>
          <p:cNvSpPr txBox="1"/>
          <p:nvPr/>
        </p:nvSpPr>
        <p:spPr>
          <a:xfrm>
            <a:off x="859536" y="3813048"/>
            <a:ext cx="4169663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Used in LevelDB, HBase memstores, Lucene</a:t>
            </a:r>
          </a:p>
        </p:txBody>
      </p:sp>
      <p:sp>
        <p:nvSpPr>
          <p:cNvPr id="73" name="a4u_card72"/>
          <p:cNvSpPr/>
          <p:nvPr/>
        </p:nvSpPr>
        <p:spPr>
          <a:xfrm>
            <a:off x="5394960" y="2843784"/>
            <a:ext cx="3291840" cy="132588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4u_hh73"/>
          <p:cNvSpPr txBox="1"/>
          <p:nvPr/>
        </p:nvSpPr>
        <p:spPr>
          <a:xfrm>
            <a:off x="5577840" y="2953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IN REDIS</a:t>
            </a:r>
          </a:p>
        </p:txBody>
      </p:sp>
      <p:sp>
        <p:nvSpPr>
          <p:cNvPr id="75" name="a4ud60_rl74"/>
          <p:cNvSpPr txBox="1"/>
          <p:nvPr/>
        </p:nvSpPr>
        <p:spPr>
          <a:xfrm>
            <a:off x="5577840" y="3209544"/>
            <a:ext cx="29260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The Redis Sorted Set: a skip list ordered by score, plus a hash table from member to score. That pairing is why both ZSCORE and ZRANGEBYSCORE are fast.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Complexity, Side by Side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table worth memorising - it explains every command cost in Redis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691640" cy="3474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490472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20_tdt6"/>
          <p:cNvSpPr txBox="1"/>
          <p:nvPr/>
        </p:nvSpPr>
        <p:spPr>
          <a:xfrm>
            <a:off x="530352" y="149047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Array / listpack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837943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40_tdt8"/>
          <p:cNvSpPr txBox="1"/>
          <p:nvPr/>
        </p:nvSpPr>
        <p:spPr>
          <a:xfrm>
            <a:off x="530352" y="1837943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Linked list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185416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60_tdt10"/>
          <p:cNvSpPr txBox="1"/>
          <p:nvPr/>
        </p:nvSpPr>
        <p:spPr>
          <a:xfrm>
            <a:off x="530352" y="2185416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Stack / queue</a:t>
            </a:r>
          </a:p>
        </p:txBody>
      </p:sp>
      <p:sp>
        <p:nvSpPr>
          <p:cNvPr id="12" name="a1wd480_td11"/>
          <p:cNvSpPr/>
          <p:nvPr/>
        </p:nvSpPr>
        <p:spPr>
          <a:xfrm>
            <a:off x="457200" y="2532888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80_tdt12"/>
          <p:cNvSpPr txBox="1"/>
          <p:nvPr/>
        </p:nvSpPr>
        <p:spPr>
          <a:xfrm>
            <a:off x="530352" y="2532888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Hash table</a:t>
            </a:r>
          </a:p>
        </p:txBody>
      </p:sp>
      <p:sp>
        <p:nvSpPr>
          <p:cNvPr id="14" name="a1wd600_td13"/>
          <p:cNvSpPr/>
          <p:nvPr/>
        </p:nvSpPr>
        <p:spPr>
          <a:xfrm>
            <a:off x="457200" y="2880360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600_tdt14"/>
          <p:cNvSpPr txBox="1"/>
          <p:nvPr/>
        </p:nvSpPr>
        <p:spPr>
          <a:xfrm>
            <a:off x="530352" y="2880360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Set (hash)</a:t>
            </a:r>
          </a:p>
        </p:txBody>
      </p:sp>
      <p:sp>
        <p:nvSpPr>
          <p:cNvPr id="16" name="a1wd720_td15"/>
          <p:cNvSpPr/>
          <p:nvPr/>
        </p:nvSpPr>
        <p:spPr>
          <a:xfrm>
            <a:off x="457200" y="3227832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720_tdt16"/>
          <p:cNvSpPr txBox="1"/>
          <p:nvPr/>
        </p:nvSpPr>
        <p:spPr>
          <a:xfrm>
            <a:off x="530352" y="322783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Skip list</a:t>
            </a:r>
          </a:p>
        </p:txBody>
      </p:sp>
      <p:sp>
        <p:nvSpPr>
          <p:cNvPr id="18" name="a1f_th17"/>
          <p:cNvSpPr/>
          <p:nvPr/>
        </p:nvSpPr>
        <p:spPr>
          <a:xfrm>
            <a:off x="2148840" y="1143000"/>
            <a:ext cx="960120" cy="34747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2221992" y="1143000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Index</a:t>
            </a:r>
          </a:p>
        </p:txBody>
      </p:sp>
      <p:sp>
        <p:nvSpPr>
          <p:cNvPr id="20" name="a1wd120_td19"/>
          <p:cNvSpPr/>
          <p:nvPr/>
        </p:nvSpPr>
        <p:spPr>
          <a:xfrm>
            <a:off x="2148840" y="1490472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20_tdt20"/>
          <p:cNvSpPr txBox="1"/>
          <p:nvPr/>
        </p:nvSpPr>
        <p:spPr>
          <a:xfrm>
            <a:off x="2221992" y="1490472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22" name="a1wd240_td21"/>
          <p:cNvSpPr/>
          <p:nvPr/>
        </p:nvSpPr>
        <p:spPr>
          <a:xfrm>
            <a:off x="2148840" y="1837943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40_tdt22"/>
          <p:cNvSpPr txBox="1"/>
          <p:nvPr/>
        </p:nvSpPr>
        <p:spPr>
          <a:xfrm>
            <a:off x="2221992" y="1837943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24" name="a1wd360_td23"/>
          <p:cNvSpPr/>
          <p:nvPr/>
        </p:nvSpPr>
        <p:spPr>
          <a:xfrm>
            <a:off x="2148840" y="2185416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60_tdt24"/>
          <p:cNvSpPr txBox="1"/>
          <p:nvPr/>
        </p:nvSpPr>
        <p:spPr>
          <a:xfrm>
            <a:off x="2221992" y="2185416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26" name="a1wd480_td25"/>
          <p:cNvSpPr/>
          <p:nvPr/>
        </p:nvSpPr>
        <p:spPr>
          <a:xfrm>
            <a:off x="2148840" y="2532888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80_tdt26"/>
          <p:cNvSpPr txBox="1"/>
          <p:nvPr/>
        </p:nvSpPr>
        <p:spPr>
          <a:xfrm>
            <a:off x="2221992" y="2532888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28" name="a1wd600_td27"/>
          <p:cNvSpPr/>
          <p:nvPr/>
        </p:nvSpPr>
        <p:spPr>
          <a:xfrm>
            <a:off x="2148840" y="2880360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600_tdt28"/>
          <p:cNvSpPr txBox="1"/>
          <p:nvPr/>
        </p:nvSpPr>
        <p:spPr>
          <a:xfrm>
            <a:off x="2221992" y="2880360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30" name="a1wd720_td29"/>
          <p:cNvSpPr/>
          <p:nvPr/>
        </p:nvSpPr>
        <p:spPr>
          <a:xfrm>
            <a:off x="2148840" y="3227832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720_tdt30"/>
          <p:cNvSpPr txBox="1"/>
          <p:nvPr/>
        </p:nvSpPr>
        <p:spPr>
          <a:xfrm>
            <a:off x="2221992" y="3227832"/>
            <a:ext cx="850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32" name="a1f_th31"/>
          <p:cNvSpPr/>
          <p:nvPr/>
        </p:nvSpPr>
        <p:spPr>
          <a:xfrm>
            <a:off x="3108960" y="1143000"/>
            <a:ext cx="1097280" cy="34747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3182112" y="114300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34" name="a1wd120_td33"/>
          <p:cNvSpPr/>
          <p:nvPr/>
        </p:nvSpPr>
        <p:spPr>
          <a:xfrm>
            <a:off x="3108960" y="14904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20_tdt34"/>
          <p:cNvSpPr txBox="1"/>
          <p:nvPr/>
        </p:nvSpPr>
        <p:spPr>
          <a:xfrm>
            <a:off x="3182112" y="149047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36" name="a1wd240_td35"/>
          <p:cNvSpPr/>
          <p:nvPr/>
        </p:nvSpPr>
        <p:spPr>
          <a:xfrm>
            <a:off x="3108960" y="1837943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40_tdt36"/>
          <p:cNvSpPr txBox="1"/>
          <p:nvPr/>
        </p:nvSpPr>
        <p:spPr>
          <a:xfrm>
            <a:off x="3182112" y="1837943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38" name="a1wd360_td37"/>
          <p:cNvSpPr/>
          <p:nvPr/>
        </p:nvSpPr>
        <p:spPr>
          <a:xfrm>
            <a:off x="3108960" y="218541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60_tdt38"/>
          <p:cNvSpPr txBox="1"/>
          <p:nvPr/>
        </p:nvSpPr>
        <p:spPr>
          <a:xfrm>
            <a:off x="3182112" y="2185416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40" name="a1wd480_td39"/>
          <p:cNvSpPr/>
          <p:nvPr/>
        </p:nvSpPr>
        <p:spPr>
          <a:xfrm>
            <a:off x="3108960" y="253288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80_tdt40"/>
          <p:cNvSpPr txBox="1"/>
          <p:nvPr/>
        </p:nvSpPr>
        <p:spPr>
          <a:xfrm>
            <a:off x="3182112" y="2532888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avg</a:t>
            </a:r>
          </a:p>
        </p:txBody>
      </p:sp>
      <p:sp>
        <p:nvSpPr>
          <p:cNvPr id="42" name="a1wd600_td41"/>
          <p:cNvSpPr/>
          <p:nvPr/>
        </p:nvSpPr>
        <p:spPr>
          <a:xfrm>
            <a:off x="3108960" y="288036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00_tdt42"/>
          <p:cNvSpPr txBox="1"/>
          <p:nvPr/>
        </p:nvSpPr>
        <p:spPr>
          <a:xfrm>
            <a:off x="3182112" y="288036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avg</a:t>
            </a:r>
          </a:p>
        </p:txBody>
      </p:sp>
      <p:sp>
        <p:nvSpPr>
          <p:cNvPr id="44" name="a1wd720_td43"/>
          <p:cNvSpPr/>
          <p:nvPr/>
        </p:nvSpPr>
        <p:spPr>
          <a:xfrm>
            <a:off x="3108960" y="322783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720_tdt44"/>
          <p:cNvSpPr txBox="1"/>
          <p:nvPr/>
        </p:nvSpPr>
        <p:spPr>
          <a:xfrm>
            <a:off x="3182112" y="32278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46" name="a1f_th45"/>
          <p:cNvSpPr/>
          <p:nvPr/>
        </p:nvSpPr>
        <p:spPr>
          <a:xfrm>
            <a:off x="4206240" y="1143000"/>
            <a:ext cx="109728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f_tht46"/>
          <p:cNvSpPr txBox="1"/>
          <p:nvPr/>
        </p:nvSpPr>
        <p:spPr>
          <a:xfrm>
            <a:off x="4279392" y="114300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Insert</a:t>
            </a:r>
          </a:p>
        </p:txBody>
      </p:sp>
      <p:sp>
        <p:nvSpPr>
          <p:cNvPr id="48" name="a1wd120_td47"/>
          <p:cNvSpPr/>
          <p:nvPr/>
        </p:nvSpPr>
        <p:spPr>
          <a:xfrm>
            <a:off x="4206240" y="14904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20_tdt48"/>
          <p:cNvSpPr txBox="1"/>
          <p:nvPr/>
        </p:nvSpPr>
        <p:spPr>
          <a:xfrm>
            <a:off x="4279392" y="149047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0" name="a1wd240_td49"/>
          <p:cNvSpPr/>
          <p:nvPr/>
        </p:nvSpPr>
        <p:spPr>
          <a:xfrm>
            <a:off x="4206240" y="1837943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40_tdt50"/>
          <p:cNvSpPr txBox="1"/>
          <p:nvPr/>
        </p:nvSpPr>
        <p:spPr>
          <a:xfrm>
            <a:off x="4279392" y="1837943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ends</a:t>
            </a:r>
          </a:p>
        </p:txBody>
      </p:sp>
      <p:sp>
        <p:nvSpPr>
          <p:cNvPr id="52" name="a1wd360_td51"/>
          <p:cNvSpPr/>
          <p:nvPr/>
        </p:nvSpPr>
        <p:spPr>
          <a:xfrm>
            <a:off x="4206240" y="218541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60_tdt52"/>
          <p:cNvSpPr txBox="1"/>
          <p:nvPr/>
        </p:nvSpPr>
        <p:spPr>
          <a:xfrm>
            <a:off x="4279392" y="2185416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4" name="a1wd480_td53"/>
          <p:cNvSpPr/>
          <p:nvPr/>
        </p:nvSpPr>
        <p:spPr>
          <a:xfrm>
            <a:off x="4206240" y="253288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80_tdt54"/>
          <p:cNvSpPr txBox="1"/>
          <p:nvPr/>
        </p:nvSpPr>
        <p:spPr>
          <a:xfrm>
            <a:off x="4279392" y="2532888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avg</a:t>
            </a:r>
          </a:p>
        </p:txBody>
      </p:sp>
      <p:sp>
        <p:nvSpPr>
          <p:cNvPr id="56" name="a1wd600_td55"/>
          <p:cNvSpPr/>
          <p:nvPr/>
        </p:nvSpPr>
        <p:spPr>
          <a:xfrm>
            <a:off x="4206240" y="288036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600_tdt56"/>
          <p:cNvSpPr txBox="1"/>
          <p:nvPr/>
        </p:nvSpPr>
        <p:spPr>
          <a:xfrm>
            <a:off x="4279392" y="288036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avg</a:t>
            </a:r>
          </a:p>
        </p:txBody>
      </p:sp>
      <p:sp>
        <p:nvSpPr>
          <p:cNvPr id="58" name="a1wd720_td57"/>
          <p:cNvSpPr/>
          <p:nvPr/>
        </p:nvSpPr>
        <p:spPr>
          <a:xfrm>
            <a:off x="4206240" y="322783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720_tdt58"/>
          <p:cNvSpPr txBox="1"/>
          <p:nvPr/>
        </p:nvSpPr>
        <p:spPr>
          <a:xfrm>
            <a:off x="4279392" y="32278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60" name="a1f_th59"/>
          <p:cNvSpPr/>
          <p:nvPr/>
        </p:nvSpPr>
        <p:spPr>
          <a:xfrm>
            <a:off x="5303520" y="1143000"/>
            <a:ext cx="109728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f_tht60"/>
          <p:cNvSpPr txBox="1"/>
          <p:nvPr/>
        </p:nvSpPr>
        <p:spPr>
          <a:xfrm>
            <a:off x="5376672" y="114300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62" name="a1wd120_td61"/>
          <p:cNvSpPr/>
          <p:nvPr/>
        </p:nvSpPr>
        <p:spPr>
          <a:xfrm>
            <a:off x="5303520" y="14904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120_tdt62"/>
          <p:cNvSpPr txBox="1"/>
          <p:nvPr/>
        </p:nvSpPr>
        <p:spPr>
          <a:xfrm>
            <a:off x="5376672" y="149047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4" name="a1wd240_td63"/>
          <p:cNvSpPr/>
          <p:nvPr/>
        </p:nvSpPr>
        <p:spPr>
          <a:xfrm>
            <a:off x="5303520" y="1837943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240_tdt64"/>
          <p:cNvSpPr txBox="1"/>
          <p:nvPr/>
        </p:nvSpPr>
        <p:spPr>
          <a:xfrm>
            <a:off x="5376672" y="1837943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ends</a:t>
            </a:r>
          </a:p>
        </p:txBody>
      </p:sp>
      <p:sp>
        <p:nvSpPr>
          <p:cNvPr id="66" name="a1wd360_td65"/>
          <p:cNvSpPr/>
          <p:nvPr/>
        </p:nvSpPr>
        <p:spPr>
          <a:xfrm>
            <a:off x="5303520" y="218541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360_tdt66"/>
          <p:cNvSpPr txBox="1"/>
          <p:nvPr/>
        </p:nvSpPr>
        <p:spPr>
          <a:xfrm>
            <a:off x="5376672" y="2185416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8" name="a1wd480_td67"/>
          <p:cNvSpPr/>
          <p:nvPr/>
        </p:nvSpPr>
        <p:spPr>
          <a:xfrm>
            <a:off x="5303520" y="253288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480_tdt68"/>
          <p:cNvSpPr txBox="1"/>
          <p:nvPr/>
        </p:nvSpPr>
        <p:spPr>
          <a:xfrm>
            <a:off x="5376672" y="2532888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avg</a:t>
            </a:r>
          </a:p>
        </p:txBody>
      </p:sp>
      <p:sp>
        <p:nvSpPr>
          <p:cNvPr id="70" name="a1wd600_td69"/>
          <p:cNvSpPr/>
          <p:nvPr/>
        </p:nvSpPr>
        <p:spPr>
          <a:xfrm>
            <a:off x="5303520" y="288036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600_tdt70"/>
          <p:cNvSpPr txBox="1"/>
          <p:nvPr/>
        </p:nvSpPr>
        <p:spPr>
          <a:xfrm>
            <a:off x="5376672" y="288036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avg</a:t>
            </a:r>
          </a:p>
        </p:txBody>
      </p:sp>
      <p:sp>
        <p:nvSpPr>
          <p:cNvPr id="72" name="a1wd720_td71"/>
          <p:cNvSpPr/>
          <p:nvPr/>
        </p:nvSpPr>
        <p:spPr>
          <a:xfrm>
            <a:off x="5303520" y="322783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720_tdt72"/>
          <p:cNvSpPr txBox="1"/>
          <p:nvPr/>
        </p:nvSpPr>
        <p:spPr>
          <a:xfrm>
            <a:off x="5376672" y="32278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74" name="a1f_th73"/>
          <p:cNvSpPr/>
          <p:nvPr/>
        </p:nvSpPr>
        <p:spPr>
          <a:xfrm>
            <a:off x="6400800" y="1143000"/>
            <a:ext cx="1005840" cy="3474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f_tht74"/>
          <p:cNvSpPr txBox="1"/>
          <p:nvPr/>
        </p:nvSpPr>
        <p:spPr>
          <a:xfrm>
            <a:off x="6473952" y="1143000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Ordered?</a:t>
            </a:r>
          </a:p>
        </p:txBody>
      </p:sp>
      <p:sp>
        <p:nvSpPr>
          <p:cNvPr id="76" name="a1wd120_td75"/>
          <p:cNvSpPr/>
          <p:nvPr/>
        </p:nvSpPr>
        <p:spPr>
          <a:xfrm>
            <a:off x="6400800" y="149047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1wd120_tdt76"/>
          <p:cNvSpPr txBox="1"/>
          <p:nvPr/>
        </p:nvSpPr>
        <p:spPr>
          <a:xfrm>
            <a:off x="6473952" y="1490472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by position</a:t>
            </a:r>
          </a:p>
        </p:txBody>
      </p:sp>
      <p:sp>
        <p:nvSpPr>
          <p:cNvPr id="78" name="a1wd240_td77"/>
          <p:cNvSpPr/>
          <p:nvPr/>
        </p:nvSpPr>
        <p:spPr>
          <a:xfrm>
            <a:off x="6400800" y="1837943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a1wd240_tdt78"/>
          <p:cNvSpPr txBox="1"/>
          <p:nvPr/>
        </p:nvSpPr>
        <p:spPr>
          <a:xfrm>
            <a:off x="6473952" y="1837943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insertion</a:t>
            </a:r>
          </a:p>
        </p:txBody>
      </p:sp>
      <p:sp>
        <p:nvSpPr>
          <p:cNvPr id="80" name="a1wd360_td79"/>
          <p:cNvSpPr/>
          <p:nvPr/>
        </p:nvSpPr>
        <p:spPr>
          <a:xfrm>
            <a:off x="6400800" y="218541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a1wd360_tdt80"/>
          <p:cNvSpPr txBox="1"/>
          <p:nvPr/>
        </p:nvSpPr>
        <p:spPr>
          <a:xfrm>
            <a:off x="6473952" y="2185416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discipline</a:t>
            </a:r>
          </a:p>
        </p:txBody>
      </p:sp>
      <p:sp>
        <p:nvSpPr>
          <p:cNvPr id="82" name="a1wd480_td81"/>
          <p:cNvSpPr/>
          <p:nvPr/>
        </p:nvSpPr>
        <p:spPr>
          <a:xfrm>
            <a:off x="6400800" y="25328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a1wd480_tdt82"/>
          <p:cNvSpPr txBox="1"/>
          <p:nvPr/>
        </p:nvSpPr>
        <p:spPr>
          <a:xfrm>
            <a:off x="6473952" y="2532888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84" name="a1wd600_td83"/>
          <p:cNvSpPr/>
          <p:nvPr/>
        </p:nvSpPr>
        <p:spPr>
          <a:xfrm>
            <a:off x="6400800" y="288036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a1wd600_tdt84"/>
          <p:cNvSpPr txBox="1"/>
          <p:nvPr/>
        </p:nvSpPr>
        <p:spPr>
          <a:xfrm>
            <a:off x="6473952" y="2880360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86" name="a1wd720_td85"/>
          <p:cNvSpPr/>
          <p:nvPr/>
        </p:nvSpPr>
        <p:spPr>
          <a:xfrm>
            <a:off x="6400800" y="322783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a1wd720_tdt86"/>
          <p:cNvSpPr txBox="1"/>
          <p:nvPr/>
        </p:nvSpPr>
        <p:spPr>
          <a:xfrm>
            <a:off x="6473952" y="3227832"/>
            <a:ext cx="89611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by score</a:t>
            </a:r>
          </a:p>
        </p:txBody>
      </p:sp>
      <p:sp>
        <p:nvSpPr>
          <p:cNvPr id="88" name="a1f_th87"/>
          <p:cNvSpPr/>
          <p:nvPr/>
        </p:nvSpPr>
        <p:spPr>
          <a:xfrm>
            <a:off x="7406640" y="1143000"/>
            <a:ext cx="1280160" cy="34747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a1f_tht88"/>
          <p:cNvSpPr txBox="1"/>
          <p:nvPr/>
        </p:nvSpPr>
        <p:spPr>
          <a:xfrm>
            <a:off x="7479792" y="1143000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90" name="a1wd120_td89"/>
          <p:cNvSpPr/>
          <p:nvPr/>
        </p:nvSpPr>
        <p:spPr>
          <a:xfrm>
            <a:off x="7406640" y="149047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a1wd120_tdt90"/>
          <p:cNvSpPr txBox="1"/>
          <p:nvPr/>
        </p:nvSpPr>
        <p:spPr>
          <a:xfrm>
            <a:off x="7479792" y="149047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lowest</a:t>
            </a:r>
          </a:p>
        </p:txBody>
      </p:sp>
      <p:sp>
        <p:nvSpPr>
          <p:cNvPr id="92" name="a1wd240_td91"/>
          <p:cNvSpPr/>
          <p:nvPr/>
        </p:nvSpPr>
        <p:spPr>
          <a:xfrm>
            <a:off x="7406640" y="1837943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a1wd240_tdt92"/>
          <p:cNvSpPr txBox="1"/>
          <p:nvPr/>
        </p:nvSpPr>
        <p:spPr>
          <a:xfrm>
            <a:off x="7479792" y="1837943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+2 pointers</a:t>
            </a:r>
          </a:p>
        </p:txBody>
      </p:sp>
      <p:sp>
        <p:nvSpPr>
          <p:cNvPr id="94" name="a1wd360_td93"/>
          <p:cNvSpPr/>
          <p:nvPr/>
        </p:nvSpPr>
        <p:spPr>
          <a:xfrm>
            <a:off x="7406640" y="218541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a1wd360_tdt94"/>
          <p:cNvSpPr txBox="1"/>
          <p:nvPr/>
        </p:nvSpPr>
        <p:spPr>
          <a:xfrm>
            <a:off x="7479792" y="2185416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96" name="a1wd480_td95"/>
          <p:cNvSpPr/>
          <p:nvPr/>
        </p:nvSpPr>
        <p:spPr>
          <a:xfrm>
            <a:off x="7406640" y="253288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a1wd480_tdt96"/>
          <p:cNvSpPr txBox="1"/>
          <p:nvPr/>
        </p:nvSpPr>
        <p:spPr>
          <a:xfrm>
            <a:off x="7479792" y="2532888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buckets + chain</a:t>
            </a:r>
          </a:p>
        </p:txBody>
      </p:sp>
      <p:sp>
        <p:nvSpPr>
          <p:cNvPr id="98" name="a1wd600_td97"/>
          <p:cNvSpPr/>
          <p:nvPr/>
        </p:nvSpPr>
        <p:spPr>
          <a:xfrm>
            <a:off x="7406640" y="2880360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a1wd600_tdt98"/>
          <p:cNvSpPr txBox="1"/>
          <p:nvPr/>
        </p:nvSpPr>
        <p:spPr>
          <a:xfrm>
            <a:off x="7479792" y="2880360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keys only</a:t>
            </a:r>
          </a:p>
        </p:txBody>
      </p:sp>
      <p:sp>
        <p:nvSpPr>
          <p:cNvPr id="100" name="a1wd720_td99"/>
          <p:cNvSpPr/>
          <p:nvPr/>
        </p:nvSpPr>
        <p:spPr>
          <a:xfrm>
            <a:off x="7406640" y="322783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a1wd720_tdt100"/>
          <p:cNvSpPr txBox="1"/>
          <p:nvPr/>
        </p:nvSpPr>
        <p:spPr>
          <a:xfrm>
            <a:off x="7479792" y="3227832"/>
            <a:ext cx="117043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~1.33 ptr/node</a:t>
            </a:r>
          </a:p>
        </p:txBody>
      </p:sp>
      <p:sp>
        <p:nvSpPr>
          <p:cNvPr id="102" name="a2u_nb101"/>
          <p:cNvSpPr/>
          <p:nvPr/>
        </p:nvSpPr>
        <p:spPr>
          <a:xfrm>
            <a:off x="457200" y="3730752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a2u_nacc102"/>
          <p:cNvSpPr/>
          <p:nvPr/>
        </p:nvSpPr>
        <p:spPr>
          <a:xfrm>
            <a:off x="457200" y="3730752"/>
            <a:ext cx="50292" cy="5120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a2u_nt103"/>
          <p:cNvSpPr txBox="1"/>
          <p:nvPr/>
        </p:nvSpPr>
        <p:spPr>
          <a:xfrm>
            <a:off x="658368" y="3730752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Redis picks the structure per value and switches automatically as the value grows. Small collections use the compact form; past a configured threshold they convert to the scalable one. Deck 4 shows the thresholds in redis.conf.</a:t>
            </a:r>
          </a:p>
        </p:txBody>
      </p:sp>
      <p:sp>
        <p:nvSpPr>
          <p:cNvPr id="105" name="ft10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06" name="ft10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From Textbook to Redis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classical structure maps to something you can type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194560" cy="320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Classical structure</a:t>
            </a:r>
          </a:p>
        </p:txBody>
      </p:sp>
      <p:sp>
        <p:nvSpPr>
          <p:cNvPr id="6" name="a1wd90_td5"/>
          <p:cNvSpPr/>
          <p:nvPr/>
        </p:nvSpPr>
        <p:spPr>
          <a:xfrm>
            <a:off x="457200" y="146304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90_tdt6"/>
          <p:cNvSpPr txBox="1"/>
          <p:nvPr/>
        </p:nvSpPr>
        <p:spPr>
          <a:xfrm>
            <a:off x="530352" y="146304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Array / dynamic array</a:t>
            </a:r>
          </a:p>
        </p:txBody>
      </p:sp>
      <p:sp>
        <p:nvSpPr>
          <p:cNvPr id="8" name="a1wd180_td7"/>
          <p:cNvSpPr/>
          <p:nvPr/>
        </p:nvSpPr>
        <p:spPr>
          <a:xfrm>
            <a:off x="457200" y="178308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80_tdt8"/>
          <p:cNvSpPr txBox="1"/>
          <p:nvPr/>
        </p:nvSpPr>
        <p:spPr>
          <a:xfrm>
            <a:off x="5303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Doubly linked list</a:t>
            </a:r>
          </a:p>
        </p:txBody>
      </p:sp>
      <p:sp>
        <p:nvSpPr>
          <p:cNvPr id="10" name="a1wd270_td9"/>
          <p:cNvSpPr/>
          <p:nvPr/>
        </p:nvSpPr>
        <p:spPr>
          <a:xfrm>
            <a:off x="457200" y="210312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70_tdt10"/>
          <p:cNvSpPr txBox="1"/>
          <p:nvPr/>
        </p:nvSpPr>
        <p:spPr>
          <a:xfrm>
            <a:off x="530352" y="210312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Stack (LIFO)</a:t>
            </a:r>
          </a:p>
        </p:txBody>
      </p:sp>
      <p:sp>
        <p:nvSpPr>
          <p:cNvPr id="12" name="a1wd360_td11"/>
          <p:cNvSpPr/>
          <p:nvPr/>
        </p:nvSpPr>
        <p:spPr>
          <a:xfrm>
            <a:off x="457200" y="242316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60_tdt12"/>
          <p:cNvSpPr txBox="1"/>
          <p:nvPr/>
        </p:nvSpPr>
        <p:spPr>
          <a:xfrm>
            <a:off x="530352" y="242316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Queue (FIFO)</a:t>
            </a:r>
          </a:p>
        </p:txBody>
      </p:sp>
      <p:sp>
        <p:nvSpPr>
          <p:cNvPr id="14" name="a1wd450_td13"/>
          <p:cNvSpPr/>
          <p:nvPr/>
        </p:nvSpPr>
        <p:spPr>
          <a:xfrm>
            <a:off x="457200" y="274320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50_tdt14"/>
          <p:cNvSpPr txBox="1"/>
          <p:nvPr/>
        </p:nvSpPr>
        <p:spPr>
          <a:xfrm>
            <a:off x="530352" y="274320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 table / map</a:t>
            </a:r>
          </a:p>
        </p:txBody>
      </p:sp>
      <p:sp>
        <p:nvSpPr>
          <p:cNvPr id="16" name="a1wd540_td15"/>
          <p:cNvSpPr/>
          <p:nvPr/>
        </p:nvSpPr>
        <p:spPr>
          <a:xfrm>
            <a:off x="457200" y="3063239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40_tdt16"/>
          <p:cNvSpPr txBox="1"/>
          <p:nvPr/>
        </p:nvSpPr>
        <p:spPr>
          <a:xfrm>
            <a:off x="530352" y="3063239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Set</a:t>
            </a:r>
          </a:p>
        </p:txBody>
      </p:sp>
      <p:sp>
        <p:nvSpPr>
          <p:cNvPr id="18" name="a1wd630_td17"/>
          <p:cNvSpPr/>
          <p:nvPr/>
        </p:nvSpPr>
        <p:spPr>
          <a:xfrm>
            <a:off x="457200" y="3383279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630_tdt18"/>
          <p:cNvSpPr txBox="1"/>
          <p:nvPr/>
        </p:nvSpPr>
        <p:spPr>
          <a:xfrm>
            <a:off x="530352" y="3383279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Skip list / sorted map</a:t>
            </a:r>
          </a:p>
        </p:txBody>
      </p:sp>
      <p:sp>
        <p:nvSpPr>
          <p:cNvPr id="20" name="a1wd720_td19"/>
          <p:cNvSpPr/>
          <p:nvPr/>
        </p:nvSpPr>
        <p:spPr>
          <a:xfrm>
            <a:off x="457200" y="370332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720_tdt20"/>
          <p:cNvSpPr txBox="1"/>
          <p:nvPr/>
        </p:nvSpPr>
        <p:spPr>
          <a:xfrm>
            <a:off x="530352" y="370332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Bit array</a:t>
            </a:r>
          </a:p>
        </p:txBody>
      </p:sp>
      <p:sp>
        <p:nvSpPr>
          <p:cNvPr id="22" name="a1wd810_td21"/>
          <p:cNvSpPr/>
          <p:nvPr/>
        </p:nvSpPr>
        <p:spPr>
          <a:xfrm>
            <a:off x="457200" y="402336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810_tdt22"/>
          <p:cNvSpPr txBox="1"/>
          <p:nvPr/>
        </p:nvSpPr>
        <p:spPr>
          <a:xfrm>
            <a:off x="530352" y="402336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Append-only log</a:t>
            </a:r>
          </a:p>
        </p:txBody>
      </p:sp>
      <p:sp>
        <p:nvSpPr>
          <p:cNvPr id="24" name="a1f_th23"/>
          <p:cNvSpPr/>
          <p:nvPr/>
        </p:nvSpPr>
        <p:spPr>
          <a:xfrm>
            <a:off x="2651760" y="1143000"/>
            <a:ext cx="1737360" cy="32004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2724912" y="114300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Redis type</a:t>
            </a:r>
          </a:p>
        </p:txBody>
      </p:sp>
      <p:sp>
        <p:nvSpPr>
          <p:cNvPr id="26" name="a1wd90_td25"/>
          <p:cNvSpPr/>
          <p:nvPr/>
        </p:nvSpPr>
        <p:spPr>
          <a:xfrm>
            <a:off x="2651760" y="146304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90_tdt26"/>
          <p:cNvSpPr txBox="1"/>
          <p:nvPr/>
        </p:nvSpPr>
        <p:spPr>
          <a:xfrm>
            <a:off x="2724912" y="146304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 (listpack)</a:t>
            </a:r>
          </a:p>
        </p:txBody>
      </p:sp>
      <p:sp>
        <p:nvSpPr>
          <p:cNvPr id="28" name="a1wd180_td27"/>
          <p:cNvSpPr/>
          <p:nvPr/>
        </p:nvSpPr>
        <p:spPr>
          <a:xfrm>
            <a:off x="2651760" y="178308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180_tdt28"/>
          <p:cNvSpPr txBox="1"/>
          <p:nvPr/>
        </p:nvSpPr>
        <p:spPr>
          <a:xfrm>
            <a:off x="2724912" y="178308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 (quicklist)</a:t>
            </a:r>
          </a:p>
        </p:txBody>
      </p:sp>
      <p:sp>
        <p:nvSpPr>
          <p:cNvPr id="30" name="a1wd270_td29"/>
          <p:cNvSpPr/>
          <p:nvPr/>
        </p:nvSpPr>
        <p:spPr>
          <a:xfrm>
            <a:off x="2651760" y="210312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270_tdt30"/>
          <p:cNvSpPr txBox="1"/>
          <p:nvPr/>
        </p:nvSpPr>
        <p:spPr>
          <a:xfrm>
            <a:off x="2724912" y="210312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32" name="a1wd360_td31"/>
          <p:cNvSpPr/>
          <p:nvPr/>
        </p:nvSpPr>
        <p:spPr>
          <a:xfrm>
            <a:off x="2651760" y="242316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60_tdt32"/>
          <p:cNvSpPr txBox="1"/>
          <p:nvPr/>
        </p:nvSpPr>
        <p:spPr>
          <a:xfrm>
            <a:off x="2724912" y="242316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34" name="a1wd450_td33"/>
          <p:cNvSpPr/>
          <p:nvPr/>
        </p:nvSpPr>
        <p:spPr>
          <a:xfrm>
            <a:off x="2651760" y="274320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450_tdt34"/>
          <p:cNvSpPr txBox="1"/>
          <p:nvPr/>
        </p:nvSpPr>
        <p:spPr>
          <a:xfrm>
            <a:off x="2724912" y="274320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</a:t>
            </a:r>
          </a:p>
        </p:txBody>
      </p:sp>
      <p:sp>
        <p:nvSpPr>
          <p:cNvPr id="36" name="a1wd540_td35"/>
          <p:cNvSpPr/>
          <p:nvPr/>
        </p:nvSpPr>
        <p:spPr>
          <a:xfrm>
            <a:off x="2651760" y="3063239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40_tdt36"/>
          <p:cNvSpPr txBox="1"/>
          <p:nvPr/>
        </p:nvSpPr>
        <p:spPr>
          <a:xfrm>
            <a:off x="2724912" y="3063239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Set</a:t>
            </a:r>
          </a:p>
        </p:txBody>
      </p:sp>
      <p:sp>
        <p:nvSpPr>
          <p:cNvPr id="38" name="a1wd630_td37"/>
          <p:cNvSpPr/>
          <p:nvPr/>
        </p:nvSpPr>
        <p:spPr>
          <a:xfrm>
            <a:off x="2651760" y="3383279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630_tdt38"/>
          <p:cNvSpPr txBox="1"/>
          <p:nvPr/>
        </p:nvSpPr>
        <p:spPr>
          <a:xfrm>
            <a:off x="2724912" y="3383279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Sorted Set</a:t>
            </a:r>
          </a:p>
        </p:txBody>
      </p:sp>
      <p:sp>
        <p:nvSpPr>
          <p:cNvPr id="40" name="a1wd720_td39"/>
          <p:cNvSpPr/>
          <p:nvPr/>
        </p:nvSpPr>
        <p:spPr>
          <a:xfrm>
            <a:off x="2651760" y="370332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720_tdt40"/>
          <p:cNvSpPr txBox="1"/>
          <p:nvPr/>
        </p:nvSpPr>
        <p:spPr>
          <a:xfrm>
            <a:off x="2724912" y="370332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Bitmap</a:t>
            </a:r>
          </a:p>
        </p:txBody>
      </p:sp>
      <p:sp>
        <p:nvSpPr>
          <p:cNvPr id="42" name="a1wd810_td41"/>
          <p:cNvSpPr/>
          <p:nvPr/>
        </p:nvSpPr>
        <p:spPr>
          <a:xfrm>
            <a:off x="2651760" y="4023360"/>
            <a:ext cx="1737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810_tdt42"/>
          <p:cNvSpPr txBox="1"/>
          <p:nvPr/>
        </p:nvSpPr>
        <p:spPr>
          <a:xfrm>
            <a:off x="2724912" y="4023360"/>
            <a:ext cx="16276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Stream</a:t>
            </a:r>
          </a:p>
        </p:txBody>
      </p:sp>
      <p:sp>
        <p:nvSpPr>
          <p:cNvPr id="44" name="a1f_th43"/>
          <p:cNvSpPr/>
          <p:nvPr/>
        </p:nvSpPr>
        <p:spPr>
          <a:xfrm>
            <a:off x="4389120" y="1143000"/>
            <a:ext cx="4297680" cy="320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f_tht44"/>
          <p:cNvSpPr txBox="1"/>
          <p:nvPr/>
        </p:nvSpPr>
        <p:spPr>
          <a:xfrm>
            <a:off x="4462272" y="114300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Commands you will use</a:t>
            </a:r>
          </a:p>
        </p:txBody>
      </p:sp>
      <p:sp>
        <p:nvSpPr>
          <p:cNvPr id="46" name="a1wd90_td45"/>
          <p:cNvSpPr/>
          <p:nvPr/>
        </p:nvSpPr>
        <p:spPr>
          <a:xfrm>
            <a:off x="4389120" y="146304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90_tdt46"/>
          <p:cNvSpPr txBox="1"/>
          <p:nvPr/>
        </p:nvSpPr>
        <p:spPr>
          <a:xfrm>
            <a:off x="4462272" y="146304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RPUSH · LRANGE · LINDEX · LSET</a:t>
            </a:r>
          </a:p>
        </p:txBody>
      </p:sp>
      <p:sp>
        <p:nvSpPr>
          <p:cNvPr id="48" name="a1wd180_td47"/>
          <p:cNvSpPr/>
          <p:nvPr/>
        </p:nvSpPr>
        <p:spPr>
          <a:xfrm>
            <a:off x="4389120" y="178308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80_tdt48"/>
          <p:cNvSpPr txBox="1"/>
          <p:nvPr/>
        </p:nvSpPr>
        <p:spPr>
          <a:xfrm>
            <a:off x="4462272" y="178308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LPUSH · RPUSH · LPOP · RPOP · BRPOP</a:t>
            </a:r>
          </a:p>
        </p:txBody>
      </p:sp>
      <p:sp>
        <p:nvSpPr>
          <p:cNvPr id="50" name="a1wd270_td49"/>
          <p:cNvSpPr/>
          <p:nvPr/>
        </p:nvSpPr>
        <p:spPr>
          <a:xfrm>
            <a:off x="4389120" y="210312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70_tdt50"/>
          <p:cNvSpPr txBox="1"/>
          <p:nvPr/>
        </p:nvSpPr>
        <p:spPr>
          <a:xfrm>
            <a:off x="4462272" y="210312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LPUSH + LPOP on the same end</a:t>
            </a:r>
          </a:p>
        </p:txBody>
      </p:sp>
      <p:sp>
        <p:nvSpPr>
          <p:cNvPr id="52" name="a1wd360_td51"/>
          <p:cNvSpPr/>
          <p:nvPr/>
        </p:nvSpPr>
        <p:spPr>
          <a:xfrm>
            <a:off x="4389120" y="242316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60_tdt52"/>
          <p:cNvSpPr txBox="1"/>
          <p:nvPr/>
        </p:nvSpPr>
        <p:spPr>
          <a:xfrm>
            <a:off x="4462272" y="242316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LPUSH + RPOP, or BRPOP to block</a:t>
            </a:r>
          </a:p>
        </p:txBody>
      </p:sp>
      <p:sp>
        <p:nvSpPr>
          <p:cNvPr id="54" name="a1wd450_td53"/>
          <p:cNvSpPr/>
          <p:nvPr/>
        </p:nvSpPr>
        <p:spPr>
          <a:xfrm>
            <a:off x="4389120" y="274320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50_tdt54"/>
          <p:cNvSpPr txBox="1"/>
          <p:nvPr/>
        </p:nvSpPr>
        <p:spPr>
          <a:xfrm>
            <a:off x="4462272" y="274320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HSET · HGET · HGETALL · HINCRBY</a:t>
            </a:r>
          </a:p>
        </p:txBody>
      </p:sp>
      <p:sp>
        <p:nvSpPr>
          <p:cNvPr id="56" name="a1wd540_td55"/>
          <p:cNvSpPr/>
          <p:nvPr/>
        </p:nvSpPr>
        <p:spPr>
          <a:xfrm>
            <a:off x="4389120" y="3063239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540_tdt56"/>
          <p:cNvSpPr txBox="1"/>
          <p:nvPr/>
        </p:nvSpPr>
        <p:spPr>
          <a:xfrm>
            <a:off x="4462272" y="3063239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SADD · SISMEMBER · SINTER · SDIFF</a:t>
            </a:r>
          </a:p>
        </p:txBody>
      </p:sp>
      <p:sp>
        <p:nvSpPr>
          <p:cNvPr id="58" name="a1wd630_td57"/>
          <p:cNvSpPr/>
          <p:nvPr/>
        </p:nvSpPr>
        <p:spPr>
          <a:xfrm>
            <a:off x="4389120" y="3383279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630_tdt58"/>
          <p:cNvSpPr txBox="1"/>
          <p:nvPr/>
        </p:nvSpPr>
        <p:spPr>
          <a:xfrm>
            <a:off x="4462272" y="3383279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ZADD · ZRANGE · ZRANK · ZINCRBY</a:t>
            </a:r>
          </a:p>
        </p:txBody>
      </p:sp>
      <p:sp>
        <p:nvSpPr>
          <p:cNvPr id="60" name="a1wd720_td59"/>
          <p:cNvSpPr/>
          <p:nvPr/>
        </p:nvSpPr>
        <p:spPr>
          <a:xfrm>
            <a:off x="4389120" y="370332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720_tdt60"/>
          <p:cNvSpPr txBox="1"/>
          <p:nvPr/>
        </p:nvSpPr>
        <p:spPr>
          <a:xfrm>
            <a:off x="4462272" y="370332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SETBIT · GETBIT · BITCOUNT · BITOP</a:t>
            </a:r>
          </a:p>
        </p:txBody>
      </p:sp>
      <p:sp>
        <p:nvSpPr>
          <p:cNvPr id="62" name="a1wd810_td61"/>
          <p:cNvSpPr/>
          <p:nvPr/>
        </p:nvSpPr>
        <p:spPr>
          <a:xfrm>
            <a:off x="4389120" y="4023360"/>
            <a:ext cx="4297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810_tdt62"/>
          <p:cNvSpPr txBox="1"/>
          <p:nvPr/>
        </p:nvSpPr>
        <p:spPr>
          <a:xfrm>
            <a:off x="4462272" y="4023360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XADD · XRANGE · XREADGROUP</a:t>
            </a:r>
          </a:p>
        </p:txBody>
      </p:sp>
      <p:sp>
        <p:nvSpPr>
          <p:cNvPr id="64" name="ft6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5" name="ft6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Redis Types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Nine value types - what each one is, what it costs, and when to reach for it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String  ·  List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Set  ·  Sorted Set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Hash  ·  Bitmap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HyperLogLog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Stream  ·  Geo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Nine Types at a Glance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Redis key holds exactly one of these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265176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40_tn5"/>
          <p:cNvSpPr txBox="1"/>
          <p:nvPr/>
        </p:nvSpPr>
        <p:spPr>
          <a:xfrm>
            <a:off x="603504" y="1271016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String</a:t>
            </a:r>
          </a:p>
        </p:txBody>
      </p:sp>
      <p:sp>
        <p:nvSpPr>
          <p:cNvPr id="7" name="a1ud70_td6"/>
          <p:cNvSpPr txBox="1"/>
          <p:nvPr/>
        </p:nvSpPr>
        <p:spPr>
          <a:xfrm>
            <a:off x="603504" y="1508760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Text, number or binary up to 512 MB</a:t>
            </a:r>
          </a:p>
        </p:txBody>
      </p:sp>
      <p:sp>
        <p:nvSpPr>
          <p:cNvPr id="8" name="a1ud100_tc7"/>
          <p:cNvSpPr txBox="1"/>
          <p:nvPr/>
        </p:nvSpPr>
        <p:spPr>
          <a:xfrm>
            <a:off x="603504" y="1819656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DC382C"/>
                </a:solidFill>
                <a:latin typeface="Courier New"/>
              </a:rPr>
              <a:t>SET · GET · INCR</a:t>
            </a:r>
          </a:p>
        </p:txBody>
      </p:sp>
      <p:sp>
        <p:nvSpPr>
          <p:cNvPr id="9" name="a1ud110_card8"/>
          <p:cNvSpPr/>
          <p:nvPr/>
        </p:nvSpPr>
        <p:spPr>
          <a:xfrm>
            <a:off x="3291840" y="114300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10_acc9"/>
          <p:cNvSpPr/>
          <p:nvPr/>
        </p:nvSpPr>
        <p:spPr>
          <a:xfrm>
            <a:off x="3291840" y="1143000"/>
            <a:ext cx="265176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150_tn10"/>
          <p:cNvSpPr txBox="1"/>
          <p:nvPr/>
        </p:nvSpPr>
        <p:spPr>
          <a:xfrm>
            <a:off x="3438144" y="1271016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List</a:t>
            </a:r>
          </a:p>
        </p:txBody>
      </p:sp>
      <p:sp>
        <p:nvSpPr>
          <p:cNvPr id="12" name="a1ud180_td11"/>
          <p:cNvSpPr txBox="1"/>
          <p:nvPr/>
        </p:nvSpPr>
        <p:spPr>
          <a:xfrm>
            <a:off x="3438144" y="1508760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Ordered sequence, duplicates allowed</a:t>
            </a:r>
          </a:p>
        </p:txBody>
      </p:sp>
      <p:sp>
        <p:nvSpPr>
          <p:cNvPr id="13" name="a1ud210_tc12"/>
          <p:cNvSpPr txBox="1"/>
          <p:nvPr/>
        </p:nvSpPr>
        <p:spPr>
          <a:xfrm>
            <a:off x="3438144" y="1819656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766E"/>
                </a:solidFill>
                <a:latin typeface="Courier New"/>
              </a:rPr>
              <a:t>LPUSH · RPOP · LRANGE</a:t>
            </a:r>
          </a:p>
        </p:txBody>
      </p:sp>
      <p:sp>
        <p:nvSpPr>
          <p:cNvPr id="14" name="a1ud220_card13"/>
          <p:cNvSpPr/>
          <p:nvPr/>
        </p:nvSpPr>
        <p:spPr>
          <a:xfrm>
            <a:off x="6126480" y="114300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220_acc14"/>
          <p:cNvSpPr/>
          <p:nvPr/>
        </p:nvSpPr>
        <p:spPr>
          <a:xfrm>
            <a:off x="6126480" y="114300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260_tn15"/>
          <p:cNvSpPr txBox="1"/>
          <p:nvPr/>
        </p:nvSpPr>
        <p:spPr>
          <a:xfrm>
            <a:off x="6272784" y="1271016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Set</a:t>
            </a:r>
          </a:p>
        </p:txBody>
      </p:sp>
      <p:sp>
        <p:nvSpPr>
          <p:cNvPr id="17" name="a1ud290_td16"/>
          <p:cNvSpPr txBox="1"/>
          <p:nvPr/>
        </p:nvSpPr>
        <p:spPr>
          <a:xfrm>
            <a:off x="6272784" y="1508760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Unordered unique members</a:t>
            </a:r>
          </a:p>
        </p:txBody>
      </p:sp>
      <p:sp>
        <p:nvSpPr>
          <p:cNvPr id="18" name="a1ud320_tc17"/>
          <p:cNvSpPr txBox="1"/>
          <p:nvPr/>
        </p:nvSpPr>
        <p:spPr>
          <a:xfrm>
            <a:off x="6272784" y="1819656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B5CF6"/>
                </a:solidFill>
                <a:latin typeface="Courier New"/>
              </a:rPr>
              <a:t>SADD · SISMEMBER · SINTER</a:t>
            </a:r>
          </a:p>
        </p:txBody>
      </p:sp>
      <p:sp>
        <p:nvSpPr>
          <p:cNvPr id="19" name="a2u_card18"/>
          <p:cNvSpPr/>
          <p:nvPr/>
        </p:nvSpPr>
        <p:spPr>
          <a:xfrm>
            <a:off x="457200" y="2221991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acc19"/>
          <p:cNvSpPr/>
          <p:nvPr/>
        </p:nvSpPr>
        <p:spPr>
          <a:xfrm>
            <a:off x="457200" y="2221991"/>
            <a:ext cx="265176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40_tn20"/>
          <p:cNvSpPr txBox="1"/>
          <p:nvPr/>
        </p:nvSpPr>
        <p:spPr>
          <a:xfrm>
            <a:off x="603504" y="2350008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Sorted Set</a:t>
            </a:r>
          </a:p>
        </p:txBody>
      </p:sp>
      <p:sp>
        <p:nvSpPr>
          <p:cNvPr id="22" name="a2ud70_td21"/>
          <p:cNvSpPr txBox="1"/>
          <p:nvPr/>
        </p:nvSpPr>
        <p:spPr>
          <a:xfrm>
            <a:off x="603504" y="2587751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Unique members, each with a score</a:t>
            </a:r>
          </a:p>
        </p:txBody>
      </p:sp>
      <p:sp>
        <p:nvSpPr>
          <p:cNvPr id="23" name="a2ud100_tc22"/>
          <p:cNvSpPr txBox="1"/>
          <p:nvPr/>
        </p:nvSpPr>
        <p:spPr>
          <a:xfrm>
            <a:off x="603504" y="2898648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B45309"/>
                </a:solidFill>
                <a:latin typeface="Courier New"/>
              </a:rPr>
              <a:t>ZADD · ZRANGE · ZRANK</a:t>
            </a:r>
          </a:p>
        </p:txBody>
      </p:sp>
      <p:sp>
        <p:nvSpPr>
          <p:cNvPr id="24" name="a2ud110_card23"/>
          <p:cNvSpPr/>
          <p:nvPr/>
        </p:nvSpPr>
        <p:spPr>
          <a:xfrm>
            <a:off x="3291840" y="2221991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110_acc24"/>
          <p:cNvSpPr/>
          <p:nvPr/>
        </p:nvSpPr>
        <p:spPr>
          <a:xfrm>
            <a:off x="3291840" y="2221991"/>
            <a:ext cx="265176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150_tn25"/>
          <p:cNvSpPr txBox="1"/>
          <p:nvPr/>
        </p:nvSpPr>
        <p:spPr>
          <a:xfrm>
            <a:off x="3438144" y="2350008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Hash</a:t>
            </a:r>
          </a:p>
        </p:txBody>
      </p:sp>
      <p:sp>
        <p:nvSpPr>
          <p:cNvPr id="27" name="a2ud180_td26"/>
          <p:cNvSpPr txBox="1"/>
          <p:nvPr/>
        </p:nvSpPr>
        <p:spPr>
          <a:xfrm>
            <a:off x="3438144" y="2587751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Field/value map inside one key</a:t>
            </a:r>
          </a:p>
        </p:txBody>
      </p:sp>
      <p:sp>
        <p:nvSpPr>
          <p:cNvPr id="28" name="a2ud210_tc27"/>
          <p:cNvSpPr txBox="1"/>
          <p:nvPr/>
        </p:nvSpPr>
        <p:spPr>
          <a:xfrm>
            <a:off x="3438144" y="2898648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D4ED8"/>
                </a:solidFill>
                <a:latin typeface="Courier New"/>
              </a:rPr>
              <a:t>HSET · HGET · HGETALL</a:t>
            </a:r>
          </a:p>
        </p:txBody>
      </p:sp>
      <p:sp>
        <p:nvSpPr>
          <p:cNvPr id="29" name="a2ud220_card28"/>
          <p:cNvSpPr/>
          <p:nvPr/>
        </p:nvSpPr>
        <p:spPr>
          <a:xfrm>
            <a:off x="6126480" y="2221991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d220_acc29"/>
          <p:cNvSpPr/>
          <p:nvPr/>
        </p:nvSpPr>
        <p:spPr>
          <a:xfrm>
            <a:off x="6126480" y="2221991"/>
            <a:ext cx="2651760" cy="4572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260_tn30"/>
          <p:cNvSpPr txBox="1"/>
          <p:nvPr/>
        </p:nvSpPr>
        <p:spPr>
          <a:xfrm>
            <a:off x="6272784" y="2350008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Bitmap</a:t>
            </a:r>
          </a:p>
        </p:txBody>
      </p:sp>
      <p:sp>
        <p:nvSpPr>
          <p:cNvPr id="32" name="a2ud290_td31"/>
          <p:cNvSpPr txBox="1"/>
          <p:nvPr/>
        </p:nvSpPr>
        <p:spPr>
          <a:xfrm>
            <a:off x="6272784" y="2587751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Bit-level operations on a string</a:t>
            </a:r>
          </a:p>
        </p:txBody>
      </p:sp>
      <p:sp>
        <p:nvSpPr>
          <p:cNvPr id="33" name="a2ud320_tc32"/>
          <p:cNvSpPr txBox="1"/>
          <p:nvPr/>
        </p:nvSpPr>
        <p:spPr>
          <a:xfrm>
            <a:off x="6272784" y="2898648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BE185D"/>
                </a:solidFill>
                <a:latin typeface="Courier New"/>
              </a:rPr>
              <a:t>SETBIT · BITCOUNT</a:t>
            </a:r>
          </a:p>
        </p:txBody>
      </p:sp>
      <p:sp>
        <p:nvSpPr>
          <p:cNvPr id="34" name="a3u_card33"/>
          <p:cNvSpPr/>
          <p:nvPr/>
        </p:nvSpPr>
        <p:spPr>
          <a:xfrm>
            <a:off x="457200" y="3300984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acc34"/>
          <p:cNvSpPr/>
          <p:nvPr/>
        </p:nvSpPr>
        <p:spPr>
          <a:xfrm>
            <a:off x="457200" y="3300984"/>
            <a:ext cx="2651760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d40_tn35"/>
          <p:cNvSpPr txBox="1"/>
          <p:nvPr/>
        </p:nvSpPr>
        <p:spPr>
          <a:xfrm>
            <a:off x="603504" y="3429000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HyperLogLog</a:t>
            </a:r>
          </a:p>
        </p:txBody>
      </p:sp>
      <p:sp>
        <p:nvSpPr>
          <p:cNvPr id="37" name="a3ud70_td36"/>
          <p:cNvSpPr txBox="1"/>
          <p:nvPr/>
        </p:nvSpPr>
        <p:spPr>
          <a:xfrm>
            <a:off x="603504" y="3666744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Approximate unique count in 12 KB</a:t>
            </a:r>
          </a:p>
        </p:txBody>
      </p:sp>
      <p:sp>
        <p:nvSpPr>
          <p:cNvPr id="38" name="a3ud100_tc37"/>
          <p:cNvSpPr txBox="1"/>
          <p:nvPr/>
        </p:nvSpPr>
        <p:spPr>
          <a:xfrm>
            <a:off x="603504" y="3977639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5803D"/>
                </a:solidFill>
                <a:latin typeface="Courier New"/>
              </a:rPr>
              <a:t>PFADD · PFCOUNT</a:t>
            </a:r>
          </a:p>
        </p:txBody>
      </p:sp>
      <p:sp>
        <p:nvSpPr>
          <p:cNvPr id="39" name="a3ud110_card38"/>
          <p:cNvSpPr/>
          <p:nvPr/>
        </p:nvSpPr>
        <p:spPr>
          <a:xfrm>
            <a:off x="3291840" y="3300984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ud110_acc39"/>
          <p:cNvSpPr/>
          <p:nvPr/>
        </p:nvSpPr>
        <p:spPr>
          <a:xfrm>
            <a:off x="3291840" y="3300984"/>
            <a:ext cx="265176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ud150_tn40"/>
          <p:cNvSpPr txBox="1"/>
          <p:nvPr/>
        </p:nvSpPr>
        <p:spPr>
          <a:xfrm>
            <a:off x="3438144" y="3429000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Stream</a:t>
            </a:r>
          </a:p>
        </p:txBody>
      </p:sp>
      <p:sp>
        <p:nvSpPr>
          <p:cNvPr id="42" name="a3ud180_td41"/>
          <p:cNvSpPr txBox="1"/>
          <p:nvPr/>
        </p:nvSpPr>
        <p:spPr>
          <a:xfrm>
            <a:off x="3438144" y="3666744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Append-only log with consumer groups</a:t>
            </a:r>
          </a:p>
        </p:txBody>
      </p:sp>
      <p:sp>
        <p:nvSpPr>
          <p:cNvPr id="43" name="a3ud210_tc42"/>
          <p:cNvSpPr txBox="1"/>
          <p:nvPr/>
        </p:nvSpPr>
        <p:spPr>
          <a:xfrm>
            <a:off x="3438144" y="3977639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D28D9"/>
                </a:solidFill>
                <a:latin typeface="Courier New"/>
              </a:rPr>
              <a:t>XADD · XREADGROUP</a:t>
            </a:r>
          </a:p>
        </p:txBody>
      </p:sp>
      <p:sp>
        <p:nvSpPr>
          <p:cNvPr id="44" name="a3ud220_card43"/>
          <p:cNvSpPr/>
          <p:nvPr/>
        </p:nvSpPr>
        <p:spPr>
          <a:xfrm>
            <a:off x="6126480" y="3300984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ud220_acc44"/>
          <p:cNvSpPr/>
          <p:nvPr/>
        </p:nvSpPr>
        <p:spPr>
          <a:xfrm>
            <a:off x="6126480" y="3300984"/>
            <a:ext cx="265176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3ud260_tn45"/>
          <p:cNvSpPr txBox="1"/>
          <p:nvPr/>
        </p:nvSpPr>
        <p:spPr>
          <a:xfrm>
            <a:off x="6272784" y="3429000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Geospatial</a:t>
            </a:r>
          </a:p>
        </p:txBody>
      </p:sp>
      <p:sp>
        <p:nvSpPr>
          <p:cNvPr id="47" name="a3ud290_td46"/>
          <p:cNvSpPr txBox="1"/>
          <p:nvPr/>
        </p:nvSpPr>
        <p:spPr>
          <a:xfrm>
            <a:off x="6272784" y="3666744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Coordinates with radius search</a:t>
            </a:r>
          </a:p>
        </p:txBody>
      </p:sp>
      <p:sp>
        <p:nvSpPr>
          <p:cNvPr id="48" name="a3ud320_tc47"/>
          <p:cNvSpPr txBox="1"/>
          <p:nvPr/>
        </p:nvSpPr>
        <p:spPr>
          <a:xfrm>
            <a:off x="6272784" y="3977639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GEOADD · GEOSEARCH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String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default type - text, numbers, serialised objects or raw bytes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64592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ONE KEY, ONE VALUE</a:t>
            </a:r>
          </a:p>
        </p:txBody>
      </p:sp>
      <p:sp>
        <p:nvSpPr>
          <p:cNvPr id="6" name="a1w_k5"/>
          <p:cNvSpPr/>
          <p:nvPr/>
        </p:nvSpPr>
        <p:spPr>
          <a:xfrm>
            <a:off x="658368" y="1545336"/>
            <a:ext cx="2103120" cy="256032"/>
          </a:xfrm>
          <a:prstGeom prst="roundRect">
            <a:avLst>
              <a:gd name="adj" fmla="val 14285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_kt6"/>
          <p:cNvSpPr txBox="1"/>
          <p:nvPr/>
        </p:nvSpPr>
        <p:spPr>
          <a:xfrm>
            <a:off x="731520" y="154533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icici:bal:9003</a:t>
            </a:r>
          </a:p>
        </p:txBody>
      </p:sp>
      <p:sp>
        <p:nvSpPr>
          <p:cNvPr id="8" name="a1wd40_v7"/>
          <p:cNvSpPr/>
          <p:nvPr/>
        </p:nvSpPr>
        <p:spPr>
          <a:xfrm>
            <a:off x="2834640" y="1545336"/>
            <a:ext cx="2176272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40_vt8"/>
          <p:cNvSpPr txBox="1"/>
          <p:nvPr/>
        </p:nvSpPr>
        <p:spPr>
          <a:xfrm>
            <a:off x="2907792" y="1545336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341244.80</a:t>
            </a:r>
          </a:p>
        </p:txBody>
      </p:sp>
      <p:sp>
        <p:nvSpPr>
          <p:cNvPr id="10" name="a1wd80_k9"/>
          <p:cNvSpPr/>
          <p:nvPr/>
        </p:nvSpPr>
        <p:spPr>
          <a:xfrm>
            <a:off x="658368" y="1847088"/>
            <a:ext cx="2103120" cy="256032"/>
          </a:xfrm>
          <a:prstGeom prst="roundRect">
            <a:avLst>
              <a:gd name="adj" fmla="val 14285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80_kt10"/>
          <p:cNvSpPr txBox="1"/>
          <p:nvPr/>
        </p:nvSpPr>
        <p:spPr>
          <a:xfrm>
            <a:off x="731520" y="184708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icici:sess:8f3a</a:t>
            </a:r>
          </a:p>
        </p:txBody>
      </p:sp>
      <p:sp>
        <p:nvSpPr>
          <p:cNvPr id="12" name="a1wd120_v11"/>
          <p:cNvSpPr/>
          <p:nvPr/>
        </p:nvSpPr>
        <p:spPr>
          <a:xfrm>
            <a:off x="2834640" y="1847088"/>
            <a:ext cx="2176272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20_vt12"/>
          <p:cNvSpPr txBox="1"/>
          <p:nvPr/>
        </p:nvSpPr>
        <p:spPr>
          <a:xfrm>
            <a:off x="2907792" y="1847088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{"uid":9003}</a:t>
            </a:r>
          </a:p>
        </p:txBody>
      </p:sp>
      <p:sp>
        <p:nvSpPr>
          <p:cNvPr id="14" name="a1wd160_k13"/>
          <p:cNvSpPr/>
          <p:nvPr/>
        </p:nvSpPr>
        <p:spPr>
          <a:xfrm>
            <a:off x="658368" y="2148840"/>
            <a:ext cx="2103120" cy="256032"/>
          </a:xfrm>
          <a:prstGeom prst="roundRect">
            <a:avLst>
              <a:gd name="adj" fmla="val 14285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160_kt14"/>
          <p:cNvSpPr txBox="1"/>
          <p:nvPr/>
        </p:nvSpPr>
        <p:spPr>
          <a:xfrm>
            <a:off x="731520" y="21488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icici:rate:USDINR</a:t>
            </a:r>
          </a:p>
        </p:txBody>
      </p:sp>
      <p:sp>
        <p:nvSpPr>
          <p:cNvPr id="16" name="a1wd200_v15"/>
          <p:cNvSpPr/>
          <p:nvPr/>
        </p:nvSpPr>
        <p:spPr>
          <a:xfrm>
            <a:off x="2834640" y="2148840"/>
            <a:ext cx="2176272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200_vt16"/>
          <p:cNvSpPr txBox="1"/>
          <p:nvPr/>
        </p:nvSpPr>
        <p:spPr>
          <a:xfrm>
            <a:off x="2907792" y="2148840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83.42</a:t>
            </a:r>
          </a:p>
        </p:txBody>
      </p:sp>
      <p:sp>
        <p:nvSpPr>
          <p:cNvPr id="18" name="a1wd240_k17"/>
          <p:cNvSpPr/>
          <p:nvPr/>
        </p:nvSpPr>
        <p:spPr>
          <a:xfrm>
            <a:off x="658368" y="2450591"/>
            <a:ext cx="2103120" cy="256032"/>
          </a:xfrm>
          <a:prstGeom prst="roundRect">
            <a:avLst>
              <a:gd name="adj" fmla="val 14285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40_kt18"/>
          <p:cNvSpPr txBox="1"/>
          <p:nvPr/>
        </p:nvSpPr>
        <p:spPr>
          <a:xfrm>
            <a:off x="731520" y="245059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icici:cnt:txn:today</a:t>
            </a:r>
          </a:p>
        </p:txBody>
      </p:sp>
      <p:sp>
        <p:nvSpPr>
          <p:cNvPr id="20" name="a1wd280_v19"/>
          <p:cNvSpPr/>
          <p:nvPr/>
        </p:nvSpPr>
        <p:spPr>
          <a:xfrm>
            <a:off x="2834640" y="2450591"/>
            <a:ext cx="2176272" cy="256032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80_vt20"/>
          <p:cNvSpPr txBox="1"/>
          <p:nvPr/>
        </p:nvSpPr>
        <p:spPr>
          <a:xfrm>
            <a:off x="2907792" y="2450591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918233</a:t>
            </a:r>
          </a:p>
        </p:txBody>
      </p:sp>
      <p:sp>
        <p:nvSpPr>
          <p:cNvPr id="22" name="a1fd400_cap21"/>
          <p:cNvSpPr txBox="1"/>
          <p:nvPr/>
        </p:nvSpPr>
        <p:spPr>
          <a:xfrm>
            <a:off x="640080" y="27340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Binary safe: a JPEG, a JSON blob or a counter - all the same type.</a:t>
            </a:r>
          </a:p>
        </p:txBody>
      </p:sp>
      <p:sp>
        <p:nvSpPr>
          <p:cNvPr id="23" name="a2f_codebg22"/>
          <p:cNvSpPr/>
          <p:nvPr/>
        </p:nvSpPr>
        <p:spPr>
          <a:xfrm>
            <a:off x="5394960" y="1143000"/>
            <a:ext cx="3291840" cy="2313432"/>
          </a:xfrm>
          <a:prstGeom prst="roundRect">
            <a:avLst>
              <a:gd name="adj" fmla="val 316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w_code23"/>
          <p:cNvSpPr txBox="1"/>
          <p:nvPr/>
        </p:nvSpPr>
        <p:spPr>
          <a:xfrm>
            <a:off x="5522976" y="12710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icici:bal:9003 341244.80 EX 300</a:t>
            </a:r>
          </a:p>
        </p:txBody>
      </p:sp>
      <p:sp>
        <p:nvSpPr>
          <p:cNvPr id="25" name="a2wd95_code24"/>
          <p:cNvSpPr txBox="1"/>
          <p:nvPr/>
        </p:nvSpPr>
        <p:spPr>
          <a:xfrm>
            <a:off x="5522976" y="14767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26" name="a2wd190_code25"/>
          <p:cNvSpPr txBox="1"/>
          <p:nvPr/>
        </p:nvSpPr>
        <p:spPr>
          <a:xfrm>
            <a:off x="5522976" y="16824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GET icici:bal:9003</a:t>
            </a:r>
          </a:p>
        </p:txBody>
      </p:sp>
      <p:sp>
        <p:nvSpPr>
          <p:cNvPr id="27" name="a2wd285_code26"/>
          <p:cNvSpPr txBox="1"/>
          <p:nvPr/>
        </p:nvSpPr>
        <p:spPr>
          <a:xfrm>
            <a:off x="5522976" y="18882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"341244.80"</a:t>
            </a:r>
          </a:p>
        </p:txBody>
      </p:sp>
      <p:sp>
        <p:nvSpPr>
          <p:cNvPr id="28" name="a2wd380_code27"/>
          <p:cNvSpPr txBox="1"/>
          <p:nvPr/>
        </p:nvSpPr>
        <p:spPr>
          <a:xfrm>
            <a:off x="5522976" y="20939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INCRBY icici:cnt:txn:today 1</a:t>
            </a:r>
          </a:p>
        </p:txBody>
      </p:sp>
      <p:sp>
        <p:nvSpPr>
          <p:cNvPr id="29" name="a2wd475_code28"/>
          <p:cNvSpPr txBox="1"/>
          <p:nvPr/>
        </p:nvSpPr>
        <p:spPr>
          <a:xfrm>
            <a:off x="5522976" y="22997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918234</a:t>
            </a:r>
          </a:p>
        </p:txBody>
      </p:sp>
      <p:sp>
        <p:nvSpPr>
          <p:cNvPr id="30" name="a2wd570_code29"/>
          <p:cNvSpPr txBox="1"/>
          <p:nvPr/>
        </p:nvSpPr>
        <p:spPr>
          <a:xfrm>
            <a:off x="5522976" y="25054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lock:eod 1 NX PX 30000</a:t>
            </a:r>
          </a:p>
        </p:txBody>
      </p:sp>
      <p:sp>
        <p:nvSpPr>
          <p:cNvPr id="31" name="a2wd665_code30"/>
          <p:cNvSpPr txBox="1"/>
          <p:nvPr/>
        </p:nvSpPr>
        <p:spPr>
          <a:xfrm>
            <a:off x="5522976" y="27111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          # atomic mutex</a:t>
            </a:r>
          </a:p>
        </p:txBody>
      </p:sp>
      <p:sp>
        <p:nvSpPr>
          <p:cNvPr id="32" name="a2wd760_code31"/>
          <p:cNvSpPr txBox="1"/>
          <p:nvPr/>
        </p:nvSpPr>
        <p:spPr>
          <a:xfrm>
            <a:off x="5522976" y="29169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APPEND icici:log:9003 "|debit"</a:t>
            </a:r>
          </a:p>
        </p:txBody>
      </p:sp>
      <p:sp>
        <p:nvSpPr>
          <p:cNvPr id="33" name="a2wd855_code32"/>
          <p:cNvSpPr txBox="1"/>
          <p:nvPr/>
        </p:nvSpPr>
        <p:spPr>
          <a:xfrm>
            <a:off x="5522976" y="31226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46</a:t>
            </a:r>
          </a:p>
        </p:txBody>
      </p:sp>
      <p:sp>
        <p:nvSpPr>
          <p:cNvPr id="34" name="a3u_card33"/>
          <p:cNvSpPr/>
          <p:nvPr/>
        </p:nvSpPr>
        <p:spPr>
          <a:xfrm>
            <a:off x="457200" y="2935224"/>
            <a:ext cx="4754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hh34"/>
          <p:cNvSpPr txBox="1"/>
          <p:nvPr/>
        </p:nvSpPr>
        <p:spPr>
          <a:xfrm>
            <a:off x="640080" y="304495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BANKING USE CASES</a:t>
            </a:r>
          </a:p>
        </p:txBody>
      </p:sp>
      <p:sp>
        <p:nvSpPr>
          <p:cNvPr id="36" name="a3ud60_dot35"/>
          <p:cNvSpPr/>
          <p:nvPr/>
        </p:nvSpPr>
        <p:spPr>
          <a:xfrm>
            <a:off x="640080" y="3383279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d60_b36"/>
          <p:cNvSpPr txBox="1"/>
          <p:nvPr/>
        </p:nvSpPr>
        <p:spPr>
          <a:xfrm>
            <a:off x="859536" y="3282696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Cached balances and customer names</a:t>
            </a:r>
          </a:p>
        </p:txBody>
      </p:sp>
      <p:sp>
        <p:nvSpPr>
          <p:cNvPr id="38" name="a3ud160_dot37"/>
          <p:cNvSpPr/>
          <p:nvPr/>
        </p:nvSpPr>
        <p:spPr>
          <a:xfrm>
            <a:off x="640080" y="3675887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ud160_b38"/>
          <p:cNvSpPr txBox="1"/>
          <p:nvPr/>
        </p:nvSpPr>
        <p:spPr>
          <a:xfrm>
            <a:off x="859536" y="3575303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Session tokens with an automatic TTL</a:t>
            </a:r>
          </a:p>
        </p:txBody>
      </p:sp>
      <p:sp>
        <p:nvSpPr>
          <p:cNvPr id="40" name="a3ud260_dot39"/>
          <p:cNvSpPr/>
          <p:nvPr/>
        </p:nvSpPr>
        <p:spPr>
          <a:xfrm>
            <a:off x="640080" y="3968496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ud260_b40"/>
          <p:cNvSpPr txBox="1"/>
          <p:nvPr/>
        </p:nvSpPr>
        <p:spPr>
          <a:xfrm>
            <a:off x="859536" y="3867912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Atomic counters and distributed locks</a:t>
            </a:r>
          </a:p>
        </p:txBody>
      </p:sp>
      <p:sp>
        <p:nvSpPr>
          <p:cNvPr id="42" name="a4u_card41"/>
          <p:cNvSpPr/>
          <p:nvPr/>
        </p:nvSpPr>
        <p:spPr>
          <a:xfrm>
            <a:off x="5394960" y="2935224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4u_eh42"/>
          <p:cNvSpPr txBox="1"/>
          <p:nvPr/>
        </p:nvSpPr>
        <p:spPr>
          <a:xfrm>
            <a:off x="5577840" y="30449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alibri"/>
              </a:rPr>
              <a:t>ENCODING</a:t>
            </a:r>
          </a:p>
        </p:txBody>
      </p:sp>
      <p:sp>
        <p:nvSpPr>
          <p:cNvPr id="44" name="a4ud40_et43"/>
          <p:cNvSpPr txBox="1"/>
          <p:nvPr/>
        </p:nvSpPr>
        <p:spPr>
          <a:xfrm>
            <a:off x="5577840" y="3246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int for numbers, embstr up to 44 bytes, raw beyond that.</a:t>
            </a:r>
          </a:p>
        </p:txBody>
      </p:sp>
      <p:sp>
        <p:nvSpPr>
          <p:cNvPr id="45" name="a4ud80_gh44"/>
          <p:cNvSpPr txBox="1"/>
          <p:nvPr/>
        </p:nvSpPr>
        <p:spPr>
          <a:xfrm>
            <a:off x="5577840" y="3685031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46" name="a4ud120_gt45"/>
          <p:cNvSpPr txBox="1"/>
          <p:nvPr/>
        </p:nvSpPr>
        <p:spPr>
          <a:xfrm>
            <a:off x="557784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INCR only works if the value parses as a 64-bit integer.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8" name="ft4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List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deque - use it as a stack, a queue, or a bounded log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64592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ORDERED, DUPLICATES ALLOWED, FAST AT BOTH ENDS</a:t>
            </a:r>
          </a:p>
        </p:txBody>
      </p:sp>
      <p:sp>
        <p:nvSpPr>
          <p:cNvPr id="6" name="a1w_li5"/>
          <p:cNvSpPr/>
          <p:nvPr/>
        </p:nvSpPr>
        <p:spPr>
          <a:xfrm>
            <a:off x="822960" y="1691640"/>
            <a:ext cx="969264" cy="384048"/>
          </a:xfrm>
          <a:prstGeom prst="roundRect">
            <a:avLst>
              <a:gd name="adj" fmla="val 11904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_lv6"/>
          <p:cNvSpPr txBox="1"/>
          <p:nvPr/>
        </p:nvSpPr>
        <p:spPr>
          <a:xfrm>
            <a:off x="822960" y="1691640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job:912</a:t>
            </a:r>
          </a:p>
        </p:txBody>
      </p:sp>
      <p:sp>
        <p:nvSpPr>
          <p:cNvPr id="8" name="a1fd80_lx7"/>
          <p:cNvSpPr txBox="1"/>
          <p:nvPr/>
        </p:nvSpPr>
        <p:spPr>
          <a:xfrm>
            <a:off x="822960" y="209397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Courier New"/>
              </a:rPr>
              <a:t>[0]</a:t>
            </a:r>
          </a:p>
        </p:txBody>
      </p:sp>
      <p:sp>
        <p:nvSpPr>
          <p:cNvPr id="9" name="a1wd90_li8"/>
          <p:cNvSpPr/>
          <p:nvPr/>
        </p:nvSpPr>
        <p:spPr>
          <a:xfrm>
            <a:off x="1901952" y="1691640"/>
            <a:ext cx="969264" cy="384048"/>
          </a:xfrm>
          <a:prstGeom prst="roundRect">
            <a:avLst>
              <a:gd name="adj" fmla="val 11904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90_lv9"/>
          <p:cNvSpPr txBox="1"/>
          <p:nvPr/>
        </p:nvSpPr>
        <p:spPr>
          <a:xfrm>
            <a:off x="1901952" y="1691640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job:913</a:t>
            </a:r>
          </a:p>
        </p:txBody>
      </p:sp>
      <p:sp>
        <p:nvSpPr>
          <p:cNvPr id="11" name="a1fd170_lx10"/>
          <p:cNvSpPr txBox="1"/>
          <p:nvPr/>
        </p:nvSpPr>
        <p:spPr>
          <a:xfrm>
            <a:off x="1901952" y="209397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Courier New"/>
              </a:rPr>
              <a:t>[1]</a:t>
            </a:r>
          </a:p>
        </p:txBody>
      </p:sp>
      <p:sp>
        <p:nvSpPr>
          <p:cNvPr id="12" name="a1wd180_li11"/>
          <p:cNvSpPr/>
          <p:nvPr/>
        </p:nvSpPr>
        <p:spPr>
          <a:xfrm>
            <a:off x="2980944" y="1691640"/>
            <a:ext cx="969264" cy="384048"/>
          </a:xfrm>
          <a:prstGeom prst="roundRect">
            <a:avLst>
              <a:gd name="adj" fmla="val 11904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80_lv12"/>
          <p:cNvSpPr txBox="1"/>
          <p:nvPr/>
        </p:nvSpPr>
        <p:spPr>
          <a:xfrm>
            <a:off x="2980944" y="1691640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job:914</a:t>
            </a:r>
          </a:p>
        </p:txBody>
      </p:sp>
      <p:sp>
        <p:nvSpPr>
          <p:cNvPr id="14" name="a1fd260_lx13"/>
          <p:cNvSpPr txBox="1"/>
          <p:nvPr/>
        </p:nvSpPr>
        <p:spPr>
          <a:xfrm>
            <a:off x="2980944" y="209397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Courier New"/>
              </a:rPr>
              <a:t>[2]</a:t>
            </a:r>
          </a:p>
        </p:txBody>
      </p:sp>
      <p:sp>
        <p:nvSpPr>
          <p:cNvPr id="15" name="a1wd270_li14"/>
          <p:cNvSpPr/>
          <p:nvPr/>
        </p:nvSpPr>
        <p:spPr>
          <a:xfrm>
            <a:off x="4059936" y="1691640"/>
            <a:ext cx="969264" cy="384048"/>
          </a:xfrm>
          <a:prstGeom prst="roundRect">
            <a:avLst>
              <a:gd name="adj" fmla="val 11904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70_lv15"/>
          <p:cNvSpPr txBox="1"/>
          <p:nvPr/>
        </p:nvSpPr>
        <p:spPr>
          <a:xfrm>
            <a:off x="4059936" y="1691640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job:915</a:t>
            </a:r>
          </a:p>
        </p:txBody>
      </p:sp>
      <p:sp>
        <p:nvSpPr>
          <p:cNvPr id="17" name="a1fd350_lx16"/>
          <p:cNvSpPr txBox="1"/>
          <p:nvPr/>
        </p:nvSpPr>
        <p:spPr>
          <a:xfrm>
            <a:off x="4059936" y="209397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Courier New"/>
              </a:rPr>
              <a:t>[3]</a:t>
            </a:r>
          </a:p>
        </p:txBody>
      </p:sp>
      <p:sp>
        <p:nvSpPr>
          <p:cNvPr id="18" name="a1fd380_ll17"/>
          <p:cNvSpPr txBox="1"/>
          <p:nvPr/>
        </p:nvSpPr>
        <p:spPr>
          <a:xfrm>
            <a:off x="658368" y="178308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L</a:t>
            </a:r>
          </a:p>
        </p:txBody>
      </p:sp>
      <p:sp>
        <p:nvSpPr>
          <p:cNvPr id="19" name="a1fd400_lr18"/>
          <p:cNvSpPr txBox="1"/>
          <p:nvPr/>
        </p:nvSpPr>
        <p:spPr>
          <a:xfrm>
            <a:off x="4700016" y="178308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R</a:t>
            </a:r>
          </a:p>
        </p:txBody>
      </p:sp>
      <p:sp>
        <p:nvSpPr>
          <p:cNvPr id="20" name="a1fd440_cap19"/>
          <p:cNvSpPr txBox="1"/>
          <p:nvPr/>
        </p:nvSpPr>
        <p:spPr>
          <a:xfrm>
            <a:off x="640080" y="23500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LPUSH adds on the left, RPUSH on the right. Negative indexes count back from the end: LRANGE key 0 -1 returns everything.</a:t>
            </a:r>
          </a:p>
        </p:txBody>
      </p:sp>
      <p:sp>
        <p:nvSpPr>
          <p:cNvPr id="21" name="a2f_codebg20"/>
          <p:cNvSpPr/>
          <p:nvPr/>
        </p:nvSpPr>
        <p:spPr>
          <a:xfrm>
            <a:off x="5394960" y="1143000"/>
            <a:ext cx="3291840" cy="2519172"/>
          </a:xfrm>
          <a:prstGeom prst="roundRect">
            <a:avLst>
              <a:gd name="adj" fmla="val 290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_code21"/>
          <p:cNvSpPr txBox="1"/>
          <p:nvPr/>
        </p:nvSpPr>
        <p:spPr>
          <a:xfrm>
            <a:off x="5522976" y="12710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LPUSH q:statements job:915</a:t>
            </a:r>
          </a:p>
        </p:txBody>
      </p:sp>
      <p:sp>
        <p:nvSpPr>
          <p:cNvPr id="23" name="a2wd95_code22"/>
          <p:cNvSpPr txBox="1"/>
          <p:nvPr/>
        </p:nvSpPr>
        <p:spPr>
          <a:xfrm>
            <a:off x="5522976" y="14767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4</a:t>
            </a:r>
          </a:p>
        </p:txBody>
      </p:sp>
      <p:sp>
        <p:nvSpPr>
          <p:cNvPr id="24" name="a2wd190_code23"/>
          <p:cNvSpPr txBox="1"/>
          <p:nvPr/>
        </p:nvSpPr>
        <p:spPr>
          <a:xfrm>
            <a:off x="5522976" y="16824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LRANGE q:statements 0 -1</a:t>
            </a:r>
          </a:p>
        </p:txBody>
      </p:sp>
      <p:sp>
        <p:nvSpPr>
          <p:cNvPr id="25" name="a2wd285_code24"/>
          <p:cNvSpPr txBox="1"/>
          <p:nvPr/>
        </p:nvSpPr>
        <p:spPr>
          <a:xfrm>
            <a:off x="5522976" y="18882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"job:915"  2) "job:914"</a:t>
            </a:r>
          </a:p>
        </p:txBody>
      </p:sp>
      <p:sp>
        <p:nvSpPr>
          <p:cNvPr id="26" name="a2wd380_code25"/>
          <p:cNvSpPr txBox="1"/>
          <p:nvPr/>
        </p:nvSpPr>
        <p:spPr>
          <a:xfrm>
            <a:off x="5522976" y="20939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BRPOP q:statements 5     # blocks</a:t>
            </a:r>
          </a:p>
        </p:txBody>
      </p:sp>
      <p:sp>
        <p:nvSpPr>
          <p:cNvPr id="27" name="a2wd475_code26"/>
          <p:cNvSpPr txBox="1"/>
          <p:nvPr/>
        </p:nvSpPr>
        <p:spPr>
          <a:xfrm>
            <a:off x="5522976" y="22997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"q:statements"</a:t>
            </a:r>
          </a:p>
        </p:txBody>
      </p:sp>
      <p:sp>
        <p:nvSpPr>
          <p:cNvPr id="28" name="a2wd570_code27"/>
          <p:cNvSpPr txBox="1"/>
          <p:nvPr/>
        </p:nvSpPr>
        <p:spPr>
          <a:xfrm>
            <a:off x="5522976" y="25054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2) "job:912"</a:t>
            </a:r>
          </a:p>
        </p:txBody>
      </p:sp>
      <p:sp>
        <p:nvSpPr>
          <p:cNvPr id="29" name="a2wd665_code28"/>
          <p:cNvSpPr txBox="1"/>
          <p:nvPr/>
        </p:nvSpPr>
        <p:spPr>
          <a:xfrm>
            <a:off x="5522976" y="27111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LTRIM icici:recent:9003 0 9</a:t>
            </a:r>
          </a:p>
        </p:txBody>
      </p:sp>
      <p:sp>
        <p:nvSpPr>
          <p:cNvPr id="30" name="a2wd760_code29"/>
          <p:cNvSpPr txBox="1"/>
          <p:nvPr/>
        </p:nvSpPr>
        <p:spPr>
          <a:xfrm>
            <a:off x="5522976" y="29169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       # keep last 10 only</a:t>
            </a:r>
          </a:p>
        </p:txBody>
      </p:sp>
      <p:sp>
        <p:nvSpPr>
          <p:cNvPr id="31" name="a2wd855_code30"/>
          <p:cNvSpPr txBox="1"/>
          <p:nvPr/>
        </p:nvSpPr>
        <p:spPr>
          <a:xfrm>
            <a:off x="5522976" y="31226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LLEN q:statements</a:t>
            </a:r>
          </a:p>
        </p:txBody>
      </p:sp>
      <p:sp>
        <p:nvSpPr>
          <p:cNvPr id="32" name="a2wd950_code31"/>
          <p:cNvSpPr txBox="1"/>
          <p:nvPr/>
        </p:nvSpPr>
        <p:spPr>
          <a:xfrm>
            <a:off x="5522976" y="33284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3</a:t>
            </a:r>
          </a:p>
        </p:txBody>
      </p:sp>
      <p:sp>
        <p:nvSpPr>
          <p:cNvPr id="33" name="a3u_card32"/>
          <p:cNvSpPr/>
          <p:nvPr/>
        </p:nvSpPr>
        <p:spPr>
          <a:xfrm>
            <a:off x="457200" y="2935224"/>
            <a:ext cx="4754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hh33"/>
          <p:cNvSpPr txBox="1"/>
          <p:nvPr/>
        </p:nvSpPr>
        <p:spPr>
          <a:xfrm>
            <a:off x="640080" y="304495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BANKING USE CASES</a:t>
            </a:r>
          </a:p>
        </p:txBody>
      </p:sp>
      <p:sp>
        <p:nvSpPr>
          <p:cNvPr id="35" name="a3ud60_dot34"/>
          <p:cNvSpPr/>
          <p:nvPr/>
        </p:nvSpPr>
        <p:spPr>
          <a:xfrm>
            <a:off x="640080" y="338327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d60_b35"/>
          <p:cNvSpPr txBox="1"/>
          <p:nvPr/>
        </p:nvSpPr>
        <p:spPr>
          <a:xfrm>
            <a:off x="859536" y="3282696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Statement, SMS and email job queues</a:t>
            </a:r>
          </a:p>
        </p:txBody>
      </p:sp>
      <p:sp>
        <p:nvSpPr>
          <p:cNvPr id="37" name="a3ud160_dot36"/>
          <p:cNvSpPr/>
          <p:nvPr/>
        </p:nvSpPr>
        <p:spPr>
          <a:xfrm>
            <a:off x="640080" y="3675887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ud160_b37"/>
          <p:cNvSpPr txBox="1"/>
          <p:nvPr/>
        </p:nvSpPr>
        <p:spPr>
          <a:xfrm>
            <a:off x="859536" y="3575303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Last N transactions shown on the app home screen</a:t>
            </a:r>
          </a:p>
        </p:txBody>
      </p:sp>
      <p:sp>
        <p:nvSpPr>
          <p:cNvPr id="39" name="a3ud260_dot38"/>
          <p:cNvSpPr/>
          <p:nvPr/>
        </p:nvSpPr>
        <p:spPr>
          <a:xfrm>
            <a:off x="640080" y="396849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ud260_b39"/>
          <p:cNvSpPr txBox="1"/>
          <p:nvPr/>
        </p:nvSpPr>
        <p:spPr>
          <a:xfrm>
            <a:off x="859536" y="3867912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Audit trail buffer before the batch write</a:t>
            </a:r>
          </a:p>
        </p:txBody>
      </p:sp>
      <p:sp>
        <p:nvSpPr>
          <p:cNvPr id="41" name="a4u_card40"/>
          <p:cNvSpPr/>
          <p:nvPr/>
        </p:nvSpPr>
        <p:spPr>
          <a:xfrm>
            <a:off x="5394960" y="2935224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4u_eh41"/>
          <p:cNvSpPr txBox="1"/>
          <p:nvPr/>
        </p:nvSpPr>
        <p:spPr>
          <a:xfrm>
            <a:off x="5577840" y="30449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alibri"/>
              </a:rPr>
              <a:t>ENCODING</a:t>
            </a:r>
          </a:p>
        </p:txBody>
      </p:sp>
      <p:sp>
        <p:nvSpPr>
          <p:cNvPr id="43" name="a4ud40_et42"/>
          <p:cNvSpPr txBox="1"/>
          <p:nvPr/>
        </p:nvSpPr>
        <p:spPr>
          <a:xfrm>
            <a:off x="5577840" y="3246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listpack while small, quicklist once it grows.</a:t>
            </a:r>
          </a:p>
        </p:txBody>
      </p:sp>
      <p:sp>
        <p:nvSpPr>
          <p:cNvPr id="44" name="a4ud80_gh43"/>
          <p:cNvSpPr txBox="1"/>
          <p:nvPr/>
        </p:nvSpPr>
        <p:spPr>
          <a:xfrm>
            <a:off x="5577840" y="3685031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45" name="a4ud120_gt44"/>
          <p:cNvSpPr txBox="1"/>
          <p:nvPr/>
        </p:nvSpPr>
        <p:spPr>
          <a:xfrm>
            <a:off x="557784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LRANGE on a huge list is O(n) - never LRANGE key 0 -1 in production.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Uniqueness, membership tests, and set algebra without moving data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64592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UNIQUE MEMBERS, SERVER-SIDE SET ALGEBRA</a:t>
            </a:r>
          </a:p>
        </p:txBody>
      </p:sp>
      <p:sp>
        <p:nvSpPr>
          <p:cNvPr id="6" name="a1ud40_s15"/>
          <p:cNvSpPr txBox="1"/>
          <p:nvPr/>
        </p:nvSpPr>
        <p:spPr>
          <a:xfrm>
            <a:off x="658368" y="15270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ourier New"/>
              </a:rPr>
              <a:t>seg:salaried</a:t>
            </a:r>
          </a:p>
        </p:txBody>
      </p:sp>
      <p:sp>
        <p:nvSpPr>
          <p:cNvPr id="7" name="a1u_m6"/>
          <p:cNvSpPr/>
          <p:nvPr/>
        </p:nvSpPr>
        <p:spPr>
          <a:xfrm>
            <a:off x="713232" y="176479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_mv7"/>
          <p:cNvSpPr txBox="1"/>
          <p:nvPr/>
        </p:nvSpPr>
        <p:spPr>
          <a:xfrm>
            <a:off x="713232" y="1764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9003</a:t>
            </a:r>
          </a:p>
        </p:txBody>
      </p:sp>
      <p:sp>
        <p:nvSpPr>
          <p:cNvPr id="9" name="a1ud70_m8"/>
          <p:cNvSpPr/>
          <p:nvPr/>
        </p:nvSpPr>
        <p:spPr>
          <a:xfrm>
            <a:off x="1426464" y="176479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70_mv9"/>
          <p:cNvSpPr txBox="1"/>
          <p:nvPr/>
        </p:nvSpPr>
        <p:spPr>
          <a:xfrm>
            <a:off x="1426464" y="1764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7711</a:t>
            </a:r>
          </a:p>
        </p:txBody>
      </p:sp>
      <p:sp>
        <p:nvSpPr>
          <p:cNvPr id="11" name="a1ud140_m10"/>
          <p:cNvSpPr/>
          <p:nvPr/>
        </p:nvSpPr>
        <p:spPr>
          <a:xfrm>
            <a:off x="2139696" y="176479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140_mv11"/>
          <p:cNvSpPr txBox="1"/>
          <p:nvPr/>
        </p:nvSpPr>
        <p:spPr>
          <a:xfrm>
            <a:off x="2139696" y="1764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4502</a:t>
            </a:r>
          </a:p>
        </p:txBody>
      </p:sp>
      <p:sp>
        <p:nvSpPr>
          <p:cNvPr id="13" name="a2u_s212"/>
          <p:cNvSpPr txBox="1"/>
          <p:nvPr/>
        </p:nvSpPr>
        <p:spPr>
          <a:xfrm>
            <a:off x="2907792" y="15270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ourier New"/>
              </a:rPr>
              <a:t>seg:creditcard</a:t>
            </a:r>
          </a:p>
        </p:txBody>
      </p:sp>
      <p:sp>
        <p:nvSpPr>
          <p:cNvPr id="14" name="a2u_m13"/>
          <p:cNvSpPr/>
          <p:nvPr/>
        </p:nvSpPr>
        <p:spPr>
          <a:xfrm>
            <a:off x="2962656" y="176479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mv14"/>
          <p:cNvSpPr txBox="1"/>
          <p:nvPr/>
        </p:nvSpPr>
        <p:spPr>
          <a:xfrm>
            <a:off x="2962656" y="1764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7711</a:t>
            </a:r>
          </a:p>
        </p:txBody>
      </p:sp>
      <p:sp>
        <p:nvSpPr>
          <p:cNvPr id="16" name="a2ud70_m15"/>
          <p:cNvSpPr/>
          <p:nvPr/>
        </p:nvSpPr>
        <p:spPr>
          <a:xfrm>
            <a:off x="3675888" y="176479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70_mv16"/>
          <p:cNvSpPr txBox="1"/>
          <p:nvPr/>
        </p:nvSpPr>
        <p:spPr>
          <a:xfrm>
            <a:off x="3675888" y="1764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8890</a:t>
            </a:r>
          </a:p>
        </p:txBody>
      </p:sp>
      <p:sp>
        <p:nvSpPr>
          <p:cNvPr id="18" name="a2ud200_ib17"/>
          <p:cNvSpPr/>
          <p:nvPr/>
        </p:nvSpPr>
        <p:spPr>
          <a:xfrm>
            <a:off x="658368" y="2185415"/>
            <a:ext cx="4352544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200_it18"/>
          <p:cNvSpPr txBox="1"/>
          <p:nvPr/>
        </p:nvSpPr>
        <p:spPr>
          <a:xfrm>
            <a:off x="804672" y="2185415"/>
            <a:ext cx="405993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Courier New"/>
              </a:rPr>
              <a:t>SINTER seg:salaried seg:creditcard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→  7711   ·  cross-sell target list, computed in the server</a:t>
            </a:r>
          </a:p>
        </p:txBody>
      </p:sp>
      <p:sp>
        <p:nvSpPr>
          <p:cNvPr id="20" name="a2f_codebg19"/>
          <p:cNvSpPr/>
          <p:nvPr/>
        </p:nvSpPr>
        <p:spPr>
          <a:xfrm>
            <a:off x="5394960" y="1143000"/>
            <a:ext cx="3291840" cy="2313432"/>
          </a:xfrm>
          <a:prstGeom prst="roundRect">
            <a:avLst>
              <a:gd name="adj" fmla="val 316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_code20"/>
          <p:cNvSpPr txBox="1"/>
          <p:nvPr/>
        </p:nvSpPr>
        <p:spPr>
          <a:xfrm>
            <a:off x="5522976" y="12710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SADD seg:salaried 9003 7711 4502</a:t>
            </a:r>
          </a:p>
        </p:txBody>
      </p:sp>
      <p:sp>
        <p:nvSpPr>
          <p:cNvPr id="22" name="a2wd95_code21"/>
          <p:cNvSpPr txBox="1"/>
          <p:nvPr/>
        </p:nvSpPr>
        <p:spPr>
          <a:xfrm>
            <a:off x="5522976" y="14767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3</a:t>
            </a:r>
          </a:p>
        </p:txBody>
      </p:sp>
      <p:sp>
        <p:nvSpPr>
          <p:cNvPr id="23" name="a2wd190_code22"/>
          <p:cNvSpPr txBox="1"/>
          <p:nvPr/>
        </p:nvSpPr>
        <p:spPr>
          <a:xfrm>
            <a:off x="5522976" y="16824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SADD seg:salaried 9003    # dup</a:t>
            </a:r>
          </a:p>
        </p:txBody>
      </p:sp>
      <p:sp>
        <p:nvSpPr>
          <p:cNvPr id="24" name="a2wd285_code23"/>
          <p:cNvSpPr txBox="1"/>
          <p:nvPr/>
        </p:nvSpPr>
        <p:spPr>
          <a:xfrm>
            <a:off x="5522976" y="18882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0</a:t>
            </a:r>
          </a:p>
        </p:txBody>
      </p:sp>
      <p:sp>
        <p:nvSpPr>
          <p:cNvPr id="25" name="a2wd380_code24"/>
          <p:cNvSpPr txBox="1"/>
          <p:nvPr/>
        </p:nvSpPr>
        <p:spPr>
          <a:xfrm>
            <a:off x="5522976" y="20939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SISMEMBER seg:salaried 9003</a:t>
            </a:r>
          </a:p>
        </p:txBody>
      </p:sp>
      <p:sp>
        <p:nvSpPr>
          <p:cNvPr id="26" name="a2wd475_code25"/>
          <p:cNvSpPr txBox="1"/>
          <p:nvPr/>
        </p:nvSpPr>
        <p:spPr>
          <a:xfrm>
            <a:off x="5522976" y="22997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27" name="a2wd570_code26"/>
          <p:cNvSpPr txBox="1"/>
          <p:nvPr/>
        </p:nvSpPr>
        <p:spPr>
          <a:xfrm>
            <a:off x="5522976" y="25054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SINTER seg:salaried seg:creditcard</a:t>
            </a:r>
          </a:p>
        </p:txBody>
      </p:sp>
      <p:sp>
        <p:nvSpPr>
          <p:cNvPr id="28" name="a2wd665_code27"/>
          <p:cNvSpPr txBox="1"/>
          <p:nvPr/>
        </p:nvSpPr>
        <p:spPr>
          <a:xfrm>
            <a:off x="5522976" y="27111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"7711"</a:t>
            </a:r>
          </a:p>
        </p:txBody>
      </p:sp>
      <p:sp>
        <p:nvSpPr>
          <p:cNvPr id="29" name="a2wd760_code28"/>
          <p:cNvSpPr txBox="1"/>
          <p:nvPr/>
        </p:nvSpPr>
        <p:spPr>
          <a:xfrm>
            <a:off x="5522976" y="29169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SCARD seg:salaried</a:t>
            </a:r>
          </a:p>
        </p:txBody>
      </p:sp>
      <p:sp>
        <p:nvSpPr>
          <p:cNvPr id="30" name="a2wd855_code29"/>
          <p:cNvSpPr txBox="1"/>
          <p:nvPr/>
        </p:nvSpPr>
        <p:spPr>
          <a:xfrm>
            <a:off x="5522976" y="31226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3</a:t>
            </a:r>
          </a:p>
        </p:txBody>
      </p:sp>
      <p:sp>
        <p:nvSpPr>
          <p:cNvPr id="31" name="a3u_card30"/>
          <p:cNvSpPr/>
          <p:nvPr/>
        </p:nvSpPr>
        <p:spPr>
          <a:xfrm>
            <a:off x="457200" y="2935224"/>
            <a:ext cx="4754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_hh31"/>
          <p:cNvSpPr txBox="1"/>
          <p:nvPr/>
        </p:nvSpPr>
        <p:spPr>
          <a:xfrm>
            <a:off x="640080" y="304495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BANKING USE CASES</a:t>
            </a:r>
          </a:p>
        </p:txBody>
      </p:sp>
      <p:sp>
        <p:nvSpPr>
          <p:cNvPr id="33" name="a3ud60_dot32"/>
          <p:cNvSpPr/>
          <p:nvPr/>
        </p:nvSpPr>
        <p:spPr>
          <a:xfrm>
            <a:off x="640080" y="338327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d60_b33"/>
          <p:cNvSpPr txBox="1"/>
          <p:nvPr/>
        </p:nvSpPr>
        <p:spPr>
          <a:xfrm>
            <a:off x="859536" y="3282696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Customer segments and campaign audiences</a:t>
            </a:r>
          </a:p>
        </p:txBody>
      </p:sp>
      <p:sp>
        <p:nvSpPr>
          <p:cNvPr id="35" name="a3ud160_dot34"/>
          <p:cNvSpPr/>
          <p:nvPr/>
        </p:nvSpPr>
        <p:spPr>
          <a:xfrm>
            <a:off x="640080" y="367588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d160_b35"/>
          <p:cNvSpPr txBox="1"/>
          <p:nvPr/>
        </p:nvSpPr>
        <p:spPr>
          <a:xfrm>
            <a:off x="859536" y="3575303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Idempotency - has this request ID been seen?</a:t>
            </a:r>
          </a:p>
        </p:txBody>
      </p:sp>
      <p:sp>
        <p:nvSpPr>
          <p:cNvPr id="37" name="a3ud260_dot36"/>
          <p:cNvSpPr/>
          <p:nvPr/>
        </p:nvSpPr>
        <p:spPr>
          <a:xfrm>
            <a:off x="640080" y="3968496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ud260_b37"/>
          <p:cNvSpPr txBox="1"/>
          <p:nvPr/>
        </p:nvSpPr>
        <p:spPr>
          <a:xfrm>
            <a:off x="859536" y="3867912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Entitlements: which products can this user see?</a:t>
            </a:r>
          </a:p>
        </p:txBody>
      </p:sp>
      <p:sp>
        <p:nvSpPr>
          <p:cNvPr id="39" name="a4u_card38"/>
          <p:cNvSpPr/>
          <p:nvPr/>
        </p:nvSpPr>
        <p:spPr>
          <a:xfrm>
            <a:off x="5394960" y="2935224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4u_eh39"/>
          <p:cNvSpPr txBox="1"/>
          <p:nvPr/>
        </p:nvSpPr>
        <p:spPr>
          <a:xfrm>
            <a:off x="5577840" y="30449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alibri"/>
              </a:rPr>
              <a:t>ENCODING</a:t>
            </a:r>
          </a:p>
        </p:txBody>
      </p:sp>
      <p:sp>
        <p:nvSpPr>
          <p:cNvPr id="41" name="a4ud40_et40"/>
          <p:cNvSpPr txBox="1"/>
          <p:nvPr/>
        </p:nvSpPr>
        <p:spPr>
          <a:xfrm>
            <a:off x="5577840" y="3246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intset when every member is an integer, otherwise listpack then hashtable.</a:t>
            </a:r>
          </a:p>
        </p:txBody>
      </p:sp>
      <p:sp>
        <p:nvSpPr>
          <p:cNvPr id="42" name="a4ud80_gh41"/>
          <p:cNvSpPr txBox="1"/>
          <p:nvPr/>
        </p:nvSpPr>
        <p:spPr>
          <a:xfrm>
            <a:off x="5577840" y="3685031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43" name="a4ud120_gt42"/>
          <p:cNvSpPr txBox="1"/>
          <p:nvPr/>
        </p:nvSpPr>
        <p:spPr>
          <a:xfrm>
            <a:off x="557784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SMEMBERS on a million-member set blocks the server. Use SSCAN.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Sorted Set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set that keeps itself ranked - leaderboards, priorities, time windows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64592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MEMBER + SCORE, ALWAYS SORTED BY SCORE</a:t>
            </a:r>
          </a:p>
        </p:txBody>
      </p:sp>
      <p:sp>
        <p:nvSpPr>
          <p:cNvPr id="6" name="a1w_rk5"/>
          <p:cNvSpPr/>
          <p:nvPr/>
        </p:nvSpPr>
        <p:spPr>
          <a:xfrm>
            <a:off x="658368" y="1563624"/>
            <a:ext cx="310896" cy="246888"/>
          </a:xfrm>
          <a:prstGeom prst="roundRect">
            <a:avLst>
              <a:gd name="adj" fmla="val 14814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_rkt6"/>
          <p:cNvSpPr txBox="1"/>
          <p:nvPr/>
        </p:nvSpPr>
        <p:spPr>
          <a:xfrm>
            <a:off x="658368" y="1563624"/>
            <a:ext cx="31089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8" name="a1wd30_mb7"/>
          <p:cNvSpPr/>
          <p:nvPr/>
        </p:nvSpPr>
        <p:spPr>
          <a:xfrm>
            <a:off x="1042415" y="1563624"/>
            <a:ext cx="2011680" cy="246888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30_mt8"/>
          <p:cNvSpPr txBox="1"/>
          <p:nvPr/>
        </p:nvSpPr>
        <p:spPr>
          <a:xfrm>
            <a:off x="1115568" y="1563624"/>
            <a:ext cx="19202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BR-MUM-014</a:t>
            </a:r>
          </a:p>
        </p:txBody>
      </p:sp>
      <p:sp>
        <p:nvSpPr>
          <p:cNvPr id="10" name="a1wd60_sb9"/>
          <p:cNvSpPr/>
          <p:nvPr/>
        </p:nvSpPr>
        <p:spPr>
          <a:xfrm>
            <a:off x="3127248" y="1563624"/>
            <a:ext cx="1883664" cy="246888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60_st10"/>
          <p:cNvSpPr txBox="1"/>
          <p:nvPr/>
        </p:nvSpPr>
        <p:spPr>
          <a:xfrm>
            <a:off x="3200400" y="1563624"/>
            <a:ext cx="17922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B45309"/>
                </a:solidFill>
                <a:latin typeface="Courier New"/>
              </a:rPr>
              <a:t>1 842 300</a:t>
            </a:r>
          </a:p>
        </p:txBody>
      </p:sp>
      <p:sp>
        <p:nvSpPr>
          <p:cNvPr id="12" name="a1wd80_rk11"/>
          <p:cNvSpPr/>
          <p:nvPr/>
        </p:nvSpPr>
        <p:spPr>
          <a:xfrm>
            <a:off x="658368" y="1856231"/>
            <a:ext cx="310896" cy="246888"/>
          </a:xfrm>
          <a:prstGeom prst="roundRect">
            <a:avLst>
              <a:gd name="adj" fmla="val 14814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80_rkt12"/>
          <p:cNvSpPr txBox="1"/>
          <p:nvPr/>
        </p:nvSpPr>
        <p:spPr>
          <a:xfrm>
            <a:off x="658368" y="1856231"/>
            <a:ext cx="31089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4" name="a1wd110_mb13"/>
          <p:cNvSpPr/>
          <p:nvPr/>
        </p:nvSpPr>
        <p:spPr>
          <a:xfrm>
            <a:off x="1042415" y="1856231"/>
            <a:ext cx="2011680" cy="246888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110_mt14"/>
          <p:cNvSpPr txBox="1"/>
          <p:nvPr/>
        </p:nvSpPr>
        <p:spPr>
          <a:xfrm>
            <a:off x="1115568" y="1856231"/>
            <a:ext cx="19202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BR-DEL-007</a:t>
            </a:r>
          </a:p>
        </p:txBody>
      </p:sp>
      <p:sp>
        <p:nvSpPr>
          <p:cNvPr id="16" name="a1wd140_sb15"/>
          <p:cNvSpPr/>
          <p:nvPr/>
        </p:nvSpPr>
        <p:spPr>
          <a:xfrm>
            <a:off x="3127248" y="1856231"/>
            <a:ext cx="1883664" cy="246888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40_st16"/>
          <p:cNvSpPr txBox="1"/>
          <p:nvPr/>
        </p:nvSpPr>
        <p:spPr>
          <a:xfrm>
            <a:off x="3200400" y="1856231"/>
            <a:ext cx="17922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B45309"/>
                </a:solidFill>
                <a:latin typeface="Courier New"/>
              </a:rPr>
              <a:t>1 611 050</a:t>
            </a:r>
          </a:p>
        </p:txBody>
      </p:sp>
      <p:sp>
        <p:nvSpPr>
          <p:cNvPr id="18" name="a1wd160_rk17"/>
          <p:cNvSpPr/>
          <p:nvPr/>
        </p:nvSpPr>
        <p:spPr>
          <a:xfrm>
            <a:off x="658368" y="2148840"/>
            <a:ext cx="310896" cy="246888"/>
          </a:xfrm>
          <a:prstGeom prst="roundRect">
            <a:avLst>
              <a:gd name="adj" fmla="val 14814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60_rkt18"/>
          <p:cNvSpPr txBox="1"/>
          <p:nvPr/>
        </p:nvSpPr>
        <p:spPr>
          <a:xfrm>
            <a:off x="658368" y="2148840"/>
            <a:ext cx="31089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0" name="a1wd190_mb19"/>
          <p:cNvSpPr/>
          <p:nvPr/>
        </p:nvSpPr>
        <p:spPr>
          <a:xfrm>
            <a:off x="1042415" y="2148840"/>
            <a:ext cx="2011680" cy="246888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90_mt20"/>
          <p:cNvSpPr txBox="1"/>
          <p:nvPr/>
        </p:nvSpPr>
        <p:spPr>
          <a:xfrm>
            <a:off x="1115568" y="2148840"/>
            <a:ext cx="19202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BR-BLR-022</a:t>
            </a:r>
          </a:p>
        </p:txBody>
      </p:sp>
      <p:sp>
        <p:nvSpPr>
          <p:cNvPr id="22" name="a1wd220_sb21"/>
          <p:cNvSpPr/>
          <p:nvPr/>
        </p:nvSpPr>
        <p:spPr>
          <a:xfrm>
            <a:off x="3127248" y="2148840"/>
            <a:ext cx="1883664" cy="246888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20_st22"/>
          <p:cNvSpPr txBox="1"/>
          <p:nvPr/>
        </p:nvSpPr>
        <p:spPr>
          <a:xfrm>
            <a:off x="3200400" y="2148840"/>
            <a:ext cx="17922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B45309"/>
                </a:solidFill>
                <a:latin typeface="Courier New"/>
              </a:rPr>
              <a:t>1 402 880</a:t>
            </a:r>
          </a:p>
        </p:txBody>
      </p:sp>
      <p:sp>
        <p:nvSpPr>
          <p:cNvPr id="24" name="a1wd240_rk23"/>
          <p:cNvSpPr/>
          <p:nvPr/>
        </p:nvSpPr>
        <p:spPr>
          <a:xfrm>
            <a:off x="658368" y="2441448"/>
            <a:ext cx="310896" cy="246888"/>
          </a:xfrm>
          <a:prstGeom prst="roundRect">
            <a:avLst>
              <a:gd name="adj" fmla="val 14814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40_rkt24"/>
          <p:cNvSpPr txBox="1"/>
          <p:nvPr/>
        </p:nvSpPr>
        <p:spPr>
          <a:xfrm>
            <a:off x="658368" y="2441448"/>
            <a:ext cx="31089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6" name="a1wd270_mb25"/>
          <p:cNvSpPr/>
          <p:nvPr/>
        </p:nvSpPr>
        <p:spPr>
          <a:xfrm>
            <a:off x="1042415" y="2441448"/>
            <a:ext cx="2011680" cy="246888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270_mt26"/>
          <p:cNvSpPr txBox="1"/>
          <p:nvPr/>
        </p:nvSpPr>
        <p:spPr>
          <a:xfrm>
            <a:off x="1115568" y="2441448"/>
            <a:ext cx="19202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BR-CHN-003</a:t>
            </a:r>
          </a:p>
        </p:txBody>
      </p:sp>
      <p:sp>
        <p:nvSpPr>
          <p:cNvPr id="28" name="a1wd300_sb27"/>
          <p:cNvSpPr/>
          <p:nvPr/>
        </p:nvSpPr>
        <p:spPr>
          <a:xfrm>
            <a:off x="3127248" y="2441448"/>
            <a:ext cx="1883664" cy="246888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300_st28"/>
          <p:cNvSpPr txBox="1"/>
          <p:nvPr/>
        </p:nvSpPr>
        <p:spPr>
          <a:xfrm>
            <a:off x="3200400" y="2441448"/>
            <a:ext cx="17922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B45309"/>
                </a:solidFill>
                <a:latin typeface="Courier New"/>
              </a:rPr>
              <a:t>1 190 400</a:t>
            </a:r>
          </a:p>
        </p:txBody>
      </p:sp>
      <p:sp>
        <p:nvSpPr>
          <p:cNvPr id="30" name="a1fd420_cap29"/>
          <p:cNvSpPr txBox="1"/>
          <p:nvPr/>
        </p:nvSpPr>
        <p:spPr>
          <a:xfrm>
            <a:off x="640080" y="277063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Insert anywhere and the order is maintained - no re-sort, no batch job.</a:t>
            </a:r>
          </a:p>
        </p:txBody>
      </p:sp>
      <p:sp>
        <p:nvSpPr>
          <p:cNvPr id="31" name="a2f_codebg30"/>
          <p:cNvSpPr/>
          <p:nvPr/>
        </p:nvSpPr>
        <p:spPr>
          <a:xfrm>
            <a:off x="5394960" y="1143000"/>
            <a:ext cx="3291840" cy="2313432"/>
          </a:xfrm>
          <a:prstGeom prst="roundRect">
            <a:avLst>
              <a:gd name="adj" fmla="val 316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_code31"/>
          <p:cNvSpPr txBox="1"/>
          <p:nvPr/>
        </p:nvSpPr>
        <p:spPr>
          <a:xfrm>
            <a:off x="5522976" y="12710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ZADD lb:branch 1842300 BR-MUM-014</a:t>
            </a:r>
          </a:p>
        </p:txBody>
      </p:sp>
      <p:sp>
        <p:nvSpPr>
          <p:cNvPr id="33" name="a2wd95_code32"/>
          <p:cNvSpPr txBox="1"/>
          <p:nvPr/>
        </p:nvSpPr>
        <p:spPr>
          <a:xfrm>
            <a:off x="5522976" y="14767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34" name="a2wd190_code33"/>
          <p:cNvSpPr txBox="1"/>
          <p:nvPr/>
        </p:nvSpPr>
        <p:spPr>
          <a:xfrm>
            <a:off x="5522976" y="16824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ZINCRBY lb:branch 25000 BR-MUM-014</a:t>
            </a:r>
          </a:p>
        </p:txBody>
      </p:sp>
      <p:sp>
        <p:nvSpPr>
          <p:cNvPr id="35" name="a2wd285_code34"/>
          <p:cNvSpPr txBox="1"/>
          <p:nvPr/>
        </p:nvSpPr>
        <p:spPr>
          <a:xfrm>
            <a:off x="5522976" y="18882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"1867300"</a:t>
            </a:r>
          </a:p>
        </p:txBody>
      </p:sp>
      <p:sp>
        <p:nvSpPr>
          <p:cNvPr id="36" name="a2wd380_code35"/>
          <p:cNvSpPr txBox="1"/>
          <p:nvPr/>
        </p:nvSpPr>
        <p:spPr>
          <a:xfrm>
            <a:off x="5522976" y="20939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ZREVRANGE lb:branch 0 2 WITHSCORES</a:t>
            </a:r>
          </a:p>
        </p:txBody>
      </p:sp>
      <p:sp>
        <p:nvSpPr>
          <p:cNvPr id="37" name="a2wd475_code36"/>
          <p:cNvSpPr txBox="1"/>
          <p:nvPr/>
        </p:nvSpPr>
        <p:spPr>
          <a:xfrm>
            <a:off x="5522976" y="22997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"BR-MUM-014" 2) "1867300"</a:t>
            </a:r>
          </a:p>
        </p:txBody>
      </p:sp>
      <p:sp>
        <p:nvSpPr>
          <p:cNvPr id="38" name="a2wd570_code37"/>
          <p:cNvSpPr txBox="1"/>
          <p:nvPr/>
        </p:nvSpPr>
        <p:spPr>
          <a:xfrm>
            <a:off x="5522976" y="25054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ZREVRANK lb:branch BR-DEL-007</a:t>
            </a:r>
          </a:p>
        </p:txBody>
      </p:sp>
      <p:sp>
        <p:nvSpPr>
          <p:cNvPr id="39" name="a2wd665_code38"/>
          <p:cNvSpPr txBox="1"/>
          <p:nvPr/>
        </p:nvSpPr>
        <p:spPr>
          <a:xfrm>
            <a:off x="5522976" y="27111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40" name="a2wd760_code39"/>
          <p:cNvSpPr txBox="1"/>
          <p:nvPr/>
        </p:nvSpPr>
        <p:spPr>
          <a:xfrm>
            <a:off x="5522976" y="29169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ZRANGEBYSCORE due 0 1758412800</a:t>
            </a:r>
          </a:p>
        </p:txBody>
      </p:sp>
      <p:sp>
        <p:nvSpPr>
          <p:cNvPr id="41" name="a2wd855_code40"/>
          <p:cNvSpPr txBox="1"/>
          <p:nvPr/>
        </p:nvSpPr>
        <p:spPr>
          <a:xfrm>
            <a:off x="5522976" y="31226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"job:915"</a:t>
            </a:r>
          </a:p>
        </p:txBody>
      </p:sp>
      <p:sp>
        <p:nvSpPr>
          <p:cNvPr id="42" name="a3u_card41"/>
          <p:cNvSpPr/>
          <p:nvPr/>
        </p:nvSpPr>
        <p:spPr>
          <a:xfrm>
            <a:off x="457200" y="2935224"/>
            <a:ext cx="4754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u_hh42"/>
          <p:cNvSpPr txBox="1"/>
          <p:nvPr/>
        </p:nvSpPr>
        <p:spPr>
          <a:xfrm>
            <a:off x="640080" y="304495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BANKING USE CASES</a:t>
            </a:r>
          </a:p>
        </p:txBody>
      </p:sp>
      <p:sp>
        <p:nvSpPr>
          <p:cNvPr id="44" name="a3ud60_dot43"/>
          <p:cNvSpPr/>
          <p:nvPr/>
        </p:nvSpPr>
        <p:spPr>
          <a:xfrm>
            <a:off x="640080" y="3383279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ud60_b44"/>
          <p:cNvSpPr txBox="1"/>
          <p:nvPr/>
        </p:nvSpPr>
        <p:spPr>
          <a:xfrm>
            <a:off x="859536" y="3282696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Top branches and merchants, updated live</a:t>
            </a:r>
          </a:p>
        </p:txBody>
      </p:sp>
      <p:sp>
        <p:nvSpPr>
          <p:cNvPr id="46" name="a3ud160_dot45"/>
          <p:cNvSpPr/>
          <p:nvPr/>
        </p:nvSpPr>
        <p:spPr>
          <a:xfrm>
            <a:off x="640080" y="3675887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ud160_b46"/>
          <p:cNvSpPr txBox="1"/>
          <p:nvPr/>
        </p:nvSpPr>
        <p:spPr>
          <a:xfrm>
            <a:off x="859536" y="3575303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Delayed job scheduler - score is the run timestamp</a:t>
            </a:r>
          </a:p>
        </p:txBody>
      </p:sp>
      <p:sp>
        <p:nvSpPr>
          <p:cNvPr id="48" name="a3ud260_dot47"/>
          <p:cNvSpPr/>
          <p:nvPr/>
        </p:nvSpPr>
        <p:spPr>
          <a:xfrm>
            <a:off x="640080" y="3968496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ud260_b48"/>
          <p:cNvSpPr txBox="1"/>
          <p:nvPr/>
        </p:nvSpPr>
        <p:spPr>
          <a:xfrm>
            <a:off x="859536" y="3867912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Sliding-window rate limits keyed by request time</a:t>
            </a:r>
          </a:p>
        </p:txBody>
      </p:sp>
      <p:sp>
        <p:nvSpPr>
          <p:cNvPr id="50" name="a4u_card49"/>
          <p:cNvSpPr/>
          <p:nvPr/>
        </p:nvSpPr>
        <p:spPr>
          <a:xfrm>
            <a:off x="5394960" y="2935224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4u_eh50"/>
          <p:cNvSpPr txBox="1"/>
          <p:nvPr/>
        </p:nvSpPr>
        <p:spPr>
          <a:xfrm>
            <a:off x="5577840" y="30449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alibri"/>
              </a:rPr>
              <a:t>ENCODING</a:t>
            </a:r>
          </a:p>
        </p:txBody>
      </p:sp>
      <p:sp>
        <p:nvSpPr>
          <p:cNvPr id="52" name="a4ud40_et51"/>
          <p:cNvSpPr txBox="1"/>
          <p:nvPr/>
        </p:nvSpPr>
        <p:spPr>
          <a:xfrm>
            <a:off x="5577840" y="3246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listpack while small; skiplist + hash table once it grows.</a:t>
            </a:r>
          </a:p>
        </p:txBody>
      </p:sp>
      <p:sp>
        <p:nvSpPr>
          <p:cNvPr id="53" name="a4ud80_gh52"/>
          <p:cNvSpPr txBox="1"/>
          <p:nvPr/>
        </p:nvSpPr>
        <p:spPr>
          <a:xfrm>
            <a:off x="5577840" y="3685031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54" name="a4ud120_gt53"/>
          <p:cNvSpPr txBox="1"/>
          <p:nvPr/>
        </p:nvSpPr>
        <p:spPr>
          <a:xfrm>
            <a:off x="557784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Scores are 64-bit floats - past 2^53 integers stop being exact.</a:t>
            </a:r>
          </a:p>
        </p:txBody>
      </p:sp>
      <p:sp>
        <p:nvSpPr>
          <p:cNvPr id="55" name="ft5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Hash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record in one key - read or write single fields without touching the rest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64592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Calibri"/>
              </a:rPr>
              <a:t>ONE KEY, MANY FIELDS</a:t>
            </a:r>
          </a:p>
        </p:txBody>
      </p:sp>
      <p:sp>
        <p:nvSpPr>
          <p:cNvPr id="6" name="a1u_kb5"/>
          <p:cNvSpPr/>
          <p:nvPr/>
        </p:nvSpPr>
        <p:spPr>
          <a:xfrm>
            <a:off x="658368" y="1527048"/>
            <a:ext cx="4352544" cy="274320"/>
          </a:xfrm>
          <a:prstGeom prst="roundRect">
            <a:avLst>
              <a:gd name="adj" fmla="val 1666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_kt6"/>
          <p:cNvSpPr txBox="1"/>
          <p:nvPr/>
        </p:nvSpPr>
        <p:spPr>
          <a:xfrm>
            <a:off x="786384" y="152704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icici:cust:9003</a:t>
            </a:r>
          </a:p>
        </p:txBody>
      </p:sp>
      <p:sp>
        <p:nvSpPr>
          <p:cNvPr id="8" name="a1w_fb7"/>
          <p:cNvSpPr/>
          <p:nvPr/>
        </p:nvSpPr>
        <p:spPr>
          <a:xfrm>
            <a:off x="868680" y="1856232"/>
            <a:ext cx="155448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_ft8"/>
          <p:cNvSpPr txBox="1"/>
          <p:nvPr/>
        </p:nvSpPr>
        <p:spPr>
          <a:xfrm>
            <a:off x="941832" y="185623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name</a:t>
            </a:r>
          </a:p>
        </p:txBody>
      </p:sp>
      <p:sp>
        <p:nvSpPr>
          <p:cNvPr id="10" name="a1wd40_vb9"/>
          <p:cNvSpPr/>
          <p:nvPr/>
        </p:nvSpPr>
        <p:spPr>
          <a:xfrm>
            <a:off x="2496312" y="1856232"/>
            <a:ext cx="25146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40_vt10"/>
          <p:cNvSpPr txBox="1"/>
          <p:nvPr/>
        </p:nvSpPr>
        <p:spPr>
          <a:xfrm>
            <a:off x="2569464" y="1856232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A. Sharma</a:t>
            </a:r>
          </a:p>
        </p:txBody>
      </p:sp>
      <p:sp>
        <p:nvSpPr>
          <p:cNvPr id="12" name="a1wd70_fb11"/>
          <p:cNvSpPr/>
          <p:nvPr/>
        </p:nvSpPr>
        <p:spPr>
          <a:xfrm>
            <a:off x="868680" y="2112264"/>
            <a:ext cx="155448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70_ft12"/>
          <p:cNvSpPr txBox="1"/>
          <p:nvPr/>
        </p:nvSpPr>
        <p:spPr>
          <a:xfrm>
            <a:off x="941832" y="211226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tier</a:t>
            </a:r>
          </a:p>
        </p:txBody>
      </p:sp>
      <p:sp>
        <p:nvSpPr>
          <p:cNvPr id="14" name="a1wd110_vb13"/>
          <p:cNvSpPr/>
          <p:nvPr/>
        </p:nvSpPr>
        <p:spPr>
          <a:xfrm>
            <a:off x="2496312" y="2112264"/>
            <a:ext cx="25146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110_vt14"/>
          <p:cNvSpPr txBox="1"/>
          <p:nvPr/>
        </p:nvSpPr>
        <p:spPr>
          <a:xfrm>
            <a:off x="2569464" y="2112264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gold</a:t>
            </a:r>
          </a:p>
        </p:txBody>
      </p:sp>
      <p:sp>
        <p:nvSpPr>
          <p:cNvPr id="16" name="a1wd140_fb15"/>
          <p:cNvSpPr/>
          <p:nvPr/>
        </p:nvSpPr>
        <p:spPr>
          <a:xfrm>
            <a:off x="868680" y="2368296"/>
            <a:ext cx="155448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40_ft16"/>
          <p:cNvSpPr txBox="1"/>
          <p:nvPr/>
        </p:nvSpPr>
        <p:spPr>
          <a:xfrm>
            <a:off x="941832" y="236829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branch</a:t>
            </a:r>
          </a:p>
        </p:txBody>
      </p:sp>
      <p:sp>
        <p:nvSpPr>
          <p:cNvPr id="18" name="a1wd180_vb17"/>
          <p:cNvSpPr/>
          <p:nvPr/>
        </p:nvSpPr>
        <p:spPr>
          <a:xfrm>
            <a:off x="2496312" y="2368296"/>
            <a:ext cx="25146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80_vt18"/>
          <p:cNvSpPr txBox="1"/>
          <p:nvPr/>
        </p:nvSpPr>
        <p:spPr>
          <a:xfrm>
            <a:off x="2569464" y="236829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BR-MUM-014</a:t>
            </a:r>
          </a:p>
        </p:txBody>
      </p:sp>
      <p:sp>
        <p:nvSpPr>
          <p:cNvPr id="20" name="a1wd210_fb19"/>
          <p:cNvSpPr/>
          <p:nvPr/>
        </p:nvSpPr>
        <p:spPr>
          <a:xfrm>
            <a:off x="868680" y="2624328"/>
            <a:ext cx="155448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10_ft20"/>
          <p:cNvSpPr txBox="1"/>
          <p:nvPr/>
        </p:nvSpPr>
        <p:spPr>
          <a:xfrm>
            <a:off x="941832" y="262432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kyc</a:t>
            </a:r>
          </a:p>
        </p:txBody>
      </p:sp>
      <p:sp>
        <p:nvSpPr>
          <p:cNvPr id="22" name="a1wd250_vb21"/>
          <p:cNvSpPr/>
          <p:nvPr/>
        </p:nvSpPr>
        <p:spPr>
          <a:xfrm>
            <a:off x="2496312" y="2624328"/>
            <a:ext cx="25146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50_vt22"/>
          <p:cNvSpPr txBox="1"/>
          <p:nvPr/>
        </p:nvSpPr>
        <p:spPr>
          <a:xfrm>
            <a:off x="2569464" y="2624328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verified</a:t>
            </a:r>
          </a:p>
        </p:txBody>
      </p:sp>
      <p:sp>
        <p:nvSpPr>
          <p:cNvPr id="24" name="a1wd280_fb23"/>
          <p:cNvSpPr/>
          <p:nvPr/>
        </p:nvSpPr>
        <p:spPr>
          <a:xfrm>
            <a:off x="868680" y="2880360"/>
            <a:ext cx="1554480" cy="21945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80_ft24"/>
          <p:cNvSpPr txBox="1"/>
          <p:nvPr/>
        </p:nvSpPr>
        <p:spPr>
          <a:xfrm>
            <a:off x="941832" y="288036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since</a:t>
            </a:r>
          </a:p>
        </p:txBody>
      </p:sp>
      <p:sp>
        <p:nvSpPr>
          <p:cNvPr id="26" name="a1wd320_vb25"/>
          <p:cNvSpPr/>
          <p:nvPr/>
        </p:nvSpPr>
        <p:spPr>
          <a:xfrm>
            <a:off x="2496312" y="2880360"/>
            <a:ext cx="251460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20_vt26"/>
          <p:cNvSpPr txBox="1"/>
          <p:nvPr/>
        </p:nvSpPr>
        <p:spPr>
          <a:xfrm>
            <a:off x="2569464" y="2880360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urier New"/>
              </a:rPr>
              <a:t>2016-04-11</a:t>
            </a:r>
          </a:p>
        </p:txBody>
      </p:sp>
      <p:sp>
        <p:nvSpPr>
          <p:cNvPr id="28" name="a2f_codebg27"/>
          <p:cNvSpPr/>
          <p:nvPr/>
        </p:nvSpPr>
        <p:spPr>
          <a:xfrm>
            <a:off x="5394960" y="1143000"/>
            <a:ext cx="3291840" cy="2519172"/>
          </a:xfrm>
          <a:prstGeom prst="roundRect">
            <a:avLst>
              <a:gd name="adj" fmla="val 290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_code28"/>
          <p:cNvSpPr txBox="1"/>
          <p:nvPr/>
        </p:nvSpPr>
        <p:spPr>
          <a:xfrm>
            <a:off x="5522976" y="12710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HSET icici:cust:9003 name "A. Sharma" \</a:t>
            </a:r>
          </a:p>
        </p:txBody>
      </p:sp>
      <p:sp>
        <p:nvSpPr>
          <p:cNvPr id="30" name="a2wd95_code29"/>
          <p:cNvSpPr txBox="1"/>
          <p:nvPr/>
        </p:nvSpPr>
        <p:spPr>
          <a:xfrm>
            <a:off x="5522976" y="14767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 tier gold branch BR-MUM-014</a:t>
            </a:r>
          </a:p>
        </p:txBody>
      </p:sp>
      <p:sp>
        <p:nvSpPr>
          <p:cNvPr id="31" name="a2wd190_code30"/>
          <p:cNvSpPr txBox="1"/>
          <p:nvPr/>
        </p:nvSpPr>
        <p:spPr>
          <a:xfrm>
            <a:off x="5522976" y="16824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3</a:t>
            </a:r>
          </a:p>
        </p:txBody>
      </p:sp>
      <p:sp>
        <p:nvSpPr>
          <p:cNvPr id="32" name="a2wd285_code31"/>
          <p:cNvSpPr txBox="1"/>
          <p:nvPr/>
        </p:nvSpPr>
        <p:spPr>
          <a:xfrm>
            <a:off x="5522976" y="18882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HGET icici:cust:9003 tier</a:t>
            </a:r>
          </a:p>
        </p:txBody>
      </p:sp>
      <p:sp>
        <p:nvSpPr>
          <p:cNvPr id="33" name="a2wd380_code32"/>
          <p:cNvSpPr txBox="1"/>
          <p:nvPr/>
        </p:nvSpPr>
        <p:spPr>
          <a:xfrm>
            <a:off x="5522976" y="20939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"gold"</a:t>
            </a:r>
          </a:p>
        </p:txBody>
      </p:sp>
      <p:sp>
        <p:nvSpPr>
          <p:cNvPr id="34" name="a2wd475_code33"/>
          <p:cNvSpPr txBox="1"/>
          <p:nvPr/>
        </p:nvSpPr>
        <p:spPr>
          <a:xfrm>
            <a:off x="5522976" y="22997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HGETALL icici:cust:9003</a:t>
            </a:r>
          </a:p>
        </p:txBody>
      </p:sp>
      <p:sp>
        <p:nvSpPr>
          <p:cNvPr id="35" name="a2wd570_code34"/>
          <p:cNvSpPr txBox="1"/>
          <p:nvPr/>
        </p:nvSpPr>
        <p:spPr>
          <a:xfrm>
            <a:off x="5522976" y="250545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"name" 2) "A. Sharma" ...</a:t>
            </a:r>
          </a:p>
        </p:txBody>
      </p:sp>
      <p:sp>
        <p:nvSpPr>
          <p:cNvPr id="36" name="a2wd665_code35"/>
          <p:cNvSpPr txBox="1"/>
          <p:nvPr/>
        </p:nvSpPr>
        <p:spPr>
          <a:xfrm>
            <a:off x="5522976" y="271119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HINCRBY icici:cust:9003 logins 1</a:t>
            </a:r>
          </a:p>
        </p:txBody>
      </p:sp>
      <p:sp>
        <p:nvSpPr>
          <p:cNvPr id="37" name="a2wd760_code36"/>
          <p:cNvSpPr txBox="1"/>
          <p:nvPr/>
        </p:nvSpPr>
        <p:spPr>
          <a:xfrm>
            <a:off x="5522976" y="291693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41</a:t>
            </a:r>
          </a:p>
        </p:txBody>
      </p:sp>
      <p:sp>
        <p:nvSpPr>
          <p:cNvPr id="38" name="a2wd855_code37"/>
          <p:cNvSpPr txBox="1"/>
          <p:nvPr/>
        </p:nvSpPr>
        <p:spPr>
          <a:xfrm>
            <a:off x="5522976" y="312267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HDEL icici:cust:9003 kyc</a:t>
            </a:r>
          </a:p>
        </p:txBody>
      </p:sp>
      <p:sp>
        <p:nvSpPr>
          <p:cNvPr id="39" name="a2wd950_code38"/>
          <p:cNvSpPr txBox="1"/>
          <p:nvPr/>
        </p:nvSpPr>
        <p:spPr>
          <a:xfrm>
            <a:off x="5522976" y="3328416"/>
            <a:ext cx="303580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40" name="a3u_card39"/>
          <p:cNvSpPr/>
          <p:nvPr/>
        </p:nvSpPr>
        <p:spPr>
          <a:xfrm>
            <a:off x="457200" y="2935224"/>
            <a:ext cx="4754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u_hh40"/>
          <p:cNvSpPr txBox="1"/>
          <p:nvPr/>
        </p:nvSpPr>
        <p:spPr>
          <a:xfrm>
            <a:off x="640080" y="304495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BANKING USE CASES</a:t>
            </a:r>
          </a:p>
        </p:txBody>
      </p:sp>
      <p:sp>
        <p:nvSpPr>
          <p:cNvPr id="42" name="a3ud60_dot41"/>
          <p:cNvSpPr/>
          <p:nvPr/>
        </p:nvSpPr>
        <p:spPr>
          <a:xfrm>
            <a:off x="640080" y="3383279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ud60_b42"/>
          <p:cNvSpPr txBox="1"/>
          <p:nvPr/>
        </p:nvSpPr>
        <p:spPr>
          <a:xfrm>
            <a:off x="859536" y="3282696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Cached customer and account records</a:t>
            </a:r>
          </a:p>
        </p:txBody>
      </p:sp>
      <p:sp>
        <p:nvSpPr>
          <p:cNvPr id="44" name="a3ud160_dot43"/>
          <p:cNvSpPr/>
          <p:nvPr/>
        </p:nvSpPr>
        <p:spPr>
          <a:xfrm>
            <a:off x="640080" y="3675887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ud160_b44"/>
          <p:cNvSpPr txBox="1"/>
          <p:nvPr/>
        </p:nvSpPr>
        <p:spPr>
          <a:xfrm>
            <a:off x="859536" y="3575303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Session objects - update one field, keep the TTL</a:t>
            </a:r>
          </a:p>
        </p:txBody>
      </p:sp>
      <p:sp>
        <p:nvSpPr>
          <p:cNvPr id="46" name="a3ud260_dot45"/>
          <p:cNvSpPr/>
          <p:nvPr/>
        </p:nvSpPr>
        <p:spPr>
          <a:xfrm>
            <a:off x="640080" y="396849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ud260_b46"/>
          <p:cNvSpPr txBox="1"/>
          <p:nvPr/>
        </p:nvSpPr>
        <p:spPr>
          <a:xfrm>
            <a:off x="859536" y="3867912"/>
            <a:ext cx="41696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Per-entity counters: logins, failed PIN attempts</a:t>
            </a:r>
          </a:p>
        </p:txBody>
      </p:sp>
      <p:sp>
        <p:nvSpPr>
          <p:cNvPr id="48" name="a4u_card47"/>
          <p:cNvSpPr/>
          <p:nvPr/>
        </p:nvSpPr>
        <p:spPr>
          <a:xfrm>
            <a:off x="5394960" y="2935224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4u_eh48"/>
          <p:cNvSpPr txBox="1"/>
          <p:nvPr/>
        </p:nvSpPr>
        <p:spPr>
          <a:xfrm>
            <a:off x="5577840" y="30449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alibri"/>
              </a:rPr>
              <a:t>ENCODING</a:t>
            </a:r>
          </a:p>
        </p:txBody>
      </p:sp>
      <p:sp>
        <p:nvSpPr>
          <p:cNvPr id="50" name="a4ud40_et49"/>
          <p:cNvSpPr txBox="1"/>
          <p:nvPr/>
        </p:nvSpPr>
        <p:spPr>
          <a:xfrm>
            <a:off x="5577840" y="3246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listpack under ~128 small fields, hashtable beyond that.</a:t>
            </a:r>
          </a:p>
        </p:txBody>
      </p:sp>
      <p:sp>
        <p:nvSpPr>
          <p:cNvPr id="51" name="a4ud80_gh50"/>
          <p:cNvSpPr txBox="1"/>
          <p:nvPr/>
        </p:nvSpPr>
        <p:spPr>
          <a:xfrm>
            <a:off x="5577840" y="3685031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52" name="a4ud120_gt51"/>
          <p:cNvSpPr txBox="1"/>
          <p:nvPr/>
        </p:nvSpPr>
        <p:spPr>
          <a:xfrm>
            <a:off x="557784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 TTL applies to the whole key, not to a single field (before Redis 7.4).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4" name="ft5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Bitmap, HyperLogLog and Geospatial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specialised types that solve a problem no other type solves cheaply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2651760" cy="50292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40_tn5"/>
          <p:cNvSpPr txBox="1"/>
          <p:nvPr/>
        </p:nvSpPr>
        <p:spPr>
          <a:xfrm>
            <a:off x="603504" y="1271016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Bitmap</a:t>
            </a:r>
          </a:p>
        </p:txBody>
      </p:sp>
      <p:sp>
        <p:nvSpPr>
          <p:cNvPr id="7" name="a1ud60_ts6"/>
          <p:cNvSpPr txBox="1"/>
          <p:nvPr/>
        </p:nvSpPr>
        <p:spPr>
          <a:xfrm>
            <a:off x="603504" y="1527048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E185D"/>
                </a:solidFill>
                <a:latin typeface="Courier New"/>
              </a:rPr>
              <a:t>One bit per entity</a:t>
            </a:r>
          </a:p>
        </p:txBody>
      </p:sp>
      <p:sp>
        <p:nvSpPr>
          <p:cNvPr id="8" name="a1fd100_codebg7"/>
          <p:cNvSpPr/>
          <p:nvPr/>
        </p:nvSpPr>
        <p:spPr>
          <a:xfrm>
            <a:off x="603504" y="1783080"/>
            <a:ext cx="2359152" cy="1307592"/>
          </a:xfrm>
          <a:prstGeom prst="roundRect">
            <a:avLst>
              <a:gd name="adj" fmla="val 55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00_code8"/>
          <p:cNvSpPr txBox="1"/>
          <p:nvPr/>
        </p:nvSpPr>
        <p:spPr>
          <a:xfrm>
            <a:off x="694944" y="1874519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SETBIT active:2026-09-21 9003 1</a:t>
            </a:r>
          </a:p>
        </p:txBody>
      </p:sp>
      <p:sp>
        <p:nvSpPr>
          <p:cNvPr id="10" name="a1wd170_code9"/>
          <p:cNvSpPr txBox="1"/>
          <p:nvPr/>
        </p:nvSpPr>
        <p:spPr>
          <a:xfrm>
            <a:off x="694944" y="2061972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(integer) 0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94944" y="2249424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BITCOUNT active:2026-09-21</a:t>
            </a:r>
          </a:p>
        </p:txBody>
      </p:sp>
      <p:sp>
        <p:nvSpPr>
          <p:cNvPr id="12" name="a1wd310_code11"/>
          <p:cNvSpPr txBox="1"/>
          <p:nvPr/>
        </p:nvSpPr>
        <p:spPr>
          <a:xfrm>
            <a:off x="694944" y="2436876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(integer) 184203</a:t>
            </a:r>
          </a:p>
        </p:txBody>
      </p:sp>
      <p:sp>
        <p:nvSpPr>
          <p:cNvPr id="13" name="a1wd380_code12"/>
          <p:cNvSpPr txBox="1"/>
          <p:nvPr/>
        </p:nvSpPr>
        <p:spPr>
          <a:xfrm>
            <a:off x="694944" y="2624327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BITOP AND wk d1 d2 d3</a:t>
            </a:r>
          </a:p>
        </p:txBody>
      </p:sp>
      <p:sp>
        <p:nvSpPr>
          <p:cNvPr id="14" name="a1wd450_code13"/>
          <p:cNvSpPr txBox="1"/>
          <p:nvPr/>
        </p:nvSpPr>
        <p:spPr>
          <a:xfrm>
            <a:off x="694944" y="2811779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(integer) 1250000</a:t>
            </a:r>
          </a:p>
        </p:txBody>
      </p:sp>
      <p:sp>
        <p:nvSpPr>
          <p:cNvPr id="15" name="a1ud420_td14"/>
          <p:cNvSpPr txBox="1"/>
          <p:nvPr/>
        </p:nvSpPr>
        <p:spPr>
          <a:xfrm>
            <a:off x="603504" y="3227832"/>
            <a:ext cx="235915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10 million customers = 1.2 MB. Daily-active flags, feature toggles, attendance style presence tracking.</a:t>
            </a:r>
          </a:p>
        </p:txBody>
      </p:sp>
      <p:sp>
        <p:nvSpPr>
          <p:cNvPr id="16" name="a2u_card15"/>
          <p:cNvSpPr/>
          <p:nvPr/>
        </p:nvSpPr>
        <p:spPr>
          <a:xfrm>
            <a:off x="3291840" y="1143000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acc16"/>
          <p:cNvSpPr/>
          <p:nvPr/>
        </p:nvSpPr>
        <p:spPr>
          <a:xfrm>
            <a:off x="3291840" y="1143000"/>
            <a:ext cx="2651760" cy="502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40_tn17"/>
          <p:cNvSpPr txBox="1"/>
          <p:nvPr/>
        </p:nvSpPr>
        <p:spPr>
          <a:xfrm>
            <a:off x="3438144" y="1271016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HyperLogLog</a:t>
            </a:r>
          </a:p>
        </p:txBody>
      </p:sp>
      <p:sp>
        <p:nvSpPr>
          <p:cNvPr id="19" name="a2ud60_ts18"/>
          <p:cNvSpPr txBox="1"/>
          <p:nvPr/>
        </p:nvSpPr>
        <p:spPr>
          <a:xfrm>
            <a:off x="3438144" y="1527048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5803D"/>
                </a:solidFill>
                <a:latin typeface="Courier New"/>
              </a:rPr>
              <a:t>Approximate cardinality</a:t>
            </a:r>
          </a:p>
        </p:txBody>
      </p:sp>
      <p:sp>
        <p:nvSpPr>
          <p:cNvPr id="20" name="a2fd100_codebg19"/>
          <p:cNvSpPr/>
          <p:nvPr/>
        </p:nvSpPr>
        <p:spPr>
          <a:xfrm>
            <a:off x="3438144" y="1783080"/>
            <a:ext cx="2359152" cy="1307592"/>
          </a:xfrm>
          <a:prstGeom prst="roundRect">
            <a:avLst>
              <a:gd name="adj" fmla="val 55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100_code20"/>
          <p:cNvSpPr txBox="1"/>
          <p:nvPr/>
        </p:nvSpPr>
        <p:spPr>
          <a:xfrm>
            <a:off x="3529584" y="1874519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PFADD uv:2026-09-21 9003 7711</a:t>
            </a:r>
          </a:p>
        </p:txBody>
      </p:sp>
      <p:sp>
        <p:nvSpPr>
          <p:cNvPr id="22" name="a2wd170_code21"/>
          <p:cNvSpPr txBox="1"/>
          <p:nvPr/>
        </p:nvSpPr>
        <p:spPr>
          <a:xfrm>
            <a:off x="3529584" y="2061972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23" name="a2wd240_code22"/>
          <p:cNvSpPr txBox="1"/>
          <p:nvPr/>
        </p:nvSpPr>
        <p:spPr>
          <a:xfrm>
            <a:off x="3529584" y="2249424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PFCOUNT uv:2026-09-21</a:t>
            </a:r>
          </a:p>
        </p:txBody>
      </p:sp>
      <p:sp>
        <p:nvSpPr>
          <p:cNvPr id="24" name="a2wd310_code23"/>
          <p:cNvSpPr txBox="1"/>
          <p:nvPr/>
        </p:nvSpPr>
        <p:spPr>
          <a:xfrm>
            <a:off x="3529584" y="2436876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(integer) 1842301</a:t>
            </a:r>
          </a:p>
        </p:txBody>
      </p:sp>
      <p:sp>
        <p:nvSpPr>
          <p:cNvPr id="25" name="a2wd380_code24"/>
          <p:cNvSpPr txBox="1"/>
          <p:nvPr/>
        </p:nvSpPr>
        <p:spPr>
          <a:xfrm>
            <a:off x="3529584" y="2624327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PFMERGE uv:week uv:d1 uv:d2</a:t>
            </a:r>
          </a:p>
        </p:txBody>
      </p:sp>
      <p:sp>
        <p:nvSpPr>
          <p:cNvPr id="26" name="a2wd450_code25"/>
          <p:cNvSpPr txBox="1"/>
          <p:nvPr/>
        </p:nvSpPr>
        <p:spPr>
          <a:xfrm>
            <a:off x="3529584" y="2811779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27" name="a2ud420_td26"/>
          <p:cNvSpPr txBox="1"/>
          <p:nvPr/>
        </p:nvSpPr>
        <p:spPr>
          <a:xfrm>
            <a:off x="3438144" y="3227832"/>
            <a:ext cx="235915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Fixed 12 KB whatever the volume, 0.81% standard error. Unique visitors, unique cards used - when the exact number does not matter.</a:t>
            </a:r>
          </a:p>
        </p:txBody>
      </p:sp>
      <p:sp>
        <p:nvSpPr>
          <p:cNvPr id="28" name="a3u_card27"/>
          <p:cNvSpPr/>
          <p:nvPr/>
        </p:nvSpPr>
        <p:spPr>
          <a:xfrm>
            <a:off x="6126480" y="1143000"/>
            <a:ext cx="2651760" cy="3154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acc28"/>
          <p:cNvSpPr/>
          <p:nvPr/>
        </p:nvSpPr>
        <p:spPr>
          <a:xfrm>
            <a:off x="6126480" y="1143000"/>
            <a:ext cx="265176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d40_tn29"/>
          <p:cNvSpPr txBox="1"/>
          <p:nvPr/>
        </p:nvSpPr>
        <p:spPr>
          <a:xfrm>
            <a:off x="6272784" y="1271016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Geospatial</a:t>
            </a:r>
          </a:p>
        </p:txBody>
      </p:sp>
      <p:sp>
        <p:nvSpPr>
          <p:cNvPr id="31" name="a3ud60_ts30"/>
          <p:cNvSpPr txBox="1"/>
          <p:nvPr/>
        </p:nvSpPr>
        <p:spPr>
          <a:xfrm>
            <a:off x="6272784" y="1527048"/>
            <a:ext cx="23591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ourier New"/>
              </a:rPr>
              <a:t>Coordinates + radius search</a:t>
            </a:r>
          </a:p>
        </p:txBody>
      </p:sp>
      <p:sp>
        <p:nvSpPr>
          <p:cNvPr id="32" name="a3fd100_codebg31"/>
          <p:cNvSpPr/>
          <p:nvPr/>
        </p:nvSpPr>
        <p:spPr>
          <a:xfrm>
            <a:off x="6272784" y="1783080"/>
            <a:ext cx="2359152" cy="1120139"/>
          </a:xfrm>
          <a:prstGeom prst="roundRect">
            <a:avLst>
              <a:gd name="adj" fmla="val 65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100_code32"/>
          <p:cNvSpPr txBox="1"/>
          <p:nvPr/>
        </p:nvSpPr>
        <p:spPr>
          <a:xfrm>
            <a:off x="6364224" y="1874519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GEOADD atms 72.87 19.07 ATM-14</a:t>
            </a:r>
          </a:p>
        </p:txBody>
      </p:sp>
      <p:sp>
        <p:nvSpPr>
          <p:cNvPr id="34" name="a3wd170_code33"/>
          <p:cNvSpPr txBox="1"/>
          <p:nvPr/>
        </p:nvSpPr>
        <p:spPr>
          <a:xfrm>
            <a:off x="6364224" y="2061972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35" name="a3wd240_code34"/>
          <p:cNvSpPr txBox="1"/>
          <p:nvPr/>
        </p:nvSpPr>
        <p:spPr>
          <a:xfrm>
            <a:off x="6364224" y="2249424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C4B5FD"/>
                </a:solidFill>
                <a:latin typeface="Courier New"/>
              </a:rPr>
              <a:t>GEOSEARCH atms FROMLONLAT \</a:t>
            </a:r>
          </a:p>
        </p:txBody>
      </p:sp>
      <p:sp>
        <p:nvSpPr>
          <p:cNvPr id="36" name="a3wd310_code35"/>
          <p:cNvSpPr txBox="1"/>
          <p:nvPr/>
        </p:nvSpPr>
        <p:spPr>
          <a:xfrm>
            <a:off x="6364224" y="2436876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  <a:latin typeface="Courier New"/>
              </a:rPr>
              <a:t>  72.88 19.08 BYRADIUS 3 km ASC</a:t>
            </a:r>
          </a:p>
        </p:txBody>
      </p:sp>
      <p:sp>
        <p:nvSpPr>
          <p:cNvPr id="37" name="a3wd380_code36"/>
          <p:cNvSpPr txBox="1"/>
          <p:nvPr/>
        </p:nvSpPr>
        <p:spPr>
          <a:xfrm>
            <a:off x="6364224" y="2624327"/>
            <a:ext cx="21762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14B8A6"/>
                </a:solidFill>
                <a:latin typeface="Courier New"/>
              </a:rPr>
              <a:t>  1) "ATM-14"</a:t>
            </a:r>
          </a:p>
        </p:txBody>
      </p:sp>
      <p:sp>
        <p:nvSpPr>
          <p:cNvPr id="38" name="a3ud420_td37"/>
          <p:cNvSpPr txBox="1"/>
          <p:nvPr/>
        </p:nvSpPr>
        <p:spPr>
          <a:xfrm>
            <a:off x="6272784" y="3227832"/>
            <a:ext cx="235915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Built on a sorted set with geohash scores. Nearest ATM or branch, merchant proximity offers, fraud distance checks.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Streams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 append-only log inside Redis - the type that overlaps with Kafka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754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ENTRIES, EACH WITH A TIME-ORDERED ID</a:t>
            </a:r>
          </a:p>
        </p:txBody>
      </p:sp>
      <p:sp>
        <p:nvSpPr>
          <p:cNvPr id="6" name="a1w_eb5"/>
          <p:cNvSpPr/>
          <p:nvPr/>
        </p:nvSpPr>
        <p:spPr>
          <a:xfrm>
            <a:off x="658368" y="154533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_et6"/>
          <p:cNvSpPr txBox="1"/>
          <p:nvPr/>
        </p:nvSpPr>
        <p:spPr>
          <a:xfrm>
            <a:off x="713232" y="1545336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ourier New"/>
              </a:rPr>
              <a:t>1758...-0</a:t>
            </a:r>
          </a:p>
        </p:txBody>
      </p:sp>
      <p:sp>
        <p:nvSpPr>
          <p:cNvPr id="8" name="a1wd50_bb7"/>
          <p:cNvSpPr/>
          <p:nvPr/>
        </p:nvSpPr>
        <p:spPr>
          <a:xfrm>
            <a:off x="1920240" y="1545336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50_bt8"/>
          <p:cNvSpPr txBox="1"/>
          <p:nvPr/>
        </p:nvSpPr>
        <p:spPr>
          <a:xfrm>
            <a:off x="1993392" y="1545336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acct=9003 amt=2500 type=debit</a:t>
            </a:r>
          </a:p>
        </p:txBody>
      </p:sp>
      <p:sp>
        <p:nvSpPr>
          <p:cNvPr id="10" name="a1wd100_eb9"/>
          <p:cNvSpPr/>
          <p:nvPr/>
        </p:nvSpPr>
        <p:spPr>
          <a:xfrm>
            <a:off x="658368" y="1874519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00_et10"/>
          <p:cNvSpPr txBox="1"/>
          <p:nvPr/>
        </p:nvSpPr>
        <p:spPr>
          <a:xfrm>
            <a:off x="713232" y="1874519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ourier New"/>
              </a:rPr>
              <a:t>1758...-1</a:t>
            </a:r>
          </a:p>
        </p:txBody>
      </p:sp>
      <p:sp>
        <p:nvSpPr>
          <p:cNvPr id="12" name="a1wd150_bb11"/>
          <p:cNvSpPr/>
          <p:nvPr/>
        </p:nvSpPr>
        <p:spPr>
          <a:xfrm>
            <a:off x="1920240" y="1874519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50_bt12"/>
          <p:cNvSpPr txBox="1"/>
          <p:nvPr/>
        </p:nvSpPr>
        <p:spPr>
          <a:xfrm>
            <a:off x="1993392" y="1874519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acct=7711 amt=18000 type=credit</a:t>
            </a:r>
          </a:p>
        </p:txBody>
      </p:sp>
      <p:sp>
        <p:nvSpPr>
          <p:cNvPr id="14" name="a1wd200_eb13"/>
          <p:cNvSpPr/>
          <p:nvPr/>
        </p:nvSpPr>
        <p:spPr>
          <a:xfrm>
            <a:off x="658368" y="220370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200_et14"/>
          <p:cNvSpPr txBox="1"/>
          <p:nvPr/>
        </p:nvSpPr>
        <p:spPr>
          <a:xfrm>
            <a:off x="713232" y="22037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ourier New"/>
              </a:rPr>
              <a:t>1758...-2</a:t>
            </a:r>
          </a:p>
        </p:txBody>
      </p:sp>
      <p:sp>
        <p:nvSpPr>
          <p:cNvPr id="16" name="a1wd250_bb15"/>
          <p:cNvSpPr/>
          <p:nvPr/>
        </p:nvSpPr>
        <p:spPr>
          <a:xfrm>
            <a:off x="1920240" y="2203704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250_bt16"/>
          <p:cNvSpPr txBox="1"/>
          <p:nvPr/>
        </p:nvSpPr>
        <p:spPr>
          <a:xfrm>
            <a:off x="1993392" y="220370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acct=9003 amt=450 type=debit</a:t>
            </a:r>
          </a:p>
        </p:txBody>
      </p:sp>
      <p:sp>
        <p:nvSpPr>
          <p:cNvPr id="18" name="a1fd400_cap17"/>
          <p:cNvSpPr txBox="1"/>
          <p:nvPr/>
        </p:nvSpPr>
        <p:spPr>
          <a:xfrm>
            <a:off x="640080" y="256946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IDs are milliseconds-sequence, so they are monotonic and you can range-scan by time.</a:t>
            </a:r>
          </a:p>
        </p:txBody>
      </p:sp>
      <p:sp>
        <p:nvSpPr>
          <p:cNvPr id="19" name="a2f_codebg18"/>
          <p:cNvSpPr/>
          <p:nvPr/>
        </p:nvSpPr>
        <p:spPr>
          <a:xfrm>
            <a:off x="5394960" y="1143000"/>
            <a:ext cx="3291840" cy="2414015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codeh19"/>
          <p:cNvSpPr txBox="1"/>
          <p:nvPr/>
        </p:nvSpPr>
        <p:spPr>
          <a:xfrm>
            <a:off x="5559552" y="1197864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streams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5559552" y="1581912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XADD txn:stream * acct 9003 \</a:t>
            </a:r>
          </a:p>
        </p:txBody>
      </p:sp>
      <p:sp>
        <p:nvSpPr>
          <p:cNvPr id="22" name="a2wd90_code21"/>
          <p:cNvSpPr txBox="1"/>
          <p:nvPr/>
        </p:nvSpPr>
        <p:spPr>
          <a:xfrm>
            <a:off x="5559552" y="1783080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amt 2500 type debit</a:t>
            </a:r>
          </a:p>
        </p:txBody>
      </p:sp>
      <p:sp>
        <p:nvSpPr>
          <p:cNvPr id="23" name="a2wd180_code22"/>
          <p:cNvSpPr txBox="1"/>
          <p:nvPr/>
        </p:nvSpPr>
        <p:spPr>
          <a:xfrm>
            <a:off x="5559552" y="1984248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"1758412800123-0"</a:t>
            </a:r>
          </a:p>
        </p:txBody>
      </p:sp>
      <p:sp>
        <p:nvSpPr>
          <p:cNvPr id="24" name="a2wd270_code23"/>
          <p:cNvSpPr txBox="1"/>
          <p:nvPr/>
        </p:nvSpPr>
        <p:spPr>
          <a:xfrm>
            <a:off x="5559552" y="2185416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XLEN txn:stream</a:t>
            </a:r>
          </a:p>
        </p:txBody>
      </p:sp>
      <p:sp>
        <p:nvSpPr>
          <p:cNvPr id="25" name="a2wd360_code24"/>
          <p:cNvSpPr txBox="1"/>
          <p:nvPr/>
        </p:nvSpPr>
        <p:spPr>
          <a:xfrm>
            <a:off x="5559552" y="2386584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(integer) 3</a:t>
            </a:r>
          </a:p>
        </p:txBody>
      </p:sp>
      <p:sp>
        <p:nvSpPr>
          <p:cNvPr id="26" name="a2wd450_code25"/>
          <p:cNvSpPr txBox="1"/>
          <p:nvPr/>
        </p:nvSpPr>
        <p:spPr>
          <a:xfrm>
            <a:off x="5559552" y="2587752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XGROUP CREATE txn:stream fraud $</a:t>
            </a:r>
          </a:p>
        </p:txBody>
      </p:sp>
      <p:sp>
        <p:nvSpPr>
          <p:cNvPr id="27" name="a2wd540_code26"/>
          <p:cNvSpPr txBox="1"/>
          <p:nvPr/>
        </p:nvSpPr>
        <p:spPr>
          <a:xfrm>
            <a:off x="5559552" y="2788920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28" name="a2wd630_code27"/>
          <p:cNvSpPr txBox="1"/>
          <p:nvPr/>
        </p:nvSpPr>
        <p:spPr>
          <a:xfrm>
            <a:off x="5559552" y="2990088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XREADGROUP GROUP fraud w1 \</a:t>
            </a:r>
          </a:p>
        </p:txBody>
      </p:sp>
      <p:sp>
        <p:nvSpPr>
          <p:cNvPr id="29" name="a2wd720_code28"/>
          <p:cNvSpPr txBox="1"/>
          <p:nvPr/>
        </p:nvSpPr>
        <p:spPr>
          <a:xfrm>
            <a:off x="5559552" y="3191256"/>
            <a:ext cx="296265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COUNT 10 STREAMS txn:stream &gt;</a:t>
            </a:r>
          </a:p>
        </p:txBody>
      </p:sp>
      <p:sp>
        <p:nvSpPr>
          <p:cNvPr id="30" name="a3f_th29"/>
          <p:cNvSpPr/>
          <p:nvPr/>
        </p:nvSpPr>
        <p:spPr>
          <a:xfrm>
            <a:off x="457200" y="3063240"/>
            <a:ext cx="1554480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tht30"/>
          <p:cNvSpPr txBox="1"/>
          <p:nvPr/>
        </p:nvSpPr>
        <p:spPr>
          <a:xfrm>
            <a:off x="530352" y="3063240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a3wd130_td31"/>
          <p:cNvSpPr/>
          <p:nvPr/>
        </p:nvSpPr>
        <p:spPr>
          <a:xfrm>
            <a:off x="457200" y="3392424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130_tdt32"/>
          <p:cNvSpPr txBox="1"/>
          <p:nvPr/>
        </p:nvSpPr>
        <p:spPr>
          <a:xfrm>
            <a:off x="530352" y="3392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Storage</a:t>
            </a:r>
          </a:p>
        </p:txBody>
      </p:sp>
      <p:sp>
        <p:nvSpPr>
          <p:cNvPr id="34" name="a3wd260_td33"/>
          <p:cNvSpPr/>
          <p:nvPr/>
        </p:nvSpPr>
        <p:spPr>
          <a:xfrm>
            <a:off x="457200" y="372160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wd260_tdt34"/>
          <p:cNvSpPr txBox="1"/>
          <p:nvPr/>
        </p:nvSpPr>
        <p:spPr>
          <a:xfrm>
            <a:off x="530352" y="3721608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Offline consumer</a:t>
            </a:r>
          </a:p>
        </p:txBody>
      </p:sp>
      <p:sp>
        <p:nvSpPr>
          <p:cNvPr id="36" name="a3wd390_td35"/>
          <p:cNvSpPr/>
          <p:nvPr/>
        </p:nvSpPr>
        <p:spPr>
          <a:xfrm>
            <a:off x="457200" y="4050791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wd390_tdt36"/>
          <p:cNvSpPr txBox="1"/>
          <p:nvPr/>
        </p:nvSpPr>
        <p:spPr>
          <a:xfrm>
            <a:off x="530352" y="4050791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Replay</a:t>
            </a:r>
          </a:p>
        </p:txBody>
      </p:sp>
      <p:sp>
        <p:nvSpPr>
          <p:cNvPr id="38" name="a3wd520_td37"/>
          <p:cNvSpPr/>
          <p:nvPr/>
        </p:nvSpPr>
        <p:spPr>
          <a:xfrm>
            <a:off x="457200" y="4379976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wd520_tdt38"/>
          <p:cNvSpPr txBox="1"/>
          <p:nvPr/>
        </p:nvSpPr>
        <p:spPr>
          <a:xfrm>
            <a:off x="530352" y="4379976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Scale-out</a:t>
            </a:r>
          </a:p>
        </p:txBody>
      </p:sp>
      <p:sp>
        <p:nvSpPr>
          <p:cNvPr id="40" name="a3f_th39"/>
          <p:cNvSpPr/>
          <p:nvPr/>
        </p:nvSpPr>
        <p:spPr>
          <a:xfrm>
            <a:off x="2011680" y="3063240"/>
            <a:ext cx="3291840" cy="3291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f_tht40"/>
          <p:cNvSpPr txBox="1"/>
          <p:nvPr/>
        </p:nvSpPr>
        <p:spPr>
          <a:xfrm>
            <a:off x="2084832" y="3063240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Pub/Sub</a:t>
            </a:r>
          </a:p>
        </p:txBody>
      </p:sp>
      <p:sp>
        <p:nvSpPr>
          <p:cNvPr id="42" name="a3wd130_td41"/>
          <p:cNvSpPr/>
          <p:nvPr/>
        </p:nvSpPr>
        <p:spPr>
          <a:xfrm>
            <a:off x="2011680" y="3392424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wd130_tdt42"/>
          <p:cNvSpPr txBox="1"/>
          <p:nvPr/>
        </p:nvSpPr>
        <p:spPr>
          <a:xfrm>
            <a:off x="2084832" y="3392424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None - fire and forget</a:t>
            </a:r>
          </a:p>
        </p:txBody>
      </p:sp>
      <p:sp>
        <p:nvSpPr>
          <p:cNvPr id="44" name="a3wd260_td43"/>
          <p:cNvSpPr/>
          <p:nvPr/>
        </p:nvSpPr>
        <p:spPr>
          <a:xfrm>
            <a:off x="2011680" y="3721608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wd260_tdt44"/>
          <p:cNvSpPr txBox="1"/>
          <p:nvPr/>
        </p:nvSpPr>
        <p:spPr>
          <a:xfrm>
            <a:off x="2084832" y="3721608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Misses every message</a:t>
            </a:r>
          </a:p>
        </p:txBody>
      </p:sp>
      <p:sp>
        <p:nvSpPr>
          <p:cNvPr id="46" name="a3wd390_td45"/>
          <p:cNvSpPr/>
          <p:nvPr/>
        </p:nvSpPr>
        <p:spPr>
          <a:xfrm>
            <a:off x="2011680" y="4050791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wd390_tdt46"/>
          <p:cNvSpPr txBox="1"/>
          <p:nvPr/>
        </p:nvSpPr>
        <p:spPr>
          <a:xfrm>
            <a:off x="2084832" y="4050791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Impossible</a:t>
            </a:r>
          </a:p>
        </p:txBody>
      </p:sp>
      <p:sp>
        <p:nvSpPr>
          <p:cNvPr id="48" name="a3wd520_td47"/>
          <p:cNvSpPr/>
          <p:nvPr/>
        </p:nvSpPr>
        <p:spPr>
          <a:xfrm>
            <a:off x="2011680" y="4379976"/>
            <a:ext cx="3291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wd520_tdt48"/>
          <p:cNvSpPr txBox="1"/>
          <p:nvPr/>
        </p:nvSpPr>
        <p:spPr>
          <a:xfrm>
            <a:off x="2084832" y="4379976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Every subscriber gets everything</a:t>
            </a:r>
          </a:p>
        </p:txBody>
      </p:sp>
      <p:sp>
        <p:nvSpPr>
          <p:cNvPr id="50" name="a3f_th49"/>
          <p:cNvSpPr/>
          <p:nvPr/>
        </p:nvSpPr>
        <p:spPr>
          <a:xfrm>
            <a:off x="5303520" y="3063240"/>
            <a:ext cx="3383280" cy="3291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3f_tht50"/>
          <p:cNvSpPr txBox="1"/>
          <p:nvPr/>
        </p:nvSpPr>
        <p:spPr>
          <a:xfrm>
            <a:off x="5376672" y="3063240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sp>
        <p:nvSpPr>
          <p:cNvPr id="52" name="a3wd130_td51"/>
          <p:cNvSpPr/>
          <p:nvPr/>
        </p:nvSpPr>
        <p:spPr>
          <a:xfrm>
            <a:off x="5303520" y="3392424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3wd130_tdt52"/>
          <p:cNvSpPr txBox="1"/>
          <p:nvPr/>
        </p:nvSpPr>
        <p:spPr>
          <a:xfrm>
            <a:off x="5376672" y="3392424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Persisted until trimmed</a:t>
            </a:r>
          </a:p>
        </p:txBody>
      </p:sp>
      <p:sp>
        <p:nvSpPr>
          <p:cNvPr id="54" name="a3wd260_td53"/>
          <p:cNvSpPr/>
          <p:nvPr/>
        </p:nvSpPr>
        <p:spPr>
          <a:xfrm>
            <a:off x="5303520" y="3721608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3wd260_tdt54"/>
          <p:cNvSpPr txBox="1"/>
          <p:nvPr/>
        </p:nvSpPr>
        <p:spPr>
          <a:xfrm>
            <a:off x="5376672" y="3721608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Reads from where it stopped</a:t>
            </a:r>
          </a:p>
        </p:txBody>
      </p:sp>
      <p:sp>
        <p:nvSpPr>
          <p:cNvPr id="56" name="a3wd390_td55"/>
          <p:cNvSpPr/>
          <p:nvPr/>
        </p:nvSpPr>
        <p:spPr>
          <a:xfrm>
            <a:off x="5303520" y="4050791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wd390_tdt56"/>
          <p:cNvSpPr txBox="1"/>
          <p:nvPr/>
        </p:nvSpPr>
        <p:spPr>
          <a:xfrm>
            <a:off x="5376672" y="4050791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XRANGE over any time window</a:t>
            </a:r>
          </a:p>
        </p:txBody>
      </p:sp>
      <p:sp>
        <p:nvSpPr>
          <p:cNvPr id="58" name="a3wd520_td57"/>
          <p:cNvSpPr/>
          <p:nvPr/>
        </p:nvSpPr>
        <p:spPr>
          <a:xfrm>
            <a:off x="5303520" y="4379976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wd520_tdt58"/>
          <p:cNvSpPr txBox="1"/>
          <p:nvPr/>
        </p:nvSpPr>
        <p:spPr>
          <a:xfrm>
            <a:off x="5376672" y="4379976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Consumer groups split the work</a:t>
            </a:r>
          </a:p>
        </p:txBody>
      </p:sp>
      <p:sp>
        <p:nvSpPr>
          <p:cNvPr id="60" name="ft5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Redis Stack Modules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Extra types you get with Redis Stack or Redis Enterprise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2"/>
            <a:ext cx="19065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0432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4708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RedisJSON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2140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JSON.SET / JSON.GET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Native JSON documents with path queries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Update one nested field atomically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No more serialise-modify-write cycles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70432"/>
            <a:ext cx="19065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acc13"/>
          <p:cNvSpPr/>
          <p:nvPr/>
        </p:nvSpPr>
        <p:spPr>
          <a:xfrm>
            <a:off x="2564892" y="1170432"/>
            <a:ext cx="190652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14"/>
          <p:cNvSpPr/>
          <p:nvPr/>
        </p:nvSpPr>
        <p:spPr>
          <a:xfrm>
            <a:off x="2729484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4708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RediSearch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12140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FT.CREATE / FT.SEARCH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Secondary indexes and full-text search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Query hashes or JSON by any field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Aggregations, filters, fuzzy matching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70432"/>
            <a:ext cx="19065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acc22"/>
          <p:cNvSpPr/>
          <p:nvPr/>
        </p:nvSpPr>
        <p:spPr>
          <a:xfrm>
            <a:off x="4672584" y="1170432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d60_ic23"/>
          <p:cNvSpPr/>
          <p:nvPr/>
        </p:nvSpPr>
        <p:spPr>
          <a:xfrm>
            <a:off x="4837176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4708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TimeSeries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12140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TS.ADD / TS.RANGE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Timestamped samples with retention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837176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Downsampling and compaction rules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Latency and throughput metrics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70432"/>
            <a:ext cx="190652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u_acc31"/>
          <p:cNvSpPr/>
          <p:nvPr/>
        </p:nvSpPr>
        <p:spPr>
          <a:xfrm>
            <a:off x="6780276" y="1170432"/>
            <a:ext cx="1906524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d60_ic32"/>
          <p:cNvSpPr/>
          <p:nvPr/>
        </p:nvSpPr>
        <p:spPr>
          <a:xfrm>
            <a:off x="6944868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4708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Bloom / Vector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12140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BF.ADD / VSIM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Probabilistic membership in tiny memory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Vector similarity for AI retrieval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Fraud pre-screening, semantic search</a:t>
            </a:r>
          </a:p>
        </p:txBody>
      </p:sp>
      <p:sp>
        <p:nvSpPr>
          <p:cNvPr id="40" name="a5u_nb39"/>
          <p:cNvSpPr/>
          <p:nvPr/>
        </p:nvSpPr>
        <p:spPr>
          <a:xfrm>
            <a:off x="457200" y="30906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5u_nacc40"/>
          <p:cNvSpPr/>
          <p:nvPr/>
        </p:nvSpPr>
        <p:spPr>
          <a:xfrm>
            <a:off x="457200" y="3090672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5u_nt41"/>
          <p:cNvSpPr txBox="1"/>
          <p:nvPr/>
        </p:nvSpPr>
        <p:spPr>
          <a:xfrm>
            <a:off x="658368" y="309067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These need Redis Stack or Enterprise. Redis CE - what the labs install - does not have them. Mentioned here so you recognise the command prefixes when you meet them; they are out of scope for the exercises.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Choosing the Right Type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Answer the question on the left, take the type on the right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931920" cy="31089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If you need to...</a:t>
            </a:r>
          </a:p>
        </p:txBody>
      </p:sp>
      <p:sp>
        <p:nvSpPr>
          <p:cNvPr id="6" name="a1wd85_td5"/>
          <p:cNvSpPr/>
          <p:nvPr/>
        </p:nvSpPr>
        <p:spPr>
          <a:xfrm>
            <a:off x="457200" y="1453896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5_tdt6"/>
          <p:cNvSpPr txBox="1"/>
          <p:nvPr/>
        </p:nvSpPr>
        <p:spPr>
          <a:xfrm>
            <a:off x="530352" y="145389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Store one value against one key</a:t>
            </a:r>
          </a:p>
        </p:txBody>
      </p:sp>
      <p:sp>
        <p:nvSpPr>
          <p:cNvPr id="8" name="a1wd170_td7"/>
          <p:cNvSpPr/>
          <p:nvPr/>
        </p:nvSpPr>
        <p:spPr>
          <a:xfrm>
            <a:off x="457200" y="1764792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70_tdt8"/>
          <p:cNvSpPr txBox="1"/>
          <p:nvPr/>
        </p:nvSpPr>
        <p:spPr>
          <a:xfrm>
            <a:off x="530352" y="176479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Store a record with named fields</a:t>
            </a:r>
          </a:p>
        </p:txBody>
      </p:sp>
      <p:sp>
        <p:nvSpPr>
          <p:cNvPr id="10" name="a1wd255_td9"/>
          <p:cNvSpPr/>
          <p:nvPr/>
        </p:nvSpPr>
        <p:spPr>
          <a:xfrm>
            <a:off x="457200" y="2075688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55_tdt10"/>
          <p:cNvSpPr txBox="1"/>
          <p:nvPr/>
        </p:nvSpPr>
        <p:spPr>
          <a:xfrm>
            <a:off x="530352" y="2075688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Keep things in insertion order</a:t>
            </a:r>
          </a:p>
        </p:txBody>
      </p:sp>
      <p:sp>
        <p:nvSpPr>
          <p:cNvPr id="12" name="a1wd340_td11"/>
          <p:cNvSpPr/>
          <p:nvPr/>
        </p:nvSpPr>
        <p:spPr>
          <a:xfrm>
            <a:off x="457200" y="2386584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40_tdt12"/>
          <p:cNvSpPr txBox="1"/>
          <p:nvPr/>
        </p:nvSpPr>
        <p:spPr>
          <a:xfrm>
            <a:off x="530352" y="238658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Guarantee uniqueness, test membership</a:t>
            </a:r>
          </a:p>
        </p:txBody>
      </p:sp>
      <p:sp>
        <p:nvSpPr>
          <p:cNvPr id="14" name="a1wd425_td13"/>
          <p:cNvSpPr/>
          <p:nvPr/>
        </p:nvSpPr>
        <p:spPr>
          <a:xfrm>
            <a:off x="457200" y="2697480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25_tdt14"/>
          <p:cNvSpPr txBox="1"/>
          <p:nvPr/>
        </p:nvSpPr>
        <p:spPr>
          <a:xfrm>
            <a:off x="530352" y="269748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Keep things ranked by a number</a:t>
            </a:r>
          </a:p>
        </p:txBody>
      </p:sp>
      <p:sp>
        <p:nvSpPr>
          <p:cNvPr id="16" name="a1wd510_td15"/>
          <p:cNvSpPr/>
          <p:nvPr/>
        </p:nvSpPr>
        <p:spPr>
          <a:xfrm>
            <a:off x="457200" y="3008376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10_tdt16"/>
          <p:cNvSpPr txBox="1"/>
          <p:nvPr/>
        </p:nvSpPr>
        <p:spPr>
          <a:xfrm>
            <a:off x="530352" y="300837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Count uniques over millions of items</a:t>
            </a:r>
          </a:p>
        </p:txBody>
      </p:sp>
      <p:sp>
        <p:nvSpPr>
          <p:cNvPr id="18" name="a1wd595_td17"/>
          <p:cNvSpPr/>
          <p:nvPr/>
        </p:nvSpPr>
        <p:spPr>
          <a:xfrm>
            <a:off x="457200" y="3319272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95_tdt18"/>
          <p:cNvSpPr txBox="1"/>
          <p:nvPr/>
        </p:nvSpPr>
        <p:spPr>
          <a:xfrm>
            <a:off x="530352" y="331927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Flag yes/no per entity at scale</a:t>
            </a:r>
          </a:p>
        </p:txBody>
      </p:sp>
      <p:sp>
        <p:nvSpPr>
          <p:cNvPr id="20" name="a1wd680_td19"/>
          <p:cNvSpPr/>
          <p:nvPr/>
        </p:nvSpPr>
        <p:spPr>
          <a:xfrm>
            <a:off x="457200" y="3630168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80_tdt20"/>
          <p:cNvSpPr txBox="1"/>
          <p:nvPr/>
        </p:nvSpPr>
        <p:spPr>
          <a:xfrm>
            <a:off x="530352" y="3630168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Replay events, multiple consumers</a:t>
            </a:r>
          </a:p>
        </p:txBody>
      </p:sp>
      <p:sp>
        <p:nvSpPr>
          <p:cNvPr id="22" name="a1wd765_td21"/>
          <p:cNvSpPr/>
          <p:nvPr/>
        </p:nvSpPr>
        <p:spPr>
          <a:xfrm>
            <a:off x="457200" y="3941064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765_tdt22"/>
          <p:cNvSpPr txBox="1"/>
          <p:nvPr/>
        </p:nvSpPr>
        <p:spPr>
          <a:xfrm>
            <a:off x="530352" y="394106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Find things near a point</a:t>
            </a:r>
          </a:p>
        </p:txBody>
      </p:sp>
      <p:sp>
        <p:nvSpPr>
          <p:cNvPr id="24" name="a1f_th23"/>
          <p:cNvSpPr/>
          <p:nvPr/>
        </p:nvSpPr>
        <p:spPr>
          <a:xfrm>
            <a:off x="4389120" y="1143000"/>
            <a:ext cx="1417320" cy="310896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4462272" y="1143000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Use</a:t>
            </a:r>
          </a:p>
        </p:txBody>
      </p:sp>
      <p:sp>
        <p:nvSpPr>
          <p:cNvPr id="26" name="a1wd85_td25"/>
          <p:cNvSpPr/>
          <p:nvPr/>
        </p:nvSpPr>
        <p:spPr>
          <a:xfrm>
            <a:off x="4389120" y="1453896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85_tdt26"/>
          <p:cNvSpPr txBox="1"/>
          <p:nvPr/>
        </p:nvSpPr>
        <p:spPr>
          <a:xfrm>
            <a:off x="4462272" y="1453896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</a:t>
            </a:r>
          </a:p>
        </p:txBody>
      </p:sp>
      <p:sp>
        <p:nvSpPr>
          <p:cNvPr id="28" name="a1wd170_td27"/>
          <p:cNvSpPr/>
          <p:nvPr/>
        </p:nvSpPr>
        <p:spPr>
          <a:xfrm>
            <a:off x="4389120" y="1764792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170_tdt28"/>
          <p:cNvSpPr txBox="1"/>
          <p:nvPr/>
        </p:nvSpPr>
        <p:spPr>
          <a:xfrm>
            <a:off x="4462272" y="1764792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Hash</a:t>
            </a:r>
          </a:p>
        </p:txBody>
      </p:sp>
      <p:sp>
        <p:nvSpPr>
          <p:cNvPr id="30" name="a1wd255_td29"/>
          <p:cNvSpPr/>
          <p:nvPr/>
        </p:nvSpPr>
        <p:spPr>
          <a:xfrm>
            <a:off x="4389120" y="2075688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255_tdt30"/>
          <p:cNvSpPr txBox="1"/>
          <p:nvPr/>
        </p:nvSpPr>
        <p:spPr>
          <a:xfrm>
            <a:off x="4462272" y="2075688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</a:t>
            </a:r>
          </a:p>
        </p:txBody>
      </p:sp>
      <p:sp>
        <p:nvSpPr>
          <p:cNvPr id="32" name="a1wd340_td31"/>
          <p:cNvSpPr/>
          <p:nvPr/>
        </p:nvSpPr>
        <p:spPr>
          <a:xfrm>
            <a:off x="4389120" y="2386584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40_tdt32"/>
          <p:cNvSpPr txBox="1"/>
          <p:nvPr/>
        </p:nvSpPr>
        <p:spPr>
          <a:xfrm>
            <a:off x="4462272" y="2386584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Set</a:t>
            </a:r>
          </a:p>
        </p:txBody>
      </p:sp>
      <p:sp>
        <p:nvSpPr>
          <p:cNvPr id="34" name="a1wd425_td33"/>
          <p:cNvSpPr/>
          <p:nvPr/>
        </p:nvSpPr>
        <p:spPr>
          <a:xfrm>
            <a:off x="4389120" y="2697480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425_tdt34"/>
          <p:cNvSpPr txBox="1"/>
          <p:nvPr/>
        </p:nvSpPr>
        <p:spPr>
          <a:xfrm>
            <a:off x="4462272" y="2697480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Sorted Set</a:t>
            </a:r>
          </a:p>
        </p:txBody>
      </p:sp>
      <p:sp>
        <p:nvSpPr>
          <p:cNvPr id="36" name="a1wd510_td35"/>
          <p:cNvSpPr/>
          <p:nvPr/>
        </p:nvSpPr>
        <p:spPr>
          <a:xfrm>
            <a:off x="4389120" y="3008376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10_tdt36"/>
          <p:cNvSpPr txBox="1"/>
          <p:nvPr/>
        </p:nvSpPr>
        <p:spPr>
          <a:xfrm>
            <a:off x="4462272" y="3008376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HyperLogLog</a:t>
            </a:r>
          </a:p>
        </p:txBody>
      </p:sp>
      <p:sp>
        <p:nvSpPr>
          <p:cNvPr id="38" name="a1wd595_td37"/>
          <p:cNvSpPr/>
          <p:nvPr/>
        </p:nvSpPr>
        <p:spPr>
          <a:xfrm>
            <a:off x="4389120" y="3319272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95_tdt38"/>
          <p:cNvSpPr txBox="1"/>
          <p:nvPr/>
        </p:nvSpPr>
        <p:spPr>
          <a:xfrm>
            <a:off x="4462272" y="3319272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Bitmap</a:t>
            </a:r>
          </a:p>
        </p:txBody>
      </p:sp>
      <p:sp>
        <p:nvSpPr>
          <p:cNvPr id="40" name="a1wd680_td39"/>
          <p:cNvSpPr/>
          <p:nvPr/>
        </p:nvSpPr>
        <p:spPr>
          <a:xfrm>
            <a:off x="4389120" y="3630168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680_tdt40"/>
          <p:cNvSpPr txBox="1"/>
          <p:nvPr/>
        </p:nvSpPr>
        <p:spPr>
          <a:xfrm>
            <a:off x="4462272" y="3630168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Stream</a:t>
            </a:r>
          </a:p>
        </p:txBody>
      </p:sp>
      <p:sp>
        <p:nvSpPr>
          <p:cNvPr id="42" name="a1wd765_td41"/>
          <p:cNvSpPr/>
          <p:nvPr/>
        </p:nvSpPr>
        <p:spPr>
          <a:xfrm>
            <a:off x="4389120" y="3941064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765_tdt42"/>
          <p:cNvSpPr txBox="1"/>
          <p:nvPr/>
        </p:nvSpPr>
        <p:spPr>
          <a:xfrm>
            <a:off x="4462272" y="3941064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Geospatial</a:t>
            </a:r>
          </a:p>
        </p:txBody>
      </p:sp>
      <p:sp>
        <p:nvSpPr>
          <p:cNvPr id="44" name="a1f_th43"/>
          <p:cNvSpPr/>
          <p:nvPr/>
        </p:nvSpPr>
        <p:spPr>
          <a:xfrm>
            <a:off x="5806440" y="1143000"/>
            <a:ext cx="288036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f_tht44"/>
          <p:cNvSpPr txBox="1"/>
          <p:nvPr/>
        </p:nvSpPr>
        <p:spPr>
          <a:xfrm>
            <a:off x="5879592" y="11430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Because</a:t>
            </a:r>
          </a:p>
        </p:txBody>
      </p:sp>
      <p:sp>
        <p:nvSpPr>
          <p:cNvPr id="46" name="a1wd85_td45"/>
          <p:cNvSpPr/>
          <p:nvPr/>
        </p:nvSpPr>
        <p:spPr>
          <a:xfrm>
            <a:off x="5806440" y="1453896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85_tdt46"/>
          <p:cNvSpPr txBox="1"/>
          <p:nvPr/>
        </p:nvSpPr>
        <p:spPr>
          <a:xfrm>
            <a:off x="5879592" y="145389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Simplest, cheapest, fastest</a:t>
            </a:r>
          </a:p>
        </p:txBody>
      </p:sp>
      <p:sp>
        <p:nvSpPr>
          <p:cNvPr id="48" name="a1wd170_td47"/>
          <p:cNvSpPr/>
          <p:nvPr/>
        </p:nvSpPr>
        <p:spPr>
          <a:xfrm>
            <a:off x="5806440" y="1764792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70_tdt48"/>
          <p:cNvSpPr txBox="1"/>
          <p:nvPr/>
        </p:nvSpPr>
        <p:spPr>
          <a:xfrm>
            <a:off x="5879592" y="1764792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Update one field, not the whole blob</a:t>
            </a:r>
          </a:p>
        </p:txBody>
      </p:sp>
      <p:sp>
        <p:nvSpPr>
          <p:cNvPr id="50" name="a1wd255_td49"/>
          <p:cNvSpPr/>
          <p:nvPr/>
        </p:nvSpPr>
        <p:spPr>
          <a:xfrm>
            <a:off x="5806440" y="2075688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55_tdt50"/>
          <p:cNvSpPr txBox="1"/>
          <p:nvPr/>
        </p:nvSpPr>
        <p:spPr>
          <a:xfrm>
            <a:off x="5879592" y="2075688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push and pop at both ends</a:t>
            </a:r>
          </a:p>
        </p:txBody>
      </p:sp>
      <p:sp>
        <p:nvSpPr>
          <p:cNvPr id="52" name="a1wd340_td51"/>
          <p:cNvSpPr/>
          <p:nvPr/>
        </p:nvSpPr>
        <p:spPr>
          <a:xfrm>
            <a:off x="5806440" y="2386584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40_tdt52"/>
          <p:cNvSpPr txBox="1"/>
          <p:nvPr/>
        </p:nvSpPr>
        <p:spPr>
          <a:xfrm>
            <a:off x="5879592" y="238658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O(1) SISMEMBER, server-side algebra</a:t>
            </a:r>
          </a:p>
        </p:txBody>
      </p:sp>
      <p:sp>
        <p:nvSpPr>
          <p:cNvPr id="54" name="a1wd425_td53"/>
          <p:cNvSpPr/>
          <p:nvPr/>
        </p:nvSpPr>
        <p:spPr>
          <a:xfrm>
            <a:off x="5806440" y="2697480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25_tdt54"/>
          <p:cNvSpPr txBox="1"/>
          <p:nvPr/>
        </p:nvSpPr>
        <p:spPr>
          <a:xfrm>
            <a:off x="5879592" y="269748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Stays sorted, O(log n) updates</a:t>
            </a:r>
          </a:p>
        </p:txBody>
      </p:sp>
      <p:sp>
        <p:nvSpPr>
          <p:cNvPr id="56" name="a1wd510_td55"/>
          <p:cNvSpPr/>
          <p:nvPr/>
        </p:nvSpPr>
        <p:spPr>
          <a:xfrm>
            <a:off x="5806440" y="3008376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510_tdt56"/>
          <p:cNvSpPr txBox="1"/>
          <p:nvPr/>
        </p:nvSpPr>
        <p:spPr>
          <a:xfrm>
            <a:off x="5879592" y="300837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12 KB fixed, 0.81% error</a:t>
            </a:r>
          </a:p>
        </p:txBody>
      </p:sp>
      <p:sp>
        <p:nvSpPr>
          <p:cNvPr id="58" name="a1wd595_td57"/>
          <p:cNvSpPr/>
          <p:nvPr/>
        </p:nvSpPr>
        <p:spPr>
          <a:xfrm>
            <a:off x="5806440" y="3319272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595_tdt58"/>
          <p:cNvSpPr txBox="1"/>
          <p:nvPr/>
        </p:nvSpPr>
        <p:spPr>
          <a:xfrm>
            <a:off x="5879592" y="3319272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 bit each, BITCOUNT is fast</a:t>
            </a:r>
          </a:p>
        </p:txBody>
      </p:sp>
      <p:sp>
        <p:nvSpPr>
          <p:cNvPr id="60" name="a1wd680_td59"/>
          <p:cNvSpPr/>
          <p:nvPr/>
        </p:nvSpPr>
        <p:spPr>
          <a:xfrm>
            <a:off x="5806440" y="3630168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680_tdt60"/>
          <p:cNvSpPr txBox="1"/>
          <p:nvPr/>
        </p:nvSpPr>
        <p:spPr>
          <a:xfrm>
            <a:off x="5879592" y="3630168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Persisted log + consumer groups</a:t>
            </a:r>
          </a:p>
        </p:txBody>
      </p:sp>
      <p:sp>
        <p:nvSpPr>
          <p:cNvPr id="62" name="a1wd765_td61"/>
          <p:cNvSpPr/>
          <p:nvPr/>
        </p:nvSpPr>
        <p:spPr>
          <a:xfrm>
            <a:off x="5806440" y="3941064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765_tdt62"/>
          <p:cNvSpPr txBox="1"/>
          <p:nvPr/>
        </p:nvSpPr>
        <p:spPr>
          <a:xfrm>
            <a:off x="5879592" y="394106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Geohash scores in a sorted set</a:t>
            </a:r>
          </a:p>
        </p:txBody>
      </p:sp>
      <p:sp>
        <p:nvSpPr>
          <p:cNvPr id="64" name="ft6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5" name="ft6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Each Type Costs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Rough memory per entry on a 64-bit server - plan capacity with these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55448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5087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20_tdt6"/>
          <p:cNvSpPr txBox="1"/>
          <p:nvPr/>
        </p:nvSpPr>
        <p:spPr>
          <a:xfrm>
            <a:off x="530352" y="150876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String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874519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40_tdt8"/>
          <p:cNvSpPr txBox="1"/>
          <p:nvPr/>
        </p:nvSpPr>
        <p:spPr>
          <a:xfrm>
            <a:off x="530352" y="1874519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24028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60_tdt10"/>
          <p:cNvSpPr txBox="1"/>
          <p:nvPr/>
        </p:nvSpPr>
        <p:spPr>
          <a:xfrm>
            <a:off x="530352" y="22402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Set (ints)</a:t>
            </a:r>
          </a:p>
        </p:txBody>
      </p:sp>
      <p:sp>
        <p:nvSpPr>
          <p:cNvPr id="12" name="a1wd480_td11"/>
          <p:cNvSpPr/>
          <p:nvPr/>
        </p:nvSpPr>
        <p:spPr>
          <a:xfrm>
            <a:off x="457200" y="260604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80_tdt12"/>
          <p:cNvSpPr txBox="1"/>
          <p:nvPr/>
        </p:nvSpPr>
        <p:spPr>
          <a:xfrm>
            <a:off x="530352" y="260604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Set (strings)</a:t>
            </a:r>
          </a:p>
        </p:txBody>
      </p:sp>
      <p:sp>
        <p:nvSpPr>
          <p:cNvPr id="14" name="a1wd600_td13"/>
          <p:cNvSpPr/>
          <p:nvPr/>
        </p:nvSpPr>
        <p:spPr>
          <a:xfrm>
            <a:off x="457200" y="297180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600_tdt14"/>
          <p:cNvSpPr txBox="1"/>
          <p:nvPr/>
        </p:nvSpPr>
        <p:spPr>
          <a:xfrm>
            <a:off x="530352" y="297180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</a:t>
            </a:r>
          </a:p>
        </p:txBody>
      </p:sp>
      <p:sp>
        <p:nvSpPr>
          <p:cNvPr id="16" name="a1wd720_td15"/>
          <p:cNvSpPr/>
          <p:nvPr/>
        </p:nvSpPr>
        <p:spPr>
          <a:xfrm>
            <a:off x="457200" y="33375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720_tdt16"/>
          <p:cNvSpPr txBox="1"/>
          <p:nvPr/>
        </p:nvSpPr>
        <p:spPr>
          <a:xfrm>
            <a:off x="530352" y="333756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Sorted Set</a:t>
            </a:r>
          </a:p>
        </p:txBody>
      </p:sp>
      <p:sp>
        <p:nvSpPr>
          <p:cNvPr id="18" name="a1f_th17"/>
          <p:cNvSpPr/>
          <p:nvPr/>
        </p:nvSpPr>
        <p:spPr>
          <a:xfrm>
            <a:off x="2011680" y="1143000"/>
            <a:ext cx="292608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2084832" y="114300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Small (compact encoding)</a:t>
            </a:r>
          </a:p>
        </p:txBody>
      </p:sp>
      <p:sp>
        <p:nvSpPr>
          <p:cNvPr id="20" name="a1wd120_td19"/>
          <p:cNvSpPr/>
          <p:nvPr/>
        </p:nvSpPr>
        <p:spPr>
          <a:xfrm>
            <a:off x="2011680" y="150876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20_tdt20"/>
          <p:cNvSpPr txBox="1"/>
          <p:nvPr/>
        </p:nvSpPr>
        <p:spPr>
          <a:xfrm>
            <a:off x="2084832" y="150876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~56 B + value (embstr ≤ 44 B)</a:t>
            </a:r>
          </a:p>
        </p:txBody>
      </p:sp>
      <p:sp>
        <p:nvSpPr>
          <p:cNvPr id="22" name="a1wd240_td21"/>
          <p:cNvSpPr/>
          <p:nvPr/>
        </p:nvSpPr>
        <p:spPr>
          <a:xfrm>
            <a:off x="2011680" y="1874519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40_tdt22"/>
          <p:cNvSpPr txBox="1"/>
          <p:nvPr/>
        </p:nvSpPr>
        <p:spPr>
          <a:xfrm>
            <a:off x="2084832" y="1874519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listpack: ~11 B per entry</a:t>
            </a:r>
          </a:p>
        </p:txBody>
      </p:sp>
      <p:sp>
        <p:nvSpPr>
          <p:cNvPr id="24" name="a1wd360_td23"/>
          <p:cNvSpPr/>
          <p:nvPr/>
        </p:nvSpPr>
        <p:spPr>
          <a:xfrm>
            <a:off x="2011680" y="224028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60_tdt24"/>
          <p:cNvSpPr txBox="1"/>
          <p:nvPr/>
        </p:nvSpPr>
        <p:spPr>
          <a:xfrm>
            <a:off x="2084832" y="224028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intset: 2/4/8 B per member</a:t>
            </a:r>
          </a:p>
        </p:txBody>
      </p:sp>
      <p:sp>
        <p:nvSpPr>
          <p:cNvPr id="26" name="a1wd480_td25"/>
          <p:cNvSpPr/>
          <p:nvPr/>
        </p:nvSpPr>
        <p:spPr>
          <a:xfrm>
            <a:off x="2011680" y="260604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80_tdt26"/>
          <p:cNvSpPr txBox="1"/>
          <p:nvPr/>
        </p:nvSpPr>
        <p:spPr>
          <a:xfrm>
            <a:off x="2084832" y="2606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listpack: ~11 B + member</a:t>
            </a:r>
          </a:p>
        </p:txBody>
      </p:sp>
      <p:sp>
        <p:nvSpPr>
          <p:cNvPr id="28" name="a1wd600_td27"/>
          <p:cNvSpPr/>
          <p:nvPr/>
        </p:nvSpPr>
        <p:spPr>
          <a:xfrm>
            <a:off x="2011680" y="297180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600_tdt28"/>
          <p:cNvSpPr txBox="1"/>
          <p:nvPr/>
        </p:nvSpPr>
        <p:spPr>
          <a:xfrm>
            <a:off x="2084832" y="297180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listpack: ~11 B per field</a:t>
            </a:r>
          </a:p>
        </p:txBody>
      </p:sp>
      <p:sp>
        <p:nvSpPr>
          <p:cNvPr id="30" name="a1wd720_td29"/>
          <p:cNvSpPr/>
          <p:nvPr/>
        </p:nvSpPr>
        <p:spPr>
          <a:xfrm>
            <a:off x="2011680" y="333756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720_tdt30"/>
          <p:cNvSpPr txBox="1"/>
          <p:nvPr/>
        </p:nvSpPr>
        <p:spPr>
          <a:xfrm>
            <a:off x="2084832" y="333756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listpack: ~11 B per entry</a:t>
            </a:r>
          </a:p>
        </p:txBody>
      </p:sp>
      <p:sp>
        <p:nvSpPr>
          <p:cNvPr id="32" name="a1f_th31"/>
          <p:cNvSpPr/>
          <p:nvPr/>
        </p:nvSpPr>
        <p:spPr>
          <a:xfrm>
            <a:off x="4937760" y="1143000"/>
            <a:ext cx="3749039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5010912" y="1143000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Large (scalable encoding)</a:t>
            </a:r>
          </a:p>
        </p:txBody>
      </p:sp>
      <p:sp>
        <p:nvSpPr>
          <p:cNvPr id="34" name="a1wd120_td33"/>
          <p:cNvSpPr/>
          <p:nvPr/>
        </p:nvSpPr>
        <p:spPr>
          <a:xfrm>
            <a:off x="4937760" y="1508760"/>
            <a:ext cx="37490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20_tdt34"/>
          <p:cNvSpPr txBox="1"/>
          <p:nvPr/>
        </p:nvSpPr>
        <p:spPr>
          <a:xfrm>
            <a:off x="5010912" y="1508760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~64 B + value, raw sds buffer</a:t>
            </a:r>
          </a:p>
        </p:txBody>
      </p:sp>
      <p:sp>
        <p:nvSpPr>
          <p:cNvPr id="36" name="a1wd240_td35"/>
          <p:cNvSpPr/>
          <p:nvPr/>
        </p:nvSpPr>
        <p:spPr>
          <a:xfrm>
            <a:off x="4937760" y="1874519"/>
            <a:ext cx="37490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40_tdt36"/>
          <p:cNvSpPr txBox="1"/>
          <p:nvPr/>
        </p:nvSpPr>
        <p:spPr>
          <a:xfrm>
            <a:off x="5010912" y="1874519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quicklist: listpack nodes + list overhead</a:t>
            </a:r>
          </a:p>
        </p:txBody>
      </p:sp>
      <p:sp>
        <p:nvSpPr>
          <p:cNvPr id="38" name="a1wd360_td37"/>
          <p:cNvSpPr/>
          <p:nvPr/>
        </p:nvSpPr>
        <p:spPr>
          <a:xfrm>
            <a:off x="4937760" y="2240280"/>
            <a:ext cx="37490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60_tdt38"/>
          <p:cNvSpPr txBox="1"/>
          <p:nvPr/>
        </p:nvSpPr>
        <p:spPr>
          <a:xfrm>
            <a:off x="5010912" y="2240280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hashtable: ~72 B per member</a:t>
            </a:r>
          </a:p>
        </p:txBody>
      </p:sp>
      <p:sp>
        <p:nvSpPr>
          <p:cNvPr id="40" name="a1wd480_td39"/>
          <p:cNvSpPr/>
          <p:nvPr/>
        </p:nvSpPr>
        <p:spPr>
          <a:xfrm>
            <a:off x="4937760" y="2606040"/>
            <a:ext cx="37490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80_tdt40"/>
          <p:cNvSpPr txBox="1"/>
          <p:nvPr/>
        </p:nvSpPr>
        <p:spPr>
          <a:xfrm>
            <a:off x="5010912" y="2606040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hashtable: ~72 B + member</a:t>
            </a:r>
          </a:p>
        </p:txBody>
      </p:sp>
      <p:sp>
        <p:nvSpPr>
          <p:cNvPr id="42" name="a1wd600_td41"/>
          <p:cNvSpPr/>
          <p:nvPr/>
        </p:nvSpPr>
        <p:spPr>
          <a:xfrm>
            <a:off x="4937760" y="2971800"/>
            <a:ext cx="37490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00_tdt42"/>
          <p:cNvSpPr txBox="1"/>
          <p:nvPr/>
        </p:nvSpPr>
        <p:spPr>
          <a:xfrm>
            <a:off x="5010912" y="2971800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hashtable: ~100 B per field</a:t>
            </a:r>
          </a:p>
        </p:txBody>
      </p:sp>
      <p:sp>
        <p:nvSpPr>
          <p:cNvPr id="44" name="a1wd720_td43"/>
          <p:cNvSpPr/>
          <p:nvPr/>
        </p:nvSpPr>
        <p:spPr>
          <a:xfrm>
            <a:off x="4937760" y="3337560"/>
            <a:ext cx="37490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720_tdt44"/>
          <p:cNvSpPr txBox="1"/>
          <p:nvPr/>
        </p:nvSpPr>
        <p:spPr>
          <a:xfrm>
            <a:off x="5010912" y="3337560"/>
            <a:ext cx="363931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skiplist + dict: ~160 B per entry</a:t>
            </a:r>
          </a:p>
        </p:txBody>
      </p:sp>
      <p:sp>
        <p:nvSpPr>
          <p:cNvPr id="46" name="a2u_nb45"/>
          <p:cNvSpPr/>
          <p:nvPr/>
        </p:nvSpPr>
        <p:spPr>
          <a:xfrm>
            <a:off x="457200" y="3685031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u_nacc46"/>
          <p:cNvSpPr/>
          <p:nvPr/>
        </p:nvSpPr>
        <p:spPr>
          <a:xfrm>
            <a:off x="457200" y="3685031"/>
            <a:ext cx="50292" cy="56692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_nt47"/>
          <p:cNvSpPr txBox="1"/>
          <p:nvPr/>
        </p:nvSpPr>
        <p:spPr>
          <a:xfrm>
            <a:off x="658368" y="3685031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DC382C"/>
                </a:solidFill>
                <a:latin typeface="Calibri"/>
              </a:rPr>
              <a:t>KEY  </a:t>
            </a:r>
            <a:r>
              <a:rPr sz="1150" b="0">
                <a:solidFill>
                  <a:srgbClr val="334155"/>
                </a:solidFill>
                <a:latin typeface="Calibri"/>
              </a:rPr>
              <a:t>Keeping collections under the listpack thresholds is the single biggest memory win available. Two thousand hashes of 50 fields each cost far less than 100 000 separate string keys - the per-key overhead is what kills you.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 · Data Structures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Redis is a dictionary of data structures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One global hash table from key name to a value object - and the value can be any of nine types.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classics are all in there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Array, linked list, hash table, set and skip list are the engines behind the types you type.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Pick the type from the access pattern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Hash for records, List for order, Set for uniqueness, Sorted Set for ranking, Stream for replay.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Small collections are cheap on purpose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Redis switches to a compact flat encoding below a threshold and to the scalable one above it.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Per-key overhead dominates memory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Fewer, larger keys beat many tiny ones. Group related fields into one Hash.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Deck 4 · Tools, the RESP protocol, redis.conf and the storage model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