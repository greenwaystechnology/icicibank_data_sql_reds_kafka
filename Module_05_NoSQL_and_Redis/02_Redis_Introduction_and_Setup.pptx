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0f_kick1"/>
          <p:cNvSpPr txBox="1"/>
          <p:nvPr/>
        </p:nvSpPr>
        <p:spPr>
          <a:xfrm>
            <a:off x="548640" y="868680"/>
            <a:ext cx="49377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spc="300">
                <a:solidFill>
                  <a:srgbClr val="A78BFA"/>
                </a:solidFill>
                <a:latin typeface="Calibri"/>
              </a:rPr>
              <a:t>MODULE 07 · NOSQL &amp; REDIS</a:t>
            </a:r>
          </a:p>
        </p:txBody>
      </p:sp>
      <p:sp>
        <p:nvSpPr>
          <p:cNvPr id="3" name="a0ud200_t2"/>
          <p:cNvSpPr txBox="1"/>
          <p:nvPr/>
        </p:nvSpPr>
        <p:spPr>
          <a:xfrm>
            <a:off x="548640" y="1188720"/>
            <a:ext cx="5212080" cy="1417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Redis</a:t>
            </a:r>
          </a:p>
        </p:txBody>
      </p:sp>
      <p:sp>
        <p:nvSpPr>
          <p:cNvPr id="4" name="a0fd500_sub3"/>
          <p:cNvSpPr txBox="1"/>
          <p:nvPr/>
        </p:nvSpPr>
        <p:spPr>
          <a:xfrm>
            <a:off x="548640" y="2670048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What it is, which flavour to install, and what banks actually use it for</a:t>
            </a:r>
          </a:p>
        </p:txBody>
      </p:sp>
      <p:sp>
        <p:nvSpPr>
          <p:cNvPr id="5" name="a0ud800_pill4"/>
          <p:cNvSpPr/>
          <p:nvPr/>
        </p:nvSpPr>
        <p:spPr>
          <a:xfrm>
            <a:off x="548640" y="3273552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E2E8F0"/>
                </a:solidFill>
                <a:latin typeface="Courier New"/>
              </a:rPr>
              <a:t>IN-MEMORY</a:t>
            </a:r>
          </a:p>
        </p:txBody>
      </p:sp>
      <p:sp>
        <p:nvSpPr>
          <p:cNvPr id="6" name="a0ud950_pill5"/>
          <p:cNvSpPr/>
          <p:nvPr/>
        </p:nvSpPr>
        <p:spPr>
          <a:xfrm>
            <a:off x="1572768" y="3273552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E2E8F0"/>
                </a:solidFill>
                <a:latin typeface="Courier New"/>
              </a:rPr>
              <a:t>KEY-VALUE</a:t>
            </a:r>
          </a:p>
        </p:txBody>
      </p:sp>
      <p:sp>
        <p:nvSpPr>
          <p:cNvPr id="7" name="a0ud1100_pill6"/>
          <p:cNvSpPr/>
          <p:nvPr/>
        </p:nvSpPr>
        <p:spPr>
          <a:xfrm>
            <a:off x="2596896" y="3273552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E2E8F0"/>
                </a:solidFill>
                <a:latin typeface="Courier New"/>
              </a:rPr>
              <a:t>SUB-MS</a:t>
            </a:r>
          </a:p>
        </p:txBody>
      </p:sp>
      <p:sp>
        <p:nvSpPr>
          <p:cNvPr id="8" name="a0ud1250_pill7"/>
          <p:cNvSpPr/>
          <p:nvPr/>
        </p:nvSpPr>
        <p:spPr>
          <a:xfrm>
            <a:off x="3621024" y="3273552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E2E8F0"/>
                </a:solidFill>
                <a:latin typeface="Courier New"/>
              </a:rPr>
              <a:t>PERSISTENT</a:t>
            </a:r>
          </a:p>
        </p:txBody>
      </p:sp>
      <p:sp>
        <p:nvSpPr>
          <p:cNvPr id="9" name="a0fd1400_nt8"/>
          <p:cNvSpPr txBox="1"/>
          <p:nvPr/>
        </p:nvSpPr>
        <p:spPr>
          <a:xfrm>
            <a:off x="548640" y="3950208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64748B"/>
                </a:solidFill>
                <a:latin typeface="Calibri"/>
              </a:rPr>
              <a:t>Deck 2 of 4  ·  Module 07  ·  NoSQL &amp; Redis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" presetClass="entr" presetSubtype="4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Calibri"/>
              </a:rPr>
              <a:t>What This Deck Covers</a:t>
            </a:r>
          </a:p>
        </p:txBody>
      </p:sp>
      <p:sp>
        <p:nvSpPr>
          <p:cNvPr id="3" name="sub2"/>
          <p:cNvSpPr txBox="1"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Calibri"/>
              </a:rPr>
              <a:t>From definition to a running server on your laptop</a:t>
            </a:r>
          </a:p>
        </p:txBody>
      </p:sp>
      <p:sp>
        <p:nvSpPr>
          <p:cNvPr id="4" name="a1u_card3"/>
          <p:cNvSpPr/>
          <p:nvPr/>
        </p:nvSpPr>
        <p:spPr>
          <a:xfrm>
            <a:off x="457200" y="1216152"/>
            <a:ext cx="1906524" cy="141732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a1u_acc4"/>
          <p:cNvSpPr/>
          <p:nvPr/>
        </p:nvSpPr>
        <p:spPr>
          <a:xfrm>
            <a:off x="457200" y="1216152"/>
            <a:ext cx="1906524" cy="50292"/>
          </a:xfrm>
          <a:prstGeom prst="rect">
            <a:avLst/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a1ud60_ic5"/>
          <p:cNvSpPr/>
          <p:nvPr/>
        </p:nvSpPr>
        <p:spPr>
          <a:xfrm>
            <a:off x="621792" y="1417320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a1ud60_ict6"/>
          <p:cNvSpPr txBox="1"/>
          <p:nvPr/>
        </p:nvSpPr>
        <p:spPr>
          <a:xfrm>
            <a:off x="621792" y="14173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a1ud90_ct7"/>
          <p:cNvSpPr txBox="1"/>
          <p:nvPr/>
        </p:nvSpPr>
        <p:spPr>
          <a:xfrm>
            <a:off x="621792" y="1892808"/>
            <a:ext cx="15773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What</a:t>
            </a:r>
          </a:p>
        </p:txBody>
      </p:sp>
      <p:sp>
        <p:nvSpPr>
          <p:cNvPr id="9" name="a1ud120_cs8"/>
          <p:cNvSpPr txBox="1"/>
          <p:nvPr/>
        </p:nvSpPr>
        <p:spPr>
          <a:xfrm>
            <a:off x="621792" y="2167128"/>
            <a:ext cx="1577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DC382C"/>
                </a:solidFill>
                <a:latin typeface="Courier New"/>
              </a:rPr>
              <a:t>DEFINITION</a:t>
            </a:r>
          </a:p>
        </p:txBody>
      </p:sp>
      <p:sp>
        <p:nvSpPr>
          <p:cNvPr id="10" name="a1ud150_cb9"/>
          <p:cNvSpPr txBox="1"/>
          <p:nvPr/>
        </p:nvSpPr>
        <p:spPr>
          <a:xfrm>
            <a:off x="621792" y="2423160"/>
            <a:ext cx="15773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DC382C"/>
                </a:solidFill>
                <a:latin typeface="Calibri"/>
              </a:rPr>
              <a:t>· </a:t>
            </a:r>
            <a:r>
              <a:rPr sz="1050" b="0">
                <a:solidFill>
                  <a:srgbClr val="334155"/>
                </a:solidFill>
                <a:latin typeface="Calibri"/>
              </a:rPr>
              <a:t>REmote DIctionary Server</a:t>
            </a:r>
          </a:p>
        </p:txBody>
      </p:sp>
      <p:sp>
        <p:nvSpPr>
          <p:cNvPr id="11" name="a1ud220_cb10"/>
          <p:cNvSpPr txBox="1"/>
          <p:nvPr/>
        </p:nvSpPr>
        <p:spPr>
          <a:xfrm>
            <a:off x="621792" y="2807208"/>
            <a:ext cx="15773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DC382C"/>
                </a:solidFill>
                <a:latin typeface="Calibri"/>
              </a:rPr>
              <a:t>· </a:t>
            </a:r>
            <a:r>
              <a:rPr sz="1050" b="0">
                <a:solidFill>
                  <a:srgbClr val="334155"/>
                </a:solidFill>
                <a:latin typeface="Calibri"/>
              </a:rPr>
              <a:t>Why in-memory changes everything</a:t>
            </a:r>
          </a:p>
        </p:txBody>
      </p:sp>
      <p:sp>
        <p:nvSpPr>
          <p:cNvPr id="12" name="a2u_card11"/>
          <p:cNvSpPr/>
          <p:nvPr/>
        </p:nvSpPr>
        <p:spPr>
          <a:xfrm>
            <a:off x="2564892" y="1216152"/>
            <a:ext cx="1906524" cy="141732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a2u_acc12"/>
          <p:cNvSpPr/>
          <p:nvPr/>
        </p:nvSpPr>
        <p:spPr>
          <a:xfrm>
            <a:off x="2564892" y="1216152"/>
            <a:ext cx="1906524" cy="5029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a2ud60_ic13"/>
          <p:cNvSpPr/>
          <p:nvPr/>
        </p:nvSpPr>
        <p:spPr>
          <a:xfrm>
            <a:off x="2729484" y="1417320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a2ud60_ict14"/>
          <p:cNvSpPr txBox="1"/>
          <p:nvPr/>
        </p:nvSpPr>
        <p:spPr>
          <a:xfrm>
            <a:off x="2729484" y="14173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a2ud90_ct15"/>
          <p:cNvSpPr txBox="1"/>
          <p:nvPr/>
        </p:nvSpPr>
        <p:spPr>
          <a:xfrm>
            <a:off x="2729484" y="1892808"/>
            <a:ext cx="15773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Which</a:t>
            </a:r>
          </a:p>
        </p:txBody>
      </p:sp>
      <p:sp>
        <p:nvSpPr>
          <p:cNvPr id="17" name="a2ud120_cs16"/>
          <p:cNvSpPr txBox="1"/>
          <p:nvPr/>
        </p:nvSpPr>
        <p:spPr>
          <a:xfrm>
            <a:off x="2729484" y="2167128"/>
            <a:ext cx="1577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8B5CF6"/>
                </a:solidFill>
                <a:latin typeface="Courier New"/>
              </a:rPr>
              <a:t>DISTRIBUTIONS</a:t>
            </a:r>
          </a:p>
        </p:txBody>
      </p:sp>
      <p:sp>
        <p:nvSpPr>
          <p:cNvPr id="18" name="a2ud150_cb17"/>
          <p:cNvSpPr txBox="1"/>
          <p:nvPr/>
        </p:nvSpPr>
        <p:spPr>
          <a:xfrm>
            <a:off x="2729484" y="2423160"/>
            <a:ext cx="15773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8B5CF6"/>
                </a:solidFill>
                <a:latin typeface="Calibri"/>
              </a:rPr>
              <a:t>· </a:t>
            </a:r>
            <a:r>
              <a:rPr sz="1050" b="0">
                <a:solidFill>
                  <a:srgbClr val="334155"/>
                </a:solidFill>
                <a:latin typeface="Calibri"/>
              </a:rPr>
              <a:t>CE, Stack, Enterprise, Cloud</a:t>
            </a:r>
          </a:p>
        </p:txBody>
      </p:sp>
      <p:sp>
        <p:nvSpPr>
          <p:cNvPr id="19" name="a2ud220_cb18"/>
          <p:cNvSpPr txBox="1"/>
          <p:nvPr/>
        </p:nvSpPr>
        <p:spPr>
          <a:xfrm>
            <a:off x="2729484" y="2807208"/>
            <a:ext cx="15773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8B5CF6"/>
                </a:solidFill>
                <a:latin typeface="Calibri"/>
              </a:rPr>
              <a:t>· </a:t>
            </a:r>
            <a:r>
              <a:rPr sz="1050" b="0">
                <a:solidFill>
                  <a:srgbClr val="334155"/>
                </a:solidFill>
                <a:latin typeface="Calibri"/>
              </a:rPr>
              <a:t>Valkey, Memurai, managed</a:t>
            </a:r>
          </a:p>
        </p:txBody>
      </p:sp>
      <p:sp>
        <p:nvSpPr>
          <p:cNvPr id="20" name="a3u_card19"/>
          <p:cNvSpPr/>
          <p:nvPr/>
        </p:nvSpPr>
        <p:spPr>
          <a:xfrm>
            <a:off x="4672584" y="1216152"/>
            <a:ext cx="1906524" cy="141732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a3u_acc20"/>
          <p:cNvSpPr/>
          <p:nvPr/>
        </p:nvSpPr>
        <p:spPr>
          <a:xfrm>
            <a:off x="4672584" y="1216152"/>
            <a:ext cx="1906524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a3ud60_ic21"/>
          <p:cNvSpPr/>
          <p:nvPr/>
        </p:nvSpPr>
        <p:spPr>
          <a:xfrm>
            <a:off x="4837176" y="1417320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a3ud60_ict22"/>
          <p:cNvSpPr txBox="1"/>
          <p:nvPr/>
        </p:nvSpPr>
        <p:spPr>
          <a:xfrm>
            <a:off x="4837176" y="14173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4" name="a3ud90_ct23"/>
          <p:cNvSpPr txBox="1"/>
          <p:nvPr/>
        </p:nvSpPr>
        <p:spPr>
          <a:xfrm>
            <a:off x="4837176" y="1892808"/>
            <a:ext cx="15773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Why</a:t>
            </a:r>
          </a:p>
        </p:txBody>
      </p:sp>
      <p:sp>
        <p:nvSpPr>
          <p:cNvPr id="25" name="a3ud120_cs24"/>
          <p:cNvSpPr txBox="1"/>
          <p:nvPr/>
        </p:nvSpPr>
        <p:spPr>
          <a:xfrm>
            <a:off x="4837176" y="2167128"/>
            <a:ext cx="1577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Courier New"/>
              </a:rPr>
              <a:t>USE CASES</a:t>
            </a:r>
          </a:p>
        </p:txBody>
      </p:sp>
      <p:sp>
        <p:nvSpPr>
          <p:cNvPr id="26" name="a3ud150_cb25"/>
          <p:cNvSpPr txBox="1"/>
          <p:nvPr/>
        </p:nvSpPr>
        <p:spPr>
          <a:xfrm>
            <a:off x="4837176" y="2423160"/>
            <a:ext cx="15773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0F766E"/>
                </a:solidFill>
                <a:latin typeface="Calibri"/>
              </a:rPr>
              <a:t>· </a:t>
            </a:r>
            <a:r>
              <a:rPr sz="1050" b="0">
                <a:solidFill>
                  <a:srgbClr val="334155"/>
                </a:solidFill>
                <a:latin typeface="Calibri"/>
              </a:rPr>
              <a:t>Eight patterns from production</a:t>
            </a:r>
          </a:p>
        </p:txBody>
      </p:sp>
      <p:sp>
        <p:nvSpPr>
          <p:cNvPr id="27" name="a3ud220_cb26"/>
          <p:cNvSpPr txBox="1"/>
          <p:nvPr/>
        </p:nvSpPr>
        <p:spPr>
          <a:xfrm>
            <a:off x="4837176" y="2807208"/>
            <a:ext cx="15773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0F766E"/>
                </a:solidFill>
                <a:latin typeface="Calibri"/>
              </a:rPr>
              <a:t>· </a:t>
            </a:r>
            <a:r>
              <a:rPr sz="1050" b="0">
                <a:solidFill>
                  <a:srgbClr val="334155"/>
                </a:solidFill>
                <a:latin typeface="Calibri"/>
              </a:rPr>
              <a:t>Banking examples throughout</a:t>
            </a:r>
          </a:p>
        </p:txBody>
      </p:sp>
      <p:sp>
        <p:nvSpPr>
          <p:cNvPr id="28" name="a4u_card27"/>
          <p:cNvSpPr/>
          <p:nvPr/>
        </p:nvSpPr>
        <p:spPr>
          <a:xfrm>
            <a:off x="6780276" y="1216152"/>
            <a:ext cx="1906524" cy="141732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a4u_acc28"/>
          <p:cNvSpPr/>
          <p:nvPr/>
        </p:nvSpPr>
        <p:spPr>
          <a:xfrm>
            <a:off x="6780276" y="1216152"/>
            <a:ext cx="1906524" cy="5029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a4ud60_ic29"/>
          <p:cNvSpPr/>
          <p:nvPr/>
        </p:nvSpPr>
        <p:spPr>
          <a:xfrm>
            <a:off x="6944868" y="1417320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a4ud60_ict30"/>
          <p:cNvSpPr txBox="1"/>
          <p:nvPr/>
        </p:nvSpPr>
        <p:spPr>
          <a:xfrm>
            <a:off x="6944868" y="14173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2" name="a4ud90_ct31"/>
          <p:cNvSpPr txBox="1"/>
          <p:nvPr/>
        </p:nvSpPr>
        <p:spPr>
          <a:xfrm>
            <a:off x="6944868" y="1892808"/>
            <a:ext cx="15773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How</a:t>
            </a:r>
          </a:p>
        </p:txBody>
      </p:sp>
      <p:sp>
        <p:nvSpPr>
          <p:cNvPr id="33" name="a4ud120_cs32"/>
          <p:cNvSpPr txBox="1"/>
          <p:nvPr/>
        </p:nvSpPr>
        <p:spPr>
          <a:xfrm>
            <a:off x="6944868" y="2167128"/>
            <a:ext cx="1577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B45309"/>
                </a:solidFill>
                <a:latin typeface="Courier New"/>
              </a:rPr>
              <a:t>INSTALL</a:t>
            </a:r>
          </a:p>
        </p:txBody>
      </p:sp>
      <p:sp>
        <p:nvSpPr>
          <p:cNvPr id="34" name="a4ud150_cb33"/>
          <p:cNvSpPr txBox="1"/>
          <p:nvPr/>
        </p:nvSpPr>
        <p:spPr>
          <a:xfrm>
            <a:off x="6944868" y="2423160"/>
            <a:ext cx="15773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B45309"/>
                </a:solidFill>
                <a:latin typeface="Calibri"/>
              </a:rPr>
              <a:t>· </a:t>
            </a:r>
            <a:r>
              <a:rPr sz="1050" b="0">
                <a:solidFill>
                  <a:srgbClr val="334155"/>
                </a:solidFill>
                <a:latin typeface="Calibri"/>
              </a:rPr>
              <a:t>Windows first, then Linux</a:t>
            </a:r>
          </a:p>
        </p:txBody>
      </p:sp>
      <p:sp>
        <p:nvSpPr>
          <p:cNvPr id="35" name="a4ud220_cb34"/>
          <p:cNvSpPr txBox="1"/>
          <p:nvPr/>
        </p:nvSpPr>
        <p:spPr>
          <a:xfrm>
            <a:off x="6944868" y="2807208"/>
            <a:ext cx="15773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B45309"/>
                </a:solidFill>
                <a:latin typeface="Calibri"/>
              </a:rPr>
              <a:t>· </a:t>
            </a:r>
            <a:r>
              <a:rPr sz="1050" b="0">
                <a:solidFill>
                  <a:srgbClr val="334155"/>
                </a:solidFill>
                <a:latin typeface="Calibri"/>
              </a:rPr>
              <a:t>Verify, connect, first keys</a:t>
            </a:r>
          </a:p>
        </p:txBody>
      </p:sp>
      <p:sp>
        <p:nvSpPr>
          <p:cNvPr id="36" name="a5u_nb35"/>
          <p:cNvSpPr/>
          <p:nvPr/>
        </p:nvSpPr>
        <p:spPr>
          <a:xfrm>
            <a:off x="457200" y="2816352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a5u_nacc36"/>
          <p:cNvSpPr/>
          <p:nvPr/>
        </p:nvSpPr>
        <p:spPr>
          <a:xfrm>
            <a:off x="457200" y="2816352"/>
            <a:ext cx="50292" cy="658368"/>
          </a:xfrm>
          <a:prstGeom prst="rect">
            <a:avLst/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a5u_nt37"/>
          <p:cNvSpPr txBox="1"/>
          <p:nvPr/>
        </p:nvSpPr>
        <p:spPr>
          <a:xfrm>
            <a:off x="658368" y="2816352"/>
            <a:ext cx="7827264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DC382C"/>
                </a:solidFill>
                <a:latin typeface="Calibri"/>
              </a:rPr>
              <a:t>NOTE  </a:t>
            </a:r>
            <a:r>
              <a:rPr sz="1150" b="0">
                <a:solidFill>
                  <a:srgbClr val="334155"/>
                </a:solidFill>
                <a:latin typeface="Calibri"/>
              </a:rPr>
              <a:t>The classroom target is Windows. We will install on Windows three different ways, pick one for the labs, and still cover the Linux install because that is what production runs.</a:t>
            </a:r>
          </a:p>
        </p:txBody>
      </p:sp>
      <p:sp>
        <p:nvSpPr>
          <p:cNvPr id="39" name="ft38"/>
          <p:cNvSpPr txBox="1"/>
          <p:nvPr/>
        </p:nvSpPr>
        <p:spPr>
          <a:xfrm>
            <a:off x="457200" y="4736592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ICICI Bank Learning Academy  ·  Enterprise Data Engineering with SQL, Redis &amp; Kafka</a:t>
            </a:r>
          </a:p>
        </p:txBody>
      </p:sp>
      <p:sp>
        <p:nvSpPr>
          <p:cNvPr id="40" name="ft39"/>
          <p:cNvSpPr txBox="1"/>
          <p:nvPr/>
        </p:nvSpPr>
        <p:spPr>
          <a:xfrm>
            <a:off x="5486400" y="473659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2 · Redis Intro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4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" presetClass="entr" presetSubtype="4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2" presetClass="entr" presetSubtype="4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" presetClass="entr" presetSubtype="4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" presetClass="entr" presetSubtype="4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2" presetClass="entr" presetSubtype="4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2" presetClass="entr" presetSubtype="4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9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0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5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0f_n1"/>
          <p:cNvSpPr txBox="1"/>
          <p:nvPr/>
        </p:nvSpPr>
        <p:spPr>
          <a:xfrm>
            <a:off x="548640" y="1143000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800" b="1">
                <a:solidFill>
                  <a:srgbClr val="A78BFA"/>
                </a:solidFill>
                <a:latin typeface="Calibri"/>
              </a:rPr>
              <a:t>01</a:t>
            </a:r>
          </a:p>
        </p:txBody>
      </p:sp>
      <p:sp>
        <p:nvSpPr>
          <p:cNvPr id="3" name="a0ud200_h2"/>
          <p:cNvSpPr txBox="1"/>
          <p:nvPr/>
        </p:nvSpPr>
        <p:spPr>
          <a:xfrm>
            <a:off x="548640" y="1938528"/>
            <a:ext cx="58521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What Redis Is</a:t>
            </a:r>
          </a:p>
        </p:txBody>
      </p:sp>
      <p:sp>
        <p:nvSpPr>
          <p:cNvPr id="4" name="a0fd450_t3"/>
          <p:cNvSpPr txBox="1"/>
          <p:nvPr/>
        </p:nvSpPr>
        <p:spPr>
          <a:xfrm>
            <a:off x="548640" y="2743200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An in-memory data structure server - every word of that matters</a:t>
            </a:r>
          </a:p>
        </p:txBody>
      </p:sp>
      <p:sp>
        <p:nvSpPr>
          <p:cNvPr id="5" name="a0ud600_pill4"/>
          <p:cNvSpPr/>
          <p:nvPr/>
        </p:nvSpPr>
        <p:spPr>
          <a:xfrm>
            <a:off x="5532120" y="1325880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CBD5E1"/>
                </a:solidFill>
                <a:latin typeface="Courier New"/>
              </a:rPr>
              <a:t>In-memory</a:t>
            </a:r>
          </a:p>
        </p:txBody>
      </p:sp>
      <p:sp>
        <p:nvSpPr>
          <p:cNvPr id="6" name="a0ud750_pill5"/>
          <p:cNvSpPr/>
          <p:nvPr/>
        </p:nvSpPr>
        <p:spPr>
          <a:xfrm>
            <a:off x="5532120" y="1801368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CBD5E1"/>
                </a:solidFill>
                <a:latin typeface="Courier New"/>
              </a:rPr>
              <a:t>Data structures</a:t>
            </a:r>
          </a:p>
        </p:txBody>
      </p:sp>
      <p:sp>
        <p:nvSpPr>
          <p:cNvPr id="7" name="a0ud900_pill6"/>
          <p:cNvSpPr/>
          <p:nvPr/>
        </p:nvSpPr>
        <p:spPr>
          <a:xfrm>
            <a:off x="5532120" y="2276856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CBD5E1"/>
                </a:solidFill>
                <a:latin typeface="Courier New"/>
              </a:rPr>
              <a:t>Server</a:t>
            </a:r>
          </a:p>
        </p:txBody>
      </p:sp>
      <p:sp>
        <p:nvSpPr>
          <p:cNvPr id="8" name="a0ud1050_pill7"/>
          <p:cNvSpPr/>
          <p:nvPr/>
        </p:nvSpPr>
        <p:spPr>
          <a:xfrm>
            <a:off x="5532120" y="2752344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CBD5E1"/>
                </a:solidFill>
                <a:latin typeface="Courier New"/>
              </a:rPr>
              <a:t>Single-threaded core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Calibri"/>
              </a:rPr>
              <a:t>Redis, Defined</a:t>
            </a:r>
          </a:p>
        </p:txBody>
      </p:sp>
      <p:sp>
        <p:nvSpPr>
          <p:cNvPr id="3" name="sub2"/>
          <p:cNvSpPr txBox="1"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Calibri"/>
              </a:rPr>
              <a:t>REmote DIctionary Server - released by Salvatore Sanfilippo in 2009</a:t>
            </a:r>
          </a:p>
        </p:txBody>
      </p:sp>
      <p:sp>
        <p:nvSpPr>
          <p:cNvPr id="4" name="a1f_card3"/>
          <p:cNvSpPr/>
          <p:nvPr/>
        </p:nvSpPr>
        <p:spPr>
          <a:xfrm>
            <a:off x="457200" y="1143000"/>
            <a:ext cx="8229600" cy="777240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a1f_def4"/>
          <p:cNvSpPr txBox="1"/>
          <p:nvPr/>
        </p:nvSpPr>
        <p:spPr>
          <a:xfrm>
            <a:off x="685800" y="123444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An open-source, </a:t>
            </a:r>
            <a:r>
              <a:rPr sz="1600" b="1">
                <a:solidFill>
                  <a:srgbClr val="DC382C"/>
                </a:solidFill>
                <a:latin typeface="Calibri"/>
              </a:rPr>
              <a:t>in-memory</a:t>
            </a:r>
            <a:r>
              <a:rPr sz="1600" b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>
                <a:solidFill>
                  <a:srgbClr val="6D28D9"/>
                </a:solidFill>
                <a:latin typeface="Calibri"/>
              </a:rPr>
              <a:t>data structure</a:t>
            </a:r>
            <a:r>
              <a:rPr sz="1600" b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>
                <a:solidFill>
                  <a:srgbClr val="0F766E"/>
                </a:solidFill>
                <a:latin typeface="Calibri"/>
              </a:rPr>
              <a:t>server</a:t>
            </a:r>
            <a:r>
              <a:rPr sz="1600" b="0">
                <a:solidFill>
                  <a:srgbClr val="334155"/>
                </a:solidFill>
                <a:latin typeface="Calibri"/>
              </a:rPr>
              <a:t>, used as a database, cache, message broker and streaming engine.</a:t>
            </a:r>
          </a:p>
        </p:txBody>
      </p:sp>
      <p:sp>
        <p:nvSpPr>
          <p:cNvPr id="6" name="a2u_wb5"/>
          <p:cNvSpPr/>
          <p:nvPr/>
        </p:nvSpPr>
        <p:spPr>
          <a:xfrm>
            <a:off x="457200" y="2057400"/>
            <a:ext cx="1828800" cy="640080"/>
          </a:xfrm>
          <a:prstGeom prst="roundRect">
            <a:avLst>
              <a:gd name="adj" fmla="val 11428"/>
            </a:avLst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a2u_wt6"/>
          <p:cNvSpPr txBox="1"/>
          <p:nvPr/>
        </p:nvSpPr>
        <p:spPr>
          <a:xfrm>
            <a:off x="457200" y="2057400"/>
            <a:ext cx="18288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ourier New"/>
              </a:rPr>
              <a:t>in-memory</a:t>
            </a:r>
          </a:p>
        </p:txBody>
      </p:sp>
      <p:sp>
        <p:nvSpPr>
          <p:cNvPr id="8" name="a2ud60_wd7"/>
          <p:cNvSpPr txBox="1"/>
          <p:nvPr/>
        </p:nvSpPr>
        <p:spPr>
          <a:xfrm>
            <a:off x="2468880" y="2039112"/>
            <a:ext cx="621792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4155"/>
                </a:solidFill>
                <a:latin typeface="Calibri"/>
              </a:rPr>
              <a:t>The dataset lives in RAM. Disk is used for durability, never for the read path. That is where sub-millisecond latency comes from.</a:t>
            </a:r>
          </a:p>
        </p:txBody>
      </p:sp>
      <p:sp>
        <p:nvSpPr>
          <p:cNvPr id="9" name="a2ud160_wb8"/>
          <p:cNvSpPr/>
          <p:nvPr/>
        </p:nvSpPr>
        <p:spPr>
          <a:xfrm>
            <a:off x="457200" y="2843784"/>
            <a:ext cx="1828800" cy="640080"/>
          </a:xfrm>
          <a:prstGeom prst="roundRect">
            <a:avLst>
              <a:gd name="adj" fmla="val 11428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a2ud160_wt9"/>
          <p:cNvSpPr txBox="1"/>
          <p:nvPr/>
        </p:nvSpPr>
        <p:spPr>
          <a:xfrm>
            <a:off x="457200" y="2843784"/>
            <a:ext cx="18288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ourier New"/>
              </a:rPr>
              <a:t>data structure</a:t>
            </a:r>
          </a:p>
        </p:txBody>
      </p:sp>
      <p:sp>
        <p:nvSpPr>
          <p:cNvPr id="11" name="a2ud220_wd10"/>
          <p:cNvSpPr txBox="1"/>
          <p:nvPr/>
        </p:nvSpPr>
        <p:spPr>
          <a:xfrm>
            <a:off x="2468880" y="2825496"/>
            <a:ext cx="621792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4155"/>
                </a:solidFill>
                <a:latin typeface="Calibri"/>
              </a:rPr>
              <a:t>Not just opaque blobs. Strings, lists, sets, sorted sets, hashes, streams and more - with operations that run inside the server.</a:t>
            </a:r>
          </a:p>
        </p:txBody>
      </p:sp>
      <p:sp>
        <p:nvSpPr>
          <p:cNvPr id="12" name="a2ud320_wb11"/>
          <p:cNvSpPr/>
          <p:nvPr/>
        </p:nvSpPr>
        <p:spPr>
          <a:xfrm>
            <a:off x="457200" y="3630168"/>
            <a:ext cx="1828800" cy="640080"/>
          </a:xfrm>
          <a:prstGeom prst="roundRect">
            <a:avLst>
              <a:gd name="adj" fmla="val 11428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a2ud320_wt12"/>
          <p:cNvSpPr txBox="1"/>
          <p:nvPr/>
        </p:nvSpPr>
        <p:spPr>
          <a:xfrm>
            <a:off x="457200" y="3630168"/>
            <a:ext cx="18288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ourier New"/>
              </a:rPr>
              <a:t>server</a:t>
            </a:r>
          </a:p>
        </p:txBody>
      </p:sp>
      <p:sp>
        <p:nvSpPr>
          <p:cNvPr id="14" name="a2ud380_wd13"/>
          <p:cNvSpPr txBox="1"/>
          <p:nvPr/>
        </p:nvSpPr>
        <p:spPr>
          <a:xfrm>
            <a:off x="2468880" y="3611879"/>
            <a:ext cx="6217920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4155"/>
                </a:solidFill>
                <a:latin typeface="Calibri"/>
              </a:rPr>
              <a:t>A network service, shared by every application instance. One cache for the whole fleet, not one per process.</a:t>
            </a:r>
          </a:p>
        </p:txBody>
      </p:sp>
      <p:sp>
        <p:nvSpPr>
          <p:cNvPr id="15" name="a3u_nb14"/>
          <p:cNvSpPr/>
          <p:nvPr/>
        </p:nvSpPr>
        <p:spPr>
          <a:xfrm>
            <a:off x="457200" y="4434840"/>
            <a:ext cx="8229600" cy="438912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a3u_nacc15"/>
          <p:cNvSpPr/>
          <p:nvPr/>
        </p:nvSpPr>
        <p:spPr>
          <a:xfrm>
            <a:off x="457200" y="4434840"/>
            <a:ext cx="50292" cy="43891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a3u_nt16"/>
          <p:cNvSpPr txBox="1"/>
          <p:nvPr/>
        </p:nvSpPr>
        <p:spPr>
          <a:xfrm>
            <a:off x="658368" y="4434840"/>
            <a:ext cx="7827264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B45309"/>
                </a:solidFill>
                <a:latin typeface="Calibri"/>
              </a:rPr>
              <a:t>i  </a:t>
            </a:r>
            <a:r>
              <a:rPr sz="1050" b="0">
                <a:solidFill>
                  <a:srgbClr val="334155"/>
                </a:solidFill>
                <a:latin typeface="Calibri"/>
              </a:rPr>
              <a:t>Written in C, around 50 000 lines. The core command loop is single-threaded on purpose - no locks, no race conditions, every command is atomic.</a:t>
            </a:r>
          </a:p>
        </p:txBody>
      </p:sp>
      <p:sp>
        <p:nvSpPr>
          <p:cNvPr id="18" name="ft17"/>
          <p:cNvSpPr txBox="1"/>
          <p:nvPr/>
        </p:nvSpPr>
        <p:spPr>
          <a:xfrm>
            <a:off x="457200" y="4736592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ICICI Bank Learning Academy  ·  Enterprise Data Engineering with SQL, Redis &amp; Kafka</a:t>
            </a:r>
          </a:p>
        </p:txBody>
      </p:sp>
      <p:sp>
        <p:nvSpPr>
          <p:cNvPr id="19" name="ft18"/>
          <p:cNvSpPr txBox="1"/>
          <p:nvPr/>
        </p:nvSpPr>
        <p:spPr>
          <a:xfrm>
            <a:off x="5486400" y="473659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2 · Redis Intro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" presetClass="entr" presetSubtype="4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" presetClass="entr" presetSubtype="4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" presetClass="entr" presetSubtype="4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Calibri"/>
              </a:rPr>
              <a:t>The One Number That Explains Redis</a:t>
            </a:r>
          </a:p>
        </p:txBody>
      </p:sp>
      <p:sp>
        <p:nvSpPr>
          <p:cNvPr id="3" name="sub2"/>
          <p:cNvSpPr txBox="1"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Calibri"/>
              </a:rPr>
              <a:t>Reading from RAM against reading from disk - the whole design follows from this</a:t>
            </a:r>
          </a:p>
        </p:txBody>
      </p:sp>
      <p:sp>
        <p:nvSpPr>
          <p:cNvPr id="4" name="a1u_bl3"/>
          <p:cNvSpPr txBox="1"/>
          <p:nvPr/>
        </p:nvSpPr>
        <p:spPr>
          <a:xfrm>
            <a:off x="457200" y="121615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4155"/>
                </a:solidFill>
                <a:latin typeface="Calibri"/>
              </a:rPr>
              <a:t>Redis · RAM lookup</a:t>
            </a:r>
          </a:p>
        </p:txBody>
      </p:sp>
      <p:sp>
        <p:nvSpPr>
          <p:cNvPr id="5" name="a1w_bar4"/>
          <p:cNvSpPr/>
          <p:nvPr/>
        </p:nvSpPr>
        <p:spPr>
          <a:xfrm>
            <a:off x="3291840" y="1261872"/>
            <a:ext cx="320040" cy="237744"/>
          </a:xfrm>
          <a:prstGeom prst="roundRect">
            <a:avLst>
              <a:gd name="adj" fmla="val 19230"/>
            </a:avLst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a1fd200_bv5"/>
          <p:cNvSpPr txBox="1"/>
          <p:nvPr/>
        </p:nvSpPr>
        <p:spPr>
          <a:xfrm>
            <a:off x="3703320" y="1216152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DC382C"/>
                </a:solidFill>
                <a:latin typeface="Courier New"/>
              </a:rPr>
              <a:t>~0.1 ms</a:t>
            </a:r>
          </a:p>
        </p:txBody>
      </p:sp>
      <p:sp>
        <p:nvSpPr>
          <p:cNvPr id="7" name="a1ud150_bl6"/>
          <p:cNvSpPr txBox="1"/>
          <p:nvPr/>
        </p:nvSpPr>
        <p:spPr>
          <a:xfrm>
            <a:off x="457200" y="1746504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4155"/>
                </a:solidFill>
                <a:latin typeface="Calibri"/>
              </a:rPr>
              <a:t>SSD-backed RDBMS, cached page</a:t>
            </a:r>
          </a:p>
        </p:txBody>
      </p:sp>
      <p:sp>
        <p:nvSpPr>
          <p:cNvPr id="8" name="a1wd150_bar7"/>
          <p:cNvSpPr/>
          <p:nvPr/>
        </p:nvSpPr>
        <p:spPr>
          <a:xfrm>
            <a:off x="3291840" y="1792224"/>
            <a:ext cx="1005840" cy="237744"/>
          </a:xfrm>
          <a:prstGeom prst="roundRect">
            <a:avLst>
              <a:gd name="adj" fmla="val 1923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a1fd350_bv8"/>
          <p:cNvSpPr txBox="1"/>
          <p:nvPr/>
        </p:nvSpPr>
        <p:spPr>
          <a:xfrm>
            <a:off x="4389120" y="1746504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Courier New"/>
              </a:rPr>
              <a:t>~1 ms</a:t>
            </a:r>
          </a:p>
        </p:txBody>
      </p:sp>
      <p:sp>
        <p:nvSpPr>
          <p:cNvPr id="10" name="a1ud300_bl9"/>
          <p:cNvSpPr txBox="1"/>
          <p:nvPr/>
        </p:nvSpPr>
        <p:spPr>
          <a:xfrm>
            <a:off x="457200" y="2276856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4155"/>
                </a:solidFill>
                <a:latin typeface="Calibri"/>
              </a:rPr>
              <a:t>RDBMS, index + row from SSD</a:t>
            </a:r>
          </a:p>
        </p:txBody>
      </p:sp>
      <p:sp>
        <p:nvSpPr>
          <p:cNvPr id="11" name="a1wd300_bar10"/>
          <p:cNvSpPr/>
          <p:nvPr/>
        </p:nvSpPr>
        <p:spPr>
          <a:xfrm>
            <a:off x="3291840" y="2322576"/>
            <a:ext cx="2377440" cy="237744"/>
          </a:xfrm>
          <a:prstGeom prst="roundRect">
            <a:avLst>
              <a:gd name="adj" fmla="val 1923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a1fd500_bv11"/>
          <p:cNvSpPr txBox="1"/>
          <p:nvPr/>
        </p:nvSpPr>
        <p:spPr>
          <a:xfrm>
            <a:off x="5760720" y="227685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B45309"/>
                </a:solidFill>
                <a:latin typeface="Courier New"/>
              </a:rPr>
              <a:t>~5-10 ms</a:t>
            </a:r>
          </a:p>
        </p:txBody>
      </p:sp>
      <p:sp>
        <p:nvSpPr>
          <p:cNvPr id="13" name="a1ud450_bl12"/>
          <p:cNvSpPr txBox="1"/>
          <p:nvPr/>
        </p:nvSpPr>
        <p:spPr>
          <a:xfrm>
            <a:off x="457200" y="2807208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334155"/>
                </a:solidFill>
                <a:latin typeface="Calibri"/>
              </a:rPr>
              <a:t>RDBMS, complex join, cold</a:t>
            </a:r>
          </a:p>
        </p:txBody>
      </p:sp>
      <p:sp>
        <p:nvSpPr>
          <p:cNvPr id="14" name="a1wd450_bar13"/>
          <p:cNvSpPr/>
          <p:nvPr/>
        </p:nvSpPr>
        <p:spPr>
          <a:xfrm>
            <a:off x="3291840" y="2852927"/>
            <a:ext cx="3931920" cy="237744"/>
          </a:xfrm>
          <a:prstGeom prst="roundRect">
            <a:avLst>
              <a:gd name="adj" fmla="val 19230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a1fd650_bv14"/>
          <p:cNvSpPr txBox="1"/>
          <p:nvPr/>
        </p:nvSpPr>
        <p:spPr>
          <a:xfrm>
            <a:off x="7315200" y="2807208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>
                <a:solidFill>
                  <a:srgbClr val="334155"/>
                </a:solidFill>
                <a:latin typeface="Courier New"/>
              </a:rPr>
              <a:t>~50-200 ms</a:t>
            </a:r>
          </a:p>
        </p:txBody>
      </p:sp>
      <p:sp>
        <p:nvSpPr>
          <p:cNvPr id="16" name="a2u_card15"/>
          <p:cNvSpPr/>
          <p:nvPr/>
        </p:nvSpPr>
        <p:spPr>
          <a:xfrm>
            <a:off x="457200" y="3456432"/>
            <a:ext cx="3931920" cy="96012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a2ud60_c116"/>
          <p:cNvSpPr txBox="1"/>
          <p:nvPr/>
        </p:nvSpPr>
        <p:spPr>
          <a:xfrm>
            <a:off x="658368" y="3575304"/>
            <a:ext cx="3529584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DC382C"/>
                </a:solidFill>
                <a:latin typeface="Calibri"/>
              </a:rPr>
              <a:t>The consequence  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4155"/>
                </a:solidFill>
                <a:latin typeface="Calibri"/>
              </a:rPr>
              <a:t>One Redis node answers 100 000+ simple commands a second on ordinary hardware, because no command ever waits for a disk.</a:t>
            </a:r>
          </a:p>
        </p:txBody>
      </p:sp>
      <p:sp>
        <p:nvSpPr>
          <p:cNvPr id="18" name="a3u_card17"/>
          <p:cNvSpPr/>
          <p:nvPr/>
        </p:nvSpPr>
        <p:spPr>
          <a:xfrm>
            <a:off x="4754880" y="3456432"/>
            <a:ext cx="3931920" cy="96012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a3ud60_c218"/>
          <p:cNvSpPr txBox="1"/>
          <p:nvPr/>
        </p:nvSpPr>
        <p:spPr>
          <a:xfrm>
            <a:off x="4956048" y="3575304"/>
            <a:ext cx="3529584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B45309"/>
                </a:solidFill>
                <a:latin typeface="Calibri"/>
              </a:rPr>
              <a:t>The price  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334155"/>
                </a:solidFill>
                <a:latin typeface="Calibri"/>
              </a:rPr>
              <a:t>RAM costs roughly 100x what disk costs per GB, and a crash without persistence configured loses everything since the last save.</a:t>
            </a:r>
          </a:p>
        </p:txBody>
      </p:sp>
      <p:sp>
        <p:nvSpPr>
          <p:cNvPr id="20" name="ft19"/>
          <p:cNvSpPr txBox="1"/>
          <p:nvPr/>
        </p:nvSpPr>
        <p:spPr>
          <a:xfrm>
            <a:off x="457200" y="4736592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ICICI Bank Learning Academy  ·  Enterprise Data Engineering with SQL, Redis &amp; Kafka</a:t>
            </a:r>
          </a:p>
        </p:txBody>
      </p:sp>
      <p:sp>
        <p:nvSpPr>
          <p:cNvPr id="21" name="ft20"/>
          <p:cNvSpPr txBox="1"/>
          <p:nvPr/>
        </p:nvSpPr>
        <p:spPr>
          <a:xfrm>
            <a:off x="5486400" y="473659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2 · Redis Intro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Calibri"/>
              </a:rPr>
              <a:t>Where Redis Sits in an Application</a:t>
            </a:r>
          </a:p>
        </p:txBody>
      </p:sp>
      <p:sp>
        <p:nvSpPr>
          <p:cNvPr id="3" name="sub2"/>
          <p:cNvSpPr txBox="1"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Calibri"/>
              </a:rPr>
              <a:t>In front of the system of record, not instead of it</a:t>
            </a:r>
          </a:p>
        </p:txBody>
      </p:sp>
      <p:sp>
        <p:nvSpPr>
          <p:cNvPr id="4" name="a1u_card3"/>
          <p:cNvSpPr/>
          <p:nvPr/>
        </p:nvSpPr>
        <p:spPr>
          <a:xfrm>
            <a:off x="457200" y="1261872"/>
            <a:ext cx="1737360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a1ud40_n14"/>
          <p:cNvSpPr txBox="1"/>
          <p:nvPr/>
        </p:nvSpPr>
        <p:spPr>
          <a:xfrm>
            <a:off x="457200" y="1261872"/>
            <a:ext cx="173736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Client
app / API</a:t>
            </a:r>
          </a:p>
        </p:txBody>
      </p:sp>
      <p:cxnSp>
        <p:nvCxnSpPr>
          <p:cNvPr id="6" name="a1wd200_a15"/>
          <p:cNvCxnSpPr/>
          <p:nvPr/>
        </p:nvCxnSpPr>
        <p:spPr>
          <a:xfrm>
            <a:off x="2194560" y="1764792"/>
            <a:ext cx="1051560" cy="0"/>
          </a:xfrm>
          <a:prstGeom prst="line">
            <a:avLst/>
          </a:prstGeom>
          <a:ln w="25400">
            <a:solidFill>
              <a:srgbClr val="8B5CF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1fd250_a1l6"/>
          <p:cNvSpPr txBox="1"/>
          <p:nvPr/>
        </p:nvSpPr>
        <p:spPr>
          <a:xfrm>
            <a:off x="2148840" y="1490472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8B5CF6"/>
                </a:solidFill>
                <a:latin typeface="Calibri"/>
              </a:rPr>
              <a:t>1 · read</a:t>
            </a:r>
          </a:p>
        </p:txBody>
      </p:sp>
      <p:sp>
        <p:nvSpPr>
          <p:cNvPr id="8" name="a2u_card7"/>
          <p:cNvSpPr/>
          <p:nvPr/>
        </p:nvSpPr>
        <p:spPr>
          <a:xfrm>
            <a:off x="3291840" y="1261872"/>
            <a:ext cx="2103120" cy="1005840"/>
          </a:xfrm>
          <a:prstGeom prst="roundRect">
            <a:avLst>
              <a:gd name="adj" fmla="val 9090"/>
            </a:avLst>
          </a:prstGeom>
          <a:solidFill>
            <a:srgbClr val="FEE2E2"/>
          </a:solidFill>
          <a:ln w="12700">
            <a:solidFill>
              <a:srgbClr val="DC382C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a2ud40_n28"/>
          <p:cNvSpPr txBox="1"/>
          <p:nvPr/>
        </p:nvSpPr>
        <p:spPr>
          <a:xfrm>
            <a:off x="3291840" y="1261872"/>
            <a:ext cx="21031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991B1B"/>
                </a:solidFill>
                <a:latin typeface="Calibri"/>
              </a:rPr>
              <a:t>Redis
cache · sessions · counters</a:t>
            </a:r>
          </a:p>
        </p:txBody>
      </p:sp>
      <p:cxnSp>
        <p:nvCxnSpPr>
          <p:cNvPr id="10" name="a3w_a29"/>
          <p:cNvCxnSpPr/>
          <p:nvPr/>
        </p:nvCxnSpPr>
        <p:spPr>
          <a:xfrm>
            <a:off x="5394960" y="1764792"/>
            <a:ext cx="1051560" cy="0"/>
          </a:xfrm>
          <a:prstGeom prst="line">
            <a:avLst/>
          </a:prstGeom>
          <a:ln w="25400">
            <a:solidFill>
              <a:srgbClr val="0F76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a3fd50_a2l10"/>
          <p:cNvSpPr txBox="1"/>
          <p:nvPr/>
        </p:nvSpPr>
        <p:spPr>
          <a:xfrm>
            <a:off x="5349240" y="1490472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0F766E"/>
                </a:solidFill>
                <a:latin typeface="Calibri"/>
              </a:rPr>
              <a:t>2 · miss</a:t>
            </a:r>
          </a:p>
        </p:txBody>
      </p:sp>
      <p:sp>
        <p:nvSpPr>
          <p:cNvPr id="12" name="a3ud60_card11"/>
          <p:cNvSpPr/>
          <p:nvPr/>
        </p:nvSpPr>
        <p:spPr>
          <a:xfrm>
            <a:off x="6492240" y="1261872"/>
            <a:ext cx="2194560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a3ud100_n312"/>
          <p:cNvSpPr txBox="1"/>
          <p:nvPr/>
        </p:nvSpPr>
        <p:spPr>
          <a:xfrm>
            <a:off x="6492240" y="1261872"/>
            <a:ext cx="219456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PostgreSQL
system of record</a:t>
            </a:r>
          </a:p>
        </p:txBody>
      </p:sp>
      <p:cxnSp>
        <p:nvCxnSpPr>
          <p:cNvPr id="14" name="a4w_a313"/>
          <p:cNvCxnSpPr/>
          <p:nvPr/>
        </p:nvCxnSpPr>
        <p:spPr>
          <a:xfrm>
            <a:off x="7589520" y="2267712"/>
            <a:ext cx="0" cy="429768"/>
          </a:xfrm>
          <a:prstGeom prst="line">
            <a:avLst/>
          </a:prstGeom>
          <a:ln w="254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a4wd60_a414"/>
          <p:cNvCxnSpPr/>
          <p:nvPr/>
        </p:nvCxnSpPr>
        <p:spPr>
          <a:xfrm>
            <a:off x="4343400" y="2697480"/>
            <a:ext cx="3246120" cy="0"/>
          </a:xfrm>
          <a:prstGeom prst="line">
            <a:avLst/>
          </a:prstGeom>
          <a:ln w="25400">
            <a:solidFill>
              <a:srgbClr val="B4530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a4wd120_a515"/>
          <p:cNvCxnSpPr/>
          <p:nvPr/>
        </p:nvCxnSpPr>
        <p:spPr>
          <a:xfrm flipV="1">
            <a:off x="4343400" y="2295144"/>
            <a:ext cx="0" cy="402336"/>
          </a:xfrm>
          <a:prstGeom prst="line">
            <a:avLst/>
          </a:prstGeom>
          <a:ln w="25400">
            <a:solidFill>
              <a:srgbClr val="B4530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a4fd180_a3l16"/>
          <p:cNvSpPr txBox="1"/>
          <p:nvPr/>
        </p:nvSpPr>
        <p:spPr>
          <a:xfrm>
            <a:off x="4846320" y="2715768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B45309"/>
                </a:solidFill>
                <a:latin typeface="Calibri"/>
              </a:rPr>
              <a:t>3 · populate the cache</a:t>
            </a:r>
          </a:p>
        </p:txBody>
      </p:sp>
      <p:sp>
        <p:nvSpPr>
          <p:cNvPr id="18" name="a5f_th17"/>
          <p:cNvSpPr/>
          <p:nvPr/>
        </p:nvSpPr>
        <p:spPr>
          <a:xfrm>
            <a:off x="457200" y="3044952"/>
            <a:ext cx="3977639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a5f_tht18"/>
          <p:cNvSpPr txBox="1"/>
          <p:nvPr/>
        </p:nvSpPr>
        <p:spPr>
          <a:xfrm>
            <a:off x="530352" y="3044952"/>
            <a:ext cx="3867911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Redis is good at</a:t>
            </a:r>
          </a:p>
        </p:txBody>
      </p:sp>
      <p:sp>
        <p:nvSpPr>
          <p:cNvPr id="20" name="a5wd140_td19"/>
          <p:cNvSpPr/>
          <p:nvPr/>
        </p:nvSpPr>
        <p:spPr>
          <a:xfrm>
            <a:off x="457200" y="3429000"/>
            <a:ext cx="3977639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a5wd140_tdt20"/>
          <p:cNvSpPr txBox="1"/>
          <p:nvPr/>
        </p:nvSpPr>
        <p:spPr>
          <a:xfrm>
            <a:off x="530352" y="3429000"/>
            <a:ext cx="3867911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Data you read far more often than you write</a:t>
            </a:r>
          </a:p>
        </p:txBody>
      </p:sp>
      <p:sp>
        <p:nvSpPr>
          <p:cNvPr id="22" name="a5wd280_td21"/>
          <p:cNvSpPr/>
          <p:nvPr/>
        </p:nvSpPr>
        <p:spPr>
          <a:xfrm>
            <a:off x="457200" y="3813048"/>
            <a:ext cx="3977639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a5wd280_tdt22"/>
          <p:cNvSpPr txBox="1"/>
          <p:nvPr/>
        </p:nvSpPr>
        <p:spPr>
          <a:xfrm>
            <a:off x="530352" y="3813048"/>
            <a:ext cx="3867911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Data you can rebuild if it is lost</a:t>
            </a:r>
          </a:p>
        </p:txBody>
      </p:sp>
      <p:sp>
        <p:nvSpPr>
          <p:cNvPr id="24" name="a5wd420_td23"/>
          <p:cNvSpPr/>
          <p:nvPr/>
        </p:nvSpPr>
        <p:spPr>
          <a:xfrm>
            <a:off x="457200" y="4197096"/>
            <a:ext cx="3977639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a5wd420_tdt24"/>
          <p:cNvSpPr txBox="1"/>
          <p:nvPr/>
        </p:nvSpPr>
        <p:spPr>
          <a:xfrm>
            <a:off x="530352" y="4197096"/>
            <a:ext cx="3867911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Small, hot working sets that fit in RAM</a:t>
            </a:r>
          </a:p>
        </p:txBody>
      </p:sp>
      <p:sp>
        <p:nvSpPr>
          <p:cNvPr id="26" name="a5wd560_td25"/>
          <p:cNvSpPr/>
          <p:nvPr/>
        </p:nvSpPr>
        <p:spPr>
          <a:xfrm>
            <a:off x="457200" y="4581144"/>
            <a:ext cx="3977639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a5wd560_tdt26"/>
          <p:cNvSpPr txBox="1"/>
          <p:nvPr/>
        </p:nvSpPr>
        <p:spPr>
          <a:xfrm>
            <a:off x="530352" y="4581144"/>
            <a:ext cx="3867911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Fixed access patterns - you know the key</a:t>
            </a:r>
          </a:p>
        </p:txBody>
      </p:sp>
      <p:sp>
        <p:nvSpPr>
          <p:cNvPr id="28" name="a5f_th27"/>
          <p:cNvSpPr/>
          <p:nvPr/>
        </p:nvSpPr>
        <p:spPr>
          <a:xfrm>
            <a:off x="4434840" y="3044952"/>
            <a:ext cx="4251960" cy="384048"/>
          </a:xfrm>
          <a:prstGeom prst="rect">
            <a:avLst/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a5f_tht28"/>
          <p:cNvSpPr txBox="1"/>
          <p:nvPr/>
        </p:nvSpPr>
        <p:spPr>
          <a:xfrm>
            <a:off x="4507992" y="3044952"/>
            <a:ext cx="414223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Redis is NOT the place for</a:t>
            </a:r>
          </a:p>
        </p:txBody>
      </p:sp>
      <p:sp>
        <p:nvSpPr>
          <p:cNvPr id="30" name="a5wd140_td29"/>
          <p:cNvSpPr/>
          <p:nvPr/>
        </p:nvSpPr>
        <p:spPr>
          <a:xfrm>
            <a:off x="4434840" y="3429000"/>
            <a:ext cx="42519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a5wd140_tdt30"/>
          <p:cNvSpPr txBox="1"/>
          <p:nvPr/>
        </p:nvSpPr>
        <p:spPr>
          <a:xfrm>
            <a:off x="4507992" y="3429000"/>
            <a:ext cx="414223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The ledger - money must be ACID and audited</a:t>
            </a:r>
          </a:p>
        </p:txBody>
      </p:sp>
      <p:sp>
        <p:nvSpPr>
          <p:cNvPr id="32" name="a5wd280_td31"/>
          <p:cNvSpPr/>
          <p:nvPr/>
        </p:nvSpPr>
        <p:spPr>
          <a:xfrm>
            <a:off x="4434840" y="3813048"/>
            <a:ext cx="42519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a5wd280_tdt32"/>
          <p:cNvSpPr txBox="1"/>
          <p:nvPr/>
        </p:nvSpPr>
        <p:spPr>
          <a:xfrm>
            <a:off x="4507992" y="3813048"/>
            <a:ext cx="414223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Anything you cannot reconstruct from source</a:t>
            </a:r>
          </a:p>
        </p:txBody>
      </p:sp>
      <p:sp>
        <p:nvSpPr>
          <p:cNvPr id="34" name="a5wd420_td33"/>
          <p:cNvSpPr/>
          <p:nvPr/>
        </p:nvSpPr>
        <p:spPr>
          <a:xfrm>
            <a:off x="4434840" y="4197096"/>
            <a:ext cx="42519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a5wd420_tdt34"/>
          <p:cNvSpPr txBox="1"/>
          <p:nvPr/>
        </p:nvSpPr>
        <p:spPr>
          <a:xfrm>
            <a:off x="4507992" y="4197096"/>
            <a:ext cx="414223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Cold archives and multi-terabyte history</a:t>
            </a:r>
          </a:p>
        </p:txBody>
      </p:sp>
      <p:sp>
        <p:nvSpPr>
          <p:cNvPr id="36" name="a5wd560_td35"/>
          <p:cNvSpPr/>
          <p:nvPr/>
        </p:nvSpPr>
        <p:spPr>
          <a:xfrm>
            <a:off x="4434840" y="4581144"/>
            <a:ext cx="42519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a5wd560_tdt36"/>
          <p:cNvSpPr txBox="1"/>
          <p:nvPr/>
        </p:nvSpPr>
        <p:spPr>
          <a:xfrm>
            <a:off x="4507992" y="4581144"/>
            <a:ext cx="414223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Ad-hoc analytics and reporting joins</a:t>
            </a:r>
          </a:p>
        </p:txBody>
      </p:sp>
      <p:sp>
        <p:nvSpPr>
          <p:cNvPr id="38" name="ft37"/>
          <p:cNvSpPr txBox="1"/>
          <p:nvPr/>
        </p:nvSpPr>
        <p:spPr>
          <a:xfrm>
            <a:off x="457200" y="4736592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ICICI Bank Learning Academy  ·  Enterprise Data Engineering with SQL, Redis &amp; Kafka</a:t>
            </a:r>
          </a:p>
        </p:txBody>
      </p:sp>
      <p:sp>
        <p:nvSpPr>
          <p:cNvPr id="39" name="ft38"/>
          <p:cNvSpPr txBox="1"/>
          <p:nvPr/>
        </p:nvSpPr>
        <p:spPr>
          <a:xfrm>
            <a:off x="5486400" y="473659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2 · Redis Intro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" presetClass="entr" presetSubtype="4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" presetClass="entr" presetSubtype="4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2" presetClass="entr" presetSubtype="8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8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8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2" presetClass="entr" presetSubtype="8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2" presetClass="entr" presetSubtype="8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22" presetClass="entr" presetSubtype="8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2" presetClass="entr" presetSubtype="8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2" presetClass="entr" presetSubtype="8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0f_n1"/>
          <p:cNvSpPr txBox="1"/>
          <p:nvPr/>
        </p:nvSpPr>
        <p:spPr>
          <a:xfrm>
            <a:off x="548640" y="1143000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800" b="1">
                <a:solidFill>
                  <a:srgbClr val="A78BFA"/>
                </a:solidFill>
                <a:latin typeface="Calibri"/>
              </a:rPr>
              <a:t>02</a:t>
            </a:r>
          </a:p>
        </p:txBody>
      </p:sp>
      <p:sp>
        <p:nvSpPr>
          <p:cNvPr id="3" name="a0ud200_h2"/>
          <p:cNvSpPr txBox="1"/>
          <p:nvPr/>
        </p:nvSpPr>
        <p:spPr>
          <a:xfrm>
            <a:off x="548640" y="1938528"/>
            <a:ext cx="58521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Which Redis?</a:t>
            </a:r>
          </a:p>
        </p:txBody>
      </p:sp>
      <p:sp>
        <p:nvSpPr>
          <p:cNvPr id="4" name="a0fd450_t3"/>
          <p:cNvSpPr txBox="1"/>
          <p:nvPr/>
        </p:nvSpPr>
        <p:spPr>
          <a:xfrm>
            <a:off x="548640" y="2743200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One name, several distributions - and picking the wrong one wastes a week</a:t>
            </a:r>
          </a:p>
        </p:txBody>
      </p:sp>
      <p:sp>
        <p:nvSpPr>
          <p:cNvPr id="5" name="a0ud600_pill4"/>
          <p:cNvSpPr/>
          <p:nvPr/>
        </p:nvSpPr>
        <p:spPr>
          <a:xfrm>
            <a:off x="5532120" y="1325880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CBD5E1"/>
                </a:solidFill>
                <a:latin typeface="Courier New"/>
              </a:rPr>
              <a:t>Redis CE</a:t>
            </a:r>
          </a:p>
        </p:txBody>
      </p:sp>
      <p:sp>
        <p:nvSpPr>
          <p:cNvPr id="6" name="a0ud750_pill5"/>
          <p:cNvSpPr/>
          <p:nvPr/>
        </p:nvSpPr>
        <p:spPr>
          <a:xfrm>
            <a:off x="5532120" y="1801368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CBD5E1"/>
                </a:solidFill>
                <a:latin typeface="Courier New"/>
              </a:rPr>
              <a:t>Redis Stack</a:t>
            </a:r>
          </a:p>
        </p:txBody>
      </p:sp>
      <p:sp>
        <p:nvSpPr>
          <p:cNvPr id="7" name="a0ud900_pill6"/>
          <p:cNvSpPr/>
          <p:nvPr/>
        </p:nvSpPr>
        <p:spPr>
          <a:xfrm>
            <a:off x="5532120" y="2276856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CBD5E1"/>
                </a:solidFill>
                <a:latin typeface="Courier New"/>
              </a:rPr>
              <a:t>Redis Enterprise</a:t>
            </a:r>
          </a:p>
        </p:txBody>
      </p:sp>
      <p:sp>
        <p:nvSpPr>
          <p:cNvPr id="8" name="a0ud1050_pill7"/>
          <p:cNvSpPr/>
          <p:nvPr/>
        </p:nvSpPr>
        <p:spPr>
          <a:xfrm>
            <a:off x="5532120" y="2752344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CBD5E1"/>
                </a:solidFill>
                <a:latin typeface="Courier New"/>
              </a:rPr>
              <a:t>Valkey</a:t>
            </a:r>
          </a:p>
        </p:txBody>
      </p:sp>
      <p:sp>
        <p:nvSpPr>
          <p:cNvPr id="9" name="a0ud1200_pill8"/>
          <p:cNvSpPr/>
          <p:nvPr/>
        </p:nvSpPr>
        <p:spPr>
          <a:xfrm>
            <a:off x="5532120" y="3227832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CBD5E1"/>
                </a:solidFill>
                <a:latin typeface="Courier New"/>
              </a:rPr>
              <a:t>Managed cloud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Calibri"/>
              </a:rPr>
              <a:t>The Redis Family Tree</a:t>
            </a:r>
          </a:p>
        </p:txBody>
      </p:sp>
      <p:sp>
        <p:nvSpPr>
          <p:cNvPr id="3" name="sub2"/>
          <p:cNvSpPr txBox="1"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Calibri"/>
              </a:rPr>
              <a:t>All of them speak the same protocol. They differ in what is bundled</a:t>
            </a:r>
          </a:p>
        </p:txBody>
      </p:sp>
      <p:sp>
        <p:nvSpPr>
          <p:cNvPr id="4" name="a1u_card3"/>
          <p:cNvSpPr/>
          <p:nvPr/>
        </p:nvSpPr>
        <p:spPr>
          <a:xfrm>
            <a:off x="457200" y="1143000"/>
            <a:ext cx="1906524" cy="2103120"/>
          </a:xfrm>
          <a:prstGeom prst="roundRect">
            <a:avLst>
              <a:gd name="adj" fmla="val 479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a1u_acc4"/>
          <p:cNvSpPr/>
          <p:nvPr/>
        </p:nvSpPr>
        <p:spPr>
          <a:xfrm>
            <a:off x="457200" y="1143000"/>
            <a:ext cx="1906524" cy="50292"/>
          </a:xfrm>
          <a:prstGeom prst="rect">
            <a:avLst/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a1ud60_ic5"/>
          <p:cNvSpPr/>
          <p:nvPr/>
        </p:nvSpPr>
        <p:spPr>
          <a:xfrm>
            <a:off x="621792" y="1344168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a1ud60_ict6"/>
          <p:cNvSpPr txBox="1"/>
          <p:nvPr/>
        </p:nvSpPr>
        <p:spPr>
          <a:xfrm>
            <a:off x="621792" y="134416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CE</a:t>
            </a:r>
          </a:p>
        </p:txBody>
      </p:sp>
      <p:sp>
        <p:nvSpPr>
          <p:cNvPr id="8" name="a1ud90_ct7"/>
          <p:cNvSpPr txBox="1"/>
          <p:nvPr/>
        </p:nvSpPr>
        <p:spPr>
          <a:xfrm>
            <a:off x="621792" y="1819656"/>
            <a:ext cx="15773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Redis CE</a:t>
            </a:r>
          </a:p>
        </p:txBody>
      </p:sp>
      <p:sp>
        <p:nvSpPr>
          <p:cNvPr id="9" name="a1ud120_cs8"/>
          <p:cNvSpPr txBox="1"/>
          <p:nvPr/>
        </p:nvSpPr>
        <p:spPr>
          <a:xfrm>
            <a:off x="621792" y="2093976"/>
            <a:ext cx="1577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DC382C"/>
                </a:solidFill>
                <a:latin typeface="Courier New"/>
              </a:rPr>
              <a:t>COMMUNITY EDITION</a:t>
            </a:r>
          </a:p>
        </p:txBody>
      </p:sp>
      <p:sp>
        <p:nvSpPr>
          <p:cNvPr id="10" name="a1ud150_cb9"/>
          <p:cNvSpPr txBox="1"/>
          <p:nvPr/>
        </p:nvSpPr>
        <p:spPr>
          <a:xfrm>
            <a:off x="621792" y="2350008"/>
            <a:ext cx="15773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DC382C"/>
                </a:solidFill>
                <a:latin typeface="Calibri"/>
              </a:rPr>
              <a:t>· </a:t>
            </a:r>
            <a:r>
              <a:rPr sz="1050" b="0">
                <a:solidFill>
                  <a:srgbClr val="334155"/>
                </a:solidFill>
                <a:latin typeface="Calibri"/>
              </a:rPr>
              <a:t>The open-source server everyone means by "Redis"</a:t>
            </a:r>
          </a:p>
        </p:txBody>
      </p:sp>
      <p:sp>
        <p:nvSpPr>
          <p:cNvPr id="11" name="a1ud220_cb10"/>
          <p:cNvSpPr txBox="1"/>
          <p:nvPr/>
        </p:nvSpPr>
        <p:spPr>
          <a:xfrm>
            <a:off x="621792" y="2734056"/>
            <a:ext cx="15773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DC382C"/>
                </a:solidFill>
                <a:latin typeface="Calibri"/>
              </a:rPr>
              <a:t>· </a:t>
            </a:r>
            <a:r>
              <a:rPr sz="1050" b="0">
                <a:solidFill>
                  <a:srgbClr val="334155"/>
                </a:solidFill>
                <a:latin typeface="Calibri"/>
              </a:rPr>
              <a:t>Core types, persistence, replication, Cluster</a:t>
            </a:r>
          </a:p>
        </p:txBody>
      </p:sp>
      <p:sp>
        <p:nvSpPr>
          <p:cNvPr id="12" name="a1ud290_cb11"/>
          <p:cNvSpPr txBox="1"/>
          <p:nvPr/>
        </p:nvSpPr>
        <p:spPr>
          <a:xfrm>
            <a:off x="621792" y="3118104"/>
            <a:ext cx="15773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DC382C"/>
                </a:solidFill>
                <a:latin typeface="Calibri"/>
              </a:rPr>
              <a:t>· </a:t>
            </a:r>
            <a:r>
              <a:rPr sz="1050" b="0">
                <a:solidFill>
                  <a:srgbClr val="334155"/>
                </a:solidFill>
                <a:latin typeface="Calibri"/>
              </a:rPr>
              <a:t>Free · this is what the labs use</a:t>
            </a:r>
          </a:p>
        </p:txBody>
      </p:sp>
      <p:sp>
        <p:nvSpPr>
          <p:cNvPr id="13" name="a2u_card12"/>
          <p:cNvSpPr/>
          <p:nvPr/>
        </p:nvSpPr>
        <p:spPr>
          <a:xfrm>
            <a:off x="2564892" y="1143000"/>
            <a:ext cx="1906524" cy="2103120"/>
          </a:xfrm>
          <a:prstGeom prst="roundRect">
            <a:avLst>
              <a:gd name="adj" fmla="val 479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a2u_acc13"/>
          <p:cNvSpPr/>
          <p:nvPr/>
        </p:nvSpPr>
        <p:spPr>
          <a:xfrm>
            <a:off x="2564892" y="1143000"/>
            <a:ext cx="1906524" cy="5029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a2ud60_ic14"/>
          <p:cNvSpPr/>
          <p:nvPr/>
        </p:nvSpPr>
        <p:spPr>
          <a:xfrm>
            <a:off x="2729484" y="1344168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a2ud60_ict15"/>
          <p:cNvSpPr txBox="1"/>
          <p:nvPr/>
        </p:nvSpPr>
        <p:spPr>
          <a:xfrm>
            <a:off x="2729484" y="134416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ST</a:t>
            </a:r>
          </a:p>
        </p:txBody>
      </p:sp>
      <p:sp>
        <p:nvSpPr>
          <p:cNvPr id="17" name="a2ud90_ct16"/>
          <p:cNvSpPr txBox="1"/>
          <p:nvPr/>
        </p:nvSpPr>
        <p:spPr>
          <a:xfrm>
            <a:off x="2729484" y="1819656"/>
            <a:ext cx="15773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Redis Stack</a:t>
            </a:r>
          </a:p>
        </p:txBody>
      </p:sp>
      <p:sp>
        <p:nvSpPr>
          <p:cNvPr id="18" name="a2ud120_cs17"/>
          <p:cNvSpPr txBox="1"/>
          <p:nvPr/>
        </p:nvSpPr>
        <p:spPr>
          <a:xfrm>
            <a:off x="2729484" y="2093976"/>
            <a:ext cx="1577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8B5CF6"/>
                </a:solidFill>
                <a:latin typeface="Courier New"/>
              </a:rPr>
              <a:t>CE + MODULES</a:t>
            </a:r>
          </a:p>
        </p:txBody>
      </p:sp>
      <p:sp>
        <p:nvSpPr>
          <p:cNvPr id="19" name="a2ud150_cb18"/>
          <p:cNvSpPr txBox="1"/>
          <p:nvPr/>
        </p:nvSpPr>
        <p:spPr>
          <a:xfrm>
            <a:off x="2729484" y="2350008"/>
            <a:ext cx="15773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8B5CF6"/>
                </a:solidFill>
                <a:latin typeface="Calibri"/>
              </a:rPr>
              <a:t>· </a:t>
            </a:r>
            <a:r>
              <a:rPr sz="1050" b="0">
                <a:solidFill>
                  <a:srgbClr val="334155"/>
                </a:solidFill>
                <a:latin typeface="Calibri"/>
              </a:rPr>
              <a:t>CE plus JSON, Search, Time Series, Bloom filters</a:t>
            </a:r>
          </a:p>
        </p:txBody>
      </p:sp>
      <p:sp>
        <p:nvSpPr>
          <p:cNvPr id="20" name="a2ud220_cb19"/>
          <p:cNvSpPr txBox="1"/>
          <p:nvPr/>
        </p:nvSpPr>
        <p:spPr>
          <a:xfrm>
            <a:off x="2729484" y="2734056"/>
            <a:ext cx="15773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8B5CF6"/>
                </a:solidFill>
                <a:latin typeface="Calibri"/>
              </a:rPr>
              <a:t>· </a:t>
            </a:r>
            <a:r>
              <a:rPr sz="1050" b="0">
                <a:solidFill>
                  <a:srgbClr val="334155"/>
                </a:solidFill>
                <a:latin typeface="Calibri"/>
              </a:rPr>
              <a:t>Ships with RedisInsight, the GUI</a:t>
            </a:r>
          </a:p>
        </p:txBody>
      </p:sp>
      <p:sp>
        <p:nvSpPr>
          <p:cNvPr id="21" name="a2ud290_cb20"/>
          <p:cNvSpPr txBox="1"/>
          <p:nvPr/>
        </p:nvSpPr>
        <p:spPr>
          <a:xfrm>
            <a:off x="2729484" y="3118104"/>
            <a:ext cx="15773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8B5CF6"/>
                </a:solidFill>
                <a:latin typeface="Calibri"/>
              </a:rPr>
              <a:t>· </a:t>
            </a:r>
            <a:r>
              <a:rPr sz="1050" b="0">
                <a:solidFill>
                  <a:srgbClr val="334155"/>
                </a:solidFill>
                <a:latin typeface="Calibri"/>
              </a:rPr>
              <a:t>Free for development</a:t>
            </a:r>
          </a:p>
        </p:txBody>
      </p:sp>
      <p:sp>
        <p:nvSpPr>
          <p:cNvPr id="22" name="a3u_card21"/>
          <p:cNvSpPr/>
          <p:nvPr/>
        </p:nvSpPr>
        <p:spPr>
          <a:xfrm>
            <a:off x="4672584" y="1143000"/>
            <a:ext cx="1906524" cy="2103120"/>
          </a:xfrm>
          <a:prstGeom prst="roundRect">
            <a:avLst>
              <a:gd name="adj" fmla="val 479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a3u_acc22"/>
          <p:cNvSpPr/>
          <p:nvPr/>
        </p:nvSpPr>
        <p:spPr>
          <a:xfrm>
            <a:off x="4672584" y="1143000"/>
            <a:ext cx="1906524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a3ud60_ic23"/>
          <p:cNvSpPr/>
          <p:nvPr/>
        </p:nvSpPr>
        <p:spPr>
          <a:xfrm>
            <a:off x="4837176" y="1344168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a3ud60_ict24"/>
          <p:cNvSpPr txBox="1"/>
          <p:nvPr/>
        </p:nvSpPr>
        <p:spPr>
          <a:xfrm>
            <a:off x="4837176" y="134416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EE</a:t>
            </a:r>
          </a:p>
        </p:txBody>
      </p:sp>
      <p:sp>
        <p:nvSpPr>
          <p:cNvPr id="26" name="a3ud90_ct25"/>
          <p:cNvSpPr txBox="1"/>
          <p:nvPr/>
        </p:nvSpPr>
        <p:spPr>
          <a:xfrm>
            <a:off x="4837176" y="1819656"/>
            <a:ext cx="15773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Redis Enterprise</a:t>
            </a:r>
          </a:p>
        </p:txBody>
      </p:sp>
      <p:sp>
        <p:nvSpPr>
          <p:cNvPr id="27" name="a3ud120_cs26"/>
          <p:cNvSpPr txBox="1"/>
          <p:nvPr/>
        </p:nvSpPr>
        <p:spPr>
          <a:xfrm>
            <a:off x="4837176" y="2093976"/>
            <a:ext cx="1577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Courier New"/>
              </a:rPr>
              <a:t>COMMERCIAL</a:t>
            </a:r>
          </a:p>
        </p:txBody>
      </p:sp>
      <p:sp>
        <p:nvSpPr>
          <p:cNvPr id="28" name="a3ud150_cb27"/>
          <p:cNvSpPr txBox="1"/>
          <p:nvPr/>
        </p:nvSpPr>
        <p:spPr>
          <a:xfrm>
            <a:off x="4837176" y="2350008"/>
            <a:ext cx="15773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0F766E"/>
                </a:solidFill>
                <a:latin typeface="Calibri"/>
              </a:rPr>
              <a:t>· </a:t>
            </a:r>
            <a:r>
              <a:rPr sz="1050" b="0">
                <a:solidFill>
                  <a:srgbClr val="334155"/>
                </a:solidFill>
                <a:latin typeface="Calibri"/>
              </a:rPr>
              <a:t>Active-active geo replication, auto failover, tiering to flash</a:t>
            </a:r>
          </a:p>
        </p:txBody>
      </p:sp>
      <p:sp>
        <p:nvSpPr>
          <p:cNvPr id="29" name="a3ud220_cb28"/>
          <p:cNvSpPr txBox="1"/>
          <p:nvPr/>
        </p:nvSpPr>
        <p:spPr>
          <a:xfrm>
            <a:off x="4837176" y="2734056"/>
            <a:ext cx="15773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0F766E"/>
                </a:solidFill>
                <a:latin typeface="Calibri"/>
              </a:rPr>
              <a:t>· </a:t>
            </a:r>
            <a:r>
              <a:rPr sz="1050" b="0">
                <a:solidFill>
                  <a:srgbClr val="334155"/>
                </a:solidFill>
                <a:latin typeface="Calibri"/>
              </a:rPr>
              <a:t>Support, SLA, hardened for regulated industries</a:t>
            </a:r>
          </a:p>
        </p:txBody>
      </p:sp>
      <p:sp>
        <p:nvSpPr>
          <p:cNvPr id="30" name="a3ud290_cb29"/>
          <p:cNvSpPr txBox="1"/>
          <p:nvPr/>
        </p:nvSpPr>
        <p:spPr>
          <a:xfrm>
            <a:off x="4837176" y="3118104"/>
            <a:ext cx="15773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0F766E"/>
                </a:solidFill>
                <a:latin typeface="Calibri"/>
              </a:rPr>
              <a:t>· </a:t>
            </a:r>
            <a:r>
              <a:rPr sz="1050" b="0">
                <a:solidFill>
                  <a:srgbClr val="334155"/>
                </a:solidFill>
                <a:latin typeface="Calibri"/>
              </a:rPr>
              <a:t>Licensed · what a bank buys</a:t>
            </a:r>
          </a:p>
        </p:txBody>
      </p:sp>
      <p:sp>
        <p:nvSpPr>
          <p:cNvPr id="31" name="a4u_card30"/>
          <p:cNvSpPr/>
          <p:nvPr/>
        </p:nvSpPr>
        <p:spPr>
          <a:xfrm>
            <a:off x="6780276" y="1143000"/>
            <a:ext cx="1906524" cy="2103120"/>
          </a:xfrm>
          <a:prstGeom prst="roundRect">
            <a:avLst>
              <a:gd name="adj" fmla="val 479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a4u_acc31"/>
          <p:cNvSpPr/>
          <p:nvPr/>
        </p:nvSpPr>
        <p:spPr>
          <a:xfrm>
            <a:off x="6780276" y="1143000"/>
            <a:ext cx="1906524" cy="5029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a4ud60_ic32"/>
          <p:cNvSpPr/>
          <p:nvPr/>
        </p:nvSpPr>
        <p:spPr>
          <a:xfrm>
            <a:off x="6944868" y="1344168"/>
            <a:ext cx="384048" cy="384048"/>
          </a:xfrm>
          <a:prstGeom prst="roundRect">
            <a:avLst>
              <a:gd name="adj" fmla="val 23809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a4ud60_ict33"/>
          <p:cNvSpPr txBox="1"/>
          <p:nvPr/>
        </p:nvSpPr>
        <p:spPr>
          <a:xfrm>
            <a:off x="6944868" y="134416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VK</a:t>
            </a:r>
          </a:p>
        </p:txBody>
      </p:sp>
      <p:sp>
        <p:nvSpPr>
          <p:cNvPr id="35" name="a4ud90_ct34"/>
          <p:cNvSpPr txBox="1"/>
          <p:nvPr/>
        </p:nvSpPr>
        <p:spPr>
          <a:xfrm>
            <a:off x="6944868" y="1819656"/>
            <a:ext cx="15773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Calibri"/>
              </a:rPr>
              <a:t>Valkey</a:t>
            </a:r>
          </a:p>
        </p:txBody>
      </p:sp>
      <p:sp>
        <p:nvSpPr>
          <p:cNvPr id="36" name="a4ud120_cs35"/>
          <p:cNvSpPr txBox="1"/>
          <p:nvPr/>
        </p:nvSpPr>
        <p:spPr>
          <a:xfrm>
            <a:off x="6944868" y="2093976"/>
            <a:ext cx="15773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B45309"/>
                </a:solidFill>
                <a:latin typeface="Courier New"/>
              </a:rPr>
              <a:t>LINUX FOUNDATION FORK</a:t>
            </a:r>
          </a:p>
        </p:txBody>
      </p:sp>
      <p:sp>
        <p:nvSpPr>
          <p:cNvPr id="37" name="a4ud150_cb36"/>
          <p:cNvSpPr txBox="1"/>
          <p:nvPr/>
        </p:nvSpPr>
        <p:spPr>
          <a:xfrm>
            <a:off x="6944868" y="2350008"/>
            <a:ext cx="15773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B45309"/>
                </a:solidFill>
                <a:latin typeface="Calibri"/>
              </a:rPr>
              <a:t>· </a:t>
            </a:r>
            <a:r>
              <a:rPr sz="1050" b="0">
                <a:solidFill>
                  <a:srgbClr val="334155"/>
                </a:solidFill>
                <a:latin typeface="Calibri"/>
              </a:rPr>
              <a:t>Forked from Redis 7.2 in 2024 after the licence change</a:t>
            </a:r>
          </a:p>
        </p:txBody>
      </p:sp>
      <p:sp>
        <p:nvSpPr>
          <p:cNvPr id="38" name="a4ud220_cb37"/>
          <p:cNvSpPr txBox="1"/>
          <p:nvPr/>
        </p:nvSpPr>
        <p:spPr>
          <a:xfrm>
            <a:off x="6944868" y="2734056"/>
            <a:ext cx="15773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B45309"/>
                </a:solidFill>
                <a:latin typeface="Calibri"/>
              </a:rPr>
              <a:t>· </a:t>
            </a:r>
            <a:r>
              <a:rPr sz="1050" b="0">
                <a:solidFill>
                  <a:srgbClr val="334155"/>
                </a:solidFill>
                <a:latin typeface="Calibri"/>
              </a:rPr>
              <a:t>Drop-in compatible; backed by AWS, Google, Oracle</a:t>
            </a:r>
          </a:p>
        </p:txBody>
      </p:sp>
      <p:sp>
        <p:nvSpPr>
          <p:cNvPr id="39" name="a4ud290_cb38"/>
          <p:cNvSpPr txBox="1"/>
          <p:nvPr/>
        </p:nvSpPr>
        <p:spPr>
          <a:xfrm>
            <a:off x="6944868" y="3118104"/>
            <a:ext cx="157734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B45309"/>
                </a:solidFill>
                <a:latin typeface="Calibri"/>
              </a:rPr>
              <a:t>· </a:t>
            </a:r>
            <a:r>
              <a:rPr sz="1050" b="0">
                <a:solidFill>
                  <a:srgbClr val="334155"/>
                </a:solidFill>
                <a:latin typeface="Calibri"/>
              </a:rPr>
              <a:t>Free · BSD licensed</a:t>
            </a:r>
          </a:p>
        </p:txBody>
      </p:sp>
      <p:sp>
        <p:nvSpPr>
          <p:cNvPr id="40" name="a5u_nb39"/>
          <p:cNvSpPr/>
          <p:nvPr/>
        </p:nvSpPr>
        <p:spPr>
          <a:xfrm>
            <a:off x="457200" y="3410712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a5u_nacc40"/>
          <p:cNvSpPr/>
          <p:nvPr/>
        </p:nvSpPr>
        <p:spPr>
          <a:xfrm>
            <a:off x="457200" y="3410712"/>
            <a:ext cx="50292" cy="5486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a5u_nt41"/>
          <p:cNvSpPr txBox="1"/>
          <p:nvPr/>
        </p:nvSpPr>
        <p:spPr>
          <a:xfrm>
            <a:off x="658368" y="3410712"/>
            <a:ext cx="782726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8B5CF6"/>
                </a:solidFill>
                <a:latin typeface="Calibri"/>
              </a:rPr>
              <a:t>KEY  </a:t>
            </a:r>
            <a:r>
              <a:rPr sz="1150" b="0">
                <a:solidFill>
                  <a:srgbClr val="334155"/>
                </a:solidFill>
                <a:latin typeface="Calibri"/>
              </a:rPr>
              <a:t>Everything taught in this module works identically on all four. The commands, the data structures and the protocol are the same - so learn the core once and the choice becomes a procurement question, not a technical one.</a:t>
            </a:r>
          </a:p>
        </p:txBody>
      </p:sp>
      <p:sp>
        <p:nvSpPr>
          <p:cNvPr id="43" name="ft42"/>
          <p:cNvSpPr txBox="1"/>
          <p:nvPr/>
        </p:nvSpPr>
        <p:spPr>
          <a:xfrm>
            <a:off x="457200" y="4736592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ICICI Bank Learning Academy  ·  Enterprise Data Engineering with SQL, Redis &amp; Kafka</a:t>
            </a:r>
          </a:p>
        </p:txBody>
      </p:sp>
      <p:sp>
        <p:nvSpPr>
          <p:cNvPr id="44" name="ft43"/>
          <p:cNvSpPr txBox="1"/>
          <p:nvPr/>
        </p:nvSpPr>
        <p:spPr>
          <a:xfrm>
            <a:off x="5486400" y="473659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2 · Redis Intro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4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29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29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" presetClass="entr" presetSubtype="4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" presetClass="entr" presetSubtype="4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" presetClass="entr" presetSubtype="4" fill="hold" grpId="0" nodeType="withEffect">
                                  <p:stCondLst>
                                    <p:cond delay="29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2" presetClass="entr" presetSubtype="4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2" presetClass="entr" presetSubtype="4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2" presetClass="entr" presetSubtype="4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2" presetClass="entr" presetSubtype="4" fill="hold" grpId="0" nodeType="withEffect">
                                  <p:stCondLst>
                                    <p:cond delay="29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indefinite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4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9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4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Calibri"/>
              </a:rPr>
              <a:t>Deployment Shapes</a:t>
            </a:r>
          </a:p>
        </p:txBody>
      </p:sp>
      <p:sp>
        <p:nvSpPr>
          <p:cNvPr id="3" name="sub2"/>
          <p:cNvSpPr txBox="1"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Calibri"/>
              </a:rPr>
              <a:t>The same server, arranged four different ways</a:t>
            </a:r>
          </a:p>
        </p:txBody>
      </p:sp>
      <p:sp>
        <p:nvSpPr>
          <p:cNvPr id="4" name="a1u_card3"/>
          <p:cNvSpPr/>
          <p:nvPr/>
        </p:nvSpPr>
        <p:spPr>
          <a:xfrm>
            <a:off x="457200" y="1143000"/>
            <a:ext cx="1956816" cy="2651760"/>
          </a:xfrm>
          <a:prstGeom prst="roundRect">
            <a:avLst>
              <a:gd name="adj" fmla="val 467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a1u_acc4"/>
          <p:cNvSpPr/>
          <p:nvPr/>
        </p:nvSpPr>
        <p:spPr>
          <a:xfrm>
            <a:off x="457200" y="1143000"/>
            <a:ext cx="1956816" cy="5029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a1ud40_sn5"/>
          <p:cNvSpPr txBox="1"/>
          <p:nvPr/>
        </p:nvSpPr>
        <p:spPr>
          <a:xfrm>
            <a:off x="603504" y="1271016"/>
            <a:ext cx="166420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Standalone</a:t>
            </a:r>
          </a:p>
        </p:txBody>
      </p:sp>
      <p:sp>
        <p:nvSpPr>
          <p:cNvPr id="7" name="a1ud70_ss6"/>
          <p:cNvSpPr txBox="1"/>
          <p:nvPr/>
        </p:nvSpPr>
        <p:spPr>
          <a:xfrm>
            <a:off x="603504" y="1527048"/>
            <a:ext cx="166420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8B5CF6"/>
                </a:solidFill>
                <a:latin typeface="Courier New"/>
              </a:rPr>
              <a:t>One server, one process</a:t>
            </a:r>
          </a:p>
        </p:txBody>
      </p:sp>
      <p:sp>
        <p:nvSpPr>
          <p:cNvPr id="8" name="a1ud110_t7"/>
          <p:cNvSpPr/>
          <p:nvPr/>
        </p:nvSpPr>
        <p:spPr>
          <a:xfrm>
            <a:off x="1207007" y="1837943"/>
            <a:ext cx="457200" cy="329184"/>
          </a:xfrm>
          <a:prstGeom prst="roundRect">
            <a:avLst>
              <a:gd name="adj" fmla="val 13888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a1ud200_sp8"/>
          <p:cNvSpPr txBox="1"/>
          <p:nvPr/>
        </p:nvSpPr>
        <p:spPr>
          <a:xfrm>
            <a:off x="603504" y="2587752"/>
            <a:ext cx="16642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5CF6"/>
                </a:solidFill>
                <a:latin typeface="Calibri"/>
              </a:rPr>
              <a:t>· </a:t>
            </a:r>
            <a:r>
              <a:rPr sz="900" b="0">
                <a:solidFill>
                  <a:srgbClr val="334155"/>
                </a:solidFill>
                <a:latin typeface="Calibri"/>
              </a:rPr>
              <a:t>Simplest thing that works</a:t>
            </a:r>
          </a:p>
        </p:txBody>
      </p:sp>
      <p:sp>
        <p:nvSpPr>
          <p:cNvPr id="10" name="a1ud260_sp9"/>
          <p:cNvSpPr txBox="1"/>
          <p:nvPr/>
        </p:nvSpPr>
        <p:spPr>
          <a:xfrm>
            <a:off x="603504" y="2971800"/>
            <a:ext cx="16642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5CF6"/>
                </a:solidFill>
                <a:latin typeface="Calibri"/>
              </a:rPr>
              <a:t>· </a:t>
            </a:r>
            <a:r>
              <a:rPr sz="900" b="0">
                <a:solidFill>
                  <a:srgbClr val="334155"/>
                </a:solidFill>
                <a:latin typeface="Calibri"/>
              </a:rPr>
              <a:t>No failover - if it dies, the cache is cold</a:t>
            </a:r>
          </a:p>
        </p:txBody>
      </p:sp>
      <p:sp>
        <p:nvSpPr>
          <p:cNvPr id="11" name="a1ud320_sp10"/>
          <p:cNvSpPr txBox="1"/>
          <p:nvPr/>
        </p:nvSpPr>
        <p:spPr>
          <a:xfrm>
            <a:off x="603504" y="3355848"/>
            <a:ext cx="16642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5CF6"/>
                </a:solidFill>
                <a:latin typeface="Calibri"/>
              </a:rPr>
              <a:t>· </a:t>
            </a:r>
            <a:r>
              <a:rPr sz="900" b="0">
                <a:solidFill>
                  <a:srgbClr val="334155"/>
                </a:solidFill>
                <a:latin typeface="Calibri"/>
              </a:rPr>
              <a:t>Fine for dev and for rebuildable caches</a:t>
            </a:r>
          </a:p>
        </p:txBody>
      </p:sp>
      <p:sp>
        <p:nvSpPr>
          <p:cNvPr id="12" name="a2u_card11"/>
          <p:cNvSpPr/>
          <p:nvPr/>
        </p:nvSpPr>
        <p:spPr>
          <a:xfrm>
            <a:off x="2578608" y="1143000"/>
            <a:ext cx="1956816" cy="2651760"/>
          </a:xfrm>
          <a:prstGeom prst="roundRect">
            <a:avLst>
              <a:gd name="adj" fmla="val 467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a2u_acc12"/>
          <p:cNvSpPr/>
          <p:nvPr/>
        </p:nvSpPr>
        <p:spPr>
          <a:xfrm>
            <a:off x="2578608" y="1143000"/>
            <a:ext cx="1956816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a2ud40_sn13"/>
          <p:cNvSpPr txBox="1"/>
          <p:nvPr/>
        </p:nvSpPr>
        <p:spPr>
          <a:xfrm>
            <a:off x="2724912" y="1271016"/>
            <a:ext cx="166420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Replication</a:t>
            </a:r>
          </a:p>
        </p:txBody>
      </p:sp>
      <p:sp>
        <p:nvSpPr>
          <p:cNvPr id="15" name="a2ud70_ss14"/>
          <p:cNvSpPr txBox="1"/>
          <p:nvPr/>
        </p:nvSpPr>
        <p:spPr>
          <a:xfrm>
            <a:off x="2724912" y="1527048"/>
            <a:ext cx="166420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Courier New"/>
              </a:rPr>
              <a:t>One primary, N replicas</a:t>
            </a:r>
          </a:p>
        </p:txBody>
      </p:sp>
      <p:sp>
        <p:nvSpPr>
          <p:cNvPr id="16" name="a2ud110_t15"/>
          <p:cNvSpPr/>
          <p:nvPr/>
        </p:nvSpPr>
        <p:spPr>
          <a:xfrm>
            <a:off x="3328415" y="1837943"/>
            <a:ext cx="457200" cy="274320"/>
          </a:xfrm>
          <a:prstGeom prst="roundRect">
            <a:avLst>
              <a:gd name="adj" fmla="val 16666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a2ud150_t16"/>
          <p:cNvSpPr/>
          <p:nvPr/>
        </p:nvSpPr>
        <p:spPr>
          <a:xfrm>
            <a:off x="3035808" y="2276856"/>
            <a:ext cx="402336" cy="237744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a2ud210_t17"/>
          <p:cNvSpPr/>
          <p:nvPr/>
        </p:nvSpPr>
        <p:spPr>
          <a:xfrm>
            <a:off x="3621024" y="2276856"/>
            <a:ext cx="402336" cy="237744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a2ud200_sp18"/>
          <p:cNvSpPr txBox="1"/>
          <p:nvPr/>
        </p:nvSpPr>
        <p:spPr>
          <a:xfrm>
            <a:off x="2724912" y="2587752"/>
            <a:ext cx="16642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Calibri"/>
              </a:rPr>
              <a:t>· </a:t>
            </a:r>
            <a:r>
              <a:rPr sz="900" b="0">
                <a:solidFill>
                  <a:srgbClr val="334155"/>
                </a:solidFill>
                <a:latin typeface="Calibri"/>
              </a:rPr>
              <a:t>Replicas serve reads, primary takes writes</a:t>
            </a:r>
          </a:p>
        </p:txBody>
      </p:sp>
      <p:sp>
        <p:nvSpPr>
          <p:cNvPr id="20" name="a2ud260_sp19"/>
          <p:cNvSpPr txBox="1"/>
          <p:nvPr/>
        </p:nvSpPr>
        <p:spPr>
          <a:xfrm>
            <a:off x="2724912" y="2971800"/>
            <a:ext cx="16642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Calibri"/>
              </a:rPr>
              <a:t>· </a:t>
            </a:r>
            <a:r>
              <a:rPr sz="900" b="0">
                <a:solidFill>
                  <a:srgbClr val="334155"/>
                </a:solidFill>
                <a:latin typeface="Calibri"/>
              </a:rPr>
              <a:t>Asynchronous - replicas lag slightly</a:t>
            </a:r>
          </a:p>
        </p:txBody>
      </p:sp>
      <p:sp>
        <p:nvSpPr>
          <p:cNvPr id="21" name="a2ud320_sp20"/>
          <p:cNvSpPr txBox="1"/>
          <p:nvPr/>
        </p:nvSpPr>
        <p:spPr>
          <a:xfrm>
            <a:off x="2724912" y="3355848"/>
            <a:ext cx="16642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Calibri"/>
              </a:rPr>
              <a:t>· </a:t>
            </a:r>
            <a:r>
              <a:rPr sz="900" b="0">
                <a:solidFill>
                  <a:srgbClr val="334155"/>
                </a:solidFill>
                <a:latin typeface="Calibri"/>
              </a:rPr>
              <a:t>Manual failover unless you add Sentinel</a:t>
            </a:r>
          </a:p>
        </p:txBody>
      </p:sp>
      <p:sp>
        <p:nvSpPr>
          <p:cNvPr id="22" name="a3u_card21"/>
          <p:cNvSpPr/>
          <p:nvPr/>
        </p:nvSpPr>
        <p:spPr>
          <a:xfrm>
            <a:off x="4700016" y="1143000"/>
            <a:ext cx="1956816" cy="2651760"/>
          </a:xfrm>
          <a:prstGeom prst="roundRect">
            <a:avLst>
              <a:gd name="adj" fmla="val 467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a3u_acc22"/>
          <p:cNvSpPr/>
          <p:nvPr/>
        </p:nvSpPr>
        <p:spPr>
          <a:xfrm>
            <a:off x="4700016" y="1143000"/>
            <a:ext cx="1956816" cy="5029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a3ud40_sn23"/>
          <p:cNvSpPr txBox="1"/>
          <p:nvPr/>
        </p:nvSpPr>
        <p:spPr>
          <a:xfrm>
            <a:off x="4846320" y="1271016"/>
            <a:ext cx="166420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Sentinel</a:t>
            </a:r>
          </a:p>
        </p:txBody>
      </p:sp>
      <p:sp>
        <p:nvSpPr>
          <p:cNvPr id="25" name="a3ud70_ss24"/>
          <p:cNvSpPr txBox="1"/>
          <p:nvPr/>
        </p:nvSpPr>
        <p:spPr>
          <a:xfrm>
            <a:off x="4846320" y="1527048"/>
            <a:ext cx="166420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B45309"/>
                </a:solidFill>
                <a:latin typeface="Courier New"/>
              </a:rPr>
              <a:t>Replication + auto failover</a:t>
            </a:r>
          </a:p>
        </p:txBody>
      </p:sp>
      <p:sp>
        <p:nvSpPr>
          <p:cNvPr id="26" name="a3ud110_t25"/>
          <p:cNvSpPr/>
          <p:nvPr/>
        </p:nvSpPr>
        <p:spPr>
          <a:xfrm>
            <a:off x="5449824" y="1837943"/>
            <a:ext cx="457200" cy="274320"/>
          </a:xfrm>
          <a:prstGeom prst="roundRect">
            <a:avLst>
              <a:gd name="adj" fmla="val 16666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a3ud150_t26"/>
          <p:cNvSpPr/>
          <p:nvPr/>
        </p:nvSpPr>
        <p:spPr>
          <a:xfrm>
            <a:off x="4974336" y="2276856"/>
            <a:ext cx="384048" cy="237744"/>
          </a:xfrm>
          <a:prstGeom prst="roundRect">
            <a:avLst>
              <a:gd name="adj" fmla="val 19230"/>
            </a:avLst>
          </a:prstGeom>
          <a:solidFill>
            <a:srgbClr val="FEF3C7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a3ud200_t27"/>
          <p:cNvSpPr/>
          <p:nvPr/>
        </p:nvSpPr>
        <p:spPr>
          <a:xfrm>
            <a:off x="5504688" y="2276856"/>
            <a:ext cx="384048" cy="237744"/>
          </a:xfrm>
          <a:prstGeom prst="roundRect">
            <a:avLst>
              <a:gd name="adj" fmla="val 19230"/>
            </a:avLst>
          </a:prstGeom>
          <a:solidFill>
            <a:srgbClr val="FEF3C7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a3ud250_t28"/>
          <p:cNvSpPr/>
          <p:nvPr/>
        </p:nvSpPr>
        <p:spPr>
          <a:xfrm>
            <a:off x="6035040" y="2276856"/>
            <a:ext cx="384048" cy="237744"/>
          </a:xfrm>
          <a:prstGeom prst="roundRect">
            <a:avLst>
              <a:gd name="adj" fmla="val 19230"/>
            </a:avLst>
          </a:prstGeom>
          <a:solidFill>
            <a:srgbClr val="FEF3C7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a3ud200_sp29"/>
          <p:cNvSpPr txBox="1"/>
          <p:nvPr/>
        </p:nvSpPr>
        <p:spPr>
          <a:xfrm>
            <a:off x="4846320" y="2587752"/>
            <a:ext cx="16642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B45309"/>
                </a:solidFill>
                <a:latin typeface="Calibri"/>
              </a:rPr>
              <a:t>· </a:t>
            </a:r>
            <a:r>
              <a:rPr sz="900" b="0">
                <a:solidFill>
                  <a:srgbClr val="334155"/>
                </a:solidFill>
                <a:latin typeface="Calibri"/>
              </a:rPr>
              <a:t>Sentinel processes watch the primary</a:t>
            </a:r>
          </a:p>
        </p:txBody>
      </p:sp>
      <p:sp>
        <p:nvSpPr>
          <p:cNvPr id="31" name="a3ud260_sp30"/>
          <p:cNvSpPr txBox="1"/>
          <p:nvPr/>
        </p:nvSpPr>
        <p:spPr>
          <a:xfrm>
            <a:off x="4846320" y="2971800"/>
            <a:ext cx="16642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B45309"/>
                </a:solidFill>
                <a:latin typeface="Calibri"/>
              </a:rPr>
              <a:t>· </a:t>
            </a:r>
            <a:r>
              <a:rPr sz="900" b="0">
                <a:solidFill>
                  <a:srgbClr val="334155"/>
                </a:solidFill>
                <a:latin typeface="Calibri"/>
              </a:rPr>
              <a:t>They elect a new primary on failure</a:t>
            </a:r>
          </a:p>
        </p:txBody>
      </p:sp>
      <p:sp>
        <p:nvSpPr>
          <p:cNvPr id="32" name="a3ud320_sp31"/>
          <p:cNvSpPr txBox="1"/>
          <p:nvPr/>
        </p:nvSpPr>
        <p:spPr>
          <a:xfrm>
            <a:off x="4846320" y="3355848"/>
            <a:ext cx="16642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B45309"/>
                </a:solidFill>
                <a:latin typeface="Calibri"/>
              </a:rPr>
              <a:t>· </a:t>
            </a:r>
            <a:r>
              <a:rPr sz="900" b="0">
                <a:solidFill>
                  <a:srgbClr val="334155"/>
                </a:solidFill>
                <a:latin typeface="Calibri"/>
              </a:rPr>
              <a:t>Clients ask Sentinel for the current address</a:t>
            </a:r>
          </a:p>
        </p:txBody>
      </p:sp>
      <p:sp>
        <p:nvSpPr>
          <p:cNvPr id="33" name="a4u_card32"/>
          <p:cNvSpPr/>
          <p:nvPr/>
        </p:nvSpPr>
        <p:spPr>
          <a:xfrm>
            <a:off x="6821423" y="1143000"/>
            <a:ext cx="1956816" cy="2651760"/>
          </a:xfrm>
          <a:prstGeom prst="roundRect">
            <a:avLst>
              <a:gd name="adj" fmla="val 467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a4u_acc33"/>
          <p:cNvSpPr/>
          <p:nvPr/>
        </p:nvSpPr>
        <p:spPr>
          <a:xfrm>
            <a:off x="6821423" y="1143000"/>
            <a:ext cx="1956816" cy="50292"/>
          </a:xfrm>
          <a:prstGeom prst="rect">
            <a:avLst/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a4ud40_sn34"/>
          <p:cNvSpPr txBox="1"/>
          <p:nvPr/>
        </p:nvSpPr>
        <p:spPr>
          <a:xfrm>
            <a:off x="6967727" y="1271016"/>
            <a:ext cx="166420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Cluster</a:t>
            </a:r>
          </a:p>
        </p:txBody>
      </p:sp>
      <p:sp>
        <p:nvSpPr>
          <p:cNvPr id="36" name="a4ud70_ss35"/>
          <p:cNvSpPr txBox="1"/>
          <p:nvPr/>
        </p:nvSpPr>
        <p:spPr>
          <a:xfrm>
            <a:off x="6967727" y="1527048"/>
            <a:ext cx="1664208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DC382C"/>
                </a:solidFill>
                <a:latin typeface="Courier New"/>
              </a:rPr>
              <a:t>Sharded across many primaries</a:t>
            </a:r>
          </a:p>
        </p:txBody>
      </p:sp>
      <p:sp>
        <p:nvSpPr>
          <p:cNvPr id="37" name="a4ud110_t36"/>
          <p:cNvSpPr/>
          <p:nvPr/>
        </p:nvSpPr>
        <p:spPr>
          <a:xfrm>
            <a:off x="7059167" y="1837943"/>
            <a:ext cx="384048" cy="274320"/>
          </a:xfrm>
          <a:prstGeom prst="roundRect">
            <a:avLst>
              <a:gd name="adj" fmla="val 16666"/>
            </a:avLst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a4ud160_t37"/>
          <p:cNvSpPr/>
          <p:nvPr/>
        </p:nvSpPr>
        <p:spPr>
          <a:xfrm>
            <a:off x="7059167" y="2221991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DC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a4ud160_t38"/>
          <p:cNvSpPr/>
          <p:nvPr/>
        </p:nvSpPr>
        <p:spPr>
          <a:xfrm>
            <a:off x="7589519" y="1837943"/>
            <a:ext cx="384048" cy="274320"/>
          </a:xfrm>
          <a:prstGeom prst="roundRect">
            <a:avLst>
              <a:gd name="adj" fmla="val 16666"/>
            </a:avLst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a4ud210_t39"/>
          <p:cNvSpPr/>
          <p:nvPr/>
        </p:nvSpPr>
        <p:spPr>
          <a:xfrm>
            <a:off x="7589519" y="2221991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DC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a4ud210_t40"/>
          <p:cNvSpPr/>
          <p:nvPr/>
        </p:nvSpPr>
        <p:spPr>
          <a:xfrm>
            <a:off x="8119871" y="1837943"/>
            <a:ext cx="384048" cy="274320"/>
          </a:xfrm>
          <a:prstGeom prst="roundRect">
            <a:avLst>
              <a:gd name="adj" fmla="val 16666"/>
            </a:avLst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a4ud260_t41"/>
          <p:cNvSpPr/>
          <p:nvPr/>
        </p:nvSpPr>
        <p:spPr>
          <a:xfrm>
            <a:off x="8119871" y="2221991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DC38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a4ud200_sp42"/>
          <p:cNvSpPr txBox="1"/>
          <p:nvPr/>
        </p:nvSpPr>
        <p:spPr>
          <a:xfrm>
            <a:off x="6967727" y="2587752"/>
            <a:ext cx="16642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DC382C"/>
                </a:solidFill>
                <a:latin typeface="Calibri"/>
              </a:rPr>
              <a:t>· </a:t>
            </a:r>
            <a:r>
              <a:rPr sz="900" b="0">
                <a:solidFill>
                  <a:srgbClr val="334155"/>
                </a:solidFill>
                <a:latin typeface="Calibri"/>
              </a:rPr>
              <a:t>16 384 hash slots split across nodes</a:t>
            </a:r>
          </a:p>
        </p:txBody>
      </p:sp>
      <p:sp>
        <p:nvSpPr>
          <p:cNvPr id="44" name="a4ud260_sp43"/>
          <p:cNvSpPr txBox="1"/>
          <p:nvPr/>
        </p:nvSpPr>
        <p:spPr>
          <a:xfrm>
            <a:off x="6967727" y="2971800"/>
            <a:ext cx="16642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DC382C"/>
                </a:solidFill>
                <a:latin typeface="Calibri"/>
              </a:rPr>
              <a:t>· </a:t>
            </a:r>
            <a:r>
              <a:rPr sz="900" b="0">
                <a:solidFill>
                  <a:srgbClr val="334155"/>
                </a:solidFill>
                <a:latin typeface="Calibri"/>
              </a:rPr>
              <a:t>Scales memory and throughput horizontally</a:t>
            </a:r>
          </a:p>
        </p:txBody>
      </p:sp>
      <p:sp>
        <p:nvSpPr>
          <p:cNvPr id="45" name="a4ud320_sp44"/>
          <p:cNvSpPr txBox="1"/>
          <p:nvPr/>
        </p:nvSpPr>
        <p:spPr>
          <a:xfrm>
            <a:off x="6967727" y="3355848"/>
            <a:ext cx="16642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DC382C"/>
                </a:solidFill>
                <a:latin typeface="Calibri"/>
              </a:rPr>
              <a:t>· </a:t>
            </a:r>
            <a:r>
              <a:rPr sz="900" b="0">
                <a:solidFill>
                  <a:srgbClr val="334155"/>
                </a:solidFill>
                <a:latin typeface="Calibri"/>
              </a:rPr>
              <a:t>Multi-key ops need keys in the same slot</a:t>
            </a:r>
          </a:p>
        </p:txBody>
      </p:sp>
      <p:sp>
        <p:nvSpPr>
          <p:cNvPr id="46" name="ft45"/>
          <p:cNvSpPr txBox="1"/>
          <p:nvPr/>
        </p:nvSpPr>
        <p:spPr>
          <a:xfrm>
            <a:off x="457200" y="4736592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ICICI Bank Learning Academy  ·  Enterprise Data Engineering with SQL, Redis &amp; Kafka</a:t>
            </a:r>
          </a:p>
        </p:txBody>
      </p:sp>
      <p:sp>
        <p:nvSpPr>
          <p:cNvPr id="47" name="ft46"/>
          <p:cNvSpPr txBox="1"/>
          <p:nvPr/>
        </p:nvSpPr>
        <p:spPr>
          <a:xfrm>
            <a:off x="5486400" y="473659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2 · Redis Intro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4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" presetClass="entr" presetSubtype="4" fill="hold" grpId="0" nodeType="withEffect">
                                  <p:stCondLst>
                                    <p:cond delay="21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2" presetClass="entr" presetSubtype="4" fill="hold" grpId="0" nodeType="with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" presetClass="entr" presetSubtype="4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2" presetClass="entr" presetSubtype="4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2" presetClass="entr" presetSubtype="4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2" presetClass="entr" presetSubtype="4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2" presetClass="entr" presetSubtype="4" fill="hold" grpId="0" nodeType="with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2" presetClass="entr" presetSubtype="4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7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8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2" presetClass="entr" presetSubtype="4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2" presetClass="entr" presetSubtype="4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2" presetClass="entr" presetSubtype="4" fill="hold" grpId="0" nodeType="withEffect">
                                  <p:stCondLst>
                                    <p:cond delay="21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2" presetClass="entr" presetSubtype="4" fill="hold" grpId="0" nodeType="withEffect">
                                  <p:stCondLst>
                                    <p:cond delay="21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3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2" presetClass="entr" presetSubtype="4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8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2" presetClass="entr" presetSubtype="4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3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2" presetClass="entr" presetSubtype="4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Calibri"/>
              </a:rPr>
              <a:t>Managed Redis in the Cloud</a:t>
            </a:r>
          </a:p>
        </p:txBody>
      </p:sp>
      <p:sp>
        <p:nvSpPr>
          <p:cNvPr id="3" name="sub2"/>
          <p:cNvSpPr txBox="1"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Calibri"/>
              </a:rPr>
              <a:t>What you get when you stop running the server yourself</a:t>
            </a:r>
          </a:p>
        </p:txBody>
      </p:sp>
      <p:sp>
        <p:nvSpPr>
          <p:cNvPr id="4" name="a1f_th3"/>
          <p:cNvSpPr/>
          <p:nvPr/>
        </p:nvSpPr>
        <p:spPr>
          <a:xfrm>
            <a:off x="457200" y="1143000"/>
            <a:ext cx="2286000" cy="39319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a1f_tht4"/>
          <p:cNvSpPr txBox="1"/>
          <p:nvPr/>
        </p:nvSpPr>
        <p:spPr>
          <a:xfrm>
            <a:off x="530352" y="1143000"/>
            <a:ext cx="2176272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6" name="a1wd140_td5"/>
          <p:cNvSpPr/>
          <p:nvPr/>
        </p:nvSpPr>
        <p:spPr>
          <a:xfrm>
            <a:off x="457200" y="1536192"/>
            <a:ext cx="22860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a1wd140_tdt6"/>
          <p:cNvSpPr txBox="1"/>
          <p:nvPr/>
        </p:nvSpPr>
        <p:spPr>
          <a:xfrm>
            <a:off x="530352" y="1536192"/>
            <a:ext cx="2176272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Amazon ElastiCache</a:t>
            </a:r>
          </a:p>
        </p:txBody>
      </p:sp>
      <p:sp>
        <p:nvSpPr>
          <p:cNvPr id="8" name="a1wd280_td7"/>
          <p:cNvSpPr/>
          <p:nvPr/>
        </p:nvSpPr>
        <p:spPr>
          <a:xfrm>
            <a:off x="457200" y="1929384"/>
            <a:ext cx="22860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a1wd280_tdt8"/>
          <p:cNvSpPr txBox="1"/>
          <p:nvPr/>
        </p:nvSpPr>
        <p:spPr>
          <a:xfrm>
            <a:off x="530352" y="1929384"/>
            <a:ext cx="2176272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Amazon MemoryDB</a:t>
            </a:r>
          </a:p>
        </p:txBody>
      </p:sp>
      <p:sp>
        <p:nvSpPr>
          <p:cNvPr id="10" name="a1wd420_td9"/>
          <p:cNvSpPr/>
          <p:nvPr/>
        </p:nvSpPr>
        <p:spPr>
          <a:xfrm>
            <a:off x="457200" y="2322576"/>
            <a:ext cx="22860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a1wd420_tdt10"/>
          <p:cNvSpPr txBox="1"/>
          <p:nvPr/>
        </p:nvSpPr>
        <p:spPr>
          <a:xfrm>
            <a:off x="530352" y="2322576"/>
            <a:ext cx="2176272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Azure Cache for Redis</a:t>
            </a:r>
          </a:p>
        </p:txBody>
      </p:sp>
      <p:sp>
        <p:nvSpPr>
          <p:cNvPr id="12" name="a1wd560_td11"/>
          <p:cNvSpPr/>
          <p:nvPr/>
        </p:nvSpPr>
        <p:spPr>
          <a:xfrm>
            <a:off x="457200" y="2715768"/>
            <a:ext cx="22860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a1wd560_tdt12"/>
          <p:cNvSpPr txBox="1"/>
          <p:nvPr/>
        </p:nvSpPr>
        <p:spPr>
          <a:xfrm>
            <a:off x="530352" y="2715768"/>
            <a:ext cx="2176272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Google Memorystore</a:t>
            </a:r>
          </a:p>
        </p:txBody>
      </p:sp>
      <p:sp>
        <p:nvSpPr>
          <p:cNvPr id="14" name="a1wd700_td13"/>
          <p:cNvSpPr/>
          <p:nvPr/>
        </p:nvSpPr>
        <p:spPr>
          <a:xfrm>
            <a:off x="457200" y="3108960"/>
            <a:ext cx="22860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a1wd700_tdt14"/>
          <p:cNvSpPr txBox="1"/>
          <p:nvPr/>
        </p:nvSpPr>
        <p:spPr>
          <a:xfrm>
            <a:off x="530352" y="3108960"/>
            <a:ext cx="2176272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Redis Cloud</a:t>
            </a:r>
          </a:p>
        </p:txBody>
      </p:sp>
      <p:sp>
        <p:nvSpPr>
          <p:cNvPr id="16" name="a1f_th15"/>
          <p:cNvSpPr/>
          <p:nvPr/>
        </p:nvSpPr>
        <p:spPr>
          <a:xfrm>
            <a:off x="2743200" y="1143000"/>
            <a:ext cx="1463040" cy="393192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a1f_tht16"/>
          <p:cNvSpPr txBox="1"/>
          <p:nvPr/>
        </p:nvSpPr>
        <p:spPr>
          <a:xfrm>
            <a:off x="2816352" y="1143000"/>
            <a:ext cx="1353312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Provider</a:t>
            </a:r>
          </a:p>
        </p:txBody>
      </p:sp>
      <p:sp>
        <p:nvSpPr>
          <p:cNvPr id="18" name="a1wd140_td17"/>
          <p:cNvSpPr/>
          <p:nvPr/>
        </p:nvSpPr>
        <p:spPr>
          <a:xfrm>
            <a:off x="2743200" y="1536192"/>
            <a:ext cx="14630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a1wd140_tdt18"/>
          <p:cNvSpPr txBox="1"/>
          <p:nvPr/>
        </p:nvSpPr>
        <p:spPr>
          <a:xfrm>
            <a:off x="2816352" y="1536192"/>
            <a:ext cx="1353312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AWS</a:t>
            </a:r>
          </a:p>
        </p:txBody>
      </p:sp>
      <p:sp>
        <p:nvSpPr>
          <p:cNvPr id="20" name="a1wd280_td19"/>
          <p:cNvSpPr/>
          <p:nvPr/>
        </p:nvSpPr>
        <p:spPr>
          <a:xfrm>
            <a:off x="2743200" y="1929384"/>
            <a:ext cx="14630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a1wd280_tdt20"/>
          <p:cNvSpPr txBox="1"/>
          <p:nvPr/>
        </p:nvSpPr>
        <p:spPr>
          <a:xfrm>
            <a:off x="2816352" y="1929384"/>
            <a:ext cx="1353312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AWS</a:t>
            </a:r>
          </a:p>
        </p:txBody>
      </p:sp>
      <p:sp>
        <p:nvSpPr>
          <p:cNvPr id="22" name="a1wd420_td21"/>
          <p:cNvSpPr/>
          <p:nvPr/>
        </p:nvSpPr>
        <p:spPr>
          <a:xfrm>
            <a:off x="2743200" y="2322576"/>
            <a:ext cx="14630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a1wd420_tdt22"/>
          <p:cNvSpPr txBox="1"/>
          <p:nvPr/>
        </p:nvSpPr>
        <p:spPr>
          <a:xfrm>
            <a:off x="2816352" y="2322576"/>
            <a:ext cx="1353312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Azure</a:t>
            </a:r>
          </a:p>
        </p:txBody>
      </p:sp>
      <p:sp>
        <p:nvSpPr>
          <p:cNvPr id="24" name="a1wd560_td23"/>
          <p:cNvSpPr/>
          <p:nvPr/>
        </p:nvSpPr>
        <p:spPr>
          <a:xfrm>
            <a:off x="2743200" y="2715768"/>
            <a:ext cx="14630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a1wd560_tdt24"/>
          <p:cNvSpPr txBox="1"/>
          <p:nvPr/>
        </p:nvSpPr>
        <p:spPr>
          <a:xfrm>
            <a:off x="2816352" y="2715768"/>
            <a:ext cx="1353312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GCP</a:t>
            </a:r>
          </a:p>
        </p:txBody>
      </p:sp>
      <p:sp>
        <p:nvSpPr>
          <p:cNvPr id="26" name="a1wd700_td25"/>
          <p:cNvSpPr/>
          <p:nvPr/>
        </p:nvSpPr>
        <p:spPr>
          <a:xfrm>
            <a:off x="2743200" y="3108960"/>
            <a:ext cx="14630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a1wd700_tdt26"/>
          <p:cNvSpPr txBox="1"/>
          <p:nvPr/>
        </p:nvSpPr>
        <p:spPr>
          <a:xfrm>
            <a:off x="2816352" y="3108960"/>
            <a:ext cx="1353312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Redis Inc</a:t>
            </a:r>
          </a:p>
        </p:txBody>
      </p:sp>
      <p:sp>
        <p:nvSpPr>
          <p:cNvPr id="28" name="a1f_th27"/>
          <p:cNvSpPr/>
          <p:nvPr/>
        </p:nvSpPr>
        <p:spPr>
          <a:xfrm>
            <a:off x="4206240" y="1143000"/>
            <a:ext cx="4480560" cy="3931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a1f_tht28"/>
          <p:cNvSpPr txBox="1"/>
          <p:nvPr/>
        </p:nvSpPr>
        <p:spPr>
          <a:xfrm>
            <a:off x="4279392" y="1143000"/>
            <a:ext cx="4370832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What it adds</a:t>
            </a:r>
          </a:p>
        </p:txBody>
      </p:sp>
      <p:sp>
        <p:nvSpPr>
          <p:cNvPr id="30" name="a1wd140_td29"/>
          <p:cNvSpPr/>
          <p:nvPr/>
        </p:nvSpPr>
        <p:spPr>
          <a:xfrm>
            <a:off x="4206240" y="1536192"/>
            <a:ext cx="44805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a1wd140_tdt30"/>
          <p:cNvSpPr txBox="1"/>
          <p:nvPr/>
        </p:nvSpPr>
        <p:spPr>
          <a:xfrm>
            <a:off x="4279392" y="1536192"/>
            <a:ext cx="4370832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Managed CE or Valkey, automatic failover, backups, VPC isolation</a:t>
            </a:r>
          </a:p>
        </p:txBody>
      </p:sp>
      <p:sp>
        <p:nvSpPr>
          <p:cNvPr id="32" name="a1wd280_td31"/>
          <p:cNvSpPr/>
          <p:nvPr/>
        </p:nvSpPr>
        <p:spPr>
          <a:xfrm>
            <a:off x="4206240" y="1929384"/>
            <a:ext cx="44805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a1wd280_tdt32"/>
          <p:cNvSpPr txBox="1"/>
          <p:nvPr/>
        </p:nvSpPr>
        <p:spPr>
          <a:xfrm>
            <a:off x="4279392" y="1929384"/>
            <a:ext cx="4370832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Durable multi-AZ Redis-compatible store - a primary DB, not a cache</a:t>
            </a:r>
          </a:p>
        </p:txBody>
      </p:sp>
      <p:sp>
        <p:nvSpPr>
          <p:cNvPr id="34" name="a1wd420_td33"/>
          <p:cNvSpPr/>
          <p:nvPr/>
        </p:nvSpPr>
        <p:spPr>
          <a:xfrm>
            <a:off x="4206240" y="2322576"/>
            <a:ext cx="44805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a1wd420_tdt34"/>
          <p:cNvSpPr txBox="1"/>
          <p:nvPr/>
        </p:nvSpPr>
        <p:spPr>
          <a:xfrm>
            <a:off x="4279392" y="2322576"/>
            <a:ext cx="4370832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Tiers from Basic to Enterprise; Enterprise runs Redis Inc software</a:t>
            </a:r>
          </a:p>
        </p:txBody>
      </p:sp>
      <p:sp>
        <p:nvSpPr>
          <p:cNvPr id="36" name="a1wd560_td35"/>
          <p:cNvSpPr/>
          <p:nvPr/>
        </p:nvSpPr>
        <p:spPr>
          <a:xfrm>
            <a:off x="4206240" y="2715768"/>
            <a:ext cx="44805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a1wd560_tdt36"/>
          <p:cNvSpPr txBox="1"/>
          <p:nvPr/>
        </p:nvSpPr>
        <p:spPr>
          <a:xfrm>
            <a:off x="4279392" y="2715768"/>
            <a:ext cx="4370832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Managed Redis and Valkey with read replicas</a:t>
            </a:r>
          </a:p>
        </p:txBody>
      </p:sp>
      <p:sp>
        <p:nvSpPr>
          <p:cNvPr id="38" name="a1wd700_td37"/>
          <p:cNvSpPr/>
          <p:nvPr/>
        </p:nvSpPr>
        <p:spPr>
          <a:xfrm>
            <a:off x="4206240" y="3108960"/>
            <a:ext cx="448056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a1wd700_tdt38"/>
          <p:cNvSpPr txBox="1"/>
          <p:nvPr/>
        </p:nvSpPr>
        <p:spPr>
          <a:xfrm>
            <a:off x="4279392" y="3108960"/>
            <a:ext cx="4370832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Fully managed Enterprise, active-active across regions</a:t>
            </a:r>
          </a:p>
        </p:txBody>
      </p:sp>
      <p:sp>
        <p:nvSpPr>
          <p:cNvPr id="40" name="a2u_nb39"/>
          <p:cNvSpPr/>
          <p:nvPr/>
        </p:nvSpPr>
        <p:spPr>
          <a:xfrm>
            <a:off x="457200" y="3547872"/>
            <a:ext cx="82296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a2u_nacc40"/>
          <p:cNvSpPr/>
          <p:nvPr/>
        </p:nvSpPr>
        <p:spPr>
          <a:xfrm>
            <a:off x="457200" y="3547872"/>
            <a:ext cx="50292" cy="53035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a2u_nt41"/>
          <p:cNvSpPr txBox="1"/>
          <p:nvPr/>
        </p:nvSpPr>
        <p:spPr>
          <a:xfrm>
            <a:off x="658368" y="3547872"/>
            <a:ext cx="782726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B45309"/>
                </a:solidFill>
                <a:latin typeface="Calibri"/>
              </a:rPr>
              <a:t>!  </a:t>
            </a:r>
            <a:r>
              <a:rPr sz="1150" b="0">
                <a:solidFill>
                  <a:srgbClr val="334155"/>
                </a:solidFill>
                <a:latin typeface="Calibri"/>
              </a:rPr>
              <a:t>A managed service removes the operational work, not the design work. Key naming, TTLs, eviction policy, memory sizing and invalidation are still yours - and they are what the rest of this module teaches.</a:t>
            </a:r>
          </a:p>
        </p:txBody>
      </p:sp>
      <p:sp>
        <p:nvSpPr>
          <p:cNvPr id="43" name="ft42"/>
          <p:cNvSpPr txBox="1"/>
          <p:nvPr/>
        </p:nvSpPr>
        <p:spPr>
          <a:xfrm>
            <a:off x="457200" y="4736592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ICICI Bank Learning Academy  ·  Enterprise Data Engineering with SQL, Redis &amp; Kafka</a:t>
            </a:r>
          </a:p>
        </p:txBody>
      </p:sp>
      <p:sp>
        <p:nvSpPr>
          <p:cNvPr id="44" name="ft43"/>
          <p:cNvSpPr txBox="1"/>
          <p:nvPr/>
        </p:nvSpPr>
        <p:spPr>
          <a:xfrm>
            <a:off x="5486400" y="473659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2 · Redis Intro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8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8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8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8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Calibri"/>
              </a:rPr>
              <a:t>A Note on the Licence</a:t>
            </a:r>
          </a:p>
        </p:txBody>
      </p:sp>
      <p:sp>
        <p:nvSpPr>
          <p:cNvPr id="3" name="sub2"/>
          <p:cNvSpPr txBox="1"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Calibri"/>
              </a:rPr>
              <a:t>Why you will hear about Valkey, and why it does not affect this course</a:t>
            </a:r>
          </a:p>
        </p:txBody>
      </p:sp>
      <p:sp>
        <p:nvSpPr>
          <p:cNvPr id="4" name="a1u_wb3"/>
          <p:cNvSpPr/>
          <p:nvPr/>
        </p:nvSpPr>
        <p:spPr>
          <a:xfrm>
            <a:off x="457200" y="1170432"/>
            <a:ext cx="960120" cy="530352"/>
          </a:xfrm>
          <a:prstGeom prst="roundRect">
            <a:avLst>
              <a:gd name="adj" fmla="val 12068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a1u_wt4"/>
          <p:cNvSpPr txBox="1"/>
          <p:nvPr/>
        </p:nvSpPr>
        <p:spPr>
          <a:xfrm>
            <a:off x="457200" y="1170432"/>
            <a:ext cx="960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&lt; 2024</a:t>
            </a:r>
          </a:p>
        </p:txBody>
      </p:sp>
      <p:sp>
        <p:nvSpPr>
          <p:cNvPr id="6" name="a1ud50_ww5"/>
          <p:cNvSpPr txBox="1"/>
          <p:nvPr/>
        </p:nvSpPr>
        <p:spPr>
          <a:xfrm>
            <a:off x="1554480" y="1152144"/>
            <a:ext cx="7132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Calibri"/>
              </a:rPr>
              <a:t>BSD</a:t>
            </a:r>
          </a:p>
        </p:txBody>
      </p:sp>
      <p:sp>
        <p:nvSpPr>
          <p:cNvPr id="7" name="a1ud80_wd6"/>
          <p:cNvSpPr txBox="1"/>
          <p:nvPr/>
        </p:nvSpPr>
        <p:spPr>
          <a:xfrm>
            <a:off x="1554480" y="1408176"/>
            <a:ext cx="7132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Redis was BSD licensed - freely usable by anyone, including cloud providers</a:t>
            </a:r>
          </a:p>
        </p:txBody>
      </p:sp>
      <p:sp>
        <p:nvSpPr>
          <p:cNvPr id="8" name="a1ud160_wb7"/>
          <p:cNvSpPr/>
          <p:nvPr/>
        </p:nvSpPr>
        <p:spPr>
          <a:xfrm>
            <a:off x="457200" y="1883664"/>
            <a:ext cx="960120" cy="530352"/>
          </a:xfrm>
          <a:prstGeom prst="roundRect">
            <a:avLst>
              <a:gd name="adj" fmla="val 12068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a1ud160_wt8"/>
          <p:cNvSpPr txBox="1"/>
          <p:nvPr/>
        </p:nvSpPr>
        <p:spPr>
          <a:xfrm>
            <a:off x="457200" y="1883664"/>
            <a:ext cx="960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Mar 2024</a:t>
            </a:r>
          </a:p>
        </p:txBody>
      </p:sp>
      <p:sp>
        <p:nvSpPr>
          <p:cNvPr id="10" name="a1ud210_ww9"/>
          <p:cNvSpPr txBox="1"/>
          <p:nvPr/>
        </p:nvSpPr>
        <p:spPr>
          <a:xfrm>
            <a:off x="1554480" y="1865376"/>
            <a:ext cx="7132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Calibri"/>
              </a:rPr>
              <a:t>RSALv2 / SSPL</a:t>
            </a:r>
          </a:p>
        </p:txBody>
      </p:sp>
      <p:sp>
        <p:nvSpPr>
          <p:cNvPr id="11" name="a1ud240_wd10"/>
          <p:cNvSpPr txBox="1"/>
          <p:nvPr/>
        </p:nvSpPr>
        <p:spPr>
          <a:xfrm>
            <a:off x="1554480" y="2121408"/>
            <a:ext cx="7132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Redis 7.4 moved to a dual source-available licence that restricts offering Redis as a managed service</a:t>
            </a:r>
          </a:p>
        </p:txBody>
      </p:sp>
      <p:sp>
        <p:nvSpPr>
          <p:cNvPr id="12" name="a1ud320_wb11"/>
          <p:cNvSpPr/>
          <p:nvPr/>
        </p:nvSpPr>
        <p:spPr>
          <a:xfrm>
            <a:off x="457200" y="2596896"/>
            <a:ext cx="960120" cy="530352"/>
          </a:xfrm>
          <a:prstGeom prst="roundRect">
            <a:avLst>
              <a:gd name="adj" fmla="val 12068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a1ud320_wt12"/>
          <p:cNvSpPr txBox="1"/>
          <p:nvPr/>
        </p:nvSpPr>
        <p:spPr>
          <a:xfrm>
            <a:off x="457200" y="2596896"/>
            <a:ext cx="960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Mar 2024</a:t>
            </a:r>
          </a:p>
        </p:txBody>
      </p:sp>
      <p:sp>
        <p:nvSpPr>
          <p:cNvPr id="14" name="a1ud370_ww13"/>
          <p:cNvSpPr txBox="1"/>
          <p:nvPr/>
        </p:nvSpPr>
        <p:spPr>
          <a:xfrm>
            <a:off x="1554480" y="2578608"/>
            <a:ext cx="7132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Calibri"/>
              </a:rPr>
              <a:t>Valkey forked</a:t>
            </a:r>
          </a:p>
        </p:txBody>
      </p:sp>
      <p:sp>
        <p:nvSpPr>
          <p:cNvPr id="15" name="a1ud400_wd14"/>
          <p:cNvSpPr txBox="1"/>
          <p:nvPr/>
        </p:nvSpPr>
        <p:spPr>
          <a:xfrm>
            <a:off x="1554480" y="2834639"/>
            <a:ext cx="7132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The Linux Foundation forked 7.2 as Valkey; AWS, Google and Oracle backed it and it stays BSD</a:t>
            </a:r>
          </a:p>
        </p:txBody>
      </p:sp>
      <p:sp>
        <p:nvSpPr>
          <p:cNvPr id="16" name="a1ud480_wb15"/>
          <p:cNvSpPr/>
          <p:nvPr/>
        </p:nvSpPr>
        <p:spPr>
          <a:xfrm>
            <a:off x="457200" y="3310128"/>
            <a:ext cx="960120" cy="530352"/>
          </a:xfrm>
          <a:prstGeom prst="roundRect">
            <a:avLst>
              <a:gd name="adj" fmla="val 12068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a1ud480_wt16"/>
          <p:cNvSpPr txBox="1"/>
          <p:nvPr/>
        </p:nvSpPr>
        <p:spPr>
          <a:xfrm>
            <a:off x="457200" y="3310128"/>
            <a:ext cx="960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ourier New"/>
              </a:rPr>
              <a:t>May 2025</a:t>
            </a:r>
          </a:p>
        </p:txBody>
      </p:sp>
      <p:sp>
        <p:nvSpPr>
          <p:cNvPr id="18" name="a1ud530_ww17"/>
          <p:cNvSpPr txBox="1"/>
          <p:nvPr/>
        </p:nvSpPr>
        <p:spPr>
          <a:xfrm>
            <a:off x="1554480" y="3291840"/>
            <a:ext cx="7132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0F172A"/>
                </a:solidFill>
                <a:latin typeface="Calibri"/>
              </a:rPr>
              <a:t>AGPLv3 added</a:t>
            </a:r>
          </a:p>
        </p:txBody>
      </p:sp>
      <p:sp>
        <p:nvSpPr>
          <p:cNvPr id="19" name="a1ud560_wd18"/>
          <p:cNvSpPr txBox="1"/>
          <p:nvPr/>
        </p:nvSpPr>
        <p:spPr>
          <a:xfrm>
            <a:off x="1554480" y="3547872"/>
            <a:ext cx="7132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Redis 8 added AGPLv3 as a third option, restoring an OSI-approved choice for the open-source server</a:t>
            </a:r>
          </a:p>
        </p:txBody>
      </p:sp>
      <p:sp>
        <p:nvSpPr>
          <p:cNvPr id="20" name="a2u_nb19"/>
          <p:cNvSpPr/>
          <p:nvPr/>
        </p:nvSpPr>
        <p:spPr>
          <a:xfrm>
            <a:off x="457200" y="4069080"/>
            <a:ext cx="8229600" cy="512064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a2u_nacc20"/>
          <p:cNvSpPr/>
          <p:nvPr/>
        </p:nvSpPr>
        <p:spPr>
          <a:xfrm>
            <a:off x="457200" y="4069080"/>
            <a:ext cx="50292" cy="5120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a2u_nt21"/>
          <p:cNvSpPr txBox="1"/>
          <p:nvPr/>
        </p:nvSpPr>
        <p:spPr>
          <a:xfrm>
            <a:off x="658368" y="4069080"/>
            <a:ext cx="7827264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8B5CF6"/>
                </a:solidFill>
                <a:latin typeface="Calibri"/>
              </a:rPr>
              <a:t>i  </a:t>
            </a:r>
            <a:r>
              <a:rPr sz="1050" b="0">
                <a:solidFill>
                  <a:srgbClr val="334155"/>
                </a:solidFill>
                <a:latin typeface="Calibri"/>
              </a:rPr>
              <a:t>For classroom and internal use, every option here is free. The licence only matters if you intend to resell Redis as a service. The commands you type are identical either way.</a:t>
            </a:r>
          </a:p>
        </p:txBody>
      </p:sp>
      <p:sp>
        <p:nvSpPr>
          <p:cNvPr id="23" name="ft22"/>
          <p:cNvSpPr txBox="1"/>
          <p:nvPr/>
        </p:nvSpPr>
        <p:spPr>
          <a:xfrm>
            <a:off x="457200" y="4736592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ICICI Bank Learning Academy  ·  Enterprise Data Engineering with SQL, Redis &amp; Kafka</a:t>
            </a:r>
          </a:p>
        </p:txBody>
      </p:sp>
      <p:sp>
        <p:nvSpPr>
          <p:cNvPr id="24" name="ft23"/>
          <p:cNvSpPr txBox="1"/>
          <p:nvPr/>
        </p:nvSpPr>
        <p:spPr>
          <a:xfrm>
            <a:off x="5486400" y="473659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2 · Redis Intro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2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4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" presetClass="entr" presetSubtype="4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" presetClass="entr" presetSubtype="4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" presetClass="entr" presetSubtype="4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0f_n1"/>
          <p:cNvSpPr txBox="1"/>
          <p:nvPr/>
        </p:nvSpPr>
        <p:spPr>
          <a:xfrm>
            <a:off x="548640" y="1143000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800" b="1">
                <a:solidFill>
                  <a:srgbClr val="A78BFA"/>
                </a:solidFill>
                <a:latin typeface="Calibri"/>
              </a:rPr>
              <a:t>03</a:t>
            </a:r>
          </a:p>
        </p:txBody>
      </p:sp>
      <p:sp>
        <p:nvSpPr>
          <p:cNvPr id="3" name="a0ud200_h2"/>
          <p:cNvSpPr txBox="1"/>
          <p:nvPr/>
        </p:nvSpPr>
        <p:spPr>
          <a:xfrm>
            <a:off x="548640" y="1938528"/>
            <a:ext cx="58521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Real-Time Use Cases</a:t>
            </a:r>
          </a:p>
        </p:txBody>
      </p:sp>
      <p:sp>
        <p:nvSpPr>
          <p:cNvPr id="4" name="a0fd450_t3"/>
          <p:cNvSpPr txBox="1"/>
          <p:nvPr/>
        </p:nvSpPr>
        <p:spPr>
          <a:xfrm>
            <a:off x="548640" y="2743200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Eight patterns you will meet in production - with the banking version of each</a:t>
            </a:r>
          </a:p>
        </p:txBody>
      </p:sp>
      <p:sp>
        <p:nvSpPr>
          <p:cNvPr id="5" name="a0ud600_pill4"/>
          <p:cNvSpPr/>
          <p:nvPr/>
        </p:nvSpPr>
        <p:spPr>
          <a:xfrm>
            <a:off x="5532120" y="1325880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CBD5E1"/>
                </a:solidFill>
                <a:latin typeface="Courier New"/>
              </a:rPr>
              <a:t>Cache</a:t>
            </a:r>
          </a:p>
        </p:txBody>
      </p:sp>
      <p:sp>
        <p:nvSpPr>
          <p:cNvPr id="6" name="a0ud750_pill5"/>
          <p:cNvSpPr/>
          <p:nvPr/>
        </p:nvSpPr>
        <p:spPr>
          <a:xfrm>
            <a:off x="5532120" y="1801368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CBD5E1"/>
                </a:solidFill>
                <a:latin typeface="Courier New"/>
              </a:rPr>
              <a:t>Sessions</a:t>
            </a:r>
          </a:p>
        </p:txBody>
      </p:sp>
      <p:sp>
        <p:nvSpPr>
          <p:cNvPr id="7" name="a0ud900_pill6"/>
          <p:cNvSpPr/>
          <p:nvPr/>
        </p:nvSpPr>
        <p:spPr>
          <a:xfrm>
            <a:off x="5532120" y="2276856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CBD5E1"/>
                </a:solidFill>
                <a:latin typeface="Courier New"/>
              </a:rPr>
              <a:t>Rate limit</a:t>
            </a:r>
          </a:p>
        </p:txBody>
      </p:sp>
      <p:sp>
        <p:nvSpPr>
          <p:cNvPr id="8" name="a0ud1050_pill7"/>
          <p:cNvSpPr/>
          <p:nvPr/>
        </p:nvSpPr>
        <p:spPr>
          <a:xfrm>
            <a:off x="5532120" y="2752344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CBD5E1"/>
                </a:solidFill>
                <a:latin typeface="Courier New"/>
              </a:rPr>
              <a:t>Leaderboards</a:t>
            </a:r>
          </a:p>
        </p:txBody>
      </p:sp>
      <p:sp>
        <p:nvSpPr>
          <p:cNvPr id="9" name="a0ud1200_pill8"/>
          <p:cNvSpPr/>
          <p:nvPr/>
        </p:nvSpPr>
        <p:spPr>
          <a:xfrm>
            <a:off x="5532120" y="3227832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CBD5E1"/>
                </a:solidFill>
                <a:latin typeface="Courier New"/>
              </a:rPr>
              <a:t>Queues</a:t>
            </a:r>
          </a:p>
        </p:txBody>
      </p:sp>
      <p:sp>
        <p:nvSpPr>
          <p:cNvPr id="10" name="a0ud1350_pill9"/>
          <p:cNvSpPr/>
          <p:nvPr/>
        </p:nvSpPr>
        <p:spPr>
          <a:xfrm>
            <a:off x="5532120" y="3703320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CBD5E1"/>
                </a:solidFill>
                <a:latin typeface="Courier New"/>
              </a:rPr>
              <a:t>Pub/Sub</a:t>
            </a:r>
          </a:p>
        </p:txBody>
      </p:sp>
      <p:sp>
        <p:nvSpPr>
          <p:cNvPr id="11" name="a0ud1500_pill10"/>
          <p:cNvSpPr/>
          <p:nvPr/>
        </p:nvSpPr>
        <p:spPr>
          <a:xfrm>
            <a:off x="5532120" y="4178808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CBD5E1"/>
                </a:solidFill>
                <a:latin typeface="Courier New"/>
              </a:rPr>
              <a:t>Locks</a:t>
            </a:r>
          </a:p>
        </p:txBody>
      </p:sp>
      <p:sp>
        <p:nvSpPr>
          <p:cNvPr id="12" name="a0ud1650_pill11"/>
          <p:cNvSpPr/>
          <p:nvPr/>
        </p:nvSpPr>
        <p:spPr>
          <a:xfrm>
            <a:off x="5532120" y="4654296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CBD5E1"/>
                </a:solidFill>
                <a:latin typeface="Courier New"/>
              </a:rPr>
              <a:t>Streams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" presetClass="entr" presetSubtype="4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" presetClass="entr" presetSubtype="4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Calibri"/>
              </a:rPr>
              <a:t>Use Case 1 · Cache-Aside</a:t>
            </a:r>
          </a:p>
        </p:txBody>
      </p:sp>
      <p:sp>
        <p:nvSpPr>
          <p:cNvPr id="3" name="sub2"/>
          <p:cNvSpPr txBox="1"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Calibri"/>
              </a:rPr>
              <a:t>The pattern that pays for Redis on day one</a:t>
            </a:r>
          </a:p>
        </p:txBody>
      </p:sp>
      <p:sp>
        <p:nvSpPr>
          <p:cNvPr id="4" name="a1u_card3"/>
          <p:cNvSpPr/>
          <p:nvPr/>
        </p:nvSpPr>
        <p:spPr>
          <a:xfrm>
            <a:off x="457200" y="1143000"/>
            <a:ext cx="3931920" cy="224028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a1u_hh4"/>
          <p:cNvSpPr txBox="1"/>
          <p:nvPr/>
        </p:nvSpPr>
        <p:spPr>
          <a:xfrm>
            <a:off x="658368" y="1252728"/>
            <a:ext cx="3529584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DC382C"/>
                </a:solidFill>
                <a:latin typeface="Calibri"/>
              </a:rPr>
              <a:t>THE FLOW</a:t>
            </a:r>
          </a:p>
        </p:txBody>
      </p:sp>
      <p:sp>
        <p:nvSpPr>
          <p:cNvPr id="6" name="a1u_sn5"/>
          <p:cNvSpPr/>
          <p:nvPr/>
        </p:nvSpPr>
        <p:spPr>
          <a:xfrm>
            <a:off x="658368" y="1581912"/>
            <a:ext cx="256032" cy="256032"/>
          </a:xfrm>
          <a:prstGeom prst="ellipse">
            <a:avLst/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a1u_snt6"/>
          <p:cNvSpPr txBox="1"/>
          <p:nvPr/>
        </p:nvSpPr>
        <p:spPr>
          <a:xfrm>
            <a:off x="658368" y="1581912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a1u_st7"/>
          <p:cNvSpPr txBox="1"/>
          <p:nvPr/>
        </p:nvSpPr>
        <p:spPr>
          <a:xfrm>
            <a:off x="1024128" y="1563624"/>
            <a:ext cx="316382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Application asks Redis for the key</a:t>
            </a:r>
          </a:p>
        </p:txBody>
      </p:sp>
      <p:sp>
        <p:nvSpPr>
          <p:cNvPr id="9" name="a1ud90_sn8"/>
          <p:cNvSpPr/>
          <p:nvPr/>
        </p:nvSpPr>
        <p:spPr>
          <a:xfrm>
            <a:off x="658368" y="1929384"/>
            <a:ext cx="256032" cy="256032"/>
          </a:xfrm>
          <a:prstGeom prst="ellipse">
            <a:avLst/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a1ud90_snt9"/>
          <p:cNvSpPr txBox="1"/>
          <p:nvPr/>
        </p:nvSpPr>
        <p:spPr>
          <a:xfrm>
            <a:off x="658368" y="1929384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a1ud90_st10"/>
          <p:cNvSpPr txBox="1"/>
          <p:nvPr/>
        </p:nvSpPr>
        <p:spPr>
          <a:xfrm>
            <a:off x="1024128" y="1911095"/>
            <a:ext cx="316382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HIT → return it, done in under a millisecond</a:t>
            </a:r>
          </a:p>
        </p:txBody>
      </p:sp>
      <p:sp>
        <p:nvSpPr>
          <p:cNvPr id="12" name="a1ud180_sn11"/>
          <p:cNvSpPr/>
          <p:nvPr/>
        </p:nvSpPr>
        <p:spPr>
          <a:xfrm>
            <a:off x="658368" y="2276856"/>
            <a:ext cx="256032" cy="256032"/>
          </a:xfrm>
          <a:prstGeom prst="ellipse">
            <a:avLst/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a1ud180_snt12"/>
          <p:cNvSpPr txBox="1"/>
          <p:nvPr/>
        </p:nvSpPr>
        <p:spPr>
          <a:xfrm>
            <a:off x="658368" y="2276856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a1ud180_st13"/>
          <p:cNvSpPr txBox="1"/>
          <p:nvPr/>
        </p:nvSpPr>
        <p:spPr>
          <a:xfrm>
            <a:off x="1024128" y="2258568"/>
            <a:ext cx="316382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MISS → query PostgreSQL</a:t>
            </a:r>
          </a:p>
        </p:txBody>
      </p:sp>
      <p:sp>
        <p:nvSpPr>
          <p:cNvPr id="15" name="a1ud270_sn14"/>
          <p:cNvSpPr/>
          <p:nvPr/>
        </p:nvSpPr>
        <p:spPr>
          <a:xfrm>
            <a:off x="658368" y="2624328"/>
            <a:ext cx="256032" cy="256032"/>
          </a:xfrm>
          <a:prstGeom prst="ellipse">
            <a:avLst/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a1ud270_snt15"/>
          <p:cNvSpPr txBox="1"/>
          <p:nvPr/>
        </p:nvSpPr>
        <p:spPr>
          <a:xfrm>
            <a:off x="658368" y="2624328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a1ud270_st16"/>
          <p:cNvSpPr txBox="1"/>
          <p:nvPr/>
        </p:nvSpPr>
        <p:spPr>
          <a:xfrm>
            <a:off x="1024128" y="2606040"/>
            <a:ext cx="316382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Write the answer into Redis with a TTL</a:t>
            </a:r>
          </a:p>
        </p:txBody>
      </p:sp>
      <p:sp>
        <p:nvSpPr>
          <p:cNvPr id="18" name="a1ud360_sn17"/>
          <p:cNvSpPr/>
          <p:nvPr/>
        </p:nvSpPr>
        <p:spPr>
          <a:xfrm>
            <a:off x="658368" y="2971800"/>
            <a:ext cx="256032" cy="256032"/>
          </a:xfrm>
          <a:prstGeom prst="ellipse">
            <a:avLst/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a1ud360_snt18"/>
          <p:cNvSpPr txBox="1"/>
          <p:nvPr/>
        </p:nvSpPr>
        <p:spPr>
          <a:xfrm>
            <a:off x="658368" y="2971800"/>
            <a:ext cx="256032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a1ud360_st19"/>
          <p:cNvSpPr txBox="1"/>
          <p:nvPr/>
        </p:nvSpPr>
        <p:spPr>
          <a:xfrm>
            <a:off x="1024128" y="2953512"/>
            <a:ext cx="316382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Calibri"/>
              </a:rPr>
              <a:t>Return it to the caller</a:t>
            </a:r>
          </a:p>
        </p:txBody>
      </p:sp>
      <p:sp>
        <p:nvSpPr>
          <p:cNvPr id="21" name="a2f_codebg20"/>
          <p:cNvSpPr/>
          <p:nvPr/>
        </p:nvSpPr>
        <p:spPr>
          <a:xfrm>
            <a:off x="4754880" y="1143000"/>
            <a:ext cx="3931920" cy="2107691"/>
          </a:xfrm>
          <a:prstGeom prst="roundRect">
            <a:avLst>
              <a:gd name="adj" fmla="val 347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a2f_codeh21"/>
          <p:cNvSpPr txBox="1"/>
          <p:nvPr/>
        </p:nvSpPr>
        <p:spPr>
          <a:xfrm>
            <a:off x="4919472" y="1197864"/>
            <a:ext cx="360273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64748B"/>
                </a:solidFill>
                <a:latin typeface="Courier New"/>
              </a:rPr>
              <a:t>cache-aside · node.js</a:t>
            </a:r>
          </a:p>
        </p:txBody>
      </p:sp>
      <p:sp>
        <p:nvSpPr>
          <p:cNvPr id="23" name="a2w_code22"/>
          <p:cNvSpPr txBox="1"/>
          <p:nvPr/>
        </p:nvSpPr>
        <p:spPr>
          <a:xfrm>
            <a:off x="4919472" y="1581912"/>
            <a:ext cx="3602736" cy="2148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C4B5FD"/>
                </a:solidFill>
                <a:latin typeface="Courier New"/>
              </a:rPr>
              <a:t>async function getBalance(acct) {</a:t>
            </a:r>
          </a:p>
        </p:txBody>
      </p:sp>
      <p:sp>
        <p:nvSpPr>
          <p:cNvPr id="24" name="a2wd110_code23"/>
          <p:cNvSpPr txBox="1"/>
          <p:nvPr/>
        </p:nvSpPr>
        <p:spPr>
          <a:xfrm>
            <a:off x="4919472" y="1796795"/>
            <a:ext cx="3602736" cy="2148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E2E8F0"/>
                </a:solidFill>
                <a:latin typeface="Courier New"/>
              </a:rPr>
              <a:t>  const v = await r.get(k);</a:t>
            </a:r>
          </a:p>
        </p:txBody>
      </p:sp>
      <p:sp>
        <p:nvSpPr>
          <p:cNvPr id="25" name="a2wd220_code24"/>
          <p:cNvSpPr txBox="1"/>
          <p:nvPr/>
        </p:nvSpPr>
        <p:spPr>
          <a:xfrm>
            <a:off x="4919472" y="2011680"/>
            <a:ext cx="3602736" cy="2148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E2E8F0"/>
                </a:solidFill>
                <a:latin typeface="Courier New"/>
              </a:rPr>
              <a:t>  if (v !== null) return +v;   // HIT</a:t>
            </a:r>
          </a:p>
        </p:txBody>
      </p:sp>
      <p:sp>
        <p:nvSpPr>
          <p:cNvPr id="26" name="a2wd330_code25"/>
          <p:cNvSpPr txBox="1"/>
          <p:nvPr/>
        </p:nvSpPr>
        <p:spPr>
          <a:xfrm>
            <a:off x="4919472" y="2226564"/>
            <a:ext cx="3602736" cy="2148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E2E8F0"/>
                </a:solidFill>
                <a:latin typeface="Courier New"/>
              </a:rPr>
              <a:t>  const b = await db.bal(acct);  // MISS</a:t>
            </a:r>
          </a:p>
        </p:txBody>
      </p:sp>
      <p:sp>
        <p:nvSpPr>
          <p:cNvPr id="27" name="a2wd440_code26"/>
          <p:cNvSpPr txBox="1"/>
          <p:nvPr/>
        </p:nvSpPr>
        <p:spPr>
          <a:xfrm>
            <a:off x="4919472" y="2441448"/>
            <a:ext cx="3602736" cy="2148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E2E8F0"/>
                </a:solidFill>
                <a:latin typeface="Courier New"/>
              </a:rPr>
              <a:t>  await r.set(k, b, {EX: 300}); // 5 min</a:t>
            </a:r>
          </a:p>
        </p:txBody>
      </p:sp>
      <p:sp>
        <p:nvSpPr>
          <p:cNvPr id="28" name="a2wd550_code27"/>
          <p:cNvSpPr txBox="1"/>
          <p:nvPr/>
        </p:nvSpPr>
        <p:spPr>
          <a:xfrm>
            <a:off x="4919472" y="2656332"/>
            <a:ext cx="3602736" cy="2148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E2E8F0"/>
                </a:solidFill>
                <a:latin typeface="Courier New"/>
              </a:rPr>
              <a:t>  return b;</a:t>
            </a:r>
          </a:p>
        </p:txBody>
      </p:sp>
      <p:sp>
        <p:nvSpPr>
          <p:cNvPr id="29" name="a2wd660_code28"/>
          <p:cNvSpPr txBox="1"/>
          <p:nvPr/>
        </p:nvSpPr>
        <p:spPr>
          <a:xfrm>
            <a:off x="4919472" y="2871215"/>
            <a:ext cx="3602736" cy="21488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C4B5FD"/>
                </a:solidFill>
                <a:latin typeface="Courier New"/>
              </a:rPr>
              <a:t>}</a:t>
            </a:r>
          </a:p>
        </p:txBody>
      </p:sp>
      <p:sp>
        <p:nvSpPr>
          <p:cNvPr id="30" name="a3u_nb29"/>
          <p:cNvSpPr/>
          <p:nvPr/>
        </p:nvSpPr>
        <p:spPr>
          <a:xfrm>
            <a:off x="457200" y="3520440"/>
            <a:ext cx="82296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a3u_nacc30"/>
          <p:cNvSpPr/>
          <p:nvPr/>
        </p:nvSpPr>
        <p:spPr>
          <a:xfrm>
            <a:off x="457200" y="3520440"/>
            <a:ext cx="50292" cy="5486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a3u_nt31"/>
          <p:cNvSpPr txBox="1"/>
          <p:nvPr/>
        </p:nvSpPr>
        <p:spPr>
          <a:xfrm>
            <a:off x="658368" y="3520440"/>
            <a:ext cx="782726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0F766E"/>
                </a:solidFill>
                <a:latin typeface="Calibri"/>
              </a:rPr>
              <a:t>BANK  </a:t>
            </a:r>
            <a:r>
              <a:rPr sz="1150" b="0">
                <a:solidFill>
                  <a:srgbClr val="334155"/>
                </a:solidFill>
                <a:latin typeface="Calibri"/>
              </a:rPr>
              <a:t>ICICI Bank: balance enquiry is roughly 70% of retail API traffic and the balance changes rarely. A five-minute TTL removes most of that load from the core banking database - this is Lab 7.4.</a:t>
            </a:r>
          </a:p>
        </p:txBody>
      </p:sp>
      <p:sp>
        <p:nvSpPr>
          <p:cNvPr id="33" name="ft32"/>
          <p:cNvSpPr txBox="1"/>
          <p:nvPr/>
        </p:nvSpPr>
        <p:spPr>
          <a:xfrm>
            <a:off x="457200" y="4736592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ICICI Bank Learning Academy  ·  Enterprise Data Engineering with SQL, Redis &amp; Kafka</a:t>
            </a:r>
          </a:p>
        </p:txBody>
      </p:sp>
      <p:sp>
        <p:nvSpPr>
          <p:cNvPr id="34" name="ft33"/>
          <p:cNvSpPr txBox="1"/>
          <p:nvPr/>
        </p:nvSpPr>
        <p:spPr>
          <a:xfrm>
            <a:off x="5486400" y="473659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2 · Redis Intro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4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" presetClass="entr" presetSubtype="4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" presetClass="entr" presetSubtype="4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" presetClass="entr" presetSubtype="4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8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8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2" presetClass="entr" presetSubtype="8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2" presetClass="entr" presetSubtype="8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22" presetClass="entr" presetSubtype="8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22" presetClass="entr" presetSubtype="8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Calibri"/>
              </a:rPr>
              <a:t>Use Cases 2-4 · Sessions, Rate Limiting, Counters</a:t>
            </a:r>
          </a:p>
        </p:txBody>
      </p:sp>
      <p:sp>
        <p:nvSpPr>
          <p:cNvPr id="3" name="sub2"/>
          <p:cNvSpPr txBox="1"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Calibri"/>
              </a:rPr>
              <a:t>Three problems that are awkward in SQL and one line each in Redis</a:t>
            </a:r>
          </a:p>
        </p:txBody>
      </p:sp>
      <p:sp>
        <p:nvSpPr>
          <p:cNvPr id="4" name="a1u_card3"/>
          <p:cNvSpPr/>
          <p:nvPr/>
        </p:nvSpPr>
        <p:spPr>
          <a:xfrm>
            <a:off x="457200" y="1143000"/>
            <a:ext cx="2651760" cy="26974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a1u_acc4"/>
          <p:cNvSpPr/>
          <p:nvPr/>
        </p:nvSpPr>
        <p:spPr>
          <a:xfrm>
            <a:off x="457200" y="1143000"/>
            <a:ext cx="2651760" cy="50292"/>
          </a:xfrm>
          <a:prstGeom prst="rect">
            <a:avLst/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a1ud40_cn5"/>
          <p:cNvSpPr txBox="1"/>
          <p:nvPr/>
        </p:nvSpPr>
        <p:spPr>
          <a:xfrm>
            <a:off x="621792" y="1289304"/>
            <a:ext cx="232257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0F172A"/>
                </a:solidFill>
                <a:latin typeface="Calibri"/>
              </a:rPr>
              <a:t>Session store</a:t>
            </a:r>
          </a:p>
        </p:txBody>
      </p:sp>
      <p:sp>
        <p:nvSpPr>
          <p:cNvPr id="7" name="a1ud80_cb6"/>
          <p:cNvSpPr/>
          <p:nvPr/>
        </p:nvSpPr>
        <p:spPr>
          <a:xfrm>
            <a:off x="621792" y="1600200"/>
            <a:ext cx="2322576" cy="475488"/>
          </a:xfrm>
          <a:prstGeom prst="roundRect">
            <a:avLst>
              <a:gd name="adj" fmla="val 11538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a1ud100_ct7"/>
          <p:cNvSpPr txBox="1"/>
          <p:nvPr/>
        </p:nvSpPr>
        <p:spPr>
          <a:xfrm>
            <a:off x="713232" y="1600200"/>
            <a:ext cx="2139696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C4B5FD"/>
                </a:solidFill>
                <a:latin typeface="Courier New"/>
              </a:rPr>
              <a:t>SETEX session:&lt;token&gt; 1800 &lt;json&gt;</a:t>
            </a:r>
          </a:p>
        </p:txBody>
      </p:sp>
      <p:sp>
        <p:nvSpPr>
          <p:cNvPr id="9" name="a1ud140_cp8"/>
          <p:cNvSpPr txBox="1"/>
          <p:nvPr/>
        </p:nvSpPr>
        <p:spPr>
          <a:xfrm>
            <a:off x="621792" y="2221991"/>
            <a:ext cx="232257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DC382C"/>
                </a:solidFill>
                <a:latin typeface="Calibri"/>
              </a:rPr>
              <a:t>· </a:t>
            </a:r>
            <a:r>
              <a:rPr sz="1000" b="0">
                <a:solidFill>
                  <a:srgbClr val="334155"/>
                </a:solidFill>
                <a:latin typeface="Calibri"/>
              </a:rPr>
              <a:t>Stateless API servers, shared login state</a:t>
            </a:r>
          </a:p>
        </p:txBody>
      </p:sp>
      <p:sp>
        <p:nvSpPr>
          <p:cNvPr id="10" name="a1ud220_cp9"/>
          <p:cNvSpPr txBox="1"/>
          <p:nvPr/>
        </p:nvSpPr>
        <p:spPr>
          <a:xfrm>
            <a:off x="621792" y="2770632"/>
            <a:ext cx="232257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DC382C"/>
                </a:solidFill>
                <a:latin typeface="Calibri"/>
              </a:rPr>
              <a:t>· </a:t>
            </a:r>
            <a:r>
              <a:rPr sz="1000" b="0">
                <a:solidFill>
                  <a:srgbClr val="334155"/>
                </a:solidFill>
                <a:latin typeface="Calibri"/>
              </a:rPr>
              <a:t>TTL expires the session automatically - no cleanup job</a:t>
            </a:r>
          </a:p>
        </p:txBody>
      </p:sp>
      <p:sp>
        <p:nvSpPr>
          <p:cNvPr id="11" name="a1ud300_cp10"/>
          <p:cNvSpPr txBox="1"/>
          <p:nvPr/>
        </p:nvSpPr>
        <p:spPr>
          <a:xfrm>
            <a:off x="621792" y="3319272"/>
            <a:ext cx="232257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DC382C"/>
                </a:solidFill>
                <a:latin typeface="Calibri"/>
              </a:rPr>
              <a:t>· </a:t>
            </a:r>
            <a:r>
              <a:rPr sz="1000" b="0">
                <a:solidFill>
                  <a:srgbClr val="334155"/>
                </a:solidFill>
                <a:latin typeface="Calibri"/>
              </a:rPr>
              <a:t>Any node can serve any user</a:t>
            </a:r>
          </a:p>
        </p:txBody>
      </p:sp>
      <p:sp>
        <p:nvSpPr>
          <p:cNvPr id="12" name="a2u_card11"/>
          <p:cNvSpPr/>
          <p:nvPr/>
        </p:nvSpPr>
        <p:spPr>
          <a:xfrm>
            <a:off x="3291840" y="1143000"/>
            <a:ext cx="2651760" cy="26974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a2u_acc12"/>
          <p:cNvSpPr/>
          <p:nvPr/>
        </p:nvSpPr>
        <p:spPr>
          <a:xfrm>
            <a:off x="3291840" y="1143000"/>
            <a:ext cx="2651760" cy="5029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a2ud40_cn13"/>
          <p:cNvSpPr txBox="1"/>
          <p:nvPr/>
        </p:nvSpPr>
        <p:spPr>
          <a:xfrm>
            <a:off x="3456432" y="1289304"/>
            <a:ext cx="232257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0F172A"/>
                </a:solidFill>
                <a:latin typeface="Calibri"/>
              </a:rPr>
              <a:t>Rate limiting</a:t>
            </a:r>
          </a:p>
        </p:txBody>
      </p:sp>
      <p:sp>
        <p:nvSpPr>
          <p:cNvPr id="15" name="a2ud80_cb14"/>
          <p:cNvSpPr/>
          <p:nvPr/>
        </p:nvSpPr>
        <p:spPr>
          <a:xfrm>
            <a:off x="3456432" y="1600200"/>
            <a:ext cx="2322576" cy="475488"/>
          </a:xfrm>
          <a:prstGeom prst="roundRect">
            <a:avLst>
              <a:gd name="adj" fmla="val 11538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a2ud100_ct15"/>
          <p:cNvSpPr txBox="1"/>
          <p:nvPr/>
        </p:nvSpPr>
        <p:spPr>
          <a:xfrm>
            <a:off x="3547872" y="1600200"/>
            <a:ext cx="2139696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C4B5FD"/>
                </a:solidFill>
                <a:latin typeface="Courier New"/>
              </a:rPr>
              <a:t>INCR api:&lt;client&gt;:&lt;minute&gt; → EXPIRE 60</a:t>
            </a:r>
          </a:p>
        </p:txBody>
      </p:sp>
      <p:sp>
        <p:nvSpPr>
          <p:cNvPr id="17" name="a2ud140_cp16"/>
          <p:cNvSpPr txBox="1"/>
          <p:nvPr/>
        </p:nvSpPr>
        <p:spPr>
          <a:xfrm>
            <a:off x="3456432" y="2221991"/>
            <a:ext cx="232257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8B5CF6"/>
                </a:solidFill>
                <a:latin typeface="Calibri"/>
              </a:rPr>
              <a:t>· </a:t>
            </a:r>
            <a:r>
              <a:rPr sz="1000" b="0">
                <a:solidFill>
                  <a:srgbClr val="334155"/>
                </a:solidFill>
                <a:latin typeface="Calibri"/>
              </a:rPr>
              <a:t>Counter per client per window, atomic without locks</a:t>
            </a:r>
          </a:p>
        </p:txBody>
      </p:sp>
      <p:sp>
        <p:nvSpPr>
          <p:cNvPr id="18" name="a2ud220_cp17"/>
          <p:cNvSpPr txBox="1"/>
          <p:nvPr/>
        </p:nvSpPr>
        <p:spPr>
          <a:xfrm>
            <a:off x="3456432" y="2770632"/>
            <a:ext cx="232257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8B5CF6"/>
                </a:solidFill>
                <a:latin typeface="Calibri"/>
              </a:rPr>
              <a:t>· </a:t>
            </a:r>
            <a:r>
              <a:rPr sz="1000" b="0">
                <a:solidFill>
                  <a:srgbClr val="334155"/>
                </a:solidFill>
                <a:latin typeface="Calibri"/>
              </a:rPr>
              <a:t>Reject when the counter passes the quota</a:t>
            </a:r>
          </a:p>
        </p:txBody>
      </p:sp>
      <p:sp>
        <p:nvSpPr>
          <p:cNvPr id="19" name="a2ud300_cp18"/>
          <p:cNvSpPr txBox="1"/>
          <p:nvPr/>
        </p:nvSpPr>
        <p:spPr>
          <a:xfrm>
            <a:off x="3456432" y="3319272"/>
            <a:ext cx="232257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8B5CF6"/>
                </a:solidFill>
                <a:latin typeface="Calibri"/>
              </a:rPr>
              <a:t>· </a:t>
            </a:r>
            <a:r>
              <a:rPr sz="1000" b="0">
                <a:solidFill>
                  <a:srgbClr val="334155"/>
                </a:solidFill>
                <a:latin typeface="Calibri"/>
              </a:rPr>
              <a:t>Protects the core banking APIs from a runaway caller</a:t>
            </a:r>
          </a:p>
        </p:txBody>
      </p:sp>
      <p:sp>
        <p:nvSpPr>
          <p:cNvPr id="20" name="a3u_card19"/>
          <p:cNvSpPr/>
          <p:nvPr/>
        </p:nvSpPr>
        <p:spPr>
          <a:xfrm>
            <a:off x="6126480" y="1143000"/>
            <a:ext cx="2651760" cy="269748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a3u_acc20"/>
          <p:cNvSpPr/>
          <p:nvPr/>
        </p:nvSpPr>
        <p:spPr>
          <a:xfrm>
            <a:off x="6126480" y="1143000"/>
            <a:ext cx="2651760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a3ud40_cn21"/>
          <p:cNvSpPr txBox="1"/>
          <p:nvPr/>
        </p:nvSpPr>
        <p:spPr>
          <a:xfrm>
            <a:off x="6291072" y="1289304"/>
            <a:ext cx="232257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0F172A"/>
                </a:solidFill>
                <a:latin typeface="Calibri"/>
              </a:rPr>
              <a:t>Real-time counters</a:t>
            </a:r>
          </a:p>
        </p:txBody>
      </p:sp>
      <p:sp>
        <p:nvSpPr>
          <p:cNvPr id="23" name="a3ud80_cb22"/>
          <p:cNvSpPr/>
          <p:nvPr/>
        </p:nvSpPr>
        <p:spPr>
          <a:xfrm>
            <a:off x="6291072" y="1600200"/>
            <a:ext cx="2322576" cy="475488"/>
          </a:xfrm>
          <a:prstGeom prst="roundRect">
            <a:avLst>
              <a:gd name="adj" fmla="val 11538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a3ud100_ct23"/>
          <p:cNvSpPr txBox="1"/>
          <p:nvPr/>
        </p:nvSpPr>
        <p:spPr>
          <a:xfrm>
            <a:off x="6382512" y="1600200"/>
            <a:ext cx="2139696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C4B5FD"/>
                </a:solidFill>
                <a:latin typeface="Courier New"/>
              </a:rPr>
              <a:t>INCRBY txn:count:2026-09-21 1</a:t>
            </a:r>
          </a:p>
        </p:txBody>
      </p:sp>
      <p:sp>
        <p:nvSpPr>
          <p:cNvPr id="25" name="a3ud140_cp24"/>
          <p:cNvSpPr txBox="1"/>
          <p:nvPr/>
        </p:nvSpPr>
        <p:spPr>
          <a:xfrm>
            <a:off x="6291072" y="2221991"/>
            <a:ext cx="232257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Calibri"/>
              </a:rPr>
              <a:t>· </a:t>
            </a:r>
            <a:r>
              <a:rPr sz="1000" b="0">
                <a:solidFill>
                  <a:srgbClr val="334155"/>
                </a:solidFill>
                <a:latin typeface="Calibri"/>
              </a:rPr>
              <a:t>Live dashboards without touching the ledger</a:t>
            </a:r>
          </a:p>
        </p:txBody>
      </p:sp>
      <p:sp>
        <p:nvSpPr>
          <p:cNvPr id="26" name="a3ud220_cp25"/>
          <p:cNvSpPr txBox="1"/>
          <p:nvPr/>
        </p:nvSpPr>
        <p:spPr>
          <a:xfrm>
            <a:off x="6291072" y="2770632"/>
            <a:ext cx="232257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Calibri"/>
              </a:rPr>
              <a:t>· </a:t>
            </a:r>
            <a:r>
              <a:rPr sz="1000" b="0">
                <a:solidFill>
                  <a:srgbClr val="334155"/>
                </a:solidFill>
                <a:latin typeface="Calibri"/>
              </a:rPr>
              <a:t>Atomic increments from hundreds of app instances</a:t>
            </a:r>
          </a:p>
        </p:txBody>
      </p:sp>
      <p:sp>
        <p:nvSpPr>
          <p:cNvPr id="27" name="a3ud300_cp26"/>
          <p:cNvSpPr txBox="1"/>
          <p:nvPr/>
        </p:nvSpPr>
        <p:spPr>
          <a:xfrm>
            <a:off x="6291072" y="3319272"/>
            <a:ext cx="232257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F766E"/>
                </a:solidFill>
                <a:latin typeface="Calibri"/>
              </a:rPr>
              <a:t>· </a:t>
            </a:r>
            <a:r>
              <a:rPr sz="1000" b="0">
                <a:solidFill>
                  <a:srgbClr val="334155"/>
                </a:solidFill>
                <a:latin typeface="Calibri"/>
              </a:rPr>
              <a:t>HyperLogLog counts unique users in 12 KB</a:t>
            </a:r>
          </a:p>
        </p:txBody>
      </p:sp>
      <p:sp>
        <p:nvSpPr>
          <p:cNvPr id="28" name="ft27"/>
          <p:cNvSpPr txBox="1"/>
          <p:nvPr/>
        </p:nvSpPr>
        <p:spPr>
          <a:xfrm>
            <a:off x="457200" y="4736592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ICICI Bank Learning Academy  ·  Enterprise Data Engineering with SQL, Redis &amp; Kafka</a:t>
            </a:r>
          </a:p>
        </p:txBody>
      </p:sp>
      <p:sp>
        <p:nvSpPr>
          <p:cNvPr id="29" name="ft28"/>
          <p:cNvSpPr txBox="1"/>
          <p:nvPr/>
        </p:nvSpPr>
        <p:spPr>
          <a:xfrm>
            <a:off x="5486400" y="473659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2 · Redis Intro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" presetClass="entr" presetSubtype="4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2" presetClass="entr" presetSubtype="4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Calibri"/>
              </a:rPr>
              <a:t>Use Cases 5-8 · Rankings, Queues, Messaging, Locks</a:t>
            </a:r>
          </a:p>
        </p:txBody>
      </p:sp>
      <p:sp>
        <p:nvSpPr>
          <p:cNvPr id="3" name="sub2"/>
          <p:cNvSpPr txBox="1"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Calibri"/>
              </a:rPr>
              <a:t>Where the richer data structures start to earn their keep</a:t>
            </a:r>
          </a:p>
        </p:txBody>
      </p:sp>
      <p:sp>
        <p:nvSpPr>
          <p:cNvPr id="4" name="a1u_card3"/>
          <p:cNvSpPr/>
          <p:nvPr/>
        </p:nvSpPr>
        <p:spPr>
          <a:xfrm>
            <a:off x="457200" y="1143000"/>
            <a:ext cx="4114800" cy="1353312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a1u_acc4"/>
          <p:cNvSpPr/>
          <p:nvPr/>
        </p:nvSpPr>
        <p:spPr>
          <a:xfrm>
            <a:off x="457200" y="1143000"/>
            <a:ext cx="50292" cy="135331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a1ud40_cn5"/>
          <p:cNvSpPr txBox="1"/>
          <p:nvPr/>
        </p:nvSpPr>
        <p:spPr>
          <a:xfrm>
            <a:off x="658368" y="1252728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Leaderboards</a:t>
            </a:r>
          </a:p>
        </p:txBody>
      </p:sp>
      <p:sp>
        <p:nvSpPr>
          <p:cNvPr id="7" name="a1ud60_ct6"/>
          <p:cNvSpPr txBox="1"/>
          <p:nvPr/>
        </p:nvSpPr>
        <p:spPr>
          <a:xfrm>
            <a:off x="2852928" y="1252728"/>
            <a:ext cx="1609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1">
                <a:solidFill>
                  <a:srgbClr val="B45309"/>
                </a:solidFill>
                <a:latin typeface="Courier New"/>
              </a:rPr>
              <a:t>ZADD / ZREVRANGE</a:t>
            </a:r>
          </a:p>
        </p:txBody>
      </p:sp>
      <p:sp>
        <p:nvSpPr>
          <p:cNvPr id="8" name="a1ud100_cp7"/>
          <p:cNvSpPr txBox="1"/>
          <p:nvPr/>
        </p:nvSpPr>
        <p:spPr>
          <a:xfrm>
            <a:off x="658368" y="1563624"/>
            <a:ext cx="37856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B45309"/>
                </a:solidFill>
                <a:latin typeface="Calibri"/>
              </a:rPr>
              <a:t>· </a:t>
            </a:r>
            <a:r>
              <a:rPr sz="950" b="0">
                <a:solidFill>
                  <a:srgbClr val="334155"/>
                </a:solidFill>
                <a:latin typeface="Calibri"/>
              </a:rPr>
              <a:t>Sorted set keeps members ranked by score, always</a:t>
            </a:r>
          </a:p>
        </p:txBody>
      </p:sp>
      <p:sp>
        <p:nvSpPr>
          <p:cNvPr id="9" name="a1ud160_cp8"/>
          <p:cNvSpPr txBox="1"/>
          <p:nvPr/>
        </p:nvSpPr>
        <p:spPr>
          <a:xfrm>
            <a:off x="658368" y="1856231"/>
            <a:ext cx="37856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B45309"/>
                </a:solidFill>
                <a:latin typeface="Calibri"/>
              </a:rPr>
              <a:t>· </a:t>
            </a:r>
            <a:r>
              <a:rPr sz="950" b="0">
                <a:solidFill>
                  <a:srgbClr val="334155"/>
                </a:solidFill>
                <a:latin typeface="Calibri"/>
              </a:rPr>
              <a:t>Top-10 branches by transaction volume, live</a:t>
            </a:r>
          </a:p>
        </p:txBody>
      </p:sp>
      <p:sp>
        <p:nvSpPr>
          <p:cNvPr id="10" name="a1ud220_cp9"/>
          <p:cNvSpPr txBox="1"/>
          <p:nvPr/>
        </p:nvSpPr>
        <p:spPr>
          <a:xfrm>
            <a:off x="658368" y="2148840"/>
            <a:ext cx="37856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B45309"/>
                </a:solidFill>
                <a:latin typeface="Calibri"/>
              </a:rPr>
              <a:t>· </a:t>
            </a:r>
            <a:r>
              <a:rPr sz="950" b="0">
                <a:solidFill>
                  <a:srgbClr val="334155"/>
                </a:solidFill>
                <a:latin typeface="Calibri"/>
              </a:rPr>
              <a:t>O(log n) insert, O(1) rank lookup</a:t>
            </a:r>
          </a:p>
        </p:txBody>
      </p:sp>
      <p:sp>
        <p:nvSpPr>
          <p:cNvPr id="11" name="a1ud140_card10"/>
          <p:cNvSpPr/>
          <p:nvPr/>
        </p:nvSpPr>
        <p:spPr>
          <a:xfrm>
            <a:off x="4754880" y="1143000"/>
            <a:ext cx="4114800" cy="1353312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a1ud140_acc11"/>
          <p:cNvSpPr/>
          <p:nvPr/>
        </p:nvSpPr>
        <p:spPr>
          <a:xfrm>
            <a:off x="4754880" y="1143000"/>
            <a:ext cx="50292" cy="135331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a1ud180_cn12"/>
          <p:cNvSpPr txBox="1"/>
          <p:nvPr/>
        </p:nvSpPr>
        <p:spPr>
          <a:xfrm>
            <a:off x="4956048" y="1252728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Job queues</a:t>
            </a:r>
          </a:p>
        </p:txBody>
      </p:sp>
      <p:sp>
        <p:nvSpPr>
          <p:cNvPr id="14" name="a1ud200_ct13"/>
          <p:cNvSpPr txBox="1"/>
          <p:nvPr/>
        </p:nvSpPr>
        <p:spPr>
          <a:xfrm>
            <a:off x="7150608" y="1252728"/>
            <a:ext cx="1609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1">
                <a:solidFill>
                  <a:srgbClr val="0F766E"/>
                </a:solidFill>
                <a:latin typeface="Courier New"/>
              </a:rPr>
              <a:t>LPUSH / BRPOP</a:t>
            </a:r>
          </a:p>
        </p:txBody>
      </p:sp>
      <p:sp>
        <p:nvSpPr>
          <p:cNvPr id="15" name="a1ud240_cp14"/>
          <p:cNvSpPr txBox="1"/>
          <p:nvPr/>
        </p:nvSpPr>
        <p:spPr>
          <a:xfrm>
            <a:off x="4956048" y="1563624"/>
            <a:ext cx="37856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0F766E"/>
                </a:solidFill>
                <a:latin typeface="Calibri"/>
              </a:rPr>
              <a:t>· </a:t>
            </a:r>
            <a:r>
              <a:rPr sz="950" b="0">
                <a:solidFill>
                  <a:srgbClr val="334155"/>
                </a:solidFill>
                <a:latin typeface="Calibri"/>
              </a:rPr>
              <a:t>A list is a queue; BRPOP blocks until work arrives</a:t>
            </a:r>
          </a:p>
        </p:txBody>
      </p:sp>
      <p:sp>
        <p:nvSpPr>
          <p:cNvPr id="16" name="a1ud300_cp15"/>
          <p:cNvSpPr txBox="1"/>
          <p:nvPr/>
        </p:nvSpPr>
        <p:spPr>
          <a:xfrm>
            <a:off x="4956048" y="1856231"/>
            <a:ext cx="37856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0F766E"/>
                </a:solidFill>
                <a:latin typeface="Calibri"/>
              </a:rPr>
              <a:t>· </a:t>
            </a:r>
            <a:r>
              <a:rPr sz="950" b="0">
                <a:solidFill>
                  <a:srgbClr val="334155"/>
                </a:solidFill>
                <a:latin typeface="Calibri"/>
              </a:rPr>
              <a:t>Statement generation, SMS and email dispatch</a:t>
            </a:r>
          </a:p>
        </p:txBody>
      </p:sp>
      <p:sp>
        <p:nvSpPr>
          <p:cNvPr id="17" name="a1ud360_cp16"/>
          <p:cNvSpPr txBox="1"/>
          <p:nvPr/>
        </p:nvSpPr>
        <p:spPr>
          <a:xfrm>
            <a:off x="4956048" y="2148840"/>
            <a:ext cx="37856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0F766E"/>
                </a:solidFill>
                <a:latin typeface="Calibri"/>
              </a:rPr>
              <a:t>· </a:t>
            </a:r>
            <a:r>
              <a:rPr sz="950" b="0">
                <a:solidFill>
                  <a:srgbClr val="334155"/>
                </a:solidFill>
                <a:latin typeface="Calibri"/>
              </a:rPr>
              <a:t>Reliable variant: LMOVE into a processing list</a:t>
            </a:r>
          </a:p>
        </p:txBody>
      </p:sp>
      <p:sp>
        <p:nvSpPr>
          <p:cNvPr id="18" name="a2u_card17"/>
          <p:cNvSpPr/>
          <p:nvPr/>
        </p:nvSpPr>
        <p:spPr>
          <a:xfrm>
            <a:off x="457200" y="2624328"/>
            <a:ext cx="4114800" cy="1353312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a2u_acc18"/>
          <p:cNvSpPr/>
          <p:nvPr/>
        </p:nvSpPr>
        <p:spPr>
          <a:xfrm>
            <a:off x="457200" y="2624328"/>
            <a:ext cx="50292" cy="135331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a2ud40_cn19"/>
          <p:cNvSpPr txBox="1"/>
          <p:nvPr/>
        </p:nvSpPr>
        <p:spPr>
          <a:xfrm>
            <a:off x="658368" y="2734056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Pub/Sub &amp; Streams</a:t>
            </a:r>
          </a:p>
        </p:txBody>
      </p:sp>
      <p:sp>
        <p:nvSpPr>
          <p:cNvPr id="21" name="a2ud60_ct20"/>
          <p:cNvSpPr txBox="1"/>
          <p:nvPr/>
        </p:nvSpPr>
        <p:spPr>
          <a:xfrm>
            <a:off x="2852928" y="2734056"/>
            <a:ext cx="1609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1">
                <a:solidFill>
                  <a:srgbClr val="8B5CF6"/>
                </a:solidFill>
                <a:latin typeface="Courier New"/>
              </a:rPr>
              <a:t>PUBLISH / XADD</a:t>
            </a:r>
          </a:p>
        </p:txBody>
      </p:sp>
      <p:sp>
        <p:nvSpPr>
          <p:cNvPr id="22" name="a2ud100_cp21"/>
          <p:cNvSpPr txBox="1"/>
          <p:nvPr/>
        </p:nvSpPr>
        <p:spPr>
          <a:xfrm>
            <a:off x="658368" y="3044952"/>
            <a:ext cx="37856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8B5CF6"/>
                </a:solidFill>
                <a:latin typeface="Calibri"/>
              </a:rPr>
              <a:t>· </a:t>
            </a:r>
            <a:r>
              <a:rPr sz="950" b="0">
                <a:solidFill>
                  <a:srgbClr val="334155"/>
                </a:solidFill>
                <a:latin typeface="Calibri"/>
              </a:rPr>
              <a:t>Pub/Sub is fire-and-forget: offline subscribers miss it</a:t>
            </a:r>
          </a:p>
        </p:txBody>
      </p:sp>
      <p:sp>
        <p:nvSpPr>
          <p:cNvPr id="23" name="a2ud160_cp22"/>
          <p:cNvSpPr txBox="1"/>
          <p:nvPr/>
        </p:nvSpPr>
        <p:spPr>
          <a:xfrm>
            <a:off x="658368" y="3337560"/>
            <a:ext cx="37856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8B5CF6"/>
                </a:solidFill>
                <a:latin typeface="Calibri"/>
              </a:rPr>
              <a:t>· </a:t>
            </a:r>
            <a:r>
              <a:rPr sz="950" b="0">
                <a:solidFill>
                  <a:srgbClr val="334155"/>
                </a:solidFill>
                <a:latin typeface="Calibri"/>
              </a:rPr>
              <a:t>Streams persist, replay and support consumer groups</a:t>
            </a:r>
          </a:p>
        </p:txBody>
      </p:sp>
      <p:sp>
        <p:nvSpPr>
          <p:cNvPr id="24" name="a2ud220_cp23"/>
          <p:cNvSpPr txBox="1"/>
          <p:nvPr/>
        </p:nvSpPr>
        <p:spPr>
          <a:xfrm>
            <a:off x="658368" y="3630168"/>
            <a:ext cx="37856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8B5CF6"/>
                </a:solidFill>
                <a:latin typeface="Calibri"/>
              </a:rPr>
              <a:t>· </a:t>
            </a:r>
            <a:r>
              <a:rPr sz="950" b="0">
                <a:solidFill>
                  <a:srgbClr val="334155"/>
                </a:solidFill>
                <a:latin typeface="Calibri"/>
              </a:rPr>
              <a:t>Fraud alerts fan out to every channel at once</a:t>
            </a:r>
          </a:p>
        </p:txBody>
      </p:sp>
      <p:sp>
        <p:nvSpPr>
          <p:cNvPr id="25" name="a2ud140_card24"/>
          <p:cNvSpPr/>
          <p:nvPr/>
        </p:nvSpPr>
        <p:spPr>
          <a:xfrm>
            <a:off x="4754880" y="2624328"/>
            <a:ext cx="4114800" cy="1353312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a2ud140_acc25"/>
          <p:cNvSpPr/>
          <p:nvPr/>
        </p:nvSpPr>
        <p:spPr>
          <a:xfrm>
            <a:off x="4754880" y="2624328"/>
            <a:ext cx="50292" cy="1353312"/>
          </a:xfrm>
          <a:prstGeom prst="rect">
            <a:avLst/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a2ud180_cn26"/>
          <p:cNvSpPr txBox="1"/>
          <p:nvPr/>
        </p:nvSpPr>
        <p:spPr>
          <a:xfrm>
            <a:off x="4956048" y="2734056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Calibri"/>
              </a:rPr>
              <a:t>Distributed locks</a:t>
            </a:r>
          </a:p>
        </p:txBody>
      </p:sp>
      <p:sp>
        <p:nvSpPr>
          <p:cNvPr id="28" name="a2ud200_ct27"/>
          <p:cNvSpPr txBox="1"/>
          <p:nvPr/>
        </p:nvSpPr>
        <p:spPr>
          <a:xfrm>
            <a:off x="7150608" y="2734056"/>
            <a:ext cx="160934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50" b="1">
                <a:solidFill>
                  <a:srgbClr val="DC382C"/>
                </a:solidFill>
                <a:latin typeface="Courier New"/>
              </a:rPr>
              <a:t>SET key val NX PX 30000</a:t>
            </a:r>
          </a:p>
        </p:txBody>
      </p:sp>
      <p:sp>
        <p:nvSpPr>
          <p:cNvPr id="29" name="a2ud240_cp28"/>
          <p:cNvSpPr txBox="1"/>
          <p:nvPr/>
        </p:nvSpPr>
        <p:spPr>
          <a:xfrm>
            <a:off x="4956048" y="3044952"/>
            <a:ext cx="37856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DC382C"/>
                </a:solidFill>
                <a:latin typeface="Calibri"/>
              </a:rPr>
              <a:t>· </a:t>
            </a:r>
            <a:r>
              <a:rPr sz="950" b="0">
                <a:solidFill>
                  <a:srgbClr val="334155"/>
                </a:solidFill>
                <a:latin typeface="Calibri"/>
              </a:rPr>
              <a:t>One atomic command makes a mutex across servers</a:t>
            </a:r>
          </a:p>
        </p:txBody>
      </p:sp>
      <p:sp>
        <p:nvSpPr>
          <p:cNvPr id="30" name="a2ud300_cp29"/>
          <p:cNvSpPr txBox="1"/>
          <p:nvPr/>
        </p:nvSpPr>
        <p:spPr>
          <a:xfrm>
            <a:off x="4956048" y="3337560"/>
            <a:ext cx="37856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DC382C"/>
                </a:solidFill>
                <a:latin typeface="Calibri"/>
              </a:rPr>
              <a:t>· </a:t>
            </a:r>
            <a:r>
              <a:rPr sz="950" b="0">
                <a:solidFill>
                  <a:srgbClr val="334155"/>
                </a:solidFill>
                <a:latin typeface="Calibri"/>
              </a:rPr>
              <a:t>Stops two nodes running the same end-of-day job</a:t>
            </a:r>
          </a:p>
        </p:txBody>
      </p:sp>
      <p:sp>
        <p:nvSpPr>
          <p:cNvPr id="31" name="a2ud360_cp30"/>
          <p:cNvSpPr txBox="1"/>
          <p:nvPr/>
        </p:nvSpPr>
        <p:spPr>
          <a:xfrm>
            <a:off x="4956048" y="3630168"/>
            <a:ext cx="37856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DC382C"/>
                </a:solidFill>
                <a:latin typeface="Calibri"/>
              </a:rPr>
              <a:t>· </a:t>
            </a:r>
            <a:r>
              <a:rPr sz="950" b="0">
                <a:solidFill>
                  <a:srgbClr val="334155"/>
                </a:solidFill>
                <a:latin typeface="Calibri"/>
              </a:rPr>
              <a:t>Always set an expiry, always check the token on release</a:t>
            </a:r>
          </a:p>
        </p:txBody>
      </p:sp>
      <p:sp>
        <p:nvSpPr>
          <p:cNvPr id="32" name="ft31"/>
          <p:cNvSpPr txBox="1"/>
          <p:nvPr/>
        </p:nvSpPr>
        <p:spPr>
          <a:xfrm>
            <a:off x="457200" y="4736592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ICICI Bank Learning Academy  ·  Enterprise Data Engineering with SQL, Redis &amp; Kafka</a:t>
            </a:r>
          </a:p>
        </p:txBody>
      </p:sp>
      <p:sp>
        <p:nvSpPr>
          <p:cNvPr id="33" name="ft32"/>
          <p:cNvSpPr txBox="1"/>
          <p:nvPr/>
        </p:nvSpPr>
        <p:spPr>
          <a:xfrm>
            <a:off x="5486400" y="473659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2 · Redis Intro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4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" presetClass="entr" presetSubtype="4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" presetClass="entr" presetSubtype="4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" presetClass="entr" presetSubtype="4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" presetClass="entr" presetSubtype="4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" presetClass="entr" presetSubtype="4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" presetClass="entr" presetSubtype="4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" presetClass="entr" presetSubtype="4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2" presetClass="entr" presetSubtype="4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" presetClass="entr" presetSubtype="4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Calibri"/>
              </a:rPr>
              <a:t>The Use Cases, Mapped to the Bank</a:t>
            </a:r>
          </a:p>
        </p:txBody>
      </p:sp>
      <p:sp>
        <p:nvSpPr>
          <p:cNvPr id="3" name="sub2"/>
          <p:cNvSpPr txBox="1"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Calibri"/>
              </a:rPr>
              <a:t>Every pattern above, with the ICICI Bank workload it belongs to</a:t>
            </a:r>
          </a:p>
        </p:txBody>
      </p:sp>
      <p:sp>
        <p:nvSpPr>
          <p:cNvPr id="4" name="a1f_th3"/>
          <p:cNvSpPr/>
          <p:nvPr/>
        </p:nvSpPr>
        <p:spPr>
          <a:xfrm>
            <a:off x="457200" y="1143000"/>
            <a:ext cx="1828800" cy="320040"/>
          </a:xfrm>
          <a:prstGeom prst="rect">
            <a:avLst/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a1f_tht4"/>
          <p:cNvSpPr txBox="1"/>
          <p:nvPr/>
        </p:nvSpPr>
        <p:spPr>
          <a:xfrm>
            <a:off x="530352" y="1143000"/>
            <a:ext cx="17190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Pattern</a:t>
            </a:r>
          </a:p>
        </p:txBody>
      </p:sp>
      <p:sp>
        <p:nvSpPr>
          <p:cNvPr id="6" name="a1wd95_td5"/>
          <p:cNvSpPr/>
          <p:nvPr/>
        </p:nvSpPr>
        <p:spPr>
          <a:xfrm>
            <a:off x="457200" y="1463040"/>
            <a:ext cx="18288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a1wd95_tdt6"/>
          <p:cNvSpPr txBox="1"/>
          <p:nvPr/>
        </p:nvSpPr>
        <p:spPr>
          <a:xfrm>
            <a:off x="530352" y="1463040"/>
            <a:ext cx="17190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Cache-aside</a:t>
            </a:r>
          </a:p>
        </p:txBody>
      </p:sp>
      <p:sp>
        <p:nvSpPr>
          <p:cNvPr id="8" name="a1wd190_td7"/>
          <p:cNvSpPr/>
          <p:nvPr/>
        </p:nvSpPr>
        <p:spPr>
          <a:xfrm>
            <a:off x="457200" y="1783080"/>
            <a:ext cx="18288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a1wd190_tdt8"/>
          <p:cNvSpPr txBox="1"/>
          <p:nvPr/>
        </p:nvSpPr>
        <p:spPr>
          <a:xfrm>
            <a:off x="530352" y="1783080"/>
            <a:ext cx="17190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Session store</a:t>
            </a:r>
          </a:p>
        </p:txBody>
      </p:sp>
      <p:sp>
        <p:nvSpPr>
          <p:cNvPr id="10" name="a1wd285_td9"/>
          <p:cNvSpPr/>
          <p:nvPr/>
        </p:nvSpPr>
        <p:spPr>
          <a:xfrm>
            <a:off x="457200" y="2103120"/>
            <a:ext cx="18288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a1wd285_tdt10"/>
          <p:cNvSpPr txBox="1"/>
          <p:nvPr/>
        </p:nvSpPr>
        <p:spPr>
          <a:xfrm>
            <a:off x="530352" y="2103120"/>
            <a:ext cx="17190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Rate limiting</a:t>
            </a:r>
          </a:p>
        </p:txBody>
      </p:sp>
      <p:sp>
        <p:nvSpPr>
          <p:cNvPr id="12" name="a1wd380_td11"/>
          <p:cNvSpPr/>
          <p:nvPr/>
        </p:nvSpPr>
        <p:spPr>
          <a:xfrm>
            <a:off x="457200" y="2423160"/>
            <a:ext cx="18288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a1wd380_tdt12"/>
          <p:cNvSpPr txBox="1"/>
          <p:nvPr/>
        </p:nvSpPr>
        <p:spPr>
          <a:xfrm>
            <a:off x="530352" y="2423160"/>
            <a:ext cx="17190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Counters</a:t>
            </a:r>
          </a:p>
        </p:txBody>
      </p:sp>
      <p:sp>
        <p:nvSpPr>
          <p:cNvPr id="14" name="a1wd475_td13"/>
          <p:cNvSpPr/>
          <p:nvPr/>
        </p:nvSpPr>
        <p:spPr>
          <a:xfrm>
            <a:off x="457200" y="2743200"/>
            <a:ext cx="18288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a1wd475_tdt14"/>
          <p:cNvSpPr txBox="1"/>
          <p:nvPr/>
        </p:nvSpPr>
        <p:spPr>
          <a:xfrm>
            <a:off x="530352" y="2743200"/>
            <a:ext cx="17190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Leaderboard</a:t>
            </a:r>
          </a:p>
        </p:txBody>
      </p:sp>
      <p:sp>
        <p:nvSpPr>
          <p:cNvPr id="16" name="a1wd570_td15"/>
          <p:cNvSpPr/>
          <p:nvPr/>
        </p:nvSpPr>
        <p:spPr>
          <a:xfrm>
            <a:off x="457200" y="3063239"/>
            <a:ext cx="18288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a1wd570_tdt16"/>
          <p:cNvSpPr txBox="1"/>
          <p:nvPr/>
        </p:nvSpPr>
        <p:spPr>
          <a:xfrm>
            <a:off x="530352" y="3063239"/>
            <a:ext cx="17190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Job queue</a:t>
            </a:r>
          </a:p>
        </p:txBody>
      </p:sp>
      <p:sp>
        <p:nvSpPr>
          <p:cNvPr id="18" name="a1wd665_td17"/>
          <p:cNvSpPr/>
          <p:nvPr/>
        </p:nvSpPr>
        <p:spPr>
          <a:xfrm>
            <a:off x="457200" y="3383279"/>
            <a:ext cx="18288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a1wd665_tdt18"/>
          <p:cNvSpPr txBox="1"/>
          <p:nvPr/>
        </p:nvSpPr>
        <p:spPr>
          <a:xfrm>
            <a:off x="530352" y="3383279"/>
            <a:ext cx="17190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Pub/Sub</a:t>
            </a:r>
          </a:p>
        </p:txBody>
      </p:sp>
      <p:sp>
        <p:nvSpPr>
          <p:cNvPr id="20" name="a1wd760_td19"/>
          <p:cNvSpPr/>
          <p:nvPr/>
        </p:nvSpPr>
        <p:spPr>
          <a:xfrm>
            <a:off x="457200" y="3703320"/>
            <a:ext cx="18288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a1wd760_tdt20"/>
          <p:cNvSpPr txBox="1"/>
          <p:nvPr/>
        </p:nvSpPr>
        <p:spPr>
          <a:xfrm>
            <a:off x="530352" y="3703320"/>
            <a:ext cx="17190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Lock</a:t>
            </a:r>
          </a:p>
        </p:txBody>
      </p:sp>
      <p:sp>
        <p:nvSpPr>
          <p:cNvPr id="22" name="a1f_th21"/>
          <p:cNvSpPr/>
          <p:nvPr/>
        </p:nvSpPr>
        <p:spPr>
          <a:xfrm>
            <a:off x="2286000" y="1143000"/>
            <a:ext cx="3291840" cy="32004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a1f_tht22"/>
          <p:cNvSpPr txBox="1"/>
          <p:nvPr/>
        </p:nvSpPr>
        <p:spPr>
          <a:xfrm>
            <a:off x="2359152" y="1143000"/>
            <a:ext cx="318211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Banking workload</a:t>
            </a:r>
          </a:p>
        </p:txBody>
      </p:sp>
      <p:sp>
        <p:nvSpPr>
          <p:cNvPr id="24" name="a1wd95_td23"/>
          <p:cNvSpPr/>
          <p:nvPr/>
        </p:nvSpPr>
        <p:spPr>
          <a:xfrm>
            <a:off x="2286000" y="1463040"/>
            <a:ext cx="329184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a1wd95_tdt24"/>
          <p:cNvSpPr txBox="1"/>
          <p:nvPr/>
        </p:nvSpPr>
        <p:spPr>
          <a:xfrm>
            <a:off x="2359152" y="1463040"/>
            <a:ext cx="318211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Balance enquiry, customer profile, FX rates</a:t>
            </a:r>
          </a:p>
        </p:txBody>
      </p:sp>
      <p:sp>
        <p:nvSpPr>
          <p:cNvPr id="26" name="a1wd190_td25"/>
          <p:cNvSpPr/>
          <p:nvPr/>
        </p:nvSpPr>
        <p:spPr>
          <a:xfrm>
            <a:off x="2286000" y="1783080"/>
            <a:ext cx="329184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a1wd190_tdt26"/>
          <p:cNvSpPr txBox="1"/>
          <p:nvPr/>
        </p:nvSpPr>
        <p:spPr>
          <a:xfrm>
            <a:off x="2359152" y="1783080"/>
            <a:ext cx="318211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Net banking and mobile login sessions</a:t>
            </a:r>
          </a:p>
        </p:txBody>
      </p:sp>
      <p:sp>
        <p:nvSpPr>
          <p:cNvPr id="28" name="a1wd285_td27"/>
          <p:cNvSpPr/>
          <p:nvPr/>
        </p:nvSpPr>
        <p:spPr>
          <a:xfrm>
            <a:off x="2286000" y="2103120"/>
            <a:ext cx="329184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a1wd285_tdt28"/>
          <p:cNvSpPr txBox="1"/>
          <p:nvPr/>
        </p:nvSpPr>
        <p:spPr>
          <a:xfrm>
            <a:off x="2359152" y="2103120"/>
            <a:ext cx="318211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Per-client API quotas, OTP request throttle</a:t>
            </a:r>
          </a:p>
        </p:txBody>
      </p:sp>
      <p:sp>
        <p:nvSpPr>
          <p:cNvPr id="30" name="a1wd380_td29"/>
          <p:cNvSpPr/>
          <p:nvPr/>
        </p:nvSpPr>
        <p:spPr>
          <a:xfrm>
            <a:off x="2286000" y="2423160"/>
            <a:ext cx="329184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a1wd380_tdt30"/>
          <p:cNvSpPr txBox="1"/>
          <p:nvPr/>
        </p:nvSpPr>
        <p:spPr>
          <a:xfrm>
            <a:off x="2359152" y="2423160"/>
            <a:ext cx="318211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Live transaction volume dashboards</a:t>
            </a:r>
          </a:p>
        </p:txBody>
      </p:sp>
      <p:sp>
        <p:nvSpPr>
          <p:cNvPr id="32" name="a1wd475_td31"/>
          <p:cNvSpPr/>
          <p:nvPr/>
        </p:nvSpPr>
        <p:spPr>
          <a:xfrm>
            <a:off x="2286000" y="2743200"/>
            <a:ext cx="329184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a1wd475_tdt32"/>
          <p:cNvSpPr txBox="1"/>
          <p:nvPr/>
        </p:nvSpPr>
        <p:spPr>
          <a:xfrm>
            <a:off x="2359152" y="2743200"/>
            <a:ext cx="318211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Top branches, top merchants by spend</a:t>
            </a:r>
          </a:p>
        </p:txBody>
      </p:sp>
      <p:sp>
        <p:nvSpPr>
          <p:cNvPr id="34" name="a1wd570_td33"/>
          <p:cNvSpPr/>
          <p:nvPr/>
        </p:nvSpPr>
        <p:spPr>
          <a:xfrm>
            <a:off x="2286000" y="3063239"/>
            <a:ext cx="329184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a1wd570_tdt34"/>
          <p:cNvSpPr txBox="1"/>
          <p:nvPr/>
        </p:nvSpPr>
        <p:spPr>
          <a:xfrm>
            <a:off x="2359152" y="3063239"/>
            <a:ext cx="318211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Statement PDF, SMS, email dispatch</a:t>
            </a:r>
          </a:p>
        </p:txBody>
      </p:sp>
      <p:sp>
        <p:nvSpPr>
          <p:cNvPr id="36" name="a1wd665_td35"/>
          <p:cNvSpPr/>
          <p:nvPr/>
        </p:nvSpPr>
        <p:spPr>
          <a:xfrm>
            <a:off x="2286000" y="3383279"/>
            <a:ext cx="329184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a1wd665_tdt36"/>
          <p:cNvSpPr txBox="1"/>
          <p:nvPr/>
        </p:nvSpPr>
        <p:spPr>
          <a:xfrm>
            <a:off x="2359152" y="3383279"/>
            <a:ext cx="318211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Fraud alert fan-out to channels</a:t>
            </a:r>
          </a:p>
        </p:txBody>
      </p:sp>
      <p:sp>
        <p:nvSpPr>
          <p:cNvPr id="38" name="a1wd760_td37"/>
          <p:cNvSpPr/>
          <p:nvPr/>
        </p:nvSpPr>
        <p:spPr>
          <a:xfrm>
            <a:off x="2286000" y="3703320"/>
            <a:ext cx="329184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a1wd760_tdt38"/>
          <p:cNvSpPr txBox="1"/>
          <p:nvPr/>
        </p:nvSpPr>
        <p:spPr>
          <a:xfrm>
            <a:off x="2359152" y="3703320"/>
            <a:ext cx="318211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End-of-day batch, single-run guarantee</a:t>
            </a:r>
          </a:p>
        </p:txBody>
      </p:sp>
      <p:sp>
        <p:nvSpPr>
          <p:cNvPr id="40" name="a1f_th39"/>
          <p:cNvSpPr/>
          <p:nvPr/>
        </p:nvSpPr>
        <p:spPr>
          <a:xfrm>
            <a:off x="5577840" y="1143000"/>
            <a:ext cx="1508760" cy="32004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a1f_tht40"/>
          <p:cNvSpPr txBox="1"/>
          <p:nvPr/>
        </p:nvSpPr>
        <p:spPr>
          <a:xfrm>
            <a:off x="5650992" y="1143000"/>
            <a:ext cx="1399031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ourier New"/>
              </a:rPr>
              <a:t>Redis type</a:t>
            </a:r>
          </a:p>
        </p:txBody>
      </p:sp>
      <p:sp>
        <p:nvSpPr>
          <p:cNvPr id="42" name="a1wd95_td41"/>
          <p:cNvSpPr/>
          <p:nvPr/>
        </p:nvSpPr>
        <p:spPr>
          <a:xfrm>
            <a:off x="5577840" y="1463040"/>
            <a:ext cx="15087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a1wd95_tdt42"/>
          <p:cNvSpPr txBox="1"/>
          <p:nvPr/>
        </p:nvSpPr>
        <p:spPr>
          <a:xfrm>
            <a:off x="5650992" y="1463040"/>
            <a:ext cx="1399031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ourier New"/>
              </a:rPr>
              <a:t>String / Hash</a:t>
            </a:r>
          </a:p>
        </p:txBody>
      </p:sp>
      <p:sp>
        <p:nvSpPr>
          <p:cNvPr id="44" name="a1wd190_td43"/>
          <p:cNvSpPr/>
          <p:nvPr/>
        </p:nvSpPr>
        <p:spPr>
          <a:xfrm>
            <a:off x="5577840" y="1783080"/>
            <a:ext cx="15087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a1wd190_tdt44"/>
          <p:cNvSpPr txBox="1"/>
          <p:nvPr/>
        </p:nvSpPr>
        <p:spPr>
          <a:xfrm>
            <a:off x="5650992" y="1783080"/>
            <a:ext cx="1399031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ourier New"/>
              </a:rPr>
              <a:t>String / Hash</a:t>
            </a:r>
          </a:p>
        </p:txBody>
      </p:sp>
      <p:sp>
        <p:nvSpPr>
          <p:cNvPr id="46" name="a1wd285_td45"/>
          <p:cNvSpPr/>
          <p:nvPr/>
        </p:nvSpPr>
        <p:spPr>
          <a:xfrm>
            <a:off x="5577840" y="2103120"/>
            <a:ext cx="15087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a1wd285_tdt46"/>
          <p:cNvSpPr txBox="1"/>
          <p:nvPr/>
        </p:nvSpPr>
        <p:spPr>
          <a:xfrm>
            <a:off x="5650992" y="2103120"/>
            <a:ext cx="1399031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ourier New"/>
              </a:rPr>
              <a:t>String counter</a:t>
            </a:r>
          </a:p>
        </p:txBody>
      </p:sp>
      <p:sp>
        <p:nvSpPr>
          <p:cNvPr id="48" name="a1wd380_td47"/>
          <p:cNvSpPr/>
          <p:nvPr/>
        </p:nvSpPr>
        <p:spPr>
          <a:xfrm>
            <a:off x="5577840" y="2423160"/>
            <a:ext cx="15087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a1wd380_tdt48"/>
          <p:cNvSpPr txBox="1"/>
          <p:nvPr/>
        </p:nvSpPr>
        <p:spPr>
          <a:xfrm>
            <a:off x="5650992" y="2423160"/>
            <a:ext cx="1399031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ourier New"/>
              </a:rPr>
              <a:t>String / HLL</a:t>
            </a:r>
          </a:p>
        </p:txBody>
      </p:sp>
      <p:sp>
        <p:nvSpPr>
          <p:cNvPr id="50" name="a1wd475_td49"/>
          <p:cNvSpPr/>
          <p:nvPr/>
        </p:nvSpPr>
        <p:spPr>
          <a:xfrm>
            <a:off x="5577840" y="2743200"/>
            <a:ext cx="15087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a1wd475_tdt50"/>
          <p:cNvSpPr txBox="1"/>
          <p:nvPr/>
        </p:nvSpPr>
        <p:spPr>
          <a:xfrm>
            <a:off x="5650992" y="2743200"/>
            <a:ext cx="1399031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ourier New"/>
              </a:rPr>
              <a:t>Sorted Set</a:t>
            </a:r>
          </a:p>
        </p:txBody>
      </p:sp>
      <p:sp>
        <p:nvSpPr>
          <p:cNvPr id="52" name="a1wd570_td51"/>
          <p:cNvSpPr/>
          <p:nvPr/>
        </p:nvSpPr>
        <p:spPr>
          <a:xfrm>
            <a:off x="5577840" y="3063239"/>
            <a:ext cx="15087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a1wd570_tdt52"/>
          <p:cNvSpPr txBox="1"/>
          <p:nvPr/>
        </p:nvSpPr>
        <p:spPr>
          <a:xfrm>
            <a:off x="5650992" y="3063239"/>
            <a:ext cx="1399031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ourier New"/>
              </a:rPr>
              <a:t>List / Stream</a:t>
            </a:r>
          </a:p>
        </p:txBody>
      </p:sp>
      <p:sp>
        <p:nvSpPr>
          <p:cNvPr id="54" name="a1wd665_td53"/>
          <p:cNvSpPr/>
          <p:nvPr/>
        </p:nvSpPr>
        <p:spPr>
          <a:xfrm>
            <a:off x="5577840" y="3383279"/>
            <a:ext cx="15087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a1wd665_tdt54"/>
          <p:cNvSpPr txBox="1"/>
          <p:nvPr/>
        </p:nvSpPr>
        <p:spPr>
          <a:xfrm>
            <a:off x="5650992" y="3383279"/>
            <a:ext cx="1399031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ourier New"/>
              </a:rPr>
              <a:t>Pub/Sub / Stream</a:t>
            </a:r>
          </a:p>
        </p:txBody>
      </p:sp>
      <p:sp>
        <p:nvSpPr>
          <p:cNvPr id="56" name="a1wd760_td55"/>
          <p:cNvSpPr/>
          <p:nvPr/>
        </p:nvSpPr>
        <p:spPr>
          <a:xfrm>
            <a:off x="5577840" y="3703320"/>
            <a:ext cx="150876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a1wd760_tdt56"/>
          <p:cNvSpPr txBox="1"/>
          <p:nvPr/>
        </p:nvSpPr>
        <p:spPr>
          <a:xfrm>
            <a:off x="5650992" y="3703320"/>
            <a:ext cx="1399031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ourier New"/>
              </a:rPr>
              <a:t>String NX PX</a:t>
            </a:r>
          </a:p>
        </p:txBody>
      </p:sp>
      <p:sp>
        <p:nvSpPr>
          <p:cNvPr id="58" name="a1f_th57"/>
          <p:cNvSpPr/>
          <p:nvPr/>
        </p:nvSpPr>
        <p:spPr>
          <a:xfrm>
            <a:off x="7086600" y="1143000"/>
            <a:ext cx="1600200" cy="3200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a1f_tht58"/>
          <p:cNvSpPr txBox="1"/>
          <p:nvPr/>
        </p:nvSpPr>
        <p:spPr>
          <a:xfrm>
            <a:off x="7159752" y="1143000"/>
            <a:ext cx="14904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Calibri"/>
              </a:rPr>
              <a:t>Typical TTL</a:t>
            </a:r>
          </a:p>
        </p:txBody>
      </p:sp>
      <p:sp>
        <p:nvSpPr>
          <p:cNvPr id="60" name="a1wd95_td59"/>
          <p:cNvSpPr/>
          <p:nvPr/>
        </p:nvSpPr>
        <p:spPr>
          <a:xfrm>
            <a:off x="7086600" y="1463040"/>
            <a:ext cx="16002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a1wd95_tdt60"/>
          <p:cNvSpPr txBox="1"/>
          <p:nvPr/>
        </p:nvSpPr>
        <p:spPr>
          <a:xfrm>
            <a:off x="7159752" y="1463040"/>
            <a:ext cx="14904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1-15 min</a:t>
            </a:r>
          </a:p>
        </p:txBody>
      </p:sp>
      <p:sp>
        <p:nvSpPr>
          <p:cNvPr id="62" name="a1wd190_td61"/>
          <p:cNvSpPr/>
          <p:nvPr/>
        </p:nvSpPr>
        <p:spPr>
          <a:xfrm>
            <a:off x="7086600" y="1783080"/>
            <a:ext cx="16002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a1wd190_tdt62"/>
          <p:cNvSpPr txBox="1"/>
          <p:nvPr/>
        </p:nvSpPr>
        <p:spPr>
          <a:xfrm>
            <a:off x="7159752" y="1783080"/>
            <a:ext cx="14904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30 min sliding</a:t>
            </a:r>
          </a:p>
        </p:txBody>
      </p:sp>
      <p:sp>
        <p:nvSpPr>
          <p:cNvPr id="64" name="a1wd285_td63"/>
          <p:cNvSpPr/>
          <p:nvPr/>
        </p:nvSpPr>
        <p:spPr>
          <a:xfrm>
            <a:off x="7086600" y="2103120"/>
            <a:ext cx="16002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a1wd285_tdt64"/>
          <p:cNvSpPr txBox="1"/>
          <p:nvPr/>
        </p:nvSpPr>
        <p:spPr>
          <a:xfrm>
            <a:off x="7159752" y="2103120"/>
            <a:ext cx="14904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60 s window</a:t>
            </a:r>
          </a:p>
        </p:txBody>
      </p:sp>
      <p:sp>
        <p:nvSpPr>
          <p:cNvPr id="66" name="a1wd380_td65"/>
          <p:cNvSpPr/>
          <p:nvPr/>
        </p:nvSpPr>
        <p:spPr>
          <a:xfrm>
            <a:off x="7086600" y="2423160"/>
            <a:ext cx="16002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a1wd380_tdt66"/>
          <p:cNvSpPr txBox="1"/>
          <p:nvPr/>
        </p:nvSpPr>
        <p:spPr>
          <a:xfrm>
            <a:off x="7159752" y="2423160"/>
            <a:ext cx="14904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1 day</a:t>
            </a:r>
          </a:p>
        </p:txBody>
      </p:sp>
      <p:sp>
        <p:nvSpPr>
          <p:cNvPr id="68" name="a1wd475_td67"/>
          <p:cNvSpPr/>
          <p:nvPr/>
        </p:nvSpPr>
        <p:spPr>
          <a:xfrm>
            <a:off x="7086600" y="2743200"/>
            <a:ext cx="16002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a1wd475_tdt68"/>
          <p:cNvSpPr txBox="1"/>
          <p:nvPr/>
        </p:nvSpPr>
        <p:spPr>
          <a:xfrm>
            <a:off x="7159752" y="2743200"/>
            <a:ext cx="14904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rolling</a:t>
            </a:r>
          </a:p>
        </p:txBody>
      </p:sp>
      <p:sp>
        <p:nvSpPr>
          <p:cNvPr id="70" name="a1wd570_td69"/>
          <p:cNvSpPr/>
          <p:nvPr/>
        </p:nvSpPr>
        <p:spPr>
          <a:xfrm>
            <a:off x="7086600" y="3063239"/>
            <a:ext cx="16002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a1wd570_tdt70"/>
          <p:cNvSpPr txBox="1"/>
          <p:nvPr/>
        </p:nvSpPr>
        <p:spPr>
          <a:xfrm>
            <a:off x="7159752" y="3063239"/>
            <a:ext cx="14904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none</a:t>
            </a:r>
          </a:p>
        </p:txBody>
      </p:sp>
      <p:sp>
        <p:nvSpPr>
          <p:cNvPr id="72" name="a1wd665_td71"/>
          <p:cNvSpPr/>
          <p:nvPr/>
        </p:nvSpPr>
        <p:spPr>
          <a:xfrm>
            <a:off x="7086600" y="3383279"/>
            <a:ext cx="16002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a1wd665_tdt72"/>
          <p:cNvSpPr txBox="1"/>
          <p:nvPr/>
        </p:nvSpPr>
        <p:spPr>
          <a:xfrm>
            <a:off x="7159752" y="3383279"/>
            <a:ext cx="14904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n/a</a:t>
            </a:r>
          </a:p>
        </p:txBody>
      </p:sp>
      <p:sp>
        <p:nvSpPr>
          <p:cNvPr id="74" name="a1wd760_td73"/>
          <p:cNvSpPr/>
          <p:nvPr/>
        </p:nvSpPr>
        <p:spPr>
          <a:xfrm>
            <a:off x="7086600" y="3703320"/>
            <a:ext cx="16002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a1wd760_tdt74"/>
          <p:cNvSpPr txBox="1"/>
          <p:nvPr/>
        </p:nvSpPr>
        <p:spPr>
          <a:xfrm>
            <a:off x="7159752" y="3703320"/>
            <a:ext cx="1490472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Calibri"/>
              </a:rPr>
              <a:t>30 s</a:t>
            </a:r>
          </a:p>
        </p:txBody>
      </p:sp>
      <p:sp>
        <p:nvSpPr>
          <p:cNvPr id="76" name="ft75"/>
          <p:cNvSpPr txBox="1"/>
          <p:nvPr/>
        </p:nvSpPr>
        <p:spPr>
          <a:xfrm>
            <a:off x="457200" y="4736592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ICICI Bank Learning Academy  ·  Enterprise Data Engineering with SQL, Redis &amp; Kafka</a:t>
            </a:r>
          </a:p>
        </p:txBody>
      </p:sp>
      <p:sp>
        <p:nvSpPr>
          <p:cNvPr id="77" name="ft76"/>
          <p:cNvSpPr txBox="1"/>
          <p:nvPr/>
        </p:nvSpPr>
        <p:spPr>
          <a:xfrm>
            <a:off x="5486400" y="473659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2 · Redis Intro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95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95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95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95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95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95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95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95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22" presetClass="entr" presetSubtype="8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8" fill="hold" grpId="0" nodeType="withEffect">
                                  <p:stCondLst>
                                    <p:cond delay="285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grpId="0" nodeType="withEffect">
                                  <p:stCondLst>
                                    <p:cond delay="285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285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8" fill="hold" grpId="0" nodeType="withEffect">
                                  <p:stCondLst>
                                    <p:cond delay="285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2" presetClass="entr" presetSubtype="8" fill="hold" grpId="0" nodeType="withEffect">
                                  <p:stCondLst>
                                    <p:cond delay="285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8" fill="hold" grpId="0" nodeType="withEffect">
                                  <p:stCondLst>
                                    <p:cond delay="285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8" fill="hold" grpId="0" nodeType="withEffect">
                                  <p:stCondLst>
                                    <p:cond delay="285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grpId="0" nodeType="withEffect">
                                  <p:stCondLst>
                                    <p:cond delay="285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8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2" presetClass="entr" presetSubtype="8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2" presetClass="entr" presetSubtype="8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2" presetClass="entr" presetSubtype="8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22" presetClass="entr" presetSubtype="8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22" presetClass="entr" presetSubtype="8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22" presetClass="entr" presetSubtype="8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22" presetClass="entr" presetSubtype="8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3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2" presetClass="entr" presetSubtype="8" fill="hold" grpId="0" nodeType="withEffect">
                                  <p:stCondLst>
                                    <p:cond delay="475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22" presetClass="entr" presetSubtype="8" fill="hold" grpId="0" nodeType="withEffect">
                                  <p:stCondLst>
                                    <p:cond delay="475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22" presetClass="entr" presetSubtype="8" fill="hold" grpId="0" nodeType="withEffect">
                                  <p:stCondLst>
                                    <p:cond delay="475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22" presetClass="entr" presetSubtype="8" fill="hold" grpId="0" nodeType="withEffect">
                                  <p:stCondLst>
                                    <p:cond delay="475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22" presetClass="entr" presetSubtype="8" fill="hold" grpId="0" nodeType="withEffect">
                                  <p:stCondLst>
                                    <p:cond delay="475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22" presetClass="entr" presetSubtype="8" fill="hold" grpId="0" nodeType="withEffect">
                                  <p:stCondLst>
                                    <p:cond delay="475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22" presetClass="entr" presetSubtype="8" fill="hold" grpId="0" nodeType="withEffect">
                                  <p:stCondLst>
                                    <p:cond delay="475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22" presetClass="entr" presetSubtype="8" fill="hold" grpId="0" nodeType="withEffect">
                                  <p:stCondLst>
                                    <p:cond delay="475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22" presetClass="entr" presetSubtype="8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22" presetClass="entr" presetSubtype="8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22" presetClass="entr" presetSubtype="8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22" presetClass="entr" presetSubtype="8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22" presetClass="entr" presetSubtype="8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22" presetClass="entr" presetSubtype="8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22" presetClass="entr" presetSubtype="8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22" presetClass="entr" presetSubtype="8" fill="hold" grpId="0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22" presetClass="entr" presetSubtype="8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22" presetClass="entr" presetSubtype="8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22" presetClass="entr" presetSubtype="8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22" presetClass="entr" presetSubtype="8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22" presetClass="entr" presetSubtype="8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22" presetClass="entr" presetSubtype="8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22" presetClass="entr" presetSubtype="8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2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22" presetClass="entr" presetSubtype="8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5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22" presetClass="entr" presetSubtype="8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22" presetClass="entr" presetSubtype="8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22" presetClass="entr" presetSubtype="8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22" presetClass="entr" presetSubtype="8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22" presetClass="entr" presetSubtype="8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22" presetClass="entr" presetSubtype="8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22" presetClass="entr" presetSubtype="8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6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22" presetClass="entr" presetSubtype="8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9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0f_n1"/>
          <p:cNvSpPr txBox="1"/>
          <p:nvPr/>
        </p:nvSpPr>
        <p:spPr>
          <a:xfrm>
            <a:off x="548640" y="1143000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800" b="1">
                <a:solidFill>
                  <a:srgbClr val="A78BFA"/>
                </a:solidFill>
                <a:latin typeface="Calibri"/>
              </a:rPr>
              <a:t>04</a:t>
            </a:r>
          </a:p>
        </p:txBody>
      </p:sp>
      <p:sp>
        <p:nvSpPr>
          <p:cNvPr id="3" name="a0ud200_h2"/>
          <p:cNvSpPr txBox="1"/>
          <p:nvPr/>
        </p:nvSpPr>
        <p:spPr>
          <a:xfrm>
            <a:off x="548640" y="1938528"/>
            <a:ext cx="58521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Installing Redis</a:t>
            </a:r>
          </a:p>
        </p:txBody>
      </p:sp>
      <p:sp>
        <p:nvSpPr>
          <p:cNvPr id="4" name="a0fd450_t3"/>
          <p:cNvSpPr txBox="1"/>
          <p:nvPr/>
        </p:nvSpPr>
        <p:spPr>
          <a:xfrm>
            <a:off x="548640" y="2743200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Calibri"/>
              </a:rPr>
              <a:t>Three routes on Windows, the standard route on Linux, then verify</a:t>
            </a:r>
          </a:p>
        </p:txBody>
      </p:sp>
      <p:sp>
        <p:nvSpPr>
          <p:cNvPr id="5" name="a0ud600_pill4"/>
          <p:cNvSpPr/>
          <p:nvPr/>
        </p:nvSpPr>
        <p:spPr>
          <a:xfrm>
            <a:off x="5532120" y="1325880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CBD5E1"/>
                </a:solidFill>
                <a:latin typeface="Courier New"/>
              </a:rPr>
              <a:t>WSL2 (recommended)</a:t>
            </a:r>
          </a:p>
        </p:txBody>
      </p:sp>
      <p:sp>
        <p:nvSpPr>
          <p:cNvPr id="6" name="a0ud750_pill5"/>
          <p:cNvSpPr/>
          <p:nvPr/>
        </p:nvSpPr>
        <p:spPr>
          <a:xfrm>
            <a:off x="5532120" y="1801368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CBD5E1"/>
                </a:solidFill>
                <a:latin typeface="Courier New"/>
              </a:rPr>
              <a:t>Docker Desktop</a:t>
            </a:r>
          </a:p>
        </p:txBody>
      </p:sp>
      <p:sp>
        <p:nvSpPr>
          <p:cNvPr id="7" name="a0ud900_pill6"/>
          <p:cNvSpPr/>
          <p:nvPr/>
        </p:nvSpPr>
        <p:spPr>
          <a:xfrm>
            <a:off x="5532120" y="2276856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CBD5E1"/>
                </a:solidFill>
                <a:latin typeface="Courier New"/>
              </a:rPr>
              <a:t>Memurai</a:t>
            </a:r>
          </a:p>
        </p:txBody>
      </p:sp>
      <p:sp>
        <p:nvSpPr>
          <p:cNvPr id="8" name="a0ud1050_pill7"/>
          <p:cNvSpPr/>
          <p:nvPr/>
        </p:nvSpPr>
        <p:spPr>
          <a:xfrm>
            <a:off x="5532120" y="2752344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CBD5E1"/>
                </a:solidFill>
                <a:latin typeface="Courier New"/>
              </a:rPr>
              <a:t>Linux apt/yum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" presetClass="entr" presetSubtype="4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" presetClass="entr" presetSubtype="4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Calibri"/>
              </a:rPr>
              <a:t>Redis on Windows · Pick a Route</a:t>
            </a:r>
          </a:p>
        </p:txBody>
      </p:sp>
      <p:sp>
        <p:nvSpPr>
          <p:cNvPr id="3" name="sub2"/>
          <p:cNvSpPr txBox="1"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Calibri"/>
              </a:rPr>
              <a:t>There is no official native Windows build - these are the three real options</a:t>
            </a:r>
          </a:p>
        </p:txBody>
      </p:sp>
      <p:sp>
        <p:nvSpPr>
          <p:cNvPr id="4" name="a1u_card3"/>
          <p:cNvSpPr/>
          <p:nvPr/>
        </p:nvSpPr>
        <p:spPr>
          <a:xfrm>
            <a:off x="457200" y="1143000"/>
            <a:ext cx="2651760" cy="30175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a1u_acc4"/>
          <p:cNvSpPr/>
          <p:nvPr/>
        </p:nvSpPr>
        <p:spPr>
          <a:xfrm>
            <a:off x="457200" y="1143000"/>
            <a:ext cx="2651760" cy="5029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a1ud40_on5"/>
          <p:cNvSpPr txBox="1"/>
          <p:nvPr/>
        </p:nvSpPr>
        <p:spPr>
          <a:xfrm>
            <a:off x="621792" y="1271016"/>
            <a:ext cx="232257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0F172A"/>
                </a:solidFill>
                <a:latin typeface="Calibri"/>
              </a:rPr>
              <a:t>WSL2 + Ubuntu</a:t>
            </a:r>
          </a:p>
        </p:txBody>
      </p:sp>
      <p:sp>
        <p:nvSpPr>
          <p:cNvPr id="7" name="a1ud60_ot6"/>
          <p:cNvSpPr txBox="1"/>
          <p:nvPr/>
        </p:nvSpPr>
        <p:spPr>
          <a:xfrm>
            <a:off x="621792" y="1527048"/>
            <a:ext cx="23225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>
                <a:solidFill>
                  <a:srgbClr val="0F766E"/>
                </a:solidFill>
                <a:latin typeface="Calibri"/>
              </a:rPr>
              <a:t>RECOMMENDED FOR THIS COURSE</a:t>
            </a:r>
          </a:p>
        </p:txBody>
      </p:sp>
      <p:sp>
        <p:nvSpPr>
          <p:cNvPr id="8" name="a1ud90_og7"/>
          <p:cNvSpPr txBox="1"/>
          <p:nvPr/>
        </p:nvSpPr>
        <p:spPr>
          <a:xfrm>
            <a:off x="621792" y="1783080"/>
            <a:ext cx="23225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0F766E"/>
                </a:solidFill>
                <a:latin typeface="Calibri"/>
              </a:rPr>
              <a:t>GOOD</a:t>
            </a:r>
          </a:p>
        </p:txBody>
      </p:sp>
      <p:sp>
        <p:nvSpPr>
          <p:cNvPr id="9" name="a1ud110_op8"/>
          <p:cNvSpPr txBox="1"/>
          <p:nvPr/>
        </p:nvSpPr>
        <p:spPr>
          <a:xfrm>
            <a:off x="621792" y="2002536"/>
            <a:ext cx="232257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0F766E"/>
                </a:solidFill>
                <a:latin typeface="Calibri"/>
              </a:rPr>
              <a:t>+ </a:t>
            </a:r>
            <a:r>
              <a:rPr sz="950" b="0">
                <a:solidFill>
                  <a:srgbClr val="334155"/>
                </a:solidFill>
                <a:latin typeface="Calibri"/>
              </a:rPr>
              <a:t>Real Redis, real Linux, official packages</a:t>
            </a:r>
          </a:p>
        </p:txBody>
      </p:sp>
      <p:sp>
        <p:nvSpPr>
          <p:cNvPr id="10" name="a1ud170_op9"/>
          <p:cNvSpPr txBox="1"/>
          <p:nvPr/>
        </p:nvSpPr>
        <p:spPr>
          <a:xfrm>
            <a:off x="621792" y="2368296"/>
            <a:ext cx="232257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0F766E"/>
                </a:solidFill>
                <a:latin typeface="Calibri"/>
              </a:rPr>
              <a:t>+ </a:t>
            </a:r>
            <a:r>
              <a:rPr sz="950" b="0">
                <a:solidFill>
                  <a:srgbClr val="334155"/>
                </a:solidFill>
                <a:latin typeface="Calibri"/>
              </a:rPr>
              <a:t>Free, no licence</a:t>
            </a:r>
          </a:p>
        </p:txBody>
      </p:sp>
      <p:sp>
        <p:nvSpPr>
          <p:cNvPr id="11" name="a1ud230_op10"/>
          <p:cNvSpPr txBox="1"/>
          <p:nvPr/>
        </p:nvSpPr>
        <p:spPr>
          <a:xfrm>
            <a:off x="621792" y="2734056"/>
            <a:ext cx="232257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0F766E"/>
                </a:solidFill>
                <a:latin typeface="Calibri"/>
              </a:rPr>
              <a:t>+ </a:t>
            </a:r>
            <a:r>
              <a:rPr sz="950" b="0">
                <a:solidFill>
                  <a:srgbClr val="334155"/>
                </a:solidFill>
                <a:latin typeface="Calibri"/>
              </a:rPr>
              <a:t>Survives reboots via a service</a:t>
            </a:r>
          </a:p>
        </p:txBody>
      </p:sp>
      <p:sp>
        <p:nvSpPr>
          <p:cNvPr id="12" name="a1ud280_oc11"/>
          <p:cNvSpPr txBox="1"/>
          <p:nvPr/>
        </p:nvSpPr>
        <p:spPr>
          <a:xfrm>
            <a:off x="621792" y="3154680"/>
            <a:ext cx="23225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DC382C"/>
                </a:solidFill>
                <a:latin typeface="Calibri"/>
              </a:rPr>
              <a:t>WATCH OUT</a:t>
            </a:r>
          </a:p>
        </p:txBody>
      </p:sp>
      <p:sp>
        <p:nvSpPr>
          <p:cNvPr id="13" name="a1ud300_oc212"/>
          <p:cNvSpPr txBox="1"/>
          <p:nvPr/>
        </p:nvSpPr>
        <p:spPr>
          <a:xfrm>
            <a:off x="621792" y="3374136"/>
            <a:ext cx="232257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DC382C"/>
                </a:solidFill>
                <a:latin typeface="Calibri"/>
              </a:rPr>
              <a:t>- </a:t>
            </a:r>
            <a:r>
              <a:rPr sz="950" b="0">
                <a:solidFill>
                  <a:srgbClr val="334155"/>
                </a:solidFill>
                <a:latin typeface="Calibri"/>
              </a:rPr>
              <a:t>Needs Windows 10 2004+ or Windows 11</a:t>
            </a:r>
          </a:p>
        </p:txBody>
      </p:sp>
      <p:sp>
        <p:nvSpPr>
          <p:cNvPr id="14" name="a1ud360_oc213"/>
          <p:cNvSpPr txBox="1"/>
          <p:nvPr/>
        </p:nvSpPr>
        <p:spPr>
          <a:xfrm>
            <a:off x="621792" y="3739896"/>
            <a:ext cx="232257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DC382C"/>
                </a:solidFill>
                <a:latin typeface="Calibri"/>
              </a:rPr>
              <a:t>- </a:t>
            </a:r>
            <a:r>
              <a:rPr sz="950" b="0">
                <a:solidFill>
                  <a:srgbClr val="334155"/>
                </a:solidFill>
                <a:latin typeface="Calibri"/>
              </a:rPr>
              <a:t>Virtualisation must be enabled in BIOS</a:t>
            </a:r>
          </a:p>
        </p:txBody>
      </p:sp>
      <p:sp>
        <p:nvSpPr>
          <p:cNvPr id="15" name="a2u_card14"/>
          <p:cNvSpPr/>
          <p:nvPr/>
        </p:nvSpPr>
        <p:spPr>
          <a:xfrm>
            <a:off x="3291840" y="1143000"/>
            <a:ext cx="2651760" cy="30175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a2u_acc15"/>
          <p:cNvSpPr/>
          <p:nvPr/>
        </p:nvSpPr>
        <p:spPr>
          <a:xfrm>
            <a:off x="3291840" y="1143000"/>
            <a:ext cx="2651760" cy="5029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a2ud40_on16"/>
          <p:cNvSpPr txBox="1"/>
          <p:nvPr/>
        </p:nvSpPr>
        <p:spPr>
          <a:xfrm>
            <a:off x="3456432" y="1271016"/>
            <a:ext cx="232257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0F172A"/>
                </a:solidFill>
                <a:latin typeface="Calibri"/>
              </a:rPr>
              <a:t>Docker Desktop</a:t>
            </a:r>
          </a:p>
        </p:txBody>
      </p:sp>
      <p:sp>
        <p:nvSpPr>
          <p:cNvPr id="18" name="a2ud60_ot17"/>
          <p:cNvSpPr txBox="1"/>
          <p:nvPr/>
        </p:nvSpPr>
        <p:spPr>
          <a:xfrm>
            <a:off x="3456432" y="1527048"/>
            <a:ext cx="23225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>
                <a:solidFill>
                  <a:srgbClr val="8B5CF6"/>
                </a:solidFill>
                <a:latin typeface="Calibri"/>
              </a:rPr>
              <a:t>FASTEST TO START</a:t>
            </a:r>
          </a:p>
        </p:txBody>
      </p:sp>
      <p:sp>
        <p:nvSpPr>
          <p:cNvPr id="19" name="a2ud90_og18"/>
          <p:cNvSpPr txBox="1"/>
          <p:nvPr/>
        </p:nvSpPr>
        <p:spPr>
          <a:xfrm>
            <a:off x="3456432" y="1783080"/>
            <a:ext cx="23225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0F766E"/>
                </a:solidFill>
                <a:latin typeface="Calibri"/>
              </a:rPr>
              <a:t>GOOD</a:t>
            </a:r>
          </a:p>
        </p:txBody>
      </p:sp>
      <p:sp>
        <p:nvSpPr>
          <p:cNvPr id="20" name="a2ud110_op19"/>
          <p:cNvSpPr txBox="1"/>
          <p:nvPr/>
        </p:nvSpPr>
        <p:spPr>
          <a:xfrm>
            <a:off x="3456432" y="2002536"/>
            <a:ext cx="232257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0F766E"/>
                </a:solidFill>
                <a:latin typeface="Calibri"/>
              </a:rPr>
              <a:t>+ </a:t>
            </a:r>
            <a:r>
              <a:rPr sz="950" b="0">
                <a:solidFill>
                  <a:srgbClr val="334155"/>
                </a:solidFill>
                <a:latin typeface="Calibri"/>
              </a:rPr>
              <a:t>One command and you are running</a:t>
            </a:r>
          </a:p>
        </p:txBody>
      </p:sp>
      <p:sp>
        <p:nvSpPr>
          <p:cNvPr id="21" name="a2ud170_op20"/>
          <p:cNvSpPr txBox="1"/>
          <p:nvPr/>
        </p:nvSpPr>
        <p:spPr>
          <a:xfrm>
            <a:off x="3456432" y="2368296"/>
            <a:ext cx="232257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0F766E"/>
                </a:solidFill>
                <a:latin typeface="Calibri"/>
              </a:rPr>
              <a:t>+ </a:t>
            </a:r>
            <a:r>
              <a:rPr sz="950" b="0">
                <a:solidFill>
                  <a:srgbClr val="334155"/>
                </a:solidFill>
                <a:latin typeface="Calibri"/>
              </a:rPr>
              <a:t>Easy to reset - delete the container</a:t>
            </a:r>
          </a:p>
        </p:txBody>
      </p:sp>
      <p:sp>
        <p:nvSpPr>
          <p:cNvPr id="22" name="a2ud230_op21"/>
          <p:cNvSpPr txBox="1"/>
          <p:nvPr/>
        </p:nvSpPr>
        <p:spPr>
          <a:xfrm>
            <a:off x="3456432" y="2734056"/>
            <a:ext cx="232257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0F766E"/>
                </a:solidFill>
                <a:latin typeface="Calibri"/>
              </a:rPr>
              <a:t>+ </a:t>
            </a:r>
            <a:r>
              <a:rPr sz="950" b="0">
                <a:solidFill>
                  <a:srgbClr val="334155"/>
                </a:solidFill>
                <a:latin typeface="Calibri"/>
              </a:rPr>
              <a:t>Same image as production</a:t>
            </a:r>
          </a:p>
        </p:txBody>
      </p:sp>
      <p:sp>
        <p:nvSpPr>
          <p:cNvPr id="23" name="a2ud280_oc22"/>
          <p:cNvSpPr txBox="1"/>
          <p:nvPr/>
        </p:nvSpPr>
        <p:spPr>
          <a:xfrm>
            <a:off x="3456432" y="3154680"/>
            <a:ext cx="23225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DC382C"/>
                </a:solidFill>
                <a:latin typeface="Calibri"/>
              </a:rPr>
              <a:t>WATCH OUT</a:t>
            </a:r>
          </a:p>
        </p:txBody>
      </p:sp>
      <p:sp>
        <p:nvSpPr>
          <p:cNvPr id="24" name="a2ud300_oc223"/>
          <p:cNvSpPr txBox="1"/>
          <p:nvPr/>
        </p:nvSpPr>
        <p:spPr>
          <a:xfrm>
            <a:off x="3456432" y="3374136"/>
            <a:ext cx="232257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DC382C"/>
                </a:solidFill>
                <a:latin typeface="Calibri"/>
              </a:rPr>
              <a:t>- </a:t>
            </a:r>
            <a:r>
              <a:rPr sz="950" b="0">
                <a:solidFill>
                  <a:srgbClr val="334155"/>
                </a:solidFill>
                <a:latin typeface="Calibri"/>
              </a:rPr>
              <a:t>Docker Desktop licence for large firms</a:t>
            </a:r>
          </a:p>
        </p:txBody>
      </p:sp>
      <p:sp>
        <p:nvSpPr>
          <p:cNvPr id="25" name="a2ud360_oc224"/>
          <p:cNvSpPr txBox="1"/>
          <p:nvPr/>
        </p:nvSpPr>
        <p:spPr>
          <a:xfrm>
            <a:off x="3456432" y="3739896"/>
            <a:ext cx="232257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DC382C"/>
                </a:solidFill>
                <a:latin typeface="Calibri"/>
              </a:rPr>
              <a:t>- </a:t>
            </a:r>
            <a:r>
              <a:rPr sz="950" b="0">
                <a:solidFill>
                  <a:srgbClr val="334155"/>
                </a:solidFill>
                <a:latin typeface="Calibri"/>
              </a:rPr>
              <a:t>Container networking can confuse beginners</a:t>
            </a:r>
          </a:p>
        </p:txBody>
      </p:sp>
      <p:sp>
        <p:nvSpPr>
          <p:cNvPr id="26" name="a3u_card25"/>
          <p:cNvSpPr/>
          <p:nvPr/>
        </p:nvSpPr>
        <p:spPr>
          <a:xfrm>
            <a:off x="6126480" y="1143000"/>
            <a:ext cx="2651760" cy="30175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a3u_acc26"/>
          <p:cNvSpPr/>
          <p:nvPr/>
        </p:nvSpPr>
        <p:spPr>
          <a:xfrm>
            <a:off x="6126480" y="1143000"/>
            <a:ext cx="2651760" cy="5029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a3ud40_on27"/>
          <p:cNvSpPr txBox="1"/>
          <p:nvPr/>
        </p:nvSpPr>
        <p:spPr>
          <a:xfrm>
            <a:off x="6291072" y="1271016"/>
            <a:ext cx="232257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0F172A"/>
                </a:solidFill>
                <a:latin typeface="Calibri"/>
              </a:rPr>
              <a:t>Memurai</a:t>
            </a:r>
          </a:p>
        </p:txBody>
      </p:sp>
      <p:sp>
        <p:nvSpPr>
          <p:cNvPr id="29" name="a3ud60_ot28"/>
          <p:cNvSpPr txBox="1"/>
          <p:nvPr/>
        </p:nvSpPr>
        <p:spPr>
          <a:xfrm>
            <a:off x="6291072" y="1527048"/>
            <a:ext cx="23225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>
                <a:solidFill>
                  <a:srgbClr val="B45309"/>
                </a:solidFill>
                <a:latin typeface="Calibri"/>
              </a:rPr>
              <a:t>NATIVE WINDOWS SERVICE</a:t>
            </a:r>
          </a:p>
        </p:txBody>
      </p:sp>
      <p:sp>
        <p:nvSpPr>
          <p:cNvPr id="30" name="a3ud90_og29"/>
          <p:cNvSpPr txBox="1"/>
          <p:nvPr/>
        </p:nvSpPr>
        <p:spPr>
          <a:xfrm>
            <a:off x="6291072" y="1783080"/>
            <a:ext cx="23225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0F766E"/>
                </a:solidFill>
                <a:latin typeface="Calibri"/>
              </a:rPr>
              <a:t>GOOD</a:t>
            </a:r>
          </a:p>
        </p:txBody>
      </p:sp>
      <p:sp>
        <p:nvSpPr>
          <p:cNvPr id="31" name="a3ud110_op30"/>
          <p:cNvSpPr txBox="1"/>
          <p:nvPr/>
        </p:nvSpPr>
        <p:spPr>
          <a:xfrm>
            <a:off x="6291072" y="2002536"/>
            <a:ext cx="232257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0F766E"/>
                </a:solidFill>
                <a:latin typeface="Calibri"/>
              </a:rPr>
              <a:t>+ </a:t>
            </a:r>
            <a:r>
              <a:rPr sz="950" b="0">
                <a:solidFill>
                  <a:srgbClr val="334155"/>
                </a:solidFill>
                <a:latin typeface="Calibri"/>
              </a:rPr>
              <a:t>Installs as a real Windows service</a:t>
            </a:r>
          </a:p>
        </p:txBody>
      </p:sp>
      <p:sp>
        <p:nvSpPr>
          <p:cNvPr id="32" name="a3ud170_op31"/>
          <p:cNvSpPr txBox="1"/>
          <p:nvPr/>
        </p:nvSpPr>
        <p:spPr>
          <a:xfrm>
            <a:off x="6291072" y="2368296"/>
            <a:ext cx="232257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0F766E"/>
                </a:solidFill>
                <a:latin typeface="Calibri"/>
              </a:rPr>
              <a:t>+ </a:t>
            </a:r>
            <a:r>
              <a:rPr sz="950" b="0">
                <a:solidFill>
                  <a:srgbClr val="334155"/>
                </a:solidFill>
                <a:latin typeface="Calibri"/>
              </a:rPr>
              <a:t>No WSL, no containers</a:t>
            </a:r>
          </a:p>
        </p:txBody>
      </p:sp>
      <p:sp>
        <p:nvSpPr>
          <p:cNvPr id="33" name="a3ud230_op32"/>
          <p:cNvSpPr txBox="1"/>
          <p:nvPr/>
        </p:nvSpPr>
        <p:spPr>
          <a:xfrm>
            <a:off x="6291072" y="2734056"/>
            <a:ext cx="232257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0F766E"/>
                </a:solidFill>
                <a:latin typeface="Calibri"/>
              </a:rPr>
              <a:t>+ </a:t>
            </a:r>
            <a:r>
              <a:rPr sz="950" b="0">
                <a:solidFill>
                  <a:srgbClr val="334155"/>
                </a:solidFill>
                <a:latin typeface="Calibri"/>
              </a:rPr>
              <a:t>Redis-compatible API</a:t>
            </a:r>
          </a:p>
        </p:txBody>
      </p:sp>
      <p:sp>
        <p:nvSpPr>
          <p:cNvPr id="34" name="a3ud280_oc33"/>
          <p:cNvSpPr txBox="1"/>
          <p:nvPr/>
        </p:nvSpPr>
        <p:spPr>
          <a:xfrm>
            <a:off x="6291072" y="3154680"/>
            <a:ext cx="23225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DC382C"/>
                </a:solidFill>
                <a:latin typeface="Calibri"/>
              </a:rPr>
              <a:t>WATCH OUT</a:t>
            </a:r>
          </a:p>
        </p:txBody>
      </p:sp>
      <p:sp>
        <p:nvSpPr>
          <p:cNvPr id="35" name="a3ud300_oc234"/>
          <p:cNvSpPr txBox="1"/>
          <p:nvPr/>
        </p:nvSpPr>
        <p:spPr>
          <a:xfrm>
            <a:off x="6291072" y="3374136"/>
            <a:ext cx="232257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DC382C"/>
                </a:solidFill>
                <a:latin typeface="Calibri"/>
              </a:rPr>
              <a:t>- </a:t>
            </a:r>
            <a:r>
              <a:rPr sz="950" b="0">
                <a:solidFill>
                  <a:srgbClr val="334155"/>
                </a:solidFill>
                <a:latin typeface="Calibri"/>
              </a:rPr>
              <a:t>Third-party product, not Redis Inc</a:t>
            </a:r>
          </a:p>
        </p:txBody>
      </p:sp>
      <p:sp>
        <p:nvSpPr>
          <p:cNvPr id="36" name="a3ud360_oc235"/>
          <p:cNvSpPr txBox="1"/>
          <p:nvPr/>
        </p:nvSpPr>
        <p:spPr>
          <a:xfrm>
            <a:off x="6291072" y="3739896"/>
            <a:ext cx="2322576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>
                <a:solidFill>
                  <a:srgbClr val="DC382C"/>
                </a:solidFill>
                <a:latin typeface="Calibri"/>
              </a:rPr>
              <a:t>- </a:t>
            </a:r>
            <a:r>
              <a:rPr sz="950" b="0">
                <a:solidFill>
                  <a:srgbClr val="334155"/>
                </a:solidFill>
                <a:latin typeface="Calibri"/>
              </a:rPr>
              <a:t>Developer edition free; production is paid</a:t>
            </a:r>
          </a:p>
        </p:txBody>
      </p:sp>
      <p:sp>
        <p:nvSpPr>
          <p:cNvPr id="37" name="ft36"/>
          <p:cNvSpPr txBox="1"/>
          <p:nvPr/>
        </p:nvSpPr>
        <p:spPr>
          <a:xfrm>
            <a:off x="457200" y="4736592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ICICI Bank Learning Academy  ·  Enterprise Data Engineering with SQL, Redis &amp; Kafka</a:t>
            </a:r>
          </a:p>
        </p:txBody>
      </p:sp>
      <p:sp>
        <p:nvSpPr>
          <p:cNvPr id="38" name="ft37"/>
          <p:cNvSpPr txBox="1"/>
          <p:nvPr/>
        </p:nvSpPr>
        <p:spPr>
          <a:xfrm>
            <a:off x="5486400" y="473659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2 · Redis Intro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4" fill="hold" grpId="0" nodeType="withEffect">
                                  <p:stCondLst>
                                    <p:cond delay="2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" presetClass="entr" presetSubtype="4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" presetClass="entr" presetSubtype="4" fill="hold" grpId="0" nodeType="withEffect">
                                  <p:stCondLst>
                                    <p:cond delay="23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" presetClass="entr" presetSubtype="4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" presetClass="entr" presetSubtype="4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2" presetClass="entr" presetSubtype="4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" presetClass="entr" presetSubtype="4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2" presetClass="entr" presetSubtype="4" fill="hold" grpId="0" nodeType="withEffect">
                                  <p:stCondLst>
                                    <p:cond delay="11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2" presetClass="entr" presetSubtype="4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" presetClass="entr" presetSubtype="4" fill="hold" grpId="0" nodeType="withEffect">
                                  <p:stCondLst>
                                    <p:cond delay="23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2" presetClass="entr" presetSubtype="4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5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2" presetClass="entr" presetSubtype="4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0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Calibri"/>
              </a:rPr>
              <a:t>Windows Route A · WSL2 + Ubuntu</a:t>
            </a:r>
          </a:p>
        </p:txBody>
      </p:sp>
      <p:sp>
        <p:nvSpPr>
          <p:cNvPr id="3" name="sub2"/>
          <p:cNvSpPr txBox="1"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Calibri"/>
              </a:rPr>
              <a:t>The route used for every lab in this module</a:t>
            </a:r>
          </a:p>
        </p:txBody>
      </p:sp>
      <p:sp>
        <p:nvSpPr>
          <p:cNvPr id="4" name="a1f_codebg3"/>
          <p:cNvSpPr/>
          <p:nvPr/>
        </p:nvSpPr>
        <p:spPr>
          <a:xfrm>
            <a:off x="457200" y="1143000"/>
            <a:ext cx="4160520" cy="2496312"/>
          </a:xfrm>
          <a:prstGeom prst="roundRect">
            <a:avLst>
              <a:gd name="adj" fmla="val 293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a1f_codeh4"/>
          <p:cNvSpPr txBox="1"/>
          <p:nvPr/>
        </p:nvSpPr>
        <p:spPr>
          <a:xfrm>
            <a:off x="621792" y="1197864"/>
            <a:ext cx="383133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64748B"/>
                </a:solidFill>
                <a:latin typeface="Courier New"/>
              </a:rPr>
              <a:t>PowerShell (Administrator)</a:t>
            </a:r>
          </a:p>
        </p:txBody>
      </p:sp>
      <p:sp>
        <p:nvSpPr>
          <p:cNvPr id="6" name="a1w_code5"/>
          <p:cNvSpPr txBox="1"/>
          <p:nvPr/>
        </p:nvSpPr>
        <p:spPr>
          <a:xfrm>
            <a:off x="621792" y="1581912"/>
            <a:ext cx="3831335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ourier New"/>
              </a:rPr>
              <a:t># 1 - PowerShell as Administrator</a:t>
            </a:r>
          </a:p>
        </p:txBody>
      </p:sp>
      <p:sp>
        <p:nvSpPr>
          <p:cNvPr id="7" name="a1wd90_code6"/>
          <p:cNvSpPr txBox="1"/>
          <p:nvPr/>
        </p:nvSpPr>
        <p:spPr>
          <a:xfrm>
            <a:off x="621792" y="1792224"/>
            <a:ext cx="3831335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C4B5FD"/>
                </a:solidFill>
                <a:latin typeface="Courier New"/>
              </a:rPr>
              <a:t>wsl --install -d Ubuntu</a:t>
            </a:r>
          </a:p>
        </p:txBody>
      </p:sp>
      <p:sp>
        <p:nvSpPr>
          <p:cNvPr id="8" name="a1wd180_code7"/>
          <p:cNvSpPr txBox="1"/>
          <p:nvPr/>
        </p:nvSpPr>
        <p:spPr>
          <a:xfrm>
            <a:off x="621792" y="2002536"/>
            <a:ext cx="3831335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ourier New"/>
              </a:rPr>
              <a:t>#     reboot when asked, then set a</a:t>
            </a:r>
          </a:p>
        </p:txBody>
      </p:sp>
      <p:sp>
        <p:nvSpPr>
          <p:cNvPr id="9" name="a1wd270_code8"/>
          <p:cNvSpPr txBox="1"/>
          <p:nvPr/>
        </p:nvSpPr>
        <p:spPr>
          <a:xfrm>
            <a:off x="621792" y="2212848"/>
            <a:ext cx="3831335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ourier New"/>
              </a:rPr>
              <a:t>#     UNIX username and password</a:t>
            </a:r>
          </a:p>
        </p:txBody>
      </p:sp>
      <p:sp>
        <p:nvSpPr>
          <p:cNvPr id="10" name="a1wd360_code9"/>
          <p:cNvSpPr txBox="1"/>
          <p:nvPr/>
        </p:nvSpPr>
        <p:spPr>
          <a:xfrm>
            <a:off x="621792" y="2423160"/>
            <a:ext cx="3831335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E2E8F0"/>
                </a:solidFill>
                <a:latin typeface="Courier New"/>
              </a:rPr>
              <a:t/>
            </a:r>
          </a:p>
        </p:txBody>
      </p:sp>
      <p:sp>
        <p:nvSpPr>
          <p:cNvPr id="11" name="a1wd450_code10"/>
          <p:cNvSpPr txBox="1"/>
          <p:nvPr/>
        </p:nvSpPr>
        <p:spPr>
          <a:xfrm>
            <a:off x="621792" y="2633472"/>
            <a:ext cx="3831335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ourier New"/>
              </a:rPr>
              <a:t># 2 - check the version is 2</a:t>
            </a:r>
          </a:p>
        </p:txBody>
      </p:sp>
      <p:sp>
        <p:nvSpPr>
          <p:cNvPr id="12" name="a1wd540_code11"/>
          <p:cNvSpPr txBox="1"/>
          <p:nvPr/>
        </p:nvSpPr>
        <p:spPr>
          <a:xfrm>
            <a:off x="621792" y="2843784"/>
            <a:ext cx="3831335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C4B5FD"/>
                </a:solidFill>
                <a:latin typeface="Courier New"/>
              </a:rPr>
              <a:t>wsl -l -v</a:t>
            </a:r>
          </a:p>
        </p:txBody>
      </p:sp>
      <p:sp>
        <p:nvSpPr>
          <p:cNvPr id="13" name="a1wd630_code12"/>
          <p:cNvSpPr txBox="1"/>
          <p:nvPr/>
        </p:nvSpPr>
        <p:spPr>
          <a:xfrm>
            <a:off x="621792" y="3054096"/>
            <a:ext cx="3831335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14B8A6"/>
                </a:solidFill>
                <a:latin typeface="Courier New"/>
              </a:rPr>
              <a:t>  NAME     STATE      VERSION</a:t>
            </a:r>
          </a:p>
        </p:txBody>
      </p:sp>
      <p:sp>
        <p:nvSpPr>
          <p:cNvPr id="14" name="a1wd720_code13"/>
          <p:cNvSpPr txBox="1"/>
          <p:nvPr/>
        </p:nvSpPr>
        <p:spPr>
          <a:xfrm>
            <a:off x="621792" y="3264408"/>
            <a:ext cx="3831335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14B8A6"/>
                </a:solidFill>
                <a:latin typeface="Courier New"/>
              </a:rPr>
              <a:t>  Ubuntu   Running    2</a:t>
            </a:r>
          </a:p>
        </p:txBody>
      </p:sp>
      <p:sp>
        <p:nvSpPr>
          <p:cNvPr id="15" name="a2f_codebg14"/>
          <p:cNvSpPr/>
          <p:nvPr/>
        </p:nvSpPr>
        <p:spPr>
          <a:xfrm>
            <a:off x="4800600" y="1143000"/>
            <a:ext cx="3886200" cy="2496312"/>
          </a:xfrm>
          <a:prstGeom prst="roundRect">
            <a:avLst>
              <a:gd name="adj" fmla="val 293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a2f_codeh15"/>
          <p:cNvSpPr txBox="1"/>
          <p:nvPr/>
        </p:nvSpPr>
        <p:spPr>
          <a:xfrm>
            <a:off x="4965192" y="1197864"/>
            <a:ext cx="355701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64748B"/>
                </a:solidFill>
                <a:latin typeface="Courier New"/>
              </a:rPr>
              <a:t>Ubuntu (WSL2)</a:t>
            </a:r>
          </a:p>
        </p:txBody>
      </p:sp>
      <p:sp>
        <p:nvSpPr>
          <p:cNvPr id="17" name="a2w_code16"/>
          <p:cNvSpPr txBox="1"/>
          <p:nvPr/>
        </p:nvSpPr>
        <p:spPr>
          <a:xfrm>
            <a:off x="4965192" y="1581912"/>
            <a:ext cx="3557016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ourier New"/>
              </a:rPr>
              <a:t># 3 - inside the Ubuntu shell</a:t>
            </a:r>
          </a:p>
        </p:txBody>
      </p:sp>
      <p:sp>
        <p:nvSpPr>
          <p:cNvPr id="18" name="a2wd90_code17"/>
          <p:cNvSpPr txBox="1"/>
          <p:nvPr/>
        </p:nvSpPr>
        <p:spPr>
          <a:xfrm>
            <a:off x="4965192" y="1792224"/>
            <a:ext cx="3557016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C4B5FD"/>
                </a:solidFill>
                <a:latin typeface="Courier New"/>
              </a:rPr>
              <a:t>sudo apt update</a:t>
            </a:r>
          </a:p>
        </p:txBody>
      </p:sp>
      <p:sp>
        <p:nvSpPr>
          <p:cNvPr id="19" name="a2wd180_code18"/>
          <p:cNvSpPr txBox="1"/>
          <p:nvPr/>
        </p:nvSpPr>
        <p:spPr>
          <a:xfrm>
            <a:off x="4965192" y="2002536"/>
            <a:ext cx="3557016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C4B5FD"/>
                </a:solidFill>
                <a:latin typeface="Courier New"/>
              </a:rPr>
              <a:t>sudo apt install -y redis-server</a:t>
            </a:r>
          </a:p>
        </p:txBody>
      </p:sp>
      <p:sp>
        <p:nvSpPr>
          <p:cNvPr id="20" name="a2wd270_code19"/>
          <p:cNvSpPr txBox="1"/>
          <p:nvPr/>
        </p:nvSpPr>
        <p:spPr>
          <a:xfrm>
            <a:off x="4965192" y="2212848"/>
            <a:ext cx="3557016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E2E8F0"/>
                </a:solidFill>
                <a:latin typeface="Courier New"/>
              </a:rPr>
              <a:t/>
            </a:r>
          </a:p>
        </p:txBody>
      </p:sp>
      <p:sp>
        <p:nvSpPr>
          <p:cNvPr id="21" name="a2wd360_code20"/>
          <p:cNvSpPr txBox="1"/>
          <p:nvPr/>
        </p:nvSpPr>
        <p:spPr>
          <a:xfrm>
            <a:off x="4965192" y="2423160"/>
            <a:ext cx="3557016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ourier New"/>
              </a:rPr>
              <a:t># 4 - start it and prove it works</a:t>
            </a:r>
          </a:p>
        </p:txBody>
      </p:sp>
      <p:sp>
        <p:nvSpPr>
          <p:cNvPr id="22" name="a2wd450_code21"/>
          <p:cNvSpPr txBox="1"/>
          <p:nvPr/>
        </p:nvSpPr>
        <p:spPr>
          <a:xfrm>
            <a:off x="4965192" y="2633472"/>
            <a:ext cx="3557016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C4B5FD"/>
                </a:solidFill>
                <a:latin typeface="Courier New"/>
              </a:rPr>
              <a:t>sudo service redis-server start</a:t>
            </a:r>
          </a:p>
        </p:txBody>
      </p:sp>
      <p:sp>
        <p:nvSpPr>
          <p:cNvPr id="23" name="a2wd540_code22"/>
          <p:cNvSpPr txBox="1"/>
          <p:nvPr/>
        </p:nvSpPr>
        <p:spPr>
          <a:xfrm>
            <a:off x="4965192" y="2843784"/>
            <a:ext cx="3557016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C4B5FD"/>
                </a:solidFill>
                <a:latin typeface="Courier New"/>
              </a:rPr>
              <a:t>redis-cli ping</a:t>
            </a:r>
          </a:p>
        </p:txBody>
      </p:sp>
      <p:sp>
        <p:nvSpPr>
          <p:cNvPr id="24" name="a2wd630_code23"/>
          <p:cNvSpPr txBox="1"/>
          <p:nvPr/>
        </p:nvSpPr>
        <p:spPr>
          <a:xfrm>
            <a:off x="4965192" y="3054096"/>
            <a:ext cx="3557016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14B8A6"/>
                </a:solidFill>
                <a:latin typeface="Courier New"/>
              </a:rPr>
              <a:t>  PONG</a:t>
            </a:r>
          </a:p>
        </p:txBody>
      </p:sp>
      <p:sp>
        <p:nvSpPr>
          <p:cNvPr id="25" name="a2wd720_code24"/>
          <p:cNvSpPr txBox="1"/>
          <p:nvPr/>
        </p:nvSpPr>
        <p:spPr>
          <a:xfrm>
            <a:off x="4965192" y="3264408"/>
            <a:ext cx="3557016" cy="21031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E2E8F0"/>
                </a:solidFill>
                <a:latin typeface="Courier New"/>
              </a:rPr>
              <a:t/>
            </a:r>
          </a:p>
        </p:txBody>
      </p:sp>
      <p:sp>
        <p:nvSpPr>
          <p:cNvPr id="26" name="a3u_card25"/>
          <p:cNvSpPr/>
          <p:nvPr/>
        </p:nvSpPr>
        <p:spPr>
          <a:xfrm>
            <a:off x="457200" y="3410712"/>
            <a:ext cx="4160520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a3ud40_n126"/>
          <p:cNvSpPr txBox="1"/>
          <p:nvPr/>
        </p:nvSpPr>
        <p:spPr>
          <a:xfrm>
            <a:off x="658368" y="3520440"/>
            <a:ext cx="3758184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Reaching it from Windows  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34155"/>
                </a:solidFill>
                <a:latin typeface="Calibri"/>
              </a:rPr>
              <a:t>WSL2 forwards localhost, so a Windows tool - RedisInsight, a .NET app, Node on Windows - connects to 127.0.0.1:6379 with no extra setup.</a:t>
            </a:r>
          </a:p>
        </p:txBody>
      </p:sp>
      <p:sp>
        <p:nvSpPr>
          <p:cNvPr id="28" name="a4u_card27"/>
          <p:cNvSpPr/>
          <p:nvPr/>
        </p:nvSpPr>
        <p:spPr>
          <a:xfrm>
            <a:off x="4800600" y="3410712"/>
            <a:ext cx="3886200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a4ud40_n228"/>
          <p:cNvSpPr txBox="1"/>
          <p:nvPr/>
        </p:nvSpPr>
        <p:spPr>
          <a:xfrm>
            <a:off x="5001768" y="3520440"/>
            <a:ext cx="3483864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Start it automatically  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334155"/>
                </a:solidFill>
                <a:latin typeface="Calibri"/>
              </a:rPr>
              <a:t>WSL has no systemd by default. Either enable it in /etc/wsl.conf with [boot] systemd=true, or run the service command each session.</a:t>
            </a:r>
          </a:p>
        </p:txBody>
      </p:sp>
      <p:sp>
        <p:nvSpPr>
          <p:cNvPr id="30" name="ft29"/>
          <p:cNvSpPr txBox="1"/>
          <p:nvPr/>
        </p:nvSpPr>
        <p:spPr>
          <a:xfrm>
            <a:off x="457200" y="4736592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ICICI Bank Learning Academy  ·  Enterprise Data Engineering with SQL, Redis &amp; Kafka</a:t>
            </a:r>
          </a:p>
        </p:txBody>
      </p:sp>
      <p:sp>
        <p:nvSpPr>
          <p:cNvPr id="31" name="ft30"/>
          <p:cNvSpPr txBox="1"/>
          <p:nvPr/>
        </p:nvSpPr>
        <p:spPr>
          <a:xfrm>
            <a:off x="5486400" y="473659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2 · Redis Intro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" presetClass="entr" presetSubtype="4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Calibri"/>
              </a:rPr>
              <a:t>Windows Routes B and C · Docker and Memurai</a:t>
            </a:r>
          </a:p>
        </p:txBody>
      </p:sp>
      <p:sp>
        <p:nvSpPr>
          <p:cNvPr id="3" name="sub2"/>
          <p:cNvSpPr txBox="1"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Calibri"/>
              </a:rPr>
              <a:t>Use Docker if WSL is blocked; use Memurai if containers are blocked too</a:t>
            </a:r>
          </a:p>
        </p:txBody>
      </p:sp>
      <p:sp>
        <p:nvSpPr>
          <p:cNvPr id="4" name="a1f_codebg3"/>
          <p:cNvSpPr/>
          <p:nvPr/>
        </p:nvSpPr>
        <p:spPr>
          <a:xfrm>
            <a:off x="457200" y="1143000"/>
            <a:ext cx="4160520" cy="2660904"/>
          </a:xfrm>
          <a:prstGeom prst="roundRect">
            <a:avLst>
              <a:gd name="adj" fmla="val 2749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a1f_codeh4"/>
          <p:cNvSpPr txBox="1"/>
          <p:nvPr/>
        </p:nvSpPr>
        <p:spPr>
          <a:xfrm>
            <a:off x="621792" y="1197864"/>
            <a:ext cx="383133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64748B"/>
                </a:solidFill>
                <a:latin typeface="Courier New"/>
              </a:rPr>
              <a:t>Route B - Docker</a:t>
            </a:r>
          </a:p>
        </p:txBody>
      </p:sp>
      <p:sp>
        <p:nvSpPr>
          <p:cNvPr id="6" name="a1w_code5"/>
          <p:cNvSpPr txBox="1"/>
          <p:nvPr/>
        </p:nvSpPr>
        <p:spPr>
          <a:xfrm>
            <a:off x="621792" y="1581912"/>
            <a:ext cx="383133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ourier New"/>
              </a:rPr>
              <a:t># Docker Desktop must be running</a:t>
            </a:r>
          </a:p>
        </p:txBody>
      </p:sp>
      <p:sp>
        <p:nvSpPr>
          <p:cNvPr id="7" name="a1wd85_code6"/>
          <p:cNvSpPr txBox="1"/>
          <p:nvPr/>
        </p:nvSpPr>
        <p:spPr>
          <a:xfrm>
            <a:off x="621792" y="1787652"/>
            <a:ext cx="383133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docker run -d --name icici-redis \</a:t>
            </a:r>
          </a:p>
        </p:txBody>
      </p:sp>
      <p:sp>
        <p:nvSpPr>
          <p:cNvPr id="8" name="a1wd170_code7"/>
          <p:cNvSpPr txBox="1"/>
          <p:nvPr/>
        </p:nvSpPr>
        <p:spPr>
          <a:xfrm>
            <a:off x="621792" y="1993392"/>
            <a:ext cx="383133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E2E8F0"/>
                </a:solidFill>
                <a:latin typeface="Courier New"/>
              </a:rPr>
              <a:t>  -p 6379:6379 \</a:t>
            </a:r>
          </a:p>
        </p:txBody>
      </p:sp>
      <p:sp>
        <p:nvSpPr>
          <p:cNvPr id="9" name="a1wd255_code8"/>
          <p:cNvSpPr txBox="1"/>
          <p:nvPr/>
        </p:nvSpPr>
        <p:spPr>
          <a:xfrm>
            <a:off x="621792" y="2199132"/>
            <a:ext cx="383133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E2E8F0"/>
                </a:solidFill>
                <a:latin typeface="Courier New"/>
              </a:rPr>
              <a:t>  redis:7-alpine \</a:t>
            </a:r>
          </a:p>
        </p:txBody>
      </p:sp>
      <p:sp>
        <p:nvSpPr>
          <p:cNvPr id="10" name="a1wd340_code9"/>
          <p:cNvSpPr txBox="1"/>
          <p:nvPr/>
        </p:nvSpPr>
        <p:spPr>
          <a:xfrm>
            <a:off x="621792" y="2404872"/>
            <a:ext cx="383133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E2E8F0"/>
                </a:solidFill>
                <a:latin typeface="Courier New"/>
              </a:rPr>
              <a:t>  redis-server --appendonly yes</a:t>
            </a:r>
          </a:p>
        </p:txBody>
      </p:sp>
      <p:sp>
        <p:nvSpPr>
          <p:cNvPr id="11" name="a1wd425_code10"/>
          <p:cNvSpPr txBox="1"/>
          <p:nvPr/>
        </p:nvSpPr>
        <p:spPr>
          <a:xfrm>
            <a:off x="621792" y="2610612"/>
            <a:ext cx="383133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E2E8F0"/>
                </a:solidFill>
                <a:latin typeface="Courier New"/>
              </a:rPr>
              <a:t/>
            </a:r>
          </a:p>
        </p:txBody>
      </p:sp>
      <p:sp>
        <p:nvSpPr>
          <p:cNvPr id="12" name="a1wd510_code11"/>
          <p:cNvSpPr txBox="1"/>
          <p:nvPr/>
        </p:nvSpPr>
        <p:spPr>
          <a:xfrm>
            <a:off x="621792" y="2816352"/>
            <a:ext cx="383133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docker ps</a:t>
            </a:r>
          </a:p>
        </p:txBody>
      </p:sp>
      <p:sp>
        <p:nvSpPr>
          <p:cNvPr id="13" name="a1wd595_code12"/>
          <p:cNvSpPr txBox="1"/>
          <p:nvPr/>
        </p:nvSpPr>
        <p:spPr>
          <a:xfrm>
            <a:off x="621792" y="3022091"/>
            <a:ext cx="383133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docker exec -it icici-redis redis-cli</a:t>
            </a:r>
          </a:p>
        </p:txBody>
      </p:sp>
      <p:sp>
        <p:nvSpPr>
          <p:cNvPr id="14" name="a1wd680_code13"/>
          <p:cNvSpPr txBox="1"/>
          <p:nvPr/>
        </p:nvSpPr>
        <p:spPr>
          <a:xfrm>
            <a:off x="621792" y="3227832"/>
            <a:ext cx="383133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4B8A6"/>
                </a:solidFill>
                <a:latin typeface="Courier New"/>
              </a:rPr>
              <a:t>  127.0.0.1:6379&gt; PING</a:t>
            </a:r>
          </a:p>
        </p:txBody>
      </p:sp>
      <p:sp>
        <p:nvSpPr>
          <p:cNvPr id="15" name="a1wd765_code14"/>
          <p:cNvSpPr txBox="1"/>
          <p:nvPr/>
        </p:nvSpPr>
        <p:spPr>
          <a:xfrm>
            <a:off x="621792" y="3433572"/>
            <a:ext cx="383133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4B8A6"/>
                </a:solidFill>
                <a:latin typeface="Courier New"/>
              </a:rPr>
              <a:t>  PONG</a:t>
            </a:r>
          </a:p>
        </p:txBody>
      </p:sp>
      <p:sp>
        <p:nvSpPr>
          <p:cNvPr id="16" name="a2f_codebg15"/>
          <p:cNvSpPr/>
          <p:nvPr/>
        </p:nvSpPr>
        <p:spPr>
          <a:xfrm>
            <a:off x="4800600" y="1143000"/>
            <a:ext cx="3886200" cy="2660904"/>
          </a:xfrm>
          <a:prstGeom prst="roundRect">
            <a:avLst>
              <a:gd name="adj" fmla="val 2749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a2f_codeh16"/>
          <p:cNvSpPr txBox="1"/>
          <p:nvPr/>
        </p:nvSpPr>
        <p:spPr>
          <a:xfrm>
            <a:off x="4965192" y="1197864"/>
            <a:ext cx="355701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64748B"/>
                </a:solidFill>
                <a:latin typeface="Courier New"/>
              </a:rPr>
              <a:t>Route C - Memurai</a:t>
            </a:r>
          </a:p>
        </p:txBody>
      </p:sp>
      <p:sp>
        <p:nvSpPr>
          <p:cNvPr id="18" name="a2w_code17"/>
          <p:cNvSpPr txBox="1"/>
          <p:nvPr/>
        </p:nvSpPr>
        <p:spPr>
          <a:xfrm>
            <a:off x="4965192" y="1581912"/>
            <a:ext cx="355701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ourier New"/>
              </a:rPr>
              <a:t># Route C - Memurai, native service</a:t>
            </a:r>
          </a:p>
        </p:txBody>
      </p:sp>
      <p:sp>
        <p:nvSpPr>
          <p:cNvPr id="19" name="a2wd85_code18"/>
          <p:cNvSpPr txBox="1"/>
          <p:nvPr/>
        </p:nvSpPr>
        <p:spPr>
          <a:xfrm>
            <a:off x="4965192" y="1787652"/>
            <a:ext cx="355701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winget install Memurai.MemuraiDeveloper</a:t>
            </a:r>
          </a:p>
        </p:txBody>
      </p:sp>
      <p:sp>
        <p:nvSpPr>
          <p:cNvPr id="20" name="a2wd170_code19"/>
          <p:cNvSpPr txBox="1"/>
          <p:nvPr/>
        </p:nvSpPr>
        <p:spPr>
          <a:xfrm>
            <a:off x="4965192" y="1993392"/>
            <a:ext cx="355701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E2E8F0"/>
                </a:solidFill>
                <a:latin typeface="Courier New"/>
              </a:rPr>
              <a:t/>
            </a:r>
          </a:p>
        </p:txBody>
      </p:sp>
      <p:sp>
        <p:nvSpPr>
          <p:cNvPr id="21" name="a2wd255_code20"/>
          <p:cNvSpPr txBox="1"/>
          <p:nvPr/>
        </p:nvSpPr>
        <p:spPr>
          <a:xfrm>
            <a:off x="4965192" y="2199132"/>
            <a:ext cx="355701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ourier New"/>
              </a:rPr>
              <a:t># it registers a Windows service</a:t>
            </a:r>
          </a:p>
        </p:txBody>
      </p:sp>
      <p:sp>
        <p:nvSpPr>
          <p:cNvPr id="22" name="a2wd340_code21"/>
          <p:cNvSpPr txBox="1"/>
          <p:nvPr/>
        </p:nvSpPr>
        <p:spPr>
          <a:xfrm>
            <a:off x="4965192" y="2404872"/>
            <a:ext cx="355701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Get-Service Memurai</a:t>
            </a:r>
          </a:p>
        </p:txBody>
      </p:sp>
      <p:sp>
        <p:nvSpPr>
          <p:cNvPr id="23" name="a2wd425_code22"/>
          <p:cNvSpPr txBox="1"/>
          <p:nvPr/>
        </p:nvSpPr>
        <p:spPr>
          <a:xfrm>
            <a:off x="4965192" y="2610612"/>
            <a:ext cx="355701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4B8A6"/>
                </a:solidFill>
                <a:latin typeface="Courier New"/>
              </a:rPr>
              <a:t>  Status   Name      DisplayName</a:t>
            </a:r>
          </a:p>
        </p:txBody>
      </p:sp>
      <p:sp>
        <p:nvSpPr>
          <p:cNvPr id="24" name="a2wd510_code23"/>
          <p:cNvSpPr txBox="1"/>
          <p:nvPr/>
        </p:nvSpPr>
        <p:spPr>
          <a:xfrm>
            <a:off x="4965192" y="2816352"/>
            <a:ext cx="355701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4B8A6"/>
                </a:solidFill>
                <a:latin typeface="Courier New"/>
              </a:rPr>
              <a:t>  Running  Memurai   Memurai</a:t>
            </a:r>
          </a:p>
        </p:txBody>
      </p:sp>
      <p:sp>
        <p:nvSpPr>
          <p:cNvPr id="25" name="a2wd595_code24"/>
          <p:cNvSpPr txBox="1"/>
          <p:nvPr/>
        </p:nvSpPr>
        <p:spPr>
          <a:xfrm>
            <a:off x="4965192" y="3022091"/>
            <a:ext cx="355701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E2E8F0"/>
                </a:solidFill>
                <a:latin typeface="Courier New"/>
              </a:rPr>
              <a:t/>
            </a:r>
          </a:p>
        </p:txBody>
      </p:sp>
      <p:sp>
        <p:nvSpPr>
          <p:cNvPr id="26" name="a2wd680_code25"/>
          <p:cNvSpPr txBox="1"/>
          <p:nvPr/>
        </p:nvSpPr>
        <p:spPr>
          <a:xfrm>
            <a:off x="4965192" y="3227832"/>
            <a:ext cx="355701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memurai-cli ping</a:t>
            </a:r>
          </a:p>
        </p:txBody>
      </p:sp>
      <p:sp>
        <p:nvSpPr>
          <p:cNvPr id="27" name="a2wd765_code26"/>
          <p:cNvSpPr txBox="1"/>
          <p:nvPr/>
        </p:nvSpPr>
        <p:spPr>
          <a:xfrm>
            <a:off x="4965192" y="3433572"/>
            <a:ext cx="355701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4B8A6"/>
                </a:solidFill>
                <a:latin typeface="Courier New"/>
              </a:rPr>
              <a:t>  PONG</a:t>
            </a:r>
          </a:p>
        </p:txBody>
      </p:sp>
      <p:sp>
        <p:nvSpPr>
          <p:cNvPr id="28" name="a3u_nb27"/>
          <p:cNvSpPr/>
          <p:nvPr/>
        </p:nvSpPr>
        <p:spPr>
          <a:xfrm>
            <a:off x="457200" y="3520440"/>
            <a:ext cx="8229600" cy="512064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a3u_nacc28"/>
          <p:cNvSpPr/>
          <p:nvPr/>
        </p:nvSpPr>
        <p:spPr>
          <a:xfrm>
            <a:off x="457200" y="3520440"/>
            <a:ext cx="50292" cy="512064"/>
          </a:xfrm>
          <a:prstGeom prst="rect">
            <a:avLst/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a3u_nt29"/>
          <p:cNvSpPr txBox="1"/>
          <p:nvPr/>
        </p:nvSpPr>
        <p:spPr>
          <a:xfrm>
            <a:off x="658368" y="3520440"/>
            <a:ext cx="7827264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DC382C"/>
                </a:solidFill>
                <a:latin typeface="Calibri"/>
              </a:rPr>
              <a:t>!  </a:t>
            </a:r>
            <a:r>
              <a:rPr sz="1150" b="0">
                <a:solidFill>
                  <a:srgbClr val="334155"/>
                </a:solidFill>
                <a:latin typeface="Calibri"/>
              </a:rPr>
              <a:t>Do not use the old microsoftarchive/redis build. It stopped at Redis 3.0 in 2016 and is missing streams, modules and most of what this module teaches.</a:t>
            </a:r>
          </a:p>
        </p:txBody>
      </p:sp>
      <p:sp>
        <p:nvSpPr>
          <p:cNvPr id="31" name="a4u_card30"/>
          <p:cNvSpPr/>
          <p:nvPr/>
        </p:nvSpPr>
        <p:spPr>
          <a:xfrm>
            <a:off x="457200" y="4142231"/>
            <a:ext cx="8229600" cy="54864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a4ud40_n331"/>
          <p:cNvSpPr txBox="1"/>
          <p:nvPr/>
        </p:nvSpPr>
        <p:spPr>
          <a:xfrm>
            <a:off x="658368" y="4142231"/>
            <a:ext cx="7827264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6D28D9"/>
                </a:solidFill>
                <a:latin typeface="Calibri"/>
              </a:rPr>
              <a:t>Also useful  </a:t>
            </a:r>
            <a:r>
              <a:rPr sz="1050" b="0">
                <a:solidFill>
                  <a:srgbClr val="334155"/>
                </a:solidFill>
                <a:latin typeface="Calibri"/>
              </a:rPr>
              <a:t>RedisInsight is the official free GUI for Windows - browse keys, inspect types, run commands and profile slow queries. Install it alongside whichever route you pick.</a:t>
            </a:r>
          </a:p>
        </p:txBody>
      </p:sp>
      <p:sp>
        <p:nvSpPr>
          <p:cNvPr id="33" name="ft32"/>
          <p:cNvSpPr txBox="1"/>
          <p:nvPr/>
        </p:nvSpPr>
        <p:spPr>
          <a:xfrm>
            <a:off x="457200" y="4736592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ICICI Bank Learning Academy  ·  Enterprise Data Engineering with SQL, Redis &amp; Kafka</a:t>
            </a:r>
          </a:p>
        </p:txBody>
      </p:sp>
      <p:sp>
        <p:nvSpPr>
          <p:cNvPr id="34" name="ft33"/>
          <p:cNvSpPr txBox="1"/>
          <p:nvPr/>
        </p:nvSpPr>
        <p:spPr>
          <a:xfrm>
            <a:off x="5486400" y="473659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2 · Redis Intro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85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255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425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765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85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255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425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2" presetClass="entr" presetSubtype="8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765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" presetClass="entr" presetSubtype="4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Calibri"/>
              </a:rPr>
              <a:t>Redis on Linux</a:t>
            </a:r>
          </a:p>
        </p:txBody>
      </p:sp>
      <p:sp>
        <p:nvSpPr>
          <p:cNvPr id="3" name="sub2"/>
          <p:cNvSpPr txBox="1"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Calibri"/>
              </a:rPr>
              <a:t>What production runs - and the same commands work inside WSL</a:t>
            </a:r>
          </a:p>
        </p:txBody>
      </p:sp>
      <p:sp>
        <p:nvSpPr>
          <p:cNvPr id="4" name="a1f_codebg3"/>
          <p:cNvSpPr/>
          <p:nvPr/>
        </p:nvSpPr>
        <p:spPr>
          <a:xfrm>
            <a:off x="457200" y="1143000"/>
            <a:ext cx="4160520" cy="2249424"/>
          </a:xfrm>
          <a:prstGeom prst="roundRect">
            <a:avLst>
              <a:gd name="adj" fmla="val 3252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a1f_codeh4"/>
          <p:cNvSpPr txBox="1"/>
          <p:nvPr/>
        </p:nvSpPr>
        <p:spPr>
          <a:xfrm>
            <a:off x="621792" y="1197864"/>
            <a:ext cx="383133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64748B"/>
                </a:solidFill>
                <a:latin typeface="Courier New"/>
              </a:rPr>
              <a:t>Debian / Ubuntu</a:t>
            </a:r>
          </a:p>
        </p:txBody>
      </p:sp>
      <p:sp>
        <p:nvSpPr>
          <p:cNvPr id="6" name="a1w_code5"/>
          <p:cNvSpPr txBox="1"/>
          <p:nvPr/>
        </p:nvSpPr>
        <p:spPr>
          <a:xfrm>
            <a:off x="621792" y="1581912"/>
            <a:ext cx="383133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ourier New"/>
              </a:rPr>
              <a:t># Ubuntu / Debian - official repo</a:t>
            </a:r>
          </a:p>
        </p:txBody>
      </p:sp>
      <p:sp>
        <p:nvSpPr>
          <p:cNvPr id="7" name="a1wd85_code6"/>
          <p:cNvSpPr txBox="1"/>
          <p:nvPr/>
        </p:nvSpPr>
        <p:spPr>
          <a:xfrm>
            <a:off x="621792" y="1787652"/>
            <a:ext cx="383133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sudo apt install -y lsb-release \</a:t>
            </a:r>
          </a:p>
        </p:txBody>
      </p:sp>
      <p:sp>
        <p:nvSpPr>
          <p:cNvPr id="8" name="a1wd170_code7"/>
          <p:cNvSpPr txBox="1"/>
          <p:nvPr/>
        </p:nvSpPr>
        <p:spPr>
          <a:xfrm>
            <a:off x="621792" y="1993392"/>
            <a:ext cx="383133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E2E8F0"/>
                </a:solidFill>
                <a:latin typeface="Courier New"/>
              </a:rPr>
              <a:t>     curl gpg</a:t>
            </a:r>
          </a:p>
        </p:txBody>
      </p:sp>
      <p:sp>
        <p:nvSpPr>
          <p:cNvPr id="9" name="a1wd255_code8"/>
          <p:cNvSpPr txBox="1"/>
          <p:nvPr/>
        </p:nvSpPr>
        <p:spPr>
          <a:xfrm>
            <a:off x="621792" y="2199132"/>
            <a:ext cx="383133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curl -fsSL https://packages.redis.io/gpg \</a:t>
            </a:r>
          </a:p>
        </p:txBody>
      </p:sp>
      <p:sp>
        <p:nvSpPr>
          <p:cNvPr id="10" name="a1wd340_code9"/>
          <p:cNvSpPr txBox="1"/>
          <p:nvPr/>
        </p:nvSpPr>
        <p:spPr>
          <a:xfrm>
            <a:off x="621792" y="2404872"/>
            <a:ext cx="383133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E2E8F0"/>
                </a:solidFill>
                <a:latin typeface="Courier New"/>
              </a:rPr>
              <a:t>  | sudo gpg --dearmor \</a:t>
            </a:r>
          </a:p>
        </p:txBody>
      </p:sp>
      <p:sp>
        <p:nvSpPr>
          <p:cNvPr id="11" name="a1wd425_code10"/>
          <p:cNvSpPr txBox="1"/>
          <p:nvPr/>
        </p:nvSpPr>
        <p:spPr>
          <a:xfrm>
            <a:off x="621792" y="2610612"/>
            <a:ext cx="383133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E2E8F0"/>
                </a:solidFill>
                <a:latin typeface="Courier New"/>
              </a:rPr>
              <a:t>  -o /usr/share/keyrings/redis.gpg</a:t>
            </a:r>
          </a:p>
        </p:txBody>
      </p:sp>
      <p:sp>
        <p:nvSpPr>
          <p:cNvPr id="12" name="a1wd510_code11"/>
          <p:cNvSpPr txBox="1"/>
          <p:nvPr/>
        </p:nvSpPr>
        <p:spPr>
          <a:xfrm>
            <a:off x="621792" y="2816352"/>
            <a:ext cx="383133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sudo apt update</a:t>
            </a:r>
          </a:p>
        </p:txBody>
      </p:sp>
      <p:sp>
        <p:nvSpPr>
          <p:cNvPr id="13" name="a1wd595_code12"/>
          <p:cNvSpPr txBox="1"/>
          <p:nvPr/>
        </p:nvSpPr>
        <p:spPr>
          <a:xfrm>
            <a:off x="621792" y="3022091"/>
            <a:ext cx="383133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sudo apt install -y redis</a:t>
            </a:r>
          </a:p>
        </p:txBody>
      </p:sp>
      <p:sp>
        <p:nvSpPr>
          <p:cNvPr id="14" name="a2f_codebg13"/>
          <p:cNvSpPr/>
          <p:nvPr/>
        </p:nvSpPr>
        <p:spPr>
          <a:xfrm>
            <a:off x="4800600" y="1143000"/>
            <a:ext cx="3886200" cy="2249424"/>
          </a:xfrm>
          <a:prstGeom prst="roundRect">
            <a:avLst>
              <a:gd name="adj" fmla="val 3252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a2f_codeh14"/>
          <p:cNvSpPr txBox="1"/>
          <p:nvPr/>
        </p:nvSpPr>
        <p:spPr>
          <a:xfrm>
            <a:off x="4965192" y="1197864"/>
            <a:ext cx="355701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64748B"/>
                </a:solidFill>
                <a:latin typeface="Courier New"/>
              </a:rPr>
              <a:t>RHEL family</a:t>
            </a:r>
          </a:p>
        </p:txBody>
      </p:sp>
      <p:sp>
        <p:nvSpPr>
          <p:cNvPr id="16" name="a2w_code15"/>
          <p:cNvSpPr txBox="1"/>
          <p:nvPr/>
        </p:nvSpPr>
        <p:spPr>
          <a:xfrm>
            <a:off x="4965192" y="1581912"/>
            <a:ext cx="355701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ourier New"/>
              </a:rPr>
              <a:t># RHEL / CentOS / Rocky</a:t>
            </a:r>
          </a:p>
        </p:txBody>
      </p:sp>
      <p:sp>
        <p:nvSpPr>
          <p:cNvPr id="17" name="a2wd85_code16"/>
          <p:cNvSpPr txBox="1"/>
          <p:nvPr/>
        </p:nvSpPr>
        <p:spPr>
          <a:xfrm>
            <a:off x="4965192" y="1787652"/>
            <a:ext cx="355701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sudo dnf install -y redis</a:t>
            </a:r>
          </a:p>
        </p:txBody>
      </p:sp>
      <p:sp>
        <p:nvSpPr>
          <p:cNvPr id="18" name="a2wd170_code17"/>
          <p:cNvSpPr txBox="1"/>
          <p:nvPr/>
        </p:nvSpPr>
        <p:spPr>
          <a:xfrm>
            <a:off x="4965192" y="1993392"/>
            <a:ext cx="355701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E2E8F0"/>
                </a:solidFill>
                <a:latin typeface="Courier New"/>
              </a:rPr>
              <a:t/>
            </a:r>
          </a:p>
        </p:txBody>
      </p:sp>
      <p:sp>
        <p:nvSpPr>
          <p:cNvPr id="19" name="a2wd255_code18"/>
          <p:cNvSpPr txBox="1"/>
          <p:nvPr/>
        </p:nvSpPr>
        <p:spPr>
          <a:xfrm>
            <a:off x="4965192" y="2199132"/>
            <a:ext cx="355701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ourier New"/>
              </a:rPr>
              <a:t># run it as a systemd service</a:t>
            </a:r>
          </a:p>
        </p:txBody>
      </p:sp>
      <p:sp>
        <p:nvSpPr>
          <p:cNvPr id="20" name="a2wd340_code19"/>
          <p:cNvSpPr txBox="1"/>
          <p:nvPr/>
        </p:nvSpPr>
        <p:spPr>
          <a:xfrm>
            <a:off x="4965192" y="2404872"/>
            <a:ext cx="355701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sudo systemctl enable redis</a:t>
            </a:r>
          </a:p>
        </p:txBody>
      </p:sp>
      <p:sp>
        <p:nvSpPr>
          <p:cNvPr id="21" name="a2wd425_code20"/>
          <p:cNvSpPr txBox="1"/>
          <p:nvPr/>
        </p:nvSpPr>
        <p:spPr>
          <a:xfrm>
            <a:off x="4965192" y="2610612"/>
            <a:ext cx="355701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sudo systemctl start redis</a:t>
            </a:r>
          </a:p>
        </p:txBody>
      </p:sp>
      <p:sp>
        <p:nvSpPr>
          <p:cNvPr id="22" name="a2wd510_code21"/>
          <p:cNvSpPr txBox="1"/>
          <p:nvPr/>
        </p:nvSpPr>
        <p:spPr>
          <a:xfrm>
            <a:off x="4965192" y="2816352"/>
            <a:ext cx="355701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sudo systemctl status redis</a:t>
            </a:r>
          </a:p>
        </p:txBody>
      </p:sp>
      <p:sp>
        <p:nvSpPr>
          <p:cNvPr id="23" name="a2wd595_code22"/>
          <p:cNvSpPr txBox="1"/>
          <p:nvPr/>
        </p:nvSpPr>
        <p:spPr>
          <a:xfrm>
            <a:off x="4965192" y="3022091"/>
            <a:ext cx="355701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4B8A6"/>
                </a:solidFill>
                <a:latin typeface="Courier New"/>
              </a:rPr>
              <a:t>  active (running)</a:t>
            </a:r>
          </a:p>
        </p:txBody>
      </p:sp>
      <p:sp>
        <p:nvSpPr>
          <p:cNvPr id="24" name="a3f_th23"/>
          <p:cNvSpPr/>
          <p:nvPr/>
        </p:nvSpPr>
        <p:spPr>
          <a:xfrm>
            <a:off x="457200" y="3227832"/>
            <a:ext cx="3017520" cy="34747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a3f_tht24"/>
          <p:cNvSpPr txBox="1"/>
          <p:nvPr/>
        </p:nvSpPr>
        <p:spPr>
          <a:xfrm>
            <a:off x="530352" y="3227832"/>
            <a:ext cx="2907791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ourier New"/>
              </a:rPr>
              <a:t>File or path</a:t>
            </a:r>
          </a:p>
        </p:txBody>
      </p:sp>
      <p:sp>
        <p:nvSpPr>
          <p:cNvPr id="26" name="a3wd140_td25"/>
          <p:cNvSpPr/>
          <p:nvPr/>
        </p:nvSpPr>
        <p:spPr>
          <a:xfrm>
            <a:off x="457200" y="3575303"/>
            <a:ext cx="30175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a3wd140_tdt26"/>
          <p:cNvSpPr txBox="1"/>
          <p:nvPr/>
        </p:nvSpPr>
        <p:spPr>
          <a:xfrm>
            <a:off x="530352" y="3575303"/>
            <a:ext cx="2907791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Courier New"/>
              </a:rPr>
              <a:t>/etc/redis/redis.conf</a:t>
            </a:r>
          </a:p>
        </p:txBody>
      </p:sp>
      <p:sp>
        <p:nvSpPr>
          <p:cNvPr id="28" name="a3wd280_td27"/>
          <p:cNvSpPr/>
          <p:nvPr/>
        </p:nvSpPr>
        <p:spPr>
          <a:xfrm>
            <a:off x="457200" y="3922776"/>
            <a:ext cx="30175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a3wd280_tdt28"/>
          <p:cNvSpPr txBox="1"/>
          <p:nvPr/>
        </p:nvSpPr>
        <p:spPr>
          <a:xfrm>
            <a:off x="530352" y="3922776"/>
            <a:ext cx="2907791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Courier New"/>
              </a:rPr>
              <a:t>/var/lib/redis/</a:t>
            </a:r>
          </a:p>
        </p:txBody>
      </p:sp>
      <p:sp>
        <p:nvSpPr>
          <p:cNvPr id="30" name="a3wd420_td29"/>
          <p:cNvSpPr/>
          <p:nvPr/>
        </p:nvSpPr>
        <p:spPr>
          <a:xfrm>
            <a:off x="457200" y="4270248"/>
            <a:ext cx="30175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a3wd420_tdt30"/>
          <p:cNvSpPr txBox="1"/>
          <p:nvPr/>
        </p:nvSpPr>
        <p:spPr>
          <a:xfrm>
            <a:off x="530352" y="4270248"/>
            <a:ext cx="2907791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Courier New"/>
              </a:rPr>
              <a:t>/var/log/redis/redis-server.log</a:t>
            </a:r>
          </a:p>
        </p:txBody>
      </p:sp>
      <p:sp>
        <p:nvSpPr>
          <p:cNvPr id="32" name="a3wd560_td31"/>
          <p:cNvSpPr/>
          <p:nvPr/>
        </p:nvSpPr>
        <p:spPr>
          <a:xfrm>
            <a:off x="457200" y="4617720"/>
            <a:ext cx="30175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a3wd560_tdt32"/>
          <p:cNvSpPr txBox="1"/>
          <p:nvPr/>
        </p:nvSpPr>
        <p:spPr>
          <a:xfrm>
            <a:off x="530352" y="4617720"/>
            <a:ext cx="2907791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Courier New"/>
              </a:rPr>
              <a:t>port 6379</a:t>
            </a:r>
          </a:p>
        </p:txBody>
      </p:sp>
      <p:sp>
        <p:nvSpPr>
          <p:cNvPr id="34" name="a3f_th33"/>
          <p:cNvSpPr/>
          <p:nvPr/>
        </p:nvSpPr>
        <p:spPr>
          <a:xfrm>
            <a:off x="3474720" y="3227832"/>
            <a:ext cx="5212080" cy="347472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a3f_tht34"/>
          <p:cNvSpPr txBox="1"/>
          <p:nvPr/>
        </p:nvSpPr>
        <p:spPr>
          <a:xfrm>
            <a:off x="3547872" y="3227832"/>
            <a:ext cx="510235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36" name="a3wd140_td35"/>
          <p:cNvSpPr/>
          <p:nvPr/>
        </p:nvSpPr>
        <p:spPr>
          <a:xfrm>
            <a:off x="3474720" y="3575303"/>
            <a:ext cx="52120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a3wd140_tdt36"/>
          <p:cNvSpPr txBox="1"/>
          <p:nvPr/>
        </p:nvSpPr>
        <p:spPr>
          <a:xfrm>
            <a:off x="3547872" y="3575303"/>
            <a:ext cx="510235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Calibri"/>
              </a:rPr>
              <a:t>The configuration file - deck 3 walks through it</a:t>
            </a:r>
          </a:p>
        </p:txBody>
      </p:sp>
      <p:sp>
        <p:nvSpPr>
          <p:cNvPr id="38" name="a3wd280_td37"/>
          <p:cNvSpPr/>
          <p:nvPr/>
        </p:nvSpPr>
        <p:spPr>
          <a:xfrm>
            <a:off x="3474720" y="3922776"/>
            <a:ext cx="52120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a3wd280_tdt38"/>
          <p:cNvSpPr txBox="1"/>
          <p:nvPr/>
        </p:nvSpPr>
        <p:spPr>
          <a:xfrm>
            <a:off x="3547872" y="3922776"/>
            <a:ext cx="510235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Calibri"/>
              </a:rPr>
              <a:t>Where the RDB snapshot and AOF file are written</a:t>
            </a:r>
          </a:p>
        </p:txBody>
      </p:sp>
      <p:sp>
        <p:nvSpPr>
          <p:cNvPr id="40" name="a3wd420_td39"/>
          <p:cNvSpPr/>
          <p:nvPr/>
        </p:nvSpPr>
        <p:spPr>
          <a:xfrm>
            <a:off x="3474720" y="4270248"/>
            <a:ext cx="52120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a3wd420_tdt40"/>
          <p:cNvSpPr txBox="1"/>
          <p:nvPr/>
        </p:nvSpPr>
        <p:spPr>
          <a:xfrm>
            <a:off x="3547872" y="4270248"/>
            <a:ext cx="510235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Calibri"/>
              </a:rPr>
              <a:t>Server log - check here first when it will not start</a:t>
            </a:r>
          </a:p>
        </p:txBody>
      </p:sp>
      <p:sp>
        <p:nvSpPr>
          <p:cNvPr id="42" name="a3wd560_td41"/>
          <p:cNvSpPr/>
          <p:nvPr/>
        </p:nvSpPr>
        <p:spPr>
          <a:xfrm>
            <a:off x="3474720" y="4617720"/>
            <a:ext cx="52120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a3wd560_tdt42"/>
          <p:cNvSpPr txBox="1"/>
          <p:nvPr/>
        </p:nvSpPr>
        <p:spPr>
          <a:xfrm>
            <a:off x="3547872" y="4617720"/>
            <a:ext cx="5102352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Calibri"/>
              </a:rPr>
              <a:t>Default TCP port; bind 127.0.0.1 by default, and keep it that way</a:t>
            </a:r>
          </a:p>
        </p:txBody>
      </p:sp>
      <p:sp>
        <p:nvSpPr>
          <p:cNvPr id="44" name="ft43"/>
          <p:cNvSpPr txBox="1"/>
          <p:nvPr/>
        </p:nvSpPr>
        <p:spPr>
          <a:xfrm>
            <a:off x="457200" y="4736592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ICICI Bank Learning Academy  ·  Enterprise Data Engineering with SQL, Redis &amp; Kafka</a:t>
            </a:r>
          </a:p>
        </p:txBody>
      </p:sp>
      <p:sp>
        <p:nvSpPr>
          <p:cNvPr id="45" name="ft44"/>
          <p:cNvSpPr txBox="1"/>
          <p:nvPr/>
        </p:nvSpPr>
        <p:spPr>
          <a:xfrm>
            <a:off x="5486400" y="473659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2 · Redis Intro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85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255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425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85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255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425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595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8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8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8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22" presetClass="entr" presetSubtype="8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8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8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2" presetClass="entr" presetSubtype="8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2" presetClass="entr" presetSubtype="8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8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8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8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8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Calibri"/>
              </a:rPr>
              <a:t>Verify the Install</a:t>
            </a:r>
          </a:p>
        </p:txBody>
      </p:sp>
      <p:sp>
        <p:nvSpPr>
          <p:cNvPr id="3" name="sub2"/>
          <p:cNvSpPr txBox="1"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Calibri"/>
              </a:rPr>
              <a:t>Six commands that prove the server is healthy before you start the labs</a:t>
            </a:r>
          </a:p>
        </p:txBody>
      </p:sp>
      <p:sp>
        <p:nvSpPr>
          <p:cNvPr id="4" name="a1f_codebg3"/>
          <p:cNvSpPr/>
          <p:nvPr/>
        </p:nvSpPr>
        <p:spPr>
          <a:xfrm>
            <a:off x="457200" y="1143000"/>
            <a:ext cx="4937760" cy="3278124"/>
          </a:xfrm>
          <a:prstGeom prst="roundRect">
            <a:avLst>
              <a:gd name="adj" fmla="val 2231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a1f_codeh4"/>
          <p:cNvSpPr txBox="1"/>
          <p:nvPr/>
        </p:nvSpPr>
        <p:spPr>
          <a:xfrm>
            <a:off x="621792" y="1197864"/>
            <a:ext cx="460857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64748B"/>
                </a:solidFill>
                <a:latin typeface="Courier New"/>
              </a:rPr>
              <a:t>verification</a:t>
            </a:r>
          </a:p>
        </p:txBody>
      </p:sp>
      <p:sp>
        <p:nvSpPr>
          <p:cNvPr id="6" name="a1w_code5"/>
          <p:cNvSpPr txBox="1"/>
          <p:nvPr/>
        </p:nvSpPr>
        <p:spPr>
          <a:xfrm>
            <a:off x="621792" y="1581912"/>
            <a:ext cx="460857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redis-cli ping</a:t>
            </a:r>
          </a:p>
        </p:txBody>
      </p:sp>
      <p:sp>
        <p:nvSpPr>
          <p:cNvPr id="7" name="a1wd80_code6"/>
          <p:cNvSpPr txBox="1"/>
          <p:nvPr/>
        </p:nvSpPr>
        <p:spPr>
          <a:xfrm>
            <a:off x="621792" y="1787652"/>
            <a:ext cx="460857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4B8A6"/>
                </a:solidFill>
                <a:latin typeface="Courier New"/>
              </a:rPr>
              <a:t>  PONG</a:t>
            </a:r>
          </a:p>
        </p:txBody>
      </p:sp>
      <p:sp>
        <p:nvSpPr>
          <p:cNvPr id="8" name="a1wd160_code7"/>
          <p:cNvSpPr txBox="1"/>
          <p:nvPr/>
        </p:nvSpPr>
        <p:spPr>
          <a:xfrm>
            <a:off x="621792" y="1993392"/>
            <a:ext cx="460857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redis-cli INFO server | head -5</a:t>
            </a:r>
          </a:p>
        </p:txBody>
      </p:sp>
      <p:sp>
        <p:nvSpPr>
          <p:cNvPr id="9" name="a1wd240_code8"/>
          <p:cNvSpPr txBox="1"/>
          <p:nvPr/>
        </p:nvSpPr>
        <p:spPr>
          <a:xfrm>
            <a:off x="621792" y="2199132"/>
            <a:ext cx="460857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4B8A6"/>
                </a:solidFill>
                <a:latin typeface="Courier New"/>
              </a:rPr>
              <a:t>  redis_version:7.2.4</a:t>
            </a:r>
          </a:p>
        </p:txBody>
      </p:sp>
      <p:sp>
        <p:nvSpPr>
          <p:cNvPr id="10" name="a1wd320_code9"/>
          <p:cNvSpPr txBox="1"/>
          <p:nvPr/>
        </p:nvSpPr>
        <p:spPr>
          <a:xfrm>
            <a:off x="621792" y="2404872"/>
            <a:ext cx="460857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4B8A6"/>
                </a:solidFill>
                <a:latin typeface="Courier New"/>
              </a:rPr>
              <a:t>  os:Linux 5.15 x86_64</a:t>
            </a:r>
          </a:p>
        </p:txBody>
      </p:sp>
      <p:sp>
        <p:nvSpPr>
          <p:cNvPr id="11" name="a1wd400_code10"/>
          <p:cNvSpPr txBox="1"/>
          <p:nvPr/>
        </p:nvSpPr>
        <p:spPr>
          <a:xfrm>
            <a:off x="621792" y="2610612"/>
            <a:ext cx="460857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redis-cli INFO memory | grep used_memory_human</a:t>
            </a:r>
          </a:p>
        </p:txBody>
      </p:sp>
      <p:sp>
        <p:nvSpPr>
          <p:cNvPr id="12" name="a1wd480_code11"/>
          <p:cNvSpPr txBox="1"/>
          <p:nvPr/>
        </p:nvSpPr>
        <p:spPr>
          <a:xfrm>
            <a:off x="621792" y="2816352"/>
            <a:ext cx="460857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4B8A6"/>
                </a:solidFill>
                <a:latin typeface="Courier New"/>
              </a:rPr>
              <a:t>  used_memory_human:1.02M</a:t>
            </a:r>
          </a:p>
        </p:txBody>
      </p:sp>
      <p:sp>
        <p:nvSpPr>
          <p:cNvPr id="13" name="a1wd560_code12"/>
          <p:cNvSpPr txBox="1"/>
          <p:nvPr/>
        </p:nvSpPr>
        <p:spPr>
          <a:xfrm>
            <a:off x="621792" y="3022091"/>
            <a:ext cx="460857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redis-cli CONFIG GET maxmemory</a:t>
            </a:r>
          </a:p>
        </p:txBody>
      </p:sp>
      <p:sp>
        <p:nvSpPr>
          <p:cNvPr id="14" name="a1wd640_code13"/>
          <p:cNvSpPr txBox="1"/>
          <p:nvPr/>
        </p:nvSpPr>
        <p:spPr>
          <a:xfrm>
            <a:off x="621792" y="3227832"/>
            <a:ext cx="460857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4B8A6"/>
                </a:solidFill>
                <a:latin typeface="Courier New"/>
              </a:rPr>
              <a:t>  1) "maxmemory"   2) "0"</a:t>
            </a:r>
          </a:p>
        </p:txBody>
      </p:sp>
      <p:sp>
        <p:nvSpPr>
          <p:cNvPr id="15" name="a1wd720_code14"/>
          <p:cNvSpPr txBox="1"/>
          <p:nvPr/>
        </p:nvSpPr>
        <p:spPr>
          <a:xfrm>
            <a:off x="621792" y="3433572"/>
            <a:ext cx="460857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redis-cli DBSIZE</a:t>
            </a:r>
          </a:p>
        </p:txBody>
      </p:sp>
      <p:sp>
        <p:nvSpPr>
          <p:cNvPr id="16" name="a1wd800_code15"/>
          <p:cNvSpPr txBox="1"/>
          <p:nvPr/>
        </p:nvSpPr>
        <p:spPr>
          <a:xfrm>
            <a:off x="621792" y="3639312"/>
            <a:ext cx="460857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4B8A6"/>
                </a:solidFill>
                <a:latin typeface="Courier New"/>
              </a:rPr>
              <a:t>  (integer) 0</a:t>
            </a:r>
          </a:p>
        </p:txBody>
      </p:sp>
      <p:sp>
        <p:nvSpPr>
          <p:cNvPr id="17" name="a1wd880_code16"/>
          <p:cNvSpPr txBox="1"/>
          <p:nvPr/>
        </p:nvSpPr>
        <p:spPr>
          <a:xfrm>
            <a:off x="621792" y="3845052"/>
            <a:ext cx="460857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redis-cli SET icici:hello "namaste" EX 30</a:t>
            </a:r>
          </a:p>
        </p:txBody>
      </p:sp>
      <p:sp>
        <p:nvSpPr>
          <p:cNvPr id="18" name="a1wd960_code17"/>
          <p:cNvSpPr txBox="1"/>
          <p:nvPr/>
        </p:nvSpPr>
        <p:spPr>
          <a:xfrm>
            <a:off x="621792" y="4050791"/>
            <a:ext cx="4608576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4B8A6"/>
                </a:solidFill>
                <a:latin typeface="Courier New"/>
              </a:rPr>
              <a:t>  OK</a:t>
            </a:r>
          </a:p>
        </p:txBody>
      </p:sp>
      <p:sp>
        <p:nvSpPr>
          <p:cNvPr id="19" name="a2u_card18"/>
          <p:cNvSpPr/>
          <p:nvPr/>
        </p:nvSpPr>
        <p:spPr>
          <a:xfrm>
            <a:off x="5577840" y="1143000"/>
            <a:ext cx="3108960" cy="141732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a2u_hh19"/>
          <p:cNvSpPr txBox="1"/>
          <p:nvPr/>
        </p:nvSpPr>
        <p:spPr>
          <a:xfrm>
            <a:off x="5760720" y="1252728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6D28D9"/>
                </a:solidFill>
                <a:latin typeface="Calibri"/>
              </a:rPr>
              <a:t>WHAT EACH ONE TELLS YOU</a:t>
            </a:r>
          </a:p>
        </p:txBody>
      </p:sp>
      <p:sp>
        <p:nvSpPr>
          <p:cNvPr id="21" name="a2u_vt20"/>
          <p:cNvSpPr txBox="1"/>
          <p:nvPr/>
        </p:nvSpPr>
        <p:spPr>
          <a:xfrm>
            <a:off x="5760720" y="1508760"/>
            <a:ext cx="27432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334155"/>
                </a:solidFill>
                <a:latin typeface="Calibri"/>
              </a:rPr>
              <a:t>PING - the server answers</a:t>
            </a:r>
          </a:p>
        </p:txBody>
      </p:sp>
      <p:sp>
        <p:nvSpPr>
          <p:cNvPr id="22" name="a2ud60_vt21"/>
          <p:cNvSpPr txBox="1"/>
          <p:nvPr/>
        </p:nvSpPr>
        <p:spPr>
          <a:xfrm>
            <a:off x="5760720" y="1682495"/>
            <a:ext cx="27432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334155"/>
                </a:solidFill>
                <a:latin typeface="Calibri"/>
              </a:rPr>
              <a:t>INFO server - version and platform</a:t>
            </a:r>
          </a:p>
        </p:txBody>
      </p:sp>
      <p:sp>
        <p:nvSpPr>
          <p:cNvPr id="23" name="a2ud120_vt22"/>
          <p:cNvSpPr txBox="1"/>
          <p:nvPr/>
        </p:nvSpPr>
        <p:spPr>
          <a:xfrm>
            <a:off x="5760720" y="1856231"/>
            <a:ext cx="27432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334155"/>
                </a:solidFill>
                <a:latin typeface="Calibri"/>
              </a:rPr>
              <a:t>INFO memory - current footprint</a:t>
            </a:r>
          </a:p>
        </p:txBody>
      </p:sp>
      <p:sp>
        <p:nvSpPr>
          <p:cNvPr id="24" name="a2ud180_vt23"/>
          <p:cNvSpPr txBox="1"/>
          <p:nvPr/>
        </p:nvSpPr>
        <p:spPr>
          <a:xfrm>
            <a:off x="5760720" y="2029967"/>
            <a:ext cx="27432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334155"/>
                </a:solidFill>
                <a:latin typeface="Calibri"/>
              </a:rPr>
              <a:t>CONFIG GET - 0 means no memory cap</a:t>
            </a:r>
          </a:p>
        </p:txBody>
      </p:sp>
      <p:sp>
        <p:nvSpPr>
          <p:cNvPr id="25" name="a2ud240_vt24"/>
          <p:cNvSpPr txBox="1"/>
          <p:nvPr/>
        </p:nvSpPr>
        <p:spPr>
          <a:xfrm>
            <a:off x="5760720" y="2203704"/>
            <a:ext cx="27432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334155"/>
                </a:solidFill>
                <a:latin typeface="Calibri"/>
              </a:rPr>
              <a:t>DBSIZE - how many keys exist</a:t>
            </a:r>
          </a:p>
        </p:txBody>
      </p:sp>
      <p:sp>
        <p:nvSpPr>
          <p:cNvPr id="26" name="a2ud300_vt25"/>
          <p:cNvSpPr txBox="1"/>
          <p:nvPr/>
        </p:nvSpPr>
        <p:spPr>
          <a:xfrm>
            <a:off x="5760720" y="2377439"/>
            <a:ext cx="2743200" cy="1737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334155"/>
                </a:solidFill>
                <a:latin typeface="Calibri"/>
              </a:rPr>
              <a:t>SET ... EX - writes actually work</a:t>
            </a:r>
          </a:p>
        </p:txBody>
      </p:sp>
      <p:sp>
        <p:nvSpPr>
          <p:cNvPr id="27" name="a3u_card26"/>
          <p:cNvSpPr/>
          <p:nvPr/>
        </p:nvSpPr>
        <p:spPr>
          <a:xfrm>
            <a:off x="5577840" y="2697480"/>
            <a:ext cx="3108960" cy="1737360"/>
          </a:xfrm>
          <a:prstGeom prst="roundRect">
            <a:avLst>
              <a:gd name="adj" fmla="val 5263"/>
            </a:avLst>
          </a:prstGeom>
          <a:solidFill>
            <a:srgbClr val="0F172A"/>
          </a:solidFill>
          <a:ln w="12700">
            <a:solidFill>
              <a:srgbClr val="0F172A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a3u_hh27"/>
          <p:cNvSpPr txBox="1"/>
          <p:nvPr/>
        </p:nvSpPr>
        <p:spPr>
          <a:xfrm>
            <a:off x="5760720" y="2825496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DC382C"/>
                </a:solidFill>
                <a:latin typeface="Calibri"/>
              </a:rPr>
              <a:t>IF PING FAILS</a:t>
            </a:r>
          </a:p>
        </p:txBody>
      </p:sp>
      <p:sp>
        <p:nvSpPr>
          <p:cNvPr id="29" name="a3u_ft28"/>
          <p:cNvSpPr txBox="1"/>
          <p:nvPr/>
        </p:nvSpPr>
        <p:spPr>
          <a:xfrm>
            <a:off x="5760720" y="3118104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DC382C"/>
                </a:solidFill>
                <a:latin typeface="Calibri"/>
              </a:rPr>
              <a:t>· </a:t>
            </a:r>
            <a:r>
              <a:rPr sz="950" b="0">
                <a:solidFill>
                  <a:srgbClr val="CBD5E1"/>
                </a:solidFill>
                <a:latin typeface="Calibri"/>
              </a:rPr>
              <a:t>Is the service running?</a:t>
            </a:r>
          </a:p>
        </p:txBody>
      </p:sp>
      <p:sp>
        <p:nvSpPr>
          <p:cNvPr id="30" name="a3ud80_ft29"/>
          <p:cNvSpPr txBox="1"/>
          <p:nvPr/>
        </p:nvSpPr>
        <p:spPr>
          <a:xfrm>
            <a:off x="5760720" y="3374136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DC382C"/>
                </a:solidFill>
                <a:latin typeface="Calibri"/>
              </a:rPr>
              <a:t>· </a:t>
            </a:r>
            <a:r>
              <a:rPr sz="950" b="0">
                <a:solidFill>
                  <a:srgbClr val="CBD5E1"/>
                </a:solidFill>
                <a:latin typeface="Calibri"/>
              </a:rPr>
              <a:t>Right port? Default is 6379</a:t>
            </a:r>
          </a:p>
        </p:txBody>
      </p:sp>
      <p:sp>
        <p:nvSpPr>
          <p:cNvPr id="31" name="a3ud160_ft30"/>
          <p:cNvSpPr txBox="1"/>
          <p:nvPr/>
        </p:nvSpPr>
        <p:spPr>
          <a:xfrm>
            <a:off x="5760720" y="3630168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DC382C"/>
                </a:solidFill>
                <a:latin typeface="Calibri"/>
              </a:rPr>
              <a:t>· </a:t>
            </a:r>
            <a:r>
              <a:rPr sz="950" b="0">
                <a:solidFill>
                  <a:srgbClr val="CBD5E1"/>
                </a:solidFill>
                <a:latin typeface="Calibri"/>
              </a:rPr>
              <a:t>Firewall or WSL networking?</a:t>
            </a:r>
          </a:p>
        </p:txBody>
      </p:sp>
      <p:sp>
        <p:nvSpPr>
          <p:cNvPr id="32" name="a3ud240_ft31"/>
          <p:cNvSpPr txBox="1"/>
          <p:nvPr/>
        </p:nvSpPr>
        <p:spPr>
          <a:xfrm>
            <a:off x="5760720" y="3886200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DC382C"/>
                </a:solidFill>
                <a:latin typeface="Calibri"/>
              </a:rPr>
              <a:t>· </a:t>
            </a:r>
            <a:r>
              <a:rPr sz="950" b="0">
                <a:solidFill>
                  <a:srgbClr val="CBD5E1"/>
                </a:solidFill>
                <a:latin typeface="Calibri"/>
              </a:rPr>
              <a:t>Check the server log file</a:t>
            </a:r>
          </a:p>
        </p:txBody>
      </p:sp>
      <p:sp>
        <p:nvSpPr>
          <p:cNvPr id="33" name="a3ud320_ft32"/>
          <p:cNvSpPr txBox="1"/>
          <p:nvPr/>
        </p:nvSpPr>
        <p:spPr>
          <a:xfrm>
            <a:off x="5760720" y="4142232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DC382C"/>
                </a:solidFill>
                <a:latin typeface="Calibri"/>
              </a:rPr>
              <a:t>· </a:t>
            </a:r>
            <a:r>
              <a:rPr sz="950" b="0">
                <a:solidFill>
                  <a:srgbClr val="CBD5E1"/>
                </a:solidFill>
                <a:latin typeface="Calibri"/>
              </a:rPr>
              <a:t>requirepass set? Use -a &lt;password&gt;</a:t>
            </a:r>
          </a:p>
        </p:txBody>
      </p:sp>
      <p:sp>
        <p:nvSpPr>
          <p:cNvPr id="34" name="ft33"/>
          <p:cNvSpPr txBox="1"/>
          <p:nvPr/>
        </p:nvSpPr>
        <p:spPr>
          <a:xfrm>
            <a:off x="457200" y="4736592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ICICI Bank Learning Academy  ·  Enterprise Data Engineering with SQL, Redis &amp; Kafka</a:t>
            </a:r>
          </a:p>
        </p:txBody>
      </p:sp>
      <p:sp>
        <p:nvSpPr>
          <p:cNvPr id="35" name="ft34"/>
          <p:cNvSpPr txBox="1"/>
          <p:nvPr/>
        </p:nvSpPr>
        <p:spPr>
          <a:xfrm>
            <a:off x="5486400" y="473659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2 · Redis Intro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" presetClass="entr" presetSubtype="4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2" presetClass="entr" presetSubtype="4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" presetClass="entr" presetSubtype="4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Calibri"/>
              </a:rPr>
              <a:t>First Contact with redis-cli</a:t>
            </a:r>
          </a:p>
        </p:txBody>
      </p:sp>
      <p:sp>
        <p:nvSpPr>
          <p:cNvPr id="3" name="sub2"/>
          <p:cNvSpPr txBox="1"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Calibri"/>
              </a:rPr>
              <a:t>Five minutes that make the rest of the module concrete</a:t>
            </a:r>
          </a:p>
        </p:txBody>
      </p:sp>
      <p:sp>
        <p:nvSpPr>
          <p:cNvPr id="4" name="a1f_codebg3"/>
          <p:cNvSpPr/>
          <p:nvPr/>
        </p:nvSpPr>
        <p:spPr>
          <a:xfrm>
            <a:off x="457200" y="1143000"/>
            <a:ext cx="4663440" cy="3278124"/>
          </a:xfrm>
          <a:prstGeom prst="roundRect">
            <a:avLst>
              <a:gd name="adj" fmla="val 2231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a1f_codeh4"/>
          <p:cNvSpPr txBox="1"/>
          <p:nvPr/>
        </p:nvSpPr>
        <p:spPr>
          <a:xfrm>
            <a:off x="621792" y="1197864"/>
            <a:ext cx="4334255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64748B"/>
                </a:solidFill>
                <a:latin typeface="Courier New"/>
              </a:rPr>
              <a:t>redis-cli</a:t>
            </a:r>
          </a:p>
        </p:txBody>
      </p:sp>
      <p:sp>
        <p:nvSpPr>
          <p:cNvPr id="6" name="a1w_code5"/>
          <p:cNvSpPr txBox="1"/>
          <p:nvPr/>
        </p:nvSpPr>
        <p:spPr>
          <a:xfrm>
            <a:off x="621792" y="1581912"/>
            <a:ext cx="433425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$ redis-cli</a:t>
            </a:r>
          </a:p>
        </p:txBody>
      </p:sp>
      <p:sp>
        <p:nvSpPr>
          <p:cNvPr id="7" name="a1wd80_code6"/>
          <p:cNvSpPr txBox="1"/>
          <p:nvPr/>
        </p:nvSpPr>
        <p:spPr>
          <a:xfrm>
            <a:off x="621792" y="1787652"/>
            <a:ext cx="433425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127.0.0.1:6379&gt; SET icici:cust:9003:name "A. Sharma"</a:t>
            </a:r>
          </a:p>
        </p:txBody>
      </p:sp>
      <p:sp>
        <p:nvSpPr>
          <p:cNvPr id="8" name="a1wd160_code7"/>
          <p:cNvSpPr txBox="1"/>
          <p:nvPr/>
        </p:nvSpPr>
        <p:spPr>
          <a:xfrm>
            <a:off x="621792" y="1993392"/>
            <a:ext cx="433425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4B8A6"/>
                </a:solidFill>
                <a:latin typeface="Courier New"/>
              </a:rPr>
              <a:t>OK</a:t>
            </a:r>
          </a:p>
        </p:txBody>
      </p:sp>
      <p:sp>
        <p:nvSpPr>
          <p:cNvPr id="9" name="a1wd240_code8"/>
          <p:cNvSpPr txBox="1"/>
          <p:nvPr/>
        </p:nvSpPr>
        <p:spPr>
          <a:xfrm>
            <a:off x="621792" y="2199132"/>
            <a:ext cx="433425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127.0.0.1:6379&gt; GET icici:cust:9003:name</a:t>
            </a:r>
          </a:p>
        </p:txBody>
      </p:sp>
      <p:sp>
        <p:nvSpPr>
          <p:cNvPr id="10" name="a1wd320_code9"/>
          <p:cNvSpPr txBox="1"/>
          <p:nvPr/>
        </p:nvSpPr>
        <p:spPr>
          <a:xfrm>
            <a:off x="621792" y="2404872"/>
            <a:ext cx="433425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4B8A6"/>
                </a:solidFill>
                <a:latin typeface="Courier New"/>
              </a:rPr>
              <a:t>"A. Sharma"</a:t>
            </a:r>
          </a:p>
        </p:txBody>
      </p:sp>
      <p:sp>
        <p:nvSpPr>
          <p:cNvPr id="11" name="a1wd400_code10"/>
          <p:cNvSpPr txBox="1"/>
          <p:nvPr/>
        </p:nvSpPr>
        <p:spPr>
          <a:xfrm>
            <a:off x="621792" y="2610612"/>
            <a:ext cx="433425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127.0.0.1:6379&gt; TYPE icici:cust:9003:name</a:t>
            </a:r>
          </a:p>
        </p:txBody>
      </p:sp>
      <p:sp>
        <p:nvSpPr>
          <p:cNvPr id="12" name="a1wd480_code11"/>
          <p:cNvSpPr txBox="1"/>
          <p:nvPr/>
        </p:nvSpPr>
        <p:spPr>
          <a:xfrm>
            <a:off x="621792" y="2816352"/>
            <a:ext cx="433425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4B8A6"/>
                </a:solidFill>
                <a:latin typeface="Courier New"/>
              </a:rPr>
              <a:t>string</a:t>
            </a:r>
          </a:p>
        </p:txBody>
      </p:sp>
      <p:sp>
        <p:nvSpPr>
          <p:cNvPr id="13" name="a1wd560_code12"/>
          <p:cNvSpPr txBox="1"/>
          <p:nvPr/>
        </p:nvSpPr>
        <p:spPr>
          <a:xfrm>
            <a:off x="621792" y="3022091"/>
            <a:ext cx="433425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127.0.0.1:6379&gt; EXPIRE icici:cust:9003:name 60</a:t>
            </a:r>
          </a:p>
        </p:txBody>
      </p:sp>
      <p:sp>
        <p:nvSpPr>
          <p:cNvPr id="14" name="a1wd640_code13"/>
          <p:cNvSpPr txBox="1"/>
          <p:nvPr/>
        </p:nvSpPr>
        <p:spPr>
          <a:xfrm>
            <a:off x="621792" y="3227832"/>
            <a:ext cx="433425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4B8A6"/>
                </a:solidFill>
                <a:latin typeface="Courier New"/>
              </a:rPr>
              <a:t>(integer) 1</a:t>
            </a:r>
          </a:p>
        </p:txBody>
      </p:sp>
      <p:sp>
        <p:nvSpPr>
          <p:cNvPr id="15" name="a1wd720_code14"/>
          <p:cNvSpPr txBox="1"/>
          <p:nvPr/>
        </p:nvSpPr>
        <p:spPr>
          <a:xfrm>
            <a:off x="621792" y="3433572"/>
            <a:ext cx="433425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127.0.0.1:6379&gt; TTL icici:cust:9003:name</a:t>
            </a:r>
          </a:p>
        </p:txBody>
      </p:sp>
      <p:sp>
        <p:nvSpPr>
          <p:cNvPr id="16" name="a1wd800_code15"/>
          <p:cNvSpPr txBox="1"/>
          <p:nvPr/>
        </p:nvSpPr>
        <p:spPr>
          <a:xfrm>
            <a:off x="621792" y="3639312"/>
            <a:ext cx="433425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4B8A6"/>
                </a:solidFill>
                <a:latin typeface="Courier New"/>
              </a:rPr>
              <a:t>(integer) 57</a:t>
            </a:r>
          </a:p>
        </p:txBody>
      </p:sp>
      <p:sp>
        <p:nvSpPr>
          <p:cNvPr id="17" name="a1wd880_code16"/>
          <p:cNvSpPr txBox="1"/>
          <p:nvPr/>
        </p:nvSpPr>
        <p:spPr>
          <a:xfrm>
            <a:off x="621792" y="3845052"/>
            <a:ext cx="433425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1">
                <a:solidFill>
                  <a:srgbClr val="C4B5FD"/>
                </a:solidFill>
                <a:latin typeface="Courier New"/>
              </a:rPr>
              <a:t>127.0.0.1:6379&gt; DEL icici:cust:9003:name</a:t>
            </a:r>
          </a:p>
        </p:txBody>
      </p:sp>
      <p:sp>
        <p:nvSpPr>
          <p:cNvPr id="18" name="a1wd960_code17"/>
          <p:cNvSpPr txBox="1"/>
          <p:nvPr/>
        </p:nvSpPr>
        <p:spPr>
          <a:xfrm>
            <a:off x="621792" y="4050791"/>
            <a:ext cx="4334255" cy="20574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14B8A6"/>
                </a:solidFill>
                <a:latin typeface="Courier New"/>
              </a:rPr>
              <a:t>(integer) 1</a:t>
            </a:r>
          </a:p>
        </p:txBody>
      </p:sp>
      <p:sp>
        <p:nvSpPr>
          <p:cNvPr id="19" name="a2u_card18"/>
          <p:cNvSpPr/>
          <p:nvPr/>
        </p:nvSpPr>
        <p:spPr>
          <a:xfrm>
            <a:off x="5303520" y="1143000"/>
            <a:ext cx="338328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a2u_hh19"/>
          <p:cNvSpPr txBox="1"/>
          <p:nvPr/>
        </p:nvSpPr>
        <p:spPr>
          <a:xfrm>
            <a:off x="5486400" y="125272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Calibri"/>
              </a:rPr>
              <a:t>USEFUL CLI FLAGS</a:t>
            </a:r>
          </a:p>
        </p:txBody>
      </p:sp>
      <p:sp>
        <p:nvSpPr>
          <p:cNvPr id="21" name="a2u_cf20"/>
          <p:cNvSpPr txBox="1"/>
          <p:nvPr/>
        </p:nvSpPr>
        <p:spPr>
          <a:xfrm>
            <a:off x="5486400" y="1527048"/>
            <a:ext cx="1737360" cy="192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D28D9"/>
                </a:solidFill>
                <a:latin typeface="Courier New"/>
              </a:rPr>
              <a:t>-h host -p port</a:t>
            </a:r>
          </a:p>
        </p:txBody>
      </p:sp>
      <p:sp>
        <p:nvSpPr>
          <p:cNvPr id="22" name="a2u_cw21"/>
          <p:cNvSpPr txBox="1"/>
          <p:nvPr/>
        </p:nvSpPr>
        <p:spPr>
          <a:xfrm>
            <a:off x="7269480" y="1527048"/>
            <a:ext cx="1234440" cy="192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alibri"/>
              </a:rPr>
              <a:t>connect elsewhere</a:t>
            </a:r>
          </a:p>
        </p:txBody>
      </p:sp>
      <p:sp>
        <p:nvSpPr>
          <p:cNvPr id="23" name="a2ud60_cf22"/>
          <p:cNvSpPr txBox="1"/>
          <p:nvPr/>
        </p:nvSpPr>
        <p:spPr>
          <a:xfrm>
            <a:off x="5486400" y="1719072"/>
            <a:ext cx="1737360" cy="192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D28D9"/>
                </a:solidFill>
                <a:latin typeface="Courier New"/>
              </a:rPr>
              <a:t>-a &lt;password&gt;</a:t>
            </a:r>
          </a:p>
        </p:txBody>
      </p:sp>
      <p:sp>
        <p:nvSpPr>
          <p:cNvPr id="24" name="a2ud60_cw23"/>
          <p:cNvSpPr txBox="1"/>
          <p:nvPr/>
        </p:nvSpPr>
        <p:spPr>
          <a:xfrm>
            <a:off x="7269480" y="1719072"/>
            <a:ext cx="1234440" cy="192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alibri"/>
              </a:rPr>
              <a:t>authenticate</a:t>
            </a:r>
          </a:p>
        </p:txBody>
      </p:sp>
      <p:sp>
        <p:nvSpPr>
          <p:cNvPr id="25" name="a2ud120_cf24"/>
          <p:cNvSpPr txBox="1"/>
          <p:nvPr/>
        </p:nvSpPr>
        <p:spPr>
          <a:xfrm>
            <a:off x="5486400" y="1911095"/>
            <a:ext cx="1737360" cy="192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D28D9"/>
                </a:solidFill>
                <a:latin typeface="Courier New"/>
              </a:rPr>
              <a:t>-n 3</a:t>
            </a:r>
          </a:p>
        </p:txBody>
      </p:sp>
      <p:sp>
        <p:nvSpPr>
          <p:cNvPr id="26" name="a2ud120_cw25"/>
          <p:cNvSpPr txBox="1"/>
          <p:nvPr/>
        </p:nvSpPr>
        <p:spPr>
          <a:xfrm>
            <a:off x="7269480" y="1911095"/>
            <a:ext cx="1234440" cy="192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alibri"/>
              </a:rPr>
              <a:t>select database 3</a:t>
            </a:r>
          </a:p>
        </p:txBody>
      </p:sp>
      <p:sp>
        <p:nvSpPr>
          <p:cNvPr id="27" name="a2ud180_cf26"/>
          <p:cNvSpPr txBox="1"/>
          <p:nvPr/>
        </p:nvSpPr>
        <p:spPr>
          <a:xfrm>
            <a:off x="5486400" y="2103120"/>
            <a:ext cx="1737360" cy="192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D28D9"/>
                </a:solidFill>
                <a:latin typeface="Courier New"/>
              </a:rPr>
              <a:t>--scan --pattern 'icici:*'</a:t>
            </a:r>
          </a:p>
        </p:txBody>
      </p:sp>
      <p:sp>
        <p:nvSpPr>
          <p:cNvPr id="28" name="a2ud180_cw27"/>
          <p:cNvSpPr txBox="1"/>
          <p:nvPr/>
        </p:nvSpPr>
        <p:spPr>
          <a:xfrm>
            <a:off x="7269480" y="2103120"/>
            <a:ext cx="1234440" cy="192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alibri"/>
              </a:rPr>
              <a:t>list keys safely</a:t>
            </a:r>
          </a:p>
        </p:txBody>
      </p:sp>
      <p:sp>
        <p:nvSpPr>
          <p:cNvPr id="29" name="a2ud240_cf28"/>
          <p:cNvSpPr txBox="1"/>
          <p:nvPr/>
        </p:nvSpPr>
        <p:spPr>
          <a:xfrm>
            <a:off x="5486400" y="2295144"/>
            <a:ext cx="1737360" cy="192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D28D9"/>
                </a:solidFill>
                <a:latin typeface="Courier New"/>
              </a:rPr>
              <a:t>--stat</a:t>
            </a:r>
          </a:p>
        </p:txBody>
      </p:sp>
      <p:sp>
        <p:nvSpPr>
          <p:cNvPr id="30" name="a2ud240_cw29"/>
          <p:cNvSpPr txBox="1"/>
          <p:nvPr/>
        </p:nvSpPr>
        <p:spPr>
          <a:xfrm>
            <a:off x="7269480" y="2295144"/>
            <a:ext cx="1234440" cy="192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alibri"/>
              </a:rPr>
              <a:t>live server stats</a:t>
            </a:r>
          </a:p>
        </p:txBody>
      </p:sp>
      <p:sp>
        <p:nvSpPr>
          <p:cNvPr id="31" name="a2ud300_cf30"/>
          <p:cNvSpPr txBox="1"/>
          <p:nvPr/>
        </p:nvSpPr>
        <p:spPr>
          <a:xfrm>
            <a:off x="5486400" y="2487168"/>
            <a:ext cx="1737360" cy="192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D28D9"/>
                </a:solidFill>
                <a:latin typeface="Courier New"/>
              </a:rPr>
              <a:t>--latency</a:t>
            </a:r>
          </a:p>
        </p:txBody>
      </p:sp>
      <p:sp>
        <p:nvSpPr>
          <p:cNvPr id="32" name="a2ud300_cw31"/>
          <p:cNvSpPr txBox="1"/>
          <p:nvPr/>
        </p:nvSpPr>
        <p:spPr>
          <a:xfrm>
            <a:off x="7269480" y="2487168"/>
            <a:ext cx="1234440" cy="1920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Calibri"/>
              </a:rPr>
              <a:t>measure round trip</a:t>
            </a:r>
          </a:p>
        </p:txBody>
      </p:sp>
      <p:sp>
        <p:nvSpPr>
          <p:cNvPr id="33" name="a3u_card32"/>
          <p:cNvSpPr/>
          <p:nvPr/>
        </p:nvSpPr>
        <p:spPr>
          <a:xfrm>
            <a:off x="5303520" y="2825496"/>
            <a:ext cx="3383280" cy="1609344"/>
          </a:xfrm>
          <a:prstGeom prst="roundRect">
            <a:avLst>
              <a:gd name="adj" fmla="val 5681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a3u_hh33"/>
          <p:cNvSpPr txBox="1"/>
          <p:nvPr/>
        </p:nvSpPr>
        <p:spPr>
          <a:xfrm>
            <a:off x="5486400" y="2935224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DC382C"/>
                </a:solidFill>
                <a:latin typeface="Calibri"/>
              </a:rPr>
              <a:t>KEY NAMING - START RIGHT</a:t>
            </a:r>
          </a:p>
        </p:txBody>
      </p:sp>
      <p:sp>
        <p:nvSpPr>
          <p:cNvPr id="35" name="a3ud50_kn34"/>
          <p:cNvSpPr txBox="1"/>
          <p:nvPr/>
        </p:nvSpPr>
        <p:spPr>
          <a:xfrm>
            <a:off x="5486400" y="319125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Courier New"/>
              </a:rPr>
              <a:t>app:entity:id:field</a:t>
            </a:r>
          </a:p>
        </p:txBody>
      </p:sp>
      <p:sp>
        <p:nvSpPr>
          <p:cNvPr id="36" name="a3ud90_kt35"/>
          <p:cNvSpPr txBox="1"/>
          <p:nvPr/>
        </p:nvSpPr>
        <p:spPr>
          <a:xfrm>
            <a:off x="5486400" y="3520440"/>
            <a:ext cx="301752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DC382C"/>
                </a:solidFill>
                <a:latin typeface="Calibri"/>
              </a:rPr>
              <a:t>· </a:t>
            </a:r>
            <a:r>
              <a:rPr sz="900" b="0">
                <a:solidFill>
                  <a:srgbClr val="334155"/>
                </a:solidFill>
                <a:latin typeface="Calibri"/>
              </a:rPr>
              <a:t>Colon-separated, lowercase</a:t>
            </a:r>
          </a:p>
        </p:txBody>
      </p:sp>
      <p:sp>
        <p:nvSpPr>
          <p:cNvPr id="37" name="a3ud160_kt36"/>
          <p:cNvSpPr txBox="1"/>
          <p:nvPr/>
        </p:nvSpPr>
        <p:spPr>
          <a:xfrm>
            <a:off x="5486400" y="3749039"/>
            <a:ext cx="301752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DC382C"/>
                </a:solidFill>
                <a:latin typeface="Calibri"/>
              </a:rPr>
              <a:t>· </a:t>
            </a:r>
            <a:r>
              <a:rPr sz="900" b="0">
                <a:solidFill>
                  <a:srgbClr val="334155"/>
                </a:solidFill>
                <a:latin typeface="Calibri"/>
              </a:rPr>
              <a:t>Prefix with the app - icici:</a:t>
            </a:r>
          </a:p>
        </p:txBody>
      </p:sp>
      <p:sp>
        <p:nvSpPr>
          <p:cNvPr id="38" name="a3ud230_kt37"/>
          <p:cNvSpPr txBox="1"/>
          <p:nvPr/>
        </p:nvSpPr>
        <p:spPr>
          <a:xfrm>
            <a:off x="5486400" y="3977639"/>
            <a:ext cx="301752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DC382C"/>
                </a:solidFill>
                <a:latin typeface="Calibri"/>
              </a:rPr>
              <a:t>· </a:t>
            </a:r>
            <a:r>
              <a:rPr sz="900" b="0">
                <a:solidFill>
                  <a:srgbClr val="334155"/>
                </a:solidFill>
                <a:latin typeface="Calibri"/>
              </a:rPr>
              <a:t>Never put user input in raw</a:t>
            </a:r>
          </a:p>
        </p:txBody>
      </p:sp>
      <p:sp>
        <p:nvSpPr>
          <p:cNvPr id="39" name="a3ud300_kt38"/>
          <p:cNvSpPr txBox="1"/>
          <p:nvPr/>
        </p:nvSpPr>
        <p:spPr>
          <a:xfrm>
            <a:off x="5486400" y="4206240"/>
            <a:ext cx="301752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DC382C"/>
                </a:solidFill>
                <a:latin typeface="Calibri"/>
              </a:rPr>
              <a:t>· </a:t>
            </a:r>
            <a:r>
              <a:rPr sz="900" b="0">
                <a:solidFill>
                  <a:srgbClr val="334155"/>
                </a:solidFill>
                <a:latin typeface="Calibri"/>
              </a:rPr>
              <a:t>The GUI groups by colon, free tree view</a:t>
            </a:r>
          </a:p>
        </p:txBody>
      </p:sp>
      <p:sp>
        <p:nvSpPr>
          <p:cNvPr id="40" name="ft39"/>
          <p:cNvSpPr txBox="1"/>
          <p:nvPr/>
        </p:nvSpPr>
        <p:spPr>
          <a:xfrm>
            <a:off x="457200" y="4736592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ICICI Bank Learning Academy  ·  Enterprise Data Engineering with SQL, Redis &amp; Kafka</a:t>
            </a:r>
          </a:p>
        </p:txBody>
      </p:sp>
      <p:sp>
        <p:nvSpPr>
          <p:cNvPr id="41" name="ft40"/>
          <p:cNvSpPr txBox="1"/>
          <p:nvPr/>
        </p:nvSpPr>
        <p:spPr>
          <a:xfrm>
            <a:off x="5486400" y="473659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2 · Redis Intro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" presetClass="entr" presetSubtype="4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2" presetClass="entr" presetSubtype="4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2" presetClass="entr" presetSubtype="4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2" presetClass="entr" presetSubtype="4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" presetClass="entr" presetSubtype="4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" presetClass="entr" presetSubtype="4" fill="hold" grpId="0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2" presetClass="entr" presetSubtype="4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2" presetClass="entr" presetSubtype="4" fill="hold" grpId="0" nodeType="withEffect">
                                  <p:stCondLst>
                                    <p:cond delay="23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" presetClass="entr" presetSubtype="4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1"/>
          <p:cNvSpPr txBox="1"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Calibri"/>
              </a:rPr>
              <a:t>Lab Environment for This Module</a:t>
            </a:r>
          </a:p>
        </p:txBody>
      </p:sp>
      <p:sp>
        <p:nvSpPr>
          <p:cNvPr id="3" name="sub2"/>
          <p:cNvSpPr txBox="1"/>
          <p:nvPr/>
        </p:nvSpPr>
        <p:spPr>
          <a:xfrm>
            <a:off x="457200" y="768096"/>
            <a:ext cx="82296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Calibri"/>
              </a:rPr>
              <a:t>What you need running before Lab 7.1 - check each box now</a:t>
            </a:r>
          </a:p>
        </p:txBody>
      </p:sp>
      <p:sp>
        <p:nvSpPr>
          <p:cNvPr id="4" name="a1u_cb3"/>
          <p:cNvSpPr/>
          <p:nvPr/>
        </p:nvSpPr>
        <p:spPr>
          <a:xfrm>
            <a:off x="457200" y="117043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a1u_ct4"/>
          <p:cNvSpPr txBox="1"/>
          <p:nvPr/>
        </p:nvSpPr>
        <p:spPr>
          <a:xfrm>
            <a:off x="457200" y="117043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a1ud40_cw5"/>
          <p:cNvSpPr txBox="1"/>
          <p:nvPr/>
        </p:nvSpPr>
        <p:spPr>
          <a:xfrm>
            <a:off x="896112" y="1133856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Calibri"/>
              </a:rPr>
              <a:t>Redis 7.x reachable on 127.0.0.1:6379</a:t>
            </a:r>
          </a:p>
        </p:txBody>
      </p:sp>
      <p:sp>
        <p:nvSpPr>
          <p:cNvPr id="7" name="a1ud70_ch6"/>
          <p:cNvSpPr txBox="1"/>
          <p:nvPr/>
        </p:nvSpPr>
        <p:spPr>
          <a:xfrm>
            <a:off x="896112" y="1408176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ourier New"/>
              </a:rPr>
              <a:t>redis-cli ping returns PONG</a:t>
            </a:r>
          </a:p>
        </p:txBody>
      </p:sp>
      <p:sp>
        <p:nvSpPr>
          <p:cNvPr id="8" name="a1ud140_cb7"/>
          <p:cNvSpPr/>
          <p:nvPr/>
        </p:nvSpPr>
        <p:spPr>
          <a:xfrm>
            <a:off x="4754880" y="117043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a1ud140_ct8"/>
          <p:cNvSpPr txBox="1"/>
          <p:nvPr/>
        </p:nvSpPr>
        <p:spPr>
          <a:xfrm>
            <a:off x="4754880" y="117043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a1ud180_cw9"/>
          <p:cNvSpPr txBox="1"/>
          <p:nvPr/>
        </p:nvSpPr>
        <p:spPr>
          <a:xfrm>
            <a:off x="5193792" y="1133856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Calibri"/>
              </a:rPr>
              <a:t>redis-cli on PATH</a:t>
            </a:r>
          </a:p>
        </p:txBody>
      </p:sp>
      <p:sp>
        <p:nvSpPr>
          <p:cNvPr id="11" name="a1ud210_ch10"/>
          <p:cNvSpPr txBox="1"/>
          <p:nvPr/>
        </p:nvSpPr>
        <p:spPr>
          <a:xfrm>
            <a:off x="5193792" y="1408176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ourier New"/>
              </a:rPr>
              <a:t>from PowerShell or the WSL shell</a:t>
            </a:r>
          </a:p>
        </p:txBody>
      </p:sp>
      <p:sp>
        <p:nvSpPr>
          <p:cNvPr id="12" name="a2u_cb11"/>
          <p:cNvSpPr/>
          <p:nvPr/>
        </p:nvSpPr>
        <p:spPr>
          <a:xfrm>
            <a:off x="457200" y="19476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a2u_ct12"/>
          <p:cNvSpPr txBox="1"/>
          <p:nvPr/>
        </p:nvSpPr>
        <p:spPr>
          <a:xfrm>
            <a:off x="457200" y="194767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a2ud40_cw13"/>
          <p:cNvSpPr txBox="1"/>
          <p:nvPr/>
        </p:nvSpPr>
        <p:spPr>
          <a:xfrm>
            <a:off x="896112" y="191109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Calibri"/>
              </a:rPr>
              <a:t>RedisInsight installed</a:t>
            </a:r>
          </a:p>
        </p:txBody>
      </p:sp>
      <p:sp>
        <p:nvSpPr>
          <p:cNvPr id="15" name="a2ud70_ch14"/>
          <p:cNvSpPr txBox="1"/>
          <p:nvPr/>
        </p:nvSpPr>
        <p:spPr>
          <a:xfrm>
            <a:off x="896112" y="2185415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ourier New"/>
              </a:rPr>
              <a:t>optional but recommended for browsing keys</a:t>
            </a:r>
          </a:p>
        </p:txBody>
      </p:sp>
      <p:sp>
        <p:nvSpPr>
          <p:cNvPr id="16" name="a2ud140_cb15"/>
          <p:cNvSpPr/>
          <p:nvPr/>
        </p:nvSpPr>
        <p:spPr>
          <a:xfrm>
            <a:off x="4754880" y="19476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a2ud140_ct16"/>
          <p:cNvSpPr txBox="1"/>
          <p:nvPr/>
        </p:nvSpPr>
        <p:spPr>
          <a:xfrm>
            <a:off x="4754880" y="194767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a2ud180_cw17"/>
          <p:cNvSpPr txBox="1"/>
          <p:nvPr/>
        </p:nvSpPr>
        <p:spPr>
          <a:xfrm>
            <a:off x="5193792" y="191109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Calibri"/>
              </a:rPr>
              <a:t>Node 18+ with redis and pg</a:t>
            </a:r>
          </a:p>
        </p:txBody>
      </p:sp>
      <p:sp>
        <p:nvSpPr>
          <p:cNvPr id="19" name="a2ud210_ch18"/>
          <p:cNvSpPr txBox="1"/>
          <p:nvPr/>
        </p:nvSpPr>
        <p:spPr>
          <a:xfrm>
            <a:off x="5193792" y="2185415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ourier New"/>
              </a:rPr>
              <a:t>npm install redis pg</a:t>
            </a:r>
          </a:p>
        </p:txBody>
      </p:sp>
      <p:sp>
        <p:nvSpPr>
          <p:cNvPr id="20" name="a3u_cb19"/>
          <p:cNvSpPr/>
          <p:nvPr/>
        </p:nvSpPr>
        <p:spPr>
          <a:xfrm>
            <a:off x="457200" y="27249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a3u_ct20"/>
          <p:cNvSpPr txBox="1"/>
          <p:nvPr/>
        </p:nvSpPr>
        <p:spPr>
          <a:xfrm>
            <a:off x="457200" y="272491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a3ud40_cw21"/>
          <p:cNvSpPr txBox="1"/>
          <p:nvPr/>
        </p:nvSpPr>
        <p:spPr>
          <a:xfrm>
            <a:off x="896112" y="2688336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Calibri"/>
              </a:rPr>
              <a:t>PostgreSQL from Modules 1-6 still running</a:t>
            </a:r>
          </a:p>
        </p:txBody>
      </p:sp>
      <p:sp>
        <p:nvSpPr>
          <p:cNvPr id="23" name="a3ud70_ch22"/>
          <p:cNvSpPr txBox="1"/>
          <p:nvPr/>
        </p:nvSpPr>
        <p:spPr>
          <a:xfrm>
            <a:off x="896112" y="2962656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ourier New"/>
              </a:rPr>
              <a:t>labs 7.3 onwards read through to it</a:t>
            </a:r>
          </a:p>
        </p:txBody>
      </p:sp>
      <p:sp>
        <p:nvSpPr>
          <p:cNvPr id="24" name="a3ud140_cb23"/>
          <p:cNvSpPr/>
          <p:nvPr/>
        </p:nvSpPr>
        <p:spPr>
          <a:xfrm>
            <a:off x="4754880" y="27249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a3ud140_ct24"/>
          <p:cNvSpPr txBox="1"/>
          <p:nvPr/>
        </p:nvSpPr>
        <p:spPr>
          <a:xfrm>
            <a:off x="4754880" y="272491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a3ud180_cw25"/>
          <p:cNvSpPr txBox="1"/>
          <p:nvPr/>
        </p:nvSpPr>
        <p:spPr>
          <a:xfrm>
            <a:off x="5193792" y="2688336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0F172A"/>
                </a:solidFill>
                <a:latin typeface="Calibri"/>
              </a:rPr>
              <a:t>The module code folder</a:t>
            </a:r>
          </a:p>
        </p:txBody>
      </p:sp>
      <p:sp>
        <p:nvSpPr>
          <p:cNvPr id="27" name="a3ud210_ch26"/>
          <p:cNvSpPr txBox="1"/>
          <p:nvPr/>
        </p:nvSpPr>
        <p:spPr>
          <a:xfrm>
            <a:off x="5193792" y="2962656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ourier New"/>
              </a:rPr>
              <a:t>node_cookbook/ beside the lab guide</a:t>
            </a:r>
          </a:p>
        </p:txBody>
      </p:sp>
      <p:sp>
        <p:nvSpPr>
          <p:cNvPr id="28" name="a4u_nb27"/>
          <p:cNvSpPr/>
          <p:nvPr/>
        </p:nvSpPr>
        <p:spPr>
          <a:xfrm>
            <a:off x="457200" y="3611880"/>
            <a:ext cx="822960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a4u_nacc28"/>
          <p:cNvSpPr/>
          <p:nvPr/>
        </p:nvSpPr>
        <p:spPr>
          <a:xfrm>
            <a:off x="457200" y="3611880"/>
            <a:ext cx="50292" cy="530352"/>
          </a:xfrm>
          <a:prstGeom prst="rect">
            <a:avLst/>
          </a:prstGeom>
          <a:solidFill>
            <a:srgbClr val="DC3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a4u_nt29"/>
          <p:cNvSpPr txBox="1"/>
          <p:nvPr/>
        </p:nvSpPr>
        <p:spPr>
          <a:xfrm>
            <a:off x="658368" y="3611880"/>
            <a:ext cx="782726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DC382C"/>
                </a:solidFill>
                <a:latin typeface="Calibri"/>
              </a:rPr>
              <a:t>!  </a:t>
            </a:r>
            <a:r>
              <a:rPr sz="1150" b="0">
                <a:solidFill>
                  <a:srgbClr val="334155"/>
                </a:solidFill>
                <a:latin typeface="Calibri"/>
              </a:rPr>
              <a:t>Everything in decks 3 and 4 is typed live against your own server. If your install is not working by the end of this deck, fix it before the break - the rest of the module assumes it.</a:t>
            </a:r>
          </a:p>
        </p:txBody>
      </p:sp>
      <p:sp>
        <p:nvSpPr>
          <p:cNvPr id="31" name="ft30"/>
          <p:cNvSpPr txBox="1"/>
          <p:nvPr/>
        </p:nvSpPr>
        <p:spPr>
          <a:xfrm>
            <a:off x="457200" y="4736592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ICICI Bank Learning Academy  ·  Enterprise Data Engineering with SQL, Redis &amp; Kafka</a:t>
            </a:r>
          </a:p>
        </p:txBody>
      </p:sp>
      <p:sp>
        <p:nvSpPr>
          <p:cNvPr id="32" name="ft31"/>
          <p:cNvSpPr txBox="1"/>
          <p:nvPr/>
        </p:nvSpPr>
        <p:spPr>
          <a:xfrm>
            <a:off x="5486400" y="4736592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2 · Redis Intro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4" fill="hold" grpId="0" nodeType="withEffect">
                                  <p:stCondLst>
                                    <p:cond delay="21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" presetClass="entr" presetSubtype="4" fill="hold" grpId="0" nodeType="withEffect">
                                  <p:stCondLst>
                                    <p:cond delay="21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" presetClass="entr" presetSubtype="4" fill="hold" grpId="0" nodeType="withEffect">
                                  <p:stCondLst>
                                    <p:cond delay="7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2" presetClass="entr" presetSubtype="4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" presetClass="entr" presetSubtype="4" fill="hold" grpId="0" nodeType="withEffect">
                                  <p:stCondLst>
                                    <p:cond delay="21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0f_h1"/>
          <p:cNvSpPr txBox="1"/>
          <p:nvPr/>
        </p:nvSpPr>
        <p:spPr>
          <a:xfrm>
            <a:off x="548640" y="384048"/>
            <a:ext cx="73152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3" name="a1u_n2"/>
          <p:cNvSpPr/>
          <p:nvPr/>
        </p:nvSpPr>
        <p:spPr>
          <a:xfrm>
            <a:off x="548640" y="1298448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a1u_nt3"/>
          <p:cNvSpPr txBox="1"/>
          <p:nvPr/>
        </p:nvSpPr>
        <p:spPr>
          <a:xfrm>
            <a:off x="548640" y="12984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a1u_nb4"/>
          <p:cNvSpPr txBox="1"/>
          <p:nvPr/>
        </p:nvSpPr>
        <p:spPr>
          <a:xfrm>
            <a:off x="1152144" y="1252728"/>
            <a:ext cx="479145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Redis is an in-memory data structure server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2E8F0"/>
                </a:solidFill>
                <a:latin typeface="Calibri"/>
              </a:rPr>
              <a:t>RAM for the data, C for the core, single-threaded so every command is atomic.</a:t>
            </a:r>
          </a:p>
        </p:txBody>
      </p:sp>
      <p:sp>
        <p:nvSpPr>
          <p:cNvPr id="6" name="a1ud200_n5"/>
          <p:cNvSpPr/>
          <p:nvPr/>
        </p:nvSpPr>
        <p:spPr>
          <a:xfrm>
            <a:off x="548640" y="2048255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a1ud200_nt6"/>
          <p:cNvSpPr txBox="1"/>
          <p:nvPr/>
        </p:nvSpPr>
        <p:spPr>
          <a:xfrm>
            <a:off x="548640" y="2048255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a1ud200_nb7"/>
          <p:cNvSpPr txBox="1"/>
          <p:nvPr/>
        </p:nvSpPr>
        <p:spPr>
          <a:xfrm>
            <a:off x="1152144" y="2002536"/>
            <a:ext cx="479145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The distribution choice is mostly procurement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2E8F0"/>
                </a:solidFill>
                <a:latin typeface="Calibri"/>
              </a:rPr>
              <a:t>CE, Stack, Enterprise, Valkey and the managed services all speak the same commands.</a:t>
            </a:r>
          </a:p>
        </p:txBody>
      </p:sp>
      <p:sp>
        <p:nvSpPr>
          <p:cNvPr id="9" name="a1ud400_n8"/>
          <p:cNvSpPr/>
          <p:nvPr/>
        </p:nvSpPr>
        <p:spPr>
          <a:xfrm>
            <a:off x="548640" y="2798063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a1ud400_nt9"/>
          <p:cNvSpPr txBox="1"/>
          <p:nvPr/>
        </p:nvSpPr>
        <p:spPr>
          <a:xfrm>
            <a:off x="548640" y="2798063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a1ud400_nb10"/>
          <p:cNvSpPr txBox="1"/>
          <p:nvPr/>
        </p:nvSpPr>
        <p:spPr>
          <a:xfrm>
            <a:off x="1152144" y="2752344"/>
            <a:ext cx="479145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It sits in front of the system of record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2E8F0"/>
                </a:solidFill>
                <a:latin typeface="Calibri"/>
              </a:rPr>
              <a:t>Cache, sessions, counters, queues and locks - never the ledger itself.</a:t>
            </a:r>
          </a:p>
        </p:txBody>
      </p:sp>
      <p:sp>
        <p:nvSpPr>
          <p:cNvPr id="12" name="a1ud600_n11"/>
          <p:cNvSpPr/>
          <p:nvPr/>
        </p:nvSpPr>
        <p:spPr>
          <a:xfrm>
            <a:off x="548640" y="3547871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a1ud600_nt12"/>
          <p:cNvSpPr txBox="1"/>
          <p:nvPr/>
        </p:nvSpPr>
        <p:spPr>
          <a:xfrm>
            <a:off x="548640" y="3547871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a1ud600_nb13"/>
          <p:cNvSpPr txBox="1"/>
          <p:nvPr/>
        </p:nvSpPr>
        <p:spPr>
          <a:xfrm>
            <a:off x="1152144" y="3502151"/>
            <a:ext cx="479145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On Windows, use WSL2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2E8F0"/>
                </a:solidFill>
                <a:latin typeface="Calibri"/>
              </a:rPr>
              <a:t>Docker is the fallback, Memurai the native-service option. Avoid the 2016 Microsoft port.</a:t>
            </a:r>
          </a:p>
        </p:txBody>
      </p:sp>
      <p:sp>
        <p:nvSpPr>
          <p:cNvPr id="15" name="a1ud800_n14"/>
          <p:cNvSpPr/>
          <p:nvPr/>
        </p:nvSpPr>
        <p:spPr>
          <a:xfrm>
            <a:off x="548640" y="4297679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a1ud800_nt15"/>
          <p:cNvSpPr txBox="1"/>
          <p:nvPr/>
        </p:nvSpPr>
        <p:spPr>
          <a:xfrm>
            <a:off x="548640" y="4297679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a1ud800_nb16"/>
          <p:cNvSpPr txBox="1"/>
          <p:nvPr/>
        </p:nvSpPr>
        <p:spPr>
          <a:xfrm>
            <a:off x="1152144" y="4251959"/>
            <a:ext cx="479145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Prove it works before you go further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E2E8F0"/>
                </a:solidFill>
                <a:latin typeface="Calibri"/>
              </a:rPr>
              <a:t>PING, INFO, DBSIZE and one SET with a TTL. Decks 3 and 4 are hands-on from the first slide.</a:t>
            </a:r>
          </a:p>
        </p:txBody>
      </p:sp>
      <p:sp>
        <p:nvSpPr>
          <p:cNvPr id="18" name="a2u_next17"/>
          <p:cNvSpPr/>
          <p:nvPr/>
        </p:nvSpPr>
        <p:spPr>
          <a:xfrm>
            <a:off x="6172200" y="3246120"/>
            <a:ext cx="2514600" cy="1005840"/>
          </a:xfrm>
          <a:prstGeom prst="roundRect">
            <a:avLst>
              <a:gd name="adj" fmla="val 9090"/>
            </a:avLst>
          </a:prstGeom>
          <a:solidFill>
            <a:srgbClr val="1E293B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a2u_nextt18"/>
          <p:cNvSpPr txBox="1"/>
          <p:nvPr/>
        </p:nvSpPr>
        <p:spPr>
          <a:xfrm>
            <a:off x="6355080" y="3364992"/>
            <a:ext cx="21945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 spc="220">
                <a:solidFill>
                  <a:srgbClr val="A78BFA"/>
                </a:solidFill>
                <a:latin typeface="Calibri"/>
              </a:rPr>
              <a:t>UP NEXT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E2E8F0"/>
                </a:solidFill>
                <a:latin typeface="Calibri"/>
              </a:rPr>
              <a:t>Deck 3 · Data structures, tools, protocol, redis.conf and the storage model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4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4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4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" presetClass="entr" presetSubtype="4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" presetClass="entr" presetSubtype="4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" presetClass="entr" presetSubtype="4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