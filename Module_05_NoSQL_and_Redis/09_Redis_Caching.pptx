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A78BFA"/>
                </a:solidFill>
                <a:latin typeface="Calibri"/>
              </a:rPr>
              <a:t>MODULE 07 · NOSQL &amp; REDIS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Redis as a Cache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TTL, eviction and cache patterns - then a real banking app built around them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TTL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LRU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ASIDE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REFRESH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Deck 9  ·  Module 07  ·  NoSQL &amp; Redis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Why Put a Cache in Front of the Database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Most of what a banking dashboard reads, it has read a moment ago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216152"/>
            <a:ext cx="260908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216152"/>
            <a:ext cx="2609088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Reads repeat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SAME QUESTION, AGAIN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Open statement, refresh, open again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Answer is identical until money moves</a:t>
            </a:r>
          </a:p>
        </p:txBody>
      </p:sp>
      <p:sp>
        <p:nvSpPr>
          <p:cNvPr id="12" name="a2u_card11"/>
          <p:cNvSpPr/>
          <p:nvPr/>
        </p:nvSpPr>
        <p:spPr>
          <a:xfrm>
            <a:off x="3267456" y="1216152"/>
            <a:ext cx="260908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3267456" y="1216152"/>
            <a:ext cx="2609088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13"/>
          <p:cNvSpPr/>
          <p:nvPr/>
        </p:nvSpPr>
        <p:spPr>
          <a:xfrm>
            <a:off x="3432048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t14"/>
          <p:cNvSpPr txBox="1"/>
          <p:nvPr/>
        </p:nvSpPr>
        <p:spPr>
          <a:xfrm>
            <a:off x="343204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3432048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RAM beats SQL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3432048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MEASURED ON THIS LAPTOP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3432048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Cache HIT  0.9 ms median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3432048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Cache MISS 3.3 ms (warm, idle DB)</a:t>
            </a:r>
          </a:p>
        </p:txBody>
      </p:sp>
      <p:sp>
        <p:nvSpPr>
          <p:cNvPr id="20" name="a3u_card19"/>
          <p:cNvSpPr/>
          <p:nvPr/>
        </p:nvSpPr>
        <p:spPr>
          <a:xfrm>
            <a:off x="6077712" y="1216152"/>
            <a:ext cx="260908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acc20"/>
          <p:cNvSpPr/>
          <p:nvPr/>
        </p:nvSpPr>
        <p:spPr>
          <a:xfrm>
            <a:off x="6077712" y="1216152"/>
            <a:ext cx="2609088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60_ic21"/>
          <p:cNvSpPr/>
          <p:nvPr/>
        </p:nvSpPr>
        <p:spPr>
          <a:xfrm>
            <a:off x="6242304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60_ict22"/>
          <p:cNvSpPr txBox="1"/>
          <p:nvPr/>
        </p:nvSpPr>
        <p:spPr>
          <a:xfrm>
            <a:off x="624230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a3ud90_ct23"/>
          <p:cNvSpPr txBox="1"/>
          <p:nvPr/>
        </p:nvSpPr>
        <p:spPr>
          <a:xfrm>
            <a:off x="6242304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DB is shared</a:t>
            </a:r>
          </a:p>
        </p:txBody>
      </p:sp>
      <p:sp>
        <p:nvSpPr>
          <p:cNvPr id="25" name="a3ud120_cs24"/>
          <p:cNvSpPr txBox="1"/>
          <p:nvPr/>
        </p:nvSpPr>
        <p:spPr>
          <a:xfrm>
            <a:off x="6242304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PROTECT THE SYSTEM OF RECORD</a:t>
            </a:r>
          </a:p>
        </p:txBody>
      </p:sp>
      <p:sp>
        <p:nvSpPr>
          <p:cNvPr id="26" name="a3ud150_cb25"/>
          <p:cNvSpPr txBox="1"/>
          <p:nvPr/>
        </p:nvSpPr>
        <p:spPr>
          <a:xfrm>
            <a:off x="6242304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Every hit is a query PostgreSQL skips</a:t>
            </a:r>
          </a:p>
        </p:txBody>
      </p:sp>
      <p:sp>
        <p:nvSpPr>
          <p:cNvPr id="27" name="a3ud220_cb26"/>
          <p:cNvSpPr txBox="1"/>
          <p:nvPr/>
        </p:nvSpPr>
        <p:spPr>
          <a:xfrm>
            <a:off x="6242304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Its capacity is kept for the writes</a:t>
            </a:r>
          </a:p>
        </p:txBody>
      </p:sp>
      <p:sp>
        <p:nvSpPr>
          <p:cNvPr id="28" name="a4u_nb27"/>
          <p:cNvSpPr/>
          <p:nvPr/>
        </p:nvSpPr>
        <p:spPr>
          <a:xfrm>
            <a:off x="457200" y="340156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u_nacc28"/>
          <p:cNvSpPr/>
          <p:nvPr/>
        </p:nvSpPr>
        <p:spPr>
          <a:xfrm>
            <a:off x="457200" y="3401568"/>
            <a:ext cx="5029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4u_nt29"/>
          <p:cNvSpPr txBox="1"/>
          <p:nvPr/>
        </p:nvSpPr>
        <p:spPr>
          <a:xfrm>
            <a:off x="658368" y="3401568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NOTE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gap on an idle laptop is 3-4x. On a busy database with millions of rows it is much larger - but the real win is the load that never reaches PostgreSQL at all.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Seven Words to Know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whole vocabulary of caching fits on one slide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1417320" cy="3566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13075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6" name="a1wd90_td5"/>
          <p:cNvSpPr/>
          <p:nvPr/>
        </p:nvSpPr>
        <p:spPr>
          <a:xfrm>
            <a:off x="457200" y="1499616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90_tdt6"/>
          <p:cNvSpPr txBox="1"/>
          <p:nvPr/>
        </p:nvSpPr>
        <p:spPr>
          <a:xfrm>
            <a:off x="530352" y="1499616"/>
            <a:ext cx="13075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Hit</a:t>
            </a:r>
          </a:p>
        </p:txBody>
      </p:sp>
      <p:sp>
        <p:nvSpPr>
          <p:cNvPr id="8" name="a1wd180_td7"/>
          <p:cNvSpPr/>
          <p:nvPr/>
        </p:nvSpPr>
        <p:spPr>
          <a:xfrm>
            <a:off x="457200" y="1856232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80_tdt8"/>
          <p:cNvSpPr txBox="1"/>
          <p:nvPr/>
        </p:nvSpPr>
        <p:spPr>
          <a:xfrm>
            <a:off x="530352" y="1856232"/>
            <a:ext cx="13075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Miss</a:t>
            </a:r>
          </a:p>
        </p:txBody>
      </p:sp>
      <p:sp>
        <p:nvSpPr>
          <p:cNvPr id="10" name="a1wd270_td9"/>
          <p:cNvSpPr/>
          <p:nvPr/>
        </p:nvSpPr>
        <p:spPr>
          <a:xfrm>
            <a:off x="457200" y="2212848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70_tdt10"/>
          <p:cNvSpPr txBox="1"/>
          <p:nvPr/>
        </p:nvSpPr>
        <p:spPr>
          <a:xfrm>
            <a:off x="530352" y="2212848"/>
            <a:ext cx="13075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TTL</a:t>
            </a:r>
          </a:p>
        </p:txBody>
      </p:sp>
      <p:sp>
        <p:nvSpPr>
          <p:cNvPr id="12" name="a1wd360_td11"/>
          <p:cNvSpPr/>
          <p:nvPr/>
        </p:nvSpPr>
        <p:spPr>
          <a:xfrm>
            <a:off x="457200" y="2569464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60_tdt12"/>
          <p:cNvSpPr txBox="1"/>
          <p:nvPr/>
        </p:nvSpPr>
        <p:spPr>
          <a:xfrm>
            <a:off x="530352" y="2569464"/>
            <a:ext cx="13075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Expiry</a:t>
            </a:r>
          </a:p>
        </p:txBody>
      </p:sp>
      <p:sp>
        <p:nvSpPr>
          <p:cNvPr id="14" name="a1wd450_td13"/>
          <p:cNvSpPr/>
          <p:nvPr/>
        </p:nvSpPr>
        <p:spPr>
          <a:xfrm>
            <a:off x="457200" y="2926080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50_tdt14"/>
          <p:cNvSpPr txBox="1"/>
          <p:nvPr/>
        </p:nvSpPr>
        <p:spPr>
          <a:xfrm>
            <a:off x="530352" y="2926080"/>
            <a:ext cx="13075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Eviction</a:t>
            </a:r>
          </a:p>
        </p:txBody>
      </p:sp>
      <p:sp>
        <p:nvSpPr>
          <p:cNvPr id="16" name="a1wd540_td15"/>
          <p:cNvSpPr/>
          <p:nvPr/>
        </p:nvSpPr>
        <p:spPr>
          <a:xfrm>
            <a:off x="457200" y="3282696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540_tdt16"/>
          <p:cNvSpPr txBox="1"/>
          <p:nvPr/>
        </p:nvSpPr>
        <p:spPr>
          <a:xfrm>
            <a:off x="530352" y="3282696"/>
            <a:ext cx="13075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Invalidation</a:t>
            </a:r>
          </a:p>
        </p:txBody>
      </p:sp>
      <p:sp>
        <p:nvSpPr>
          <p:cNvPr id="18" name="a1wd630_td17"/>
          <p:cNvSpPr/>
          <p:nvPr/>
        </p:nvSpPr>
        <p:spPr>
          <a:xfrm>
            <a:off x="457200" y="3639312"/>
            <a:ext cx="1417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630_tdt18"/>
          <p:cNvSpPr txBox="1"/>
          <p:nvPr/>
        </p:nvSpPr>
        <p:spPr>
          <a:xfrm>
            <a:off x="530352" y="3639312"/>
            <a:ext cx="13075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Hit ratio</a:t>
            </a:r>
          </a:p>
        </p:txBody>
      </p:sp>
      <p:sp>
        <p:nvSpPr>
          <p:cNvPr id="20" name="a1f_th19"/>
          <p:cNvSpPr/>
          <p:nvPr/>
        </p:nvSpPr>
        <p:spPr>
          <a:xfrm>
            <a:off x="1874519" y="1143000"/>
            <a:ext cx="3977639" cy="35661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f_tht20"/>
          <p:cNvSpPr txBox="1"/>
          <p:nvPr/>
        </p:nvSpPr>
        <p:spPr>
          <a:xfrm>
            <a:off x="1947672" y="1143000"/>
            <a:ext cx="386791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22" name="a1wd90_td21"/>
          <p:cNvSpPr/>
          <p:nvPr/>
        </p:nvSpPr>
        <p:spPr>
          <a:xfrm>
            <a:off x="1874519" y="1499616"/>
            <a:ext cx="397763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90_tdt22"/>
          <p:cNvSpPr txBox="1"/>
          <p:nvPr/>
        </p:nvSpPr>
        <p:spPr>
          <a:xfrm>
            <a:off x="1947672" y="1499616"/>
            <a:ext cx="386791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answer was already in the cache</a:t>
            </a:r>
          </a:p>
        </p:txBody>
      </p:sp>
      <p:sp>
        <p:nvSpPr>
          <p:cNvPr id="24" name="a1wd180_td23"/>
          <p:cNvSpPr/>
          <p:nvPr/>
        </p:nvSpPr>
        <p:spPr>
          <a:xfrm>
            <a:off x="1874519" y="1856232"/>
            <a:ext cx="397763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180_tdt24"/>
          <p:cNvSpPr txBox="1"/>
          <p:nvPr/>
        </p:nvSpPr>
        <p:spPr>
          <a:xfrm>
            <a:off x="1947672" y="1856232"/>
            <a:ext cx="386791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Not cached - load from the DB, then store it</a:t>
            </a:r>
          </a:p>
        </p:txBody>
      </p:sp>
      <p:sp>
        <p:nvSpPr>
          <p:cNvPr id="26" name="a1wd270_td25"/>
          <p:cNvSpPr/>
          <p:nvPr/>
        </p:nvSpPr>
        <p:spPr>
          <a:xfrm>
            <a:off x="1874519" y="2212848"/>
            <a:ext cx="397763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270_tdt26"/>
          <p:cNvSpPr txBox="1"/>
          <p:nvPr/>
        </p:nvSpPr>
        <p:spPr>
          <a:xfrm>
            <a:off x="1947672" y="2212848"/>
            <a:ext cx="386791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Seconds until Redis deletes the key by itself</a:t>
            </a:r>
          </a:p>
        </p:txBody>
      </p:sp>
      <p:sp>
        <p:nvSpPr>
          <p:cNvPr id="28" name="a1wd360_td27"/>
          <p:cNvSpPr/>
          <p:nvPr/>
        </p:nvSpPr>
        <p:spPr>
          <a:xfrm>
            <a:off x="1874519" y="2569464"/>
            <a:ext cx="397763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360_tdt28"/>
          <p:cNvSpPr txBox="1"/>
          <p:nvPr/>
        </p:nvSpPr>
        <p:spPr>
          <a:xfrm>
            <a:off x="1947672" y="2569464"/>
            <a:ext cx="386791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Removed because its TTL ran out</a:t>
            </a:r>
          </a:p>
        </p:txBody>
      </p:sp>
      <p:sp>
        <p:nvSpPr>
          <p:cNvPr id="30" name="a1wd450_td29"/>
          <p:cNvSpPr/>
          <p:nvPr/>
        </p:nvSpPr>
        <p:spPr>
          <a:xfrm>
            <a:off x="1874519" y="2926080"/>
            <a:ext cx="397763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450_tdt30"/>
          <p:cNvSpPr txBox="1"/>
          <p:nvPr/>
        </p:nvSpPr>
        <p:spPr>
          <a:xfrm>
            <a:off x="1947672" y="2926080"/>
            <a:ext cx="386791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Removed because memory is full</a:t>
            </a:r>
          </a:p>
        </p:txBody>
      </p:sp>
      <p:sp>
        <p:nvSpPr>
          <p:cNvPr id="32" name="a1wd540_td31"/>
          <p:cNvSpPr/>
          <p:nvPr/>
        </p:nvSpPr>
        <p:spPr>
          <a:xfrm>
            <a:off x="1874519" y="3282696"/>
            <a:ext cx="397763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540_tdt32"/>
          <p:cNvSpPr txBox="1"/>
          <p:nvPr/>
        </p:nvSpPr>
        <p:spPr>
          <a:xfrm>
            <a:off x="1947672" y="3282696"/>
            <a:ext cx="386791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Removed by the app because the data changed</a:t>
            </a:r>
          </a:p>
        </p:txBody>
      </p:sp>
      <p:sp>
        <p:nvSpPr>
          <p:cNvPr id="34" name="a1wd630_td33"/>
          <p:cNvSpPr/>
          <p:nvPr/>
        </p:nvSpPr>
        <p:spPr>
          <a:xfrm>
            <a:off x="1874519" y="3639312"/>
            <a:ext cx="397763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630_tdt34"/>
          <p:cNvSpPr txBox="1"/>
          <p:nvPr/>
        </p:nvSpPr>
        <p:spPr>
          <a:xfrm>
            <a:off x="1947672" y="3639312"/>
            <a:ext cx="3867911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hits / (hits + misses)</a:t>
            </a:r>
          </a:p>
        </p:txBody>
      </p:sp>
      <p:sp>
        <p:nvSpPr>
          <p:cNvPr id="36" name="a1f_th35"/>
          <p:cNvSpPr/>
          <p:nvPr/>
        </p:nvSpPr>
        <p:spPr>
          <a:xfrm>
            <a:off x="5852159" y="1143000"/>
            <a:ext cx="2834640" cy="35661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f_tht36"/>
          <p:cNvSpPr txBox="1"/>
          <p:nvPr/>
        </p:nvSpPr>
        <p:spPr>
          <a:xfrm>
            <a:off x="5925312" y="1143000"/>
            <a:ext cx="272491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Where you see it in Redis</a:t>
            </a:r>
          </a:p>
        </p:txBody>
      </p:sp>
      <p:sp>
        <p:nvSpPr>
          <p:cNvPr id="38" name="a1wd90_td37"/>
          <p:cNvSpPr/>
          <p:nvPr/>
        </p:nvSpPr>
        <p:spPr>
          <a:xfrm>
            <a:off x="5852159" y="1499616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90_tdt38"/>
          <p:cNvSpPr txBox="1"/>
          <p:nvPr/>
        </p:nvSpPr>
        <p:spPr>
          <a:xfrm>
            <a:off x="5925312" y="1499616"/>
            <a:ext cx="272491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GET returns a value · keyspace_hits</a:t>
            </a:r>
          </a:p>
        </p:txBody>
      </p:sp>
      <p:sp>
        <p:nvSpPr>
          <p:cNvPr id="40" name="a1wd180_td39"/>
          <p:cNvSpPr/>
          <p:nvPr/>
        </p:nvSpPr>
        <p:spPr>
          <a:xfrm>
            <a:off x="5852159" y="1856232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180_tdt40"/>
          <p:cNvSpPr txBox="1"/>
          <p:nvPr/>
        </p:nvSpPr>
        <p:spPr>
          <a:xfrm>
            <a:off x="5925312" y="1856232"/>
            <a:ext cx="272491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GET returns (nil) · keyspace_misses</a:t>
            </a:r>
          </a:p>
        </p:txBody>
      </p:sp>
      <p:sp>
        <p:nvSpPr>
          <p:cNvPr id="42" name="a1wd270_td41"/>
          <p:cNvSpPr/>
          <p:nvPr/>
        </p:nvSpPr>
        <p:spPr>
          <a:xfrm>
            <a:off x="5852159" y="2212848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270_tdt42"/>
          <p:cNvSpPr txBox="1"/>
          <p:nvPr/>
        </p:nvSpPr>
        <p:spPr>
          <a:xfrm>
            <a:off x="5925312" y="2212848"/>
            <a:ext cx="272491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SET k v EX 300 · TTL k</a:t>
            </a:r>
          </a:p>
        </p:txBody>
      </p:sp>
      <p:sp>
        <p:nvSpPr>
          <p:cNvPr id="44" name="a1wd360_td43"/>
          <p:cNvSpPr/>
          <p:nvPr/>
        </p:nvSpPr>
        <p:spPr>
          <a:xfrm>
            <a:off x="5852159" y="2569464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360_tdt44"/>
          <p:cNvSpPr txBox="1"/>
          <p:nvPr/>
        </p:nvSpPr>
        <p:spPr>
          <a:xfrm>
            <a:off x="5925312" y="2569464"/>
            <a:ext cx="272491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expired_keys</a:t>
            </a:r>
          </a:p>
        </p:txBody>
      </p:sp>
      <p:sp>
        <p:nvSpPr>
          <p:cNvPr id="46" name="a1wd450_td45"/>
          <p:cNvSpPr/>
          <p:nvPr/>
        </p:nvSpPr>
        <p:spPr>
          <a:xfrm>
            <a:off x="5852159" y="2926080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450_tdt46"/>
          <p:cNvSpPr txBox="1"/>
          <p:nvPr/>
        </p:nvSpPr>
        <p:spPr>
          <a:xfrm>
            <a:off x="5925312" y="2926080"/>
            <a:ext cx="272491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maxmemory-policy · evicted_keys</a:t>
            </a:r>
          </a:p>
        </p:txBody>
      </p:sp>
      <p:sp>
        <p:nvSpPr>
          <p:cNvPr id="48" name="a1wd540_td47"/>
          <p:cNvSpPr/>
          <p:nvPr/>
        </p:nvSpPr>
        <p:spPr>
          <a:xfrm>
            <a:off x="5852159" y="3282696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540_tdt48"/>
          <p:cNvSpPr txBox="1"/>
          <p:nvPr/>
        </p:nvSpPr>
        <p:spPr>
          <a:xfrm>
            <a:off x="5925312" y="3282696"/>
            <a:ext cx="272491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DEL k · UNLINK k</a:t>
            </a:r>
          </a:p>
        </p:txBody>
      </p:sp>
      <p:sp>
        <p:nvSpPr>
          <p:cNvPr id="50" name="a1wd630_td49"/>
          <p:cNvSpPr/>
          <p:nvPr/>
        </p:nvSpPr>
        <p:spPr>
          <a:xfrm>
            <a:off x="5852159" y="3639312"/>
            <a:ext cx="2834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630_tdt50"/>
          <p:cNvSpPr txBox="1"/>
          <p:nvPr/>
        </p:nvSpPr>
        <p:spPr>
          <a:xfrm>
            <a:off x="5925312" y="3639312"/>
            <a:ext cx="272491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INFO stats</a:t>
            </a:r>
          </a:p>
        </p:txBody>
      </p:sp>
      <p:sp>
        <p:nvSpPr>
          <p:cNvPr id="52" name="ft5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3" name="ft5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Cache Commands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Keys with a lifetime, cache-aside by hand, invalidation and expiry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SET EX · TTL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KEEPTTL · GETEX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DEL · UNLINK · SCAN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Lazy + active expiry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Key With a Lifetime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EX sets the TTL at write time - TTL reads it back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572000" cy="2743200"/>
          </a:xfrm>
          <a:prstGeom prst="roundRect">
            <a:avLst>
              <a:gd name="adj" fmla="val 26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66928" y="1197864"/>
            <a:ext cx="43525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Redis 7.4.11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66928" y="1527048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SET bank:bal:602501000101 111053.04 EX 60</a:t>
            </a:r>
          </a:p>
        </p:txBody>
      </p:sp>
      <p:sp>
        <p:nvSpPr>
          <p:cNvPr id="7" name="a1wd70_code6"/>
          <p:cNvSpPr txBox="1"/>
          <p:nvPr/>
        </p:nvSpPr>
        <p:spPr>
          <a:xfrm>
            <a:off x="566928" y="1714500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OK</a:t>
            </a:r>
          </a:p>
        </p:txBody>
      </p:sp>
      <p:sp>
        <p:nvSpPr>
          <p:cNvPr id="8" name="a1wd140_code7"/>
          <p:cNvSpPr txBox="1"/>
          <p:nvPr/>
        </p:nvSpPr>
        <p:spPr>
          <a:xfrm>
            <a:off x="566928" y="1901952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TTL bank:bal:602501000101</a:t>
            </a:r>
          </a:p>
        </p:txBody>
      </p:sp>
      <p:sp>
        <p:nvSpPr>
          <p:cNvPr id="9" name="a1wd210_code8"/>
          <p:cNvSpPr txBox="1"/>
          <p:nvPr/>
        </p:nvSpPr>
        <p:spPr>
          <a:xfrm>
            <a:off x="566928" y="2089404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59</a:t>
            </a:r>
          </a:p>
        </p:txBody>
      </p:sp>
      <p:sp>
        <p:nvSpPr>
          <p:cNvPr id="10" name="a1wd280_code9"/>
          <p:cNvSpPr txBox="1"/>
          <p:nvPr/>
        </p:nvSpPr>
        <p:spPr>
          <a:xfrm>
            <a:off x="566928" y="2276856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EXPIRE bank:bal:602501000101 300</a:t>
            </a:r>
          </a:p>
        </p:txBody>
      </p:sp>
      <p:sp>
        <p:nvSpPr>
          <p:cNvPr id="11" name="a1wd350_code10"/>
          <p:cNvSpPr txBox="1"/>
          <p:nvPr/>
        </p:nvSpPr>
        <p:spPr>
          <a:xfrm>
            <a:off x="566928" y="2464308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1</a:t>
            </a:r>
          </a:p>
        </p:txBody>
      </p:sp>
      <p:sp>
        <p:nvSpPr>
          <p:cNvPr id="12" name="a1wd420_code11"/>
          <p:cNvSpPr txBox="1"/>
          <p:nvPr/>
        </p:nvSpPr>
        <p:spPr>
          <a:xfrm>
            <a:off x="566928" y="2651760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PERSIST bank:bal:602501000101</a:t>
            </a:r>
          </a:p>
        </p:txBody>
      </p:sp>
      <p:sp>
        <p:nvSpPr>
          <p:cNvPr id="13" name="a1wd490_code12"/>
          <p:cNvSpPr txBox="1"/>
          <p:nvPr/>
        </p:nvSpPr>
        <p:spPr>
          <a:xfrm>
            <a:off x="566928" y="2839211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1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566928" y="3026663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TTL bank:bal:602501000101</a:t>
            </a:r>
          </a:p>
        </p:txBody>
      </p:sp>
      <p:sp>
        <p:nvSpPr>
          <p:cNvPr id="15" name="a1wd630_code14"/>
          <p:cNvSpPr txBox="1"/>
          <p:nvPr/>
        </p:nvSpPr>
        <p:spPr>
          <a:xfrm>
            <a:off x="566928" y="3214115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-1</a:t>
            </a:r>
          </a:p>
        </p:txBody>
      </p:sp>
      <p:sp>
        <p:nvSpPr>
          <p:cNvPr id="16" name="a1wd700_code15"/>
          <p:cNvSpPr txBox="1"/>
          <p:nvPr/>
        </p:nvSpPr>
        <p:spPr>
          <a:xfrm>
            <a:off x="566928" y="3401568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TTL bank:nosuchkey</a:t>
            </a:r>
          </a:p>
        </p:txBody>
      </p:sp>
      <p:sp>
        <p:nvSpPr>
          <p:cNvPr id="17" name="a1wd770_code16"/>
          <p:cNvSpPr txBox="1"/>
          <p:nvPr/>
        </p:nvSpPr>
        <p:spPr>
          <a:xfrm>
            <a:off x="566928" y="3589020"/>
            <a:ext cx="43525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-2</a:t>
            </a:r>
          </a:p>
        </p:txBody>
      </p:sp>
      <p:sp>
        <p:nvSpPr>
          <p:cNvPr id="18" name="a2f_th17"/>
          <p:cNvSpPr/>
          <p:nvPr/>
        </p:nvSpPr>
        <p:spPr>
          <a:xfrm>
            <a:off x="5257800" y="1143000"/>
            <a:ext cx="109728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tht18"/>
          <p:cNvSpPr txBox="1"/>
          <p:nvPr/>
        </p:nvSpPr>
        <p:spPr>
          <a:xfrm>
            <a:off x="5330952" y="1143000"/>
            <a:ext cx="987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TTL returns</a:t>
            </a:r>
          </a:p>
        </p:txBody>
      </p:sp>
      <p:sp>
        <p:nvSpPr>
          <p:cNvPr id="20" name="a2wd120_td19"/>
          <p:cNvSpPr/>
          <p:nvPr/>
        </p:nvSpPr>
        <p:spPr>
          <a:xfrm>
            <a:off x="5257800" y="152704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120_tdt20"/>
          <p:cNvSpPr txBox="1"/>
          <p:nvPr/>
        </p:nvSpPr>
        <p:spPr>
          <a:xfrm>
            <a:off x="5330952" y="1527048"/>
            <a:ext cx="987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n &gt; 0</a:t>
            </a:r>
          </a:p>
        </p:txBody>
      </p:sp>
      <p:sp>
        <p:nvSpPr>
          <p:cNvPr id="22" name="a2wd240_td21"/>
          <p:cNvSpPr/>
          <p:nvPr/>
        </p:nvSpPr>
        <p:spPr>
          <a:xfrm>
            <a:off x="5257800" y="1911095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240_tdt22"/>
          <p:cNvSpPr txBox="1"/>
          <p:nvPr/>
        </p:nvSpPr>
        <p:spPr>
          <a:xfrm>
            <a:off x="5330952" y="1911095"/>
            <a:ext cx="987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-1</a:t>
            </a:r>
          </a:p>
        </p:txBody>
      </p:sp>
      <p:sp>
        <p:nvSpPr>
          <p:cNvPr id="24" name="a2wd360_td23"/>
          <p:cNvSpPr/>
          <p:nvPr/>
        </p:nvSpPr>
        <p:spPr>
          <a:xfrm>
            <a:off x="5257800" y="2295144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360_tdt24"/>
          <p:cNvSpPr txBox="1"/>
          <p:nvPr/>
        </p:nvSpPr>
        <p:spPr>
          <a:xfrm>
            <a:off x="5330952" y="2295144"/>
            <a:ext cx="987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-2</a:t>
            </a:r>
          </a:p>
        </p:txBody>
      </p:sp>
      <p:sp>
        <p:nvSpPr>
          <p:cNvPr id="26" name="a2f_th25"/>
          <p:cNvSpPr/>
          <p:nvPr/>
        </p:nvSpPr>
        <p:spPr>
          <a:xfrm>
            <a:off x="6355080" y="1143000"/>
            <a:ext cx="233172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f_tht26"/>
          <p:cNvSpPr txBox="1"/>
          <p:nvPr/>
        </p:nvSpPr>
        <p:spPr>
          <a:xfrm>
            <a:off x="6428232" y="1143000"/>
            <a:ext cx="222199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28" name="a2wd120_td27"/>
          <p:cNvSpPr/>
          <p:nvPr/>
        </p:nvSpPr>
        <p:spPr>
          <a:xfrm>
            <a:off x="6355080" y="1527048"/>
            <a:ext cx="2331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120_tdt28"/>
          <p:cNvSpPr txBox="1"/>
          <p:nvPr/>
        </p:nvSpPr>
        <p:spPr>
          <a:xfrm>
            <a:off x="6428232" y="1527048"/>
            <a:ext cx="222199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Expires in n seconds</a:t>
            </a:r>
          </a:p>
        </p:txBody>
      </p:sp>
      <p:sp>
        <p:nvSpPr>
          <p:cNvPr id="30" name="a2wd240_td29"/>
          <p:cNvSpPr/>
          <p:nvPr/>
        </p:nvSpPr>
        <p:spPr>
          <a:xfrm>
            <a:off x="6355080" y="1911095"/>
            <a:ext cx="2331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240_tdt30"/>
          <p:cNvSpPr txBox="1"/>
          <p:nvPr/>
        </p:nvSpPr>
        <p:spPr>
          <a:xfrm>
            <a:off x="6428232" y="1911095"/>
            <a:ext cx="222199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Exists, never expires - a bug in a cache</a:t>
            </a:r>
          </a:p>
        </p:txBody>
      </p:sp>
      <p:sp>
        <p:nvSpPr>
          <p:cNvPr id="32" name="a2wd360_td31"/>
          <p:cNvSpPr/>
          <p:nvPr/>
        </p:nvSpPr>
        <p:spPr>
          <a:xfrm>
            <a:off x="6355080" y="2295144"/>
            <a:ext cx="2331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360_tdt32"/>
          <p:cNvSpPr txBox="1"/>
          <p:nvPr/>
        </p:nvSpPr>
        <p:spPr>
          <a:xfrm>
            <a:off x="6428232" y="2295144"/>
            <a:ext cx="222199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Does not exist (expired, evicted, deleted)</a:t>
            </a:r>
          </a:p>
        </p:txBody>
      </p:sp>
      <p:sp>
        <p:nvSpPr>
          <p:cNvPr id="34" name="a3u_nb33"/>
          <p:cNvSpPr/>
          <p:nvPr/>
        </p:nvSpPr>
        <p:spPr>
          <a:xfrm>
            <a:off x="5257800" y="2907791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nacc34"/>
          <p:cNvSpPr/>
          <p:nvPr/>
        </p:nvSpPr>
        <p:spPr>
          <a:xfrm>
            <a:off x="5257800" y="2907791"/>
            <a:ext cx="50292" cy="868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u_nt35"/>
          <p:cNvSpPr txBox="1"/>
          <p:nvPr/>
        </p:nvSpPr>
        <p:spPr>
          <a:xfrm>
            <a:off x="5458968" y="2907791"/>
            <a:ext cx="302666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RULE  </a:t>
            </a:r>
            <a:r>
              <a:rPr sz="1000" b="0">
                <a:solidFill>
                  <a:srgbClr val="334155"/>
                </a:solidFill>
                <a:latin typeface="Calibri"/>
              </a:rPr>
              <a:t>Every cache write carries an expiry. The TTL is the safety net that bounds staleness even when invalidation is forgotten.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Overwrite Trap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A plain SET on an existing key silently removes its TTL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2478024"/>
          </a:xfrm>
          <a:prstGeom prst="roundRect">
            <a:avLst>
              <a:gd name="adj" fmla="val 2952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127.0.0.1:6379&gt; EXPIRE bank:bal:602501000101 120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76072" y="1732788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(integer) 1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76072" y="1929384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127.0.0.1:6379&gt; SET bank:bal:602501000101 108453.04 KEEPTTL      # update the value, keep the clock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76072" y="2125980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OK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76072" y="2322576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127.0.0.1:6379&gt; TTL bank:bal:602501000101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76072" y="2519172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(integer) 119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576072" y="2715768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127.0.0.1:6379&gt; SET bank:bal:602501000101 999 NX                 # only if missing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576072" y="2912364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(nil)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576072" y="3108960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127.0.0.1:6379&gt; GETEX bank:bal:602501000101 EX 600               # read + re-arm (sliding TTL)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576072" y="3305556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"108453.04"</a:t>
            </a:r>
          </a:p>
        </p:txBody>
      </p:sp>
      <p:sp>
        <p:nvSpPr>
          <p:cNvPr id="16" name="a2u_pill15"/>
          <p:cNvSpPr/>
          <p:nvPr/>
        </p:nvSpPr>
        <p:spPr>
          <a:xfrm>
            <a:off x="457200" y="3785615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E2E8F0"/>
                </a:solidFill>
                <a:latin typeface="Courier New"/>
              </a:rPr>
              <a:t>EX seconds</a:t>
            </a:r>
          </a:p>
        </p:txBody>
      </p:sp>
      <p:sp>
        <p:nvSpPr>
          <p:cNvPr id="17" name="a2ud90_pill16"/>
          <p:cNvSpPr/>
          <p:nvPr/>
        </p:nvSpPr>
        <p:spPr>
          <a:xfrm>
            <a:off x="1828800" y="3785615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E2E8F0"/>
                </a:solidFill>
                <a:latin typeface="Courier New"/>
              </a:rPr>
              <a:t>PX millis</a:t>
            </a:r>
          </a:p>
        </p:txBody>
      </p:sp>
      <p:sp>
        <p:nvSpPr>
          <p:cNvPr id="18" name="a2ud180_pill17"/>
          <p:cNvSpPr/>
          <p:nvPr/>
        </p:nvSpPr>
        <p:spPr>
          <a:xfrm>
            <a:off x="3200400" y="3785615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E2E8F0"/>
                </a:solidFill>
                <a:latin typeface="Courier New"/>
              </a:rPr>
              <a:t>NX if absent</a:t>
            </a:r>
          </a:p>
        </p:txBody>
      </p:sp>
      <p:sp>
        <p:nvSpPr>
          <p:cNvPr id="19" name="a2ud270_pill18"/>
          <p:cNvSpPr/>
          <p:nvPr/>
        </p:nvSpPr>
        <p:spPr>
          <a:xfrm>
            <a:off x="4572000" y="3785615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E2E8F0"/>
                </a:solidFill>
                <a:latin typeface="Courier New"/>
              </a:rPr>
              <a:t>XX if present</a:t>
            </a:r>
          </a:p>
        </p:txBody>
      </p:sp>
      <p:sp>
        <p:nvSpPr>
          <p:cNvPr id="20" name="a2ud360_pill19"/>
          <p:cNvSpPr/>
          <p:nvPr/>
        </p:nvSpPr>
        <p:spPr>
          <a:xfrm>
            <a:off x="5943600" y="3785615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E2E8F0"/>
                </a:solidFill>
                <a:latin typeface="Courier New"/>
              </a:rPr>
              <a:t>KEEPTTL</a:t>
            </a:r>
          </a:p>
        </p:txBody>
      </p:sp>
      <p:sp>
        <p:nvSpPr>
          <p:cNvPr id="21" name="a2ud450_pill20"/>
          <p:cNvSpPr/>
          <p:nvPr/>
        </p:nvSpPr>
        <p:spPr>
          <a:xfrm>
            <a:off x="7315200" y="3785615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E2E8F0"/>
                </a:solidFill>
                <a:latin typeface="Courier New"/>
              </a:rPr>
              <a:t>GETEX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Cache-Aside, by Hand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application - not Redis - fills the cache, one miss at a time</a:t>
            </a:r>
          </a:p>
        </p:txBody>
      </p:sp>
      <p:sp>
        <p:nvSpPr>
          <p:cNvPr id="4" name="a1u_n3"/>
          <p:cNvSpPr/>
          <p:nvPr/>
        </p:nvSpPr>
        <p:spPr>
          <a:xfrm>
            <a:off x="457200" y="117043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nt4"/>
          <p:cNvSpPr txBox="1"/>
          <p:nvPr/>
        </p:nvSpPr>
        <p:spPr>
          <a:xfrm>
            <a:off x="457200" y="11704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a1u_nb5"/>
          <p:cNvSpPr txBox="1"/>
          <p:nvPr/>
        </p:nvSpPr>
        <p:spPr>
          <a:xfrm>
            <a:off x="1060704" y="1124712"/>
            <a:ext cx="268833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Look in Redis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GET key</a:t>
            </a:r>
          </a:p>
        </p:txBody>
      </p:sp>
      <p:sp>
        <p:nvSpPr>
          <p:cNvPr id="7" name="a1ud150_n6"/>
          <p:cNvSpPr/>
          <p:nvPr/>
        </p:nvSpPr>
        <p:spPr>
          <a:xfrm>
            <a:off x="457200" y="18470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150_nt7"/>
          <p:cNvSpPr txBox="1"/>
          <p:nvPr/>
        </p:nvSpPr>
        <p:spPr>
          <a:xfrm>
            <a:off x="457200" y="18470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a1ud150_nb8"/>
          <p:cNvSpPr txBox="1"/>
          <p:nvPr/>
        </p:nvSpPr>
        <p:spPr>
          <a:xfrm>
            <a:off x="1060704" y="1801368"/>
            <a:ext cx="268833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Miss? Ask PostgreSQL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SELECT ... LIMIT 50</a:t>
            </a:r>
          </a:p>
        </p:txBody>
      </p:sp>
      <p:sp>
        <p:nvSpPr>
          <p:cNvPr id="10" name="a1ud300_n9"/>
          <p:cNvSpPr/>
          <p:nvPr/>
        </p:nvSpPr>
        <p:spPr>
          <a:xfrm>
            <a:off x="457200" y="252374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ud300_nt10"/>
          <p:cNvSpPr txBox="1"/>
          <p:nvPr/>
        </p:nvSpPr>
        <p:spPr>
          <a:xfrm>
            <a:off x="457200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a1ud300_nb11"/>
          <p:cNvSpPr txBox="1"/>
          <p:nvPr/>
        </p:nvSpPr>
        <p:spPr>
          <a:xfrm>
            <a:off x="1060704" y="2478024"/>
            <a:ext cx="268833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Store with a TTL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SET key json EX 300</a:t>
            </a:r>
          </a:p>
        </p:txBody>
      </p:sp>
      <p:sp>
        <p:nvSpPr>
          <p:cNvPr id="13" name="a1ud450_n12"/>
          <p:cNvSpPr/>
          <p:nvPr/>
        </p:nvSpPr>
        <p:spPr>
          <a:xfrm>
            <a:off x="457200" y="320040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450_nt13"/>
          <p:cNvSpPr txBox="1"/>
          <p:nvPr/>
        </p:nvSpPr>
        <p:spPr>
          <a:xfrm>
            <a:off x="457200" y="32004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a1ud450_nb14"/>
          <p:cNvSpPr txBox="1"/>
          <p:nvPr/>
        </p:nvSpPr>
        <p:spPr>
          <a:xfrm>
            <a:off x="1060704" y="3154680"/>
            <a:ext cx="268833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Next time: hit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GET key returns the JSON</a:t>
            </a:r>
          </a:p>
        </p:txBody>
      </p:sp>
      <p:sp>
        <p:nvSpPr>
          <p:cNvPr id="16" name="a2f_codebg15"/>
          <p:cNvSpPr/>
          <p:nvPr/>
        </p:nvSpPr>
        <p:spPr>
          <a:xfrm>
            <a:off x="4023360" y="1170432"/>
            <a:ext cx="4663440" cy="2281428"/>
          </a:xfrm>
          <a:prstGeom prst="roundRect">
            <a:avLst>
              <a:gd name="adj" fmla="val 320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codeh16"/>
          <p:cNvSpPr txBox="1"/>
          <p:nvPr/>
        </p:nvSpPr>
        <p:spPr>
          <a:xfrm>
            <a:off x="4142232" y="1225296"/>
            <a:ext cx="44256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the same steps the Horizon Bank API runs</a:t>
            </a:r>
          </a:p>
        </p:txBody>
      </p:sp>
      <p:sp>
        <p:nvSpPr>
          <p:cNvPr id="18" name="a2w_code17"/>
          <p:cNvSpPr txBox="1"/>
          <p:nvPr/>
        </p:nvSpPr>
        <p:spPr>
          <a:xfrm>
            <a:off x="4142232" y="1563624"/>
            <a:ext cx="44256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GET bank:txns:602501000101</a:t>
            </a:r>
          </a:p>
        </p:txBody>
      </p:sp>
      <p:sp>
        <p:nvSpPr>
          <p:cNvPr id="19" name="a2wd90_code18"/>
          <p:cNvSpPr txBox="1"/>
          <p:nvPr/>
        </p:nvSpPr>
        <p:spPr>
          <a:xfrm>
            <a:off x="4142232" y="1760220"/>
            <a:ext cx="44256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FCA5A5"/>
                </a:solidFill>
                <a:latin typeface="Courier New"/>
              </a:rPr>
              <a:t>(nil)                          &lt;- MISS</a:t>
            </a:r>
          </a:p>
        </p:txBody>
      </p:sp>
      <p:sp>
        <p:nvSpPr>
          <p:cNvPr id="20" name="a2wd180_code19"/>
          <p:cNvSpPr txBox="1"/>
          <p:nvPr/>
        </p:nvSpPr>
        <p:spPr>
          <a:xfrm>
            <a:off x="4142232" y="1956816"/>
            <a:ext cx="44256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64748B"/>
                </a:solidFill>
                <a:latin typeface="Courier New"/>
              </a:rPr>
              <a:t># app runs the SQL, then:</a:t>
            </a:r>
          </a:p>
        </p:txBody>
      </p:sp>
      <p:sp>
        <p:nvSpPr>
          <p:cNvPr id="21" name="a2wd270_code20"/>
          <p:cNvSpPr txBox="1"/>
          <p:nvPr/>
        </p:nvSpPr>
        <p:spPr>
          <a:xfrm>
            <a:off x="4142232" y="2153412"/>
            <a:ext cx="44256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SET bank:txns:602501000101 '[{...}]' EX 300</a:t>
            </a:r>
          </a:p>
        </p:txBody>
      </p:sp>
      <p:sp>
        <p:nvSpPr>
          <p:cNvPr id="22" name="a2wd360_code21"/>
          <p:cNvSpPr txBox="1"/>
          <p:nvPr/>
        </p:nvSpPr>
        <p:spPr>
          <a:xfrm>
            <a:off x="4142232" y="2350008"/>
            <a:ext cx="44256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OK</a:t>
            </a:r>
          </a:p>
        </p:txBody>
      </p:sp>
      <p:sp>
        <p:nvSpPr>
          <p:cNvPr id="23" name="a2wd450_code22"/>
          <p:cNvSpPr txBox="1"/>
          <p:nvPr/>
        </p:nvSpPr>
        <p:spPr>
          <a:xfrm>
            <a:off x="4142232" y="2546604"/>
            <a:ext cx="44256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GET bank:txns:602501000101</a:t>
            </a:r>
          </a:p>
        </p:txBody>
      </p:sp>
      <p:sp>
        <p:nvSpPr>
          <p:cNvPr id="24" name="a2wd540_code23"/>
          <p:cNvSpPr txBox="1"/>
          <p:nvPr/>
        </p:nvSpPr>
        <p:spPr>
          <a:xfrm>
            <a:off x="4142232" y="2743200"/>
            <a:ext cx="44256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86EFAC"/>
                </a:solidFill>
                <a:latin typeface="Courier New"/>
              </a:rPr>
              <a:t>"[{\"txnId\":91,...}]"          &lt;- HIT</a:t>
            </a:r>
          </a:p>
        </p:txBody>
      </p:sp>
      <p:sp>
        <p:nvSpPr>
          <p:cNvPr id="25" name="a2wd630_code24"/>
          <p:cNvSpPr txBox="1"/>
          <p:nvPr/>
        </p:nvSpPr>
        <p:spPr>
          <a:xfrm>
            <a:off x="4142232" y="2939796"/>
            <a:ext cx="44256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TTL bank:txns:602501000101</a:t>
            </a:r>
          </a:p>
        </p:txBody>
      </p:sp>
      <p:sp>
        <p:nvSpPr>
          <p:cNvPr id="26" name="a2wd720_code25"/>
          <p:cNvSpPr txBox="1"/>
          <p:nvPr/>
        </p:nvSpPr>
        <p:spPr>
          <a:xfrm>
            <a:off x="4142232" y="3136391"/>
            <a:ext cx="44256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299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Invalidation - Removing What Changed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Delete the key; the next read is a miss and reloads fresh data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2180844"/>
          </a:xfrm>
          <a:prstGeom prst="roundRect">
            <a:avLst>
              <a:gd name="adj" fmla="val 335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66928" y="1197864"/>
            <a:ext cx="394106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66928" y="1527048"/>
            <a:ext cx="394106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DEL bank:txns:602501000101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66928" y="1714500"/>
            <a:ext cx="394106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1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66928" y="1901952"/>
            <a:ext cx="394106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SCAN 0 MATCH bank:txns:* COUNT 100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66928" y="2089404"/>
            <a:ext cx="394106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1) "0"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66928" y="2276856"/>
            <a:ext cx="394106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2) 1) "bank:txns:602501000102"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66928" y="2464308"/>
            <a:ext cx="394106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   2) "bank:txns:602501000103"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566928" y="2651760"/>
            <a:ext cx="394106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UNLINK bank:txns:602501000102 \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566928" y="2839211"/>
            <a:ext cx="394106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       bank:txns:602501000103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566928" y="3026663"/>
            <a:ext cx="394106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2</a:t>
            </a:r>
          </a:p>
        </p:txBody>
      </p:sp>
      <p:sp>
        <p:nvSpPr>
          <p:cNvPr id="15" name="a2f_th14"/>
          <p:cNvSpPr/>
          <p:nvPr/>
        </p:nvSpPr>
        <p:spPr>
          <a:xfrm>
            <a:off x="4846320" y="1143000"/>
            <a:ext cx="1325880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f_tht15"/>
          <p:cNvSpPr txBox="1"/>
          <p:nvPr/>
        </p:nvSpPr>
        <p:spPr>
          <a:xfrm>
            <a:off x="4919472" y="1143000"/>
            <a:ext cx="1216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17" name="a2wd100_td16"/>
          <p:cNvSpPr/>
          <p:nvPr/>
        </p:nvSpPr>
        <p:spPr>
          <a:xfrm>
            <a:off x="4846320" y="1472184"/>
            <a:ext cx="1325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wd100_tdt17"/>
          <p:cNvSpPr txBox="1"/>
          <p:nvPr/>
        </p:nvSpPr>
        <p:spPr>
          <a:xfrm>
            <a:off x="4919472" y="1472184"/>
            <a:ext cx="1216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DEL</a:t>
            </a:r>
          </a:p>
        </p:txBody>
      </p:sp>
      <p:sp>
        <p:nvSpPr>
          <p:cNvPr id="19" name="a2wd200_td18"/>
          <p:cNvSpPr/>
          <p:nvPr/>
        </p:nvSpPr>
        <p:spPr>
          <a:xfrm>
            <a:off x="4846320" y="1801368"/>
            <a:ext cx="1325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wd200_tdt19"/>
          <p:cNvSpPr txBox="1"/>
          <p:nvPr/>
        </p:nvSpPr>
        <p:spPr>
          <a:xfrm>
            <a:off x="4919472" y="1801368"/>
            <a:ext cx="1216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UNLINK</a:t>
            </a:r>
          </a:p>
        </p:txBody>
      </p:sp>
      <p:sp>
        <p:nvSpPr>
          <p:cNvPr id="21" name="a2wd300_td20"/>
          <p:cNvSpPr/>
          <p:nvPr/>
        </p:nvSpPr>
        <p:spPr>
          <a:xfrm>
            <a:off x="4846320" y="2130552"/>
            <a:ext cx="1325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wd300_tdt21"/>
          <p:cNvSpPr txBox="1"/>
          <p:nvPr/>
        </p:nvSpPr>
        <p:spPr>
          <a:xfrm>
            <a:off x="4919472" y="2130552"/>
            <a:ext cx="1216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SCAN MATCH</a:t>
            </a:r>
          </a:p>
        </p:txBody>
      </p:sp>
      <p:sp>
        <p:nvSpPr>
          <p:cNvPr id="23" name="a2wd400_td22"/>
          <p:cNvSpPr/>
          <p:nvPr/>
        </p:nvSpPr>
        <p:spPr>
          <a:xfrm>
            <a:off x="4846320" y="2459736"/>
            <a:ext cx="1325880" cy="329184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wd400_tdt23"/>
          <p:cNvSpPr txBox="1"/>
          <p:nvPr/>
        </p:nvSpPr>
        <p:spPr>
          <a:xfrm>
            <a:off x="4919472" y="2459736"/>
            <a:ext cx="1216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KEYS *</a:t>
            </a:r>
          </a:p>
        </p:txBody>
      </p:sp>
      <p:sp>
        <p:nvSpPr>
          <p:cNvPr id="25" name="a2wd500_td24"/>
          <p:cNvSpPr/>
          <p:nvPr/>
        </p:nvSpPr>
        <p:spPr>
          <a:xfrm>
            <a:off x="4846320" y="2788920"/>
            <a:ext cx="1325880" cy="329184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wd500_tdt25"/>
          <p:cNvSpPr txBox="1"/>
          <p:nvPr/>
        </p:nvSpPr>
        <p:spPr>
          <a:xfrm>
            <a:off x="4919472" y="2788920"/>
            <a:ext cx="1216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FLUSHALL</a:t>
            </a:r>
          </a:p>
        </p:txBody>
      </p:sp>
      <p:sp>
        <p:nvSpPr>
          <p:cNvPr id="27" name="a2f_th26"/>
          <p:cNvSpPr/>
          <p:nvPr/>
        </p:nvSpPr>
        <p:spPr>
          <a:xfrm>
            <a:off x="6172200" y="1143000"/>
            <a:ext cx="2514600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f_tht27"/>
          <p:cNvSpPr txBox="1"/>
          <p:nvPr/>
        </p:nvSpPr>
        <p:spPr>
          <a:xfrm>
            <a:off x="6245352" y="1143000"/>
            <a:ext cx="2404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29" name="a2wd100_td28"/>
          <p:cNvSpPr/>
          <p:nvPr/>
        </p:nvSpPr>
        <p:spPr>
          <a:xfrm>
            <a:off x="6172200" y="1472184"/>
            <a:ext cx="2514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d100_tdt29"/>
          <p:cNvSpPr txBox="1"/>
          <p:nvPr/>
        </p:nvSpPr>
        <p:spPr>
          <a:xfrm>
            <a:off x="6245352" y="1472184"/>
            <a:ext cx="2404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Known keys; frees on the main thread</a:t>
            </a:r>
          </a:p>
        </p:txBody>
      </p:sp>
      <p:sp>
        <p:nvSpPr>
          <p:cNvPr id="31" name="a2wd200_td30"/>
          <p:cNvSpPr/>
          <p:nvPr/>
        </p:nvSpPr>
        <p:spPr>
          <a:xfrm>
            <a:off x="6172200" y="1801368"/>
            <a:ext cx="2514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wd200_tdt31"/>
          <p:cNvSpPr txBox="1"/>
          <p:nvPr/>
        </p:nvSpPr>
        <p:spPr>
          <a:xfrm>
            <a:off x="6245352" y="1801368"/>
            <a:ext cx="2404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Big values; frees in the background</a:t>
            </a:r>
          </a:p>
        </p:txBody>
      </p:sp>
      <p:sp>
        <p:nvSpPr>
          <p:cNvPr id="33" name="a2wd300_td32"/>
          <p:cNvSpPr/>
          <p:nvPr/>
        </p:nvSpPr>
        <p:spPr>
          <a:xfrm>
            <a:off x="6172200" y="2130552"/>
            <a:ext cx="2514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wd300_tdt33"/>
          <p:cNvSpPr txBox="1"/>
          <p:nvPr/>
        </p:nvSpPr>
        <p:spPr>
          <a:xfrm>
            <a:off x="6245352" y="2130552"/>
            <a:ext cx="2404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Find keys incrementally - safe</a:t>
            </a:r>
          </a:p>
        </p:txBody>
      </p:sp>
      <p:sp>
        <p:nvSpPr>
          <p:cNvPr id="35" name="a2wd400_td34"/>
          <p:cNvSpPr/>
          <p:nvPr/>
        </p:nvSpPr>
        <p:spPr>
          <a:xfrm>
            <a:off x="6172200" y="2459736"/>
            <a:ext cx="2514600" cy="329184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wd400_tdt35"/>
          <p:cNvSpPr txBox="1"/>
          <p:nvPr/>
        </p:nvSpPr>
        <p:spPr>
          <a:xfrm>
            <a:off x="6245352" y="2459736"/>
            <a:ext cx="2404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Never in production - blocks</a:t>
            </a:r>
          </a:p>
        </p:txBody>
      </p:sp>
      <p:sp>
        <p:nvSpPr>
          <p:cNvPr id="37" name="a2wd500_td36"/>
          <p:cNvSpPr/>
          <p:nvPr/>
        </p:nvSpPr>
        <p:spPr>
          <a:xfrm>
            <a:off x="6172200" y="2788920"/>
            <a:ext cx="2514600" cy="329184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2wd500_tdt37"/>
          <p:cNvSpPr txBox="1"/>
          <p:nvPr/>
        </p:nvSpPr>
        <p:spPr>
          <a:xfrm>
            <a:off x="6245352" y="2788920"/>
            <a:ext cx="24048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Never on a shared server</a:t>
            </a:r>
          </a:p>
        </p:txBody>
      </p:sp>
      <p:sp>
        <p:nvSpPr>
          <p:cNvPr id="39" name="a3u_nb38"/>
          <p:cNvSpPr/>
          <p:nvPr/>
        </p:nvSpPr>
        <p:spPr>
          <a:xfrm>
            <a:off x="457200" y="3461003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3u_nacc39"/>
          <p:cNvSpPr/>
          <p:nvPr/>
        </p:nvSpPr>
        <p:spPr>
          <a:xfrm>
            <a:off x="457200" y="3461003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u_nt40"/>
          <p:cNvSpPr txBox="1"/>
          <p:nvPr/>
        </p:nvSpPr>
        <p:spPr>
          <a:xfrm>
            <a:off x="658368" y="3461003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DESIGN  </a:t>
            </a:r>
            <a:r>
              <a:rPr sz="1000" b="0">
                <a:solidFill>
                  <a:srgbClr val="334155"/>
                </a:solidFill>
                <a:latin typeface="Calibri"/>
              </a:rPr>
              <a:t>Best of all: design keys the writer can compute. A transfer from A to B knows it must touch bank:txns:A and bank:txns:B - no search needed.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How Expiry Really Happens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Two mechanisms - one guarantees correctness, the other reclaims memory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79576"/>
            <a:ext cx="4014215" cy="1938528"/>
          </a:xfrm>
          <a:prstGeom prst="roundRect">
            <a:avLst>
              <a:gd name="adj" fmla="val 4716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79576"/>
            <a:ext cx="401421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380744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3807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56232"/>
            <a:ext cx="36850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Lazy (passive)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30552"/>
            <a:ext cx="3685031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ON EVERY ACCESS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86584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CBD5E1"/>
                </a:solidFill>
                <a:latin typeface="Calibri"/>
              </a:rPr>
              <a:t>Touch an expired key: deleted, (nil)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70632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CBD5E1"/>
                </a:solidFill>
                <a:latin typeface="Calibri"/>
              </a:rPr>
              <a:t>An expired key is never returned</a:t>
            </a:r>
          </a:p>
        </p:txBody>
      </p:sp>
      <p:sp>
        <p:nvSpPr>
          <p:cNvPr id="12" name="a2u_card11"/>
          <p:cNvSpPr/>
          <p:nvPr/>
        </p:nvSpPr>
        <p:spPr>
          <a:xfrm>
            <a:off x="4672583" y="1179576"/>
            <a:ext cx="4014215" cy="1938528"/>
          </a:xfrm>
          <a:prstGeom prst="roundRect">
            <a:avLst>
              <a:gd name="adj" fmla="val 4716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4672583" y="1179576"/>
            <a:ext cx="4014215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13"/>
          <p:cNvSpPr/>
          <p:nvPr/>
        </p:nvSpPr>
        <p:spPr>
          <a:xfrm>
            <a:off x="4837175" y="1380744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t14"/>
          <p:cNvSpPr txBox="1"/>
          <p:nvPr/>
        </p:nvSpPr>
        <p:spPr>
          <a:xfrm>
            <a:off x="4837175" y="13807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4837175" y="1856232"/>
            <a:ext cx="36850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4837175" y="2130552"/>
            <a:ext cx="3685031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hz TIMES PER SECOND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4837175" y="2386584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CBD5E1"/>
                </a:solidFill>
                <a:latin typeface="Calibri"/>
              </a:rPr>
              <a:t>Samples keys that have a TTL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4837175" y="2770632"/>
            <a:ext cx="36850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CBD5E1"/>
                </a:solidFill>
                <a:latin typeface="Calibri"/>
              </a:rPr>
              <a:t>Repeats while &gt;10% were expired</a:t>
            </a:r>
          </a:p>
        </p:txBody>
      </p:sp>
      <p:sp>
        <p:nvSpPr>
          <p:cNvPr id="20" name="a3f_codebg19"/>
          <p:cNvSpPr/>
          <p:nvPr/>
        </p:nvSpPr>
        <p:spPr>
          <a:xfrm>
            <a:off x="457200" y="3227832"/>
            <a:ext cx="8229600" cy="1225296"/>
          </a:xfrm>
          <a:prstGeom prst="roundRect">
            <a:avLst>
              <a:gd name="adj" fmla="val 5970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w_code20"/>
          <p:cNvSpPr txBox="1"/>
          <p:nvPr/>
        </p:nvSpPr>
        <p:spPr>
          <a:xfrm>
            <a:off x="548640" y="3319272"/>
            <a:ext cx="80467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127.0.0.1:6379&gt; SET bank:short 1 EX 2</a:t>
            </a:r>
          </a:p>
        </p:txBody>
      </p:sp>
      <p:sp>
        <p:nvSpPr>
          <p:cNvPr id="22" name="a3wd80_code21"/>
          <p:cNvSpPr txBox="1"/>
          <p:nvPr/>
        </p:nvSpPr>
        <p:spPr>
          <a:xfrm>
            <a:off x="548640" y="3493008"/>
            <a:ext cx="80467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OK</a:t>
            </a:r>
          </a:p>
        </p:txBody>
      </p:sp>
      <p:sp>
        <p:nvSpPr>
          <p:cNvPr id="23" name="a3wd160_code22"/>
          <p:cNvSpPr txBox="1"/>
          <p:nvPr/>
        </p:nvSpPr>
        <p:spPr>
          <a:xfrm>
            <a:off x="548640" y="3666744"/>
            <a:ext cx="80467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127.0.0.1:6379&gt; GET bank:short          # 3 seconds later</a:t>
            </a:r>
          </a:p>
        </p:txBody>
      </p:sp>
      <p:sp>
        <p:nvSpPr>
          <p:cNvPr id="24" name="a3wd240_code23"/>
          <p:cNvSpPr txBox="1"/>
          <p:nvPr/>
        </p:nvSpPr>
        <p:spPr>
          <a:xfrm>
            <a:off x="548640" y="3840480"/>
            <a:ext cx="80467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(nil)</a:t>
            </a:r>
          </a:p>
        </p:txBody>
      </p:sp>
      <p:sp>
        <p:nvSpPr>
          <p:cNvPr id="25" name="a3wd320_code24"/>
          <p:cNvSpPr txBox="1"/>
          <p:nvPr/>
        </p:nvSpPr>
        <p:spPr>
          <a:xfrm>
            <a:off x="548640" y="4014216"/>
            <a:ext cx="80467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127.0.0.1:6379&gt; INFO keyspace</a:t>
            </a:r>
          </a:p>
        </p:txBody>
      </p:sp>
      <p:sp>
        <p:nvSpPr>
          <p:cNvPr id="26" name="a3wd400_code25"/>
          <p:cNvSpPr txBox="1"/>
          <p:nvPr/>
        </p:nvSpPr>
        <p:spPr>
          <a:xfrm>
            <a:off x="548640" y="4187952"/>
            <a:ext cx="80467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db0:keys=3,expires=3,avg_ttl=235911,subexpiry=1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Configuration &amp; Eviction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Memory ceiling, eviction policy, measurement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maxmemory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maxmemory-policy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LRU vs LFU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INFO stats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Two Settings Make It a Cache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fresh redis:7-alpine reports maxmemory 0 and noeviction - that is a database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29768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40599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redis-cache.conf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redis/redis-cache.conf (the app's Redis)</a:t>
            </a:r>
          </a:p>
        </p:txBody>
      </p:sp>
      <p:sp>
        <p:nvSpPr>
          <p:cNvPr id="7" name="a1wd70_code6"/>
          <p:cNvSpPr txBox="1"/>
          <p:nvPr/>
        </p:nvSpPr>
        <p:spPr>
          <a:xfrm>
            <a:off x="576072" y="1728216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maxmemory 64mb</a:t>
            </a:r>
          </a:p>
        </p:txBody>
      </p:sp>
      <p:sp>
        <p:nvSpPr>
          <p:cNvPr id="8" name="a1wd140_code7"/>
          <p:cNvSpPr txBox="1"/>
          <p:nvPr/>
        </p:nvSpPr>
        <p:spPr>
          <a:xfrm>
            <a:off x="576072" y="1920240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maxmemory-policy allkeys-lru</a:t>
            </a:r>
          </a:p>
        </p:txBody>
      </p:sp>
      <p:sp>
        <p:nvSpPr>
          <p:cNvPr id="9" name="a1wd210_code8"/>
          <p:cNvSpPr txBox="1"/>
          <p:nvPr/>
        </p:nvSpPr>
        <p:spPr>
          <a:xfrm>
            <a:off x="576072" y="2112264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maxmemory-samples 5</a:t>
            </a:r>
          </a:p>
        </p:txBody>
      </p:sp>
      <p:sp>
        <p:nvSpPr>
          <p:cNvPr id="10" name="a1wd280_code9"/>
          <p:cNvSpPr txBox="1"/>
          <p:nvPr/>
        </p:nvSpPr>
        <p:spPr>
          <a:xfrm>
            <a:off x="576072" y="2304288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lazyfree-lazy-eviction yes</a:t>
            </a:r>
          </a:p>
        </p:txBody>
      </p:sp>
      <p:sp>
        <p:nvSpPr>
          <p:cNvPr id="11" name="a1wd350_code10"/>
          <p:cNvSpPr txBox="1"/>
          <p:nvPr/>
        </p:nvSpPr>
        <p:spPr>
          <a:xfrm>
            <a:off x="576072" y="2496312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lazyfree-lazy-expire yes</a:t>
            </a:r>
          </a:p>
        </p:txBody>
      </p:sp>
      <p:sp>
        <p:nvSpPr>
          <p:cNvPr id="12" name="a1wd420_code11"/>
          <p:cNvSpPr txBox="1"/>
          <p:nvPr/>
        </p:nvSpPr>
        <p:spPr>
          <a:xfrm>
            <a:off x="576072" y="2688336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lazyfree-lazy-user-del yes</a:t>
            </a:r>
          </a:p>
        </p:txBody>
      </p:sp>
      <p:sp>
        <p:nvSpPr>
          <p:cNvPr id="13" name="a1wd490_code12"/>
          <p:cNvSpPr txBox="1"/>
          <p:nvPr/>
        </p:nvSpPr>
        <p:spPr>
          <a:xfrm>
            <a:off x="576072" y="2880360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hz 10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576072" y="3072384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save ""</a:t>
            </a:r>
          </a:p>
        </p:txBody>
      </p:sp>
      <p:sp>
        <p:nvSpPr>
          <p:cNvPr id="15" name="a1wd630_code14"/>
          <p:cNvSpPr txBox="1"/>
          <p:nvPr/>
        </p:nvSpPr>
        <p:spPr>
          <a:xfrm>
            <a:off x="576072" y="3264408"/>
            <a:ext cx="405993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appendonly no</a:t>
            </a:r>
          </a:p>
        </p:txBody>
      </p:sp>
      <p:sp>
        <p:nvSpPr>
          <p:cNvPr id="16" name="a2u_dot15"/>
          <p:cNvSpPr/>
          <p:nvPr/>
        </p:nvSpPr>
        <p:spPr>
          <a:xfrm>
            <a:off x="4983480" y="129844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b16"/>
          <p:cNvSpPr txBox="1"/>
          <p:nvPr/>
        </p:nvSpPr>
        <p:spPr>
          <a:xfrm>
            <a:off x="5202936" y="1197864"/>
            <a:ext cx="348386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maxmemory  </a:t>
            </a:r>
            <a:r>
              <a:rPr sz="1100" b="0">
                <a:solidFill>
                  <a:srgbClr val="334155"/>
                </a:solidFill>
                <a:latin typeface="Calibri"/>
              </a:rPr>
              <a:t>the ceiling for the dataset</a:t>
            </a:r>
          </a:p>
        </p:txBody>
      </p:sp>
      <p:sp>
        <p:nvSpPr>
          <p:cNvPr id="18" name="a2ud120_dot17"/>
          <p:cNvSpPr/>
          <p:nvPr/>
        </p:nvSpPr>
        <p:spPr>
          <a:xfrm>
            <a:off x="4983480" y="1682496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d120_b18"/>
          <p:cNvSpPr txBox="1"/>
          <p:nvPr/>
        </p:nvSpPr>
        <p:spPr>
          <a:xfrm>
            <a:off x="5202936" y="1581912"/>
            <a:ext cx="348386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policy  </a:t>
            </a:r>
            <a:r>
              <a:rPr sz="1100" b="0">
                <a:solidFill>
                  <a:srgbClr val="334155"/>
                </a:solidFill>
                <a:latin typeface="Calibri"/>
              </a:rPr>
              <a:t>what to throw away at the ceiling</a:t>
            </a:r>
          </a:p>
        </p:txBody>
      </p:sp>
      <p:sp>
        <p:nvSpPr>
          <p:cNvPr id="20" name="a2ud240_dot19"/>
          <p:cNvSpPr/>
          <p:nvPr/>
        </p:nvSpPr>
        <p:spPr>
          <a:xfrm>
            <a:off x="4983480" y="2066543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240_b20"/>
          <p:cNvSpPr txBox="1"/>
          <p:nvPr/>
        </p:nvSpPr>
        <p:spPr>
          <a:xfrm>
            <a:off x="5202936" y="1965960"/>
            <a:ext cx="348386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samples  </a:t>
            </a:r>
            <a:r>
              <a:rPr sz="1100" b="0">
                <a:solidFill>
                  <a:srgbClr val="334155"/>
                </a:solidFill>
                <a:latin typeface="Calibri"/>
              </a:rPr>
              <a:t>LRU/LFU are sampled approximations</a:t>
            </a:r>
          </a:p>
        </p:txBody>
      </p:sp>
      <p:sp>
        <p:nvSpPr>
          <p:cNvPr id="22" name="a2ud360_dot21"/>
          <p:cNvSpPr/>
          <p:nvPr/>
        </p:nvSpPr>
        <p:spPr>
          <a:xfrm>
            <a:off x="4983480" y="2450591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360_b22"/>
          <p:cNvSpPr txBox="1"/>
          <p:nvPr/>
        </p:nvSpPr>
        <p:spPr>
          <a:xfrm>
            <a:off x="5202936" y="2350008"/>
            <a:ext cx="348386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lazyfree  </a:t>
            </a:r>
            <a:r>
              <a:rPr sz="1100" b="0">
                <a:solidFill>
                  <a:srgbClr val="334155"/>
                </a:solidFill>
                <a:latin typeface="Calibri"/>
              </a:rPr>
              <a:t>free memory off the main thread</a:t>
            </a:r>
          </a:p>
        </p:txBody>
      </p:sp>
      <p:sp>
        <p:nvSpPr>
          <p:cNvPr id="24" name="a2ud480_dot23"/>
          <p:cNvSpPr/>
          <p:nvPr/>
        </p:nvSpPr>
        <p:spPr>
          <a:xfrm>
            <a:off x="4983480" y="2834639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480_b24"/>
          <p:cNvSpPr txBox="1"/>
          <p:nvPr/>
        </p:nvSpPr>
        <p:spPr>
          <a:xfrm>
            <a:off x="5202936" y="2734056"/>
            <a:ext cx="348386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no persistence  </a:t>
            </a:r>
            <a:r>
              <a:rPr sz="1100" b="0">
                <a:solidFill>
                  <a:srgbClr val="334155"/>
                </a:solidFill>
                <a:latin typeface="Calibri"/>
              </a:rPr>
              <a:t>a cache is rebuilt from the DB</a:t>
            </a:r>
          </a:p>
        </p:txBody>
      </p:sp>
      <p:sp>
        <p:nvSpPr>
          <p:cNvPr id="26" name="a3u_nb25"/>
          <p:cNvSpPr/>
          <p:nvPr/>
        </p:nvSpPr>
        <p:spPr>
          <a:xfrm>
            <a:off x="4983480" y="3227832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_nacc26"/>
          <p:cNvSpPr/>
          <p:nvPr/>
        </p:nvSpPr>
        <p:spPr>
          <a:xfrm>
            <a:off x="4983480" y="3227832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nt27"/>
          <p:cNvSpPr txBox="1"/>
          <p:nvPr/>
        </p:nvSpPr>
        <p:spPr>
          <a:xfrm>
            <a:off x="5184648" y="3227832"/>
            <a:ext cx="33009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No comment on the same line as a directive - Redis refuses to start.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Eviction Experiment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maxmemory 2mb · 5,000 x 1 KB SETs through redis-cli --pipe · three policies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70432"/>
            <a:ext cx="2596896" cy="2331720"/>
          </a:xfrm>
          <a:prstGeom prst="roundRect">
            <a:avLst>
              <a:gd name="adj" fmla="val 392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70432"/>
            <a:ext cx="2596896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pn5"/>
          <p:cNvSpPr txBox="1"/>
          <p:nvPr/>
        </p:nvSpPr>
        <p:spPr>
          <a:xfrm>
            <a:off x="640080" y="1353312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urier New"/>
              </a:rPr>
              <a:t>noeviction</a:t>
            </a:r>
          </a:p>
        </p:txBody>
      </p:sp>
      <p:sp>
        <p:nvSpPr>
          <p:cNvPr id="7" name="a1ud100_pb6"/>
          <p:cNvSpPr txBox="1"/>
          <p:nvPr/>
        </p:nvSpPr>
        <p:spPr>
          <a:xfrm>
            <a:off x="640080" y="1728216"/>
            <a:ext cx="223113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DC382C"/>
                </a:solidFill>
                <a:latin typeface="Calibri"/>
              </a:rPr>
              <a:t>errors: 4089</a:t>
            </a:r>
          </a:p>
        </p:txBody>
      </p:sp>
      <p:sp>
        <p:nvSpPr>
          <p:cNvPr id="8" name="a1ud140_pl7"/>
          <p:cNvSpPr txBox="1"/>
          <p:nvPr/>
        </p:nvSpPr>
        <p:spPr>
          <a:xfrm>
            <a:off x="640080" y="2295144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ourier New"/>
              </a:rPr>
              <a:t>911 keys fit</a:t>
            </a:r>
          </a:p>
        </p:txBody>
      </p:sp>
      <p:sp>
        <p:nvSpPr>
          <p:cNvPr id="9" name="a1ud200_pl8"/>
          <p:cNvSpPr txBox="1"/>
          <p:nvPr/>
        </p:nvSpPr>
        <p:spPr>
          <a:xfrm>
            <a:off x="640080" y="2624327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ourier New"/>
              </a:rPr>
              <a:t>every later write:</a:t>
            </a:r>
          </a:p>
        </p:txBody>
      </p:sp>
      <p:sp>
        <p:nvSpPr>
          <p:cNvPr id="10" name="a1ud260_pl9"/>
          <p:cNvSpPr txBox="1"/>
          <p:nvPr/>
        </p:nvSpPr>
        <p:spPr>
          <a:xfrm>
            <a:off x="640080" y="2953511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ourier New"/>
              </a:rPr>
              <a:t>OOM command not allowed</a:t>
            </a:r>
          </a:p>
        </p:txBody>
      </p:sp>
      <p:sp>
        <p:nvSpPr>
          <p:cNvPr id="11" name="a2u_card10"/>
          <p:cNvSpPr/>
          <p:nvPr/>
        </p:nvSpPr>
        <p:spPr>
          <a:xfrm>
            <a:off x="3273552" y="1170432"/>
            <a:ext cx="2596896" cy="2331720"/>
          </a:xfrm>
          <a:prstGeom prst="roundRect">
            <a:avLst>
              <a:gd name="adj" fmla="val 392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u_acc11"/>
          <p:cNvSpPr/>
          <p:nvPr/>
        </p:nvSpPr>
        <p:spPr>
          <a:xfrm>
            <a:off x="3273552" y="1170432"/>
            <a:ext cx="2596896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d60_pn12"/>
          <p:cNvSpPr txBox="1"/>
          <p:nvPr/>
        </p:nvSpPr>
        <p:spPr>
          <a:xfrm>
            <a:off x="3456432" y="1353312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urier New"/>
              </a:rPr>
              <a:t>allkeys-lru</a:t>
            </a:r>
          </a:p>
        </p:txBody>
      </p:sp>
      <p:sp>
        <p:nvSpPr>
          <p:cNvPr id="14" name="a2ud100_pb13"/>
          <p:cNvSpPr txBox="1"/>
          <p:nvPr/>
        </p:nvSpPr>
        <p:spPr>
          <a:xfrm>
            <a:off x="3456432" y="1728216"/>
            <a:ext cx="223113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errors: 0</a:t>
            </a:r>
          </a:p>
        </p:txBody>
      </p:sp>
      <p:sp>
        <p:nvSpPr>
          <p:cNvPr id="15" name="a2ud140_pl14"/>
          <p:cNvSpPr txBox="1"/>
          <p:nvPr/>
        </p:nvSpPr>
        <p:spPr>
          <a:xfrm>
            <a:off x="3456432" y="2295144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ourier New"/>
              </a:rPr>
              <a:t>evicted_keys: 4192</a:t>
            </a:r>
          </a:p>
        </p:txBody>
      </p:sp>
      <p:sp>
        <p:nvSpPr>
          <p:cNvPr id="16" name="a2ud200_pl15"/>
          <p:cNvSpPr txBox="1"/>
          <p:nvPr/>
        </p:nvSpPr>
        <p:spPr>
          <a:xfrm>
            <a:off x="3456432" y="2624327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ourier New"/>
              </a:rPr>
              <a:t>bank:txns:1 gone</a:t>
            </a:r>
          </a:p>
        </p:txBody>
      </p:sp>
      <p:sp>
        <p:nvSpPr>
          <p:cNvPr id="17" name="a2ud260_pl16"/>
          <p:cNvSpPr txBox="1"/>
          <p:nvPr/>
        </p:nvSpPr>
        <p:spPr>
          <a:xfrm>
            <a:off x="3456432" y="2953511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ourier New"/>
              </a:rPr>
              <a:t>bank:txns:5000 kept</a:t>
            </a:r>
          </a:p>
        </p:txBody>
      </p:sp>
      <p:sp>
        <p:nvSpPr>
          <p:cNvPr id="18" name="a3u_card17"/>
          <p:cNvSpPr/>
          <p:nvPr/>
        </p:nvSpPr>
        <p:spPr>
          <a:xfrm>
            <a:off x="6089904" y="1170432"/>
            <a:ext cx="2596896" cy="2331720"/>
          </a:xfrm>
          <a:prstGeom prst="roundRect">
            <a:avLst>
              <a:gd name="adj" fmla="val 392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3u_acc18"/>
          <p:cNvSpPr/>
          <p:nvPr/>
        </p:nvSpPr>
        <p:spPr>
          <a:xfrm>
            <a:off x="6089904" y="1170432"/>
            <a:ext cx="2596896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3ud60_pn19"/>
          <p:cNvSpPr txBox="1"/>
          <p:nvPr/>
        </p:nvSpPr>
        <p:spPr>
          <a:xfrm>
            <a:off x="6272784" y="1353312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urier New"/>
              </a:rPr>
              <a:t>volatile-lru</a:t>
            </a:r>
          </a:p>
        </p:txBody>
      </p:sp>
      <p:sp>
        <p:nvSpPr>
          <p:cNvPr id="21" name="a3ud100_pb20"/>
          <p:cNvSpPr txBox="1"/>
          <p:nvPr/>
        </p:nvSpPr>
        <p:spPr>
          <a:xfrm>
            <a:off x="6272784" y="1728216"/>
            <a:ext cx="223113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  <a:latin typeface="Calibri"/>
              </a:rPr>
              <a:t>errors: 0</a:t>
            </a:r>
          </a:p>
        </p:txBody>
      </p:sp>
      <p:sp>
        <p:nvSpPr>
          <p:cNvPr id="22" name="a3ud140_pl21"/>
          <p:cNvSpPr txBox="1"/>
          <p:nvPr/>
        </p:nvSpPr>
        <p:spPr>
          <a:xfrm>
            <a:off x="6272784" y="2295144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ourier New"/>
              </a:rPr>
              <a:t>evicted_keys: 4170</a:t>
            </a:r>
          </a:p>
        </p:txBody>
      </p:sp>
      <p:sp>
        <p:nvSpPr>
          <p:cNvPr id="23" name="a3ud200_pl22"/>
          <p:cNvSpPr txBox="1"/>
          <p:nvPr/>
        </p:nvSpPr>
        <p:spPr>
          <a:xfrm>
            <a:off x="6272784" y="2624327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ourier New"/>
              </a:rPr>
              <a:t>key with no TTL</a:t>
            </a:r>
          </a:p>
        </p:txBody>
      </p:sp>
      <p:sp>
        <p:nvSpPr>
          <p:cNvPr id="24" name="a3ud260_pl23"/>
          <p:cNvSpPr txBox="1"/>
          <p:nvPr/>
        </p:nvSpPr>
        <p:spPr>
          <a:xfrm>
            <a:off x="6272784" y="2953511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ourier New"/>
              </a:rPr>
              <a:t>survives - EXISTS 1</a:t>
            </a:r>
          </a:p>
        </p:txBody>
      </p:sp>
      <p:sp>
        <p:nvSpPr>
          <p:cNvPr id="25" name="a4u_nb24"/>
          <p:cNvSpPr/>
          <p:nvPr/>
        </p:nvSpPr>
        <p:spPr>
          <a:xfrm>
            <a:off x="457200" y="366674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4u_nacc25"/>
          <p:cNvSpPr/>
          <p:nvPr/>
        </p:nvSpPr>
        <p:spPr>
          <a:xfrm>
            <a:off x="457200" y="3666744"/>
            <a:ext cx="50292" cy="5029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4u_nt26"/>
          <p:cNvSpPr txBox="1"/>
          <p:nvPr/>
        </p:nvSpPr>
        <p:spPr>
          <a:xfrm>
            <a:off x="658368" y="3666744"/>
            <a:ext cx="7827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!  </a:t>
            </a:r>
            <a:r>
              <a:rPr sz="1050" b="0">
                <a:solidFill>
                  <a:srgbClr val="E2E8F0"/>
                </a:solidFill>
                <a:latin typeface="Calibri"/>
              </a:rPr>
              <a:t>noeviction is the worst choice for a cache: once full, the SET after every miss fails - so new hot data can never get in.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Eight Eviction Policies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Two questions: which keys are candidates, and how to pick among them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24712"/>
            <a:ext cx="1645920" cy="338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24712"/>
            <a:ext cx="15361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Policy</a:t>
            </a:r>
          </a:p>
        </p:txBody>
      </p:sp>
      <p:sp>
        <p:nvSpPr>
          <p:cNvPr id="6" name="a1wd80_td5"/>
          <p:cNvSpPr/>
          <p:nvPr/>
        </p:nvSpPr>
        <p:spPr>
          <a:xfrm>
            <a:off x="457200" y="1463040"/>
            <a:ext cx="1645920" cy="33832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80_tdt6"/>
          <p:cNvSpPr txBox="1"/>
          <p:nvPr/>
        </p:nvSpPr>
        <p:spPr>
          <a:xfrm>
            <a:off x="530352" y="1463040"/>
            <a:ext cx="15361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noeviction</a:t>
            </a:r>
          </a:p>
        </p:txBody>
      </p:sp>
      <p:sp>
        <p:nvSpPr>
          <p:cNvPr id="8" name="a1wd160_td7"/>
          <p:cNvSpPr/>
          <p:nvPr/>
        </p:nvSpPr>
        <p:spPr>
          <a:xfrm>
            <a:off x="457200" y="1801368"/>
            <a:ext cx="1645920" cy="3383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60_tdt8"/>
          <p:cNvSpPr txBox="1"/>
          <p:nvPr/>
        </p:nvSpPr>
        <p:spPr>
          <a:xfrm>
            <a:off x="530352" y="1801368"/>
            <a:ext cx="15361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allkeys-lru</a:t>
            </a:r>
          </a:p>
        </p:txBody>
      </p:sp>
      <p:sp>
        <p:nvSpPr>
          <p:cNvPr id="10" name="a1wd240_td9"/>
          <p:cNvSpPr/>
          <p:nvPr/>
        </p:nvSpPr>
        <p:spPr>
          <a:xfrm>
            <a:off x="457200" y="2139696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40_tdt10"/>
          <p:cNvSpPr txBox="1"/>
          <p:nvPr/>
        </p:nvSpPr>
        <p:spPr>
          <a:xfrm>
            <a:off x="530352" y="2139696"/>
            <a:ext cx="15361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allkeys-lfu</a:t>
            </a:r>
          </a:p>
        </p:txBody>
      </p:sp>
      <p:sp>
        <p:nvSpPr>
          <p:cNvPr id="12" name="a1wd320_td11"/>
          <p:cNvSpPr/>
          <p:nvPr/>
        </p:nvSpPr>
        <p:spPr>
          <a:xfrm>
            <a:off x="457200" y="2478024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20_tdt12"/>
          <p:cNvSpPr txBox="1"/>
          <p:nvPr/>
        </p:nvSpPr>
        <p:spPr>
          <a:xfrm>
            <a:off x="530352" y="2478024"/>
            <a:ext cx="15361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allkeys-random</a:t>
            </a:r>
          </a:p>
        </p:txBody>
      </p:sp>
      <p:sp>
        <p:nvSpPr>
          <p:cNvPr id="14" name="a1wd400_td13"/>
          <p:cNvSpPr/>
          <p:nvPr/>
        </p:nvSpPr>
        <p:spPr>
          <a:xfrm>
            <a:off x="457200" y="2816352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00_tdt14"/>
          <p:cNvSpPr txBox="1"/>
          <p:nvPr/>
        </p:nvSpPr>
        <p:spPr>
          <a:xfrm>
            <a:off x="530352" y="2816352"/>
            <a:ext cx="15361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volatile-lru</a:t>
            </a:r>
          </a:p>
        </p:txBody>
      </p:sp>
      <p:sp>
        <p:nvSpPr>
          <p:cNvPr id="16" name="a1wd480_td15"/>
          <p:cNvSpPr/>
          <p:nvPr/>
        </p:nvSpPr>
        <p:spPr>
          <a:xfrm>
            <a:off x="457200" y="3154679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480_tdt16"/>
          <p:cNvSpPr txBox="1"/>
          <p:nvPr/>
        </p:nvSpPr>
        <p:spPr>
          <a:xfrm>
            <a:off x="530352" y="3154679"/>
            <a:ext cx="15361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volatile-lfu</a:t>
            </a:r>
          </a:p>
        </p:txBody>
      </p:sp>
      <p:sp>
        <p:nvSpPr>
          <p:cNvPr id="18" name="a1wd560_td17"/>
          <p:cNvSpPr/>
          <p:nvPr/>
        </p:nvSpPr>
        <p:spPr>
          <a:xfrm>
            <a:off x="457200" y="3493008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560_tdt18"/>
          <p:cNvSpPr txBox="1"/>
          <p:nvPr/>
        </p:nvSpPr>
        <p:spPr>
          <a:xfrm>
            <a:off x="530352" y="3493008"/>
            <a:ext cx="15361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volatile-ttl</a:t>
            </a:r>
          </a:p>
        </p:txBody>
      </p:sp>
      <p:sp>
        <p:nvSpPr>
          <p:cNvPr id="20" name="a1wd640_td19"/>
          <p:cNvSpPr/>
          <p:nvPr/>
        </p:nvSpPr>
        <p:spPr>
          <a:xfrm>
            <a:off x="457200" y="3831335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640_tdt20"/>
          <p:cNvSpPr txBox="1"/>
          <p:nvPr/>
        </p:nvSpPr>
        <p:spPr>
          <a:xfrm>
            <a:off x="530352" y="3831335"/>
            <a:ext cx="153619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volatile-random</a:t>
            </a:r>
          </a:p>
        </p:txBody>
      </p:sp>
      <p:sp>
        <p:nvSpPr>
          <p:cNvPr id="22" name="a1f_th21"/>
          <p:cNvSpPr/>
          <p:nvPr/>
        </p:nvSpPr>
        <p:spPr>
          <a:xfrm>
            <a:off x="2103120" y="1124712"/>
            <a:ext cx="1600200" cy="338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f_tht22"/>
          <p:cNvSpPr txBox="1"/>
          <p:nvPr/>
        </p:nvSpPr>
        <p:spPr>
          <a:xfrm>
            <a:off x="2176272" y="1124712"/>
            <a:ext cx="1490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Candidates</a:t>
            </a:r>
          </a:p>
        </p:txBody>
      </p:sp>
      <p:sp>
        <p:nvSpPr>
          <p:cNvPr id="24" name="a1wd80_td23"/>
          <p:cNvSpPr/>
          <p:nvPr/>
        </p:nvSpPr>
        <p:spPr>
          <a:xfrm>
            <a:off x="2103120" y="1463040"/>
            <a:ext cx="1600200" cy="33832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80_tdt24"/>
          <p:cNvSpPr txBox="1"/>
          <p:nvPr/>
        </p:nvSpPr>
        <p:spPr>
          <a:xfrm>
            <a:off x="2176272" y="1463040"/>
            <a:ext cx="1490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none - writes fail</a:t>
            </a:r>
          </a:p>
        </p:txBody>
      </p:sp>
      <p:sp>
        <p:nvSpPr>
          <p:cNvPr id="26" name="a1wd160_td25"/>
          <p:cNvSpPr/>
          <p:nvPr/>
        </p:nvSpPr>
        <p:spPr>
          <a:xfrm>
            <a:off x="2103120" y="1801368"/>
            <a:ext cx="1600200" cy="3383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60_tdt26"/>
          <p:cNvSpPr txBox="1"/>
          <p:nvPr/>
        </p:nvSpPr>
        <p:spPr>
          <a:xfrm>
            <a:off x="2176272" y="1801368"/>
            <a:ext cx="1490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all keys</a:t>
            </a:r>
          </a:p>
        </p:txBody>
      </p:sp>
      <p:sp>
        <p:nvSpPr>
          <p:cNvPr id="28" name="a1wd240_td27"/>
          <p:cNvSpPr/>
          <p:nvPr/>
        </p:nvSpPr>
        <p:spPr>
          <a:xfrm>
            <a:off x="2103120" y="2139696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240_tdt28"/>
          <p:cNvSpPr txBox="1"/>
          <p:nvPr/>
        </p:nvSpPr>
        <p:spPr>
          <a:xfrm>
            <a:off x="2176272" y="2139696"/>
            <a:ext cx="1490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all keys</a:t>
            </a:r>
          </a:p>
        </p:txBody>
      </p:sp>
      <p:sp>
        <p:nvSpPr>
          <p:cNvPr id="30" name="a1wd320_td29"/>
          <p:cNvSpPr/>
          <p:nvPr/>
        </p:nvSpPr>
        <p:spPr>
          <a:xfrm>
            <a:off x="2103120" y="2478024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20_tdt30"/>
          <p:cNvSpPr txBox="1"/>
          <p:nvPr/>
        </p:nvSpPr>
        <p:spPr>
          <a:xfrm>
            <a:off x="2176272" y="2478024"/>
            <a:ext cx="1490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all keys</a:t>
            </a:r>
          </a:p>
        </p:txBody>
      </p:sp>
      <p:sp>
        <p:nvSpPr>
          <p:cNvPr id="32" name="a1wd400_td31"/>
          <p:cNvSpPr/>
          <p:nvPr/>
        </p:nvSpPr>
        <p:spPr>
          <a:xfrm>
            <a:off x="2103120" y="2816352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400_tdt32"/>
          <p:cNvSpPr txBox="1"/>
          <p:nvPr/>
        </p:nvSpPr>
        <p:spPr>
          <a:xfrm>
            <a:off x="2176272" y="2816352"/>
            <a:ext cx="1490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keys with a TTL</a:t>
            </a:r>
          </a:p>
        </p:txBody>
      </p:sp>
      <p:sp>
        <p:nvSpPr>
          <p:cNvPr id="34" name="a1wd480_td33"/>
          <p:cNvSpPr/>
          <p:nvPr/>
        </p:nvSpPr>
        <p:spPr>
          <a:xfrm>
            <a:off x="2103120" y="3154679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480_tdt34"/>
          <p:cNvSpPr txBox="1"/>
          <p:nvPr/>
        </p:nvSpPr>
        <p:spPr>
          <a:xfrm>
            <a:off x="2176272" y="3154679"/>
            <a:ext cx="1490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keys with a TTL</a:t>
            </a:r>
          </a:p>
        </p:txBody>
      </p:sp>
      <p:sp>
        <p:nvSpPr>
          <p:cNvPr id="36" name="a1wd560_td35"/>
          <p:cNvSpPr/>
          <p:nvPr/>
        </p:nvSpPr>
        <p:spPr>
          <a:xfrm>
            <a:off x="2103120" y="3493008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560_tdt36"/>
          <p:cNvSpPr txBox="1"/>
          <p:nvPr/>
        </p:nvSpPr>
        <p:spPr>
          <a:xfrm>
            <a:off x="2176272" y="3493008"/>
            <a:ext cx="1490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keys with a TTL</a:t>
            </a:r>
          </a:p>
        </p:txBody>
      </p:sp>
      <p:sp>
        <p:nvSpPr>
          <p:cNvPr id="38" name="a1wd640_td37"/>
          <p:cNvSpPr/>
          <p:nvPr/>
        </p:nvSpPr>
        <p:spPr>
          <a:xfrm>
            <a:off x="2103120" y="3831335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640_tdt38"/>
          <p:cNvSpPr txBox="1"/>
          <p:nvPr/>
        </p:nvSpPr>
        <p:spPr>
          <a:xfrm>
            <a:off x="2176272" y="3831335"/>
            <a:ext cx="1490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keys with a TTL</a:t>
            </a:r>
          </a:p>
        </p:txBody>
      </p:sp>
      <p:sp>
        <p:nvSpPr>
          <p:cNvPr id="40" name="a1f_th39"/>
          <p:cNvSpPr/>
          <p:nvPr/>
        </p:nvSpPr>
        <p:spPr>
          <a:xfrm>
            <a:off x="3703320" y="1124712"/>
            <a:ext cx="1737360" cy="338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f_tht40"/>
          <p:cNvSpPr txBox="1"/>
          <p:nvPr/>
        </p:nvSpPr>
        <p:spPr>
          <a:xfrm>
            <a:off x="3776472" y="1124712"/>
            <a:ext cx="162763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Chooses</a:t>
            </a:r>
          </a:p>
        </p:txBody>
      </p:sp>
      <p:sp>
        <p:nvSpPr>
          <p:cNvPr id="42" name="a1wd80_td41"/>
          <p:cNvSpPr/>
          <p:nvPr/>
        </p:nvSpPr>
        <p:spPr>
          <a:xfrm>
            <a:off x="3703320" y="1463040"/>
            <a:ext cx="1737360" cy="33832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80_tdt42"/>
          <p:cNvSpPr txBox="1"/>
          <p:nvPr/>
        </p:nvSpPr>
        <p:spPr>
          <a:xfrm>
            <a:off x="3776472" y="1463040"/>
            <a:ext cx="162763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-</a:t>
            </a:r>
          </a:p>
        </p:txBody>
      </p:sp>
      <p:sp>
        <p:nvSpPr>
          <p:cNvPr id="44" name="a1wd160_td43"/>
          <p:cNvSpPr/>
          <p:nvPr/>
        </p:nvSpPr>
        <p:spPr>
          <a:xfrm>
            <a:off x="3703320" y="1801368"/>
            <a:ext cx="1737360" cy="3383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160_tdt44"/>
          <p:cNvSpPr txBox="1"/>
          <p:nvPr/>
        </p:nvSpPr>
        <p:spPr>
          <a:xfrm>
            <a:off x="3776472" y="1801368"/>
            <a:ext cx="162763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least recently used</a:t>
            </a:r>
          </a:p>
        </p:txBody>
      </p:sp>
      <p:sp>
        <p:nvSpPr>
          <p:cNvPr id="46" name="a1wd240_td45"/>
          <p:cNvSpPr/>
          <p:nvPr/>
        </p:nvSpPr>
        <p:spPr>
          <a:xfrm>
            <a:off x="3703320" y="2139696"/>
            <a:ext cx="1737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240_tdt46"/>
          <p:cNvSpPr txBox="1"/>
          <p:nvPr/>
        </p:nvSpPr>
        <p:spPr>
          <a:xfrm>
            <a:off x="3776472" y="2139696"/>
            <a:ext cx="162763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least frequently used</a:t>
            </a:r>
          </a:p>
        </p:txBody>
      </p:sp>
      <p:sp>
        <p:nvSpPr>
          <p:cNvPr id="48" name="a1wd320_td47"/>
          <p:cNvSpPr/>
          <p:nvPr/>
        </p:nvSpPr>
        <p:spPr>
          <a:xfrm>
            <a:off x="3703320" y="2478024"/>
            <a:ext cx="1737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320_tdt48"/>
          <p:cNvSpPr txBox="1"/>
          <p:nvPr/>
        </p:nvSpPr>
        <p:spPr>
          <a:xfrm>
            <a:off x="3776472" y="2478024"/>
            <a:ext cx="162763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random</a:t>
            </a:r>
          </a:p>
        </p:txBody>
      </p:sp>
      <p:sp>
        <p:nvSpPr>
          <p:cNvPr id="50" name="a1wd400_td49"/>
          <p:cNvSpPr/>
          <p:nvPr/>
        </p:nvSpPr>
        <p:spPr>
          <a:xfrm>
            <a:off x="3703320" y="2816352"/>
            <a:ext cx="1737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400_tdt50"/>
          <p:cNvSpPr txBox="1"/>
          <p:nvPr/>
        </p:nvSpPr>
        <p:spPr>
          <a:xfrm>
            <a:off x="3776472" y="2816352"/>
            <a:ext cx="162763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least recently used</a:t>
            </a:r>
          </a:p>
        </p:txBody>
      </p:sp>
      <p:sp>
        <p:nvSpPr>
          <p:cNvPr id="52" name="a1wd480_td51"/>
          <p:cNvSpPr/>
          <p:nvPr/>
        </p:nvSpPr>
        <p:spPr>
          <a:xfrm>
            <a:off x="3703320" y="3154679"/>
            <a:ext cx="1737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480_tdt52"/>
          <p:cNvSpPr txBox="1"/>
          <p:nvPr/>
        </p:nvSpPr>
        <p:spPr>
          <a:xfrm>
            <a:off x="3776472" y="3154679"/>
            <a:ext cx="162763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least frequently used</a:t>
            </a:r>
          </a:p>
        </p:txBody>
      </p:sp>
      <p:sp>
        <p:nvSpPr>
          <p:cNvPr id="54" name="a1wd560_td53"/>
          <p:cNvSpPr/>
          <p:nvPr/>
        </p:nvSpPr>
        <p:spPr>
          <a:xfrm>
            <a:off x="3703320" y="3493008"/>
            <a:ext cx="1737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560_tdt54"/>
          <p:cNvSpPr txBox="1"/>
          <p:nvPr/>
        </p:nvSpPr>
        <p:spPr>
          <a:xfrm>
            <a:off x="3776472" y="3493008"/>
            <a:ext cx="162763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shortest TTL left</a:t>
            </a:r>
          </a:p>
        </p:txBody>
      </p:sp>
      <p:sp>
        <p:nvSpPr>
          <p:cNvPr id="56" name="a1wd640_td55"/>
          <p:cNvSpPr/>
          <p:nvPr/>
        </p:nvSpPr>
        <p:spPr>
          <a:xfrm>
            <a:off x="3703320" y="3831335"/>
            <a:ext cx="17373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640_tdt56"/>
          <p:cNvSpPr txBox="1"/>
          <p:nvPr/>
        </p:nvSpPr>
        <p:spPr>
          <a:xfrm>
            <a:off x="3776472" y="3831335"/>
            <a:ext cx="162763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random</a:t>
            </a:r>
          </a:p>
        </p:txBody>
      </p:sp>
      <p:sp>
        <p:nvSpPr>
          <p:cNvPr id="58" name="a1f_th57"/>
          <p:cNvSpPr/>
          <p:nvPr/>
        </p:nvSpPr>
        <p:spPr>
          <a:xfrm>
            <a:off x="5440679" y="1124712"/>
            <a:ext cx="3246120" cy="338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f_tht58"/>
          <p:cNvSpPr txBox="1"/>
          <p:nvPr/>
        </p:nvSpPr>
        <p:spPr>
          <a:xfrm>
            <a:off x="5513831" y="1124712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60" name="a1wd80_td59"/>
          <p:cNvSpPr/>
          <p:nvPr/>
        </p:nvSpPr>
        <p:spPr>
          <a:xfrm>
            <a:off x="5440679" y="1463040"/>
            <a:ext cx="3246120" cy="33832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80_tdt60"/>
          <p:cNvSpPr txBox="1"/>
          <p:nvPr/>
        </p:nvSpPr>
        <p:spPr>
          <a:xfrm>
            <a:off x="5513831" y="1463040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Redis is the database (queues, sessions)</a:t>
            </a:r>
          </a:p>
        </p:txBody>
      </p:sp>
      <p:sp>
        <p:nvSpPr>
          <p:cNvPr id="62" name="a1wd160_td61"/>
          <p:cNvSpPr/>
          <p:nvPr/>
        </p:nvSpPr>
        <p:spPr>
          <a:xfrm>
            <a:off x="5440679" y="1801368"/>
            <a:ext cx="3246120" cy="3383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160_tdt62"/>
          <p:cNvSpPr txBox="1"/>
          <p:nvPr/>
        </p:nvSpPr>
        <p:spPr>
          <a:xfrm>
            <a:off x="5513831" y="1801368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Pure cache - Horizon Bank</a:t>
            </a:r>
          </a:p>
        </p:txBody>
      </p:sp>
      <p:sp>
        <p:nvSpPr>
          <p:cNvPr id="64" name="a1wd240_td63"/>
          <p:cNvSpPr/>
          <p:nvPr/>
        </p:nvSpPr>
        <p:spPr>
          <a:xfrm>
            <a:off x="5440679" y="2139696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240_tdt64"/>
          <p:cNvSpPr txBox="1"/>
          <p:nvPr/>
        </p:nvSpPr>
        <p:spPr>
          <a:xfrm>
            <a:off x="5513831" y="2139696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Stable set of hot keys</a:t>
            </a:r>
          </a:p>
        </p:txBody>
      </p:sp>
      <p:sp>
        <p:nvSpPr>
          <p:cNvPr id="66" name="a1wd320_td65"/>
          <p:cNvSpPr/>
          <p:nvPr/>
        </p:nvSpPr>
        <p:spPr>
          <a:xfrm>
            <a:off x="5440679" y="2478024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320_tdt66"/>
          <p:cNvSpPr txBox="1"/>
          <p:nvPr/>
        </p:nvSpPr>
        <p:spPr>
          <a:xfrm>
            <a:off x="5513831" y="2478024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Uniform access, lowest CPU</a:t>
            </a:r>
          </a:p>
        </p:txBody>
      </p:sp>
      <p:sp>
        <p:nvSpPr>
          <p:cNvPr id="68" name="a1wd400_td67"/>
          <p:cNvSpPr/>
          <p:nvPr/>
        </p:nvSpPr>
        <p:spPr>
          <a:xfrm>
            <a:off x="5440679" y="2816352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400_tdt68"/>
          <p:cNvSpPr txBox="1"/>
          <p:nvPr/>
        </p:nvSpPr>
        <p:spPr>
          <a:xfrm>
            <a:off x="5513831" y="2816352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Cache + permanent keys together</a:t>
            </a:r>
          </a:p>
        </p:txBody>
      </p:sp>
      <p:sp>
        <p:nvSpPr>
          <p:cNvPr id="70" name="a1wd480_td69"/>
          <p:cNvSpPr/>
          <p:nvPr/>
        </p:nvSpPr>
        <p:spPr>
          <a:xfrm>
            <a:off x="5440679" y="3154679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480_tdt70"/>
          <p:cNvSpPr txBox="1"/>
          <p:nvPr/>
        </p:nvSpPr>
        <p:spPr>
          <a:xfrm>
            <a:off x="5513831" y="3154679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Same, frequency-based</a:t>
            </a:r>
          </a:p>
        </p:txBody>
      </p:sp>
      <p:sp>
        <p:nvSpPr>
          <p:cNvPr id="72" name="a1wd560_td71"/>
          <p:cNvSpPr/>
          <p:nvPr/>
        </p:nvSpPr>
        <p:spPr>
          <a:xfrm>
            <a:off x="5440679" y="3493008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560_tdt72"/>
          <p:cNvSpPr txBox="1"/>
          <p:nvPr/>
        </p:nvSpPr>
        <p:spPr>
          <a:xfrm>
            <a:off x="5513831" y="3493008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Items about to expire anyway</a:t>
            </a:r>
          </a:p>
        </p:txBody>
      </p:sp>
      <p:sp>
        <p:nvSpPr>
          <p:cNvPr id="74" name="a1wd640_td73"/>
          <p:cNvSpPr/>
          <p:nvPr/>
        </p:nvSpPr>
        <p:spPr>
          <a:xfrm>
            <a:off x="5440679" y="3831335"/>
            <a:ext cx="3246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wd640_tdt74"/>
          <p:cNvSpPr txBox="1"/>
          <p:nvPr/>
        </p:nvSpPr>
        <p:spPr>
          <a:xfrm>
            <a:off x="5513831" y="3831335"/>
            <a:ext cx="3136391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Rarely right</a:t>
            </a:r>
          </a:p>
        </p:txBody>
      </p:sp>
      <p:sp>
        <p:nvSpPr>
          <p:cNvPr id="76" name="ft7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77" name="ft7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LRU and LFU Look At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 key carries either an idle clock or a frequency counter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754880" cy="2688336"/>
          </a:xfrm>
          <a:prstGeom prst="roundRect">
            <a:avLst>
              <a:gd name="adj" fmla="val 27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66928" y="1197864"/>
            <a:ext cx="453542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66928" y="152704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CONFIG SET maxmemory-policy allkeys-lfu</a:t>
            </a:r>
          </a:p>
        </p:txBody>
      </p:sp>
      <p:sp>
        <p:nvSpPr>
          <p:cNvPr id="7" name="a1wd70_code6"/>
          <p:cNvSpPr txBox="1"/>
          <p:nvPr/>
        </p:nvSpPr>
        <p:spPr>
          <a:xfrm>
            <a:off x="566928" y="170992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OK</a:t>
            </a:r>
          </a:p>
        </p:txBody>
      </p:sp>
      <p:sp>
        <p:nvSpPr>
          <p:cNvPr id="8" name="a1wd140_code7"/>
          <p:cNvSpPr txBox="1"/>
          <p:nvPr/>
        </p:nvSpPr>
        <p:spPr>
          <a:xfrm>
            <a:off x="566928" y="1892807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64748B"/>
                </a:solidFill>
                <a:latin typeface="Courier New"/>
              </a:rPr>
              <a:t># GET bank:txns:hot executed 50 times</a:t>
            </a:r>
          </a:p>
        </p:txBody>
      </p:sp>
      <p:sp>
        <p:nvSpPr>
          <p:cNvPr id="9" name="a1wd210_code8"/>
          <p:cNvSpPr txBox="1"/>
          <p:nvPr/>
        </p:nvSpPr>
        <p:spPr>
          <a:xfrm>
            <a:off x="566928" y="207568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OBJECT FREQ bank:txns:hot</a:t>
            </a:r>
          </a:p>
        </p:txBody>
      </p:sp>
      <p:sp>
        <p:nvSpPr>
          <p:cNvPr id="10" name="a1wd280_code9"/>
          <p:cNvSpPr txBox="1"/>
          <p:nvPr/>
        </p:nvSpPr>
        <p:spPr>
          <a:xfrm>
            <a:off x="566928" y="225856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10</a:t>
            </a:r>
          </a:p>
        </p:txBody>
      </p:sp>
      <p:sp>
        <p:nvSpPr>
          <p:cNvPr id="11" name="a1wd350_code10"/>
          <p:cNvSpPr txBox="1"/>
          <p:nvPr/>
        </p:nvSpPr>
        <p:spPr>
          <a:xfrm>
            <a:off x="566928" y="244144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OBJECT FREQ bank:txns:cold</a:t>
            </a:r>
          </a:p>
        </p:txBody>
      </p:sp>
      <p:sp>
        <p:nvSpPr>
          <p:cNvPr id="12" name="a1wd420_code11"/>
          <p:cNvSpPr txBox="1"/>
          <p:nvPr/>
        </p:nvSpPr>
        <p:spPr>
          <a:xfrm>
            <a:off x="566928" y="262432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5</a:t>
            </a:r>
          </a:p>
        </p:txBody>
      </p:sp>
      <p:sp>
        <p:nvSpPr>
          <p:cNvPr id="13" name="a1wd490_code12"/>
          <p:cNvSpPr txBox="1"/>
          <p:nvPr/>
        </p:nvSpPr>
        <p:spPr>
          <a:xfrm>
            <a:off x="566928" y="280720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CONFIG SET maxmemory-policy allkeys-lru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566928" y="299008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OK</a:t>
            </a:r>
          </a:p>
        </p:txBody>
      </p:sp>
      <p:sp>
        <p:nvSpPr>
          <p:cNvPr id="15" name="a1wd630_code14"/>
          <p:cNvSpPr txBox="1"/>
          <p:nvPr/>
        </p:nvSpPr>
        <p:spPr>
          <a:xfrm>
            <a:off x="566928" y="317296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64748B"/>
                </a:solidFill>
                <a:latin typeface="Courier New"/>
              </a:rPr>
              <a:t># 4 seconds after SET bank:txns:idle</a:t>
            </a:r>
          </a:p>
        </p:txBody>
      </p:sp>
      <p:sp>
        <p:nvSpPr>
          <p:cNvPr id="16" name="a1wd700_code15"/>
          <p:cNvSpPr txBox="1"/>
          <p:nvPr/>
        </p:nvSpPr>
        <p:spPr>
          <a:xfrm>
            <a:off x="566928" y="335584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4B5FD"/>
                </a:solidFill>
                <a:latin typeface="Courier New"/>
              </a:rPr>
              <a:t>127.0.0.1:6379&gt; OBJECT IDLETIME bank:txns:idle</a:t>
            </a:r>
          </a:p>
        </p:txBody>
      </p:sp>
      <p:sp>
        <p:nvSpPr>
          <p:cNvPr id="17" name="a1wd770_code16"/>
          <p:cNvSpPr txBox="1"/>
          <p:nvPr/>
        </p:nvSpPr>
        <p:spPr>
          <a:xfrm>
            <a:off x="566928" y="3538728"/>
            <a:ext cx="45354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14B8A6"/>
                </a:solidFill>
                <a:latin typeface="Courier New"/>
              </a:rPr>
              <a:t>(integer) 4</a:t>
            </a:r>
          </a:p>
        </p:txBody>
      </p:sp>
      <p:sp>
        <p:nvSpPr>
          <p:cNvPr id="18" name="a2u_dot17"/>
          <p:cNvSpPr/>
          <p:nvPr/>
        </p:nvSpPr>
        <p:spPr>
          <a:xfrm>
            <a:off x="5440680" y="1316736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b18"/>
          <p:cNvSpPr txBox="1"/>
          <p:nvPr/>
        </p:nvSpPr>
        <p:spPr>
          <a:xfrm>
            <a:off x="5660136" y="1216152"/>
            <a:ext cx="3026663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LFU counter  </a:t>
            </a:r>
            <a:r>
              <a:rPr sz="1050" b="0">
                <a:solidFill>
                  <a:srgbClr val="334155"/>
                </a:solidFill>
                <a:latin typeface="Calibri"/>
              </a:rPr>
              <a:t>logarithmic - 50 reads gave 10, not 50</a:t>
            </a:r>
          </a:p>
        </p:txBody>
      </p:sp>
      <p:sp>
        <p:nvSpPr>
          <p:cNvPr id="20" name="a2ud140_dot19"/>
          <p:cNvSpPr/>
          <p:nvPr/>
        </p:nvSpPr>
        <p:spPr>
          <a:xfrm>
            <a:off x="5440680" y="188366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140_b20"/>
          <p:cNvSpPr txBox="1"/>
          <p:nvPr/>
        </p:nvSpPr>
        <p:spPr>
          <a:xfrm>
            <a:off x="5660136" y="1783080"/>
            <a:ext cx="3026663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Starts at 5  </a:t>
            </a:r>
            <a:r>
              <a:rPr sz="1050" b="0">
                <a:solidFill>
                  <a:srgbClr val="334155"/>
                </a:solidFill>
                <a:latin typeface="Calibri"/>
              </a:rPr>
              <a:t>so a brand-new key is not evicted at once</a:t>
            </a:r>
          </a:p>
        </p:txBody>
      </p:sp>
      <p:sp>
        <p:nvSpPr>
          <p:cNvPr id="22" name="a2ud280_dot21"/>
          <p:cNvSpPr/>
          <p:nvPr/>
        </p:nvSpPr>
        <p:spPr>
          <a:xfrm>
            <a:off x="5440680" y="245059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280_b22"/>
          <p:cNvSpPr txBox="1"/>
          <p:nvPr/>
        </p:nvSpPr>
        <p:spPr>
          <a:xfrm>
            <a:off x="5660136" y="2350008"/>
            <a:ext cx="3026663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Decays  </a:t>
            </a:r>
            <a:r>
              <a:rPr sz="1050" b="0">
                <a:solidFill>
                  <a:srgbClr val="334155"/>
                </a:solidFill>
                <a:latin typeface="Calibri"/>
              </a:rPr>
              <a:t>lfu-decay-time - old popularity fades</a:t>
            </a:r>
          </a:p>
        </p:txBody>
      </p:sp>
      <p:sp>
        <p:nvSpPr>
          <p:cNvPr id="24" name="a2ud420_dot23"/>
          <p:cNvSpPr/>
          <p:nvPr/>
        </p:nvSpPr>
        <p:spPr>
          <a:xfrm>
            <a:off x="5440680" y="301752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420_b24"/>
          <p:cNvSpPr txBox="1"/>
          <p:nvPr/>
        </p:nvSpPr>
        <p:spPr>
          <a:xfrm>
            <a:off x="5660136" y="2916936"/>
            <a:ext cx="3026663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LRU  </a:t>
            </a:r>
            <a:r>
              <a:rPr sz="1050" b="0">
                <a:solidFill>
                  <a:srgbClr val="334155"/>
                </a:solidFill>
                <a:latin typeface="Calibri"/>
              </a:rPr>
              <a:t>OBJECT IDLETIME = seconds since last touch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Measuring a Cache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Four numbers from INFO tell you whether the cache is working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31920" cy="1938528"/>
          </a:xfrm>
          <a:prstGeom prst="roundRect">
            <a:avLst>
              <a:gd name="adj" fmla="val 3773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85216" y="1197864"/>
            <a:ext cx="367588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85216" y="1545336"/>
            <a:ext cx="3675887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C4B5FD"/>
                </a:solidFill>
                <a:latin typeface="Courier New"/>
              </a:rPr>
              <a:t>$ redis-cli INFO stats | grep -E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85216" y="1746504"/>
            <a:ext cx="3675887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C4B5FD"/>
                </a:solidFill>
                <a:latin typeface="Courier New"/>
              </a:rPr>
              <a:t>    'keyspace_|expired|evicted'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85216" y="1947672"/>
            <a:ext cx="3675887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14B8A6"/>
                </a:solidFill>
                <a:latin typeface="Courier New"/>
              </a:rPr>
              <a:t>expired_keys:1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85216" y="2148840"/>
            <a:ext cx="3675887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14B8A6"/>
                </a:solidFill>
                <a:latin typeface="Courier New"/>
              </a:rPr>
              <a:t>evicted_keys:0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85216" y="2350008"/>
            <a:ext cx="3675887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14B8A6"/>
                </a:solidFill>
                <a:latin typeface="Courier New"/>
              </a:rPr>
              <a:t>keyspace_hits:17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85216" y="2551176"/>
            <a:ext cx="3675887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14B8A6"/>
                </a:solidFill>
                <a:latin typeface="Courier New"/>
              </a:rPr>
              <a:t>keyspace_misses:5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585216" y="2752344"/>
            <a:ext cx="3675887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ourier New"/>
              </a:rPr>
              <a:t># ratio = 17 / (17 + 5) = 77.3 %</a:t>
            </a:r>
          </a:p>
        </p:txBody>
      </p:sp>
      <p:sp>
        <p:nvSpPr>
          <p:cNvPr id="13" name="a2f_th12"/>
          <p:cNvSpPr/>
          <p:nvPr/>
        </p:nvSpPr>
        <p:spPr>
          <a:xfrm>
            <a:off x="4617720" y="1143000"/>
            <a:ext cx="141732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f_tht13"/>
          <p:cNvSpPr txBox="1"/>
          <p:nvPr/>
        </p:nvSpPr>
        <p:spPr>
          <a:xfrm>
            <a:off x="4690872" y="114300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Metric</a:t>
            </a:r>
          </a:p>
        </p:txBody>
      </p:sp>
      <p:sp>
        <p:nvSpPr>
          <p:cNvPr id="15" name="a2wd100_td14"/>
          <p:cNvSpPr/>
          <p:nvPr/>
        </p:nvSpPr>
        <p:spPr>
          <a:xfrm>
            <a:off x="4617720" y="1508760"/>
            <a:ext cx="14173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wd100_tdt15"/>
          <p:cNvSpPr txBox="1"/>
          <p:nvPr/>
        </p:nvSpPr>
        <p:spPr>
          <a:xfrm>
            <a:off x="4690872" y="150876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hit ratio</a:t>
            </a:r>
          </a:p>
        </p:txBody>
      </p:sp>
      <p:sp>
        <p:nvSpPr>
          <p:cNvPr id="17" name="a2wd200_td16"/>
          <p:cNvSpPr/>
          <p:nvPr/>
        </p:nvSpPr>
        <p:spPr>
          <a:xfrm>
            <a:off x="4617720" y="1874519"/>
            <a:ext cx="14173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wd200_tdt17"/>
          <p:cNvSpPr txBox="1"/>
          <p:nvPr/>
        </p:nvSpPr>
        <p:spPr>
          <a:xfrm>
            <a:off x="4690872" y="1874519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evicted_keys</a:t>
            </a:r>
          </a:p>
        </p:txBody>
      </p:sp>
      <p:sp>
        <p:nvSpPr>
          <p:cNvPr id="19" name="a2wd300_td18"/>
          <p:cNvSpPr/>
          <p:nvPr/>
        </p:nvSpPr>
        <p:spPr>
          <a:xfrm>
            <a:off x="4617720" y="2240280"/>
            <a:ext cx="14173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wd300_tdt19"/>
          <p:cNvSpPr txBox="1"/>
          <p:nvPr/>
        </p:nvSpPr>
        <p:spPr>
          <a:xfrm>
            <a:off x="4690872" y="224028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expired_keys</a:t>
            </a:r>
          </a:p>
        </p:txBody>
      </p:sp>
      <p:sp>
        <p:nvSpPr>
          <p:cNvPr id="21" name="a2wd400_td20"/>
          <p:cNvSpPr/>
          <p:nvPr/>
        </p:nvSpPr>
        <p:spPr>
          <a:xfrm>
            <a:off x="4617720" y="2606040"/>
            <a:ext cx="14173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wd400_tdt21"/>
          <p:cNvSpPr txBox="1"/>
          <p:nvPr/>
        </p:nvSpPr>
        <p:spPr>
          <a:xfrm>
            <a:off x="4690872" y="2606040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used_memory</a:t>
            </a:r>
          </a:p>
        </p:txBody>
      </p:sp>
      <p:sp>
        <p:nvSpPr>
          <p:cNvPr id="23" name="a2f_th22"/>
          <p:cNvSpPr/>
          <p:nvPr/>
        </p:nvSpPr>
        <p:spPr>
          <a:xfrm>
            <a:off x="6035040" y="1143000"/>
            <a:ext cx="265176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f_tht23"/>
          <p:cNvSpPr txBox="1"/>
          <p:nvPr/>
        </p:nvSpPr>
        <p:spPr>
          <a:xfrm>
            <a:off x="6108192" y="1143000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Worry when</a:t>
            </a:r>
          </a:p>
        </p:txBody>
      </p:sp>
      <p:sp>
        <p:nvSpPr>
          <p:cNvPr id="25" name="a2wd100_td24"/>
          <p:cNvSpPr/>
          <p:nvPr/>
        </p:nvSpPr>
        <p:spPr>
          <a:xfrm>
            <a:off x="6035040" y="1508760"/>
            <a:ext cx="2651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wd100_tdt25"/>
          <p:cNvSpPr txBox="1"/>
          <p:nvPr/>
        </p:nvSpPr>
        <p:spPr>
          <a:xfrm>
            <a:off x="6108192" y="1508760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Below ~80 % on read-heavy data</a:t>
            </a:r>
          </a:p>
        </p:txBody>
      </p:sp>
      <p:sp>
        <p:nvSpPr>
          <p:cNvPr id="27" name="a2wd200_td26"/>
          <p:cNvSpPr/>
          <p:nvPr/>
        </p:nvSpPr>
        <p:spPr>
          <a:xfrm>
            <a:off x="6035040" y="1874519"/>
            <a:ext cx="2651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wd200_tdt27"/>
          <p:cNvSpPr txBox="1"/>
          <p:nvPr/>
        </p:nvSpPr>
        <p:spPr>
          <a:xfrm>
            <a:off x="6108192" y="1874519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Climbs fast: maxmemory too small</a:t>
            </a:r>
          </a:p>
        </p:txBody>
      </p:sp>
      <p:sp>
        <p:nvSpPr>
          <p:cNvPr id="29" name="a2wd300_td28"/>
          <p:cNvSpPr/>
          <p:nvPr/>
        </p:nvSpPr>
        <p:spPr>
          <a:xfrm>
            <a:off x="6035040" y="2240280"/>
            <a:ext cx="2651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d300_tdt29"/>
          <p:cNvSpPr txBox="1"/>
          <p:nvPr/>
        </p:nvSpPr>
        <p:spPr>
          <a:xfrm>
            <a:off x="6108192" y="2240280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Flat while keys pile up: no TTLs</a:t>
            </a:r>
          </a:p>
        </p:txBody>
      </p:sp>
      <p:sp>
        <p:nvSpPr>
          <p:cNvPr id="31" name="a2wd400_td30"/>
          <p:cNvSpPr/>
          <p:nvPr/>
        </p:nvSpPr>
        <p:spPr>
          <a:xfrm>
            <a:off x="6035040" y="2606040"/>
            <a:ext cx="2651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wd400_tdt31"/>
          <p:cNvSpPr txBox="1"/>
          <p:nvPr/>
        </p:nvSpPr>
        <p:spPr>
          <a:xfrm>
            <a:off x="6108192" y="2606040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Pinned at maxmemory + evictions</a:t>
            </a:r>
          </a:p>
        </p:txBody>
      </p:sp>
      <p:sp>
        <p:nvSpPr>
          <p:cNvPr id="33" name="a3u_nb32"/>
          <p:cNvSpPr/>
          <p:nvPr/>
        </p:nvSpPr>
        <p:spPr>
          <a:xfrm>
            <a:off x="457200" y="32735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u_nacc33"/>
          <p:cNvSpPr/>
          <p:nvPr/>
        </p:nvSpPr>
        <p:spPr>
          <a:xfrm>
            <a:off x="457200" y="3273552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nt34"/>
          <p:cNvSpPr txBox="1"/>
          <p:nvPr/>
        </p:nvSpPr>
        <p:spPr>
          <a:xfrm>
            <a:off x="658368" y="3273552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E2E8F0"/>
                </a:solidFill>
                <a:latin typeface="Calibri"/>
              </a:rPr>
              <a:t>MONITOR shows every command live - perfect in class, dangerous in production (it can halve throughput). SLOWLOG GET is the production-safe view.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Caching Patterns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Who fills the cache, who updates it, and how it goes wrong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Cache-aside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Write-through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Write-behind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Stampede · avalanche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Five Patterns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Horizon Bank uses cache-aside for reads and write-through after transfers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24712"/>
            <a:ext cx="150876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24712"/>
            <a:ext cx="13990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581912"/>
            <a:ext cx="150876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581912"/>
            <a:ext cx="13990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Cache-aside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2039112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2039112"/>
            <a:ext cx="13990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Read-through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496312"/>
            <a:ext cx="150876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496312"/>
            <a:ext cx="13990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Write-through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953512"/>
            <a:ext cx="150876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953512"/>
            <a:ext cx="13990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Write-behind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3410712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3410712"/>
            <a:ext cx="13990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Refresh-ahead</a:t>
            </a:r>
          </a:p>
        </p:txBody>
      </p:sp>
      <p:sp>
        <p:nvSpPr>
          <p:cNvPr id="16" name="a1f_th15"/>
          <p:cNvSpPr/>
          <p:nvPr/>
        </p:nvSpPr>
        <p:spPr>
          <a:xfrm>
            <a:off x="1965960" y="1124712"/>
            <a:ext cx="22402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_tht16"/>
          <p:cNvSpPr txBox="1"/>
          <p:nvPr/>
        </p:nvSpPr>
        <p:spPr>
          <a:xfrm>
            <a:off x="2039112" y="11247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18" name="a1wd110_td17"/>
          <p:cNvSpPr/>
          <p:nvPr/>
        </p:nvSpPr>
        <p:spPr>
          <a:xfrm>
            <a:off x="1965960" y="1581912"/>
            <a:ext cx="22402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10_tdt18"/>
          <p:cNvSpPr txBox="1"/>
          <p:nvPr/>
        </p:nvSpPr>
        <p:spPr>
          <a:xfrm>
            <a:off x="2039112" y="15819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App: GET; on miss DB + SET</a:t>
            </a:r>
          </a:p>
        </p:txBody>
      </p:sp>
      <p:sp>
        <p:nvSpPr>
          <p:cNvPr id="20" name="a1wd220_td19"/>
          <p:cNvSpPr/>
          <p:nvPr/>
        </p:nvSpPr>
        <p:spPr>
          <a:xfrm>
            <a:off x="1965960" y="203911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20_tdt20"/>
          <p:cNvSpPr txBox="1"/>
          <p:nvPr/>
        </p:nvSpPr>
        <p:spPr>
          <a:xfrm>
            <a:off x="2039112" y="20391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Cache library loads the DB</a:t>
            </a:r>
          </a:p>
        </p:txBody>
      </p:sp>
      <p:sp>
        <p:nvSpPr>
          <p:cNvPr id="22" name="a1wd330_td21"/>
          <p:cNvSpPr/>
          <p:nvPr/>
        </p:nvSpPr>
        <p:spPr>
          <a:xfrm>
            <a:off x="1965960" y="2496312"/>
            <a:ext cx="22402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330_tdt22"/>
          <p:cNvSpPr txBox="1"/>
          <p:nvPr/>
        </p:nvSpPr>
        <p:spPr>
          <a:xfrm>
            <a:off x="2039112" y="24963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Always a hit after a write</a:t>
            </a:r>
          </a:p>
        </p:txBody>
      </p:sp>
      <p:sp>
        <p:nvSpPr>
          <p:cNvPr id="24" name="a1wd440_td23"/>
          <p:cNvSpPr/>
          <p:nvPr/>
        </p:nvSpPr>
        <p:spPr>
          <a:xfrm>
            <a:off x="1965960" y="2953512"/>
            <a:ext cx="224028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440_tdt24"/>
          <p:cNvSpPr txBox="1"/>
          <p:nvPr/>
        </p:nvSpPr>
        <p:spPr>
          <a:xfrm>
            <a:off x="2039112" y="29535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From cache</a:t>
            </a:r>
          </a:p>
        </p:txBody>
      </p:sp>
      <p:sp>
        <p:nvSpPr>
          <p:cNvPr id="26" name="a1wd550_td25"/>
          <p:cNvSpPr/>
          <p:nvPr/>
        </p:nvSpPr>
        <p:spPr>
          <a:xfrm>
            <a:off x="1965960" y="341071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550_tdt26"/>
          <p:cNvSpPr txBox="1"/>
          <p:nvPr/>
        </p:nvSpPr>
        <p:spPr>
          <a:xfrm>
            <a:off x="2039112" y="34107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From cache</a:t>
            </a:r>
          </a:p>
        </p:txBody>
      </p:sp>
      <p:sp>
        <p:nvSpPr>
          <p:cNvPr id="28" name="a1f_th27"/>
          <p:cNvSpPr/>
          <p:nvPr/>
        </p:nvSpPr>
        <p:spPr>
          <a:xfrm>
            <a:off x="4206240" y="1124712"/>
            <a:ext cx="22402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4279392" y="11247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30" name="a1wd110_td29"/>
          <p:cNvSpPr/>
          <p:nvPr/>
        </p:nvSpPr>
        <p:spPr>
          <a:xfrm>
            <a:off x="4206240" y="1581912"/>
            <a:ext cx="22402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10_tdt30"/>
          <p:cNvSpPr txBox="1"/>
          <p:nvPr/>
        </p:nvSpPr>
        <p:spPr>
          <a:xfrm>
            <a:off x="4279392" y="15819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DB, then DEL or SET</a:t>
            </a:r>
          </a:p>
        </p:txBody>
      </p:sp>
      <p:sp>
        <p:nvSpPr>
          <p:cNvPr id="32" name="a1wd220_td31"/>
          <p:cNvSpPr/>
          <p:nvPr/>
        </p:nvSpPr>
        <p:spPr>
          <a:xfrm>
            <a:off x="4206240" y="203911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20_tdt32"/>
          <p:cNvSpPr txBox="1"/>
          <p:nvPr/>
        </p:nvSpPr>
        <p:spPr>
          <a:xfrm>
            <a:off x="4279392" y="20391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-</a:t>
            </a:r>
          </a:p>
        </p:txBody>
      </p:sp>
      <p:sp>
        <p:nvSpPr>
          <p:cNvPr id="34" name="a1wd330_td33"/>
          <p:cNvSpPr/>
          <p:nvPr/>
        </p:nvSpPr>
        <p:spPr>
          <a:xfrm>
            <a:off x="4206240" y="2496312"/>
            <a:ext cx="22402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330_tdt34"/>
          <p:cNvSpPr txBox="1"/>
          <p:nvPr/>
        </p:nvSpPr>
        <p:spPr>
          <a:xfrm>
            <a:off x="4279392" y="24963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DB, then SET new value</a:t>
            </a:r>
          </a:p>
        </p:txBody>
      </p:sp>
      <p:sp>
        <p:nvSpPr>
          <p:cNvPr id="36" name="a1wd440_td35"/>
          <p:cNvSpPr/>
          <p:nvPr/>
        </p:nvSpPr>
        <p:spPr>
          <a:xfrm>
            <a:off x="4206240" y="2953512"/>
            <a:ext cx="224028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40_tdt36"/>
          <p:cNvSpPr txBox="1"/>
          <p:nvPr/>
        </p:nvSpPr>
        <p:spPr>
          <a:xfrm>
            <a:off x="4279392" y="29535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Cache now, DB later</a:t>
            </a:r>
          </a:p>
        </p:txBody>
      </p:sp>
      <p:sp>
        <p:nvSpPr>
          <p:cNvPr id="38" name="a1wd550_td37"/>
          <p:cNvSpPr/>
          <p:nvPr/>
        </p:nvSpPr>
        <p:spPr>
          <a:xfrm>
            <a:off x="4206240" y="341071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550_tdt38"/>
          <p:cNvSpPr txBox="1"/>
          <p:nvPr/>
        </p:nvSpPr>
        <p:spPr>
          <a:xfrm>
            <a:off x="4279392" y="34107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Job reloads before TTL</a:t>
            </a:r>
          </a:p>
        </p:txBody>
      </p:sp>
      <p:sp>
        <p:nvSpPr>
          <p:cNvPr id="40" name="a1f_th39"/>
          <p:cNvSpPr/>
          <p:nvPr/>
        </p:nvSpPr>
        <p:spPr>
          <a:xfrm>
            <a:off x="6446520" y="1124712"/>
            <a:ext cx="22402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f_tht40"/>
          <p:cNvSpPr txBox="1"/>
          <p:nvPr/>
        </p:nvSpPr>
        <p:spPr>
          <a:xfrm>
            <a:off x="6519672" y="11247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Trade-off</a:t>
            </a:r>
          </a:p>
        </p:txBody>
      </p:sp>
      <p:sp>
        <p:nvSpPr>
          <p:cNvPr id="42" name="a1wd110_td41"/>
          <p:cNvSpPr/>
          <p:nvPr/>
        </p:nvSpPr>
        <p:spPr>
          <a:xfrm>
            <a:off x="6446520" y="1581912"/>
            <a:ext cx="22402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110_tdt42"/>
          <p:cNvSpPr txBox="1"/>
          <p:nvPr/>
        </p:nvSpPr>
        <p:spPr>
          <a:xfrm>
            <a:off x="6519672" y="15819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Simple; first read after change is slow</a:t>
            </a:r>
          </a:p>
        </p:txBody>
      </p:sp>
      <p:sp>
        <p:nvSpPr>
          <p:cNvPr id="44" name="a1wd220_td43"/>
          <p:cNvSpPr/>
          <p:nvPr/>
        </p:nvSpPr>
        <p:spPr>
          <a:xfrm>
            <a:off x="6446520" y="203911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220_tdt44"/>
          <p:cNvSpPr txBox="1"/>
          <p:nvPr/>
        </p:nvSpPr>
        <p:spPr>
          <a:xfrm>
            <a:off x="6519672" y="20391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Cleaner code; smarter cache layer</a:t>
            </a:r>
          </a:p>
        </p:txBody>
      </p:sp>
      <p:sp>
        <p:nvSpPr>
          <p:cNvPr id="46" name="a1wd330_td45"/>
          <p:cNvSpPr/>
          <p:nvPr/>
        </p:nvSpPr>
        <p:spPr>
          <a:xfrm>
            <a:off x="6446520" y="2496312"/>
            <a:ext cx="224028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330_tdt46"/>
          <p:cNvSpPr txBox="1"/>
          <p:nvPr/>
        </p:nvSpPr>
        <p:spPr>
          <a:xfrm>
            <a:off x="6519672" y="24963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Fresh reads; writes do more work</a:t>
            </a:r>
          </a:p>
        </p:txBody>
      </p:sp>
      <p:sp>
        <p:nvSpPr>
          <p:cNvPr id="48" name="a1wd440_td47"/>
          <p:cNvSpPr/>
          <p:nvPr/>
        </p:nvSpPr>
        <p:spPr>
          <a:xfrm>
            <a:off x="6446520" y="2953512"/>
            <a:ext cx="2240280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440_tdt48"/>
          <p:cNvSpPr txBox="1"/>
          <p:nvPr/>
        </p:nvSpPr>
        <p:spPr>
          <a:xfrm>
            <a:off x="6519672" y="29535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Fast; can lose data - never money</a:t>
            </a:r>
          </a:p>
        </p:txBody>
      </p:sp>
      <p:sp>
        <p:nvSpPr>
          <p:cNvPr id="50" name="a1wd550_td49"/>
          <p:cNvSpPr/>
          <p:nvPr/>
        </p:nvSpPr>
        <p:spPr>
          <a:xfrm>
            <a:off x="6446520" y="341071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550_tdt50"/>
          <p:cNvSpPr txBox="1"/>
          <p:nvPr/>
        </p:nvSpPr>
        <p:spPr>
          <a:xfrm>
            <a:off x="6519672" y="3410712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 misses; loads unused data</a:t>
            </a:r>
          </a:p>
        </p:txBody>
      </p:sp>
      <p:sp>
        <p:nvSpPr>
          <p:cNvPr id="52" name="ft5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3" name="ft5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Four Ways a Cache Goes Wrong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Each has a one-command fix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70432"/>
            <a:ext cx="1933956" cy="20574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70432"/>
            <a:ext cx="1933956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37160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47088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Stampede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21408"/>
            <a:ext cx="16047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SET lock NX EX 5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77439"/>
            <a:ext cx="16047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hot key expires; 500 misses hit the DB together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61487"/>
            <a:ext cx="16047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Fix: one loader holds a lock</a:t>
            </a:r>
          </a:p>
        </p:txBody>
      </p:sp>
      <p:sp>
        <p:nvSpPr>
          <p:cNvPr id="12" name="a2u_card11"/>
          <p:cNvSpPr/>
          <p:nvPr/>
        </p:nvSpPr>
        <p:spPr>
          <a:xfrm>
            <a:off x="2555748" y="1170432"/>
            <a:ext cx="1933956" cy="20574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2555748" y="1170432"/>
            <a:ext cx="1933956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13"/>
          <p:cNvSpPr/>
          <p:nvPr/>
        </p:nvSpPr>
        <p:spPr>
          <a:xfrm>
            <a:off x="2720340" y="137160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t14"/>
          <p:cNvSpPr txBox="1"/>
          <p:nvPr/>
        </p:nvSpPr>
        <p:spPr>
          <a:xfrm>
            <a:off x="2720340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2720340" y="1847088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Avalanche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2720340" y="2121408"/>
            <a:ext cx="16047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EX 300 + rand(30)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2720340" y="2377439"/>
            <a:ext cx="16047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Keys written together expire together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2720340" y="2761487"/>
            <a:ext cx="16047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Fix: add random jitter to TTLs</a:t>
            </a:r>
          </a:p>
        </p:txBody>
      </p:sp>
      <p:sp>
        <p:nvSpPr>
          <p:cNvPr id="20" name="a3u_card19"/>
          <p:cNvSpPr/>
          <p:nvPr/>
        </p:nvSpPr>
        <p:spPr>
          <a:xfrm>
            <a:off x="4654296" y="1170432"/>
            <a:ext cx="1933956" cy="20574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acc20"/>
          <p:cNvSpPr/>
          <p:nvPr/>
        </p:nvSpPr>
        <p:spPr>
          <a:xfrm>
            <a:off x="4654296" y="1170432"/>
            <a:ext cx="1933956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60_ic21"/>
          <p:cNvSpPr/>
          <p:nvPr/>
        </p:nvSpPr>
        <p:spPr>
          <a:xfrm>
            <a:off x="4818888" y="137160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60_ict22"/>
          <p:cNvSpPr txBox="1"/>
          <p:nvPr/>
        </p:nvSpPr>
        <p:spPr>
          <a:xfrm>
            <a:off x="4818888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a3ud90_ct23"/>
          <p:cNvSpPr txBox="1"/>
          <p:nvPr/>
        </p:nvSpPr>
        <p:spPr>
          <a:xfrm>
            <a:off x="4818888" y="1847088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Penetration</a:t>
            </a:r>
          </a:p>
        </p:txBody>
      </p:sp>
      <p:sp>
        <p:nvSpPr>
          <p:cNvPr id="25" name="a3ud120_cs24"/>
          <p:cNvSpPr txBox="1"/>
          <p:nvPr/>
        </p:nvSpPr>
        <p:spPr>
          <a:xfrm>
            <a:off x="4818888" y="2121408"/>
            <a:ext cx="16047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SET k "null" EX 30</a:t>
            </a:r>
          </a:p>
        </p:txBody>
      </p:sp>
      <p:sp>
        <p:nvSpPr>
          <p:cNvPr id="26" name="a3ud150_cb25"/>
          <p:cNvSpPr txBox="1"/>
          <p:nvPr/>
        </p:nvSpPr>
        <p:spPr>
          <a:xfrm>
            <a:off x="4818888" y="2377439"/>
            <a:ext cx="16047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Unknown IDs miss every single time</a:t>
            </a:r>
          </a:p>
        </p:txBody>
      </p:sp>
      <p:sp>
        <p:nvSpPr>
          <p:cNvPr id="27" name="a3ud220_cb26"/>
          <p:cNvSpPr txBox="1"/>
          <p:nvPr/>
        </p:nvSpPr>
        <p:spPr>
          <a:xfrm>
            <a:off x="4818888" y="2761487"/>
            <a:ext cx="16047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Fix: cache "not found" briefly</a:t>
            </a:r>
          </a:p>
        </p:txBody>
      </p:sp>
      <p:sp>
        <p:nvSpPr>
          <p:cNvPr id="28" name="a4u_card27"/>
          <p:cNvSpPr/>
          <p:nvPr/>
        </p:nvSpPr>
        <p:spPr>
          <a:xfrm>
            <a:off x="6752844" y="1170432"/>
            <a:ext cx="1933956" cy="20574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u_acc28"/>
          <p:cNvSpPr/>
          <p:nvPr/>
        </p:nvSpPr>
        <p:spPr>
          <a:xfrm>
            <a:off x="6752844" y="1170432"/>
            <a:ext cx="1933956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4ud60_ic29"/>
          <p:cNvSpPr/>
          <p:nvPr/>
        </p:nvSpPr>
        <p:spPr>
          <a:xfrm>
            <a:off x="6917436" y="137160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4ud60_ict30"/>
          <p:cNvSpPr txBox="1"/>
          <p:nvPr/>
        </p:nvSpPr>
        <p:spPr>
          <a:xfrm>
            <a:off x="6917436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a4ud90_ct31"/>
          <p:cNvSpPr txBox="1"/>
          <p:nvPr/>
        </p:nvSpPr>
        <p:spPr>
          <a:xfrm>
            <a:off x="6917436" y="1847088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Stale write</a:t>
            </a:r>
          </a:p>
        </p:txBody>
      </p:sp>
      <p:sp>
        <p:nvSpPr>
          <p:cNvPr id="33" name="a4ud120_cs32"/>
          <p:cNvSpPr txBox="1"/>
          <p:nvPr/>
        </p:nvSpPr>
        <p:spPr>
          <a:xfrm>
            <a:off x="6917436" y="2121408"/>
            <a:ext cx="16047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SET/DEL after COMMIT</a:t>
            </a:r>
          </a:p>
        </p:txBody>
      </p:sp>
      <p:sp>
        <p:nvSpPr>
          <p:cNvPr id="34" name="a4ud150_cb33"/>
          <p:cNvSpPr txBox="1"/>
          <p:nvPr/>
        </p:nvSpPr>
        <p:spPr>
          <a:xfrm>
            <a:off x="6917436" y="2377439"/>
            <a:ext cx="16047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UI shows an old or rolled-back balance</a:t>
            </a:r>
          </a:p>
        </p:txBody>
      </p:sp>
      <p:sp>
        <p:nvSpPr>
          <p:cNvPr id="35" name="a4ud220_cb34"/>
          <p:cNvSpPr txBox="1"/>
          <p:nvPr/>
        </p:nvSpPr>
        <p:spPr>
          <a:xfrm>
            <a:off x="6917436" y="2761487"/>
            <a:ext cx="16047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Fix: touch the cache after COMMIT</a:t>
            </a:r>
          </a:p>
        </p:txBody>
      </p:sp>
      <p:sp>
        <p:nvSpPr>
          <p:cNvPr id="36" name="a5f_codebg35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5w_code36"/>
          <p:cNvSpPr txBox="1"/>
          <p:nvPr/>
        </p:nvSpPr>
        <p:spPr>
          <a:xfrm>
            <a:off x="548640" y="3429000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127.0.0.1:6379&gt; SET lock:bank:txns:602501000101 api-1 NX EX 5</a:t>
            </a:r>
          </a:p>
        </p:txBody>
      </p:sp>
      <p:sp>
        <p:nvSpPr>
          <p:cNvPr id="38" name="a5wd90_code37"/>
          <p:cNvSpPr txBox="1"/>
          <p:nvPr/>
        </p:nvSpPr>
        <p:spPr>
          <a:xfrm>
            <a:off x="548640" y="3611880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86EFAC"/>
                </a:solidFill>
                <a:latin typeface="Courier New"/>
              </a:rPr>
              <a:t>OK       &lt;- api-1 loads from the DB</a:t>
            </a:r>
          </a:p>
        </p:txBody>
      </p:sp>
      <p:sp>
        <p:nvSpPr>
          <p:cNvPr id="39" name="a5wd180_code38"/>
          <p:cNvSpPr txBox="1"/>
          <p:nvPr/>
        </p:nvSpPr>
        <p:spPr>
          <a:xfrm>
            <a:off x="548640" y="3794760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127.0.0.1:6379&gt; SET lock:bank:txns:602501000101 api-2 NX EX 5</a:t>
            </a:r>
          </a:p>
        </p:txBody>
      </p:sp>
      <p:sp>
        <p:nvSpPr>
          <p:cNvPr id="40" name="a5wd270_code39"/>
          <p:cNvSpPr txBox="1"/>
          <p:nvPr/>
        </p:nvSpPr>
        <p:spPr>
          <a:xfrm>
            <a:off x="548640" y="3977640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FCA5A5"/>
                </a:solidFill>
                <a:latin typeface="Courier New"/>
              </a:rPr>
              <a:t>(nil)    &lt;- api-2 waits, then GETs again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1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300">
                <a:solidFill>
                  <a:srgbClr val="A78BFA"/>
                </a:solidFill>
                <a:latin typeface="Calibri"/>
              </a:rPr>
              <a:t>THE GOLDEN RULE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051560"/>
            <a:ext cx="8046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Money never moves on a cached number.</a:t>
            </a:r>
          </a:p>
        </p:txBody>
      </p:sp>
      <p:sp>
        <p:nvSpPr>
          <p:cNvPr id="4" name="a1f_t3"/>
          <p:cNvSpPr txBox="1"/>
          <p:nvPr/>
        </p:nvSpPr>
        <p:spPr>
          <a:xfrm>
            <a:off x="548640" y="219456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The balance that authorises a transfer is read from PostgreSQL with SELECT ... FOR UPDATE. Redis serves the display of balances and statements - at worst a few seconds old, never able to let an account go overdrawn.</a:t>
            </a:r>
          </a:p>
        </p:txBody>
      </p:sp>
      <p:sp>
        <p:nvSpPr>
          <p:cNvPr id="5" name="a2u_pill4"/>
          <p:cNvSpPr/>
          <p:nvPr/>
        </p:nvSpPr>
        <p:spPr>
          <a:xfrm>
            <a:off x="548640" y="352044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E2E8F0"/>
                </a:solidFill>
                <a:latin typeface="Courier New"/>
              </a:rPr>
              <a:t>DB = truth</a:t>
            </a:r>
          </a:p>
        </p:txBody>
      </p:sp>
      <p:sp>
        <p:nvSpPr>
          <p:cNvPr id="6" name="a2ud90_pill5"/>
          <p:cNvSpPr/>
          <p:nvPr/>
        </p:nvSpPr>
        <p:spPr>
          <a:xfrm>
            <a:off x="2423160" y="352044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E2E8F0"/>
                </a:solidFill>
                <a:latin typeface="Courier New"/>
              </a:rPr>
              <a:t>cache = copy</a:t>
            </a:r>
          </a:p>
        </p:txBody>
      </p:sp>
      <p:sp>
        <p:nvSpPr>
          <p:cNvPr id="7" name="a2ud180_pill6"/>
          <p:cNvSpPr/>
          <p:nvPr/>
        </p:nvSpPr>
        <p:spPr>
          <a:xfrm>
            <a:off x="4297679" y="352044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E2E8F0"/>
                </a:solidFill>
                <a:latin typeface="Courier New"/>
              </a:rPr>
              <a:t>TTL = bound</a:t>
            </a:r>
          </a:p>
        </p:txBody>
      </p:sp>
      <p:sp>
        <p:nvSpPr>
          <p:cNvPr id="8" name="a2ud270_pill7"/>
          <p:cNvSpPr/>
          <p:nvPr/>
        </p:nvSpPr>
        <p:spPr>
          <a:xfrm>
            <a:off x="6172199" y="352044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E2E8F0"/>
                </a:solidFill>
                <a:latin typeface="Courier New"/>
              </a:rPr>
              <a:t>COMMIT first</a:t>
            </a:r>
          </a:p>
        </p:txBody>
      </p:sp>
      <p:sp>
        <p:nvSpPr>
          <p:cNvPr id="9" name="ft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0" name="ft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Horizon Bank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React · Express · PostgreSQL · Redis - four containers, one dashboard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Architecture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Enquiry flow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Transfer flow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Run &amp; test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browser talks to nginx; exactly one module in Express talks to Redis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627632"/>
            <a:ext cx="1325880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bx4"/>
          <p:cNvSpPr txBox="1"/>
          <p:nvPr/>
        </p:nvSpPr>
        <p:spPr>
          <a:xfrm>
            <a:off x="457200" y="1764792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Browser</a:t>
            </a:r>
          </a:p>
        </p:txBody>
      </p:sp>
      <p:sp>
        <p:nvSpPr>
          <p:cNvPr id="6" name="a1u_bx5"/>
          <p:cNvSpPr txBox="1"/>
          <p:nvPr/>
        </p:nvSpPr>
        <p:spPr>
          <a:xfrm>
            <a:off x="502920" y="2084832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Calibri"/>
              </a:rPr>
              <a:t>React 18 SPA</a:t>
            </a:r>
          </a:p>
          <a:p>
            <a:pPr algn="ctr"/>
            <a:r>
              <a:rPr sz="950" b="0">
                <a:solidFill>
                  <a:srgbClr val="334155"/>
                </a:solidFill>
                <a:latin typeface="Calibri"/>
              </a:rPr>
              <a:t>localhost:8080</a:t>
            </a:r>
          </a:p>
        </p:txBody>
      </p:sp>
      <p:sp>
        <p:nvSpPr>
          <p:cNvPr id="7" name="a2u_ng6"/>
          <p:cNvSpPr/>
          <p:nvPr/>
        </p:nvSpPr>
        <p:spPr>
          <a:xfrm>
            <a:off x="2057400" y="1627632"/>
            <a:ext cx="1325880" cy="1280160"/>
          </a:xfrm>
          <a:prstGeom prst="roundRect">
            <a:avLst>
              <a:gd name="adj" fmla="val 7142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2u_ng7"/>
          <p:cNvSpPr txBox="1"/>
          <p:nvPr/>
        </p:nvSpPr>
        <p:spPr>
          <a:xfrm>
            <a:off x="2057400" y="1764792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bank-web</a:t>
            </a:r>
          </a:p>
        </p:txBody>
      </p:sp>
      <p:sp>
        <p:nvSpPr>
          <p:cNvPr id="9" name="a2u_ng8"/>
          <p:cNvSpPr txBox="1"/>
          <p:nvPr/>
        </p:nvSpPr>
        <p:spPr>
          <a:xfrm>
            <a:off x="2103120" y="2084832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Calibri"/>
              </a:rPr>
              <a:t>nginx</a:t>
            </a:r>
          </a:p>
          <a:p>
            <a:pPr algn="ctr"/>
            <a:r>
              <a:rPr sz="950" b="0">
                <a:solidFill>
                  <a:srgbClr val="334155"/>
                </a:solidFill>
                <a:latin typeface="Calibri"/>
              </a:rPr>
              <a:t>static bundle</a:t>
            </a:r>
          </a:p>
          <a:p>
            <a:pPr algn="ctr"/>
            <a:r>
              <a:rPr sz="950" b="0">
                <a:solidFill>
                  <a:srgbClr val="334155"/>
                </a:solidFill>
                <a:latin typeface="Calibri"/>
              </a:rPr>
              <a:t>proxy /api/*</a:t>
            </a:r>
          </a:p>
        </p:txBody>
      </p:sp>
      <p:cxnSp>
        <p:nvCxnSpPr>
          <p:cNvPr id="10" name="a2f_ln9"/>
          <p:cNvCxnSpPr/>
          <p:nvPr/>
        </p:nvCxnSpPr>
        <p:spPr>
          <a:xfrm>
            <a:off x="1783080" y="2267712"/>
            <a:ext cx="274320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3u_api10"/>
          <p:cNvSpPr/>
          <p:nvPr/>
        </p:nvSpPr>
        <p:spPr>
          <a:xfrm>
            <a:off x="3657600" y="1143000"/>
            <a:ext cx="2331720" cy="2743200"/>
          </a:xfrm>
          <a:prstGeom prst="roundRect">
            <a:avLst>
              <a:gd name="adj" fmla="val 3921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3u_api11"/>
          <p:cNvSpPr txBox="1"/>
          <p:nvPr/>
        </p:nvSpPr>
        <p:spPr>
          <a:xfrm>
            <a:off x="3657600" y="119786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Calibri"/>
              </a:rPr>
              <a:t>bank-api  ·  Express</a:t>
            </a:r>
          </a:p>
        </p:txBody>
      </p:sp>
      <p:sp>
        <p:nvSpPr>
          <p:cNvPr id="13" name="a3ud80_ly12"/>
          <p:cNvSpPr/>
          <p:nvPr/>
        </p:nvSpPr>
        <p:spPr>
          <a:xfrm>
            <a:off x="3794760" y="1536192"/>
            <a:ext cx="2057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3ud80_lyt13"/>
          <p:cNvSpPr txBox="1"/>
          <p:nvPr/>
        </p:nvSpPr>
        <p:spPr>
          <a:xfrm>
            <a:off x="3794760" y="1536192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ourier New"/>
              </a:rPr>
              <a:t>routes</a:t>
            </a:r>
          </a:p>
        </p:txBody>
      </p:sp>
      <p:sp>
        <p:nvSpPr>
          <p:cNvPr id="15" name="a3ud140_ly14"/>
          <p:cNvSpPr/>
          <p:nvPr/>
        </p:nvSpPr>
        <p:spPr>
          <a:xfrm>
            <a:off x="3794760" y="1993391"/>
            <a:ext cx="2057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3ud140_lyt15"/>
          <p:cNvSpPr txBox="1"/>
          <p:nvPr/>
        </p:nvSpPr>
        <p:spPr>
          <a:xfrm>
            <a:off x="3794760" y="1993391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ourier New"/>
              </a:rPr>
              <a:t>services</a:t>
            </a:r>
          </a:p>
        </p:txBody>
      </p:sp>
      <p:sp>
        <p:nvSpPr>
          <p:cNvPr id="17" name="a3ud200_ly16"/>
          <p:cNvSpPr/>
          <p:nvPr/>
        </p:nvSpPr>
        <p:spPr>
          <a:xfrm>
            <a:off x="3794760" y="2450591"/>
            <a:ext cx="2057400" cy="36576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3ud200_lyt17"/>
          <p:cNvSpPr txBox="1"/>
          <p:nvPr/>
        </p:nvSpPr>
        <p:spPr>
          <a:xfrm>
            <a:off x="3794760" y="2450591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ourier New"/>
              </a:rPr>
              <a:t>cacheService</a:t>
            </a:r>
          </a:p>
        </p:txBody>
      </p:sp>
      <p:sp>
        <p:nvSpPr>
          <p:cNvPr id="19" name="a3ud260_ly18"/>
          <p:cNvSpPr/>
          <p:nvPr/>
        </p:nvSpPr>
        <p:spPr>
          <a:xfrm>
            <a:off x="3794760" y="2907791"/>
            <a:ext cx="2057400" cy="365760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3ud260_lyt19"/>
          <p:cNvSpPr txBox="1"/>
          <p:nvPr/>
        </p:nvSpPr>
        <p:spPr>
          <a:xfrm>
            <a:off x="3794760" y="2907791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ourier New"/>
              </a:rPr>
              <a:t>repositories</a:t>
            </a:r>
          </a:p>
        </p:txBody>
      </p:sp>
      <p:sp>
        <p:nvSpPr>
          <p:cNvPr id="21" name="a3ud320_ly20"/>
          <p:cNvSpPr/>
          <p:nvPr/>
        </p:nvSpPr>
        <p:spPr>
          <a:xfrm>
            <a:off x="3794760" y="3364991"/>
            <a:ext cx="2057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320_lyt21"/>
          <p:cNvSpPr txBox="1"/>
          <p:nvPr/>
        </p:nvSpPr>
        <p:spPr>
          <a:xfrm>
            <a:off x="3794760" y="3364991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ourier New"/>
              </a:rPr>
              <a:t>infra: pg · redis</a:t>
            </a:r>
          </a:p>
        </p:txBody>
      </p:sp>
      <p:cxnSp>
        <p:nvCxnSpPr>
          <p:cNvPr id="23" name="a3f_ln22"/>
          <p:cNvCxnSpPr/>
          <p:nvPr/>
        </p:nvCxnSpPr>
        <p:spPr>
          <a:xfrm>
            <a:off x="3383280" y="2267712"/>
            <a:ext cx="274320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4u_rd23"/>
          <p:cNvSpPr/>
          <p:nvPr/>
        </p:nvSpPr>
        <p:spPr>
          <a:xfrm>
            <a:off x="6583680" y="1399032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DC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4u_rd24"/>
          <p:cNvSpPr txBox="1"/>
          <p:nvPr/>
        </p:nvSpPr>
        <p:spPr>
          <a:xfrm>
            <a:off x="6583680" y="147218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991B1B"/>
                </a:solidFill>
                <a:latin typeface="Calibri"/>
              </a:rPr>
              <a:t>bank-redis</a:t>
            </a:r>
          </a:p>
        </p:txBody>
      </p:sp>
      <p:sp>
        <p:nvSpPr>
          <p:cNvPr id="26" name="a4u_rd25"/>
          <p:cNvSpPr txBox="1"/>
          <p:nvPr/>
        </p:nvSpPr>
        <p:spPr>
          <a:xfrm>
            <a:off x="6629400" y="178308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Calibri"/>
              </a:rPr>
              <a:t>the CACHE</a:t>
            </a:r>
          </a:p>
          <a:p>
            <a:pPr algn="ctr"/>
            <a:r>
              <a:rPr sz="950" b="0">
                <a:solidFill>
                  <a:srgbClr val="334155"/>
                </a:solidFill>
                <a:latin typeface="Calibri"/>
              </a:rPr>
              <a:t>64 MB · allkeys-lru</a:t>
            </a:r>
          </a:p>
        </p:txBody>
      </p:sp>
      <p:cxnSp>
        <p:nvCxnSpPr>
          <p:cNvPr id="27" name="a4f_ln26"/>
          <p:cNvCxnSpPr/>
          <p:nvPr/>
        </p:nvCxnSpPr>
        <p:spPr>
          <a:xfrm flipV="1">
            <a:off x="5852160" y="2039112"/>
            <a:ext cx="731520" cy="594360"/>
          </a:xfrm>
          <a:prstGeom prst="line">
            <a:avLst/>
          </a:prstGeom>
          <a:ln w="19050">
            <a:solidFill>
              <a:srgbClr val="DC3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5u_pg27"/>
          <p:cNvSpPr/>
          <p:nvPr/>
        </p:nvSpPr>
        <p:spPr>
          <a:xfrm>
            <a:off x="6583680" y="2816352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5u_pg28"/>
          <p:cNvSpPr txBox="1"/>
          <p:nvPr/>
        </p:nvSpPr>
        <p:spPr>
          <a:xfrm>
            <a:off x="6583680" y="28895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Calibri"/>
              </a:rPr>
              <a:t>bank-postgres</a:t>
            </a:r>
          </a:p>
        </p:txBody>
      </p:sp>
      <p:sp>
        <p:nvSpPr>
          <p:cNvPr id="30" name="a5u_pg29"/>
          <p:cNvSpPr txBox="1"/>
          <p:nvPr/>
        </p:nvSpPr>
        <p:spPr>
          <a:xfrm>
            <a:off x="6629400" y="320040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Calibri"/>
              </a:rPr>
              <a:t>SOURCE OF TRUTH</a:t>
            </a:r>
          </a:p>
          <a:p>
            <a:pPr algn="ctr"/>
            <a:r>
              <a:rPr sz="950" b="0">
                <a:solidFill>
                  <a:srgbClr val="334155"/>
                </a:solidFill>
                <a:latin typeface="Calibri"/>
              </a:rPr>
              <a:t>3 tables · volume</a:t>
            </a:r>
          </a:p>
        </p:txBody>
      </p:sp>
      <p:cxnSp>
        <p:nvCxnSpPr>
          <p:cNvPr id="31" name="a5f_ln30"/>
          <p:cNvCxnSpPr/>
          <p:nvPr/>
        </p:nvCxnSpPr>
        <p:spPr>
          <a:xfrm>
            <a:off x="5852160" y="3090672"/>
            <a:ext cx="731520" cy="22860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6u_leg31"/>
          <p:cNvSpPr txBox="1"/>
          <p:nvPr/>
        </p:nvSpPr>
        <p:spPr>
          <a:xfrm>
            <a:off x="457200" y="3273552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Read: Redis first, PostgreSQL on a miss</a:t>
            </a:r>
          </a:p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Write: PostgreSQL first, then Redis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One Screen, Two Menu Items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realistic net-banking dashboard - with a HIT/MISS badge on every panel</a:t>
            </a:r>
          </a:p>
        </p:txBody>
      </p:sp>
      <p:pic>
        <p:nvPicPr>
          <p:cNvPr id="4" name="a1f_shot1" descr="ui_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928616" cy="3520440"/>
          </a:xfrm>
          <a:prstGeom prst="rect">
            <a:avLst/>
          </a:prstGeom>
        </p:spPr>
      </p:pic>
      <p:sp>
        <p:nvSpPr>
          <p:cNvPr id="5" name="a2u_dot3"/>
          <p:cNvSpPr/>
          <p:nvPr/>
        </p:nvSpPr>
        <p:spPr>
          <a:xfrm>
            <a:off x="5715000" y="13441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2u_b4"/>
          <p:cNvSpPr txBox="1"/>
          <p:nvPr/>
        </p:nvSpPr>
        <p:spPr>
          <a:xfrm>
            <a:off x="5934456" y="1243584"/>
            <a:ext cx="2752344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Transactions  </a:t>
            </a:r>
            <a:r>
              <a:rPr sz="1050" b="0">
                <a:solidFill>
                  <a:srgbClr val="334155"/>
                </a:solidFill>
                <a:latin typeface="Calibri"/>
              </a:rPr>
              <a:t>latest 50, filters, search - cached</a:t>
            </a:r>
          </a:p>
        </p:txBody>
      </p:sp>
      <p:sp>
        <p:nvSpPr>
          <p:cNvPr id="7" name="a2ud150_dot5"/>
          <p:cNvSpPr/>
          <p:nvPr/>
        </p:nvSpPr>
        <p:spPr>
          <a:xfrm>
            <a:off x="5715000" y="198424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2ud150_b6"/>
          <p:cNvSpPr txBox="1"/>
          <p:nvPr/>
        </p:nvSpPr>
        <p:spPr>
          <a:xfrm>
            <a:off x="5934456" y="1883664"/>
            <a:ext cx="2752344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Fund Transfer  </a:t>
            </a:r>
            <a:r>
              <a:rPr sz="1050" b="0">
                <a:solidFill>
                  <a:srgbClr val="334155"/>
                </a:solidFill>
                <a:latin typeface="Calibri"/>
              </a:rPr>
              <a:t>details, review, acknowledgement</a:t>
            </a:r>
          </a:p>
        </p:txBody>
      </p:sp>
      <p:sp>
        <p:nvSpPr>
          <p:cNvPr id="9" name="a2ud300_dot7"/>
          <p:cNvSpPr/>
          <p:nvPr/>
        </p:nvSpPr>
        <p:spPr>
          <a:xfrm>
            <a:off x="5715000" y="262432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ud300_b8"/>
          <p:cNvSpPr txBox="1"/>
          <p:nvPr/>
        </p:nvSpPr>
        <p:spPr>
          <a:xfrm>
            <a:off x="5934456" y="2523744"/>
            <a:ext cx="2752344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Badge  </a:t>
            </a:r>
            <a:r>
              <a:rPr sz="1050" b="0">
                <a:solidFill>
                  <a:srgbClr val="334155"/>
                </a:solidFill>
                <a:latin typeface="Calibri"/>
              </a:rPr>
              <a:t>amber MISS -&gt; green HIT + TTL</a:t>
            </a:r>
          </a:p>
        </p:txBody>
      </p:sp>
      <p:sp>
        <p:nvSpPr>
          <p:cNvPr id="11" name="a2ud450_dot9"/>
          <p:cNvSpPr/>
          <p:nvPr/>
        </p:nvSpPr>
        <p:spPr>
          <a:xfrm>
            <a:off x="5715000" y="32644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2ud450_b10"/>
          <p:cNvSpPr txBox="1"/>
          <p:nvPr/>
        </p:nvSpPr>
        <p:spPr>
          <a:xfrm>
            <a:off x="5934456" y="3163824"/>
            <a:ext cx="2752344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Cache Inspector  </a:t>
            </a:r>
            <a:r>
              <a:rPr sz="1050" b="0">
                <a:solidFill>
                  <a:srgbClr val="334155"/>
                </a:solidFill>
                <a:latin typeface="Calibri"/>
              </a:rPr>
              <a:t>live bank:* keys, hit rate, Clear cache</a:t>
            </a:r>
          </a:p>
        </p:txBody>
      </p:sp>
      <p:sp>
        <p:nvSpPr>
          <p:cNvPr id="13" name="ft1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4" name="ft1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Flow 1 · Transaction Enquiry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Cache-aside - PostgreSQL is only asked on a miss</a:t>
            </a:r>
          </a:p>
        </p:txBody>
      </p:sp>
      <p:sp>
        <p:nvSpPr>
          <p:cNvPr id="4" name="a1u_n3"/>
          <p:cNvSpPr/>
          <p:nvPr/>
        </p:nvSpPr>
        <p:spPr>
          <a:xfrm>
            <a:off x="457200" y="117043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nt4"/>
          <p:cNvSpPr txBox="1"/>
          <p:nvPr/>
        </p:nvSpPr>
        <p:spPr>
          <a:xfrm>
            <a:off x="457200" y="11704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a1u_nb5"/>
          <p:cNvSpPr txBox="1"/>
          <p:nvPr/>
        </p:nvSpPr>
        <p:spPr>
          <a:xfrm>
            <a:off x="1042415" y="1124712"/>
            <a:ext cx="3346703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GET bank:txns:&lt;acc&gt; + TTL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one pipelined round trip</a:t>
            </a:r>
          </a:p>
        </p:txBody>
      </p:sp>
      <p:sp>
        <p:nvSpPr>
          <p:cNvPr id="7" name="a1ud160_n6"/>
          <p:cNvSpPr/>
          <p:nvPr/>
        </p:nvSpPr>
        <p:spPr>
          <a:xfrm>
            <a:off x="457200" y="1847088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160_nt7"/>
          <p:cNvSpPr txBox="1"/>
          <p:nvPr/>
        </p:nvSpPr>
        <p:spPr>
          <a:xfrm>
            <a:off x="457200" y="18470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a1ud160_nb8"/>
          <p:cNvSpPr txBox="1"/>
          <p:nvPr/>
        </p:nvSpPr>
        <p:spPr>
          <a:xfrm>
            <a:off x="1042415" y="1801368"/>
            <a:ext cx="3346703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HIT: return JSON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X-Cache: HIT · no SQL at all</a:t>
            </a:r>
          </a:p>
        </p:txBody>
      </p:sp>
      <p:sp>
        <p:nvSpPr>
          <p:cNvPr id="10" name="a1ud320_n9"/>
          <p:cNvSpPr/>
          <p:nvPr/>
        </p:nvSpPr>
        <p:spPr>
          <a:xfrm>
            <a:off x="457200" y="2523744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ud320_nt10"/>
          <p:cNvSpPr txBox="1"/>
          <p:nvPr/>
        </p:nvSpPr>
        <p:spPr>
          <a:xfrm>
            <a:off x="457200" y="25237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a1ud320_nb11"/>
          <p:cNvSpPr txBox="1"/>
          <p:nvPr/>
        </p:nvSpPr>
        <p:spPr>
          <a:xfrm>
            <a:off x="1042415" y="2478024"/>
            <a:ext cx="3346703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MISS: check account, SELECT 50 rows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existence check runs only here</a:t>
            </a:r>
          </a:p>
        </p:txBody>
      </p:sp>
      <p:sp>
        <p:nvSpPr>
          <p:cNvPr id="13" name="a1ud480_n12"/>
          <p:cNvSpPr/>
          <p:nvPr/>
        </p:nvSpPr>
        <p:spPr>
          <a:xfrm>
            <a:off x="457200" y="320040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480_nt13"/>
          <p:cNvSpPr txBox="1"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a1ud480_nb14"/>
          <p:cNvSpPr txBox="1"/>
          <p:nvPr/>
        </p:nvSpPr>
        <p:spPr>
          <a:xfrm>
            <a:off x="1042415" y="3154680"/>
            <a:ext cx="3346703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SET key json EX 300..330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TTL + jitter, then X-Cache: MISS</a:t>
            </a:r>
          </a:p>
        </p:txBody>
      </p:sp>
      <p:sp>
        <p:nvSpPr>
          <p:cNvPr id="16" name="a2f_th15"/>
          <p:cNvSpPr/>
          <p:nvPr/>
        </p:nvSpPr>
        <p:spPr>
          <a:xfrm>
            <a:off x="4663440" y="1216152"/>
            <a:ext cx="182880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tht16"/>
          <p:cNvSpPr txBox="1"/>
          <p:nvPr/>
        </p:nvSpPr>
        <p:spPr>
          <a:xfrm>
            <a:off x="4736592" y="1216152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100 requests each</a:t>
            </a:r>
          </a:p>
        </p:txBody>
      </p:sp>
      <p:sp>
        <p:nvSpPr>
          <p:cNvPr id="18" name="a2wd120_td17"/>
          <p:cNvSpPr/>
          <p:nvPr/>
        </p:nvSpPr>
        <p:spPr>
          <a:xfrm>
            <a:off x="4663440" y="1600200"/>
            <a:ext cx="182880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wd120_tdt18"/>
          <p:cNvSpPr txBox="1"/>
          <p:nvPr/>
        </p:nvSpPr>
        <p:spPr>
          <a:xfrm>
            <a:off x="4736592" y="1600200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Cache MISS</a:t>
            </a:r>
          </a:p>
        </p:txBody>
      </p:sp>
      <p:sp>
        <p:nvSpPr>
          <p:cNvPr id="20" name="a2wd240_td19"/>
          <p:cNvSpPr/>
          <p:nvPr/>
        </p:nvSpPr>
        <p:spPr>
          <a:xfrm>
            <a:off x="4663440" y="1984248"/>
            <a:ext cx="182880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240_tdt20"/>
          <p:cNvSpPr txBox="1"/>
          <p:nvPr/>
        </p:nvSpPr>
        <p:spPr>
          <a:xfrm>
            <a:off x="4736592" y="1984248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Cache HIT</a:t>
            </a:r>
          </a:p>
        </p:txBody>
      </p:sp>
      <p:sp>
        <p:nvSpPr>
          <p:cNvPr id="22" name="a2f_th21"/>
          <p:cNvSpPr/>
          <p:nvPr/>
        </p:nvSpPr>
        <p:spPr>
          <a:xfrm>
            <a:off x="6492240" y="1216152"/>
            <a:ext cx="100584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f_tht22"/>
          <p:cNvSpPr txBox="1"/>
          <p:nvPr/>
        </p:nvSpPr>
        <p:spPr>
          <a:xfrm>
            <a:off x="6565392" y="1216152"/>
            <a:ext cx="896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p50</a:t>
            </a:r>
          </a:p>
        </p:txBody>
      </p:sp>
      <p:sp>
        <p:nvSpPr>
          <p:cNvPr id="24" name="a2wd120_td23"/>
          <p:cNvSpPr/>
          <p:nvPr/>
        </p:nvSpPr>
        <p:spPr>
          <a:xfrm>
            <a:off x="6492240" y="1600200"/>
            <a:ext cx="100584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120_tdt24"/>
          <p:cNvSpPr txBox="1"/>
          <p:nvPr/>
        </p:nvSpPr>
        <p:spPr>
          <a:xfrm>
            <a:off x="6565392" y="1600200"/>
            <a:ext cx="896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3.3 ms</a:t>
            </a:r>
          </a:p>
        </p:txBody>
      </p:sp>
      <p:sp>
        <p:nvSpPr>
          <p:cNvPr id="26" name="a2wd240_td25"/>
          <p:cNvSpPr/>
          <p:nvPr/>
        </p:nvSpPr>
        <p:spPr>
          <a:xfrm>
            <a:off x="6492240" y="1984248"/>
            <a:ext cx="100584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240_tdt26"/>
          <p:cNvSpPr txBox="1"/>
          <p:nvPr/>
        </p:nvSpPr>
        <p:spPr>
          <a:xfrm>
            <a:off x="6565392" y="1984248"/>
            <a:ext cx="896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0.9 ms</a:t>
            </a:r>
          </a:p>
        </p:txBody>
      </p:sp>
      <p:sp>
        <p:nvSpPr>
          <p:cNvPr id="28" name="a2f_th27"/>
          <p:cNvSpPr/>
          <p:nvPr/>
        </p:nvSpPr>
        <p:spPr>
          <a:xfrm>
            <a:off x="7498079" y="1216152"/>
            <a:ext cx="100584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f_tht28"/>
          <p:cNvSpPr txBox="1"/>
          <p:nvPr/>
        </p:nvSpPr>
        <p:spPr>
          <a:xfrm>
            <a:off x="7571231" y="1216152"/>
            <a:ext cx="896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p95</a:t>
            </a:r>
          </a:p>
        </p:txBody>
      </p:sp>
      <p:sp>
        <p:nvSpPr>
          <p:cNvPr id="30" name="a2wd120_td29"/>
          <p:cNvSpPr/>
          <p:nvPr/>
        </p:nvSpPr>
        <p:spPr>
          <a:xfrm>
            <a:off x="7498079" y="1600200"/>
            <a:ext cx="100584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120_tdt30"/>
          <p:cNvSpPr txBox="1"/>
          <p:nvPr/>
        </p:nvSpPr>
        <p:spPr>
          <a:xfrm>
            <a:off x="7571231" y="1600200"/>
            <a:ext cx="896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5.4 ms</a:t>
            </a:r>
          </a:p>
        </p:txBody>
      </p:sp>
      <p:sp>
        <p:nvSpPr>
          <p:cNvPr id="32" name="a2wd240_td31"/>
          <p:cNvSpPr/>
          <p:nvPr/>
        </p:nvSpPr>
        <p:spPr>
          <a:xfrm>
            <a:off x="7498079" y="1984248"/>
            <a:ext cx="100584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240_tdt32"/>
          <p:cNvSpPr txBox="1"/>
          <p:nvPr/>
        </p:nvSpPr>
        <p:spPr>
          <a:xfrm>
            <a:off x="7571231" y="1984248"/>
            <a:ext cx="8961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1.6 ms</a:t>
            </a:r>
          </a:p>
        </p:txBody>
      </p:sp>
      <p:sp>
        <p:nvSpPr>
          <p:cNvPr id="34" name="a3u_nb33"/>
          <p:cNvSpPr/>
          <p:nvPr/>
        </p:nvSpPr>
        <p:spPr>
          <a:xfrm>
            <a:off x="4663440" y="2542032"/>
            <a:ext cx="4023360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nacc34"/>
          <p:cNvSpPr/>
          <p:nvPr/>
        </p:nvSpPr>
        <p:spPr>
          <a:xfrm>
            <a:off x="4663440" y="2542032"/>
            <a:ext cx="50292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u_nt35"/>
          <p:cNvSpPr txBox="1"/>
          <p:nvPr/>
        </p:nvSpPr>
        <p:spPr>
          <a:xfrm>
            <a:off x="4864607" y="2542032"/>
            <a:ext cx="3621024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1">
                <a:solidFill>
                  <a:srgbClr val="B45309"/>
                </a:solidFill>
                <a:latin typeface="Calibri"/>
              </a:rPr>
              <a:t>LESSON  </a:t>
            </a:r>
            <a:r>
              <a:rPr sz="980" b="0">
                <a:solidFill>
                  <a:srgbClr val="334155"/>
                </a:solidFill>
                <a:latin typeface="Calibri"/>
              </a:rPr>
              <a:t>An earlier draft checked the account in PostgreSQL before looking in Redis - so every HIT still ran a query (2.8 ms). Moving that check inside the miss path gave 0.9 ms. A cache that queries the database on a hit is not a cache.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Flow 2 · Fund Transfer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Database first, cache second - never the other way round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206240" cy="2624328"/>
          </a:xfrm>
          <a:prstGeom prst="roundRect">
            <a:avLst>
              <a:gd name="adj" fmla="val 2787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39684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transferService.transfer()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C4B5FD"/>
                </a:solidFill>
                <a:latin typeface="Courier New"/>
              </a:rPr>
              <a:t>BEGIN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76072" y="1728216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C4B5FD"/>
                </a:solidFill>
                <a:latin typeface="Courier New"/>
              </a:rPr>
              <a:t>SELECT ... FOR UPDATE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76072" y="1920240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ourier New"/>
              </a:rPr>
              <a:t>  -- both rows, ORDER BY account_no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76072" y="2112264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E2E8F0"/>
                </a:solidFill>
                <a:latin typeface="Courier New"/>
              </a:rPr>
              <a:t>check ACTIVE, balance &gt;= amount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76072" y="2304288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E2E8F0"/>
                </a:solidFill>
                <a:latin typeface="Courier New"/>
              </a:rPr>
              <a:t>UPDATE accounts  (-amt / +amt)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76072" y="2496312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E2E8F0"/>
                </a:solidFill>
                <a:latin typeface="Courier New"/>
              </a:rPr>
              <a:t>INSERT DEBIT + CREDIT  (TRF ref)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576072" y="2688336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86EFAC"/>
                </a:solidFill>
                <a:latin typeface="Courier New"/>
              </a:rPr>
              <a:t>COMMIT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576072" y="2880360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ourier New"/>
              </a:rPr>
              <a:t>-- only now touch Redis: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576072" y="3072384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C4B5FD"/>
                </a:solidFill>
                <a:latin typeface="Courier New"/>
              </a:rPr>
              <a:t>SET bank:txns:&lt;from&gt;      EX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576072" y="3264408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C4B5FD"/>
                </a:solidFill>
                <a:latin typeface="Courier New"/>
              </a:rPr>
              <a:t>SET bank:txns:&lt;to&gt;        EX</a:t>
            </a:r>
          </a:p>
        </p:txBody>
      </p:sp>
      <p:sp>
        <p:nvSpPr>
          <p:cNvPr id="16" name="a1wd800_code15"/>
          <p:cNvSpPr txBox="1"/>
          <p:nvPr/>
        </p:nvSpPr>
        <p:spPr>
          <a:xfrm>
            <a:off x="576072" y="3456432"/>
            <a:ext cx="396849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C4B5FD"/>
                </a:solidFill>
                <a:latin typeface="Courier New"/>
              </a:rPr>
              <a:t>SET bank:accounts:&lt;owner&gt; EX</a:t>
            </a:r>
          </a:p>
        </p:txBody>
      </p:sp>
      <p:sp>
        <p:nvSpPr>
          <p:cNvPr id="17" name="a2f_codebg16"/>
          <p:cNvSpPr/>
          <p:nvPr/>
        </p:nvSpPr>
        <p:spPr>
          <a:xfrm>
            <a:off x="4892040" y="1143000"/>
            <a:ext cx="3794760" cy="1856232"/>
          </a:xfrm>
          <a:prstGeom prst="roundRect">
            <a:avLst>
              <a:gd name="adj" fmla="val 3940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5010912" y="1197864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response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5010912" y="1536192"/>
            <a:ext cx="35570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"cacheUpdates":[</a:t>
            </a:r>
          </a:p>
        </p:txBody>
      </p:sp>
      <p:sp>
        <p:nvSpPr>
          <p:cNvPr id="20" name="a2wd80_code19"/>
          <p:cNvSpPr txBox="1"/>
          <p:nvPr/>
        </p:nvSpPr>
        <p:spPr>
          <a:xfrm>
            <a:off x="5010912" y="1728216"/>
            <a:ext cx="35570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{"key":"bank:txns:602501000101",</a:t>
            </a:r>
          </a:p>
        </p:txBody>
      </p:sp>
      <p:sp>
        <p:nvSpPr>
          <p:cNvPr id="21" name="a2wd160_code20"/>
          <p:cNvSpPr txBox="1"/>
          <p:nvPr/>
        </p:nvSpPr>
        <p:spPr>
          <a:xfrm>
            <a:off x="5010912" y="1920240"/>
            <a:ext cx="35570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 "action":"refreshed","ttl":305},</a:t>
            </a:r>
          </a:p>
        </p:txBody>
      </p:sp>
      <p:sp>
        <p:nvSpPr>
          <p:cNvPr id="22" name="a2wd240_code21"/>
          <p:cNvSpPr txBox="1"/>
          <p:nvPr/>
        </p:nvSpPr>
        <p:spPr>
          <a:xfrm>
            <a:off x="5010912" y="2112264"/>
            <a:ext cx="35570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{"key":"bank:txns:602501000201",</a:t>
            </a:r>
          </a:p>
        </p:txBody>
      </p:sp>
      <p:sp>
        <p:nvSpPr>
          <p:cNvPr id="23" name="a2wd320_code22"/>
          <p:cNvSpPr txBox="1"/>
          <p:nvPr/>
        </p:nvSpPr>
        <p:spPr>
          <a:xfrm>
            <a:off x="5010912" y="2304288"/>
            <a:ext cx="35570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 "action":"refreshed","ttl":302},</a:t>
            </a:r>
          </a:p>
        </p:txBody>
      </p:sp>
      <p:sp>
        <p:nvSpPr>
          <p:cNvPr id="24" name="a2wd400_code23"/>
          <p:cNvSpPr txBox="1"/>
          <p:nvPr/>
        </p:nvSpPr>
        <p:spPr>
          <a:xfrm>
            <a:off x="5010912" y="2496312"/>
            <a:ext cx="35570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{"key":"bank:accounts:1", ...},</a:t>
            </a:r>
          </a:p>
        </p:txBody>
      </p:sp>
      <p:sp>
        <p:nvSpPr>
          <p:cNvPr id="25" name="a2wd480_code24"/>
          <p:cNvSpPr txBox="1"/>
          <p:nvPr/>
        </p:nvSpPr>
        <p:spPr>
          <a:xfrm>
            <a:off x="5010912" y="2688336"/>
            <a:ext cx="35570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{"key":"bank:accounts:2", ...}]</a:t>
            </a:r>
          </a:p>
        </p:txBody>
      </p:sp>
      <p:sp>
        <p:nvSpPr>
          <p:cNvPr id="26" name="a3u_nb25"/>
          <p:cNvSpPr/>
          <p:nvPr/>
        </p:nvSpPr>
        <p:spPr>
          <a:xfrm>
            <a:off x="4892040" y="3118104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_nacc26"/>
          <p:cNvSpPr/>
          <p:nvPr/>
        </p:nvSpPr>
        <p:spPr>
          <a:xfrm>
            <a:off x="4892040" y="3118104"/>
            <a:ext cx="50292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nt27"/>
          <p:cNvSpPr txBox="1"/>
          <p:nvPr/>
        </p:nvSpPr>
        <p:spPr>
          <a:xfrm>
            <a:off x="5093207" y="3118104"/>
            <a:ext cx="33924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i  </a:t>
            </a:r>
            <a:r>
              <a:rPr sz="1000" b="0">
                <a:solidFill>
                  <a:srgbClr val="E2E8F0"/>
                </a:solidFill>
                <a:latin typeface="Calibri"/>
              </a:rPr>
              <a:t>Next statement read: a HIT that already shows the TRF row. CACHE_ON_WRITE=invalidate DELs instead.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Cache Parameters of the App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All in docker-compose.yml - override any of them from the shell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24712"/>
            <a:ext cx="2743200" cy="3474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24712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Variable</a:t>
            </a:r>
          </a:p>
        </p:txBody>
      </p:sp>
      <p:sp>
        <p:nvSpPr>
          <p:cNvPr id="6" name="a1wd90_td5"/>
          <p:cNvSpPr/>
          <p:nvPr/>
        </p:nvSpPr>
        <p:spPr>
          <a:xfrm>
            <a:off x="457200" y="147218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90_tdt6"/>
          <p:cNvSpPr txBox="1"/>
          <p:nvPr/>
        </p:nvSpPr>
        <p:spPr>
          <a:xfrm>
            <a:off x="530352" y="1472184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CACHE_ENABLED</a:t>
            </a:r>
          </a:p>
        </p:txBody>
      </p:sp>
      <p:sp>
        <p:nvSpPr>
          <p:cNvPr id="8" name="a1wd180_td7"/>
          <p:cNvSpPr/>
          <p:nvPr/>
        </p:nvSpPr>
        <p:spPr>
          <a:xfrm>
            <a:off x="457200" y="181965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80_tdt8"/>
          <p:cNvSpPr txBox="1"/>
          <p:nvPr/>
        </p:nvSpPr>
        <p:spPr>
          <a:xfrm>
            <a:off x="530352" y="1819656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CACHE_TTL_SECONDS</a:t>
            </a:r>
          </a:p>
        </p:txBody>
      </p:sp>
      <p:sp>
        <p:nvSpPr>
          <p:cNvPr id="10" name="a1wd270_td9"/>
          <p:cNvSpPr/>
          <p:nvPr/>
        </p:nvSpPr>
        <p:spPr>
          <a:xfrm>
            <a:off x="457200" y="216712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70_tdt10"/>
          <p:cNvSpPr txBox="1"/>
          <p:nvPr/>
        </p:nvSpPr>
        <p:spPr>
          <a:xfrm>
            <a:off x="530352" y="2167128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CACHE_TTL_JITTER_SECONDS</a:t>
            </a:r>
          </a:p>
        </p:txBody>
      </p:sp>
      <p:sp>
        <p:nvSpPr>
          <p:cNvPr id="12" name="a1wd360_td11"/>
          <p:cNvSpPr/>
          <p:nvPr/>
        </p:nvSpPr>
        <p:spPr>
          <a:xfrm>
            <a:off x="457200" y="2514600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60_tdt12"/>
          <p:cNvSpPr txBox="1"/>
          <p:nvPr/>
        </p:nvSpPr>
        <p:spPr>
          <a:xfrm>
            <a:off x="530352" y="2514600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CACHE_ON_WRITE</a:t>
            </a:r>
          </a:p>
        </p:txBody>
      </p:sp>
      <p:sp>
        <p:nvSpPr>
          <p:cNvPr id="14" name="a1wd450_td13"/>
          <p:cNvSpPr/>
          <p:nvPr/>
        </p:nvSpPr>
        <p:spPr>
          <a:xfrm>
            <a:off x="457200" y="286207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50_tdt14"/>
          <p:cNvSpPr txBox="1"/>
          <p:nvPr/>
        </p:nvSpPr>
        <p:spPr>
          <a:xfrm>
            <a:off x="530352" y="2862072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STATEMENT_SIZE</a:t>
            </a:r>
          </a:p>
        </p:txBody>
      </p:sp>
      <p:sp>
        <p:nvSpPr>
          <p:cNvPr id="16" name="a1f_th15"/>
          <p:cNvSpPr/>
          <p:nvPr/>
        </p:nvSpPr>
        <p:spPr>
          <a:xfrm>
            <a:off x="3200400" y="1124712"/>
            <a:ext cx="1097280" cy="3474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_tht16"/>
          <p:cNvSpPr txBox="1"/>
          <p:nvPr/>
        </p:nvSpPr>
        <p:spPr>
          <a:xfrm>
            <a:off x="3273552" y="112471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Default</a:t>
            </a:r>
          </a:p>
        </p:txBody>
      </p:sp>
      <p:sp>
        <p:nvSpPr>
          <p:cNvPr id="18" name="a1wd90_td17"/>
          <p:cNvSpPr/>
          <p:nvPr/>
        </p:nvSpPr>
        <p:spPr>
          <a:xfrm>
            <a:off x="3200400" y="147218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90_tdt18"/>
          <p:cNvSpPr txBox="1"/>
          <p:nvPr/>
        </p:nvSpPr>
        <p:spPr>
          <a:xfrm>
            <a:off x="3273552" y="1472184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true</a:t>
            </a:r>
          </a:p>
        </p:txBody>
      </p:sp>
      <p:sp>
        <p:nvSpPr>
          <p:cNvPr id="20" name="a1wd180_td19"/>
          <p:cNvSpPr/>
          <p:nvPr/>
        </p:nvSpPr>
        <p:spPr>
          <a:xfrm>
            <a:off x="3200400" y="181965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80_tdt20"/>
          <p:cNvSpPr txBox="1"/>
          <p:nvPr/>
        </p:nvSpPr>
        <p:spPr>
          <a:xfrm>
            <a:off x="3273552" y="1819656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300</a:t>
            </a:r>
          </a:p>
        </p:txBody>
      </p:sp>
      <p:sp>
        <p:nvSpPr>
          <p:cNvPr id="22" name="a1wd270_td21"/>
          <p:cNvSpPr/>
          <p:nvPr/>
        </p:nvSpPr>
        <p:spPr>
          <a:xfrm>
            <a:off x="3200400" y="216712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70_tdt22"/>
          <p:cNvSpPr txBox="1"/>
          <p:nvPr/>
        </p:nvSpPr>
        <p:spPr>
          <a:xfrm>
            <a:off x="3273552" y="2167128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30</a:t>
            </a:r>
          </a:p>
        </p:txBody>
      </p:sp>
      <p:sp>
        <p:nvSpPr>
          <p:cNvPr id="24" name="a1wd360_td23"/>
          <p:cNvSpPr/>
          <p:nvPr/>
        </p:nvSpPr>
        <p:spPr>
          <a:xfrm>
            <a:off x="3200400" y="251460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360_tdt24"/>
          <p:cNvSpPr txBox="1"/>
          <p:nvPr/>
        </p:nvSpPr>
        <p:spPr>
          <a:xfrm>
            <a:off x="3273552" y="2514600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refresh</a:t>
            </a:r>
          </a:p>
        </p:txBody>
      </p:sp>
      <p:sp>
        <p:nvSpPr>
          <p:cNvPr id="26" name="a1wd450_td25"/>
          <p:cNvSpPr/>
          <p:nvPr/>
        </p:nvSpPr>
        <p:spPr>
          <a:xfrm>
            <a:off x="3200400" y="28620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450_tdt26"/>
          <p:cNvSpPr txBox="1"/>
          <p:nvPr/>
        </p:nvSpPr>
        <p:spPr>
          <a:xfrm>
            <a:off x="3273552" y="286207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50</a:t>
            </a:r>
          </a:p>
        </p:txBody>
      </p:sp>
      <p:sp>
        <p:nvSpPr>
          <p:cNvPr id="28" name="a1f_th27"/>
          <p:cNvSpPr/>
          <p:nvPr/>
        </p:nvSpPr>
        <p:spPr>
          <a:xfrm>
            <a:off x="4297680" y="1124712"/>
            <a:ext cx="4389120" cy="3474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4370832" y="1124712"/>
            <a:ext cx="4279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30" name="a1wd90_td29"/>
          <p:cNvSpPr/>
          <p:nvPr/>
        </p:nvSpPr>
        <p:spPr>
          <a:xfrm>
            <a:off x="4297680" y="1472184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90_tdt30"/>
          <p:cNvSpPr txBox="1"/>
          <p:nvPr/>
        </p:nvSpPr>
        <p:spPr>
          <a:xfrm>
            <a:off x="4370832" y="1472184"/>
            <a:ext cx="4279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false = every request goes to PostgreSQL</a:t>
            </a:r>
          </a:p>
        </p:txBody>
      </p:sp>
      <p:sp>
        <p:nvSpPr>
          <p:cNvPr id="32" name="a1wd180_td31"/>
          <p:cNvSpPr/>
          <p:nvPr/>
        </p:nvSpPr>
        <p:spPr>
          <a:xfrm>
            <a:off x="4297680" y="1819656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180_tdt32"/>
          <p:cNvSpPr txBox="1"/>
          <p:nvPr/>
        </p:nvSpPr>
        <p:spPr>
          <a:xfrm>
            <a:off x="4370832" y="1819656"/>
            <a:ext cx="4279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Base lifetime of every cached value</a:t>
            </a:r>
          </a:p>
        </p:txBody>
      </p:sp>
      <p:sp>
        <p:nvSpPr>
          <p:cNvPr id="34" name="a1wd270_td33"/>
          <p:cNvSpPr/>
          <p:nvPr/>
        </p:nvSpPr>
        <p:spPr>
          <a:xfrm>
            <a:off x="4297680" y="2167128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270_tdt34"/>
          <p:cNvSpPr txBox="1"/>
          <p:nvPr/>
        </p:nvSpPr>
        <p:spPr>
          <a:xfrm>
            <a:off x="4370832" y="2167128"/>
            <a:ext cx="4279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0..30 s extra - keys do not expire together</a:t>
            </a:r>
          </a:p>
        </p:txBody>
      </p:sp>
      <p:sp>
        <p:nvSpPr>
          <p:cNvPr id="36" name="a1wd360_td35"/>
          <p:cNvSpPr/>
          <p:nvPr/>
        </p:nvSpPr>
        <p:spPr>
          <a:xfrm>
            <a:off x="4297680" y="2514600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360_tdt36"/>
          <p:cNvSpPr txBox="1"/>
          <p:nvPr/>
        </p:nvSpPr>
        <p:spPr>
          <a:xfrm>
            <a:off x="4370832" y="2514600"/>
            <a:ext cx="4279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refresh = SET after COMMIT · invalidate = DEL</a:t>
            </a:r>
          </a:p>
        </p:txBody>
      </p:sp>
      <p:sp>
        <p:nvSpPr>
          <p:cNvPr id="38" name="a1wd450_td37"/>
          <p:cNvSpPr/>
          <p:nvPr/>
        </p:nvSpPr>
        <p:spPr>
          <a:xfrm>
            <a:off x="4297680" y="2862072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450_tdt38"/>
          <p:cNvSpPr txBox="1"/>
          <p:nvPr/>
        </p:nvSpPr>
        <p:spPr>
          <a:xfrm>
            <a:off x="4370832" y="2862072"/>
            <a:ext cx="427939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Rows per cached statement</a:t>
            </a:r>
          </a:p>
        </p:txBody>
      </p:sp>
      <p:sp>
        <p:nvSpPr>
          <p:cNvPr id="40" name="a2f_codebg39"/>
          <p:cNvSpPr/>
          <p:nvPr/>
        </p:nvSpPr>
        <p:spPr>
          <a:xfrm>
            <a:off x="457200" y="3364992"/>
            <a:ext cx="8229600" cy="795528"/>
          </a:xfrm>
          <a:prstGeom prst="roundRect">
            <a:avLst>
              <a:gd name="adj" fmla="val 919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_code40"/>
          <p:cNvSpPr txBox="1"/>
          <p:nvPr/>
        </p:nvSpPr>
        <p:spPr>
          <a:xfrm>
            <a:off x="566928" y="3474720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CACHE_TTL_SECONDS=20 CACHE_TTL_JITTER_SECONDS=0 docker compose up -d api</a:t>
            </a:r>
          </a:p>
        </p:txBody>
      </p:sp>
      <p:sp>
        <p:nvSpPr>
          <p:cNvPr id="42" name="a2wd90_code41"/>
          <p:cNvSpPr txBox="1"/>
          <p:nvPr/>
        </p:nvSpPr>
        <p:spPr>
          <a:xfrm>
            <a:off x="566928" y="3666744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CACHE_ON_WRITE=invalidate docker compose up -d api</a:t>
            </a:r>
          </a:p>
        </p:txBody>
      </p:sp>
      <p:sp>
        <p:nvSpPr>
          <p:cNvPr id="43" name="a2wd180_code42"/>
          <p:cNvSpPr txBox="1"/>
          <p:nvPr/>
        </p:nvSpPr>
        <p:spPr>
          <a:xfrm>
            <a:off x="566928" y="3858768"/>
            <a:ext cx="801014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compose up -d api          # back to the defaults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Run It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One command to start; one script to watch the cache work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2793492"/>
          </a:xfrm>
          <a:prstGeom prst="roundRect">
            <a:avLst>
              <a:gd name="adj" fmla="val 2618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85216" y="1197864"/>
            <a:ext cx="79735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on this machine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85216" y="154533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cd cache_banking_app &amp;&amp; docker compose up -d --build</a:t>
            </a:r>
          </a:p>
        </p:txBody>
      </p:sp>
      <p:sp>
        <p:nvSpPr>
          <p:cNvPr id="7" name="a1wd100_code6"/>
          <p:cNvSpPr txBox="1"/>
          <p:nvPr/>
        </p:nvSpPr>
        <p:spPr>
          <a:xfrm>
            <a:off x="585216" y="175107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bash scripts/cache-demo.sh</a:t>
            </a:r>
          </a:p>
        </p:txBody>
      </p:sp>
      <p:sp>
        <p:nvSpPr>
          <p:cNvPr id="8" name="a1wd200_code7"/>
          <p:cNvSpPr txBox="1"/>
          <p:nvPr/>
        </p:nvSpPr>
        <p:spPr>
          <a:xfrm>
            <a:off x="585216" y="195681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== 2. First enquiry  -&gt; MISS, loaded from PostgreSQL, stored in Redis</a:t>
            </a:r>
          </a:p>
        </p:txBody>
      </p:sp>
      <p:sp>
        <p:nvSpPr>
          <p:cNvPr id="9" name="a1wd300_code8"/>
          <p:cNvSpPr txBox="1"/>
          <p:nvPr/>
        </p:nvSpPr>
        <p:spPr>
          <a:xfrm>
            <a:off x="585216" y="216255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source=database  ttl=300s  took=22.2ms</a:t>
            </a:r>
          </a:p>
        </p:txBody>
      </p:sp>
      <p:sp>
        <p:nvSpPr>
          <p:cNvPr id="10" name="a1wd400_code9"/>
          <p:cNvSpPr txBox="1"/>
          <p:nvPr/>
        </p:nvSpPr>
        <p:spPr>
          <a:xfrm>
            <a:off x="585216" y="236829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== 3. Same enquiry again -&gt; HIT, served from Redis</a:t>
            </a:r>
          </a:p>
        </p:txBody>
      </p:sp>
      <p:sp>
        <p:nvSpPr>
          <p:cNvPr id="11" name="a1wd500_code10"/>
          <p:cNvSpPr txBox="1"/>
          <p:nvPr/>
        </p:nvSpPr>
        <p:spPr>
          <a:xfrm>
            <a:off x="585216" y="257403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source=cache  ttl=300s  took=2.4ms</a:t>
            </a:r>
          </a:p>
        </p:txBody>
      </p:sp>
      <p:sp>
        <p:nvSpPr>
          <p:cNvPr id="12" name="a1wd600_code11"/>
          <p:cNvSpPr txBox="1"/>
          <p:nvPr/>
        </p:nvSpPr>
        <p:spPr>
          <a:xfrm>
            <a:off x="585216" y="277977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== 5. Transfer Rs 100 -&gt; DB COMMIT, then cache refreshed</a:t>
            </a:r>
          </a:p>
        </p:txBody>
      </p:sp>
      <p:sp>
        <p:nvSpPr>
          <p:cNvPr id="13" name="a1wd700_code12"/>
          <p:cNvSpPr txBox="1"/>
          <p:nvPr/>
        </p:nvSpPr>
        <p:spPr>
          <a:xfrm>
            <a:off x="585216" y="2985515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{"reference":"TRF295949631951",...,"cacheUpdates":[... 4 keys ...]}</a:t>
            </a:r>
          </a:p>
        </p:txBody>
      </p:sp>
      <p:sp>
        <p:nvSpPr>
          <p:cNvPr id="14" name="a1wd800_code13"/>
          <p:cNvSpPr txBox="1"/>
          <p:nvPr/>
        </p:nvSpPr>
        <p:spPr>
          <a:xfrm>
            <a:off x="585216" y="319125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== 6. Enquire again -&gt; still a HIT, and the newest row is the transfer</a:t>
            </a:r>
          </a:p>
        </p:txBody>
      </p:sp>
      <p:sp>
        <p:nvSpPr>
          <p:cNvPr id="15" name="a1wd900_code14"/>
          <p:cNvSpPr txBox="1"/>
          <p:nvPr/>
        </p:nvSpPr>
        <p:spPr>
          <a:xfrm>
            <a:off x="585216" y="339699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"source":"cache"   "description":"TRF/To 602501000201 - cli demo"</a:t>
            </a:r>
          </a:p>
        </p:txBody>
      </p:sp>
      <p:sp>
        <p:nvSpPr>
          <p:cNvPr id="16" name="a1wd1000_code15"/>
          <p:cNvSpPr txBox="1"/>
          <p:nvPr/>
        </p:nvSpPr>
        <p:spPr>
          <a:xfrm>
            <a:off x="585216" y="360273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stop bank-redis   # dashboard keeps working: source = database (redis down)</a:t>
            </a:r>
          </a:p>
        </p:txBody>
      </p:sp>
      <p:sp>
        <p:nvSpPr>
          <p:cNvPr id="17" name="ft1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 · Caching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Two settings make Redis a cache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maxmemory plus an eviction policy - allkeys-lru for a pure cache. noeviction refuses writes when full.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Every cache write carries a TTL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TTL -1 in a cache is a bug. Watch the overwrite trap: plain SET drops the TTL; KEEPTTL keeps it.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Cache-aside for reads, database first for writes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Update or delete the affected keys only after COMMIT - and design keys the writer can compute.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hit must not touch the database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Measured: 0.9 ms vs 3.3 ms. Existence checks belong on the miss path.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429767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429767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52144" y="4251959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Money never moves on a cached number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Authorise with SELECT ... FOR UPDATE; the cache is for display.</a:t>
            </a:r>
          </a:p>
        </p:txBody>
      </p:sp>
      <p:sp>
        <p:nvSpPr>
          <p:cNvPr id="18" name="a2u_next17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extt18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A78BFA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Redis_Caching_Guide.pdf labs C.1-C.7 · then run the Horizon Bank app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