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kick1"/>
          <p:cNvSpPr txBox="1"/>
          <p:nvPr/>
        </p:nvSpPr>
        <p:spPr>
          <a:xfrm>
            <a:off x="548640" y="868680"/>
            <a:ext cx="4937760" cy="292608"/>
          </a:xfrm>
          <a:prstGeom prst="rect">
            <a:avLst/>
          </a:prstGeom>
          <a:noFill/>
        </p:spPr>
        <p:txBody>
          <a:bodyPr wrap="square" lIns="0" tIns="0" rIns="0" bIns="0" anchor="ctr">
            <a:spAutoFit/>
          </a:bodyPr>
          <a:lstStyle/>
          <a:p>
            <a:pPr algn="l"/>
            <a:r>
              <a:rPr sz="1150" b="1" spc="300">
                <a:solidFill>
                  <a:srgbClr val="A78BFA"/>
                </a:solidFill>
                <a:latin typeface="Calibri"/>
              </a:rPr>
              <a:t>MODULE 07 · NOSQL &amp; REDIS</a:t>
            </a:r>
          </a:p>
        </p:txBody>
      </p:sp>
      <p:sp>
        <p:nvSpPr>
          <p:cNvPr id="3" name="a0ud200_t2"/>
          <p:cNvSpPr txBox="1"/>
          <p:nvPr/>
        </p:nvSpPr>
        <p:spPr>
          <a:xfrm>
            <a:off x="548640" y="1188720"/>
            <a:ext cx="5212080" cy="1417320"/>
          </a:xfrm>
          <a:prstGeom prst="rect">
            <a:avLst/>
          </a:prstGeom>
          <a:noFill/>
        </p:spPr>
        <p:txBody>
          <a:bodyPr wrap="square" lIns="0" tIns="0" rIns="0" bIns="0" anchor="ctr">
            <a:spAutoFit/>
          </a:bodyPr>
          <a:lstStyle/>
          <a:p>
            <a:pPr algn="l"/>
            <a:r>
              <a:rPr sz="4400" b="1">
                <a:solidFill>
                  <a:srgbClr val="FFFFFF"/>
                </a:solidFill>
                <a:latin typeface="Calibri"/>
              </a:rPr>
              <a:t>Getting Started
with NoSQL</a:t>
            </a:r>
          </a:p>
        </p:txBody>
      </p:sp>
      <p:sp>
        <p:nvSpPr>
          <p:cNvPr id="4" name="a0fd500_sub3"/>
          <p:cNvSpPr txBox="1"/>
          <p:nvPr/>
        </p:nvSpPr>
        <p:spPr>
          <a:xfrm>
            <a:off x="548640" y="2670048"/>
            <a:ext cx="5029200" cy="457200"/>
          </a:xfrm>
          <a:prstGeom prst="rect">
            <a:avLst/>
          </a:prstGeom>
          <a:noFill/>
        </p:spPr>
        <p:txBody>
          <a:bodyPr wrap="square" lIns="0" tIns="0" rIns="0" bIns="0" anchor="ctr">
            <a:spAutoFit/>
          </a:bodyPr>
          <a:lstStyle/>
          <a:p>
            <a:pPr algn="l"/>
            <a:r>
              <a:rPr sz="1600" b="0">
                <a:solidFill>
                  <a:srgbClr val="CBD5E1"/>
                </a:solidFill>
                <a:latin typeface="Calibri"/>
              </a:rPr>
              <a:t>Why it appeared, where it came from, and what the family looks like</a:t>
            </a:r>
          </a:p>
        </p:txBody>
      </p:sp>
      <p:sp>
        <p:nvSpPr>
          <p:cNvPr id="5" name="a0ud800_pill4"/>
          <p:cNvSpPr/>
          <p:nvPr/>
        </p:nvSpPr>
        <p:spPr>
          <a:xfrm>
            <a:off x="548640"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E2E8F0"/>
                </a:solidFill>
                <a:latin typeface="Courier New"/>
              </a:rPr>
              <a:t>KEY-VALUE</a:t>
            </a:r>
          </a:p>
        </p:txBody>
      </p:sp>
      <p:sp>
        <p:nvSpPr>
          <p:cNvPr id="6" name="a0ud950_pill5"/>
          <p:cNvSpPr/>
          <p:nvPr/>
        </p:nvSpPr>
        <p:spPr>
          <a:xfrm>
            <a:off x="1572768"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E2E8F0"/>
                </a:solidFill>
                <a:latin typeface="Courier New"/>
              </a:rPr>
              <a:t>DOCUMENT</a:t>
            </a:r>
          </a:p>
        </p:txBody>
      </p:sp>
      <p:sp>
        <p:nvSpPr>
          <p:cNvPr id="7" name="a0ud1100_pill6"/>
          <p:cNvSpPr/>
          <p:nvPr/>
        </p:nvSpPr>
        <p:spPr>
          <a:xfrm>
            <a:off x="2596896"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E2E8F0"/>
                </a:solidFill>
                <a:latin typeface="Courier New"/>
              </a:rPr>
              <a:t>COLUMN</a:t>
            </a:r>
          </a:p>
        </p:txBody>
      </p:sp>
      <p:sp>
        <p:nvSpPr>
          <p:cNvPr id="8" name="a0ud1250_pill7"/>
          <p:cNvSpPr/>
          <p:nvPr/>
        </p:nvSpPr>
        <p:spPr>
          <a:xfrm>
            <a:off x="3621024"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E2E8F0"/>
                </a:solidFill>
                <a:latin typeface="Courier New"/>
              </a:rPr>
              <a:t>GRAPH</a:t>
            </a:r>
          </a:p>
        </p:txBody>
      </p:sp>
      <p:sp>
        <p:nvSpPr>
          <p:cNvPr id="9" name="a0fd1400_nt8"/>
          <p:cNvSpPr txBox="1"/>
          <p:nvPr/>
        </p:nvSpPr>
        <p:spPr>
          <a:xfrm>
            <a:off x="548640" y="3950208"/>
            <a:ext cx="4937760" cy="457200"/>
          </a:xfrm>
          <a:prstGeom prst="rect">
            <a:avLst/>
          </a:prstGeom>
          <a:noFill/>
        </p:spPr>
        <p:txBody>
          <a:bodyPr wrap="square" lIns="0" tIns="0" rIns="0" bIns="0" anchor="ctr">
            <a:spAutoFit/>
          </a:bodyPr>
          <a:lstStyle/>
          <a:p>
            <a:pPr algn="l"/>
            <a:r>
              <a:rPr sz="1150" b="0">
                <a:solidFill>
                  <a:srgbClr val="64748B"/>
                </a:solidFill>
                <a:latin typeface="Calibri"/>
              </a:rPr>
              <a:t>Deck 1 of 4  ·  Module 07  ·  NoSQL &amp; Redis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ppt_y+0.1"/>
                                          </p:val>
                                        </p:tav>
                                        <p:tav tm="100000">
                                          <p:val>
                                            <p:strVal val="#ppt_y"/>
                                          </p:val>
                                        </p:tav>
                                      </p:tavLst>
                                    </p:anim>
                                    <p:animEffect transition="in" filter="fade">
                                      <p:cBhvr>
                                        <p:cTn id="11" dur="500"/>
                                        <p:tgtEl>
                                          <p:spTgt spid="3"/>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ppt_y+0.1"/>
                                          </p:val>
                                        </p:tav>
                                        <p:tav tm="100000">
                                          <p:val>
                                            <p:strVal val="#ppt_y"/>
                                          </p:val>
                                        </p:tav>
                                      </p:tavLst>
                                    </p:anim>
                                    <p:animEffect transition="in" filter="fade">
                                      <p:cBhvr>
                                        <p:cTn id="19" dur="500"/>
                                        <p:tgtEl>
                                          <p:spTgt spid="5"/>
                                        </p:tgtEl>
                                      </p:cBhvr>
                                    </p:animEffect>
                                  </p:childTnLst>
                                </p:cTn>
                              </p:par>
                              <p:par>
                                <p:cTn id="25" presetID="2" presetClass="entr" presetSubtype="4" fill="hold" grpId="0" nodeType="withEffect">
                                  <p:stCondLst>
                                    <p:cond delay="9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ppt_y+0.1"/>
                                          </p:val>
                                        </p:tav>
                                        <p:tav tm="100000">
                                          <p:val>
                                            <p:strVal val="#ppt_y"/>
                                          </p:val>
                                        </p:tav>
                                      </p:tavLst>
                                    </p:anim>
                                    <p:animEffect transition="in" filter="fade">
                                      <p:cBhvr>
                                        <p:cTn id="24" dur="500"/>
                                        <p:tgtEl>
                                          <p:spTgt spid="6"/>
                                        </p:tgtEl>
                                      </p:cBhvr>
                                    </p:animEffect>
                                  </p:childTnLst>
                                </p:cTn>
                              </p:par>
                              <p:par>
                                <p:cTn id="30" presetID="2" presetClass="entr" presetSubtype="4" fill="hold" grpId="0" nodeType="withEffect">
                                  <p:stCondLst>
                                    <p:cond delay="11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ppt_y+0.1"/>
                                          </p:val>
                                        </p:tav>
                                        <p:tav tm="100000">
                                          <p:val>
                                            <p:strVal val="#ppt_y"/>
                                          </p:val>
                                        </p:tav>
                                      </p:tavLst>
                                    </p:anim>
                                    <p:animEffect transition="in" filter="fade">
                                      <p:cBhvr>
                                        <p:cTn id="29" dur="500"/>
                                        <p:tgtEl>
                                          <p:spTgt spid="7"/>
                                        </p:tgtEl>
                                      </p:cBhvr>
                                    </p:animEffect>
                                  </p:childTnLst>
                                </p:cTn>
                              </p:par>
                              <p:par>
                                <p:cTn id="35" presetID="2" presetClass="entr" presetSubtype="4" fill="hold" grpId="0" nodeType="withEffect">
                                  <p:stCondLst>
                                    <p:cond delay="12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ppt_y+0.1"/>
                                          </p:val>
                                        </p:tav>
                                        <p:tav tm="100000">
                                          <p:val>
                                            <p:strVal val="#ppt_y"/>
                                          </p:val>
                                        </p:tav>
                                      </p:tavLst>
                                    </p:anim>
                                    <p:animEffect transition="in" filter="fade">
                                      <p:cBhvr>
                                        <p:cTn id="34" dur="500"/>
                                        <p:tgtEl>
                                          <p:spTgt spid="8"/>
                                        </p:tgtEl>
                                      </p:cBhvr>
                                    </p:animEffect>
                                  </p:childTnLst>
                                </p:cTn>
                              </p:par>
                              <p:par>
                                <p:cTn id="38" presetID="10" presetClass="entr" presetSubtype="0" fill="hold" grpId="0" nodeType="withEffect">
                                  <p:stCondLst>
                                    <p:cond delay="14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What This Deck Covers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Four questions, answered in order</a:t>
            </a:r>
          </a:p>
        </p:txBody>
      </p:sp>
      <p:sp>
        <p:nvSpPr>
          <p:cNvPr id="4" name="a1u_card3"/>
          <p:cNvSpPr/>
          <p:nvPr/>
        </p:nvSpPr>
        <p:spPr>
          <a:xfrm>
            <a:off x="457200" y="1216152"/>
            <a:ext cx="1906524" cy="1417320"/>
          </a:xfrm>
          <a:prstGeom prst="roundRect">
            <a:avLst>
              <a:gd name="adj" fmla="val 645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216152"/>
            <a:ext cx="1906524" cy="502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60_ic5"/>
          <p:cNvSpPr/>
          <p:nvPr/>
        </p:nvSpPr>
        <p:spPr>
          <a:xfrm>
            <a:off x="621792" y="1417320"/>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60_ict6"/>
          <p:cNvSpPr txBox="1"/>
          <p:nvPr/>
        </p:nvSpPr>
        <p:spPr>
          <a:xfrm>
            <a:off x="621792" y="1417320"/>
            <a:ext cx="384048" cy="384048"/>
          </a:xfrm>
          <a:prstGeom prst="rect">
            <a:avLst/>
          </a:prstGeom>
          <a:noFill/>
        </p:spPr>
        <p:txBody>
          <a:bodyPr wrap="square" lIns="0" tIns="0" rIns="0" bIns="0" anchor="ctr">
            <a:spAutoFit/>
          </a:bodyPr>
          <a:lstStyle/>
          <a:p>
            <a:pPr algn="ctr"/>
            <a:r>
              <a:rPr sz="1300" b="1">
                <a:solidFill>
                  <a:srgbClr val="FFFFFF"/>
                </a:solidFill>
                <a:latin typeface="Calibri"/>
              </a:rPr>
              <a:t>01</a:t>
            </a:r>
          </a:p>
        </p:txBody>
      </p:sp>
      <p:sp>
        <p:nvSpPr>
          <p:cNvPr id="8" name="a1ud90_ct7"/>
          <p:cNvSpPr txBox="1"/>
          <p:nvPr/>
        </p:nvSpPr>
        <p:spPr>
          <a:xfrm>
            <a:off x="621792" y="1892808"/>
            <a:ext cx="1577340" cy="274320"/>
          </a:xfrm>
          <a:prstGeom prst="rect">
            <a:avLst/>
          </a:prstGeom>
          <a:noFill/>
        </p:spPr>
        <p:txBody>
          <a:bodyPr wrap="square" lIns="0" tIns="0" rIns="0" bIns="0" anchor="ctr">
            <a:spAutoFit/>
          </a:bodyPr>
          <a:lstStyle/>
          <a:p>
            <a:pPr algn="l"/>
            <a:r>
              <a:rPr sz="1400" b="1">
                <a:solidFill>
                  <a:srgbClr val="0F172A"/>
                </a:solidFill>
                <a:latin typeface="Calibri"/>
              </a:rPr>
              <a:t>Why</a:t>
            </a:r>
          </a:p>
        </p:txBody>
      </p:sp>
      <p:sp>
        <p:nvSpPr>
          <p:cNvPr id="9" name="a1ud120_cs8"/>
          <p:cNvSpPr txBox="1"/>
          <p:nvPr/>
        </p:nvSpPr>
        <p:spPr>
          <a:xfrm>
            <a:off x="621792" y="2167128"/>
            <a:ext cx="1577340" cy="237744"/>
          </a:xfrm>
          <a:prstGeom prst="rect">
            <a:avLst/>
          </a:prstGeom>
          <a:noFill/>
        </p:spPr>
        <p:txBody>
          <a:bodyPr wrap="square" lIns="0" tIns="0" rIns="0" bIns="0" anchor="ctr">
            <a:spAutoFit/>
          </a:bodyPr>
          <a:lstStyle/>
          <a:p>
            <a:pPr algn="l"/>
            <a:r>
              <a:rPr sz="1000" b="1">
                <a:solidFill>
                  <a:srgbClr val="8B5CF6"/>
                </a:solidFill>
                <a:latin typeface="Courier New"/>
              </a:rPr>
              <a:t>THE PRESSURE</a:t>
            </a:r>
          </a:p>
        </p:txBody>
      </p:sp>
      <p:sp>
        <p:nvSpPr>
          <p:cNvPr id="10" name="a1ud150_cb9"/>
          <p:cNvSpPr txBox="1"/>
          <p:nvPr/>
        </p:nvSpPr>
        <p:spPr>
          <a:xfrm>
            <a:off x="621792" y="2423160"/>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What relational could not do</a:t>
            </a:r>
          </a:p>
        </p:txBody>
      </p:sp>
      <p:sp>
        <p:nvSpPr>
          <p:cNvPr id="11" name="a1ud220_cb10"/>
          <p:cNvSpPr txBox="1"/>
          <p:nvPr/>
        </p:nvSpPr>
        <p:spPr>
          <a:xfrm>
            <a:off x="621792" y="2807208"/>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Scale, shape and speed</a:t>
            </a:r>
          </a:p>
        </p:txBody>
      </p:sp>
      <p:sp>
        <p:nvSpPr>
          <p:cNvPr id="12" name="a2u_card11"/>
          <p:cNvSpPr/>
          <p:nvPr/>
        </p:nvSpPr>
        <p:spPr>
          <a:xfrm>
            <a:off x="2564892" y="1216152"/>
            <a:ext cx="1906524" cy="1417320"/>
          </a:xfrm>
          <a:prstGeom prst="roundRect">
            <a:avLst>
              <a:gd name="adj" fmla="val 645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2u_acc12"/>
          <p:cNvSpPr/>
          <p:nvPr/>
        </p:nvSpPr>
        <p:spPr>
          <a:xfrm>
            <a:off x="2564892" y="1216152"/>
            <a:ext cx="1906524"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d60_ic13"/>
          <p:cNvSpPr/>
          <p:nvPr/>
        </p:nvSpPr>
        <p:spPr>
          <a:xfrm>
            <a:off x="2729484" y="1417320"/>
            <a:ext cx="384048" cy="384048"/>
          </a:xfrm>
          <a:prstGeom prst="roundRect">
            <a:avLst>
              <a:gd name="adj" fmla="val 23809"/>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d60_ict14"/>
          <p:cNvSpPr txBox="1"/>
          <p:nvPr/>
        </p:nvSpPr>
        <p:spPr>
          <a:xfrm>
            <a:off x="2729484" y="1417320"/>
            <a:ext cx="384048" cy="384048"/>
          </a:xfrm>
          <a:prstGeom prst="rect">
            <a:avLst/>
          </a:prstGeom>
          <a:noFill/>
        </p:spPr>
        <p:txBody>
          <a:bodyPr wrap="square" lIns="0" tIns="0" rIns="0" bIns="0" anchor="ctr">
            <a:spAutoFit/>
          </a:bodyPr>
          <a:lstStyle/>
          <a:p>
            <a:pPr algn="ctr"/>
            <a:r>
              <a:rPr sz="1300" b="1">
                <a:solidFill>
                  <a:srgbClr val="FFFFFF"/>
                </a:solidFill>
                <a:latin typeface="Calibri"/>
              </a:rPr>
              <a:t>02</a:t>
            </a:r>
          </a:p>
        </p:txBody>
      </p:sp>
      <p:sp>
        <p:nvSpPr>
          <p:cNvPr id="16" name="a2ud90_ct15"/>
          <p:cNvSpPr txBox="1"/>
          <p:nvPr/>
        </p:nvSpPr>
        <p:spPr>
          <a:xfrm>
            <a:off x="2729484" y="1892808"/>
            <a:ext cx="1577340" cy="274320"/>
          </a:xfrm>
          <a:prstGeom prst="rect">
            <a:avLst/>
          </a:prstGeom>
          <a:noFill/>
        </p:spPr>
        <p:txBody>
          <a:bodyPr wrap="square" lIns="0" tIns="0" rIns="0" bIns="0" anchor="ctr">
            <a:spAutoFit/>
          </a:bodyPr>
          <a:lstStyle/>
          <a:p>
            <a:pPr algn="l"/>
            <a:r>
              <a:rPr sz="1400" b="1">
                <a:solidFill>
                  <a:srgbClr val="0F172A"/>
                </a:solidFill>
                <a:latin typeface="Calibri"/>
              </a:rPr>
              <a:t>History</a:t>
            </a:r>
          </a:p>
        </p:txBody>
      </p:sp>
      <p:sp>
        <p:nvSpPr>
          <p:cNvPr id="17" name="a2ud120_cs16"/>
          <p:cNvSpPr txBox="1"/>
          <p:nvPr/>
        </p:nvSpPr>
        <p:spPr>
          <a:xfrm>
            <a:off x="2729484" y="2167128"/>
            <a:ext cx="1577340" cy="237744"/>
          </a:xfrm>
          <a:prstGeom prst="rect">
            <a:avLst/>
          </a:prstGeom>
          <a:noFill/>
        </p:spPr>
        <p:txBody>
          <a:bodyPr wrap="square" lIns="0" tIns="0" rIns="0" bIns="0" anchor="ctr">
            <a:spAutoFit/>
          </a:bodyPr>
          <a:lstStyle/>
          <a:p>
            <a:pPr algn="l"/>
            <a:r>
              <a:rPr sz="1000" b="1">
                <a:solidFill>
                  <a:srgbClr val="0F766E"/>
                </a:solidFill>
                <a:latin typeface="Courier New"/>
              </a:rPr>
              <a:t>THE STORY</a:t>
            </a:r>
          </a:p>
        </p:txBody>
      </p:sp>
      <p:sp>
        <p:nvSpPr>
          <p:cNvPr id="18" name="a2ud150_cb17"/>
          <p:cNvSpPr txBox="1"/>
          <p:nvPr/>
        </p:nvSpPr>
        <p:spPr>
          <a:xfrm>
            <a:off x="2729484" y="2423160"/>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1970 to today</a:t>
            </a:r>
          </a:p>
        </p:txBody>
      </p:sp>
      <p:sp>
        <p:nvSpPr>
          <p:cNvPr id="19" name="a2ud220_cb18"/>
          <p:cNvSpPr txBox="1"/>
          <p:nvPr/>
        </p:nvSpPr>
        <p:spPr>
          <a:xfrm>
            <a:off x="2729484" y="2807208"/>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The papers and the name</a:t>
            </a:r>
          </a:p>
        </p:txBody>
      </p:sp>
      <p:sp>
        <p:nvSpPr>
          <p:cNvPr id="20" name="a3u_card19"/>
          <p:cNvSpPr/>
          <p:nvPr/>
        </p:nvSpPr>
        <p:spPr>
          <a:xfrm>
            <a:off x="4672584" y="1216152"/>
            <a:ext cx="1906524" cy="1417320"/>
          </a:xfrm>
          <a:prstGeom prst="roundRect">
            <a:avLst>
              <a:gd name="adj" fmla="val 645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acc20"/>
          <p:cNvSpPr/>
          <p:nvPr/>
        </p:nvSpPr>
        <p:spPr>
          <a:xfrm>
            <a:off x="4672584" y="1216152"/>
            <a:ext cx="1906524"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d60_ic21"/>
          <p:cNvSpPr/>
          <p:nvPr/>
        </p:nvSpPr>
        <p:spPr>
          <a:xfrm>
            <a:off x="4837176" y="1417320"/>
            <a:ext cx="384048" cy="384048"/>
          </a:xfrm>
          <a:prstGeom prst="roundRect">
            <a:avLst>
              <a:gd name="adj" fmla="val 23809"/>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d60_ict22"/>
          <p:cNvSpPr txBox="1"/>
          <p:nvPr/>
        </p:nvSpPr>
        <p:spPr>
          <a:xfrm>
            <a:off x="4837176" y="1417320"/>
            <a:ext cx="384048" cy="384048"/>
          </a:xfrm>
          <a:prstGeom prst="rect">
            <a:avLst/>
          </a:prstGeom>
          <a:noFill/>
        </p:spPr>
        <p:txBody>
          <a:bodyPr wrap="square" lIns="0" tIns="0" rIns="0" bIns="0" anchor="ctr">
            <a:spAutoFit/>
          </a:bodyPr>
          <a:lstStyle/>
          <a:p>
            <a:pPr algn="ctr"/>
            <a:r>
              <a:rPr sz="1300" b="1">
                <a:solidFill>
                  <a:srgbClr val="FFFFFF"/>
                </a:solidFill>
                <a:latin typeface="Calibri"/>
              </a:rPr>
              <a:t>03</a:t>
            </a:r>
          </a:p>
        </p:txBody>
      </p:sp>
      <p:sp>
        <p:nvSpPr>
          <p:cNvPr id="24" name="a3ud90_ct23"/>
          <p:cNvSpPr txBox="1"/>
          <p:nvPr/>
        </p:nvSpPr>
        <p:spPr>
          <a:xfrm>
            <a:off x="4837176" y="1892808"/>
            <a:ext cx="1577340" cy="274320"/>
          </a:xfrm>
          <a:prstGeom prst="rect">
            <a:avLst/>
          </a:prstGeom>
          <a:noFill/>
        </p:spPr>
        <p:txBody>
          <a:bodyPr wrap="square" lIns="0" tIns="0" rIns="0" bIns="0" anchor="ctr">
            <a:spAutoFit/>
          </a:bodyPr>
          <a:lstStyle/>
          <a:p>
            <a:pPr algn="l"/>
            <a:r>
              <a:rPr sz="1400" b="1">
                <a:solidFill>
                  <a:srgbClr val="0F172A"/>
                </a:solidFill>
                <a:latin typeface="Calibri"/>
              </a:rPr>
              <a:t>Concepts</a:t>
            </a:r>
          </a:p>
        </p:txBody>
      </p:sp>
      <p:sp>
        <p:nvSpPr>
          <p:cNvPr id="25" name="a3ud120_cs24"/>
          <p:cNvSpPr txBox="1"/>
          <p:nvPr/>
        </p:nvSpPr>
        <p:spPr>
          <a:xfrm>
            <a:off x="4837176" y="2167128"/>
            <a:ext cx="1577340" cy="237744"/>
          </a:xfrm>
          <a:prstGeom prst="rect">
            <a:avLst/>
          </a:prstGeom>
          <a:noFill/>
        </p:spPr>
        <p:txBody>
          <a:bodyPr wrap="square" lIns="0" tIns="0" rIns="0" bIns="0" anchor="ctr">
            <a:spAutoFit/>
          </a:bodyPr>
          <a:lstStyle/>
          <a:p>
            <a:pPr algn="l"/>
            <a:r>
              <a:rPr sz="1000" b="1">
                <a:solidFill>
                  <a:srgbClr val="B45309"/>
                </a:solidFill>
                <a:latin typeface="Courier New"/>
              </a:rPr>
              <a:t>THE RULES</a:t>
            </a:r>
          </a:p>
        </p:txBody>
      </p:sp>
      <p:sp>
        <p:nvSpPr>
          <p:cNvPr id="26" name="a3ud150_cb25"/>
          <p:cNvSpPr txBox="1"/>
          <p:nvPr/>
        </p:nvSpPr>
        <p:spPr>
          <a:xfrm>
            <a:off x="4837176" y="2423160"/>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Aggregates, schema, CAP</a:t>
            </a:r>
          </a:p>
        </p:txBody>
      </p:sp>
      <p:sp>
        <p:nvSpPr>
          <p:cNvPr id="27" name="a3ud220_cb26"/>
          <p:cNvSpPr txBox="1"/>
          <p:nvPr/>
        </p:nvSpPr>
        <p:spPr>
          <a:xfrm>
            <a:off x="4837176" y="2807208"/>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ACID versus BASE</a:t>
            </a:r>
          </a:p>
        </p:txBody>
      </p:sp>
      <p:sp>
        <p:nvSpPr>
          <p:cNvPr id="28" name="a4u_card27"/>
          <p:cNvSpPr/>
          <p:nvPr/>
        </p:nvSpPr>
        <p:spPr>
          <a:xfrm>
            <a:off x="6780276" y="1216152"/>
            <a:ext cx="1906524" cy="1417320"/>
          </a:xfrm>
          <a:prstGeom prst="roundRect">
            <a:avLst>
              <a:gd name="adj" fmla="val 645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4u_acc28"/>
          <p:cNvSpPr/>
          <p:nvPr/>
        </p:nvSpPr>
        <p:spPr>
          <a:xfrm>
            <a:off x="6780276" y="1216152"/>
            <a:ext cx="1906524" cy="5029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4ud60_ic29"/>
          <p:cNvSpPr/>
          <p:nvPr/>
        </p:nvSpPr>
        <p:spPr>
          <a:xfrm>
            <a:off x="6944868" y="1417320"/>
            <a:ext cx="384048" cy="384048"/>
          </a:xfrm>
          <a:prstGeom prst="roundRect">
            <a:avLst>
              <a:gd name="adj" fmla="val 23809"/>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d60_ict30"/>
          <p:cNvSpPr txBox="1"/>
          <p:nvPr/>
        </p:nvSpPr>
        <p:spPr>
          <a:xfrm>
            <a:off x="6944868" y="1417320"/>
            <a:ext cx="384048" cy="384048"/>
          </a:xfrm>
          <a:prstGeom prst="rect">
            <a:avLst/>
          </a:prstGeom>
          <a:noFill/>
        </p:spPr>
        <p:txBody>
          <a:bodyPr wrap="square" lIns="0" tIns="0" rIns="0" bIns="0" anchor="ctr">
            <a:spAutoFit/>
          </a:bodyPr>
          <a:lstStyle/>
          <a:p>
            <a:pPr algn="ctr"/>
            <a:r>
              <a:rPr sz="1300" b="1">
                <a:solidFill>
                  <a:srgbClr val="FFFFFF"/>
                </a:solidFill>
                <a:latin typeface="Calibri"/>
              </a:rPr>
              <a:t>04</a:t>
            </a:r>
          </a:p>
        </p:txBody>
      </p:sp>
      <p:sp>
        <p:nvSpPr>
          <p:cNvPr id="32" name="a4ud90_ct31"/>
          <p:cNvSpPr txBox="1"/>
          <p:nvPr/>
        </p:nvSpPr>
        <p:spPr>
          <a:xfrm>
            <a:off x="6944868" y="1892808"/>
            <a:ext cx="1577340" cy="274320"/>
          </a:xfrm>
          <a:prstGeom prst="rect">
            <a:avLst/>
          </a:prstGeom>
          <a:noFill/>
        </p:spPr>
        <p:txBody>
          <a:bodyPr wrap="square" lIns="0" tIns="0" rIns="0" bIns="0" anchor="ctr">
            <a:spAutoFit/>
          </a:bodyPr>
          <a:lstStyle/>
          <a:p>
            <a:pPr algn="l"/>
            <a:r>
              <a:rPr sz="1400" b="1">
                <a:solidFill>
                  <a:srgbClr val="0F172A"/>
                </a:solidFill>
                <a:latin typeface="Calibri"/>
              </a:rPr>
              <a:t>Types</a:t>
            </a:r>
          </a:p>
        </p:txBody>
      </p:sp>
      <p:sp>
        <p:nvSpPr>
          <p:cNvPr id="33" name="a4ud120_cs32"/>
          <p:cNvSpPr txBox="1"/>
          <p:nvPr/>
        </p:nvSpPr>
        <p:spPr>
          <a:xfrm>
            <a:off x="6944868" y="2167128"/>
            <a:ext cx="1577340" cy="237744"/>
          </a:xfrm>
          <a:prstGeom prst="rect">
            <a:avLst/>
          </a:prstGeom>
          <a:noFill/>
        </p:spPr>
        <p:txBody>
          <a:bodyPr wrap="square" lIns="0" tIns="0" rIns="0" bIns="0" anchor="ctr">
            <a:spAutoFit/>
          </a:bodyPr>
          <a:lstStyle/>
          <a:p>
            <a:pPr algn="l"/>
            <a:r>
              <a:rPr sz="1000" b="1">
                <a:solidFill>
                  <a:srgbClr val="DC382C"/>
                </a:solidFill>
                <a:latin typeface="Courier New"/>
              </a:rPr>
              <a:t>THE FAMILY</a:t>
            </a:r>
          </a:p>
        </p:txBody>
      </p:sp>
      <p:sp>
        <p:nvSpPr>
          <p:cNvPr id="34" name="a4ud150_cb33"/>
          <p:cNvSpPr txBox="1"/>
          <p:nvPr/>
        </p:nvSpPr>
        <p:spPr>
          <a:xfrm>
            <a:off x="6944868" y="2423160"/>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Four data models</a:t>
            </a:r>
          </a:p>
        </p:txBody>
      </p:sp>
      <p:sp>
        <p:nvSpPr>
          <p:cNvPr id="35" name="a4ud220_cb34"/>
          <p:cNvSpPr txBox="1"/>
          <p:nvPr/>
        </p:nvSpPr>
        <p:spPr>
          <a:xfrm>
            <a:off x="6944868" y="2807208"/>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The product landscape</a:t>
            </a:r>
          </a:p>
        </p:txBody>
      </p:sp>
      <p:sp>
        <p:nvSpPr>
          <p:cNvPr id="36" name="a5u_nb35"/>
          <p:cNvSpPr/>
          <p:nvPr/>
        </p:nvSpPr>
        <p:spPr>
          <a:xfrm>
            <a:off x="457200" y="2816352"/>
            <a:ext cx="8229600" cy="658368"/>
          </a:xfrm>
          <a:prstGeom prst="roundRect">
            <a:avLst>
              <a:gd name="adj" fmla="val 1111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acc36"/>
          <p:cNvSpPr/>
          <p:nvPr/>
        </p:nvSpPr>
        <p:spPr>
          <a:xfrm>
            <a:off x="457200" y="2816352"/>
            <a:ext cx="5029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t37"/>
          <p:cNvSpPr txBox="1"/>
          <p:nvPr/>
        </p:nvSpPr>
        <p:spPr>
          <a:xfrm>
            <a:off x="658368" y="2816352"/>
            <a:ext cx="7827264" cy="658368"/>
          </a:xfrm>
          <a:prstGeom prst="rect">
            <a:avLst/>
          </a:prstGeom>
          <a:noFill/>
        </p:spPr>
        <p:txBody>
          <a:bodyPr wrap="square" lIns="0" tIns="0" rIns="0" bIns="0" anchor="ctr">
            <a:spAutoFit/>
          </a:bodyPr>
          <a:lstStyle/>
          <a:p>
            <a:pPr algn="l"/>
            <a:r>
              <a:rPr sz="1150" b="1">
                <a:solidFill>
                  <a:srgbClr val="8B5CF6"/>
                </a:solidFill>
                <a:latin typeface="Calibri"/>
              </a:rPr>
              <a:t>NOTE  </a:t>
            </a:r>
            <a:r>
              <a:rPr sz="1150" b="0">
                <a:solidFill>
                  <a:srgbClr val="334155"/>
                </a:solidFill>
                <a:latin typeface="Calibri"/>
              </a:rPr>
              <a:t>This deck stays vendor-neutral. Decks 2 to 4 then go deep on one product - Redis - because that is what the ICICI Bank platform uses in production.</a:t>
            </a:r>
          </a:p>
        </p:txBody>
      </p:sp>
      <p:sp>
        <p:nvSpPr>
          <p:cNvPr id="39" name="ft3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0" name="ft3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ppt_y+0.1"/>
                                          </p:val>
                                        </p:tav>
                                        <p:tav tm="100000">
                                          <p:val>
                                            <p:strVal val="#ppt_y"/>
                                          </p:val>
                                        </p:tav>
                                      </p:tavLst>
                                    </p:anim>
                                    <p:animEffect transition="in" filter="fade">
                                      <p:cBhvr>
                                        <p:cTn id="50" dur="500"/>
                                        <p:tgtEl>
                                          <p:spTgt spid="12"/>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6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9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12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22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ppt_x</p:attrName>
                                        </p:attrNameLst>
                                      </p:cBhvr>
                                      <p:tavLst>
                                        <p:tav tm="0">
                                          <p:val>
                                            <p:strVal val="#ppt_x"/>
                                          </p:val>
                                        </p:tav>
                                        <p:tav tm="100000">
                                          <p:val>
                                            <p:strVal val="#ppt_x"/>
                                          </p:val>
                                        </p:tav>
                                      </p:tavLst>
                                    </p:anim>
                                    <p:anim calcmode="lin" valueType="num">
                                      <p:cBhvr additive="base">
                                        <p:cTn id="91" dur="500" fill="hold"/>
                                        <p:tgtEl>
                                          <p:spTgt spid="20"/>
                                        </p:tgtEl>
                                        <p:attrNameLst>
                                          <p:attrName>ppt_y</p:attrName>
                                        </p:attrNameLst>
                                      </p:cBhvr>
                                      <p:tavLst>
                                        <p:tav tm="0">
                                          <p:val>
                                            <p:strVal val="#ppt_y+0.1"/>
                                          </p:val>
                                        </p:tav>
                                        <p:tav tm="100000">
                                          <p:val>
                                            <p:strVal val="#ppt_y"/>
                                          </p:val>
                                        </p:tav>
                                      </p:tavLst>
                                    </p:anim>
                                    <p:animEffect transition="in" filter="fade">
                                      <p:cBhvr>
                                        <p:cTn id="92" dur="500"/>
                                        <p:tgtEl>
                                          <p:spTgt spid="20"/>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ppt_x</p:attrName>
                                        </p:attrNameLst>
                                      </p:cBhvr>
                                      <p:tavLst>
                                        <p:tav tm="0">
                                          <p:val>
                                            <p:strVal val="#ppt_x"/>
                                          </p:val>
                                        </p:tav>
                                        <p:tav tm="100000">
                                          <p:val>
                                            <p:strVal val="#ppt_x"/>
                                          </p:val>
                                        </p:tav>
                                      </p:tavLst>
                                    </p:anim>
                                    <p:anim calcmode="lin" valueType="num">
                                      <p:cBhvr additive="base">
                                        <p:cTn id="96" dur="500" fill="hold"/>
                                        <p:tgtEl>
                                          <p:spTgt spid="21"/>
                                        </p:tgtEl>
                                        <p:attrNameLst>
                                          <p:attrName>ppt_y</p:attrName>
                                        </p:attrNameLst>
                                      </p:cBhvr>
                                      <p:tavLst>
                                        <p:tav tm="0">
                                          <p:val>
                                            <p:strVal val="#ppt_y+0.1"/>
                                          </p:val>
                                        </p:tav>
                                        <p:tav tm="100000">
                                          <p:val>
                                            <p:strVal val="#ppt_y"/>
                                          </p:val>
                                        </p:tav>
                                      </p:tavLst>
                                    </p:anim>
                                    <p:animEffect transition="in" filter="fade">
                                      <p:cBhvr>
                                        <p:cTn id="97" dur="500"/>
                                        <p:tgtEl>
                                          <p:spTgt spid="21"/>
                                        </p:tgtEl>
                                      </p:cBhvr>
                                    </p:animEffect>
                                  </p:childTnLst>
                                </p:cTn>
                              </p:par>
                              <p:par>
                                <p:cTn id="103" presetID="2" presetClass="entr" presetSubtype="4" fill="hold" grpId="0" nodeType="withEffect">
                                  <p:stCondLst>
                                    <p:cond delay="6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ppt_x</p:attrName>
                                        </p:attrNameLst>
                                      </p:cBhvr>
                                      <p:tavLst>
                                        <p:tav tm="0">
                                          <p:val>
                                            <p:strVal val="#ppt_x"/>
                                          </p:val>
                                        </p:tav>
                                        <p:tav tm="100000">
                                          <p:val>
                                            <p:strVal val="#ppt_x"/>
                                          </p:val>
                                        </p:tav>
                                      </p:tavLst>
                                    </p:anim>
                                    <p:anim calcmode="lin" valueType="num">
                                      <p:cBhvr additive="base">
                                        <p:cTn id="101" dur="500" fill="hold"/>
                                        <p:tgtEl>
                                          <p:spTgt spid="22"/>
                                        </p:tgtEl>
                                        <p:attrNameLst>
                                          <p:attrName>ppt_y</p:attrName>
                                        </p:attrNameLst>
                                      </p:cBhvr>
                                      <p:tavLst>
                                        <p:tav tm="0">
                                          <p:val>
                                            <p:strVal val="#ppt_y+0.1"/>
                                          </p:val>
                                        </p:tav>
                                        <p:tav tm="100000">
                                          <p:val>
                                            <p:strVal val="#ppt_y"/>
                                          </p:val>
                                        </p:tav>
                                      </p:tavLst>
                                    </p:anim>
                                    <p:animEffect transition="in" filter="fade">
                                      <p:cBhvr>
                                        <p:cTn id="102" dur="500"/>
                                        <p:tgtEl>
                                          <p:spTgt spid="22"/>
                                        </p:tgtEl>
                                      </p:cBhvr>
                                    </p:animEffect>
                                  </p:childTnLst>
                                </p:cTn>
                              </p:par>
                              <p:par>
                                <p:cTn id="108" presetID="2" presetClass="entr" presetSubtype="4" fill="hold" grpId="0" nodeType="withEffect">
                                  <p:stCondLst>
                                    <p:cond delay="6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ppt_x</p:attrName>
                                        </p:attrNameLst>
                                      </p:cBhvr>
                                      <p:tavLst>
                                        <p:tav tm="0">
                                          <p:val>
                                            <p:strVal val="#ppt_x"/>
                                          </p:val>
                                        </p:tav>
                                        <p:tav tm="100000">
                                          <p:val>
                                            <p:strVal val="#ppt_x"/>
                                          </p:val>
                                        </p:tav>
                                      </p:tavLst>
                                    </p:anim>
                                    <p:anim calcmode="lin" valueType="num">
                                      <p:cBhvr additive="base">
                                        <p:cTn id="106" dur="500" fill="hold"/>
                                        <p:tgtEl>
                                          <p:spTgt spid="23"/>
                                        </p:tgtEl>
                                        <p:attrNameLst>
                                          <p:attrName>ppt_y</p:attrName>
                                        </p:attrNameLst>
                                      </p:cBhvr>
                                      <p:tavLst>
                                        <p:tav tm="0">
                                          <p:val>
                                            <p:strVal val="#ppt_y+0.1"/>
                                          </p:val>
                                        </p:tav>
                                        <p:tav tm="100000">
                                          <p:val>
                                            <p:strVal val="#ppt_y"/>
                                          </p:val>
                                        </p:tav>
                                      </p:tavLst>
                                    </p:anim>
                                    <p:animEffect transition="in" filter="fade">
                                      <p:cBhvr>
                                        <p:cTn id="107" dur="500"/>
                                        <p:tgtEl>
                                          <p:spTgt spid="23"/>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p:tgtEl>
                                          <p:spTgt spid="24"/>
                                        </p:tgtEl>
                                        <p:attrNameLst>
                                          <p:attrName>ppt_y</p:attrName>
                                        </p:attrNameLst>
                                      </p:cBhvr>
                                      <p:tavLst>
                                        <p:tav tm="0">
                                          <p:val>
                                            <p:strVal val="#ppt_y+0.1"/>
                                          </p:val>
                                        </p:tav>
                                        <p:tav tm="100000">
                                          <p:val>
                                            <p:strVal val="#ppt_y"/>
                                          </p:val>
                                        </p:tav>
                                      </p:tavLst>
                                    </p:anim>
                                    <p:animEffect transition="in" filter="fade">
                                      <p:cBhvr>
                                        <p:cTn id="112" dur="500"/>
                                        <p:tgtEl>
                                          <p:spTgt spid="24"/>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ppt_x</p:attrName>
                                        </p:attrNameLst>
                                      </p:cBhvr>
                                      <p:tavLst>
                                        <p:tav tm="0">
                                          <p:val>
                                            <p:strVal val="#ppt_x"/>
                                          </p:val>
                                        </p:tav>
                                        <p:tav tm="100000">
                                          <p:val>
                                            <p:strVal val="#ppt_x"/>
                                          </p:val>
                                        </p:tav>
                                      </p:tavLst>
                                    </p:anim>
                                    <p:anim calcmode="lin" valueType="num">
                                      <p:cBhvr additive="base">
                                        <p:cTn id="116" dur="500" fill="hold"/>
                                        <p:tgtEl>
                                          <p:spTgt spid="25"/>
                                        </p:tgtEl>
                                        <p:attrNameLst>
                                          <p:attrName>ppt_y</p:attrName>
                                        </p:attrNameLst>
                                      </p:cBhvr>
                                      <p:tavLst>
                                        <p:tav tm="0">
                                          <p:val>
                                            <p:strVal val="#ppt_y+0.1"/>
                                          </p:val>
                                        </p:tav>
                                        <p:tav tm="100000">
                                          <p:val>
                                            <p:strVal val="#ppt_y"/>
                                          </p:val>
                                        </p:tav>
                                      </p:tavLst>
                                    </p:anim>
                                    <p:animEffect transition="in" filter="fade">
                                      <p:cBhvr>
                                        <p:cTn id="117" dur="500"/>
                                        <p:tgtEl>
                                          <p:spTgt spid="25"/>
                                        </p:tgtEl>
                                      </p:cBhvr>
                                    </p:animEffect>
                                  </p:childTnLst>
                                </p:cTn>
                              </p:par>
                              <p:par>
                                <p:cTn id="123" presetID="2" presetClass="entr" presetSubtype="4" fill="hold" grpId="0" nodeType="withEffect">
                                  <p:stCondLst>
                                    <p:cond delay="15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ppt_x</p:attrName>
                                        </p:attrNameLst>
                                      </p:cBhvr>
                                      <p:tavLst>
                                        <p:tav tm="0">
                                          <p:val>
                                            <p:strVal val="#ppt_x"/>
                                          </p:val>
                                        </p:tav>
                                        <p:tav tm="100000">
                                          <p:val>
                                            <p:strVal val="#ppt_x"/>
                                          </p:val>
                                        </p:tav>
                                      </p:tavLst>
                                    </p:anim>
                                    <p:anim calcmode="lin" valueType="num">
                                      <p:cBhvr additive="base">
                                        <p:cTn id="121" dur="500" fill="hold"/>
                                        <p:tgtEl>
                                          <p:spTgt spid="26"/>
                                        </p:tgtEl>
                                        <p:attrNameLst>
                                          <p:attrName>ppt_y</p:attrName>
                                        </p:attrNameLst>
                                      </p:cBhvr>
                                      <p:tavLst>
                                        <p:tav tm="0">
                                          <p:val>
                                            <p:strVal val="#ppt_y+0.1"/>
                                          </p:val>
                                        </p:tav>
                                        <p:tav tm="100000">
                                          <p:val>
                                            <p:strVal val="#ppt_y"/>
                                          </p:val>
                                        </p:tav>
                                      </p:tavLst>
                                    </p:anim>
                                    <p:animEffect transition="in" filter="fade">
                                      <p:cBhvr>
                                        <p:cTn id="122" dur="500"/>
                                        <p:tgtEl>
                                          <p:spTgt spid="26"/>
                                        </p:tgtEl>
                                      </p:cBhvr>
                                    </p:animEffect>
                                  </p:childTnLst>
                                </p:cTn>
                              </p:par>
                              <p:par>
                                <p:cTn id="128" presetID="2" presetClass="entr" presetSubtype="4" fill="hold" grpId="0" nodeType="withEffect">
                                  <p:stCondLst>
                                    <p:cond delay="2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ppt_x</p:attrName>
                                        </p:attrNameLst>
                                      </p:cBhvr>
                                      <p:tavLst>
                                        <p:tav tm="0">
                                          <p:val>
                                            <p:strVal val="#ppt_x"/>
                                          </p:val>
                                        </p:tav>
                                        <p:tav tm="100000">
                                          <p:val>
                                            <p:strVal val="#ppt_x"/>
                                          </p:val>
                                        </p:tav>
                                      </p:tavLst>
                                    </p:anim>
                                    <p:anim calcmode="lin" valueType="num">
                                      <p:cBhvr additive="base">
                                        <p:cTn id="126" dur="500" fill="hold"/>
                                        <p:tgtEl>
                                          <p:spTgt spid="27"/>
                                        </p:tgtEl>
                                        <p:attrNameLst>
                                          <p:attrName>ppt_y</p:attrName>
                                        </p:attrNameLst>
                                      </p:cBhvr>
                                      <p:tavLst>
                                        <p:tav tm="0">
                                          <p:val>
                                            <p:strVal val="#ppt_y+0.1"/>
                                          </p:val>
                                        </p:tav>
                                        <p:tav tm="100000">
                                          <p:val>
                                            <p:strVal val="#ppt_y"/>
                                          </p:val>
                                        </p:tav>
                                      </p:tavLst>
                                    </p:anim>
                                    <p:animEffect transition="in" filter="fade">
                                      <p:cBhvr>
                                        <p:cTn id="127" dur="500"/>
                                        <p:tgtEl>
                                          <p:spTgt spid="27"/>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28"/>
                                        </p:tgtEl>
                                        <p:attrNameLst>
                                          <p:attrName>style.visibility</p:attrName>
                                        </p:attrNameLst>
                                      </p:cBhvr>
                                      <p:to>
                                        <p:strVal val="visible"/>
                                      </p:to>
                                    </p:set>
                                    <p:anim calcmode="lin" valueType="num">
                                      <p:cBhvr additive="base">
                                        <p:cTn id="132" dur="500" fill="hold"/>
                                        <p:tgtEl>
                                          <p:spTgt spid="28"/>
                                        </p:tgtEl>
                                        <p:attrNameLst>
                                          <p:attrName>ppt_x</p:attrName>
                                        </p:attrNameLst>
                                      </p:cBhvr>
                                      <p:tavLst>
                                        <p:tav tm="0">
                                          <p:val>
                                            <p:strVal val="#ppt_x"/>
                                          </p:val>
                                        </p:tav>
                                        <p:tav tm="100000">
                                          <p:val>
                                            <p:strVal val="#ppt_x"/>
                                          </p:val>
                                        </p:tav>
                                      </p:tavLst>
                                    </p:anim>
                                    <p:anim calcmode="lin" valueType="num">
                                      <p:cBhvr additive="base">
                                        <p:cTn id="133" dur="500" fill="hold"/>
                                        <p:tgtEl>
                                          <p:spTgt spid="28"/>
                                        </p:tgtEl>
                                        <p:attrNameLst>
                                          <p:attrName>ppt_y</p:attrName>
                                        </p:attrNameLst>
                                      </p:cBhvr>
                                      <p:tavLst>
                                        <p:tav tm="0">
                                          <p:val>
                                            <p:strVal val="#ppt_y+0.1"/>
                                          </p:val>
                                        </p:tav>
                                        <p:tav tm="100000">
                                          <p:val>
                                            <p:strVal val="#ppt_y"/>
                                          </p:val>
                                        </p:tav>
                                      </p:tavLst>
                                    </p:anim>
                                    <p:animEffect transition="in" filter="fade">
                                      <p:cBhvr>
                                        <p:cTn id="134" dur="500"/>
                                        <p:tgtEl>
                                          <p:spTgt spid="28"/>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additive="base">
                                        <p:cTn id="137" dur="500" fill="hold"/>
                                        <p:tgtEl>
                                          <p:spTgt spid="29"/>
                                        </p:tgtEl>
                                        <p:attrNameLst>
                                          <p:attrName>ppt_x</p:attrName>
                                        </p:attrNameLst>
                                      </p:cBhvr>
                                      <p:tavLst>
                                        <p:tav tm="0">
                                          <p:val>
                                            <p:strVal val="#ppt_x"/>
                                          </p:val>
                                        </p:tav>
                                        <p:tav tm="100000">
                                          <p:val>
                                            <p:strVal val="#ppt_x"/>
                                          </p:val>
                                        </p:tav>
                                      </p:tavLst>
                                    </p:anim>
                                    <p:anim calcmode="lin" valueType="num">
                                      <p:cBhvr additive="base">
                                        <p:cTn id="138" dur="500" fill="hold"/>
                                        <p:tgtEl>
                                          <p:spTgt spid="29"/>
                                        </p:tgtEl>
                                        <p:attrNameLst>
                                          <p:attrName>ppt_y</p:attrName>
                                        </p:attrNameLst>
                                      </p:cBhvr>
                                      <p:tavLst>
                                        <p:tav tm="0">
                                          <p:val>
                                            <p:strVal val="#ppt_y+0.1"/>
                                          </p:val>
                                        </p:tav>
                                        <p:tav tm="100000">
                                          <p:val>
                                            <p:strVal val="#ppt_y"/>
                                          </p:val>
                                        </p:tav>
                                      </p:tavLst>
                                    </p:anim>
                                    <p:animEffect transition="in" filter="fade">
                                      <p:cBhvr>
                                        <p:cTn id="139" dur="500"/>
                                        <p:tgtEl>
                                          <p:spTgt spid="29"/>
                                        </p:tgtEl>
                                      </p:cBhvr>
                                    </p:animEffect>
                                  </p:childTnLst>
                                </p:cTn>
                              </p:par>
                              <p:par>
                                <p:cTn id="145" presetID="2" presetClass="entr" presetSubtype="4" fill="hold" grpId="0" nodeType="withEffect">
                                  <p:stCondLst>
                                    <p:cond delay="60"/>
                                  </p:stCondLst>
                                  <p:childTnLst>
                                    <p:set>
                                      <p:cBhvr>
                                        <p:cTn id="141" dur="1" fill="hold">
                                          <p:stCondLst>
                                            <p:cond delay="0"/>
                                          </p:stCondLst>
                                        </p:cTn>
                                        <p:tgtEl>
                                          <p:spTgt spid="30"/>
                                        </p:tgtEl>
                                        <p:attrNameLst>
                                          <p:attrName>style.visibility</p:attrName>
                                        </p:attrNameLst>
                                      </p:cBhvr>
                                      <p:to>
                                        <p:strVal val="visible"/>
                                      </p:to>
                                    </p:set>
                                    <p:anim calcmode="lin" valueType="num">
                                      <p:cBhvr additive="base">
                                        <p:cTn id="142" dur="500" fill="hold"/>
                                        <p:tgtEl>
                                          <p:spTgt spid="30"/>
                                        </p:tgtEl>
                                        <p:attrNameLst>
                                          <p:attrName>ppt_x</p:attrName>
                                        </p:attrNameLst>
                                      </p:cBhvr>
                                      <p:tavLst>
                                        <p:tav tm="0">
                                          <p:val>
                                            <p:strVal val="#ppt_x"/>
                                          </p:val>
                                        </p:tav>
                                        <p:tav tm="100000">
                                          <p:val>
                                            <p:strVal val="#ppt_x"/>
                                          </p:val>
                                        </p:tav>
                                      </p:tavLst>
                                    </p:anim>
                                    <p:anim calcmode="lin" valueType="num">
                                      <p:cBhvr additive="base">
                                        <p:cTn id="143" dur="500" fill="hold"/>
                                        <p:tgtEl>
                                          <p:spTgt spid="30"/>
                                        </p:tgtEl>
                                        <p:attrNameLst>
                                          <p:attrName>ppt_y</p:attrName>
                                        </p:attrNameLst>
                                      </p:cBhvr>
                                      <p:tavLst>
                                        <p:tav tm="0">
                                          <p:val>
                                            <p:strVal val="#ppt_y+0.1"/>
                                          </p:val>
                                        </p:tav>
                                        <p:tav tm="100000">
                                          <p:val>
                                            <p:strVal val="#ppt_y"/>
                                          </p:val>
                                        </p:tav>
                                      </p:tavLst>
                                    </p:anim>
                                    <p:animEffect transition="in" filter="fade">
                                      <p:cBhvr>
                                        <p:cTn id="144" dur="500"/>
                                        <p:tgtEl>
                                          <p:spTgt spid="30"/>
                                        </p:tgtEl>
                                      </p:cBhvr>
                                    </p:animEffect>
                                  </p:childTnLst>
                                </p:cTn>
                              </p:par>
                              <p:par>
                                <p:cTn id="150" presetID="2" presetClass="entr" presetSubtype="4" fill="hold" grpId="0" nodeType="withEffect">
                                  <p:stCondLst>
                                    <p:cond delay="60"/>
                                  </p:stCondLst>
                                  <p:childTnLst>
                                    <p:set>
                                      <p:cBhvr>
                                        <p:cTn id="146" dur="1" fill="hold">
                                          <p:stCondLst>
                                            <p:cond delay="0"/>
                                          </p:stCondLst>
                                        </p:cTn>
                                        <p:tgtEl>
                                          <p:spTgt spid="31"/>
                                        </p:tgtEl>
                                        <p:attrNameLst>
                                          <p:attrName>style.visibility</p:attrName>
                                        </p:attrNameLst>
                                      </p:cBhvr>
                                      <p:to>
                                        <p:strVal val="visible"/>
                                      </p:to>
                                    </p:set>
                                    <p:anim calcmode="lin" valueType="num">
                                      <p:cBhvr additive="base">
                                        <p:cTn id="147" dur="500" fill="hold"/>
                                        <p:tgtEl>
                                          <p:spTgt spid="31"/>
                                        </p:tgtEl>
                                        <p:attrNameLst>
                                          <p:attrName>ppt_x</p:attrName>
                                        </p:attrNameLst>
                                      </p:cBhvr>
                                      <p:tavLst>
                                        <p:tav tm="0">
                                          <p:val>
                                            <p:strVal val="#ppt_x"/>
                                          </p:val>
                                        </p:tav>
                                        <p:tav tm="100000">
                                          <p:val>
                                            <p:strVal val="#ppt_x"/>
                                          </p:val>
                                        </p:tav>
                                      </p:tavLst>
                                    </p:anim>
                                    <p:anim calcmode="lin" valueType="num">
                                      <p:cBhvr additive="base">
                                        <p:cTn id="148" dur="500" fill="hold"/>
                                        <p:tgtEl>
                                          <p:spTgt spid="31"/>
                                        </p:tgtEl>
                                        <p:attrNameLst>
                                          <p:attrName>ppt_y</p:attrName>
                                        </p:attrNameLst>
                                      </p:cBhvr>
                                      <p:tavLst>
                                        <p:tav tm="0">
                                          <p:val>
                                            <p:strVal val="#ppt_y+0.1"/>
                                          </p:val>
                                        </p:tav>
                                        <p:tav tm="100000">
                                          <p:val>
                                            <p:strVal val="#ppt_y"/>
                                          </p:val>
                                        </p:tav>
                                      </p:tavLst>
                                    </p:anim>
                                    <p:animEffect transition="in" filter="fade">
                                      <p:cBhvr>
                                        <p:cTn id="149" dur="500"/>
                                        <p:tgtEl>
                                          <p:spTgt spid="31"/>
                                        </p:tgtEl>
                                      </p:cBhvr>
                                    </p:animEffect>
                                  </p:childTnLst>
                                </p:cTn>
                              </p:par>
                              <p:par>
                                <p:cTn id="155" presetID="2" presetClass="entr" presetSubtype="4" fill="hold" grpId="0" nodeType="withEffect">
                                  <p:stCondLst>
                                    <p:cond delay="90"/>
                                  </p:stCondLst>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ppt_x"/>
                                          </p:val>
                                        </p:tav>
                                        <p:tav tm="100000">
                                          <p:val>
                                            <p:strVal val="#ppt_x"/>
                                          </p:val>
                                        </p:tav>
                                      </p:tavLst>
                                    </p:anim>
                                    <p:anim calcmode="lin" valueType="num">
                                      <p:cBhvr additive="base">
                                        <p:cTn id="153" dur="500" fill="hold"/>
                                        <p:tgtEl>
                                          <p:spTgt spid="32"/>
                                        </p:tgtEl>
                                        <p:attrNameLst>
                                          <p:attrName>ppt_y</p:attrName>
                                        </p:attrNameLst>
                                      </p:cBhvr>
                                      <p:tavLst>
                                        <p:tav tm="0">
                                          <p:val>
                                            <p:strVal val="#ppt_y+0.1"/>
                                          </p:val>
                                        </p:tav>
                                        <p:tav tm="100000">
                                          <p:val>
                                            <p:strVal val="#ppt_y"/>
                                          </p:val>
                                        </p:tav>
                                      </p:tavLst>
                                    </p:anim>
                                    <p:animEffect transition="in" filter="fade">
                                      <p:cBhvr>
                                        <p:cTn id="154" dur="500"/>
                                        <p:tgtEl>
                                          <p:spTgt spid="32"/>
                                        </p:tgtEl>
                                      </p:cBhvr>
                                    </p:animEffect>
                                  </p:childTnLst>
                                </p:cTn>
                              </p:par>
                              <p:par>
                                <p:cTn id="160" presetID="2" presetClass="entr" presetSubtype="4" fill="hold" grpId="0" nodeType="withEffect">
                                  <p:stCondLst>
                                    <p:cond delay="120"/>
                                  </p:stCondLst>
                                  <p:childTnLst>
                                    <p:set>
                                      <p:cBhvr>
                                        <p:cTn id="156" dur="1" fill="hold">
                                          <p:stCondLst>
                                            <p:cond delay="0"/>
                                          </p:stCondLst>
                                        </p:cTn>
                                        <p:tgtEl>
                                          <p:spTgt spid="33"/>
                                        </p:tgtEl>
                                        <p:attrNameLst>
                                          <p:attrName>style.visibility</p:attrName>
                                        </p:attrNameLst>
                                      </p:cBhvr>
                                      <p:to>
                                        <p:strVal val="visible"/>
                                      </p:to>
                                    </p:set>
                                    <p:anim calcmode="lin" valueType="num">
                                      <p:cBhvr additive="base">
                                        <p:cTn id="157" dur="500" fill="hold"/>
                                        <p:tgtEl>
                                          <p:spTgt spid="33"/>
                                        </p:tgtEl>
                                        <p:attrNameLst>
                                          <p:attrName>ppt_x</p:attrName>
                                        </p:attrNameLst>
                                      </p:cBhvr>
                                      <p:tavLst>
                                        <p:tav tm="0">
                                          <p:val>
                                            <p:strVal val="#ppt_x"/>
                                          </p:val>
                                        </p:tav>
                                        <p:tav tm="100000">
                                          <p:val>
                                            <p:strVal val="#ppt_x"/>
                                          </p:val>
                                        </p:tav>
                                      </p:tavLst>
                                    </p:anim>
                                    <p:anim calcmode="lin" valueType="num">
                                      <p:cBhvr additive="base">
                                        <p:cTn id="158" dur="500" fill="hold"/>
                                        <p:tgtEl>
                                          <p:spTgt spid="33"/>
                                        </p:tgtEl>
                                        <p:attrNameLst>
                                          <p:attrName>ppt_y</p:attrName>
                                        </p:attrNameLst>
                                      </p:cBhvr>
                                      <p:tavLst>
                                        <p:tav tm="0">
                                          <p:val>
                                            <p:strVal val="#ppt_y+0.1"/>
                                          </p:val>
                                        </p:tav>
                                        <p:tav tm="100000">
                                          <p:val>
                                            <p:strVal val="#ppt_y"/>
                                          </p:val>
                                        </p:tav>
                                      </p:tavLst>
                                    </p:anim>
                                    <p:animEffect transition="in" filter="fade">
                                      <p:cBhvr>
                                        <p:cTn id="159" dur="500"/>
                                        <p:tgtEl>
                                          <p:spTgt spid="33"/>
                                        </p:tgtEl>
                                      </p:cBhvr>
                                    </p:animEffect>
                                  </p:childTnLst>
                                </p:cTn>
                              </p:par>
                              <p:par>
                                <p:cTn id="165" presetID="2" presetClass="entr" presetSubtype="4" fill="hold" grpId="0" nodeType="withEffect">
                                  <p:stCondLst>
                                    <p:cond delay="150"/>
                                  </p:stCondLst>
                                  <p:childTnLst>
                                    <p:set>
                                      <p:cBhvr>
                                        <p:cTn id="161" dur="1" fill="hold">
                                          <p:stCondLst>
                                            <p:cond delay="0"/>
                                          </p:stCondLst>
                                        </p:cTn>
                                        <p:tgtEl>
                                          <p:spTgt spid="34"/>
                                        </p:tgtEl>
                                        <p:attrNameLst>
                                          <p:attrName>style.visibility</p:attrName>
                                        </p:attrNameLst>
                                      </p:cBhvr>
                                      <p:to>
                                        <p:strVal val="visible"/>
                                      </p:to>
                                    </p:set>
                                    <p:anim calcmode="lin" valueType="num">
                                      <p:cBhvr additive="base">
                                        <p:cTn id="162" dur="500" fill="hold"/>
                                        <p:tgtEl>
                                          <p:spTgt spid="34"/>
                                        </p:tgtEl>
                                        <p:attrNameLst>
                                          <p:attrName>ppt_x</p:attrName>
                                        </p:attrNameLst>
                                      </p:cBhvr>
                                      <p:tavLst>
                                        <p:tav tm="0">
                                          <p:val>
                                            <p:strVal val="#ppt_x"/>
                                          </p:val>
                                        </p:tav>
                                        <p:tav tm="100000">
                                          <p:val>
                                            <p:strVal val="#ppt_x"/>
                                          </p:val>
                                        </p:tav>
                                      </p:tavLst>
                                    </p:anim>
                                    <p:anim calcmode="lin" valueType="num">
                                      <p:cBhvr additive="base">
                                        <p:cTn id="163" dur="500" fill="hold"/>
                                        <p:tgtEl>
                                          <p:spTgt spid="34"/>
                                        </p:tgtEl>
                                        <p:attrNameLst>
                                          <p:attrName>ppt_y</p:attrName>
                                        </p:attrNameLst>
                                      </p:cBhvr>
                                      <p:tavLst>
                                        <p:tav tm="0">
                                          <p:val>
                                            <p:strVal val="#ppt_y+0.1"/>
                                          </p:val>
                                        </p:tav>
                                        <p:tav tm="100000">
                                          <p:val>
                                            <p:strVal val="#ppt_y"/>
                                          </p:val>
                                        </p:tav>
                                      </p:tavLst>
                                    </p:anim>
                                    <p:animEffect transition="in" filter="fade">
                                      <p:cBhvr>
                                        <p:cTn id="164" dur="500"/>
                                        <p:tgtEl>
                                          <p:spTgt spid="34"/>
                                        </p:tgtEl>
                                      </p:cBhvr>
                                    </p:animEffect>
                                  </p:childTnLst>
                                </p:cTn>
                              </p:par>
                              <p:par>
                                <p:cTn id="170" presetID="2" presetClass="entr" presetSubtype="4" fill="hold" grpId="0" nodeType="withEffect">
                                  <p:stCondLst>
                                    <p:cond delay="220"/>
                                  </p:stCondLst>
                                  <p:childTnLst>
                                    <p:set>
                                      <p:cBhvr>
                                        <p:cTn id="166" dur="1" fill="hold">
                                          <p:stCondLst>
                                            <p:cond delay="0"/>
                                          </p:stCondLst>
                                        </p:cTn>
                                        <p:tgtEl>
                                          <p:spTgt spid="35"/>
                                        </p:tgtEl>
                                        <p:attrNameLst>
                                          <p:attrName>style.visibility</p:attrName>
                                        </p:attrNameLst>
                                      </p:cBhvr>
                                      <p:to>
                                        <p:strVal val="visible"/>
                                      </p:to>
                                    </p:set>
                                    <p:anim calcmode="lin" valueType="num">
                                      <p:cBhvr additive="base">
                                        <p:cTn id="167" dur="500" fill="hold"/>
                                        <p:tgtEl>
                                          <p:spTgt spid="35"/>
                                        </p:tgtEl>
                                        <p:attrNameLst>
                                          <p:attrName>ppt_x</p:attrName>
                                        </p:attrNameLst>
                                      </p:cBhvr>
                                      <p:tavLst>
                                        <p:tav tm="0">
                                          <p:val>
                                            <p:strVal val="#ppt_x"/>
                                          </p:val>
                                        </p:tav>
                                        <p:tav tm="100000">
                                          <p:val>
                                            <p:strVal val="#ppt_x"/>
                                          </p:val>
                                        </p:tav>
                                      </p:tavLst>
                                    </p:anim>
                                    <p:anim calcmode="lin" valueType="num">
                                      <p:cBhvr additive="base">
                                        <p:cTn id="168" dur="500" fill="hold"/>
                                        <p:tgtEl>
                                          <p:spTgt spid="35"/>
                                        </p:tgtEl>
                                        <p:attrNameLst>
                                          <p:attrName>ppt_y</p:attrName>
                                        </p:attrNameLst>
                                      </p:cBhvr>
                                      <p:tavLst>
                                        <p:tav tm="0">
                                          <p:val>
                                            <p:strVal val="#ppt_y+0.1"/>
                                          </p:val>
                                        </p:tav>
                                        <p:tav tm="100000">
                                          <p:val>
                                            <p:strVal val="#ppt_y"/>
                                          </p:val>
                                        </p:tav>
                                      </p:tavLst>
                                    </p:anim>
                                    <p:animEffect transition="in" filter="fade">
                                      <p:cBhvr>
                                        <p:cTn id="169" dur="500"/>
                                        <p:tgtEl>
                                          <p:spTgt spid="35"/>
                                        </p:tgtEl>
                                      </p:cBhvr>
                                    </p:animEffect>
                                  </p:childTnLst>
                                </p:cTn>
                              </p:par>
                            </p:childTnLst>
                          </p:cTn>
                        </p:par>
                      </p:childTnLst>
                    </p:cTn>
                  </p:par>
                  <p:par>
                    <p:cTn id="171" fill="hold">
                      <p:stCondLst>
                        <p:cond delay="indefinite"/>
                      </p:stCondLst>
                      <p:childTnLst>
                        <p:par>
                          <p:cTn id="172" fill="hold">
                            <p:stCondLst>
                              <p:cond delay="0"/>
                            </p:stCondLst>
                            <p:childTnLst>
                              <p:par>
                                <p:cTn id="177" presetID="2" presetClass="entr" presetSubtype="4" fill="hold" grpId="0" nodeType="clickEffect">
                                  <p:stCondLst>
                                    <p:cond delay="0"/>
                                  </p:stCondLst>
                                  <p:childTnLst>
                                    <p:set>
                                      <p:cBhvr>
                                        <p:cTn id="173" dur="1" fill="hold">
                                          <p:stCondLst>
                                            <p:cond delay="0"/>
                                          </p:stCondLst>
                                        </p:cTn>
                                        <p:tgtEl>
                                          <p:spTgt spid="36"/>
                                        </p:tgtEl>
                                        <p:attrNameLst>
                                          <p:attrName>style.visibility</p:attrName>
                                        </p:attrNameLst>
                                      </p:cBhvr>
                                      <p:to>
                                        <p:strVal val="visible"/>
                                      </p:to>
                                    </p:set>
                                    <p:anim calcmode="lin" valueType="num">
                                      <p:cBhvr additive="base">
                                        <p:cTn id="174" dur="500" fill="hold"/>
                                        <p:tgtEl>
                                          <p:spTgt spid="36"/>
                                        </p:tgtEl>
                                        <p:attrNameLst>
                                          <p:attrName>ppt_x</p:attrName>
                                        </p:attrNameLst>
                                      </p:cBhvr>
                                      <p:tavLst>
                                        <p:tav tm="0">
                                          <p:val>
                                            <p:strVal val="#ppt_x"/>
                                          </p:val>
                                        </p:tav>
                                        <p:tav tm="100000">
                                          <p:val>
                                            <p:strVal val="#ppt_x"/>
                                          </p:val>
                                        </p:tav>
                                      </p:tavLst>
                                    </p:anim>
                                    <p:anim calcmode="lin" valueType="num">
                                      <p:cBhvr additive="base">
                                        <p:cTn id="175" dur="500" fill="hold"/>
                                        <p:tgtEl>
                                          <p:spTgt spid="36"/>
                                        </p:tgtEl>
                                        <p:attrNameLst>
                                          <p:attrName>ppt_y</p:attrName>
                                        </p:attrNameLst>
                                      </p:cBhvr>
                                      <p:tavLst>
                                        <p:tav tm="0">
                                          <p:val>
                                            <p:strVal val="#ppt_y+0.1"/>
                                          </p:val>
                                        </p:tav>
                                        <p:tav tm="100000">
                                          <p:val>
                                            <p:strVal val="#ppt_y"/>
                                          </p:val>
                                        </p:tav>
                                      </p:tavLst>
                                    </p:anim>
                                    <p:animEffect transition="in" filter="fade">
                                      <p:cBhvr>
                                        <p:cTn id="176" dur="500"/>
                                        <p:tgtEl>
                                          <p:spTgt spid="36"/>
                                        </p:tgtEl>
                                      </p:cBhvr>
                                    </p:animEffect>
                                  </p:childTnLst>
                                </p:cTn>
                              </p:par>
                              <p:par>
                                <p:cTn id="182" presetID="2" presetClass="entr" presetSubtype="4" fill="hold" grpId="0" nodeType="withEffect">
                                  <p:stCondLst>
                                    <p:cond delay="0"/>
                                  </p:stCondLst>
                                  <p:childTnLst>
                                    <p:set>
                                      <p:cBhvr>
                                        <p:cTn id="178" dur="1" fill="hold">
                                          <p:stCondLst>
                                            <p:cond delay="0"/>
                                          </p:stCondLst>
                                        </p:cTn>
                                        <p:tgtEl>
                                          <p:spTgt spid="37"/>
                                        </p:tgtEl>
                                        <p:attrNameLst>
                                          <p:attrName>style.visibility</p:attrName>
                                        </p:attrNameLst>
                                      </p:cBhvr>
                                      <p:to>
                                        <p:strVal val="visible"/>
                                      </p:to>
                                    </p:set>
                                    <p:anim calcmode="lin" valueType="num">
                                      <p:cBhvr additive="base">
                                        <p:cTn id="179" dur="500" fill="hold"/>
                                        <p:tgtEl>
                                          <p:spTgt spid="37"/>
                                        </p:tgtEl>
                                        <p:attrNameLst>
                                          <p:attrName>ppt_x</p:attrName>
                                        </p:attrNameLst>
                                      </p:cBhvr>
                                      <p:tavLst>
                                        <p:tav tm="0">
                                          <p:val>
                                            <p:strVal val="#ppt_x"/>
                                          </p:val>
                                        </p:tav>
                                        <p:tav tm="100000">
                                          <p:val>
                                            <p:strVal val="#ppt_x"/>
                                          </p:val>
                                        </p:tav>
                                      </p:tavLst>
                                    </p:anim>
                                    <p:anim calcmode="lin" valueType="num">
                                      <p:cBhvr additive="base">
                                        <p:cTn id="180" dur="500" fill="hold"/>
                                        <p:tgtEl>
                                          <p:spTgt spid="37"/>
                                        </p:tgtEl>
                                        <p:attrNameLst>
                                          <p:attrName>ppt_y</p:attrName>
                                        </p:attrNameLst>
                                      </p:cBhvr>
                                      <p:tavLst>
                                        <p:tav tm="0">
                                          <p:val>
                                            <p:strVal val="#ppt_y+0.1"/>
                                          </p:val>
                                        </p:tav>
                                        <p:tav tm="100000">
                                          <p:val>
                                            <p:strVal val="#ppt_y"/>
                                          </p:val>
                                        </p:tav>
                                      </p:tavLst>
                                    </p:anim>
                                    <p:animEffect transition="in" filter="fade">
                                      <p:cBhvr>
                                        <p:cTn id="181" dur="500"/>
                                        <p:tgtEl>
                                          <p:spTgt spid="37"/>
                                        </p:tgtEl>
                                      </p:cBhvr>
                                    </p:animEffect>
                                  </p:childTnLst>
                                </p:cTn>
                              </p:par>
                              <p:par>
                                <p:cTn id="187" presetID="2" presetClass="entr" presetSubtype="4" fill="hold" grpId="0" nodeType="withEffect">
                                  <p:stCondLst>
                                    <p:cond delay="0"/>
                                  </p:stCondLst>
                                  <p:childTnLst>
                                    <p:set>
                                      <p:cBhvr>
                                        <p:cTn id="183" dur="1" fill="hold">
                                          <p:stCondLst>
                                            <p:cond delay="0"/>
                                          </p:stCondLst>
                                        </p:cTn>
                                        <p:tgtEl>
                                          <p:spTgt spid="38"/>
                                        </p:tgtEl>
                                        <p:attrNameLst>
                                          <p:attrName>style.visibility</p:attrName>
                                        </p:attrNameLst>
                                      </p:cBhvr>
                                      <p:to>
                                        <p:strVal val="visible"/>
                                      </p:to>
                                    </p:set>
                                    <p:anim calcmode="lin" valueType="num">
                                      <p:cBhvr additive="base">
                                        <p:cTn id="184" dur="500" fill="hold"/>
                                        <p:tgtEl>
                                          <p:spTgt spid="38"/>
                                        </p:tgtEl>
                                        <p:attrNameLst>
                                          <p:attrName>ppt_x</p:attrName>
                                        </p:attrNameLst>
                                      </p:cBhvr>
                                      <p:tavLst>
                                        <p:tav tm="0">
                                          <p:val>
                                            <p:strVal val="#ppt_x"/>
                                          </p:val>
                                        </p:tav>
                                        <p:tav tm="100000">
                                          <p:val>
                                            <p:strVal val="#ppt_x"/>
                                          </p:val>
                                        </p:tav>
                                      </p:tavLst>
                                    </p:anim>
                                    <p:anim calcmode="lin" valueType="num">
                                      <p:cBhvr additive="base">
                                        <p:cTn id="185" dur="500" fill="hold"/>
                                        <p:tgtEl>
                                          <p:spTgt spid="38"/>
                                        </p:tgtEl>
                                        <p:attrNameLst>
                                          <p:attrName>ppt_y</p:attrName>
                                        </p:attrNameLst>
                                      </p:cBhvr>
                                      <p:tavLst>
                                        <p:tav tm="0">
                                          <p:val>
                                            <p:strVal val="#ppt_y+0.1"/>
                                          </p:val>
                                        </p:tav>
                                        <p:tav tm="100000">
                                          <p:val>
                                            <p:strVal val="#ppt_y"/>
                                          </p:val>
                                        </p:tav>
                                      </p:tavLst>
                                    </p:anim>
                                    <p:animEffect transition="in" filter="fade">
                                      <p:cBhvr>
                                        <p:cTn id="18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A78BFA"/>
                </a:solidFill>
                <a:latin typeface="Calibri"/>
              </a:rPr>
              <a:t>01</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Why NoSQL Appeared</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Four pressures that the relational model was never designed to absorb</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Impedance mismatch</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Scale out, not up</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Shape of the data</a:t>
            </a:r>
          </a:p>
        </p:txBody>
      </p:sp>
      <p:sp>
        <p:nvSpPr>
          <p:cNvPr id="8" name="a0ud1050_pill7"/>
          <p:cNvSpPr/>
          <p:nvPr/>
        </p:nvSpPr>
        <p:spPr>
          <a:xfrm>
            <a:off x="5532120" y="2752344"/>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Speed of the web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ppt_y+0.1"/>
                                          </p:val>
                                        </p:tav>
                                        <p:tav tm="100000">
                                          <p:val>
                                            <p:strVal val="#ppt_y"/>
                                          </p:val>
                                        </p:tav>
                                      </p:tavLst>
                                    </p:anim>
                                    <p:animEffect transition="in" filter="fade">
                                      <p:cBhvr>
                                        <p:cTn id="11" dur="500"/>
                                        <p:tgtEl>
                                          <p:spTgt spid="3"/>
                                        </p:tgtEl>
                                      </p:cBhvr>
                                    </p:animEffect>
                                  </p:childTnLst>
                                </p:cTn>
                              </p:par>
                              <p:par>
                                <p:cTn id="15" presetID="10" presetClass="entr" presetSubtype="0" fill="hold" grpId="0" nodeType="withEffect">
                                  <p:stCondLst>
                                    <p:cond delay="4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20" presetID="2" presetClass="entr" presetSubtype="4"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ppt_y+0.1"/>
                                          </p:val>
                                        </p:tav>
                                        <p:tav tm="100000">
                                          <p:val>
                                            <p:strVal val="#ppt_y"/>
                                          </p:val>
                                        </p:tav>
                                      </p:tavLst>
                                    </p:anim>
                                    <p:animEffect transition="in" filter="fade">
                                      <p:cBhvr>
                                        <p:cTn id="19" dur="500"/>
                                        <p:tgtEl>
                                          <p:spTgt spid="5"/>
                                        </p:tgtEl>
                                      </p:cBhvr>
                                    </p:animEffect>
                                  </p:childTnLst>
                                </p:cTn>
                              </p:par>
                              <p:par>
                                <p:cTn id="25" presetID="2" presetClass="entr" presetSubtype="4" fill="hold" grpId="0" nodeType="withEffect">
                                  <p:stCondLst>
                                    <p:cond delay="7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ppt_y+0.1"/>
                                          </p:val>
                                        </p:tav>
                                        <p:tav tm="100000">
                                          <p:val>
                                            <p:strVal val="#ppt_y"/>
                                          </p:val>
                                        </p:tav>
                                      </p:tavLst>
                                    </p:anim>
                                    <p:animEffect transition="in" filter="fade">
                                      <p:cBhvr>
                                        <p:cTn id="24" dur="500"/>
                                        <p:tgtEl>
                                          <p:spTgt spid="6"/>
                                        </p:tgtEl>
                                      </p:cBhvr>
                                    </p:animEffect>
                                  </p:childTnLst>
                                </p:cTn>
                              </p:par>
                              <p:par>
                                <p:cTn id="30" presetID="2" presetClass="entr" presetSubtype="4" fill="hold" grpId="0" nodeType="withEffect">
                                  <p:stCondLst>
                                    <p:cond delay="9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ppt_y+0.1"/>
                                          </p:val>
                                        </p:tav>
                                        <p:tav tm="100000">
                                          <p:val>
                                            <p:strVal val="#ppt_y"/>
                                          </p:val>
                                        </p:tav>
                                      </p:tavLst>
                                    </p:anim>
                                    <p:animEffect transition="in" filter="fade">
                                      <p:cBhvr>
                                        <p:cTn id="29" dur="500"/>
                                        <p:tgtEl>
                                          <p:spTgt spid="7"/>
                                        </p:tgtEl>
                                      </p:cBhvr>
                                    </p:animEffect>
                                  </p:childTnLst>
                                </p:cTn>
                              </p:par>
                              <p:par>
                                <p:cTn id="35" presetID="2" presetClass="entr" presetSubtype="4" fill="hold" grpId="0" nodeType="withEffect">
                                  <p:stCondLst>
                                    <p:cond delay="10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ppt_y+0.1"/>
                                          </p:val>
                                        </p:tav>
                                        <p:tav tm="100000">
                                          <p:val>
                                            <p:strVal val="#ppt_y"/>
                                          </p:val>
                                        </p:tav>
                                      </p:tavLst>
                                    </p:anim>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The World That Built the Relational Database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1970 to 2000 - one application, one database, one big machine</a:t>
            </a:r>
          </a:p>
        </p:txBody>
      </p:sp>
      <p:sp>
        <p:nvSpPr>
          <p:cNvPr id="4" name="a1u_card3"/>
          <p:cNvSpPr/>
          <p:nvPr/>
        </p:nvSpPr>
        <p:spPr>
          <a:xfrm>
            <a:off x="457200" y="1170432"/>
            <a:ext cx="3931920" cy="2331720"/>
          </a:xfrm>
          <a:prstGeom prst="roundRect">
            <a:avLst>
              <a:gd name="adj" fmla="val 392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58368" y="1325880"/>
            <a:ext cx="3566160" cy="274320"/>
          </a:xfrm>
          <a:prstGeom prst="rect">
            <a:avLst/>
          </a:prstGeom>
          <a:noFill/>
        </p:spPr>
        <p:txBody>
          <a:bodyPr wrap="square" lIns="0" tIns="0" rIns="0" bIns="0" anchor="ctr">
            <a:spAutoFit/>
          </a:bodyPr>
          <a:lstStyle/>
          <a:p>
            <a:pPr algn="l"/>
            <a:r>
              <a:rPr sz="1000" b="1">
                <a:solidFill>
                  <a:srgbClr val="6D28D9"/>
                </a:solidFill>
                <a:latin typeface="Calibri"/>
              </a:rPr>
              <a:t>THE INTEGRATION DATABASE</a:t>
            </a:r>
          </a:p>
        </p:txBody>
      </p:sp>
      <p:sp>
        <p:nvSpPr>
          <p:cNvPr id="6" name="a1ud80_p5"/>
          <p:cNvSpPr txBox="1"/>
          <p:nvPr/>
        </p:nvSpPr>
        <p:spPr>
          <a:xfrm>
            <a:off x="658368" y="1600200"/>
            <a:ext cx="3566160" cy="438912"/>
          </a:xfrm>
          <a:prstGeom prst="rect">
            <a:avLst/>
          </a:prstGeom>
          <a:noFill/>
        </p:spPr>
        <p:txBody>
          <a:bodyPr wrap="square" lIns="0" tIns="0" rIns="0" bIns="0" anchor="t">
            <a:spAutoFit/>
          </a:bodyPr>
          <a:lstStyle/>
          <a:p>
            <a:pPr algn="l"/>
            <a:r>
              <a:rPr sz="1150" b="0">
                <a:solidFill>
                  <a:srgbClr val="334155"/>
                </a:solidFill>
                <a:latin typeface="Calibri"/>
              </a:rPr>
              <a:t>Several applications shared one database. The database was the integration point, so it had to guarantee correctness for everybody.</a:t>
            </a:r>
          </a:p>
        </p:txBody>
      </p:sp>
      <p:sp>
        <p:nvSpPr>
          <p:cNvPr id="7" name="a1ud150_dot6"/>
          <p:cNvSpPr/>
          <p:nvPr/>
        </p:nvSpPr>
        <p:spPr>
          <a:xfrm>
            <a:off x="658368" y="2203704"/>
            <a:ext cx="82296" cy="822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1ud150_b7"/>
          <p:cNvSpPr txBox="1"/>
          <p:nvPr/>
        </p:nvSpPr>
        <p:spPr>
          <a:xfrm>
            <a:off x="868680" y="2093976"/>
            <a:ext cx="3383280" cy="420624"/>
          </a:xfrm>
          <a:prstGeom prst="rect">
            <a:avLst/>
          </a:prstGeom>
          <a:noFill/>
        </p:spPr>
        <p:txBody>
          <a:bodyPr wrap="square" lIns="0" tIns="0" rIns="0" bIns="0" anchor="t">
            <a:spAutoFit/>
          </a:bodyPr>
          <a:lstStyle/>
          <a:p>
            <a:pPr algn="l"/>
            <a:r>
              <a:rPr sz="1100" b="1">
                <a:solidFill>
                  <a:srgbClr val="0F172A"/>
                </a:solidFill>
                <a:latin typeface="Calibri"/>
              </a:rPr>
              <a:t>One schema  </a:t>
            </a:r>
            <a:r>
              <a:rPr sz="1100" b="0">
                <a:solidFill>
                  <a:srgbClr val="334155"/>
                </a:solidFill>
                <a:latin typeface="Calibri"/>
              </a:rPr>
              <a:t>Every app agreed on the same tables</a:t>
            </a:r>
          </a:p>
        </p:txBody>
      </p:sp>
      <p:sp>
        <p:nvSpPr>
          <p:cNvPr id="9" name="a1ud240_dot8"/>
          <p:cNvSpPr/>
          <p:nvPr/>
        </p:nvSpPr>
        <p:spPr>
          <a:xfrm>
            <a:off x="658368" y="2633472"/>
            <a:ext cx="82296" cy="822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1ud240_b9"/>
          <p:cNvSpPr txBox="1"/>
          <p:nvPr/>
        </p:nvSpPr>
        <p:spPr>
          <a:xfrm>
            <a:off x="868680" y="2523744"/>
            <a:ext cx="3383280" cy="420624"/>
          </a:xfrm>
          <a:prstGeom prst="rect">
            <a:avLst/>
          </a:prstGeom>
          <a:noFill/>
        </p:spPr>
        <p:txBody>
          <a:bodyPr wrap="square" lIns="0" tIns="0" rIns="0" bIns="0" anchor="t">
            <a:spAutoFit/>
          </a:bodyPr>
          <a:lstStyle/>
          <a:p>
            <a:pPr algn="l"/>
            <a:r>
              <a:rPr sz="1100" b="1">
                <a:solidFill>
                  <a:srgbClr val="0F172A"/>
                </a:solidFill>
                <a:latin typeface="Calibri"/>
              </a:rPr>
              <a:t>One transaction manager  </a:t>
            </a:r>
            <a:r>
              <a:rPr sz="1100" b="0">
                <a:solidFill>
                  <a:srgbClr val="334155"/>
                </a:solidFill>
                <a:latin typeface="Calibri"/>
              </a:rPr>
              <a:t>ACID protected all of them at once</a:t>
            </a:r>
          </a:p>
        </p:txBody>
      </p:sp>
      <p:sp>
        <p:nvSpPr>
          <p:cNvPr id="11" name="a1ud330_dot10"/>
          <p:cNvSpPr/>
          <p:nvPr/>
        </p:nvSpPr>
        <p:spPr>
          <a:xfrm>
            <a:off x="658368" y="3063240"/>
            <a:ext cx="82296" cy="822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d330_b11"/>
          <p:cNvSpPr txBox="1"/>
          <p:nvPr/>
        </p:nvSpPr>
        <p:spPr>
          <a:xfrm>
            <a:off x="868680" y="2953512"/>
            <a:ext cx="3383280" cy="420624"/>
          </a:xfrm>
          <a:prstGeom prst="rect">
            <a:avLst/>
          </a:prstGeom>
          <a:noFill/>
        </p:spPr>
        <p:txBody>
          <a:bodyPr wrap="square" lIns="0" tIns="0" rIns="0" bIns="0" anchor="t">
            <a:spAutoFit/>
          </a:bodyPr>
          <a:lstStyle/>
          <a:p>
            <a:pPr algn="l"/>
            <a:r>
              <a:rPr sz="1100" b="1">
                <a:solidFill>
                  <a:srgbClr val="0F172A"/>
                </a:solidFill>
                <a:latin typeface="Calibri"/>
              </a:rPr>
              <a:t>One machine  </a:t>
            </a:r>
            <a:r>
              <a:rPr sz="1100" b="0">
                <a:solidFill>
                  <a:srgbClr val="334155"/>
                </a:solidFill>
                <a:latin typeface="Calibri"/>
              </a:rPr>
              <a:t>Buy a bigger server when it got slow</a:t>
            </a:r>
          </a:p>
        </p:txBody>
      </p:sp>
      <p:sp>
        <p:nvSpPr>
          <p:cNvPr id="13" name="a2u_card12"/>
          <p:cNvSpPr/>
          <p:nvPr/>
        </p:nvSpPr>
        <p:spPr>
          <a:xfrm>
            <a:off x="4754880" y="1170432"/>
            <a:ext cx="3931920" cy="2331720"/>
          </a:xfrm>
          <a:prstGeom prst="roundRect">
            <a:avLst>
              <a:gd name="adj" fmla="val 3921"/>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_hh13"/>
          <p:cNvSpPr txBox="1"/>
          <p:nvPr/>
        </p:nvSpPr>
        <p:spPr>
          <a:xfrm>
            <a:off x="4956048" y="1325880"/>
            <a:ext cx="3566160" cy="274320"/>
          </a:xfrm>
          <a:prstGeom prst="rect">
            <a:avLst/>
          </a:prstGeom>
          <a:noFill/>
        </p:spPr>
        <p:txBody>
          <a:bodyPr wrap="square" lIns="0" tIns="0" rIns="0" bIns="0" anchor="ctr">
            <a:spAutoFit/>
          </a:bodyPr>
          <a:lstStyle/>
          <a:p>
            <a:pPr algn="l"/>
            <a:r>
              <a:rPr sz="1000" b="1">
                <a:solidFill>
                  <a:srgbClr val="0F766E"/>
                </a:solidFill>
                <a:latin typeface="Calibri"/>
              </a:rPr>
              <a:t>AND IT WORKED - FOR THIRTY YEARS</a:t>
            </a:r>
          </a:p>
        </p:txBody>
      </p:sp>
      <p:sp>
        <p:nvSpPr>
          <p:cNvPr id="15" name="a2u_dot14"/>
          <p:cNvSpPr/>
          <p:nvPr/>
        </p:nvSpPr>
        <p:spPr>
          <a:xfrm>
            <a:off x="4956048" y="1764792"/>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b15"/>
          <p:cNvSpPr txBox="1"/>
          <p:nvPr/>
        </p:nvSpPr>
        <p:spPr>
          <a:xfrm>
            <a:off x="5166360" y="1655064"/>
            <a:ext cx="3337560" cy="420624"/>
          </a:xfrm>
          <a:prstGeom prst="rect">
            <a:avLst/>
          </a:prstGeom>
          <a:noFill/>
        </p:spPr>
        <p:txBody>
          <a:bodyPr wrap="square" lIns="0" tIns="0" rIns="0" bIns="0" anchor="t">
            <a:spAutoFit/>
          </a:bodyPr>
          <a:lstStyle/>
          <a:p>
            <a:pPr algn="l"/>
            <a:r>
              <a:rPr sz="1100" b="1">
                <a:solidFill>
                  <a:srgbClr val="0F172A"/>
                </a:solidFill>
                <a:latin typeface="Calibri"/>
              </a:rPr>
              <a:t>Persistence  </a:t>
            </a:r>
            <a:r>
              <a:rPr sz="1100" b="0">
                <a:solidFill>
                  <a:srgbClr val="334155"/>
                </a:solidFill>
                <a:latin typeface="Calibri"/>
              </a:rPr>
              <a:t>Bigger than memory, survives a restart</a:t>
            </a:r>
          </a:p>
        </p:txBody>
      </p:sp>
      <p:sp>
        <p:nvSpPr>
          <p:cNvPr id="17" name="a2ud80_dot16"/>
          <p:cNvSpPr/>
          <p:nvPr/>
        </p:nvSpPr>
        <p:spPr>
          <a:xfrm>
            <a:off x="4956048" y="2194560"/>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ud80_b17"/>
          <p:cNvSpPr txBox="1"/>
          <p:nvPr/>
        </p:nvSpPr>
        <p:spPr>
          <a:xfrm>
            <a:off x="5166360" y="2084832"/>
            <a:ext cx="3337560" cy="420624"/>
          </a:xfrm>
          <a:prstGeom prst="rect">
            <a:avLst/>
          </a:prstGeom>
          <a:noFill/>
        </p:spPr>
        <p:txBody>
          <a:bodyPr wrap="square" lIns="0" tIns="0" rIns="0" bIns="0" anchor="t">
            <a:spAutoFit/>
          </a:bodyPr>
          <a:lstStyle/>
          <a:p>
            <a:pPr algn="l"/>
            <a:r>
              <a:rPr sz="1100" b="1">
                <a:solidFill>
                  <a:srgbClr val="0F172A"/>
                </a:solidFill>
                <a:latin typeface="Calibri"/>
              </a:rPr>
              <a:t>Concurrency  </a:t>
            </a:r>
            <a:r>
              <a:rPr sz="1100" b="0">
                <a:solidFill>
                  <a:srgbClr val="334155"/>
                </a:solidFill>
                <a:latin typeface="Calibri"/>
              </a:rPr>
              <a:t>Many users, one consistent picture</a:t>
            </a:r>
          </a:p>
        </p:txBody>
      </p:sp>
      <p:sp>
        <p:nvSpPr>
          <p:cNvPr id="19" name="a2ud160_dot18"/>
          <p:cNvSpPr/>
          <p:nvPr/>
        </p:nvSpPr>
        <p:spPr>
          <a:xfrm>
            <a:off x="4956048" y="2624328"/>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d160_b19"/>
          <p:cNvSpPr txBox="1"/>
          <p:nvPr/>
        </p:nvSpPr>
        <p:spPr>
          <a:xfrm>
            <a:off x="5166360" y="2514600"/>
            <a:ext cx="3337560" cy="420624"/>
          </a:xfrm>
          <a:prstGeom prst="rect">
            <a:avLst/>
          </a:prstGeom>
          <a:noFill/>
        </p:spPr>
        <p:txBody>
          <a:bodyPr wrap="square" lIns="0" tIns="0" rIns="0" bIns="0" anchor="t">
            <a:spAutoFit/>
          </a:bodyPr>
          <a:lstStyle/>
          <a:p>
            <a:pPr algn="l"/>
            <a:r>
              <a:rPr sz="1100" b="1">
                <a:solidFill>
                  <a:srgbClr val="0F172A"/>
                </a:solidFill>
                <a:latin typeface="Calibri"/>
              </a:rPr>
              <a:t>Standard model  </a:t>
            </a:r>
            <a:r>
              <a:rPr sz="1100" b="0">
                <a:solidFill>
                  <a:srgbClr val="334155"/>
                </a:solidFill>
                <a:latin typeface="Calibri"/>
              </a:rPr>
              <a:t>SQL everywhere, skills transfer</a:t>
            </a:r>
          </a:p>
        </p:txBody>
      </p:sp>
      <p:sp>
        <p:nvSpPr>
          <p:cNvPr id="21" name="a2ud240_dot20"/>
          <p:cNvSpPr/>
          <p:nvPr/>
        </p:nvSpPr>
        <p:spPr>
          <a:xfrm>
            <a:off x="4956048" y="3054096"/>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240_b21"/>
          <p:cNvSpPr txBox="1"/>
          <p:nvPr/>
        </p:nvSpPr>
        <p:spPr>
          <a:xfrm>
            <a:off x="5166360" y="2944368"/>
            <a:ext cx="3337560" cy="420624"/>
          </a:xfrm>
          <a:prstGeom prst="rect">
            <a:avLst/>
          </a:prstGeom>
          <a:noFill/>
        </p:spPr>
        <p:txBody>
          <a:bodyPr wrap="square" lIns="0" tIns="0" rIns="0" bIns="0" anchor="t">
            <a:spAutoFit/>
          </a:bodyPr>
          <a:lstStyle/>
          <a:p>
            <a:pPr algn="l"/>
            <a:r>
              <a:rPr sz="1100" b="1">
                <a:solidFill>
                  <a:srgbClr val="0F172A"/>
                </a:solidFill>
                <a:latin typeface="Calibri"/>
              </a:rPr>
              <a:t>Reporting  </a:t>
            </a:r>
            <a:r>
              <a:rPr sz="1100" b="0">
                <a:solidFill>
                  <a:srgbClr val="334155"/>
                </a:solidFill>
                <a:latin typeface="Calibri"/>
              </a:rPr>
              <a:t>Ad-hoc queries over normalised data</a:t>
            </a:r>
          </a:p>
        </p:txBody>
      </p:sp>
      <p:sp>
        <p:nvSpPr>
          <p:cNvPr id="23" name="a3u_nb22"/>
          <p:cNvSpPr/>
          <p:nvPr/>
        </p:nvSpPr>
        <p:spPr>
          <a:xfrm>
            <a:off x="457200" y="3611880"/>
            <a:ext cx="8229600" cy="548640"/>
          </a:xfrm>
          <a:prstGeom prst="roundRect">
            <a:avLst>
              <a:gd name="adj" fmla="val 1333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_nacc23"/>
          <p:cNvSpPr/>
          <p:nvPr/>
        </p:nvSpPr>
        <p:spPr>
          <a:xfrm>
            <a:off x="457200" y="3611880"/>
            <a:ext cx="50292" cy="5486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nt24"/>
          <p:cNvSpPr txBox="1"/>
          <p:nvPr/>
        </p:nvSpPr>
        <p:spPr>
          <a:xfrm>
            <a:off x="658368" y="3611880"/>
            <a:ext cx="7827264" cy="548640"/>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Nothing in this deck says the relational database is obsolete. It says it stopped being the only answer once the web changed the questions.</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8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24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24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33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33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8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8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16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16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24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par>
                                <p:cTn id="101" presetID="2" presetClass="entr" presetSubtype="4" fill="hold" grpId="0" nodeType="withEffect">
                                  <p:stCondLst>
                                    <p:cond delay="24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1"/>
                                          </p:val>
                                        </p:tav>
                                        <p:tav tm="100000">
                                          <p:val>
                                            <p:strVal val="#ppt_y"/>
                                          </p:val>
                                        </p:tav>
                                      </p:tavLst>
                                    </p:anim>
                                    <p:animEffect transition="in" filter="fade">
                                      <p:cBhvr>
                                        <p:cTn id="100" dur="500"/>
                                        <p:tgtEl>
                                          <p:spTgt spid="22"/>
                                        </p:tgtEl>
                                      </p:cBhvr>
                                    </p:animEffect>
                                  </p:childTnLst>
                                </p:cTn>
                              </p:par>
                            </p:childTnLst>
                          </p:cTn>
                        </p:par>
                      </p:childTnLst>
                    </p:cTn>
                  </p:par>
                  <p:par>
                    <p:cTn id="102" fill="hold">
                      <p:stCondLst>
                        <p:cond delay="indefinite"/>
                      </p:stCondLst>
                      <p:childTnLst>
                        <p:par>
                          <p:cTn id="103" fill="hold">
                            <p:stCondLst>
                              <p:cond delay="0"/>
                            </p:stCondLst>
                            <p:childTnLst>
                              <p:par>
                                <p:cTn id="108" presetID="2" presetClass="entr" presetSubtype="4" fill="hold" grpId="0" nodeType="click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ppt_x</p:attrName>
                                        </p:attrNameLst>
                                      </p:cBhvr>
                                      <p:tavLst>
                                        <p:tav tm="0">
                                          <p:val>
                                            <p:strVal val="#ppt_x"/>
                                          </p:val>
                                        </p:tav>
                                        <p:tav tm="100000">
                                          <p:val>
                                            <p:strVal val="#ppt_x"/>
                                          </p:val>
                                        </p:tav>
                                      </p:tavLst>
                                    </p:anim>
                                    <p:anim calcmode="lin" valueType="num">
                                      <p:cBhvr additive="base">
                                        <p:cTn id="106" dur="500" fill="hold"/>
                                        <p:tgtEl>
                                          <p:spTgt spid="23"/>
                                        </p:tgtEl>
                                        <p:attrNameLst>
                                          <p:attrName>ppt_y</p:attrName>
                                        </p:attrNameLst>
                                      </p:cBhvr>
                                      <p:tavLst>
                                        <p:tav tm="0">
                                          <p:val>
                                            <p:strVal val="#ppt_y+0.1"/>
                                          </p:val>
                                        </p:tav>
                                        <p:tav tm="100000">
                                          <p:val>
                                            <p:strVal val="#ppt_y"/>
                                          </p:val>
                                        </p:tav>
                                      </p:tavLst>
                                    </p:anim>
                                    <p:animEffect transition="in" filter="fade">
                                      <p:cBhvr>
                                        <p:cTn id="107" dur="500"/>
                                        <p:tgtEl>
                                          <p:spTgt spid="23"/>
                                        </p:tgtEl>
                                      </p:cBhvr>
                                    </p:animEffect>
                                  </p:childTnLst>
                                </p:cTn>
                              </p:par>
                              <p:par>
                                <p:cTn id="113" presetID="2" presetClass="entr" presetSubtype="4"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p:tgtEl>
                                          <p:spTgt spid="24"/>
                                        </p:tgtEl>
                                        <p:attrNameLst>
                                          <p:attrName>ppt_y</p:attrName>
                                        </p:attrNameLst>
                                      </p:cBhvr>
                                      <p:tavLst>
                                        <p:tav tm="0">
                                          <p:val>
                                            <p:strVal val="#ppt_y+0.1"/>
                                          </p:val>
                                        </p:tav>
                                        <p:tav tm="100000">
                                          <p:val>
                                            <p:strVal val="#ppt_y"/>
                                          </p:val>
                                        </p:tav>
                                      </p:tavLst>
                                    </p:anim>
                                    <p:animEffect transition="in" filter="fade">
                                      <p:cBhvr>
                                        <p:cTn id="112" dur="500"/>
                                        <p:tgtEl>
                                          <p:spTgt spid="24"/>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ppt_x</p:attrName>
                                        </p:attrNameLst>
                                      </p:cBhvr>
                                      <p:tavLst>
                                        <p:tav tm="0">
                                          <p:val>
                                            <p:strVal val="#ppt_x"/>
                                          </p:val>
                                        </p:tav>
                                        <p:tav tm="100000">
                                          <p:val>
                                            <p:strVal val="#ppt_x"/>
                                          </p:val>
                                        </p:tav>
                                      </p:tavLst>
                                    </p:anim>
                                    <p:anim calcmode="lin" valueType="num">
                                      <p:cBhvr additive="base">
                                        <p:cTn id="116" dur="500" fill="hold"/>
                                        <p:tgtEl>
                                          <p:spTgt spid="25"/>
                                        </p:tgtEl>
                                        <p:attrNameLst>
                                          <p:attrName>ppt_y</p:attrName>
                                        </p:attrNameLst>
                                      </p:cBhvr>
                                      <p:tavLst>
                                        <p:tav tm="0">
                                          <p:val>
                                            <p:strVal val="#ppt_y+0.1"/>
                                          </p:val>
                                        </p:tav>
                                        <p:tav tm="100000">
                                          <p:val>
                                            <p:strVal val="#ppt_y"/>
                                          </p:val>
                                        </p:tav>
                                      </p:tavLst>
                                    </p:anim>
                                    <p:animEffect transition="in" filter="fade">
                                      <p:cBhvr>
                                        <p:cTn id="1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Then the Web Changed the Question</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Around 2005 the biggest sites on the internet hit walls that money could not buy past</a:t>
            </a:r>
          </a:p>
        </p:txBody>
      </p:sp>
      <p:sp>
        <p:nvSpPr>
          <p:cNvPr id="4" name="t3"/>
          <p:cNvSpPr txBox="1"/>
          <p:nvPr/>
        </p:nvSpPr>
        <p:spPr>
          <a:xfrm>
            <a:off x="457200" y="1170432"/>
            <a:ext cx="2011680" cy="256032"/>
          </a:xfrm>
          <a:prstGeom prst="rect">
            <a:avLst/>
          </a:prstGeom>
          <a:noFill/>
        </p:spPr>
        <p:txBody>
          <a:bodyPr wrap="square" lIns="0" tIns="0" rIns="0" bIns="0" anchor="ctr">
            <a:spAutoFit/>
          </a:bodyPr>
          <a:lstStyle/>
          <a:p>
            <a:pPr algn="l"/>
            <a:r>
              <a:rPr sz="1000" b="0">
                <a:solidFill>
                  <a:srgbClr val="0F172A"/>
                </a:solidFill>
                <a:latin typeface="Calibri"/>
              </a:rPr>
              <a:t/>
            </a:r>
          </a:p>
        </p:txBody>
      </p:sp>
      <p:sp>
        <p:nvSpPr>
          <p:cNvPr id="5" name="a1f_th4"/>
          <p:cNvSpPr/>
          <p:nvPr/>
        </p:nvSpPr>
        <p:spPr>
          <a:xfrm>
            <a:off x="457200" y="1170432"/>
            <a:ext cx="1920240" cy="3840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f_tht5"/>
          <p:cNvSpPr txBox="1"/>
          <p:nvPr/>
        </p:nvSpPr>
        <p:spPr>
          <a:xfrm>
            <a:off x="530352" y="1170432"/>
            <a:ext cx="1810512" cy="384048"/>
          </a:xfrm>
          <a:prstGeom prst="rect">
            <a:avLst/>
          </a:prstGeom>
          <a:noFill/>
        </p:spPr>
        <p:txBody>
          <a:bodyPr wrap="square" lIns="0" tIns="0" rIns="0" bIns="0" anchor="ctr">
            <a:spAutoFit/>
          </a:bodyPr>
          <a:lstStyle/>
          <a:p>
            <a:pPr algn="l"/>
            <a:r>
              <a:rPr sz="1100" b="1">
                <a:solidFill>
                  <a:srgbClr val="FFFFFF"/>
                </a:solidFill>
                <a:latin typeface="Calibri"/>
              </a:rPr>
              <a:t/>
            </a:r>
          </a:p>
        </p:txBody>
      </p:sp>
      <p:sp>
        <p:nvSpPr>
          <p:cNvPr id="7" name="a1wd140_td6"/>
          <p:cNvSpPr/>
          <p:nvPr/>
        </p:nvSpPr>
        <p:spPr>
          <a:xfrm>
            <a:off x="457200" y="1554480"/>
            <a:ext cx="192024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1wd140_tdt7"/>
          <p:cNvSpPr txBox="1"/>
          <p:nvPr/>
        </p:nvSpPr>
        <p:spPr>
          <a:xfrm>
            <a:off x="530352" y="1554480"/>
            <a:ext cx="1810512" cy="384048"/>
          </a:xfrm>
          <a:prstGeom prst="rect">
            <a:avLst/>
          </a:prstGeom>
          <a:noFill/>
        </p:spPr>
        <p:txBody>
          <a:bodyPr wrap="square" lIns="0" tIns="0" rIns="0" bIns="0" anchor="ctr">
            <a:spAutoFit/>
          </a:bodyPr>
          <a:lstStyle/>
          <a:p>
            <a:pPr algn="l"/>
            <a:r>
              <a:rPr sz="1100" b="0">
                <a:solidFill>
                  <a:srgbClr val="334155"/>
                </a:solidFill>
                <a:latin typeface="Calibri"/>
              </a:rPr>
              <a:t>Users</a:t>
            </a:r>
          </a:p>
        </p:txBody>
      </p:sp>
      <p:sp>
        <p:nvSpPr>
          <p:cNvPr id="9" name="a1wd280_td8"/>
          <p:cNvSpPr/>
          <p:nvPr/>
        </p:nvSpPr>
        <p:spPr>
          <a:xfrm>
            <a:off x="457200" y="1938528"/>
            <a:ext cx="192024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1wd280_tdt9"/>
          <p:cNvSpPr txBox="1"/>
          <p:nvPr/>
        </p:nvSpPr>
        <p:spPr>
          <a:xfrm>
            <a:off x="530352" y="1938528"/>
            <a:ext cx="1810512" cy="384048"/>
          </a:xfrm>
          <a:prstGeom prst="rect">
            <a:avLst/>
          </a:prstGeom>
          <a:noFill/>
        </p:spPr>
        <p:txBody>
          <a:bodyPr wrap="square" lIns="0" tIns="0" rIns="0" bIns="0" anchor="ctr">
            <a:spAutoFit/>
          </a:bodyPr>
          <a:lstStyle/>
          <a:p>
            <a:pPr algn="l"/>
            <a:r>
              <a:rPr sz="1100" b="0">
                <a:solidFill>
                  <a:srgbClr val="334155"/>
                </a:solidFill>
                <a:latin typeface="Calibri"/>
              </a:rPr>
              <a:t>Traffic</a:t>
            </a:r>
          </a:p>
        </p:txBody>
      </p:sp>
      <p:sp>
        <p:nvSpPr>
          <p:cNvPr id="11" name="a1wd420_td10"/>
          <p:cNvSpPr/>
          <p:nvPr/>
        </p:nvSpPr>
        <p:spPr>
          <a:xfrm>
            <a:off x="457200" y="2322576"/>
            <a:ext cx="192024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wd420_tdt11"/>
          <p:cNvSpPr txBox="1"/>
          <p:nvPr/>
        </p:nvSpPr>
        <p:spPr>
          <a:xfrm>
            <a:off x="530352" y="2322576"/>
            <a:ext cx="1810512" cy="384048"/>
          </a:xfrm>
          <a:prstGeom prst="rect">
            <a:avLst/>
          </a:prstGeom>
          <a:noFill/>
        </p:spPr>
        <p:txBody>
          <a:bodyPr wrap="square" lIns="0" tIns="0" rIns="0" bIns="0" anchor="ctr">
            <a:spAutoFit/>
          </a:bodyPr>
          <a:lstStyle/>
          <a:p>
            <a:pPr algn="l"/>
            <a:r>
              <a:rPr sz="1100" b="0">
                <a:solidFill>
                  <a:srgbClr val="334155"/>
                </a:solidFill>
                <a:latin typeface="Calibri"/>
              </a:rPr>
              <a:t>Data shape</a:t>
            </a:r>
          </a:p>
        </p:txBody>
      </p:sp>
      <p:sp>
        <p:nvSpPr>
          <p:cNvPr id="13" name="a1wd560_td12"/>
          <p:cNvSpPr/>
          <p:nvPr/>
        </p:nvSpPr>
        <p:spPr>
          <a:xfrm>
            <a:off x="457200" y="2706624"/>
            <a:ext cx="192024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d560_tdt13"/>
          <p:cNvSpPr txBox="1"/>
          <p:nvPr/>
        </p:nvSpPr>
        <p:spPr>
          <a:xfrm>
            <a:off x="530352" y="2706624"/>
            <a:ext cx="1810512" cy="384048"/>
          </a:xfrm>
          <a:prstGeom prst="rect">
            <a:avLst/>
          </a:prstGeom>
          <a:noFill/>
        </p:spPr>
        <p:txBody>
          <a:bodyPr wrap="square" lIns="0" tIns="0" rIns="0" bIns="0" anchor="ctr">
            <a:spAutoFit/>
          </a:bodyPr>
          <a:lstStyle/>
          <a:p>
            <a:pPr algn="l"/>
            <a:r>
              <a:rPr sz="1100" b="0">
                <a:solidFill>
                  <a:srgbClr val="334155"/>
                </a:solidFill>
                <a:latin typeface="Calibri"/>
              </a:rPr>
              <a:t>Growth</a:t>
            </a:r>
          </a:p>
        </p:txBody>
      </p:sp>
      <p:sp>
        <p:nvSpPr>
          <p:cNvPr id="15" name="a1wd700_td14"/>
          <p:cNvSpPr/>
          <p:nvPr/>
        </p:nvSpPr>
        <p:spPr>
          <a:xfrm>
            <a:off x="457200" y="3090672"/>
            <a:ext cx="192024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d700_tdt15"/>
          <p:cNvSpPr txBox="1"/>
          <p:nvPr/>
        </p:nvSpPr>
        <p:spPr>
          <a:xfrm>
            <a:off x="530352" y="3090672"/>
            <a:ext cx="1810512" cy="384048"/>
          </a:xfrm>
          <a:prstGeom prst="rect">
            <a:avLst/>
          </a:prstGeom>
          <a:noFill/>
        </p:spPr>
        <p:txBody>
          <a:bodyPr wrap="square" lIns="0" tIns="0" rIns="0" bIns="0" anchor="ctr">
            <a:spAutoFit/>
          </a:bodyPr>
          <a:lstStyle/>
          <a:p>
            <a:pPr algn="l"/>
            <a:r>
              <a:rPr sz="1100" b="0">
                <a:solidFill>
                  <a:srgbClr val="334155"/>
                </a:solidFill>
                <a:latin typeface="Calibri"/>
              </a:rPr>
              <a:t>Downtime</a:t>
            </a:r>
          </a:p>
        </p:txBody>
      </p:sp>
      <p:sp>
        <p:nvSpPr>
          <p:cNvPr id="17" name="a1f_th16"/>
          <p:cNvSpPr/>
          <p:nvPr/>
        </p:nvSpPr>
        <p:spPr>
          <a:xfrm>
            <a:off x="2377440" y="1170432"/>
            <a:ext cx="3154680" cy="3840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f_tht17"/>
          <p:cNvSpPr txBox="1"/>
          <p:nvPr/>
        </p:nvSpPr>
        <p:spPr>
          <a:xfrm>
            <a:off x="2450592" y="1170432"/>
            <a:ext cx="3044952" cy="384048"/>
          </a:xfrm>
          <a:prstGeom prst="rect">
            <a:avLst/>
          </a:prstGeom>
          <a:noFill/>
        </p:spPr>
        <p:txBody>
          <a:bodyPr wrap="square" lIns="0" tIns="0" rIns="0" bIns="0" anchor="ctr">
            <a:spAutoFit/>
          </a:bodyPr>
          <a:lstStyle/>
          <a:p>
            <a:pPr algn="l"/>
            <a:r>
              <a:rPr sz="1100" b="1">
                <a:solidFill>
                  <a:srgbClr val="FFFFFF"/>
                </a:solidFill>
                <a:latin typeface="Calibri"/>
              </a:rPr>
              <a:t>Enterprise IT, 1995</a:t>
            </a:r>
          </a:p>
        </p:txBody>
      </p:sp>
      <p:sp>
        <p:nvSpPr>
          <p:cNvPr id="19" name="a1wd140_td18"/>
          <p:cNvSpPr/>
          <p:nvPr/>
        </p:nvSpPr>
        <p:spPr>
          <a:xfrm>
            <a:off x="2377440" y="1554480"/>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140_tdt19"/>
          <p:cNvSpPr txBox="1"/>
          <p:nvPr/>
        </p:nvSpPr>
        <p:spPr>
          <a:xfrm>
            <a:off x="2450592" y="1554480"/>
            <a:ext cx="3044952" cy="384048"/>
          </a:xfrm>
          <a:prstGeom prst="rect">
            <a:avLst/>
          </a:prstGeom>
          <a:noFill/>
        </p:spPr>
        <p:txBody>
          <a:bodyPr wrap="square" lIns="0" tIns="0" rIns="0" bIns="0" anchor="ctr">
            <a:spAutoFit/>
          </a:bodyPr>
          <a:lstStyle/>
          <a:p>
            <a:pPr algn="l"/>
            <a:r>
              <a:rPr sz="1100" b="0">
                <a:solidFill>
                  <a:srgbClr val="334155"/>
                </a:solidFill>
                <a:latin typeface="Calibri"/>
              </a:rPr>
              <a:t>Thousands of internal staff</a:t>
            </a:r>
          </a:p>
        </p:txBody>
      </p:sp>
      <p:sp>
        <p:nvSpPr>
          <p:cNvPr id="21" name="a1wd280_td20"/>
          <p:cNvSpPr/>
          <p:nvPr/>
        </p:nvSpPr>
        <p:spPr>
          <a:xfrm>
            <a:off x="2377440" y="1938528"/>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280_tdt21"/>
          <p:cNvSpPr txBox="1"/>
          <p:nvPr/>
        </p:nvSpPr>
        <p:spPr>
          <a:xfrm>
            <a:off x="2450592" y="1938528"/>
            <a:ext cx="3044952" cy="384048"/>
          </a:xfrm>
          <a:prstGeom prst="rect">
            <a:avLst/>
          </a:prstGeom>
          <a:noFill/>
        </p:spPr>
        <p:txBody>
          <a:bodyPr wrap="square" lIns="0" tIns="0" rIns="0" bIns="0" anchor="ctr">
            <a:spAutoFit/>
          </a:bodyPr>
          <a:lstStyle/>
          <a:p>
            <a:pPr algn="l"/>
            <a:r>
              <a:rPr sz="1100" b="0">
                <a:solidFill>
                  <a:srgbClr val="334155"/>
                </a:solidFill>
                <a:latin typeface="Calibri"/>
              </a:rPr>
              <a:t>Predictable, office hours</a:t>
            </a:r>
          </a:p>
        </p:txBody>
      </p:sp>
      <p:sp>
        <p:nvSpPr>
          <p:cNvPr id="23" name="a1wd420_td22"/>
          <p:cNvSpPr/>
          <p:nvPr/>
        </p:nvSpPr>
        <p:spPr>
          <a:xfrm>
            <a:off x="2377440" y="2322576"/>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wd420_tdt23"/>
          <p:cNvSpPr txBox="1"/>
          <p:nvPr/>
        </p:nvSpPr>
        <p:spPr>
          <a:xfrm>
            <a:off x="2450592" y="2322576"/>
            <a:ext cx="3044952" cy="384048"/>
          </a:xfrm>
          <a:prstGeom prst="rect">
            <a:avLst/>
          </a:prstGeom>
          <a:noFill/>
        </p:spPr>
        <p:txBody>
          <a:bodyPr wrap="square" lIns="0" tIns="0" rIns="0" bIns="0" anchor="ctr">
            <a:spAutoFit/>
          </a:bodyPr>
          <a:lstStyle/>
          <a:p>
            <a:pPr algn="l"/>
            <a:r>
              <a:rPr sz="1100" b="0">
                <a:solidFill>
                  <a:srgbClr val="334155"/>
                </a:solidFill>
                <a:latin typeface="Calibri"/>
              </a:rPr>
              <a:t>Rows that fit a form</a:t>
            </a:r>
          </a:p>
        </p:txBody>
      </p:sp>
      <p:sp>
        <p:nvSpPr>
          <p:cNvPr id="25" name="a1wd560_td24"/>
          <p:cNvSpPr/>
          <p:nvPr/>
        </p:nvSpPr>
        <p:spPr>
          <a:xfrm>
            <a:off x="2377440" y="2706624"/>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wd560_tdt25"/>
          <p:cNvSpPr txBox="1"/>
          <p:nvPr/>
        </p:nvSpPr>
        <p:spPr>
          <a:xfrm>
            <a:off x="2450592" y="2706624"/>
            <a:ext cx="3044952" cy="384048"/>
          </a:xfrm>
          <a:prstGeom prst="rect">
            <a:avLst/>
          </a:prstGeom>
          <a:noFill/>
        </p:spPr>
        <p:txBody>
          <a:bodyPr wrap="square" lIns="0" tIns="0" rIns="0" bIns="0" anchor="ctr">
            <a:spAutoFit/>
          </a:bodyPr>
          <a:lstStyle/>
          <a:p>
            <a:pPr algn="l"/>
            <a:r>
              <a:rPr sz="1100" b="0">
                <a:solidFill>
                  <a:srgbClr val="334155"/>
                </a:solidFill>
                <a:latin typeface="Calibri"/>
              </a:rPr>
              <a:t>Plan the server for 3 years</a:t>
            </a:r>
          </a:p>
        </p:txBody>
      </p:sp>
      <p:sp>
        <p:nvSpPr>
          <p:cNvPr id="27" name="a1wd700_td26"/>
          <p:cNvSpPr/>
          <p:nvPr/>
        </p:nvSpPr>
        <p:spPr>
          <a:xfrm>
            <a:off x="2377440" y="3090672"/>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wd700_tdt27"/>
          <p:cNvSpPr txBox="1"/>
          <p:nvPr/>
        </p:nvSpPr>
        <p:spPr>
          <a:xfrm>
            <a:off x="2450592" y="3090672"/>
            <a:ext cx="3044952" cy="384048"/>
          </a:xfrm>
          <a:prstGeom prst="rect">
            <a:avLst/>
          </a:prstGeom>
          <a:noFill/>
        </p:spPr>
        <p:txBody>
          <a:bodyPr wrap="square" lIns="0" tIns="0" rIns="0" bIns="0" anchor="ctr">
            <a:spAutoFit/>
          </a:bodyPr>
          <a:lstStyle/>
          <a:p>
            <a:pPr algn="l"/>
            <a:r>
              <a:rPr sz="1100" b="0">
                <a:solidFill>
                  <a:srgbClr val="334155"/>
                </a:solidFill>
                <a:latin typeface="Calibri"/>
              </a:rPr>
              <a:t>A maintenance window</a:t>
            </a:r>
          </a:p>
        </p:txBody>
      </p:sp>
      <p:sp>
        <p:nvSpPr>
          <p:cNvPr id="29" name="a1f_th28"/>
          <p:cNvSpPr/>
          <p:nvPr/>
        </p:nvSpPr>
        <p:spPr>
          <a:xfrm>
            <a:off x="5532120" y="1170432"/>
            <a:ext cx="3154680"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f_tht29"/>
          <p:cNvSpPr txBox="1"/>
          <p:nvPr/>
        </p:nvSpPr>
        <p:spPr>
          <a:xfrm>
            <a:off x="5605272" y="1170432"/>
            <a:ext cx="3044952" cy="384048"/>
          </a:xfrm>
          <a:prstGeom prst="rect">
            <a:avLst/>
          </a:prstGeom>
          <a:noFill/>
        </p:spPr>
        <p:txBody>
          <a:bodyPr wrap="square" lIns="0" tIns="0" rIns="0" bIns="0" anchor="ctr">
            <a:spAutoFit/>
          </a:bodyPr>
          <a:lstStyle/>
          <a:p>
            <a:pPr algn="l"/>
            <a:r>
              <a:rPr sz="1100" b="1">
                <a:solidFill>
                  <a:srgbClr val="FFFFFF"/>
                </a:solidFill>
                <a:latin typeface="Calibri"/>
              </a:rPr>
              <a:t>Web scale, 2010</a:t>
            </a:r>
          </a:p>
        </p:txBody>
      </p:sp>
      <p:sp>
        <p:nvSpPr>
          <p:cNvPr id="31" name="a1wd140_td30"/>
          <p:cNvSpPr/>
          <p:nvPr/>
        </p:nvSpPr>
        <p:spPr>
          <a:xfrm>
            <a:off x="5532120" y="1554480"/>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140_tdt31"/>
          <p:cNvSpPr txBox="1"/>
          <p:nvPr/>
        </p:nvSpPr>
        <p:spPr>
          <a:xfrm>
            <a:off x="5605272" y="1554480"/>
            <a:ext cx="3044952" cy="384048"/>
          </a:xfrm>
          <a:prstGeom prst="rect">
            <a:avLst/>
          </a:prstGeom>
          <a:noFill/>
        </p:spPr>
        <p:txBody>
          <a:bodyPr wrap="square" lIns="0" tIns="0" rIns="0" bIns="0" anchor="ctr">
            <a:spAutoFit/>
          </a:bodyPr>
          <a:lstStyle/>
          <a:p>
            <a:pPr algn="l"/>
            <a:r>
              <a:rPr sz="1100" b="0">
                <a:solidFill>
                  <a:srgbClr val="334155"/>
                </a:solidFill>
                <a:latin typeface="Calibri"/>
              </a:rPr>
              <a:t>Hundreds of millions of strangers</a:t>
            </a:r>
          </a:p>
        </p:txBody>
      </p:sp>
      <p:sp>
        <p:nvSpPr>
          <p:cNvPr id="33" name="a1wd280_td32"/>
          <p:cNvSpPr/>
          <p:nvPr/>
        </p:nvSpPr>
        <p:spPr>
          <a:xfrm>
            <a:off x="5532120" y="1938528"/>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wd280_tdt33"/>
          <p:cNvSpPr txBox="1"/>
          <p:nvPr/>
        </p:nvSpPr>
        <p:spPr>
          <a:xfrm>
            <a:off x="5605272" y="1938528"/>
            <a:ext cx="3044952" cy="384048"/>
          </a:xfrm>
          <a:prstGeom prst="rect">
            <a:avLst/>
          </a:prstGeom>
          <a:noFill/>
        </p:spPr>
        <p:txBody>
          <a:bodyPr wrap="square" lIns="0" tIns="0" rIns="0" bIns="0" anchor="ctr">
            <a:spAutoFit/>
          </a:bodyPr>
          <a:lstStyle/>
          <a:p>
            <a:pPr algn="l"/>
            <a:r>
              <a:rPr sz="1100" b="0">
                <a:solidFill>
                  <a:srgbClr val="334155"/>
                </a:solidFill>
                <a:latin typeface="Calibri"/>
              </a:rPr>
              <a:t>Spiky, global, 24x7</a:t>
            </a:r>
          </a:p>
        </p:txBody>
      </p:sp>
      <p:sp>
        <p:nvSpPr>
          <p:cNvPr id="35" name="a1wd420_td34"/>
          <p:cNvSpPr/>
          <p:nvPr/>
        </p:nvSpPr>
        <p:spPr>
          <a:xfrm>
            <a:off x="5532120" y="2322576"/>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wd420_tdt35"/>
          <p:cNvSpPr txBox="1"/>
          <p:nvPr/>
        </p:nvSpPr>
        <p:spPr>
          <a:xfrm>
            <a:off x="5605272" y="2322576"/>
            <a:ext cx="3044952" cy="384048"/>
          </a:xfrm>
          <a:prstGeom prst="rect">
            <a:avLst/>
          </a:prstGeom>
          <a:noFill/>
        </p:spPr>
        <p:txBody>
          <a:bodyPr wrap="square" lIns="0" tIns="0" rIns="0" bIns="0" anchor="ctr">
            <a:spAutoFit/>
          </a:bodyPr>
          <a:lstStyle/>
          <a:p>
            <a:pPr algn="l"/>
            <a:r>
              <a:rPr sz="1100" b="0">
                <a:solidFill>
                  <a:srgbClr val="334155"/>
                </a:solidFill>
                <a:latin typeface="Calibri"/>
              </a:rPr>
              <a:t>Documents, clicks, logs, graphs</a:t>
            </a:r>
          </a:p>
        </p:txBody>
      </p:sp>
      <p:sp>
        <p:nvSpPr>
          <p:cNvPr id="37" name="a1wd560_td36"/>
          <p:cNvSpPr/>
          <p:nvPr/>
        </p:nvSpPr>
        <p:spPr>
          <a:xfrm>
            <a:off x="5532120" y="2706624"/>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560_tdt37"/>
          <p:cNvSpPr txBox="1"/>
          <p:nvPr/>
        </p:nvSpPr>
        <p:spPr>
          <a:xfrm>
            <a:off x="5605272" y="2706624"/>
            <a:ext cx="3044952" cy="384048"/>
          </a:xfrm>
          <a:prstGeom prst="rect">
            <a:avLst/>
          </a:prstGeom>
          <a:noFill/>
        </p:spPr>
        <p:txBody>
          <a:bodyPr wrap="square" lIns="0" tIns="0" rIns="0" bIns="0" anchor="ctr">
            <a:spAutoFit/>
          </a:bodyPr>
          <a:lstStyle/>
          <a:p>
            <a:pPr algn="l"/>
            <a:r>
              <a:rPr sz="1100" b="0">
                <a:solidFill>
                  <a:srgbClr val="334155"/>
                </a:solidFill>
                <a:latin typeface="Calibri"/>
              </a:rPr>
              <a:t>Double the load in 6 months</a:t>
            </a:r>
          </a:p>
        </p:txBody>
      </p:sp>
      <p:sp>
        <p:nvSpPr>
          <p:cNvPr id="39" name="a1wd700_td38"/>
          <p:cNvSpPr/>
          <p:nvPr/>
        </p:nvSpPr>
        <p:spPr>
          <a:xfrm>
            <a:off x="5532120" y="3090672"/>
            <a:ext cx="3154680" cy="38404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wd700_tdt39"/>
          <p:cNvSpPr txBox="1"/>
          <p:nvPr/>
        </p:nvSpPr>
        <p:spPr>
          <a:xfrm>
            <a:off x="5605272" y="3090672"/>
            <a:ext cx="3044952" cy="384048"/>
          </a:xfrm>
          <a:prstGeom prst="rect">
            <a:avLst/>
          </a:prstGeom>
          <a:noFill/>
        </p:spPr>
        <p:txBody>
          <a:bodyPr wrap="square" lIns="0" tIns="0" rIns="0" bIns="0" anchor="ctr">
            <a:spAutoFit/>
          </a:bodyPr>
          <a:lstStyle/>
          <a:p>
            <a:pPr algn="l"/>
            <a:r>
              <a:rPr sz="1100" b="0">
                <a:solidFill>
                  <a:srgbClr val="334155"/>
                </a:solidFill>
                <a:latin typeface="Calibri"/>
              </a:rPr>
              <a:t>Never - it is on the front page</a:t>
            </a:r>
          </a:p>
        </p:txBody>
      </p:sp>
      <p:sp>
        <p:nvSpPr>
          <p:cNvPr id="41" name="a2u_nb40"/>
          <p:cNvSpPr/>
          <p:nvPr/>
        </p:nvSpPr>
        <p:spPr>
          <a:xfrm>
            <a:off x="457200" y="3611880"/>
            <a:ext cx="8229600" cy="530352"/>
          </a:xfrm>
          <a:prstGeom prst="roundRect">
            <a:avLst>
              <a:gd name="adj" fmla="val 1379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u_nacc41"/>
          <p:cNvSpPr/>
          <p:nvPr/>
        </p:nvSpPr>
        <p:spPr>
          <a:xfrm>
            <a:off x="457200" y="3611880"/>
            <a:ext cx="50292" cy="53035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_nt42"/>
          <p:cNvSpPr txBox="1"/>
          <p:nvPr/>
        </p:nvSpPr>
        <p:spPr>
          <a:xfrm>
            <a:off x="658368" y="3611880"/>
            <a:ext cx="7827264" cy="530352"/>
          </a:xfrm>
          <a:prstGeom prst="rect">
            <a:avLst/>
          </a:prstGeom>
          <a:noFill/>
        </p:spPr>
        <p:txBody>
          <a:bodyPr wrap="square" lIns="0" tIns="0" rIns="0" bIns="0" anchor="ctr">
            <a:spAutoFit/>
          </a:bodyPr>
          <a:lstStyle/>
          <a:p>
            <a:pPr algn="l"/>
            <a:r>
              <a:rPr sz="1150" b="1">
                <a:solidFill>
                  <a:srgbClr val="DC382C"/>
                </a:solidFill>
                <a:latin typeface="Calibri"/>
              </a:rPr>
              <a:t>KEY  </a:t>
            </a:r>
            <a:r>
              <a:rPr sz="1150" b="0">
                <a:solidFill>
                  <a:srgbClr val="334155"/>
                </a:solidFill>
                <a:latin typeface="Calibri"/>
              </a:rPr>
              <a:t>You cannot solve "double the traffic every six months" by buying a bigger box. At some point there is no bigger box. That single fact is the origin of NoSQL.</a:t>
            </a:r>
          </a:p>
        </p:txBody>
      </p:sp>
      <p:sp>
        <p:nvSpPr>
          <p:cNvPr id="44" name="ft43"/>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5" name="ft44"/>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5" presetID="22" presetClass="entr" presetSubtype="8" fill="hold" grpId="0" nodeType="withEffect">
                                  <p:stCondLst>
                                    <p:cond delay="14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8" presetID="22" presetClass="entr" presetSubtype="8" fill="hold" grpId="0" nodeType="withEffect">
                                  <p:stCondLst>
                                    <p:cond delay="14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31" presetID="22" presetClass="entr" presetSubtype="8" fill="hold" grpId="0" nodeType="withEffect">
                                  <p:stCondLst>
                                    <p:cond delay="14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1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14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par>
                                <p:cTn id="40" presetID="22" presetClass="entr" presetSubtype="8" fill="hold" grpId="0" nodeType="withEffect">
                                  <p:stCondLst>
                                    <p:cond delay="140"/>
                                  </p:stCondLst>
                                  <p:childTnLst>
                                    <p:set>
                                      <p:cBhvr>
                                        <p:cTn id="38" dur="1" fill="hold">
                                          <p:stCondLst>
                                            <p:cond delay="0"/>
                                          </p:stCondLst>
                                        </p:cTn>
                                        <p:tgtEl>
                                          <p:spTgt spid="32"/>
                                        </p:tgtEl>
                                        <p:attrNameLst>
                                          <p:attrName>style.visibility</p:attrName>
                                        </p:attrNameLst>
                                      </p:cBhvr>
                                      <p:to>
                                        <p:strVal val="visible"/>
                                      </p:to>
                                    </p:set>
                                    <p:animEffect transition="in" filter="wipe(left)">
                                      <p:cBhvr>
                                        <p:cTn id="39" dur="500"/>
                                        <p:tgtEl>
                                          <p:spTgt spid="32"/>
                                        </p:tgtEl>
                                      </p:cBhvr>
                                    </p:animEffect>
                                  </p:childTnLst>
                                </p:cTn>
                              </p:par>
                              <p:par>
                                <p:cTn id="43" presetID="22" presetClass="entr" presetSubtype="8" fill="hold" grpId="0" nodeType="withEffect">
                                  <p:stCondLst>
                                    <p:cond delay="28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par>
                                <p:cTn id="46" presetID="22" presetClass="entr" presetSubtype="8" fill="hold" grpId="0" nodeType="withEffect">
                                  <p:stCondLst>
                                    <p:cond delay="28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par>
                                <p:cTn id="49" presetID="22" presetClass="entr" presetSubtype="8" fill="hold" grpId="0" nodeType="withEffect">
                                  <p:stCondLst>
                                    <p:cond delay="280"/>
                                  </p:stCondLst>
                                  <p:childTnLst>
                                    <p:set>
                                      <p:cBhvr>
                                        <p:cTn id="47" dur="1" fill="hold">
                                          <p:stCondLst>
                                            <p:cond delay="0"/>
                                          </p:stCondLst>
                                        </p:cTn>
                                        <p:tgtEl>
                                          <p:spTgt spid="21"/>
                                        </p:tgtEl>
                                        <p:attrNameLst>
                                          <p:attrName>style.visibility</p:attrName>
                                        </p:attrNameLst>
                                      </p:cBhvr>
                                      <p:to>
                                        <p:strVal val="visible"/>
                                      </p:to>
                                    </p:set>
                                    <p:animEffect transition="in" filter="wipe(left)">
                                      <p:cBhvr>
                                        <p:cTn id="48" dur="500"/>
                                        <p:tgtEl>
                                          <p:spTgt spid="21"/>
                                        </p:tgtEl>
                                      </p:cBhvr>
                                    </p:animEffect>
                                  </p:childTnLst>
                                </p:cTn>
                              </p:par>
                              <p:par>
                                <p:cTn id="52" presetID="22" presetClass="entr" presetSubtype="8" fill="hold" grpId="0" nodeType="withEffect">
                                  <p:stCondLst>
                                    <p:cond delay="28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par>
                                <p:cTn id="55" presetID="22" presetClass="entr" presetSubtype="8" fill="hold" grpId="0" nodeType="withEffect">
                                  <p:stCondLst>
                                    <p:cond delay="280"/>
                                  </p:stCondLst>
                                  <p:childTnLst>
                                    <p:set>
                                      <p:cBhvr>
                                        <p:cTn id="53" dur="1" fill="hold">
                                          <p:stCondLst>
                                            <p:cond delay="0"/>
                                          </p:stCondLst>
                                        </p:cTn>
                                        <p:tgtEl>
                                          <p:spTgt spid="33"/>
                                        </p:tgtEl>
                                        <p:attrNameLst>
                                          <p:attrName>style.visibility</p:attrName>
                                        </p:attrNameLst>
                                      </p:cBhvr>
                                      <p:to>
                                        <p:strVal val="visible"/>
                                      </p:to>
                                    </p:set>
                                    <p:animEffect transition="in" filter="wipe(left)">
                                      <p:cBhvr>
                                        <p:cTn id="54" dur="500"/>
                                        <p:tgtEl>
                                          <p:spTgt spid="33"/>
                                        </p:tgtEl>
                                      </p:cBhvr>
                                    </p:animEffect>
                                  </p:childTnLst>
                                </p:cTn>
                              </p:par>
                              <p:par>
                                <p:cTn id="58" presetID="22" presetClass="entr" presetSubtype="8" fill="hold" grpId="0" nodeType="withEffect">
                                  <p:stCondLst>
                                    <p:cond delay="280"/>
                                  </p:stCondLst>
                                  <p:childTnLst>
                                    <p:set>
                                      <p:cBhvr>
                                        <p:cTn id="56" dur="1" fill="hold">
                                          <p:stCondLst>
                                            <p:cond delay="0"/>
                                          </p:stCondLst>
                                        </p:cTn>
                                        <p:tgtEl>
                                          <p:spTgt spid="34"/>
                                        </p:tgtEl>
                                        <p:attrNameLst>
                                          <p:attrName>style.visibility</p:attrName>
                                        </p:attrNameLst>
                                      </p:cBhvr>
                                      <p:to>
                                        <p:strVal val="visible"/>
                                      </p:to>
                                    </p:set>
                                    <p:animEffect transition="in" filter="wipe(left)">
                                      <p:cBhvr>
                                        <p:cTn id="57" dur="500"/>
                                        <p:tgtEl>
                                          <p:spTgt spid="34"/>
                                        </p:tgtEl>
                                      </p:cBhvr>
                                    </p:animEffect>
                                  </p:childTnLst>
                                </p:cTn>
                              </p:par>
                              <p:par>
                                <p:cTn id="61" presetID="22" presetClass="entr" presetSubtype="8" fill="hold" grpId="0" nodeType="withEffect">
                                  <p:stCondLst>
                                    <p:cond delay="420"/>
                                  </p:stCondLst>
                                  <p:childTnLst>
                                    <p:set>
                                      <p:cBhvr>
                                        <p:cTn id="59" dur="1" fill="hold">
                                          <p:stCondLst>
                                            <p:cond delay="0"/>
                                          </p:stCondLst>
                                        </p:cTn>
                                        <p:tgtEl>
                                          <p:spTgt spid="11"/>
                                        </p:tgtEl>
                                        <p:attrNameLst>
                                          <p:attrName>style.visibility</p:attrName>
                                        </p:attrNameLst>
                                      </p:cBhvr>
                                      <p:to>
                                        <p:strVal val="visible"/>
                                      </p:to>
                                    </p:set>
                                    <p:animEffect transition="in" filter="wipe(left)">
                                      <p:cBhvr>
                                        <p:cTn id="60" dur="500"/>
                                        <p:tgtEl>
                                          <p:spTgt spid="11"/>
                                        </p:tgtEl>
                                      </p:cBhvr>
                                    </p:animEffect>
                                  </p:childTnLst>
                                </p:cTn>
                              </p:par>
                              <p:par>
                                <p:cTn id="64" presetID="22" presetClass="entr" presetSubtype="8" fill="hold" grpId="0" nodeType="withEffect">
                                  <p:stCondLst>
                                    <p:cond delay="420"/>
                                  </p:stCondLst>
                                  <p:childTnLst>
                                    <p:set>
                                      <p:cBhvr>
                                        <p:cTn id="62" dur="1" fill="hold">
                                          <p:stCondLst>
                                            <p:cond delay="0"/>
                                          </p:stCondLst>
                                        </p:cTn>
                                        <p:tgtEl>
                                          <p:spTgt spid="12"/>
                                        </p:tgtEl>
                                        <p:attrNameLst>
                                          <p:attrName>style.visibility</p:attrName>
                                        </p:attrNameLst>
                                      </p:cBhvr>
                                      <p:to>
                                        <p:strVal val="visible"/>
                                      </p:to>
                                    </p:set>
                                    <p:animEffect transition="in" filter="wipe(left)">
                                      <p:cBhvr>
                                        <p:cTn id="63" dur="500"/>
                                        <p:tgtEl>
                                          <p:spTgt spid="12"/>
                                        </p:tgtEl>
                                      </p:cBhvr>
                                    </p:animEffect>
                                  </p:childTnLst>
                                </p:cTn>
                              </p:par>
                              <p:par>
                                <p:cTn id="67" presetID="22" presetClass="entr" presetSubtype="8" fill="hold" grpId="0" nodeType="withEffect">
                                  <p:stCondLst>
                                    <p:cond delay="42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500"/>
                                        <p:tgtEl>
                                          <p:spTgt spid="23"/>
                                        </p:tgtEl>
                                      </p:cBhvr>
                                    </p:animEffect>
                                  </p:childTnLst>
                                </p:cTn>
                              </p:par>
                              <p:par>
                                <p:cTn id="70" presetID="22" presetClass="entr" presetSubtype="8" fill="hold" grpId="0" nodeType="withEffect">
                                  <p:stCondLst>
                                    <p:cond delay="42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500"/>
                                        <p:tgtEl>
                                          <p:spTgt spid="24"/>
                                        </p:tgtEl>
                                      </p:cBhvr>
                                    </p:animEffect>
                                  </p:childTnLst>
                                </p:cTn>
                              </p:par>
                              <p:par>
                                <p:cTn id="73" presetID="22" presetClass="entr" presetSubtype="8" fill="hold" grpId="0" nodeType="withEffect">
                                  <p:stCondLst>
                                    <p:cond delay="420"/>
                                  </p:stCondLst>
                                  <p:childTnLst>
                                    <p:set>
                                      <p:cBhvr>
                                        <p:cTn id="71" dur="1" fill="hold">
                                          <p:stCondLst>
                                            <p:cond delay="0"/>
                                          </p:stCondLst>
                                        </p:cTn>
                                        <p:tgtEl>
                                          <p:spTgt spid="35"/>
                                        </p:tgtEl>
                                        <p:attrNameLst>
                                          <p:attrName>style.visibility</p:attrName>
                                        </p:attrNameLst>
                                      </p:cBhvr>
                                      <p:to>
                                        <p:strVal val="visible"/>
                                      </p:to>
                                    </p:set>
                                    <p:animEffect transition="in" filter="wipe(left)">
                                      <p:cBhvr>
                                        <p:cTn id="72" dur="500"/>
                                        <p:tgtEl>
                                          <p:spTgt spid="35"/>
                                        </p:tgtEl>
                                      </p:cBhvr>
                                    </p:animEffect>
                                  </p:childTnLst>
                                </p:cTn>
                              </p:par>
                              <p:par>
                                <p:cTn id="76" presetID="22" presetClass="entr" presetSubtype="8" fill="hold" grpId="0" nodeType="withEffect">
                                  <p:stCondLst>
                                    <p:cond delay="420"/>
                                  </p:stCondLst>
                                  <p:childTnLst>
                                    <p:set>
                                      <p:cBhvr>
                                        <p:cTn id="74" dur="1" fill="hold">
                                          <p:stCondLst>
                                            <p:cond delay="0"/>
                                          </p:stCondLst>
                                        </p:cTn>
                                        <p:tgtEl>
                                          <p:spTgt spid="36"/>
                                        </p:tgtEl>
                                        <p:attrNameLst>
                                          <p:attrName>style.visibility</p:attrName>
                                        </p:attrNameLst>
                                      </p:cBhvr>
                                      <p:to>
                                        <p:strVal val="visible"/>
                                      </p:to>
                                    </p:set>
                                    <p:animEffect transition="in" filter="wipe(left)">
                                      <p:cBhvr>
                                        <p:cTn id="75" dur="500"/>
                                        <p:tgtEl>
                                          <p:spTgt spid="36"/>
                                        </p:tgtEl>
                                      </p:cBhvr>
                                    </p:animEffect>
                                  </p:childTnLst>
                                </p:cTn>
                              </p:par>
                              <p:par>
                                <p:cTn id="79" presetID="22" presetClass="entr" presetSubtype="8" fill="hold" grpId="0" nodeType="withEffect">
                                  <p:stCondLst>
                                    <p:cond delay="56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par>
                                <p:cTn id="82" presetID="22" presetClass="entr" presetSubtype="8" fill="hold" grpId="0" nodeType="withEffect">
                                  <p:stCondLst>
                                    <p:cond delay="560"/>
                                  </p:stCondLst>
                                  <p:childTnLst>
                                    <p:set>
                                      <p:cBhvr>
                                        <p:cTn id="80" dur="1" fill="hold">
                                          <p:stCondLst>
                                            <p:cond delay="0"/>
                                          </p:stCondLst>
                                        </p:cTn>
                                        <p:tgtEl>
                                          <p:spTgt spid="14"/>
                                        </p:tgtEl>
                                        <p:attrNameLst>
                                          <p:attrName>style.visibility</p:attrName>
                                        </p:attrNameLst>
                                      </p:cBhvr>
                                      <p:to>
                                        <p:strVal val="visible"/>
                                      </p:to>
                                    </p:set>
                                    <p:animEffect transition="in" filter="wipe(left)">
                                      <p:cBhvr>
                                        <p:cTn id="81" dur="500"/>
                                        <p:tgtEl>
                                          <p:spTgt spid="14"/>
                                        </p:tgtEl>
                                      </p:cBhvr>
                                    </p:animEffect>
                                  </p:childTnLst>
                                </p:cTn>
                              </p:par>
                              <p:par>
                                <p:cTn id="85" presetID="22" presetClass="entr" presetSubtype="8" fill="hold" grpId="0" nodeType="withEffect">
                                  <p:stCondLst>
                                    <p:cond delay="560"/>
                                  </p:stCondLst>
                                  <p:childTnLst>
                                    <p:set>
                                      <p:cBhvr>
                                        <p:cTn id="83" dur="1" fill="hold">
                                          <p:stCondLst>
                                            <p:cond delay="0"/>
                                          </p:stCondLst>
                                        </p:cTn>
                                        <p:tgtEl>
                                          <p:spTgt spid="25"/>
                                        </p:tgtEl>
                                        <p:attrNameLst>
                                          <p:attrName>style.visibility</p:attrName>
                                        </p:attrNameLst>
                                      </p:cBhvr>
                                      <p:to>
                                        <p:strVal val="visible"/>
                                      </p:to>
                                    </p:set>
                                    <p:animEffect transition="in" filter="wipe(left)">
                                      <p:cBhvr>
                                        <p:cTn id="84" dur="500"/>
                                        <p:tgtEl>
                                          <p:spTgt spid="25"/>
                                        </p:tgtEl>
                                      </p:cBhvr>
                                    </p:animEffect>
                                  </p:childTnLst>
                                </p:cTn>
                              </p:par>
                              <p:par>
                                <p:cTn id="88" presetID="22" presetClass="entr" presetSubtype="8" fill="hold" grpId="0" nodeType="withEffect">
                                  <p:stCondLst>
                                    <p:cond delay="560"/>
                                  </p:stCondLst>
                                  <p:childTnLst>
                                    <p:set>
                                      <p:cBhvr>
                                        <p:cTn id="86" dur="1" fill="hold">
                                          <p:stCondLst>
                                            <p:cond delay="0"/>
                                          </p:stCondLst>
                                        </p:cTn>
                                        <p:tgtEl>
                                          <p:spTgt spid="26"/>
                                        </p:tgtEl>
                                        <p:attrNameLst>
                                          <p:attrName>style.visibility</p:attrName>
                                        </p:attrNameLst>
                                      </p:cBhvr>
                                      <p:to>
                                        <p:strVal val="visible"/>
                                      </p:to>
                                    </p:set>
                                    <p:animEffect transition="in" filter="wipe(left)">
                                      <p:cBhvr>
                                        <p:cTn id="87" dur="500"/>
                                        <p:tgtEl>
                                          <p:spTgt spid="26"/>
                                        </p:tgtEl>
                                      </p:cBhvr>
                                    </p:animEffect>
                                  </p:childTnLst>
                                </p:cTn>
                              </p:par>
                              <p:par>
                                <p:cTn id="91" presetID="22" presetClass="entr" presetSubtype="8" fill="hold" grpId="0" nodeType="withEffect">
                                  <p:stCondLst>
                                    <p:cond delay="560"/>
                                  </p:stCondLst>
                                  <p:childTnLst>
                                    <p:set>
                                      <p:cBhvr>
                                        <p:cTn id="89" dur="1" fill="hold">
                                          <p:stCondLst>
                                            <p:cond delay="0"/>
                                          </p:stCondLst>
                                        </p:cTn>
                                        <p:tgtEl>
                                          <p:spTgt spid="37"/>
                                        </p:tgtEl>
                                        <p:attrNameLst>
                                          <p:attrName>style.visibility</p:attrName>
                                        </p:attrNameLst>
                                      </p:cBhvr>
                                      <p:to>
                                        <p:strVal val="visible"/>
                                      </p:to>
                                    </p:set>
                                    <p:animEffect transition="in" filter="wipe(left)">
                                      <p:cBhvr>
                                        <p:cTn id="90" dur="500"/>
                                        <p:tgtEl>
                                          <p:spTgt spid="37"/>
                                        </p:tgtEl>
                                      </p:cBhvr>
                                    </p:animEffect>
                                  </p:childTnLst>
                                </p:cTn>
                              </p:par>
                              <p:par>
                                <p:cTn id="94" presetID="22" presetClass="entr" presetSubtype="8" fill="hold" grpId="0" nodeType="withEffect">
                                  <p:stCondLst>
                                    <p:cond delay="560"/>
                                  </p:stCondLst>
                                  <p:childTnLst>
                                    <p:set>
                                      <p:cBhvr>
                                        <p:cTn id="92" dur="1" fill="hold">
                                          <p:stCondLst>
                                            <p:cond delay="0"/>
                                          </p:stCondLst>
                                        </p:cTn>
                                        <p:tgtEl>
                                          <p:spTgt spid="38"/>
                                        </p:tgtEl>
                                        <p:attrNameLst>
                                          <p:attrName>style.visibility</p:attrName>
                                        </p:attrNameLst>
                                      </p:cBhvr>
                                      <p:to>
                                        <p:strVal val="visible"/>
                                      </p:to>
                                    </p:set>
                                    <p:animEffect transition="in" filter="wipe(left)">
                                      <p:cBhvr>
                                        <p:cTn id="93" dur="500"/>
                                        <p:tgtEl>
                                          <p:spTgt spid="38"/>
                                        </p:tgtEl>
                                      </p:cBhvr>
                                    </p:animEffect>
                                  </p:childTnLst>
                                </p:cTn>
                              </p:par>
                              <p:par>
                                <p:cTn id="97" presetID="22" presetClass="entr" presetSubtype="8" fill="hold" grpId="0" nodeType="withEffect">
                                  <p:stCondLst>
                                    <p:cond delay="700"/>
                                  </p:stCondLst>
                                  <p:childTnLst>
                                    <p:set>
                                      <p:cBhvr>
                                        <p:cTn id="95" dur="1" fill="hold">
                                          <p:stCondLst>
                                            <p:cond delay="0"/>
                                          </p:stCondLst>
                                        </p:cTn>
                                        <p:tgtEl>
                                          <p:spTgt spid="15"/>
                                        </p:tgtEl>
                                        <p:attrNameLst>
                                          <p:attrName>style.visibility</p:attrName>
                                        </p:attrNameLst>
                                      </p:cBhvr>
                                      <p:to>
                                        <p:strVal val="visible"/>
                                      </p:to>
                                    </p:set>
                                    <p:animEffect transition="in" filter="wipe(left)">
                                      <p:cBhvr>
                                        <p:cTn id="96" dur="500"/>
                                        <p:tgtEl>
                                          <p:spTgt spid="15"/>
                                        </p:tgtEl>
                                      </p:cBhvr>
                                    </p:animEffect>
                                  </p:childTnLst>
                                </p:cTn>
                              </p:par>
                              <p:par>
                                <p:cTn id="100" presetID="22" presetClass="entr" presetSubtype="8" fill="hold" grpId="0" nodeType="withEffect">
                                  <p:stCondLst>
                                    <p:cond delay="700"/>
                                  </p:stCondLst>
                                  <p:childTnLst>
                                    <p:set>
                                      <p:cBhvr>
                                        <p:cTn id="98" dur="1" fill="hold">
                                          <p:stCondLst>
                                            <p:cond delay="0"/>
                                          </p:stCondLst>
                                        </p:cTn>
                                        <p:tgtEl>
                                          <p:spTgt spid="16"/>
                                        </p:tgtEl>
                                        <p:attrNameLst>
                                          <p:attrName>style.visibility</p:attrName>
                                        </p:attrNameLst>
                                      </p:cBhvr>
                                      <p:to>
                                        <p:strVal val="visible"/>
                                      </p:to>
                                    </p:set>
                                    <p:animEffect transition="in" filter="wipe(left)">
                                      <p:cBhvr>
                                        <p:cTn id="99" dur="500"/>
                                        <p:tgtEl>
                                          <p:spTgt spid="16"/>
                                        </p:tgtEl>
                                      </p:cBhvr>
                                    </p:animEffect>
                                  </p:childTnLst>
                                </p:cTn>
                              </p:par>
                              <p:par>
                                <p:cTn id="103" presetID="22" presetClass="entr" presetSubtype="8" fill="hold" grpId="0" nodeType="withEffect">
                                  <p:stCondLst>
                                    <p:cond delay="700"/>
                                  </p:stCondLst>
                                  <p:childTnLst>
                                    <p:set>
                                      <p:cBhvr>
                                        <p:cTn id="101" dur="1" fill="hold">
                                          <p:stCondLst>
                                            <p:cond delay="0"/>
                                          </p:stCondLst>
                                        </p:cTn>
                                        <p:tgtEl>
                                          <p:spTgt spid="27"/>
                                        </p:tgtEl>
                                        <p:attrNameLst>
                                          <p:attrName>style.visibility</p:attrName>
                                        </p:attrNameLst>
                                      </p:cBhvr>
                                      <p:to>
                                        <p:strVal val="visible"/>
                                      </p:to>
                                    </p:set>
                                    <p:animEffect transition="in" filter="wipe(left)">
                                      <p:cBhvr>
                                        <p:cTn id="102" dur="500"/>
                                        <p:tgtEl>
                                          <p:spTgt spid="27"/>
                                        </p:tgtEl>
                                      </p:cBhvr>
                                    </p:animEffect>
                                  </p:childTnLst>
                                </p:cTn>
                              </p:par>
                              <p:par>
                                <p:cTn id="106" presetID="22" presetClass="entr" presetSubtype="8" fill="hold" grpId="0" nodeType="withEffect">
                                  <p:stCondLst>
                                    <p:cond delay="700"/>
                                  </p:stCondLst>
                                  <p:childTnLst>
                                    <p:set>
                                      <p:cBhvr>
                                        <p:cTn id="104" dur="1" fill="hold">
                                          <p:stCondLst>
                                            <p:cond delay="0"/>
                                          </p:stCondLst>
                                        </p:cTn>
                                        <p:tgtEl>
                                          <p:spTgt spid="28"/>
                                        </p:tgtEl>
                                        <p:attrNameLst>
                                          <p:attrName>style.visibility</p:attrName>
                                        </p:attrNameLst>
                                      </p:cBhvr>
                                      <p:to>
                                        <p:strVal val="visible"/>
                                      </p:to>
                                    </p:set>
                                    <p:animEffect transition="in" filter="wipe(left)">
                                      <p:cBhvr>
                                        <p:cTn id="105" dur="500"/>
                                        <p:tgtEl>
                                          <p:spTgt spid="28"/>
                                        </p:tgtEl>
                                      </p:cBhvr>
                                    </p:animEffect>
                                  </p:childTnLst>
                                </p:cTn>
                              </p:par>
                              <p:par>
                                <p:cTn id="109" presetID="22" presetClass="entr" presetSubtype="8" fill="hold" grpId="0" nodeType="withEffect">
                                  <p:stCondLst>
                                    <p:cond delay="700"/>
                                  </p:stCondLst>
                                  <p:childTnLst>
                                    <p:set>
                                      <p:cBhvr>
                                        <p:cTn id="107" dur="1" fill="hold">
                                          <p:stCondLst>
                                            <p:cond delay="0"/>
                                          </p:stCondLst>
                                        </p:cTn>
                                        <p:tgtEl>
                                          <p:spTgt spid="39"/>
                                        </p:tgtEl>
                                        <p:attrNameLst>
                                          <p:attrName>style.visibility</p:attrName>
                                        </p:attrNameLst>
                                      </p:cBhvr>
                                      <p:to>
                                        <p:strVal val="visible"/>
                                      </p:to>
                                    </p:set>
                                    <p:animEffect transition="in" filter="wipe(left)">
                                      <p:cBhvr>
                                        <p:cTn id="108" dur="500"/>
                                        <p:tgtEl>
                                          <p:spTgt spid="39"/>
                                        </p:tgtEl>
                                      </p:cBhvr>
                                    </p:animEffect>
                                  </p:childTnLst>
                                </p:cTn>
                              </p:par>
                              <p:par>
                                <p:cTn id="112" presetID="22" presetClass="entr" presetSubtype="8" fill="hold" grpId="0" nodeType="withEffect">
                                  <p:stCondLst>
                                    <p:cond delay="700"/>
                                  </p:stCondLst>
                                  <p:childTnLst>
                                    <p:set>
                                      <p:cBhvr>
                                        <p:cTn id="110" dur="1" fill="hold">
                                          <p:stCondLst>
                                            <p:cond delay="0"/>
                                          </p:stCondLst>
                                        </p:cTn>
                                        <p:tgtEl>
                                          <p:spTgt spid="40"/>
                                        </p:tgtEl>
                                        <p:attrNameLst>
                                          <p:attrName>style.visibility</p:attrName>
                                        </p:attrNameLst>
                                      </p:cBhvr>
                                      <p:to>
                                        <p:strVal val="visible"/>
                                      </p:to>
                                    </p:set>
                                    <p:animEffect transition="in" filter="wipe(left)">
                                      <p:cBhvr>
                                        <p:cTn id="111" dur="500"/>
                                        <p:tgtEl>
                                          <p:spTgt spid="40"/>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41"/>
                                        </p:tgtEl>
                                        <p:attrNameLst>
                                          <p:attrName>style.visibility</p:attrName>
                                        </p:attrNameLst>
                                      </p:cBhvr>
                                      <p:to>
                                        <p:strVal val="visible"/>
                                      </p:to>
                                    </p:set>
                                    <p:anim calcmode="lin" valueType="num">
                                      <p:cBhvr additive="base">
                                        <p:cTn id="116" dur="500" fill="hold"/>
                                        <p:tgtEl>
                                          <p:spTgt spid="41"/>
                                        </p:tgtEl>
                                        <p:attrNameLst>
                                          <p:attrName>ppt_x</p:attrName>
                                        </p:attrNameLst>
                                      </p:cBhvr>
                                      <p:tavLst>
                                        <p:tav tm="0">
                                          <p:val>
                                            <p:strVal val="#ppt_x"/>
                                          </p:val>
                                        </p:tav>
                                        <p:tav tm="100000">
                                          <p:val>
                                            <p:strVal val="#ppt_x"/>
                                          </p:val>
                                        </p:tav>
                                      </p:tavLst>
                                    </p:anim>
                                    <p:anim calcmode="lin" valueType="num">
                                      <p:cBhvr additive="base">
                                        <p:cTn id="117" dur="500" fill="hold"/>
                                        <p:tgtEl>
                                          <p:spTgt spid="41"/>
                                        </p:tgtEl>
                                        <p:attrNameLst>
                                          <p:attrName>ppt_y</p:attrName>
                                        </p:attrNameLst>
                                      </p:cBhvr>
                                      <p:tavLst>
                                        <p:tav tm="0">
                                          <p:val>
                                            <p:strVal val="#ppt_y+0.1"/>
                                          </p:val>
                                        </p:tav>
                                        <p:tav tm="100000">
                                          <p:val>
                                            <p:strVal val="#ppt_y"/>
                                          </p:val>
                                        </p:tav>
                                      </p:tavLst>
                                    </p:anim>
                                    <p:animEffect transition="in" filter="fade">
                                      <p:cBhvr>
                                        <p:cTn id="118" dur="500"/>
                                        <p:tgtEl>
                                          <p:spTgt spid="41"/>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anim calcmode="lin" valueType="num">
                                      <p:cBhvr additive="base">
                                        <p:cTn id="121" dur="500" fill="hold"/>
                                        <p:tgtEl>
                                          <p:spTgt spid="42"/>
                                        </p:tgtEl>
                                        <p:attrNameLst>
                                          <p:attrName>ppt_x</p:attrName>
                                        </p:attrNameLst>
                                      </p:cBhvr>
                                      <p:tavLst>
                                        <p:tav tm="0">
                                          <p:val>
                                            <p:strVal val="#ppt_x"/>
                                          </p:val>
                                        </p:tav>
                                        <p:tav tm="100000">
                                          <p:val>
                                            <p:strVal val="#ppt_x"/>
                                          </p:val>
                                        </p:tav>
                                      </p:tavLst>
                                    </p:anim>
                                    <p:anim calcmode="lin" valueType="num">
                                      <p:cBhvr additive="base">
                                        <p:cTn id="122" dur="500" fill="hold"/>
                                        <p:tgtEl>
                                          <p:spTgt spid="42"/>
                                        </p:tgtEl>
                                        <p:attrNameLst>
                                          <p:attrName>ppt_y</p:attrName>
                                        </p:attrNameLst>
                                      </p:cBhvr>
                                      <p:tavLst>
                                        <p:tav tm="0">
                                          <p:val>
                                            <p:strVal val="#ppt_y+0.1"/>
                                          </p:val>
                                        </p:tav>
                                        <p:tav tm="100000">
                                          <p:val>
                                            <p:strVal val="#ppt_y"/>
                                          </p:val>
                                        </p:tav>
                                      </p:tavLst>
                                    </p:anim>
                                    <p:animEffect transition="in" filter="fade">
                                      <p:cBhvr>
                                        <p:cTn id="123" dur="500"/>
                                        <p:tgtEl>
                                          <p:spTgt spid="42"/>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 calcmode="lin" valueType="num">
                                      <p:cBhvr additive="base">
                                        <p:cTn id="126" dur="500" fill="hold"/>
                                        <p:tgtEl>
                                          <p:spTgt spid="43"/>
                                        </p:tgtEl>
                                        <p:attrNameLst>
                                          <p:attrName>ppt_x</p:attrName>
                                        </p:attrNameLst>
                                      </p:cBhvr>
                                      <p:tavLst>
                                        <p:tav tm="0">
                                          <p:val>
                                            <p:strVal val="#ppt_x"/>
                                          </p:val>
                                        </p:tav>
                                        <p:tav tm="100000">
                                          <p:val>
                                            <p:strVal val="#ppt_x"/>
                                          </p:val>
                                        </p:tav>
                                      </p:tavLst>
                                    </p:anim>
                                    <p:anim calcmode="lin" valueType="num">
                                      <p:cBhvr additive="base">
                                        <p:cTn id="127" dur="500" fill="hold"/>
                                        <p:tgtEl>
                                          <p:spTgt spid="43"/>
                                        </p:tgtEl>
                                        <p:attrNameLst>
                                          <p:attrName>ppt_y</p:attrName>
                                        </p:attrNameLst>
                                      </p:cBhvr>
                                      <p:tavLst>
                                        <p:tav tm="0">
                                          <p:val>
                                            <p:strVal val="#ppt_y+0.1"/>
                                          </p:val>
                                        </p:tav>
                                        <p:tav tm="100000">
                                          <p:val>
                                            <p:strVal val="#ppt_y"/>
                                          </p:val>
                                        </p:tav>
                                      </p:tavLst>
                                    </p:anim>
                                    <p:animEffect transition="in" filter="fade">
                                      <p:cBhvr>
                                        <p:cTn id="1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Pressure 1 · The Impedance Mismatch</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One object in your code becomes many rows in the database - and back again, every time</a:t>
            </a:r>
          </a:p>
        </p:txBody>
      </p:sp>
      <p:sp>
        <p:nvSpPr>
          <p:cNvPr id="4" name="a1u_card3"/>
          <p:cNvSpPr/>
          <p:nvPr/>
        </p:nvSpPr>
        <p:spPr>
          <a:xfrm>
            <a:off x="457200" y="1170432"/>
            <a:ext cx="2651760" cy="2788920"/>
          </a:xfrm>
          <a:prstGeom prst="roundRect">
            <a:avLst>
              <a:gd name="adj" fmla="val 3448"/>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21792" y="1289304"/>
            <a:ext cx="2322576" cy="237744"/>
          </a:xfrm>
          <a:prstGeom prst="rect">
            <a:avLst/>
          </a:prstGeom>
          <a:noFill/>
        </p:spPr>
        <p:txBody>
          <a:bodyPr wrap="square" lIns="0" tIns="0" rIns="0" bIns="0" anchor="ctr">
            <a:spAutoFit/>
          </a:bodyPr>
          <a:lstStyle/>
          <a:p>
            <a:pPr algn="l"/>
            <a:r>
              <a:rPr sz="950" b="1">
                <a:solidFill>
                  <a:srgbClr val="6D28D9"/>
                </a:solidFill>
                <a:latin typeface="Calibri"/>
              </a:rPr>
              <a:t>IN YOUR APPLICATION</a:t>
            </a:r>
          </a:p>
        </p:txBody>
      </p:sp>
      <p:sp>
        <p:nvSpPr>
          <p:cNvPr id="6" name="a1fd60_codebg5"/>
          <p:cNvSpPr/>
          <p:nvPr/>
        </p:nvSpPr>
        <p:spPr>
          <a:xfrm>
            <a:off x="603504" y="1563624"/>
            <a:ext cx="2359152" cy="1988819"/>
          </a:xfrm>
          <a:prstGeom prst="roundRect">
            <a:avLst>
              <a:gd name="adj" fmla="val 3678"/>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wd60_code6"/>
          <p:cNvSpPr txBox="1"/>
          <p:nvPr/>
        </p:nvSpPr>
        <p:spPr>
          <a:xfrm>
            <a:off x="713232" y="1673352"/>
            <a:ext cx="2139696" cy="196596"/>
          </a:xfrm>
          <a:prstGeom prst="rect">
            <a:avLst/>
          </a:prstGeom>
          <a:noFill/>
        </p:spPr>
        <p:txBody>
          <a:bodyPr wrap="none" lIns="0" tIns="0" rIns="0" bIns="0" anchor="ctr">
            <a:spAutoFit/>
          </a:bodyPr>
          <a:lstStyle/>
          <a:p>
            <a:pPr algn="l"/>
            <a:r>
              <a:rPr sz="950" b="1">
                <a:solidFill>
                  <a:srgbClr val="C4B5FD"/>
                </a:solidFill>
                <a:latin typeface="Courier New"/>
              </a:rPr>
              <a:t>Order {</a:t>
            </a:r>
          </a:p>
        </p:txBody>
      </p:sp>
      <p:sp>
        <p:nvSpPr>
          <p:cNvPr id="8" name="a1wd120_code7"/>
          <p:cNvSpPr txBox="1"/>
          <p:nvPr/>
        </p:nvSpPr>
        <p:spPr>
          <a:xfrm>
            <a:off x="713232" y="1869948"/>
            <a:ext cx="2139696" cy="196596"/>
          </a:xfrm>
          <a:prstGeom prst="rect">
            <a:avLst/>
          </a:prstGeom>
          <a:noFill/>
        </p:spPr>
        <p:txBody>
          <a:bodyPr wrap="none" lIns="0" tIns="0" rIns="0" bIns="0" anchor="ctr">
            <a:spAutoFit/>
          </a:bodyPr>
          <a:lstStyle/>
          <a:p>
            <a:pPr algn="l"/>
            <a:r>
              <a:rPr sz="950" b="0">
                <a:solidFill>
                  <a:srgbClr val="E2E8F0"/>
                </a:solidFill>
                <a:latin typeface="Courier New"/>
              </a:rPr>
              <a:t>  id: 1001,</a:t>
            </a:r>
          </a:p>
        </p:txBody>
      </p:sp>
      <p:sp>
        <p:nvSpPr>
          <p:cNvPr id="9" name="a1wd180_code8"/>
          <p:cNvSpPr txBox="1"/>
          <p:nvPr/>
        </p:nvSpPr>
        <p:spPr>
          <a:xfrm>
            <a:off x="713232" y="2066544"/>
            <a:ext cx="2139696" cy="196596"/>
          </a:xfrm>
          <a:prstGeom prst="rect">
            <a:avLst/>
          </a:prstGeom>
          <a:noFill/>
        </p:spPr>
        <p:txBody>
          <a:bodyPr wrap="none" lIns="0" tIns="0" rIns="0" bIns="0" anchor="ctr">
            <a:spAutoFit/>
          </a:bodyPr>
          <a:lstStyle/>
          <a:p>
            <a:pPr algn="l"/>
            <a:r>
              <a:rPr sz="950" b="0">
                <a:solidFill>
                  <a:srgbClr val="E2E8F0"/>
                </a:solidFill>
                <a:latin typeface="Courier New"/>
              </a:rPr>
              <a:t>  customer: {...},</a:t>
            </a:r>
          </a:p>
        </p:txBody>
      </p:sp>
      <p:sp>
        <p:nvSpPr>
          <p:cNvPr id="10" name="a1wd240_code9"/>
          <p:cNvSpPr txBox="1"/>
          <p:nvPr/>
        </p:nvSpPr>
        <p:spPr>
          <a:xfrm>
            <a:off x="713232" y="2263140"/>
            <a:ext cx="2139696" cy="196596"/>
          </a:xfrm>
          <a:prstGeom prst="rect">
            <a:avLst/>
          </a:prstGeom>
          <a:noFill/>
        </p:spPr>
        <p:txBody>
          <a:bodyPr wrap="none" lIns="0" tIns="0" rIns="0" bIns="0" anchor="ctr">
            <a:spAutoFit/>
          </a:bodyPr>
          <a:lstStyle/>
          <a:p>
            <a:pPr algn="l"/>
            <a:r>
              <a:rPr sz="950" b="0">
                <a:solidFill>
                  <a:srgbClr val="E2E8F0"/>
                </a:solidFill>
                <a:latin typeface="Courier New"/>
              </a:rPr>
              <a:t>  lines: [</a:t>
            </a:r>
          </a:p>
        </p:txBody>
      </p:sp>
      <p:sp>
        <p:nvSpPr>
          <p:cNvPr id="11" name="a1wd300_code10"/>
          <p:cNvSpPr txBox="1"/>
          <p:nvPr/>
        </p:nvSpPr>
        <p:spPr>
          <a:xfrm>
            <a:off x="713232" y="2459736"/>
            <a:ext cx="2139696" cy="196596"/>
          </a:xfrm>
          <a:prstGeom prst="rect">
            <a:avLst/>
          </a:prstGeom>
          <a:noFill/>
        </p:spPr>
        <p:txBody>
          <a:bodyPr wrap="none" lIns="0" tIns="0" rIns="0" bIns="0" anchor="ctr">
            <a:spAutoFit/>
          </a:bodyPr>
          <a:lstStyle/>
          <a:p>
            <a:pPr algn="l"/>
            <a:r>
              <a:rPr sz="950" b="0">
                <a:solidFill>
                  <a:srgbClr val="E2E8F0"/>
                </a:solidFill>
                <a:latin typeface="Courier New"/>
              </a:rPr>
              <a:t>    {sku, qty, price},</a:t>
            </a:r>
          </a:p>
        </p:txBody>
      </p:sp>
      <p:sp>
        <p:nvSpPr>
          <p:cNvPr id="12" name="a1wd360_code11"/>
          <p:cNvSpPr txBox="1"/>
          <p:nvPr/>
        </p:nvSpPr>
        <p:spPr>
          <a:xfrm>
            <a:off x="713232" y="2656332"/>
            <a:ext cx="2139696" cy="196596"/>
          </a:xfrm>
          <a:prstGeom prst="rect">
            <a:avLst/>
          </a:prstGeom>
          <a:noFill/>
        </p:spPr>
        <p:txBody>
          <a:bodyPr wrap="none" lIns="0" tIns="0" rIns="0" bIns="0" anchor="ctr">
            <a:spAutoFit/>
          </a:bodyPr>
          <a:lstStyle/>
          <a:p>
            <a:pPr algn="l"/>
            <a:r>
              <a:rPr sz="950" b="0">
                <a:solidFill>
                  <a:srgbClr val="E2E8F0"/>
                </a:solidFill>
                <a:latin typeface="Courier New"/>
              </a:rPr>
              <a:t>    {sku, qty, price}</a:t>
            </a:r>
          </a:p>
        </p:txBody>
      </p:sp>
      <p:sp>
        <p:nvSpPr>
          <p:cNvPr id="13" name="a1wd420_code12"/>
          <p:cNvSpPr txBox="1"/>
          <p:nvPr/>
        </p:nvSpPr>
        <p:spPr>
          <a:xfrm>
            <a:off x="713232" y="2852928"/>
            <a:ext cx="2139696" cy="196596"/>
          </a:xfrm>
          <a:prstGeom prst="rect">
            <a:avLst/>
          </a:prstGeom>
          <a:noFill/>
        </p:spPr>
        <p:txBody>
          <a:bodyPr wrap="none" lIns="0" tIns="0" rIns="0" bIns="0" anchor="ctr">
            <a:spAutoFit/>
          </a:bodyPr>
          <a:lstStyle/>
          <a:p>
            <a:pPr algn="l"/>
            <a:r>
              <a:rPr sz="950" b="0">
                <a:solidFill>
                  <a:srgbClr val="E2E8F0"/>
                </a:solidFill>
                <a:latin typeface="Courier New"/>
              </a:rPr>
              <a:t>  ],</a:t>
            </a:r>
          </a:p>
        </p:txBody>
      </p:sp>
      <p:sp>
        <p:nvSpPr>
          <p:cNvPr id="14" name="a1wd480_code13"/>
          <p:cNvSpPr txBox="1"/>
          <p:nvPr/>
        </p:nvSpPr>
        <p:spPr>
          <a:xfrm>
            <a:off x="713232" y="3049524"/>
            <a:ext cx="2139696" cy="196596"/>
          </a:xfrm>
          <a:prstGeom prst="rect">
            <a:avLst/>
          </a:prstGeom>
          <a:noFill/>
        </p:spPr>
        <p:txBody>
          <a:bodyPr wrap="none" lIns="0" tIns="0" rIns="0" bIns="0" anchor="ctr">
            <a:spAutoFit/>
          </a:bodyPr>
          <a:lstStyle/>
          <a:p>
            <a:pPr algn="l"/>
            <a:r>
              <a:rPr sz="950" b="0">
                <a:solidFill>
                  <a:srgbClr val="E2E8F0"/>
                </a:solidFill>
                <a:latin typeface="Courier New"/>
              </a:rPr>
              <a:t>  payment: {...}</a:t>
            </a:r>
          </a:p>
        </p:txBody>
      </p:sp>
      <p:sp>
        <p:nvSpPr>
          <p:cNvPr id="15" name="a1wd540_code14"/>
          <p:cNvSpPr txBox="1"/>
          <p:nvPr/>
        </p:nvSpPr>
        <p:spPr>
          <a:xfrm>
            <a:off x="713232" y="3246120"/>
            <a:ext cx="2139696" cy="196596"/>
          </a:xfrm>
          <a:prstGeom prst="rect">
            <a:avLst/>
          </a:prstGeom>
          <a:noFill/>
        </p:spPr>
        <p:txBody>
          <a:bodyPr wrap="none" lIns="0" tIns="0" rIns="0" bIns="0" anchor="ctr">
            <a:spAutoFit/>
          </a:bodyPr>
          <a:lstStyle/>
          <a:p>
            <a:pPr algn="l"/>
            <a:r>
              <a:rPr sz="950" b="1">
                <a:solidFill>
                  <a:srgbClr val="C4B5FD"/>
                </a:solidFill>
                <a:latin typeface="Courier New"/>
              </a:rPr>
              <a:t>}</a:t>
            </a:r>
          </a:p>
        </p:txBody>
      </p:sp>
      <p:sp>
        <p:nvSpPr>
          <p:cNvPr id="16" name="a1ud700_cap15"/>
          <p:cNvSpPr txBox="1"/>
          <p:nvPr/>
        </p:nvSpPr>
        <p:spPr>
          <a:xfrm>
            <a:off x="621792" y="3611880"/>
            <a:ext cx="2322576" cy="237744"/>
          </a:xfrm>
          <a:prstGeom prst="rect">
            <a:avLst/>
          </a:prstGeom>
          <a:noFill/>
        </p:spPr>
        <p:txBody>
          <a:bodyPr wrap="square" lIns="0" tIns="0" rIns="0" bIns="0" anchor="ctr">
            <a:spAutoFit/>
          </a:bodyPr>
          <a:lstStyle/>
          <a:p>
            <a:pPr algn="l"/>
            <a:r>
              <a:rPr sz="1000" b="0">
                <a:solidFill>
                  <a:srgbClr val="64748B"/>
                </a:solidFill>
                <a:latin typeface="Calibri"/>
              </a:rPr>
              <a:t>one self-contained object</a:t>
            </a:r>
          </a:p>
        </p:txBody>
      </p:sp>
      <p:sp>
        <p:nvSpPr>
          <p:cNvPr id="17" name="a2f_arr16"/>
          <p:cNvSpPr/>
          <p:nvPr/>
        </p:nvSpPr>
        <p:spPr>
          <a:xfrm>
            <a:off x="3246120" y="2267712"/>
            <a:ext cx="548640" cy="384048"/>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f_al17"/>
          <p:cNvSpPr txBox="1"/>
          <p:nvPr/>
        </p:nvSpPr>
        <p:spPr>
          <a:xfrm>
            <a:off x="3127248" y="2697480"/>
            <a:ext cx="822960" cy="237744"/>
          </a:xfrm>
          <a:prstGeom prst="rect">
            <a:avLst/>
          </a:prstGeom>
          <a:noFill/>
        </p:spPr>
        <p:txBody>
          <a:bodyPr wrap="square" lIns="0" tIns="0" rIns="0" bIns="0" anchor="ctr">
            <a:spAutoFit/>
          </a:bodyPr>
          <a:lstStyle/>
          <a:p>
            <a:pPr algn="ctr"/>
            <a:r>
              <a:rPr sz="1000" b="1">
                <a:solidFill>
                  <a:srgbClr val="B45309"/>
                </a:solidFill>
                <a:latin typeface="Calibri"/>
              </a:rPr>
              <a:t>map</a:t>
            </a:r>
          </a:p>
        </p:txBody>
      </p:sp>
      <p:sp>
        <p:nvSpPr>
          <p:cNvPr id="19" name="a2ud60_card18"/>
          <p:cNvSpPr/>
          <p:nvPr/>
        </p:nvSpPr>
        <p:spPr>
          <a:xfrm>
            <a:off x="3931920" y="1170432"/>
            <a:ext cx="2651760" cy="2788920"/>
          </a:xfrm>
          <a:prstGeom prst="roundRect">
            <a:avLst>
              <a:gd name="adj" fmla="val 3448"/>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d60_hh19"/>
          <p:cNvSpPr txBox="1"/>
          <p:nvPr/>
        </p:nvSpPr>
        <p:spPr>
          <a:xfrm>
            <a:off x="4096512" y="1289304"/>
            <a:ext cx="2322576" cy="237744"/>
          </a:xfrm>
          <a:prstGeom prst="rect">
            <a:avLst/>
          </a:prstGeom>
          <a:noFill/>
        </p:spPr>
        <p:txBody>
          <a:bodyPr wrap="square" lIns="0" tIns="0" rIns="0" bIns="0" anchor="ctr">
            <a:spAutoFit/>
          </a:bodyPr>
          <a:lstStyle/>
          <a:p>
            <a:pPr algn="l"/>
            <a:r>
              <a:rPr sz="950" b="1">
                <a:solidFill>
                  <a:srgbClr val="0F766E"/>
                </a:solidFill>
                <a:latin typeface="Calibri"/>
              </a:rPr>
              <a:t>IN THE DATABASE</a:t>
            </a:r>
          </a:p>
        </p:txBody>
      </p:sp>
      <p:sp>
        <p:nvSpPr>
          <p:cNvPr id="21" name="a2ud120_tb20"/>
          <p:cNvSpPr/>
          <p:nvPr/>
        </p:nvSpPr>
        <p:spPr>
          <a:xfrm>
            <a:off x="4096512" y="1600200"/>
            <a:ext cx="2322576" cy="475488"/>
          </a:xfrm>
          <a:prstGeom prst="roundRect">
            <a:avLst>
              <a:gd name="adj" fmla="val 1153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120_tn21"/>
          <p:cNvSpPr txBox="1"/>
          <p:nvPr/>
        </p:nvSpPr>
        <p:spPr>
          <a:xfrm>
            <a:off x="4224528" y="1618488"/>
            <a:ext cx="2103120" cy="219456"/>
          </a:xfrm>
          <a:prstGeom prst="rect">
            <a:avLst/>
          </a:prstGeom>
          <a:noFill/>
        </p:spPr>
        <p:txBody>
          <a:bodyPr wrap="square" lIns="0" tIns="0" rIns="0" bIns="0" anchor="ctr">
            <a:spAutoFit/>
          </a:bodyPr>
          <a:lstStyle/>
          <a:p>
            <a:pPr algn="l"/>
            <a:r>
              <a:rPr sz="1050" b="1">
                <a:solidFill>
                  <a:srgbClr val="0F172A"/>
                </a:solidFill>
                <a:latin typeface="Courier New"/>
              </a:rPr>
              <a:t>orders</a:t>
            </a:r>
          </a:p>
        </p:txBody>
      </p:sp>
      <p:sp>
        <p:nvSpPr>
          <p:cNvPr id="23" name="a2ud120_tc22"/>
          <p:cNvSpPr txBox="1"/>
          <p:nvPr/>
        </p:nvSpPr>
        <p:spPr>
          <a:xfrm>
            <a:off x="4224528" y="1819656"/>
            <a:ext cx="2103120" cy="201168"/>
          </a:xfrm>
          <a:prstGeom prst="rect">
            <a:avLst/>
          </a:prstGeom>
          <a:noFill/>
        </p:spPr>
        <p:txBody>
          <a:bodyPr wrap="square" lIns="0" tIns="0" rIns="0" bIns="0" anchor="ctr">
            <a:spAutoFit/>
          </a:bodyPr>
          <a:lstStyle/>
          <a:p>
            <a:pPr algn="l"/>
            <a:r>
              <a:rPr sz="850" b="0">
                <a:solidFill>
                  <a:srgbClr val="64748B"/>
                </a:solidFill>
                <a:latin typeface="Calibri"/>
              </a:rPr>
              <a:t>id · customer_id · date</a:t>
            </a:r>
          </a:p>
        </p:txBody>
      </p:sp>
      <p:sp>
        <p:nvSpPr>
          <p:cNvPr id="24" name="a2ud210_tb23"/>
          <p:cNvSpPr/>
          <p:nvPr/>
        </p:nvSpPr>
        <p:spPr>
          <a:xfrm>
            <a:off x="4096512" y="2167128"/>
            <a:ext cx="2322576" cy="475488"/>
          </a:xfrm>
          <a:prstGeom prst="roundRect">
            <a:avLst>
              <a:gd name="adj" fmla="val 1153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d210_tn24"/>
          <p:cNvSpPr txBox="1"/>
          <p:nvPr/>
        </p:nvSpPr>
        <p:spPr>
          <a:xfrm>
            <a:off x="4224528" y="2185416"/>
            <a:ext cx="2103120" cy="219456"/>
          </a:xfrm>
          <a:prstGeom prst="rect">
            <a:avLst/>
          </a:prstGeom>
          <a:noFill/>
        </p:spPr>
        <p:txBody>
          <a:bodyPr wrap="square" lIns="0" tIns="0" rIns="0" bIns="0" anchor="ctr">
            <a:spAutoFit/>
          </a:bodyPr>
          <a:lstStyle/>
          <a:p>
            <a:pPr algn="l"/>
            <a:r>
              <a:rPr sz="1050" b="1">
                <a:solidFill>
                  <a:srgbClr val="0F172A"/>
                </a:solidFill>
                <a:latin typeface="Courier New"/>
              </a:rPr>
              <a:t>order_lines</a:t>
            </a:r>
          </a:p>
        </p:txBody>
      </p:sp>
      <p:sp>
        <p:nvSpPr>
          <p:cNvPr id="26" name="a2ud210_tc25"/>
          <p:cNvSpPr txBox="1"/>
          <p:nvPr/>
        </p:nvSpPr>
        <p:spPr>
          <a:xfrm>
            <a:off x="4224528" y="2386584"/>
            <a:ext cx="2103120" cy="201168"/>
          </a:xfrm>
          <a:prstGeom prst="rect">
            <a:avLst/>
          </a:prstGeom>
          <a:noFill/>
        </p:spPr>
        <p:txBody>
          <a:bodyPr wrap="square" lIns="0" tIns="0" rIns="0" bIns="0" anchor="ctr">
            <a:spAutoFit/>
          </a:bodyPr>
          <a:lstStyle/>
          <a:p>
            <a:pPr algn="l"/>
            <a:r>
              <a:rPr sz="850" b="0">
                <a:solidFill>
                  <a:srgbClr val="64748B"/>
                </a:solidFill>
                <a:latin typeface="Calibri"/>
              </a:rPr>
              <a:t>order_id · sku · qty</a:t>
            </a:r>
          </a:p>
        </p:txBody>
      </p:sp>
      <p:sp>
        <p:nvSpPr>
          <p:cNvPr id="27" name="a2ud300_tb26"/>
          <p:cNvSpPr/>
          <p:nvPr/>
        </p:nvSpPr>
        <p:spPr>
          <a:xfrm>
            <a:off x="4096512" y="2734056"/>
            <a:ext cx="2322576" cy="475488"/>
          </a:xfrm>
          <a:prstGeom prst="roundRect">
            <a:avLst>
              <a:gd name="adj" fmla="val 1153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300_tn27"/>
          <p:cNvSpPr txBox="1"/>
          <p:nvPr/>
        </p:nvSpPr>
        <p:spPr>
          <a:xfrm>
            <a:off x="4224528" y="2752344"/>
            <a:ext cx="2103120" cy="219456"/>
          </a:xfrm>
          <a:prstGeom prst="rect">
            <a:avLst/>
          </a:prstGeom>
          <a:noFill/>
        </p:spPr>
        <p:txBody>
          <a:bodyPr wrap="square" lIns="0" tIns="0" rIns="0" bIns="0" anchor="ctr">
            <a:spAutoFit/>
          </a:bodyPr>
          <a:lstStyle/>
          <a:p>
            <a:pPr algn="l"/>
            <a:r>
              <a:rPr sz="1050" b="1">
                <a:solidFill>
                  <a:srgbClr val="0F172A"/>
                </a:solidFill>
                <a:latin typeface="Courier New"/>
              </a:rPr>
              <a:t>customers</a:t>
            </a:r>
          </a:p>
        </p:txBody>
      </p:sp>
      <p:sp>
        <p:nvSpPr>
          <p:cNvPr id="29" name="a2ud300_tc28"/>
          <p:cNvSpPr txBox="1"/>
          <p:nvPr/>
        </p:nvSpPr>
        <p:spPr>
          <a:xfrm>
            <a:off x="4224528" y="2953512"/>
            <a:ext cx="2103120" cy="201168"/>
          </a:xfrm>
          <a:prstGeom prst="rect">
            <a:avLst/>
          </a:prstGeom>
          <a:noFill/>
        </p:spPr>
        <p:txBody>
          <a:bodyPr wrap="square" lIns="0" tIns="0" rIns="0" bIns="0" anchor="ctr">
            <a:spAutoFit/>
          </a:bodyPr>
          <a:lstStyle/>
          <a:p>
            <a:pPr algn="l"/>
            <a:r>
              <a:rPr sz="850" b="0">
                <a:solidFill>
                  <a:srgbClr val="64748B"/>
                </a:solidFill>
                <a:latin typeface="Calibri"/>
              </a:rPr>
              <a:t>id · name · email</a:t>
            </a:r>
          </a:p>
        </p:txBody>
      </p:sp>
      <p:sp>
        <p:nvSpPr>
          <p:cNvPr id="30" name="a2ud390_tb29"/>
          <p:cNvSpPr/>
          <p:nvPr/>
        </p:nvSpPr>
        <p:spPr>
          <a:xfrm>
            <a:off x="4096512" y="3300984"/>
            <a:ext cx="2322576" cy="475488"/>
          </a:xfrm>
          <a:prstGeom prst="roundRect">
            <a:avLst>
              <a:gd name="adj" fmla="val 1153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d390_tn30"/>
          <p:cNvSpPr txBox="1"/>
          <p:nvPr/>
        </p:nvSpPr>
        <p:spPr>
          <a:xfrm>
            <a:off x="4224528" y="3319272"/>
            <a:ext cx="2103120" cy="219456"/>
          </a:xfrm>
          <a:prstGeom prst="rect">
            <a:avLst/>
          </a:prstGeom>
          <a:noFill/>
        </p:spPr>
        <p:txBody>
          <a:bodyPr wrap="square" lIns="0" tIns="0" rIns="0" bIns="0" anchor="ctr">
            <a:spAutoFit/>
          </a:bodyPr>
          <a:lstStyle/>
          <a:p>
            <a:pPr algn="l"/>
            <a:r>
              <a:rPr sz="1050" b="1">
                <a:solidFill>
                  <a:srgbClr val="0F172A"/>
                </a:solidFill>
                <a:latin typeface="Courier New"/>
              </a:rPr>
              <a:t>payments</a:t>
            </a:r>
          </a:p>
        </p:txBody>
      </p:sp>
      <p:sp>
        <p:nvSpPr>
          <p:cNvPr id="32" name="a2ud390_tc31"/>
          <p:cNvSpPr txBox="1"/>
          <p:nvPr/>
        </p:nvSpPr>
        <p:spPr>
          <a:xfrm>
            <a:off x="4224528" y="3520439"/>
            <a:ext cx="2103120" cy="201168"/>
          </a:xfrm>
          <a:prstGeom prst="rect">
            <a:avLst/>
          </a:prstGeom>
          <a:noFill/>
        </p:spPr>
        <p:txBody>
          <a:bodyPr wrap="square" lIns="0" tIns="0" rIns="0" bIns="0" anchor="ctr">
            <a:spAutoFit/>
          </a:bodyPr>
          <a:lstStyle/>
          <a:p>
            <a:pPr algn="l"/>
            <a:r>
              <a:rPr sz="850" b="0">
                <a:solidFill>
                  <a:srgbClr val="64748B"/>
                </a:solidFill>
                <a:latin typeface="Calibri"/>
              </a:rPr>
              <a:t>order_id · method · amt</a:t>
            </a:r>
          </a:p>
        </p:txBody>
      </p:sp>
      <p:sp>
        <p:nvSpPr>
          <p:cNvPr id="33" name="a3u_card32"/>
          <p:cNvSpPr/>
          <p:nvPr/>
        </p:nvSpPr>
        <p:spPr>
          <a:xfrm>
            <a:off x="6858000" y="1170432"/>
            <a:ext cx="1828800" cy="2788920"/>
          </a:xfrm>
          <a:prstGeom prst="roundRect">
            <a:avLst>
              <a:gd name="adj" fmla="val 5000"/>
            </a:avLst>
          </a:prstGeom>
          <a:solidFill>
            <a:srgbClr val="0F172A"/>
          </a:solidFill>
          <a:ln w="12700">
            <a:solidFill>
              <a:srgbClr val="0F172A"/>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hh33"/>
          <p:cNvSpPr txBox="1"/>
          <p:nvPr/>
        </p:nvSpPr>
        <p:spPr>
          <a:xfrm>
            <a:off x="7022592" y="1289304"/>
            <a:ext cx="1499616" cy="237744"/>
          </a:xfrm>
          <a:prstGeom prst="rect">
            <a:avLst/>
          </a:prstGeom>
          <a:noFill/>
        </p:spPr>
        <p:txBody>
          <a:bodyPr wrap="square" lIns="0" tIns="0" rIns="0" bIns="0" anchor="ctr">
            <a:spAutoFit/>
          </a:bodyPr>
          <a:lstStyle/>
          <a:p>
            <a:pPr algn="l"/>
            <a:r>
              <a:rPr sz="950" b="1">
                <a:solidFill>
                  <a:srgbClr val="A78BFA"/>
                </a:solidFill>
                <a:latin typeface="Calibri"/>
              </a:rPr>
              <a:t>THE COST</a:t>
            </a:r>
          </a:p>
        </p:txBody>
      </p:sp>
      <p:sp>
        <p:nvSpPr>
          <p:cNvPr id="35" name="a3u_cb34"/>
          <p:cNvSpPr txBox="1"/>
          <p:nvPr/>
        </p:nvSpPr>
        <p:spPr>
          <a:xfrm>
            <a:off x="7022592" y="1600200"/>
            <a:ext cx="1499616" cy="402336"/>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A JOIN on every read</a:t>
            </a:r>
          </a:p>
        </p:txBody>
      </p:sp>
      <p:sp>
        <p:nvSpPr>
          <p:cNvPr id="36" name="a3ud90_cb35"/>
          <p:cNvSpPr txBox="1"/>
          <p:nvPr/>
        </p:nvSpPr>
        <p:spPr>
          <a:xfrm>
            <a:off x="7022592" y="2039112"/>
            <a:ext cx="1499616" cy="402336"/>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A transaction on every write</a:t>
            </a:r>
          </a:p>
        </p:txBody>
      </p:sp>
      <p:sp>
        <p:nvSpPr>
          <p:cNvPr id="37" name="a3ud180_cb36"/>
          <p:cNvSpPr txBox="1"/>
          <p:nvPr/>
        </p:nvSpPr>
        <p:spPr>
          <a:xfrm>
            <a:off x="7022592" y="2478024"/>
            <a:ext cx="1499616" cy="402336"/>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An ORM layer to hide it</a:t>
            </a:r>
          </a:p>
        </p:txBody>
      </p:sp>
      <p:sp>
        <p:nvSpPr>
          <p:cNvPr id="38" name="a3ud270_cb37"/>
          <p:cNvSpPr txBox="1"/>
          <p:nvPr/>
        </p:nvSpPr>
        <p:spPr>
          <a:xfrm>
            <a:off x="7022592" y="2916936"/>
            <a:ext cx="1499616" cy="402336"/>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Two models to keep in sync</a:t>
            </a:r>
          </a:p>
        </p:txBody>
      </p:sp>
      <p:sp>
        <p:nvSpPr>
          <p:cNvPr id="39" name="a3ud360_cb38"/>
          <p:cNvSpPr txBox="1"/>
          <p:nvPr/>
        </p:nvSpPr>
        <p:spPr>
          <a:xfrm>
            <a:off x="7022592" y="3355848"/>
            <a:ext cx="1499616" cy="402336"/>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Refactors touch both</a:t>
            </a:r>
          </a:p>
        </p:txBody>
      </p:sp>
      <p:sp>
        <p:nvSpPr>
          <p:cNvPr id="40" name="a4u_nb39"/>
          <p:cNvSpPr/>
          <p:nvPr/>
        </p:nvSpPr>
        <p:spPr>
          <a:xfrm>
            <a:off x="457200" y="4069080"/>
            <a:ext cx="8229600" cy="438912"/>
          </a:xfrm>
          <a:prstGeom prst="roundRect">
            <a:avLst>
              <a:gd name="adj" fmla="val 1666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_nacc40"/>
          <p:cNvSpPr/>
          <p:nvPr/>
        </p:nvSpPr>
        <p:spPr>
          <a:xfrm>
            <a:off x="457200" y="4069080"/>
            <a:ext cx="50292" cy="43891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_nt41"/>
          <p:cNvSpPr txBox="1"/>
          <p:nvPr/>
        </p:nvSpPr>
        <p:spPr>
          <a:xfrm>
            <a:off x="658368" y="4069080"/>
            <a:ext cx="7827264" cy="438912"/>
          </a:xfrm>
          <a:prstGeom prst="rect">
            <a:avLst/>
          </a:prstGeom>
          <a:noFill/>
        </p:spPr>
        <p:txBody>
          <a:bodyPr wrap="square" lIns="0" tIns="0" rIns="0" bIns="0" anchor="ctr">
            <a:spAutoFit/>
          </a:bodyPr>
          <a:lstStyle/>
          <a:p>
            <a:pPr algn="l"/>
            <a:r>
              <a:rPr sz="1050" b="1">
                <a:solidFill>
                  <a:srgbClr val="8B5CF6"/>
                </a:solidFill>
                <a:latin typeface="Calibri"/>
              </a:rPr>
              <a:t>i  </a:t>
            </a:r>
            <a:r>
              <a:rPr sz="1050" b="0">
                <a:solidFill>
                  <a:srgbClr val="334155"/>
                </a:solidFill>
                <a:latin typeface="Calibri"/>
              </a:rPr>
              <a:t>Martin Fowler's phrase: the database and the program disagree about what "a thing" is. NoSQL's first answer was to store the whole object as one unit.</a:t>
            </a:r>
          </a:p>
        </p:txBody>
      </p:sp>
      <p:sp>
        <p:nvSpPr>
          <p:cNvPr id="43" name="ft42"/>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7" presetID="10" presetClass="entr" presetSubtype="0"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20" presetID="22" presetClass="entr" presetSubtype="8" fill="hold" grpId="0" nodeType="withEffect">
                                  <p:stCondLst>
                                    <p:cond delay="6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3" presetID="22" presetClass="entr" presetSubtype="8" fill="hold" grpId="0" nodeType="withEffect">
                                  <p:stCondLst>
                                    <p:cond delay="12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6" presetID="22" presetClass="entr" presetSubtype="8" fill="hold" grpId="0" nodeType="withEffect">
                                  <p:stCondLst>
                                    <p:cond delay="18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9" presetID="22" presetClass="entr" presetSubtype="8" fill="hold" grpId="0" nodeType="withEffect">
                                  <p:stCondLst>
                                    <p:cond delay="24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32" presetID="22" presetClass="entr" presetSubtype="8" fill="hold" grpId="0" nodeType="withEffect">
                                  <p:stCondLst>
                                    <p:cond delay="30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5" presetID="22" presetClass="entr" presetSubtype="8" fill="hold" grpId="0" nodeType="withEffect">
                                  <p:stCondLst>
                                    <p:cond delay="36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8" presetID="22" presetClass="entr" presetSubtype="8" fill="hold" grpId="0" nodeType="withEffect">
                                  <p:stCondLst>
                                    <p:cond delay="42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41" presetID="22" presetClass="entr" presetSubtype="8" fill="hold" grpId="0" nodeType="withEffect">
                                  <p:stCondLst>
                                    <p:cond delay="48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par>
                                <p:cTn id="44" presetID="22" presetClass="entr" presetSubtype="8" fill="hold" grpId="0" nodeType="withEffect">
                                  <p:stCondLst>
                                    <p:cond delay="54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9" presetID="2" presetClass="entr" presetSubtype="4" fill="hold" grpId="0" nodeType="withEffect">
                                  <p:stCondLst>
                                    <p:cond delay="7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ppt_y+0.1"/>
                                          </p:val>
                                        </p:tav>
                                        <p:tav tm="100000">
                                          <p:val>
                                            <p:strVal val="#ppt_y"/>
                                          </p:val>
                                        </p:tav>
                                      </p:tavLst>
                                    </p:anim>
                                    <p:animEffect transition="in" filter="fade">
                                      <p:cBhvr>
                                        <p:cTn id="48"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4" presetID="10"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62" presetID="2" presetClass="entr" presetSubtype="4" fill="hold" grpId="0" nodeType="withEffect">
                                  <p:stCondLst>
                                    <p:cond delay="6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ppt_y+0.1"/>
                                          </p:val>
                                        </p:tav>
                                        <p:tav tm="100000">
                                          <p:val>
                                            <p:strVal val="#ppt_y"/>
                                          </p:val>
                                        </p:tav>
                                      </p:tavLst>
                                    </p:anim>
                                    <p:animEffect transition="in" filter="fade">
                                      <p:cBhvr>
                                        <p:cTn id="61" dur="500"/>
                                        <p:tgtEl>
                                          <p:spTgt spid="19"/>
                                        </p:tgtEl>
                                      </p:cBhvr>
                                    </p:animEffect>
                                  </p:childTnLst>
                                </p:cTn>
                              </p:par>
                              <p:par>
                                <p:cTn id="67" presetID="2" presetClass="entr" presetSubtype="4" fill="hold" grpId="0" nodeType="withEffect">
                                  <p:stCondLst>
                                    <p:cond delay="6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fill="hold"/>
                                        <p:tgtEl>
                                          <p:spTgt spid="20"/>
                                        </p:tgtEl>
                                        <p:attrNameLst>
                                          <p:attrName>ppt_x</p:attrName>
                                        </p:attrNameLst>
                                      </p:cBhvr>
                                      <p:tavLst>
                                        <p:tav tm="0">
                                          <p:val>
                                            <p:strVal val="#ppt_x"/>
                                          </p:val>
                                        </p:tav>
                                        <p:tav tm="100000">
                                          <p:val>
                                            <p:strVal val="#ppt_x"/>
                                          </p:val>
                                        </p:tav>
                                      </p:tavLst>
                                    </p:anim>
                                    <p:anim calcmode="lin" valueType="num">
                                      <p:cBhvr additive="base">
                                        <p:cTn id="65" dur="500" fill="hold"/>
                                        <p:tgtEl>
                                          <p:spTgt spid="20"/>
                                        </p:tgtEl>
                                        <p:attrNameLst>
                                          <p:attrName>ppt_y</p:attrName>
                                        </p:attrNameLst>
                                      </p:cBhvr>
                                      <p:tavLst>
                                        <p:tav tm="0">
                                          <p:val>
                                            <p:strVal val="#ppt_y+0.1"/>
                                          </p:val>
                                        </p:tav>
                                        <p:tav tm="100000">
                                          <p:val>
                                            <p:strVal val="#ppt_y"/>
                                          </p:val>
                                        </p:tav>
                                      </p:tavLst>
                                    </p:anim>
                                    <p:animEffect transition="in" filter="fade">
                                      <p:cBhvr>
                                        <p:cTn id="66" dur="500"/>
                                        <p:tgtEl>
                                          <p:spTgt spid="20"/>
                                        </p:tgtEl>
                                      </p:cBhvr>
                                    </p:animEffect>
                                  </p:childTnLst>
                                </p:cTn>
                              </p:par>
                              <p:par>
                                <p:cTn id="72" presetID="2" presetClass="entr" presetSubtype="4" fill="hold" grpId="0" nodeType="withEffect">
                                  <p:stCondLst>
                                    <p:cond delay="12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p:tgtEl>
                                          <p:spTgt spid="21"/>
                                        </p:tgtEl>
                                        <p:attrNameLst>
                                          <p:attrName>ppt_x</p:attrName>
                                        </p:attrNameLst>
                                      </p:cBhvr>
                                      <p:tavLst>
                                        <p:tav tm="0">
                                          <p:val>
                                            <p:strVal val="#ppt_x"/>
                                          </p:val>
                                        </p:tav>
                                        <p:tav tm="100000">
                                          <p:val>
                                            <p:strVal val="#ppt_x"/>
                                          </p:val>
                                        </p:tav>
                                      </p:tavLst>
                                    </p:anim>
                                    <p:anim calcmode="lin" valueType="num">
                                      <p:cBhvr additive="base">
                                        <p:cTn id="70" dur="500" fill="hold"/>
                                        <p:tgtEl>
                                          <p:spTgt spid="21"/>
                                        </p:tgtEl>
                                        <p:attrNameLst>
                                          <p:attrName>ppt_y</p:attrName>
                                        </p:attrNameLst>
                                      </p:cBhvr>
                                      <p:tavLst>
                                        <p:tav tm="0">
                                          <p:val>
                                            <p:strVal val="#ppt_y+0.1"/>
                                          </p:val>
                                        </p:tav>
                                        <p:tav tm="100000">
                                          <p:val>
                                            <p:strVal val="#ppt_y"/>
                                          </p:val>
                                        </p:tav>
                                      </p:tavLst>
                                    </p:anim>
                                    <p:animEffect transition="in" filter="fade">
                                      <p:cBhvr>
                                        <p:cTn id="71" dur="500"/>
                                        <p:tgtEl>
                                          <p:spTgt spid="21"/>
                                        </p:tgtEl>
                                      </p:cBhvr>
                                    </p:animEffect>
                                  </p:childTnLst>
                                </p:cTn>
                              </p:par>
                              <p:par>
                                <p:cTn id="77" presetID="2" presetClass="entr" presetSubtype="4" fill="hold" grpId="0" nodeType="withEffect">
                                  <p:stCondLst>
                                    <p:cond delay="12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500" fill="hold"/>
                                        <p:tgtEl>
                                          <p:spTgt spid="22"/>
                                        </p:tgtEl>
                                        <p:attrNameLst>
                                          <p:attrName>ppt_x</p:attrName>
                                        </p:attrNameLst>
                                      </p:cBhvr>
                                      <p:tavLst>
                                        <p:tav tm="0">
                                          <p:val>
                                            <p:strVal val="#ppt_x"/>
                                          </p:val>
                                        </p:tav>
                                        <p:tav tm="100000">
                                          <p:val>
                                            <p:strVal val="#ppt_x"/>
                                          </p:val>
                                        </p:tav>
                                      </p:tavLst>
                                    </p:anim>
                                    <p:anim calcmode="lin" valueType="num">
                                      <p:cBhvr additive="base">
                                        <p:cTn id="75" dur="500" fill="hold"/>
                                        <p:tgtEl>
                                          <p:spTgt spid="22"/>
                                        </p:tgtEl>
                                        <p:attrNameLst>
                                          <p:attrName>ppt_y</p:attrName>
                                        </p:attrNameLst>
                                      </p:cBhvr>
                                      <p:tavLst>
                                        <p:tav tm="0">
                                          <p:val>
                                            <p:strVal val="#ppt_y+0.1"/>
                                          </p:val>
                                        </p:tav>
                                        <p:tav tm="100000">
                                          <p:val>
                                            <p:strVal val="#ppt_y"/>
                                          </p:val>
                                        </p:tav>
                                      </p:tavLst>
                                    </p:anim>
                                    <p:animEffect transition="in" filter="fade">
                                      <p:cBhvr>
                                        <p:cTn id="76" dur="500"/>
                                        <p:tgtEl>
                                          <p:spTgt spid="22"/>
                                        </p:tgtEl>
                                      </p:cBhvr>
                                    </p:animEffect>
                                  </p:childTnLst>
                                </p:cTn>
                              </p:par>
                              <p:par>
                                <p:cTn id="82" presetID="2" presetClass="entr" presetSubtype="4" fill="hold" grpId="0" nodeType="withEffect">
                                  <p:stCondLst>
                                    <p:cond delay="12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ppt_x"/>
                                          </p:val>
                                        </p:tav>
                                        <p:tav tm="100000">
                                          <p:val>
                                            <p:strVal val="#ppt_x"/>
                                          </p:val>
                                        </p:tav>
                                      </p:tavLst>
                                    </p:anim>
                                    <p:anim calcmode="lin" valueType="num">
                                      <p:cBhvr additive="base">
                                        <p:cTn id="80" dur="500" fill="hold"/>
                                        <p:tgtEl>
                                          <p:spTgt spid="23"/>
                                        </p:tgtEl>
                                        <p:attrNameLst>
                                          <p:attrName>ppt_y</p:attrName>
                                        </p:attrNameLst>
                                      </p:cBhvr>
                                      <p:tavLst>
                                        <p:tav tm="0">
                                          <p:val>
                                            <p:strVal val="#ppt_y+0.1"/>
                                          </p:val>
                                        </p:tav>
                                        <p:tav tm="100000">
                                          <p:val>
                                            <p:strVal val="#ppt_y"/>
                                          </p:val>
                                        </p:tav>
                                      </p:tavLst>
                                    </p:anim>
                                    <p:animEffect transition="in" filter="fade">
                                      <p:cBhvr>
                                        <p:cTn id="81" dur="500"/>
                                        <p:tgtEl>
                                          <p:spTgt spid="23"/>
                                        </p:tgtEl>
                                      </p:cBhvr>
                                    </p:animEffect>
                                  </p:childTnLst>
                                </p:cTn>
                              </p:par>
                              <p:par>
                                <p:cTn id="87" presetID="2" presetClass="entr" presetSubtype="4" fill="hold" grpId="0" nodeType="withEffect">
                                  <p:stCondLst>
                                    <p:cond delay="21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500" fill="hold"/>
                                        <p:tgtEl>
                                          <p:spTgt spid="24"/>
                                        </p:tgtEl>
                                        <p:attrNameLst>
                                          <p:attrName>ppt_x</p:attrName>
                                        </p:attrNameLst>
                                      </p:cBhvr>
                                      <p:tavLst>
                                        <p:tav tm="0">
                                          <p:val>
                                            <p:strVal val="#ppt_x"/>
                                          </p:val>
                                        </p:tav>
                                        <p:tav tm="100000">
                                          <p:val>
                                            <p:strVal val="#ppt_x"/>
                                          </p:val>
                                        </p:tav>
                                      </p:tavLst>
                                    </p:anim>
                                    <p:anim calcmode="lin" valueType="num">
                                      <p:cBhvr additive="base">
                                        <p:cTn id="85" dur="500" fill="hold"/>
                                        <p:tgtEl>
                                          <p:spTgt spid="24"/>
                                        </p:tgtEl>
                                        <p:attrNameLst>
                                          <p:attrName>ppt_y</p:attrName>
                                        </p:attrNameLst>
                                      </p:cBhvr>
                                      <p:tavLst>
                                        <p:tav tm="0">
                                          <p:val>
                                            <p:strVal val="#ppt_y+0.1"/>
                                          </p:val>
                                        </p:tav>
                                        <p:tav tm="100000">
                                          <p:val>
                                            <p:strVal val="#ppt_y"/>
                                          </p:val>
                                        </p:tav>
                                      </p:tavLst>
                                    </p:anim>
                                    <p:animEffect transition="in" filter="fade">
                                      <p:cBhvr>
                                        <p:cTn id="86" dur="500"/>
                                        <p:tgtEl>
                                          <p:spTgt spid="24"/>
                                        </p:tgtEl>
                                      </p:cBhvr>
                                    </p:animEffect>
                                  </p:childTnLst>
                                </p:cTn>
                              </p:par>
                              <p:par>
                                <p:cTn id="92" presetID="2" presetClass="entr" presetSubtype="4" fill="hold" grpId="0" nodeType="withEffect">
                                  <p:stCondLst>
                                    <p:cond delay="21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00" fill="hold"/>
                                        <p:tgtEl>
                                          <p:spTgt spid="25"/>
                                        </p:tgtEl>
                                        <p:attrNameLst>
                                          <p:attrName>ppt_x</p:attrName>
                                        </p:attrNameLst>
                                      </p:cBhvr>
                                      <p:tavLst>
                                        <p:tav tm="0">
                                          <p:val>
                                            <p:strVal val="#ppt_x"/>
                                          </p:val>
                                        </p:tav>
                                        <p:tav tm="100000">
                                          <p:val>
                                            <p:strVal val="#ppt_x"/>
                                          </p:val>
                                        </p:tav>
                                      </p:tavLst>
                                    </p:anim>
                                    <p:anim calcmode="lin" valueType="num">
                                      <p:cBhvr additive="base">
                                        <p:cTn id="90" dur="500" fill="hold"/>
                                        <p:tgtEl>
                                          <p:spTgt spid="25"/>
                                        </p:tgtEl>
                                        <p:attrNameLst>
                                          <p:attrName>ppt_y</p:attrName>
                                        </p:attrNameLst>
                                      </p:cBhvr>
                                      <p:tavLst>
                                        <p:tav tm="0">
                                          <p:val>
                                            <p:strVal val="#ppt_y+0.1"/>
                                          </p:val>
                                        </p:tav>
                                        <p:tav tm="100000">
                                          <p:val>
                                            <p:strVal val="#ppt_y"/>
                                          </p:val>
                                        </p:tav>
                                      </p:tavLst>
                                    </p:anim>
                                    <p:animEffect transition="in" filter="fade">
                                      <p:cBhvr>
                                        <p:cTn id="91" dur="500"/>
                                        <p:tgtEl>
                                          <p:spTgt spid="25"/>
                                        </p:tgtEl>
                                      </p:cBhvr>
                                    </p:animEffect>
                                  </p:childTnLst>
                                </p:cTn>
                              </p:par>
                              <p:par>
                                <p:cTn id="97" presetID="2" presetClass="entr" presetSubtype="4" fill="hold" grpId="0" nodeType="withEffect">
                                  <p:stCondLst>
                                    <p:cond delay="21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500" fill="hold"/>
                                        <p:tgtEl>
                                          <p:spTgt spid="26"/>
                                        </p:tgtEl>
                                        <p:attrNameLst>
                                          <p:attrName>ppt_x</p:attrName>
                                        </p:attrNameLst>
                                      </p:cBhvr>
                                      <p:tavLst>
                                        <p:tav tm="0">
                                          <p:val>
                                            <p:strVal val="#ppt_x"/>
                                          </p:val>
                                        </p:tav>
                                        <p:tav tm="100000">
                                          <p:val>
                                            <p:strVal val="#ppt_x"/>
                                          </p:val>
                                        </p:tav>
                                      </p:tavLst>
                                    </p:anim>
                                    <p:anim calcmode="lin" valueType="num">
                                      <p:cBhvr additive="base">
                                        <p:cTn id="95" dur="500" fill="hold"/>
                                        <p:tgtEl>
                                          <p:spTgt spid="26"/>
                                        </p:tgtEl>
                                        <p:attrNameLst>
                                          <p:attrName>ppt_y</p:attrName>
                                        </p:attrNameLst>
                                      </p:cBhvr>
                                      <p:tavLst>
                                        <p:tav tm="0">
                                          <p:val>
                                            <p:strVal val="#ppt_y+0.1"/>
                                          </p:val>
                                        </p:tav>
                                        <p:tav tm="100000">
                                          <p:val>
                                            <p:strVal val="#ppt_y"/>
                                          </p:val>
                                        </p:tav>
                                      </p:tavLst>
                                    </p:anim>
                                    <p:animEffect transition="in" filter="fade">
                                      <p:cBhvr>
                                        <p:cTn id="96" dur="500"/>
                                        <p:tgtEl>
                                          <p:spTgt spid="26"/>
                                        </p:tgtEl>
                                      </p:cBhvr>
                                    </p:animEffect>
                                  </p:childTnLst>
                                </p:cTn>
                              </p:par>
                              <p:par>
                                <p:cTn id="102" presetID="2" presetClass="entr" presetSubtype="4" fill="hold" grpId="0" nodeType="withEffect">
                                  <p:stCondLst>
                                    <p:cond delay="30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00" fill="hold"/>
                                        <p:tgtEl>
                                          <p:spTgt spid="27"/>
                                        </p:tgtEl>
                                        <p:attrNameLst>
                                          <p:attrName>ppt_x</p:attrName>
                                        </p:attrNameLst>
                                      </p:cBhvr>
                                      <p:tavLst>
                                        <p:tav tm="0">
                                          <p:val>
                                            <p:strVal val="#ppt_x"/>
                                          </p:val>
                                        </p:tav>
                                        <p:tav tm="100000">
                                          <p:val>
                                            <p:strVal val="#ppt_x"/>
                                          </p:val>
                                        </p:tav>
                                      </p:tavLst>
                                    </p:anim>
                                    <p:anim calcmode="lin" valueType="num">
                                      <p:cBhvr additive="base">
                                        <p:cTn id="100" dur="500" fill="hold"/>
                                        <p:tgtEl>
                                          <p:spTgt spid="27"/>
                                        </p:tgtEl>
                                        <p:attrNameLst>
                                          <p:attrName>ppt_y</p:attrName>
                                        </p:attrNameLst>
                                      </p:cBhvr>
                                      <p:tavLst>
                                        <p:tav tm="0">
                                          <p:val>
                                            <p:strVal val="#ppt_y+0.1"/>
                                          </p:val>
                                        </p:tav>
                                        <p:tav tm="100000">
                                          <p:val>
                                            <p:strVal val="#ppt_y"/>
                                          </p:val>
                                        </p:tav>
                                      </p:tavLst>
                                    </p:anim>
                                    <p:animEffect transition="in" filter="fade">
                                      <p:cBhvr>
                                        <p:cTn id="101" dur="500"/>
                                        <p:tgtEl>
                                          <p:spTgt spid="27"/>
                                        </p:tgtEl>
                                      </p:cBhvr>
                                    </p:animEffect>
                                  </p:childTnLst>
                                </p:cTn>
                              </p:par>
                              <p:par>
                                <p:cTn id="107" presetID="2" presetClass="entr" presetSubtype="4" fill="hold" grpId="0" nodeType="withEffect">
                                  <p:stCondLst>
                                    <p:cond delay="300"/>
                                  </p:stCondLst>
                                  <p:childTnLst>
                                    <p:set>
                                      <p:cBhvr>
                                        <p:cTn id="103" dur="1" fill="hold">
                                          <p:stCondLst>
                                            <p:cond delay="0"/>
                                          </p:stCondLst>
                                        </p:cTn>
                                        <p:tgtEl>
                                          <p:spTgt spid="28"/>
                                        </p:tgtEl>
                                        <p:attrNameLst>
                                          <p:attrName>style.visibility</p:attrName>
                                        </p:attrNameLst>
                                      </p:cBhvr>
                                      <p:to>
                                        <p:strVal val="visible"/>
                                      </p:to>
                                    </p:set>
                                    <p:anim calcmode="lin" valueType="num">
                                      <p:cBhvr additive="base">
                                        <p:cTn id="104" dur="500" fill="hold"/>
                                        <p:tgtEl>
                                          <p:spTgt spid="28"/>
                                        </p:tgtEl>
                                        <p:attrNameLst>
                                          <p:attrName>ppt_x</p:attrName>
                                        </p:attrNameLst>
                                      </p:cBhvr>
                                      <p:tavLst>
                                        <p:tav tm="0">
                                          <p:val>
                                            <p:strVal val="#ppt_x"/>
                                          </p:val>
                                        </p:tav>
                                        <p:tav tm="100000">
                                          <p:val>
                                            <p:strVal val="#ppt_x"/>
                                          </p:val>
                                        </p:tav>
                                      </p:tavLst>
                                    </p:anim>
                                    <p:anim calcmode="lin" valueType="num">
                                      <p:cBhvr additive="base">
                                        <p:cTn id="105" dur="500" fill="hold"/>
                                        <p:tgtEl>
                                          <p:spTgt spid="28"/>
                                        </p:tgtEl>
                                        <p:attrNameLst>
                                          <p:attrName>ppt_y</p:attrName>
                                        </p:attrNameLst>
                                      </p:cBhvr>
                                      <p:tavLst>
                                        <p:tav tm="0">
                                          <p:val>
                                            <p:strVal val="#ppt_y+0.1"/>
                                          </p:val>
                                        </p:tav>
                                        <p:tav tm="100000">
                                          <p:val>
                                            <p:strVal val="#ppt_y"/>
                                          </p:val>
                                        </p:tav>
                                      </p:tavLst>
                                    </p:anim>
                                    <p:animEffect transition="in" filter="fade">
                                      <p:cBhvr>
                                        <p:cTn id="106" dur="500"/>
                                        <p:tgtEl>
                                          <p:spTgt spid="28"/>
                                        </p:tgtEl>
                                      </p:cBhvr>
                                    </p:animEffect>
                                  </p:childTnLst>
                                </p:cTn>
                              </p:par>
                              <p:par>
                                <p:cTn id="112" presetID="2" presetClass="entr" presetSubtype="4" fill="hold" grpId="0" nodeType="withEffect">
                                  <p:stCondLst>
                                    <p:cond delay="30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00" fill="hold"/>
                                        <p:tgtEl>
                                          <p:spTgt spid="29"/>
                                        </p:tgtEl>
                                        <p:attrNameLst>
                                          <p:attrName>ppt_x</p:attrName>
                                        </p:attrNameLst>
                                      </p:cBhvr>
                                      <p:tavLst>
                                        <p:tav tm="0">
                                          <p:val>
                                            <p:strVal val="#ppt_x"/>
                                          </p:val>
                                        </p:tav>
                                        <p:tav tm="100000">
                                          <p:val>
                                            <p:strVal val="#ppt_x"/>
                                          </p:val>
                                        </p:tav>
                                      </p:tavLst>
                                    </p:anim>
                                    <p:anim calcmode="lin" valueType="num">
                                      <p:cBhvr additive="base">
                                        <p:cTn id="110" dur="500" fill="hold"/>
                                        <p:tgtEl>
                                          <p:spTgt spid="29"/>
                                        </p:tgtEl>
                                        <p:attrNameLst>
                                          <p:attrName>ppt_y</p:attrName>
                                        </p:attrNameLst>
                                      </p:cBhvr>
                                      <p:tavLst>
                                        <p:tav tm="0">
                                          <p:val>
                                            <p:strVal val="#ppt_y+0.1"/>
                                          </p:val>
                                        </p:tav>
                                        <p:tav tm="100000">
                                          <p:val>
                                            <p:strVal val="#ppt_y"/>
                                          </p:val>
                                        </p:tav>
                                      </p:tavLst>
                                    </p:anim>
                                    <p:animEffect transition="in" filter="fade">
                                      <p:cBhvr>
                                        <p:cTn id="111" dur="500"/>
                                        <p:tgtEl>
                                          <p:spTgt spid="29"/>
                                        </p:tgtEl>
                                      </p:cBhvr>
                                    </p:animEffect>
                                  </p:childTnLst>
                                </p:cTn>
                              </p:par>
                              <p:par>
                                <p:cTn id="117" presetID="2" presetClass="entr" presetSubtype="4" fill="hold" grpId="0" nodeType="withEffect">
                                  <p:stCondLst>
                                    <p:cond delay="390"/>
                                  </p:stCondLst>
                                  <p:childTnLst>
                                    <p:set>
                                      <p:cBhvr>
                                        <p:cTn id="113" dur="1" fill="hold">
                                          <p:stCondLst>
                                            <p:cond delay="0"/>
                                          </p:stCondLst>
                                        </p:cTn>
                                        <p:tgtEl>
                                          <p:spTgt spid="30"/>
                                        </p:tgtEl>
                                        <p:attrNameLst>
                                          <p:attrName>style.visibility</p:attrName>
                                        </p:attrNameLst>
                                      </p:cBhvr>
                                      <p:to>
                                        <p:strVal val="visible"/>
                                      </p:to>
                                    </p:set>
                                    <p:anim calcmode="lin" valueType="num">
                                      <p:cBhvr additive="base">
                                        <p:cTn id="114" dur="500" fill="hold"/>
                                        <p:tgtEl>
                                          <p:spTgt spid="30"/>
                                        </p:tgtEl>
                                        <p:attrNameLst>
                                          <p:attrName>ppt_x</p:attrName>
                                        </p:attrNameLst>
                                      </p:cBhvr>
                                      <p:tavLst>
                                        <p:tav tm="0">
                                          <p:val>
                                            <p:strVal val="#ppt_x"/>
                                          </p:val>
                                        </p:tav>
                                        <p:tav tm="100000">
                                          <p:val>
                                            <p:strVal val="#ppt_x"/>
                                          </p:val>
                                        </p:tav>
                                      </p:tavLst>
                                    </p:anim>
                                    <p:anim calcmode="lin" valueType="num">
                                      <p:cBhvr additive="base">
                                        <p:cTn id="115" dur="500" fill="hold"/>
                                        <p:tgtEl>
                                          <p:spTgt spid="30"/>
                                        </p:tgtEl>
                                        <p:attrNameLst>
                                          <p:attrName>ppt_y</p:attrName>
                                        </p:attrNameLst>
                                      </p:cBhvr>
                                      <p:tavLst>
                                        <p:tav tm="0">
                                          <p:val>
                                            <p:strVal val="#ppt_y+0.1"/>
                                          </p:val>
                                        </p:tav>
                                        <p:tav tm="100000">
                                          <p:val>
                                            <p:strVal val="#ppt_y"/>
                                          </p:val>
                                        </p:tav>
                                      </p:tavLst>
                                    </p:anim>
                                    <p:animEffect transition="in" filter="fade">
                                      <p:cBhvr>
                                        <p:cTn id="116" dur="500"/>
                                        <p:tgtEl>
                                          <p:spTgt spid="30"/>
                                        </p:tgtEl>
                                      </p:cBhvr>
                                    </p:animEffect>
                                  </p:childTnLst>
                                </p:cTn>
                              </p:par>
                              <p:par>
                                <p:cTn id="122" presetID="2" presetClass="entr" presetSubtype="4" fill="hold" grpId="0" nodeType="withEffect">
                                  <p:stCondLst>
                                    <p:cond delay="39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00" fill="hold"/>
                                        <p:tgtEl>
                                          <p:spTgt spid="31"/>
                                        </p:tgtEl>
                                        <p:attrNameLst>
                                          <p:attrName>ppt_x</p:attrName>
                                        </p:attrNameLst>
                                      </p:cBhvr>
                                      <p:tavLst>
                                        <p:tav tm="0">
                                          <p:val>
                                            <p:strVal val="#ppt_x"/>
                                          </p:val>
                                        </p:tav>
                                        <p:tav tm="100000">
                                          <p:val>
                                            <p:strVal val="#ppt_x"/>
                                          </p:val>
                                        </p:tav>
                                      </p:tavLst>
                                    </p:anim>
                                    <p:anim calcmode="lin" valueType="num">
                                      <p:cBhvr additive="base">
                                        <p:cTn id="120" dur="500" fill="hold"/>
                                        <p:tgtEl>
                                          <p:spTgt spid="31"/>
                                        </p:tgtEl>
                                        <p:attrNameLst>
                                          <p:attrName>ppt_y</p:attrName>
                                        </p:attrNameLst>
                                      </p:cBhvr>
                                      <p:tavLst>
                                        <p:tav tm="0">
                                          <p:val>
                                            <p:strVal val="#ppt_y+0.1"/>
                                          </p:val>
                                        </p:tav>
                                        <p:tav tm="100000">
                                          <p:val>
                                            <p:strVal val="#ppt_y"/>
                                          </p:val>
                                        </p:tav>
                                      </p:tavLst>
                                    </p:anim>
                                    <p:animEffect transition="in" filter="fade">
                                      <p:cBhvr>
                                        <p:cTn id="121" dur="500"/>
                                        <p:tgtEl>
                                          <p:spTgt spid="31"/>
                                        </p:tgtEl>
                                      </p:cBhvr>
                                    </p:animEffect>
                                  </p:childTnLst>
                                </p:cTn>
                              </p:par>
                              <p:par>
                                <p:cTn id="127" presetID="2" presetClass="entr" presetSubtype="4" fill="hold" grpId="0" nodeType="withEffect">
                                  <p:stCondLst>
                                    <p:cond delay="390"/>
                                  </p:stCondLst>
                                  <p:childTnLst>
                                    <p:set>
                                      <p:cBhvr>
                                        <p:cTn id="123" dur="1" fill="hold">
                                          <p:stCondLst>
                                            <p:cond delay="0"/>
                                          </p:stCondLst>
                                        </p:cTn>
                                        <p:tgtEl>
                                          <p:spTgt spid="32"/>
                                        </p:tgtEl>
                                        <p:attrNameLst>
                                          <p:attrName>style.visibility</p:attrName>
                                        </p:attrNameLst>
                                      </p:cBhvr>
                                      <p:to>
                                        <p:strVal val="visible"/>
                                      </p:to>
                                    </p:set>
                                    <p:anim calcmode="lin" valueType="num">
                                      <p:cBhvr additive="base">
                                        <p:cTn id="124" dur="500" fill="hold"/>
                                        <p:tgtEl>
                                          <p:spTgt spid="32"/>
                                        </p:tgtEl>
                                        <p:attrNameLst>
                                          <p:attrName>ppt_x</p:attrName>
                                        </p:attrNameLst>
                                      </p:cBhvr>
                                      <p:tavLst>
                                        <p:tav tm="0">
                                          <p:val>
                                            <p:strVal val="#ppt_x"/>
                                          </p:val>
                                        </p:tav>
                                        <p:tav tm="100000">
                                          <p:val>
                                            <p:strVal val="#ppt_x"/>
                                          </p:val>
                                        </p:tav>
                                      </p:tavLst>
                                    </p:anim>
                                    <p:anim calcmode="lin" valueType="num">
                                      <p:cBhvr additive="base">
                                        <p:cTn id="125" dur="500" fill="hold"/>
                                        <p:tgtEl>
                                          <p:spTgt spid="32"/>
                                        </p:tgtEl>
                                        <p:attrNameLst>
                                          <p:attrName>ppt_y</p:attrName>
                                        </p:attrNameLst>
                                      </p:cBhvr>
                                      <p:tavLst>
                                        <p:tav tm="0">
                                          <p:val>
                                            <p:strVal val="#ppt_y+0.1"/>
                                          </p:val>
                                        </p:tav>
                                        <p:tav tm="100000">
                                          <p:val>
                                            <p:strVal val="#ppt_y"/>
                                          </p:val>
                                        </p:tav>
                                      </p:tavLst>
                                    </p:anim>
                                    <p:animEffect transition="in" filter="fade">
                                      <p:cBhvr>
                                        <p:cTn id="126" dur="500"/>
                                        <p:tgtEl>
                                          <p:spTgt spid="32"/>
                                        </p:tgtEl>
                                      </p:cBhvr>
                                    </p:animEffect>
                                  </p:childTnLst>
                                </p:cTn>
                              </p:par>
                            </p:childTnLst>
                          </p:cTn>
                        </p:par>
                      </p:childTnLst>
                    </p:cTn>
                  </p:par>
                  <p:par>
                    <p:cTn id="128" fill="hold">
                      <p:stCondLst>
                        <p:cond delay="indefinite"/>
                      </p:stCondLst>
                      <p:childTnLst>
                        <p:par>
                          <p:cTn id="129" fill="hold">
                            <p:stCondLst>
                              <p:cond delay="0"/>
                            </p:stCondLst>
                            <p:childTnLst>
                              <p:par>
                                <p:cTn id="134" presetID="2" presetClass="entr" presetSubtype="4" fill="hold" grpId="0" nodeType="clickEffect">
                                  <p:stCondLst>
                                    <p:cond delay="0"/>
                                  </p:stCondLst>
                                  <p:childTnLst>
                                    <p:set>
                                      <p:cBhvr>
                                        <p:cTn id="130" dur="1" fill="hold">
                                          <p:stCondLst>
                                            <p:cond delay="0"/>
                                          </p:stCondLst>
                                        </p:cTn>
                                        <p:tgtEl>
                                          <p:spTgt spid="33"/>
                                        </p:tgtEl>
                                        <p:attrNameLst>
                                          <p:attrName>style.visibility</p:attrName>
                                        </p:attrNameLst>
                                      </p:cBhvr>
                                      <p:to>
                                        <p:strVal val="visible"/>
                                      </p:to>
                                    </p:set>
                                    <p:anim calcmode="lin" valueType="num">
                                      <p:cBhvr additive="base">
                                        <p:cTn id="131" dur="500" fill="hold"/>
                                        <p:tgtEl>
                                          <p:spTgt spid="33"/>
                                        </p:tgtEl>
                                        <p:attrNameLst>
                                          <p:attrName>ppt_x</p:attrName>
                                        </p:attrNameLst>
                                      </p:cBhvr>
                                      <p:tavLst>
                                        <p:tav tm="0">
                                          <p:val>
                                            <p:strVal val="#ppt_x"/>
                                          </p:val>
                                        </p:tav>
                                        <p:tav tm="100000">
                                          <p:val>
                                            <p:strVal val="#ppt_x"/>
                                          </p:val>
                                        </p:tav>
                                      </p:tavLst>
                                    </p:anim>
                                    <p:anim calcmode="lin" valueType="num">
                                      <p:cBhvr additive="base">
                                        <p:cTn id="132" dur="500" fill="hold"/>
                                        <p:tgtEl>
                                          <p:spTgt spid="33"/>
                                        </p:tgtEl>
                                        <p:attrNameLst>
                                          <p:attrName>ppt_y</p:attrName>
                                        </p:attrNameLst>
                                      </p:cBhvr>
                                      <p:tavLst>
                                        <p:tav tm="0">
                                          <p:val>
                                            <p:strVal val="#ppt_y+0.1"/>
                                          </p:val>
                                        </p:tav>
                                        <p:tav tm="100000">
                                          <p:val>
                                            <p:strVal val="#ppt_y"/>
                                          </p:val>
                                        </p:tav>
                                      </p:tavLst>
                                    </p:anim>
                                    <p:animEffect transition="in" filter="fade">
                                      <p:cBhvr>
                                        <p:cTn id="133" dur="500"/>
                                        <p:tgtEl>
                                          <p:spTgt spid="33"/>
                                        </p:tgtEl>
                                      </p:cBhvr>
                                    </p:animEffect>
                                  </p:childTnLst>
                                </p:cTn>
                              </p:par>
                              <p:par>
                                <p:cTn id="139" presetID="2" presetClass="entr" presetSubtype="4" fill="hold" grpId="0" nodeType="withEffect">
                                  <p:stCondLst>
                                    <p:cond delay="0"/>
                                  </p:stCondLst>
                                  <p:childTnLst>
                                    <p:set>
                                      <p:cBhvr>
                                        <p:cTn id="135" dur="1" fill="hold">
                                          <p:stCondLst>
                                            <p:cond delay="0"/>
                                          </p:stCondLst>
                                        </p:cTn>
                                        <p:tgtEl>
                                          <p:spTgt spid="34"/>
                                        </p:tgtEl>
                                        <p:attrNameLst>
                                          <p:attrName>style.visibility</p:attrName>
                                        </p:attrNameLst>
                                      </p:cBhvr>
                                      <p:to>
                                        <p:strVal val="visible"/>
                                      </p:to>
                                    </p:set>
                                    <p:anim calcmode="lin" valueType="num">
                                      <p:cBhvr additive="base">
                                        <p:cTn id="136" dur="500" fill="hold"/>
                                        <p:tgtEl>
                                          <p:spTgt spid="34"/>
                                        </p:tgtEl>
                                        <p:attrNameLst>
                                          <p:attrName>ppt_x</p:attrName>
                                        </p:attrNameLst>
                                      </p:cBhvr>
                                      <p:tavLst>
                                        <p:tav tm="0">
                                          <p:val>
                                            <p:strVal val="#ppt_x"/>
                                          </p:val>
                                        </p:tav>
                                        <p:tav tm="100000">
                                          <p:val>
                                            <p:strVal val="#ppt_x"/>
                                          </p:val>
                                        </p:tav>
                                      </p:tavLst>
                                    </p:anim>
                                    <p:anim calcmode="lin" valueType="num">
                                      <p:cBhvr additive="base">
                                        <p:cTn id="137" dur="500" fill="hold"/>
                                        <p:tgtEl>
                                          <p:spTgt spid="34"/>
                                        </p:tgtEl>
                                        <p:attrNameLst>
                                          <p:attrName>ppt_y</p:attrName>
                                        </p:attrNameLst>
                                      </p:cBhvr>
                                      <p:tavLst>
                                        <p:tav tm="0">
                                          <p:val>
                                            <p:strVal val="#ppt_y+0.1"/>
                                          </p:val>
                                        </p:tav>
                                        <p:tav tm="100000">
                                          <p:val>
                                            <p:strVal val="#ppt_y"/>
                                          </p:val>
                                        </p:tav>
                                      </p:tavLst>
                                    </p:anim>
                                    <p:animEffect transition="in" filter="fade">
                                      <p:cBhvr>
                                        <p:cTn id="138" dur="500"/>
                                        <p:tgtEl>
                                          <p:spTgt spid="34"/>
                                        </p:tgtEl>
                                      </p:cBhvr>
                                    </p:animEffect>
                                  </p:childTnLst>
                                </p:cTn>
                              </p:par>
                              <p:par>
                                <p:cTn id="144" presetID="2" presetClass="entr" presetSubtype="4" fill="hold" grpId="0" nodeType="withEffect">
                                  <p:stCondLst>
                                    <p:cond delay="0"/>
                                  </p:stCondLst>
                                  <p:childTnLst>
                                    <p:set>
                                      <p:cBhvr>
                                        <p:cTn id="140" dur="1" fill="hold">
                                          <p:stCondLst>
                                            <p:cond delay="0"/>
                                          </p:stCondLst>
                                        </p:cTn>
                                        <p:tgtEl>
                                          <p:spTgt spid="35"/>
                                        </p:tgtEl>
                                        <p:attrNameLst>
                                          <p:attrName>style.visibility</p:attrName>
                                        </p:attrNameLst>
                                      </p:cBhvr>
                                      <p:to>
                                        <p:strVal val="visible"/>
                                      </p:to>
                                    </p:set>
                                    <p:anim calcmode="lin" valueType="num">
                                      <p:cBhvr additive="base">
                                        <p:cTn id="141" dur="500" fill="hold"/>
                                        <p:tgtEl>
                                          <p:spTgt spid="35"/>
                                        </p:tgtEl>
                                        <p:attrNameLst>
                                          <p:attrName>ppt_x</p:attrName>
                                        </p:attrNameLst>
                                      </p:cBhvr>
                                      <p:tavLst>
                                        <p:tav tm="0">
                                          <p:val>
                                            <p:strVal val="#ppt_x"/>
                                          </p:val>
                                        </p:tav>
                                        <p:tav tm="100000">
                                          <p:val>
                                            <p:strVal val="#ppt_x"/>
                                          </p:val>
                                        </p:tav>
                                      </p:tavLst>
                                    </p:anim>
                                    <p:anim calcmode="lin" valueType="num">
                                      <p:cBhvr additive="base">
                                        <p:cTn id="142" dur="500" fill="hold"/>
                                        <p:tgtEl>
                                          <p:spTgt spid="35"/>
                                        </p:tgtEl>
                                        <p:attrNameLst>
                                          <p:attrName>ppt_y</p:attrName>
                                        </p:attrNameLst>
                                      </p:cBhvr>
                                      <p:tavLst>
                                        <p:tav tm="0">
                                          <p:val>
                                            <p:strVal val="#ppt_y+0.1"/>
                                          </p:val>
                                        </p:tav>
                                        <p:tav tm="100000">
                                          <p:val>
                                            <p:strVal val="#ppt_y"/>
                                          </p:val>
                                        </p:tav>
                                      </p:tavLst>
                                    </p:anim>
                                    <p:animEffect transition="in" filter="fade">
                                      <p:cBhvr>
                                        <p:cTn id="143" dur="500"/>
                                        <p:tgtEl>
                                          <p:spTgt spid="35"/>
                                        </p:tgtEl>
                                      </p:cBhvr>
                                    </p:animEffect>
                                  </p:childTnLst>
                                </p:cTn>
                              </p:par>
                              <p:par>
                                <p:cTn id="149" presetID="2" presetClass="entr" presetSubtype="4" fill="hold" grpId="0" nodeType="withEffect">
                                  <p:stCondLst>
                                    <p:cond delay="90"/>
                                  </p:stCondLst>
                                  <p:childTnLst>
                                    <p:set>
                                      <p:cBhvr>
                                        <p:cTn id="145" dur="1" fill="hold">
                                          <p:stCondLst>
                                            <p:cond delay="0"/>
                                          </p:stCondLst>
                                        </p:cTn>
                                        <p:tgtEl>
                                          <p:spTgt spid="36"/>
                                        </p:tgtEl>
                                        <p:attrNameLst>
                                          <p:attrName>style.visibility</p:attrName>
                                        </p:attrNameLst>
                                      </p:cBhvr>
                                      <p:to>
                                        <p:strVal val="visible"/>
                                      </p:to>
                                    </p:set>
                                    <p:anim calcmode="lin" valueType="num">
                                      <p:cBhvr additive="base">
                                        <p:cTn id="146" dur="500" fill="hold"/>
                                        <p:tgtEl>
                                          <p:spTgt spid="36"/>
                                        </p:tgtEl>
                                        <p:attrNameLst>
                                          <p:attrName>ppt_x</p:attrName>
                                        </p:attrNameLst>
                                      </p:cBhvr>
                                      <p:tavLst>
                                        <p:tav tm="0">
                                          <p:val>
                                            <p:strVal val="#ppt_x"/>
                                          </p:val>
                                        </p:tav>
                                        <p:tav tm="100000">
                                          <p:val>
                                            <p:strVal val="#ppt_x"/>
                                          </p:val>
                                        </p:tav>
                                      </p:tavLst>
                                    </p:anim>
                                    <p:anim calcmode="lin" valueType="num">
                                      <p:cBhvr additive="base">
                                        <p:cTn id="147" dur="500" fill="hold"/>
                                        <p:tgtEl>
                                          <p:spTgt spid="36"/>
                                        </p:tgtEl>
                                        <p:attrNameLst>
                                          <p:attrName>ppt_y</p:attrName>
                                        </p:attrNameLst>
                                      </p:cBhvr>
                                      <p:tavLst>
                                        <p:tav tm="0">
                                          <p:val>
                                            <p:strVal val="#ppt_y+0.1"/>
                                          </p:val>
                                        </p:tav>
                                        <p:tav tm="100000">
                                          <p:val>
                                            <p:strVal val="#ppt_y"/>
                                          </p:val>
                                        </p:tav>
                                      </p:tavLst>
                                    </p:anim>
                                    <p:animEffect transition="in" filter="fade">
                                      <p:cBhvr>
                                        <p:cTn id="148" dur="500"/>
                                        <p:tgtEl>
                                          <p:spTgt spid="36"/>
                                        </p:tgtEl>
                                      </p:cBhvr>
                                    </p:animEffect>
                                  </p:childTnLst>
                                </p:cTn>
                              </p:par>
                              <p:par>
                                <p:cTn id="154" presetID="2" presetClass="entr" presetSubtype="4" fill="hold" grpId="0" nodeType="withEffect">
                                  <p:stCondLst>
                                    <p:cond delay="180"/>
                                  </p:stCondLst>
                                  <p:childTnLst>
                                    <p:set>
                                      <p:cBhvr>
                                        <p:cTn id="150" dur="1" fill="hold">
                                          <p:stCondLst>
                                            <p:cond delay="0"/>
                                          </p:stCondLst>
                                        </p:cTn>
                                        <p:tgtEl>
                                          <p:spTgt spid="37"/>
                                        </p:tgtEl>
                                        <p:attrNameLst>
                                          <p:attrName>style.visibility</p:attrName>
                                        </p:attrNameLst>
                                      </p:cBhvr>
                                      <p:to>
                                        <p:strVal val="visible"/>
                                      </p:to>
                                    </p:set>
                                    <p:anim calcmode="lin" valueType="num">
                                      <p:cBhvr additive="base">
                                        <p:cTn id="151" dur="500" fill="hold"/>
                                        <p:tgtEl>
                                          <p:spTgt spid="37"/>
                                        </p:tgtEl>
                                        <p:attrNameLst>
                                          <p:attrName>ppt_x</p:attrName>
                                        </p:attrNameLst>
                                      </p:cBhvr>
                                      <p:tavLst>
                                        <p:tav tm="0">
                                          <p:val>
                                            <p:strVal val="#ppt_x"/>
                                          </p:val>
                                        </p:tav>
                                        <p:tav tm="100000">
                                          <p:val>
                                            <p:strVal val="#ppt_x"/>
                                          </p:val>
                                        </p:tav>
                                      </p:tavLst>
                                    </p:anim>
                                    <p:anim calcmode="lin" valueType="num">
                                      <p:cBhvr additive="base">
                                        <p:cTn id="152" dur="500" fill="hold"/>
                                        <p:tgtEl>
                                          <p:spTgt spid="37"/>
                                        </p:tgtEl>
                                        <p:attrNameLst>
                                          <p:attrName>ppt_y</p:attrName>
                                        </p:attrNameLst>
                                      </p:cBhvr>
                                      <p:tavLst>
                                        <p:tav tm="0">
                                          <p:val>
                                            <p:strVal val="#ppt_y+0.1"/>
                                          </p:val>
                                        </p:tav>
                                        <p:tav tm="100000">
                                          <p:val>
                                            <p:strVal val="#ppt_y"/>
                                          </p:val>
                                        </p:tav>
                                      </p:tavLst>
                                    </p:anim>
                                    <p:animEffect transition="in" filter="fade">
                                      <p:cBhvr>
                                        <p:cTn id="153" dur="500"/>
                                        <p:tgtEl>
                                          <p:spTgt spid="37"/>
                                        </p:tgtEl>
                                      </p:cBhvr>
                                    </p:animEffect>
                                  </p:childTnLst>
                                </p:cTn>
                              </p:par>
                              <p:par>
                                <p:cTn id="159" presetID="2" presetClass="entr" presetSubtype="4" fill="hold" grpId="0" nodeType="withEffect">
                                  <p:stCondLst>
                                    <p:cond delay="270"/>
                                  </p:stCondLst>
                                  <p:childTnLst>
                                    <p:set>
                                      <p:cBhvr>
                                        <p:cTn id="155" dur="1" fill="hold">
                                          <p:stCondLst>
                                            <p:cond delay="0"/>
                                          </p:stCondLst>
                                        </p:cTn>
                                        <p:tgtEl>
                                          <p:spTgt spid="38"/>
                                        </p:tgtEl>
                                        <p:attrNameLst>
                                          <p:attrName>style.visibility</p:attrName>
                                        </p:attrNameLst>
                                      </p:cBhvr>
                                      <p:to>
                                        <p:strVal val="visible"/>
                                      </p:to>
                                    </p:set>
                                    <p:anim calcmode="lin" valueType="num">
                                      <p:cBhvr additive="base">
                                        <p:cTn id="156" dur="500" fill="hold"/>
                                        <p:tgtEl>
                                          <p:spTgt spid="38"/>
                                        </p:tgtEl>
                                        <p:attrNameLst>
                                          <p:attrName>ppt_x</p:attrName>
                                        </p:attrNameLst>
                                      </p:cBhvr>
                                      <p:tavLst>
                                        <p:tav tm="0">
                                          <p:val>
                                            <p:strVal val="#ppt_x"/>
                                          </p:val>
                                        </p:tav>
                                        <p:tav tm="100000">
                                          <p:val>
                                            <p:strVal val="#ppt_x"/>
                                          </p:val>
                                        </p:tav>
                                      </p:tavLst>
                                    </p:anim>
                                    <p:anim calcmode="lin" valueType="num">
                                      <p:cBhvr additive="base">
                                        <p:cTn id="157" dur="500" fill="hold"/>
                                        <p:tgtEl>
                                          <p:spTgt spid="38"/>
                                        </p:tgtEl>
                                        <p:attrNameLst>
                                          <p:attrName>ppt_y</p:attrName>
                                        </p:attrNameLst>
                                      </p:cBhvr>
                                      <p:tavLst>
                                        <p:tav tm="0">
                                          <p:val>
                                            <p:strVal val="#ppt_y+0.1"/>
                                          </p:val>
                                        </p:tav>
                                        <p:tav tm="100000">
                                          <p:val>
                                            <p:strVal val="#ppt_y"/>
                                          </p:val>
                                        </p:tav>
                                      </p:tavLst>
                                    </p:anim>
                                    <p:animEffect transition="in" filter="fade">
                                      <p:cBhvr>
                                        <p:cTn id="158" dur="500"/>
                                        <p:tgtEl>
                                          <p:spTgt spid="38"/>
                                        </p:tgtEl>
                                      </p:cBhvr>
                                    </p:animEffect>
                                  </p:childTnLst>
                                </p:cTn>
                              </p:par>
                              <p:par>
                                <p:cTn id="164" presetID="2" presetClass="entr" presetSubtype="4" fill="hold" grpId="0" nodeType="withEffect">
                                  <p:stCondLst>
                                    <p:cond delay="360"/>
                                  </p:stCondLst>
                                  <p:childTnLst>
                                    <p:set>
                                      <p:cBhvr>
                                        <p:cTn id="160" dur="1" fill="hold">
                                          <p:stCondLst>
                                            <p:cond delay="0"/>
                                          </p:stCondLst>
                                        </p:cTn>
                                        <p:tgtEl>
                                          <p:spTgt spid="39"/>
                                        </p:tgtEl>
                                        <p:attrNameLst>
                                          <p:attrName>style.visibility</p:attrName>
                                        </p:attrNameLst>
                                      </p:cBhvr>
                                      <p:to>
                                        <p:strVal val="visible"/>
                                      </p:to>
                                    </p:set>
                                    <p:anim calcmode="lin" valueType="num">
                                      <p:cBhvr additive="base">
                                        <p:cTn id="161" dur="500" fill="hold"/>
                                        <p:tgtEl>
                                          <p:spTgt spid="39"/>
                                        </p:tgtEl>
                                        <p:attrNameLst>
                                          <p:attrName>ppt_x</p:attrName>
                                        </p:attrNameLst>
                                      </p:cBhvr>
                                      <p:tavLst>
                                        <p:tav tm="0">
                                          <p:val>
                                            <p:strVal val="#ppt_x"/>
                                          </p:val>
                                        </p:tav>
                                        <p:tav tm="100000">
                                          <p:val>
                                            <p:strVal val="#ppt_x"/>
                                          </p:val>
                                        </p:tav>
                                      </p:tavLst>
                                    </p:anim>
                                    <p:anim calcmode="lin" valueType="num">
                                      <p:cBhvr additive="base">
                                        <p:cTn id="162" dur="500" fill="hold"/>
                                        <p:tgtEl>
                                          <p:spTgt spid="39"/>
                                        </p:tgtEl>
                                        <p:attrNameLst>
                                          <p:attrName>ppt_y</p:attrName>
                                        </p:attrNameLst>
                                      </p:cBhvr>
                                      <p:tavLst>
                                        <p:tav tm="0">
                                          <p:val>
                                            <p:strVal val="#ppt_y+0.1"/>
                                          </p:val>
                                        </p:tav>
                                        <p:tav tm="100000">
                                          <p:val>
                                            <p:strVal val="#ppt_y"/>
                                          </p:val>
                                        </p:tav>
                                      </p:tavLst>
                                    </p:anim>
                                    <p:animEffect transition="in" filter="fade">
                                      <p:cBhvr>
                                        <p:cTn id="163" dur="500"/>
                                        <p:tgtEl>
                                          <p:spTgt spid="39"/>
                                        </p:tgtEl>
                                      </p:cBhvr>
                                    </p:animEffect>
                                  </p:childTnLst>
                                </p:cTn>
                              </p:par>
                            </p:childTnLst>
                          </p:cTn>
                        </p:par>
                      </p:childTnLst>
                    </p:cTn>
                  </p:par>
                  <p:par>
                    <p:cTn id="165" fill="hold">
                      <p:stCondLst>
                        <p:cond delay="indefinite"/>
                      </p:stCondLst>
                      <p:childTnLst>
                        <p:par>
                          <p:cTn id="166" fill="hold">
                            <p:stCondLst>
                              <p:cond delay="0"/>
                            </p:stCondLst>
                            <p:childTnLst>
                              <p:par>
                                <p:cTn id="171" presetID="2" presetClass="entr" presetSubtype="4" fill="hold" grpId="0" nodeType="clickEffect">
                                  <p:stCondLst>
                                    <p:cond delay="0"/>
                                  </p:stCondLst>
                                  <p:childTnLst>
                                    <p:set>
                                      <p:cBhvr>
                                        <p:cTn id="167" dur="1" fill="hold">
                                          <p:stCondLst>
                                            <p:cond delay="0"/>
                                          </p:stCondLst>
                                        </p:cTn>
                                        <p:tgtEl>
                                          <p:spTgt spid="40"/>
                                        </p:tgtEl>
                                        <p:attrNameLst>
                                          <p:attrName>style.visibility</p:attrName>
                                        </p:attrNameLst>
                                      </p:cBhvr>
                                      <p:to>
                                        <p:strVal val="visible"/>
                                      </p:to>
                                    </p:set>
                                    <p:anim calcmode="lin" valueType="num">
                                      <p:cBhvr additive="base">
                                        <p:cTn id="168" dur="500" fill="hold"/>
                                        <p:tgtEl>
                                          <p:spTgt spid="40"/>
                                        </p:tgtEl>
                                        <p:attrNameLst>
                                          <p:attrName>ppt_x</p:attrName>
                                        </p:attrNameLst>
                                      </p:cBhvr>
                                      <p:tavLst>
                                        <p:tav tm="0">
                                          <p:val>
                                            <p:strVal val="#ppt_x"/>
                                          </p:val>
                                        </p:tav>
                                        <p:tav tm="100000">
                                          <p:val>
                                            <p:strVal val="#ppt_x"/>
                                          </p:val>
                                        </p:tav>
                                      </p:tavLst>
                                    </p:anim>
                                    <p:anim calcmode="lin" valueType="num">
                                      <p:cBhvr additive="base">
                                        <p:cTn id="169" dur="500" fill="hold"/>
                                        <p:tgtEl>
                                          <p:spTgt spid="40"/>
                                        </p:tgtEl>
                                        <p:attrNameLst>
                                          <p:attrName>ppt_y</p:attrName>
                                        </p:attrNameLst>
                                      </p:cBhvr>
                                      <p:tavLst>
                                        <p:tav tm="0">
                                          <p:val>
                                            <p:strVal val="#ppt_y+0.1"/>
                                          </p:val>
                                        </p:tav>
                                        <p:tav tm="100000">
                                          <p:val>
                                            <p:strVal val="#ppt_y"/>
                                          </p:val>
                                        </p:tav>
                                      </p:tavLst>
                                    </p:anim>
                                    <p:animEffect transition="in" filter="fade">
                                      <p:cBhvr>
                                        <p:cTn id="170" dur="500"/>
                                        <p:tgtEl>
                                          <p:spTgt spid="40"/>
                                        </p:tgtEl>
                                      </p:cBhvr>
                                    </p:animEffect>
                                  </p:childTnLst>
                                </p:cTn>
                              </p:par>
                              <p:par>
                                <p:cTn id="176" presetID="2" presetClass="entr" presetSubtype="4" fill="hold" grpId="0" nodeType="withEffect">
                                  <p:stCondLst>
                                    <p:cond delay="0"/>
                                  </p:stCondLst>
                                  <p:childTnLst>
                                    <p:set>
                                      <p:cBhvr>
                                        <p:cTn id="172" dur="1" fill="hold">
                                          <p:stCondLst>
                                            <p:cond delay="0"/>
                                          </p:stCondLst>
                                        </p:cTn>
                                        <p:tgtEl>
                                          <p:spTgt spid="41"/>
                                        </p:tgtEl>
                                        <p:attrNameLst>
                                          <p:attrName>style.visibility</p:attrName>
                                        </p:attrNameLst>
                                      </p:cBhvr>
                                      <p:to>
                                        <p:strVal val="visible"/>
                                      </p:to>
                                    </p:set>
                                    <p:anim calcmode="lin" valueType="num">
                                      <p:cBhvr additive="base">
                                        <p:cTn id="173" dur="500" fill="hold"/>
                                        <p:tgtEl>
                                          <p:spTgt spid="41"/>
                                        </p:tgtEl>
                                        <p:attrNameLst>
                                          <p:attrName>ppt_x</p:attrName>
                                        </p:attrNameLst>
                                      </p:cBhvr>
                                      <p:tavLst>
                                        <p:tav tm="0">
                                          <p:val>
                                            <p:strVal val="#ppt_x"/>
                                          </p:val>
                                        </p:tav>
                                        <p:tav tm="100000">
                                          <p:val>
                                            <p:strVal val="#ppt_x"/>
                                          </p:val>
                                        </p:tav>
                                      </p:tavLst>
                                    </p:anim>
                                    <p:anim calcmode="lin" valueType="num">
                                      <p:cBhvr additive="base">
                                        <p:cTn id="174" dur="500" fill="hold"/>
                                        <p:tgtEl>
                                          <p:spTgt spid="41"/>
                                        </p:tgtEl>
                                        <p:attrNameLst>
                                          <p:attrName>ppt_y</p:attrName>
                                        </p:attrNameLst>
                                      </p:cBhvr>
                                      <p:tavLst>
                                        <p:tav tm="0">
                                          <p:val>
                                            <p:strVal val="#ppt_y+0.1"/>
                                          </p:val>
                                        </p:tav>
                                        <p:tav tm="100000">
                                          <p:val>
                                            <p:strVal val="#ppt_y"/>
                                          </p:val>
                                        </p:tav>
                                      </p:tavLst>
                                    </p:anim>
                                    <p:animEffect transition="in" filter="fade">
                                      <p:cBhvr>
                                        <p:cTn id="175" dur="500"/>
                                        <p:tgtEl>
                                          <p:spTgt spid="41"/>
                                        </p:tgtEl>
                                      </p:cBhvr>
                                    </p:animEffect>
                                  </p:childTnLst>
                                </p:cTn>
                              </p:par>
                              <p:par>
                                <p:cTn id="181" presetID="2" presetClass="entr" presetSubtype="4" fill="hold" grpId="0" nodeType="withEffect">
                                  <p:stCondLst>
                                    <p:cond delay="0"/>
                                  </p:stCondLst>
                                  <p:childTnLst>
                                    <p:set>
                                      <p:cBhvr>
                                        <p:cTn id="177" dur="1" fill="hold">
                                          <p:stCondLst>
                                            <p:cond delay="0"/>
                                          </p:stCondLst>
                                        </p:cTn>
                                        <p:tgtEl>
                                          <p:spTgt spid="42"/>
                                        </p:tgtEl>
                                        <p:attrNameLst>
                                          <p:attrName>style.visibility</p:attrName>
                                        </p:attrNameLst>
                                      </p:cBhvr>
                                      <p:to>
                                        <p:strVal val="visible"/>
                                      </p:to>
                                    </p:set>
                                    <p:anim calcmode="lin" valueType="num">
                                      <p:cBhvr additive="base">
                                        <p:cTn id="178" dur="500" fill="hold"/>
                                        <p:tgtEl>
                                          <p:spTgt spid="42"/>
                                        </p:tgtEl>
                                        <p:attrNameLst>
                                          <p:attrName>ppt_x</p:attrName>
                                        </p:attrNameLst>
                                      </p:cBhvr>
                                      <p:tavLst>
                                        <p:tav tm="0">
                                          <p:val>
                                            <p:strVal val="#ppt_x"/>
                                          </p:val>
                                        </p:tav>
                                        <p:tav tm="100000">
                                          <p:val>
                                            <p:strVal val="#ppt_x"/>
                                          </p:val>
                                        </p:tav>
                                      </p:tavLst>
                                    </p:anim>
                                    <p:anim calcmode="lin" valueType="num">
                                      <p:cBhvr additive="base">
                                        <p:cTn id="179" dur="500" fill="hold"/>
                                        <p:tgtEl>
                                          <p:spTgt spid="42"/>
                                        </p:tgtEl>
                                        <p:attrNameLst>
                                          <p:attrName>ppt_y</p:attrName>
                                        </p:attrNameLst>
                                      </p:cBhvr>
                                      <p:tavLst>
                                        <p:tav tm="0">
                                          <p:val>
                                            <p:strVal val="#ppt_y+0.1"/>
                                          </p:val>
                                        </p:tav>
                                        <p:tav tm="100000">
                                          <p:val>
                                            <p:strVal val="#ppt_y"/>
                                          </p:val>
                                        </p:tav>
                                      </p:tavLst>
                                    </p:anim>
                                    <p:animEffect transition="in" filter="fade">
                                      <p:cBhvr>
                                        <p:cTn id="18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Pressure 2 · Scale Up Has a Ceiling</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The single most important technical driver behind the whole movement</a:t>
            </a:r>
          </a:p>
        </p:txBody>
      </p:sp>
      <p:sp>
        <p:nvSpPr>
          <p:cNvPr id="4" name="a1u_card3"/>
          <p:cNvSpPr/>
          <p:nvPr/>
        </p:nvSpPr>
        <p:spPr>
          <a:xfrm>
            <a:off x="457200" y="1170432"/>
            <a:ext cx="3931920" cy="2423160"/>
          </a:xfrm>
          <a:prstGeom prst="roundRect">
            <a:avLst>
              <a:gd name="adj" fmla="val 377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58368" y="1307592"/>
            <a:ext cx="3566160" cy="256032"/>
          </a:xfrm>
          <a:prstGeom prst="rect">
            <a:avLst/>
          </a:prstGeom>
          <a:noFill/>
        </p:spPr>
        <p:txBody>
          <a:bodyPr wrap="square" lIns="0" tIns="0" rIns="0" bIns="0" anchor="ctr">
            <a:spAutoFit/>
          </a:bodyPr>
          <a:lstStyle/>
          <a:p>
            <a:pPr algn="l"/>
            <a:r>
              <a:rPr sz="1100" b="1">
                <a:solidFill>
                  <a:srgbClr val="B45309"/>
                </a:solidFill>
                <a:latin typeface="Courier New"/>
              </a:rPr>
              <a:t>SCALE UP  ·  vertical</a:t>
            </a:r>
          </a:p>
        </p:txBody>
      </p:sp>
      <p:sp>
        <p:nvSpPr>
          <p:cNvPr id="6" name="a1ud120_bx5"/>
          <p:cNvSpPr/>
          <p:nvPr/>
        </p:nvSpPr>
        <p:spPr>
          <a:xfrm>
            <a:off x="822960" y="2404872"/>
            <a:ext cx="502920" cy="502920"/>
          </a:xfrm>
          <a:prstGeom prst="roundRect">
            <a:avLst>
              <a:gd name="adj" fmla="val 10909"/>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120_bl6"/>
          <p:cNvSpPr txBox="1"/>
          <p:nvPr/>
        </p:nvSpPr>
        <p:spPr>
          <a:xfrm>
            <a:off x="822960" y="2953512"/>
            <a:ext cx="502920" cy="219456"/>
          </a:xfrm>
          <a:prstGeom prst="rect">
            <a:avLst/>
          </a:prstGeom>
          <a:noFill/>
        </p:spPr>
        <p:txBody>
          <a:bodyPr wrap="square" lIns="0" tIns="0" rIns="0" bIns="0" anchor="ctr">
            <a:spAutoFit/>
          </a:bodyPr>
          <a:lstStyle/>
          <a:p>
            <a:pPr algn="ctr"/>
            <a:r>
              <a:rPr sz="1000" b="1">
                <a:solidFill>
                  <a:srgbClr val="B45309"/>
                </a:solidFill>
                <a:latin typeface="Calibri"/>
              </a:rPr>
              <a:t>$</a:t>
            </a:r>
          </a:p>
        </p:txBody>
      </p:sp>
      <p:sp>
        <p:nvSpPr>
          <p:cNvPr id="8" name="a1ud260_bx7"/>
          <p:cNvSpPr/>
          <p:nvPr/>
        </p:nvSpPr>
        <p:spPr>
          <a:xfrm>
            <a:off x="1965960" y="2176272"/>
            <a:ext cx="685800" cy="7315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ud260_bl8"/>
          <p:cNvSpPr txBox="1"/>
          <p:nvPr/>
        </p:nvSpPr>
        <p:spPr>
          <a:xfrm>
            <a:off x="1965960" y="2953512"/>
            <a:ext cx="685800" cy="219456"/>
          </a:xfrm>
          <a:prstGeom prst="rect">
            <a:avLst/>
          </a:prstGeom>
          <a:noFill/>
        </p:spPr>
        <p:txBody>
          <a:bodyPr wrap="square" lIns="0" tIns="0" rIns="0" bIns="0" anchor="ctr">
            <a:spAutoFit/>
          </a:bodyPr>
          <a:lstStyle/>
          <a:p>
            <a:pPr algn="ctr"/>
            <a:r>
              <a:rPr sz="1000" b="1">
                <a:solidFill>
                  <a:srgbClr val="B45309"/>
                </a:solidFill>
                <a:latin typeface="Calibri"/>
              </a:rPr>
              <a:t>$$$</a:t>
            </a:r>
          </a:p>
        </p:txBody>
      </p:sp>
      <p:sp>
        <p:nvSpPr>
          <p:cNvPr id="10" name="a1ud400_bx9"/>
          <p:cNvSpPr/>
          <p:nvPr/>
        </p:nvSpPr>
        <p:spPr>
          <a:xfrm>
            <a:off x="3108960" y="1856231"/>
            <a:ext cx="914400" cy="1051560"/>
          </a:xfrm>
          <a:prstGeom prst="roundRect">
            <a:avLst>
              <a:gd name="adj" fmla="val 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400_bl10"/>
          <p:cNvSpPr txBox="1"/>
          <p:nvPr/>
        </p:nvSpPr>
        <p:spPr>
          <a:xfrm>
            <a:off x="3108960" y="2953512"/>
            <a:ext cx="914400" cy="219456"/>
          </a:xfrm>
          <a:prstGeom prst="rect">
            <a:avLst/>
          </a:prstGeom>
          <a:noFill/>
        </p:spPr>
        <p:txBody>
          <a:bodyPr wrap="square" lIns="0" tIns="0" rIns="0" bIns="0" anchor="ctr">
            <a:spAutoFit/>
          </a:bodyPr>
          <a:lstStyle/>
          <a:p>
            <a:pPr algn="ctr"/>
            <a:r>
              <a:rPr sz="1000" b="1">
                <a:solidFill>
                  <a:srgbClr val="B45309"/>
                </a:solidFill>
                <a:latin typeface="Calibri"/>
              </a:rPr>
              <a:t>$$$$$</a:t>
            </a:r>
          </a:p>
        </p:txBody>
      </p:sp>
      <p:sp>
        <p:nvSpPr>
          <p:cNvPr id="12" name="a1ud560_cap11"/>
          <p:cNvSpPr txBox="1"/>
          <p:nvPr/>
        </p:nvSpPr>
        <p:spPr>
          <a:xfrm>
            <a:off x="658368" y="3209544"/>
            <a:ext cx="3566160" cy="310896"/>
          </a:xfrm>
          <a:prstGeom prst="rect">
            <a:avLst/>
          </a:prstGeom>
          <a:noFill/>
        </p:spPr>
        <p:txBody>
          <a:bodyPr wrap="square" lIns="0" tIns="0" rIns="0" bIns="0" anchor="t">
            <a:spAutoFit/>
          </a:bodyPr>
          <a:lstStyle/>
          <a:p>
            <a:pPr algn="l"/>
            <a:r>
              <a:rPr sz="1050" b="0">
                <a:solidFill>
                  <a:srgbClr val="334155"/>
                </a:solidFill>
                <a:latin typeface="Calibri"/>
              </a:rPr>
              <a:t>One bigger machine. Simple, but the price curve is exponential and there is a last model.</a:t>
            </a:r>
          </a:p>
        </p:txBody>
      </p:sp>
      <p:sp>
        <p:nvSpPr>
          <p:cNvPr id="13" name="a2u_card12"/>
          <p:cNvSpPr/>
          <p:nvPr/>
        </p:nvSpPr>
        <p:spPr>
          <a:xfrm>
            <a:off x="4754880" y="1170432"/>
            <a:ext cx="3931920" cy="2423160"/>
          </a:xfrm>
          <a:prstGeom prst="roundRect">
            <a:avLst>
              <a:gd name="adj" fmla="val 377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_hh13"/>
          <p:cNvSpPr txBox="1"/>
          <p:nvPr/>
        </p:nvSpPr>
        <p:spPr>
          <a:xfrm>
            <a:off x="4956048" y="1307592"/>
            <a:ext cx="3566160" cy="256032"/>
          </a:xfrm>
          <a:prstGeom prst="rect">
            <a:avLst/>
          </a:prstGeom>
          <a:noFill/>
        </p:spPr>
        <p:txBody>
          <a:bodyPr wrap="square" lIns="0" tIns="0" rIns="0" bIns="0" anchor="ctr">
            <a:spAutoFit/>
          </a:bodyPr>
          <a:lstStyle/>
          <a:p>
            <a:pPr algn="l"/>
            <a:r>
              <a:rPr sz="1100" b="1">
                <a:solidFill>
                  <a:srgbClr val="0F766E"/>
                </a:solidFill>
                <a:latin typeface="Courier New"/>
              </a:rPr>
              <a:t>SCALE OUT  ·  horizontal</a:t>
            </a:r>
          </a:p>
        </p:txBody>
      </p:sp>
      <p:sp>
        <p:nvSpPr>
          <p:cNvPr id="15" name="a2u_nd14"/>
          <p:cNvSpPr/>
          <p:nvPr/>
        </p:nvSpPr>
        <p:spPr>
          <a:xfrm>
            <a:off x="5074920" y="181051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ndt15"/>
          <p:cNvSpPr txBox="1"/>
          <p:nvPr/>
        </p:nvSpPr>
        <p:spPr>
          <a:xfrm>
            <a:off x="5074920" y="181051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17" name="a2ud80_nd16"/>
          <p:cNvSpPr/>
          <p:nvPr/>
        </p:nvSpPr>
        <p:spPr>
          <a:xfrm>
            <a:off x="5678424" y="181051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ud80_ndt17"/>
          <p:cNvSpPr txBox="1"/>
          <p:nvPr/>
        </p:nvSpPr>
        <p:spPr>
          <a:xfrm>
            <a:off x="5678424" y="181051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19" name="a2ud160_nd18"/>
          <p:cNvSpPr/>
          <p:nvPr/>
        </p:nvSpPr>
        <p:spPr>
          <a:xfrm>
            <a:off x="6281928" y="181051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d160_ndt19"/>
          <p:cNvSpPr txBox="1"/>
          <p:nvPr/>
        </p:nvSpPr>
        <p:spPr>
          <a:xfrm>
            <a:off x="6281928" y="181051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21" name="a2ud240_nd20"/>
          <p:cNvSpPr/>
          <p:nvPr/>
        </p:nvSpPr>
        <p:spPr>
          <a:xfrm>
            <a:off x="6885431" y="181051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240_ndt21"/>
          <p:cNvSpPr txBox="1"/>
          <p:nvPr/>
        </p:nvSpPr>
        <p:spPr>
          <a:xfrm>
            <a:off x="6885431" y="181051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23" name="a2ud320_nd22"/>
          <p:cNvSpPr/>
          <p:nvPr/>
        </p:nvSpPr>
        <p:spPr>
          <a:xfrm>
            <a:off x="5074920" y="235915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320_ndt23"/>
          <p:cNvSpPr txBox="1"/>
          <p:nvPr/>
        </p:nvSpPr>
        <p:spPr>
          <a:xfrm>
            <a:off x="5074920" y="235915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25" name="a2ud400_nd24"/>
          <p:cNvSpPr/>
          <p:nvPr/>
        </p:nvSpPr>
        <p:spPr>
          <a:xfrm>
            <a:off x="5678424" y="235915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400_ndt25"/>
          <p:cNvSpPr txBox="1"/>
          <p:nvPr/>
        </p:nvSpPr>
        <p:spPr>
          <a:xfrm>
            <a:off x="5678424" y="235915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27" name="a2ud480_nd26"/>
          <p:cNvSpPr/>
          <p:nvPr/>
        </p:nvSpPr>
        <p:spPr>
          <a:xfrm>
            <a:off x="6281928" y="235915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480_ndt27"/>
          <p:cNvSpPr txBox="1"/>
          <p:nvPr/>
        </p:nvSpPr>
        <p:spPr>
          <a:xfrm>
            <a:off x="6281928" y="235915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29" name="a2ud560_nd28"/>
          <p:cNvSpPr/>
          <p:nvPr/>
        </p:nvSpPr>
        <p:spPr>
          <a:xfrm>
            <a:off x="6885431" y="2359152"/>
            <a:ext cx="493776" cy="457200"/>
          </a:xfrm>
          <a:prstGeom prst="roundRect">
            <a:avLst>
              <a:gd name="adj" fmla="val 12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560_ndt29"/>
          <p:cNvSpPr txBox="1"/>
          <p:nvPr/>
        </p:nvSpPr>
        <p:spPr>
          <a:xfrm>
            <a:off x="6885431" y="2359152"/>
            <a:ext cx="493776" cy="457200"/>
          </a:xfrm>
          <a:prstGeom prst="rect">
            <a:avLst/>
          </a:prstGeom>
          <a:noFill/>
        </p:spPr>
        <p:txBody>
          <a:bodyPr wrap="square" lIns="0" tIns="0" rIns="0" bIns="0" anchor="ctr">
            <a:spAutoFit/>
          </a:bodyPr>
          <a:lstStyle/>
          <a:p>
            <a:pPr algn="ctr"/>
            <a:r>
              <a:rPr sz="1300" b="0">
                <a:solidFill>
                  <a:srgbClr val="0F766E"/>
                </a:solidFill>
                <a:latin typeface="Calibri"/>
              </a:rPr>
              <a:t>▪</a:t>
            </a:r>
          </a:p>
        </p:txBody>
      </p:sp>
      <p:sp>
        <p:nvSpPr>
          <p:cNvPr id="31" name="a2ud700_ml30"/>
          <p:cNvSpPr txBox="1"/>
          <p:nvPr/>
        </p:nvSpPr>
        <p:spPr>
          <a:xfrm>
            <a:off x="7589520" y="1856232"/>
            <a:ext cx="960120" cy="914400"/>
          </a:xfrm>
          <a:prstGeom prst="rect">
            <a:avLst/>
          </a:prstGeom>
          <a:noFill/>
        </p:spPr>
        <p:txBody>
          <a:bodyPr wrap="square" lIns="0" tIns="0" rIns="0" bIns="0" anchor="ctr">
            <a:spAutoFit/>
          </a:bodyPr>
          <a:lstStyle/>
          <a:p>
            <a:pPr algn="l"/>
            <a:r>
              <a:rPr sz="1000" b="1">
                <a:solidFill>
                  <a:srgbClr val="0F766E"/>
                </a:solidFill>
                <a:latin typeface="Calibri"/>
              </a:rPr>
              <a:t>add
more
cheap
nodes</a:t>
            </a:r>
          </a:p>
        </p:txBody>
      </p:sp>
      <p:sp>
        <p:nvSpPr>
          <p:cNvPr id="32" name="a2ud740_cap31"/>
          <p:cNvSpPr txBox="1"/>
          <p:nvPr/>
        </p:nvSpPr>
        <p:spPr>
          <a:xfrm>
            <a:off x="4956048" y="3209544"/>
            <a:ext cx="3566160" cy="310896"/>
          </a:xfrm>
          <a:prstGeom prst="rect">
            <a:avLst/>
          </a:prstGeom>
          <a:noFill/>
        </p:spPr>
        <p:txBody>
          <a:bodyPr wrap="square" lIns="0" tIns="0" rIns="0" bIns="0" anchor="t">
            <a:spAutoFit/>
          </a:bodyPr>
          <a:lstStyle/>
          <a:p>
            <a:pPr algn="l"/>
            <a:r>
              <a:rPr sz="1050" b="0">
                <a:solidFill>
                  <a:srgbClr val="334155"/>
                </a:solidFill>
                <a:latin typeface="Calibri"/>
              </a:rPr>
              <a:t>Many ordinary machines. Cheap and elastic - but now the data has to be split and copied.</a:t>
            </a:r>
          </a:p>
        </p:txBody>
      </p:sp>
      <p:sp>
        <p:nvSpPr>
          <p:cNvPr id="33" name="a3u_nb32"/>
          <p:cNvSpPr/>
          <p:nvPr/>
        </p:nvSpPr>
        <p:spPr>
          <a:xfrm>
            <a:off x="457200" y="3703320"/>
            <a:ext cx="8229600" cy="530352"/>
          </a:xfrm>
          <a:prstGeom prst="roundRect">
            <a:avLst>
              <a:gd name="adj" fmla="val 1379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nacc33"/>
          <p:cNvSpPr/>
          <p:nvPr/>
        </p:nvSpPr>
        <p:spPr>
          <a:xfrm>
            <a:off x="457200" y="3703320"/>
            <a:ext cx="50292" cy="5303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nt34"/>
          <p:cNvSpPr txBox="1"/>
          <p:nvPr/>
        </p:nvSpPr>
        <p:spPr>
          <a:xfrm>
            <a:off x="658368" y="3703320"/>
            <a:ext cx="7827264" cy="530352"/>
          </a:xfrm>
          <a:prstGeom prst="rect">
            <a:avLst/>
          </a:prstGeom>
          <a:noFill/>
        </p:spPr>
        <p:txBody>
          <a:bodyPr wrap="square" lIns="0" tIns="0" rIns="0" bIns="0" anchor="ctr">
            <a:spAutoFit/>
          </a:bodyPr>
          <a:lstStyle/>
          <a:p>
            <a:pPr algn="l"/>
            <a:r>
              <a:rPr sz="1050" b="1">
                <a:solidFill>
                  <a:srgbClr val="0F766E"/>
                </a:solidFill>
                <a:latin typeface="Calibri"/>
              </a:rPr>
              <a:t>KEY  </a:t>
            </a:r>
            <a:r>
              <a:rPr sz="1050" b="0">
                <a:solidFill>
                  <a:srgbClr val="334155"/>
                </a:solidFill>
                <a:latin typeface="Calibri"/>
              </a:rPr>
              <a:t>Relational databases were designed for one machine. Sharding and replicating them is possible, but joins and transactions across nodes are the part that hurts. NoSQL databases were born on the cluster instead of being retrofitted onto it.</a:t>
            </a:r>
          </a:p>
        </p:txBody>
      </p:sp>
      <p:sp>
        <p:nvSpPr>
          <p:cNvPr id="36" name="ft3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7" name="ft3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12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26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26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4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56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8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8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16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16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24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par>
                                <p:cTn id="101" presetID="2" presetClass="entr" presetSubtype="4" fill="hold" grpId="0" nodeType="withEffect">
                                  <p:stCondLst>
                                    <p:cond delay="24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1"/>
                                          </p:val>
                                        </p:tav>
                                        <p:tav tm="100000">
                                          <p:val>
                                            <p:strVal val="#ppt_y"/>
                                          </p:val>
                                        </p:tav>
                                      </p:tavLst>
                                    </p:anim>
                                    <p:animEffect transition="in" filter="fade">
                                      <p:cBhvr>
                                        <p:cTn id="100" dur="500"/>
                                        <p:tgtEl>
                                          <p:spTgt spid="22"/>
                                        </p:tgtEl>
                                      </p:cBhvr>
                                    </p:animEffect>
                                  </p:childTnLst>
                                </p:cTn>
                              </p:par>
                              <p:par>
                                <p:cTn id="106" presetID="2" presetClass="entr" presetSubtype="4" fill="hold" grpId="0" nodeType="withEffect">
                                  <p:stCondLst>
                                    <p:cond delay="32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ppt_x</p:attrName>
                                        </p:attrNameLst>
                                      </p:cBhvr>
                                      <p:tavLst>
                                        <p:tav tm="0">
                                          <p:val>
                                            <p:strVal val="#ppt_x"/>
                                          </p:val>
                                        </p:tav>
                                        <p:tav tm="100000">
                                          <p:val>
                                            <p:strVal val="#ppt_x"/>
                                          </p:val>
                                        </p:tav>
                                      </p:tavLst>
                                    </p:anim>
                                    <p:anim calcmode="lin" valueType="num">
                                      <p:cBhvr additive="base">
                                        <p:cTn id="104" dur="500" fill="hold"/>
                                        <p:tgtEl>
                                          <p:spTgt spid="23"/>
                                        </p:tgtEl>
                                        <p:attrNameLst>
                                          <p:attrName>ppt_y</p:attrName>
                                        </p:attrNameLst>
                                      </p:cBhvr>
                                      <p:tavLst>
                                        <p:tav tm="0">
                                          <p:val>
                                            <p:strVal val="#ppt_y+0.1"/>
                                          </p:val>
                                        </p:tav>
                                        <p:tav tm="100000">
                                          <p:val>
                                            <p:strVal val="#ppt_y"/>
                                          </p:val>
                                        </p:tav>
                                      </p:tavLst>
                                    </p:anim>
                                    <p:animEffect transition="in" filter="fade">
                                      <p:cBhvr>
                                        <p:cTn id="105" dur="500"/>
                                        <p:tgtEl>
                                          <p:spTgt spid="23"/>
                                        </p:tgtEl>
                                      </p:cBhvr>
                                    </p:animEffect>
                                  </p:childTnLst>
                                </p:cTn>
                              </p:par>
                              <p:par>
                                <p:cTn id="111" presetID="2" presetClass="entr" presetSubtype="4" fill="hold" grpId="0" nodeType="withEffect">
                                  <p:stCondLst>
                                    <p:cond delay="320"/>
                                  </p:stCondLst>
                                  <p:childTnLst>
                                    <p:set>
                                      <p:cBhvr>
                                        <p:cTn id="107" dur="1" fill="hold">
                                          <p:stCondLst>
                                            <p:cond delay="0"/>
                                          </p:stCondLst>
                                        </p:cTn>
                                        <p:tgtEl>
                                          <p:spTgt spid="24"/>
                                        </p:tgtEl>
                                        <p:attrNameLst>
                                          <p:attrName>style.visibility</p:attrName>
                                        </p:attrNameLst>
                                      </p:cBhvr>
                                      <p:to>
                                        <p:strVal val="visible"/>
                                      </p:to>
                                    </p:set>
                                    <p:anim calcmode="lin" valueType="num">
                                      <p:cBhvr additive="base">
                                        <p:cTn id="108" dur="500" fill="hold"/>
                                        <p:tgtEl>
                                          <p:spTgt spid="24"/>
                                        </p:tgtEl>
                                        <p:attrNameLst>
                                          <p:attrName>ppt_x</p:attrName>
                                        </p:attrNameLst>
                                      </p:cBhvr>
                                      <p:tavLst>
                                        <p:tav tm="0">
                                          <p:val>
                                            <p:strVal val="#ppt_x"/>
                                          </p:val>
                                        </p:tav>
                                        <p:tav tm="100000">
                                          <p:val>
                                            <p:strVal val="#ppt_x"/>
                                          </p:val>
                                        </p:tav>
                                      </p:tavLst>
                                    </p:anim>
                                    <p:anim calcmode="lin" valueType="num">
                                      <p:cBhvr additive="base">
                                        <p:cTn id="109" dur="500" fill="hold"/>
                                        <p:tgtEl>
                                          <p:spTgt spid="24"/>
                                        </p:tgtEl>
                                        <p:attrNameLst>
                                          <p:attrName>ppt_y</p:attrName>
                                        </p:attrNameLst>
                                      </p:cBhvr>
                                      <p:tavLst>
                                        <p:tav tm="0">
                                          <p:val>
                                            <p:strVal val="#ppt_y+0.1"/>
                                          </p:val>
                                        </p:tav>
                                        <p:tav tm="100000">
                                          <p:val>
                                            <p:strVal val="#ppt_y"/>
                                          </p:val>
                                        </p:tav>
                                      </p:tavLst>
                                    </p:anim>
                                    <p:animEffect transition="in" filter="fade">
                                      <p:cBhvr>
                                        <p:cTn id="110" dur="500"/>
                                        <p:tgtEl>
                                          <p:spTgt spid="24"/>
                                        </p:tgtEl>
                                      </p:cBhvr>
                                    </p:animEffect>
                                  </p:childTnLst>
                                </p:cTn>
                              </p:par>
                              <p:par>
                                <p:cTn id="116" presetID="2" presetClass="entr" presetSubtype="4" fill="hold" grpId="0" nodeType="withEffect">
                                  <p:stCondLst>
                                    <p:cond delay="400"/>
                                  </p:stCondLst>
                                  <p:childTnLst>
                                    <p:set>
                                      <p:cBhvr>
                                        <p:cTn id="112" dur="1" fill="hold">
                                          <p:stCondLst>
                                            <p:cond delay="0"/>
                                          </p:stCondLst>
                                        </p:cTn>
                                        <p:tgtEl>
                                          <p:spTgt spid="25"/>
                                        </p:tgtEl>
                                        <p:attrNameLst>
                                          <p:attrName>style.visibility</p:attrName>
                                        </p:attrNameLst>
                                      </p:cBhvr>
                                      <p:to>
                                        <p:strVal val="visible"/>
                                      </p:to>
                                    </p:se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1"/>
                                          </p:val>
                                        </p:tav>
                                        <p:tav tm="100000">
                                          <p:val>
                                            <p:strVal val="#ppt_y"/>
                                          </p:val>
                                        </p:tav>
                                      </p:tavLst>
                                    </p:anim>
                                    <p:animEffect transition="in" filter="fade">
                                      <p:cBhvr>
                                        <p:cTn id="115" dur="500"/>
                                        <p:tgtEl>
                                          <p:spTgt spid="25"/>
                                        </p:tgtEl>
                                      </p:cBhvr>
                                    </p:animEffect>
                                  </p:childTnLst>
                                </p:cTn>
                              </p:par>
                              <p:par>
                                <p:cTn id="121" presetID="2" presetClass="entr" presetSubtype="4" fill="hold" grpId="0" nodeType="withEffect">
                                  <p:stCondLst>
                                    <p:cond delay="400"/>
                                  </p:stCondLst>
                                  <p:childTnLst>
                                    <p:set>
                                      <p:cBhvr>
                                        <p:cTn id="117" dur="1" fill="hold">
                                          <p:stCondLst>
                                            <p:cond delay="0"/>
                                          </p:stCondLst>
                                        </p:cTn>
                                        <p:tgtEl>
                                          <p:spTgt spid="26"/>
                                        </p:tgtEl>
                                        <p:attrNameLst>
                                          <p:attrName>style.visibility</p:attrName>
                                        </p:attrNameLst>
                                      </p:cBhvr>
                                      <p:to>
                                        <p:strVal val="visible"/>
                                      </p:to>
                                    </p:set>
                                    <p:anim calcmode="lin" valueType="num">
                                      <p:cBhvr additive="base">
                                        <p:cTn id="118" dur="500" fill="hold"/>
                                        <p:tgtEl>
                                          <p:spTgt spid="26"/>
                                        </p:tgtEl>
                                        <p:attrNameLst>
                                          <p:attrName>ppt_x</p:attrName>
                                        </p:attrNameLst>
                                      </p:cBhvr>
                                      <p:tavLst>
                                        <p:tav tm="0">
                                          <p:val>
                                            <p:strVal val="#ppt_x"/>
                                          </p:val>
                                        </p:tav>
                                        <p:tav tm="100000">
                                          <p:val>
                                            <p:strVal val="#ppt_x"/>
                                          </p:val>
                                        </p:tav>
                                      </p:tavLst>
                                    </p:anim>
                                    <p:anim calcmode="lin" valueType="num">
                                      <p:cBhvr additive="base">
                                        <p:cTn id="119" dur="500" fill="hold"/>
                                        <p:tgtEl>
                                          <p:spTgt spid="26"/>
                                        </p:tgtEl>
                                        <p:attrNameLst>
                                          <p:attrName>ppt_y</p:attrName>
                                        </p:attrNameLst>
                                      </p:cBhvr>
                                      <p:tavLst>
                                        <p:tav tm="0">
                                          <p:val>
                                            <p:strVal val="#ppt_y+0.1"/>
                                          </p:val>
                                        </p:tav>
                                        <p:tav tm="100000">
                                          <p:val>
                                            <p:strVal val="#ppt_y"/>
                                          </p:val>
                                        </p:tav>
                                      </p:tavLst>
                                    </p:anim>
                                    <p:animEffect transition="in" filter="fade">
                                      <p:cBhvr>
                                        <p:cTn id="120" dur="500"/>
                                        <p:tgtEl>
                                          <p:spTgt spid="26"/>
                                        </p:tgtEl>
                                      </p:cBhvr>
                                    </p:animEffect>
                                  </p:childTnLst>
                                </p:cTn>
                              </p:par>
                              <p:par>
                                <p:cTn id="126" presetID="2" presetClass="entr" presetSubtype="4" fill="hold" grpId="0" nodeType="withEffect">
                                  <p:stCondLst>
                                    <p:cond delay="480"/>
                                  </p:stCondLst>
                                  <p:childTnLst>
                                    <p:set>
                                      <p:cBhvr>
                                        <p:cTn id="122" dur="1" fill="hold">
                                          <p:stCondLst>
                                            <p:cond delay="0"/>
                                          </p:stCondLst>
                                        </p:cTn>
                                        <p:tgtEl>
                                          <p:spTgt spid="27"/>
                                        </p:tgtEl>
                                        <p:attrNameLst>
                                          <p:attrName>style.visibility</p:attrName>
                                        </p:attrNameLst>
                                      </p:cBhvr>
                                      <p:to>
                                        <p:strVal val="visible"/>
                                      </p:to>
                                    </p:set>
                                    <p:anim calcmode="lin" valueType="num">
                                      <p:cBhvr additive="base">
                                        <p:cTn id="123" dur="500" fill="hold"/>
                                        <p:tgtEl>
                                          <p:spTgt spid="27"/>
                                        </p:tgtEl>
                                        <p:attrNameLst>
                                          <p:attrName>ppt_x</p:attrName>
                                        </p:attrNameLst>
                                      </p:cBhvr>
                                      <p:tavLst>
                                        <p:tav tm="0">
                                          <p:val>
                                            <p:strVal val="#ppt_x"/>
                                          </p:val>
                                        </p:tav>
                                        <p:tav tm="100000">
                                          <p:val>
                                            <p:strVal val="#ppt_x"/>
                                          </p:val>
                                        </p:tav>
                                      </p:tavLst>
                                    </p:anim>
                                    <p:anim calcmode="lin" valueType="num">
                                      <p:cBhvr additive="base">
                                        <p:cTn id="124" dur="500" fill="hold"/>
                                        <p:tgtEl>
                                          <p:spTgt spid="27"/>
                                        </p:tgtEl>
                                        <p:attrNameLst>
                                          <p:attrName>ppt_y</p:attrName>
                                        </p:attrNameLst>
                                      </p:cBhvr>
                                      <p:tavLst>
                                        <p:tav tm="0">
                                          <p:val>
                                            <p:strVal val="#ppt_y+0.1"/>
                                          </p:val>
                                        </p:tav>
                                        <p:tav tm="100000">
                                          <p:val>
                                            <p:strVal val="#ppt_y"/>
                                          </p:val>
                                        </p:tav>
                                      </p:tavLst>
                                    </p:anim>
                                    <p:animEffect transition="in" filter="fade">
                                      <p:cBhvr>
                                        <p:cTn id="125" dur="500"/>
                                        <p:tgtEl>
                                          <p:spTgt spid="27"/>
                                        </p:tgtEl>
                                      </p:cBhvr>
                                    </p:animEffect>
                                  </p:childTnLst>
                                </p:cTn>
                              </p:par>
                              <p:par>
                                <p:cTn id="131" presetID="2" presetClass="entr" presetSubtype="4" fill="hold" grpId="0" nodeType="withEffect">
                                  <p:stCondLst>
                                    <p:cond delay="480"/>
                                  </p:stCondLst>
                                  <p:childTnLst>
                                    <p:set>
                                      <p:cBhvr>
                                        <p:cTn id="127" dur="1" fill="hold">
                                          <p:stCondLst>
                                            <p:cond delay="0"/>
                                          </p:stCondLst>
                                        </p:cTn>
                                        <p:tgtEl>
                                          <p:spTgt spid="28"/>
                                        </p:tgtEl>
                                        <p:attrNameLst>
                                          <p:attrName>style.visibility</p:attrName>
                                        </p:attrNameLst>
                                      </p:cBhvr>
                                      <p:to>
                                        <p:strVal val="visible"/>
                                      </p:to>
                                    </p:se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1"/>
                                          </p:val>
                                        </p:tav>
                                        <p:tav tm="100000">
                                          <p:val>
                                            <p:strVal val="#ppt_y"/>
                                          </p:val>
                                        </p:tav>
                                      </p:tavLst>
                                    </p:anim>
                                    <p:animEffect transition="in" filter="fade">
                                      <p:cBhvr>
                                        <p:cTn id="130" dur="500"/>
                                        <p:tgtEl>
                                          <p:spTgt spid="28"/>
                                        </p:tgtEl>
                                      </p:cBhvr>
                                    </p:animEffect>
                                  </p:childTnLst>
                                </p:cTn>
                              </p:par>
                              <p:par>
                                <p:cTn id="136" presetID="2" presetClass="entr" presetSubtype="4" fill="hold" grpId="0" nodeType="withEffect">
                                  <p:stCondLst>
                                    <p:cond delay="560"/>
                                  </p:stCondLst>
                                  <p:childTnLst>
                                    <p:set>
                                      <p:cBhvr>
                                        <p:cTn id="132" dur="1" fill="hold">
                                          <p:stCondLst>
                                            <p:cond delay="0"/>
                                          </p:stCondLst>
                                        </p:cTn>
                                        <p:tgtEl>
                                          <p:spTgt spid="29"/>
                                        </p:tgtEl>
                                        <p:attrNameLst>
                                          <p:attrName>style.visibility</p:attrName>
                                        </p:attrNameLst>
                                      </p:cBhvr>
                                      <p:to>
                                        <p:strVal val="visible"/>
                                      </p:to>
                                    </p:set>
                                    <p:anim calcmode="lin" valueType="num">
                                      <p:cBhvr additive="base">
                                        <p:cTn id="133" dur="500" fill="hold"/>
                                        <p:tgtEl>
                                          <p:spTgt spid="29"/>
                                        </p:tgtEl>
                                        <p:attrNameLst>
                                          <p:attrName>ppt_x</p:attrName>
                                        </p:attrNameLst>
                                      </p:cBhvr>
                                      <p:tavLst>
                                        <p:tav tm="0">
                                          <p:val>
                                            <p:strVal val="#ppt_x"/>
                                          </p:val>
                                        </p:tav>
                                        <p:tav tm="100000">
                                          <p:val>
                                            <p:strVal val="#ppt_x"/>
                                          </p:val>
                                        </p:tav>
                                      </p:tavLst>
                                    </p:anim>
                                    <p:anim calcmode="lin" valueType="num">
                                      <p:cBhvr additive="base">
                                        <p:cTn id="134" dur="500" fill="hold"/>
                                        <p:tgtEl>
                                          <p:spTgt spid="29"/>
                                        </p:tgtEl>
                                        <p:attrNameLst>
                                          <p:attrName>ppt_y</p:attrName>
                                        </p:attrNameLst>
                                      </p:cBhvr>
                                      <p:tavLst>
                                        <p:tav tm="0">
                                          <p:val>
                                            <p:strVal val="#ppt_y+0.1"/>
                                          </p:val>
                                        </p:tav>
                                        <p:tav tm="100000">
                                          <p:val>
                                            <p:strVal val="#ppt_y"/>
                                          </p:val>
                                        </p:tav>
                                      </p:tavLst>
                                    </p:anim>
                                    <p:animEffect transition="in" filter="fade">
                                      <p:cBhvr>
                                        <p:cTn id="135" dur="500"/>
                                        <p:tgtEl>
                                          <p:spTgt spid="29"/>
                                        </p:tgtEl>
                                      </p:cBhvr>
                                    </p:animEffect>
                                  </p:childTnLst>
                                </p:cTn>
                              </p:par>
                              <p:par>
                                <p:cTn id="141" presetID="2" presetClass="entr" presetSubtype="4" fill="hold" grpId="0" nodeType="withEffect">
                                  <p:stCondLst>
                                    <p:cond delay="560"/>
                                  </p:stCondLst>
                                  <p:childTnLst>
                                    <p:set>
                                      <p:cBhvr>
                                        <p:cTn id="137" dur="1" fill="hold">
                                          <p:stCondLst>
                                            <p:cond delay="0"/>
                                          </p:stCondLst>
                                        </p:cTn>
                                        <p:tgtEl>
                                          <p:spTgt spid="30"/>
                                        </p:tgtEl>
                                        <p:attrNameLst>
                                          <p:attrName>style.visibility</p:attrName>
                                        </p:attrNameLst>
                                      </p:cBhvr>
                                      <p:to>
                                        <p:strVal val="visible"/>
                                      </p:to>
                                    </p:set>
                                    <p:anim calcmode="lin" valueType="num">
                                      <p:cBhvr additive="base">
                                        <p:cTn id="138" dur="500" fill="hold"/>
                                        <p:tgtEl>
                                          <p:spTgt spid="30"/>
                                        </p:tgtEl>
                                        <p:attrNameLst>
                                          <p:attrName>ppt_x</p:attrName>
                                        </p:attrNameLst>
                                      </p:cBhvr>
                                      <p:tavLst>
                                        <p:tav tm="0">
                                          <p:val>
                                            <p:strVal val="#ppt_x"/>
                                          </p:val>
                                        </p:tav>
                                        <p:tav tm="100000">
                                          <p:val>
                                            <p:strVal val="#ppt_x"/>
                                          </p:val>
                                        </p:tav>
                                      </p:tavLst>
                                    </p:anim>
                                    <p:anim calcmode="lin" valueType="num">
                                      <p:cBhvr additive="base">
                                        <p:cTn id="139" dur="500" fill="hold"/>
                                        <p:tgtEl>
                                          <p:spTgt spid="30"/>
                                        </p:tgtEl>
                                        <p:attrNameLst>
                                          <p:attrName>ppt_y</p:attrName>
                                        </p:attrNameLst>
                                      </p:cBhvr>
                                      <p:tavLst>
                                        <p:tav tm="0">
                                          <p:val>
                                            <p:strVal val="#ppt_y+0.1"/>
                                          </p:val>
                                        </p:tav>
                                        <p:tav tm="100000">
                                          <p:val>
                                            <p:strVal val="#ppt_y"/>
                                          </p:val>
                                        </p:tav>
                                      </p:tavLst>
                                    </p:anim>
                                    <p:animEffect transition="in" filter="fade">
                                      <p:cBhvr>
                                        <p:cTn id="140" dur="500"/>
                                        <p:tgtEl>
                                          <p:spTgt spid="30"/>
                                        </p:tgtEl>
                                      </p:cBhvr>
                                    </p:animEffect>
                                  </p:childTnLst>
                                </p:cTn>
                              </p:par>
                              <p:par>
                                <p:cTn id="146" presetID="2" presetClass="entr" presetSubtype="4" fill="hold" grpId="0" nodeType="withEffect">
                                  <p:stCondLst>
                                    <p:cond delay="700"/>
                                  </p:stCondLst>
                                  <p:childTnLst>
                                    <p:set>
                                      <p:cBhvr>
                                        <p:cTn id="142" dur="1" fill="hold">
                                          <p:stCondLst>
                                            <p:cond delay="0"/>
                                          </p:stCondLst>
                                        </p:cTn>
                                        <p:tgtEl>
                                          <p:spTgt spid="31"/>
                                        </p:tgtEl>
                                        <p:attrNameLst>
                                          <p:attrName>style.visibility</p:attrName>
                                        </p:attrNameLst>
                                      </p:cBhvr>
                                      <p:to>
                                        <p:strVal val="visible"/>
                                      </p:to>
                                    </p:se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1"/>
                                          </p:val>
                                        </p:tav>
                                        <p:tav tm="100000">
                                          <p:val>
                                            <p:strVal val="#ppt_y"/>
                                          </p:val>
                                        </p:tav>
                                      </p:tavLst>
                                    </p:anim>
                                    <p:animEffect transition="in" filter="fade">
                                      <p:cBhvr>
                                        <p:cTn id="145" dur="500"/>
                                        <p:tgtEl>
                                          <p:spTgt spid="31"/>
                                        </p:tgtEl>
                                      </p:cBhvr>
                                    </p:animEffect>
                                  </p:childTnLst>
                                </p:cTn>
                              </p:par>
                              <p:par>
                                <p:cTn id="151" presetID="2" presetClass="entr" presetSubtype="4" fill="hold" grpId="0" nodeType="withEffect">
                                  <p:stCondLst>
                                    <p:cond delay="740"/>
                                  </p:stCondLst>
                                  <p:childTnLst>
                                    <p:set>
                                      <p:cBhvr>
                                        <p:cTn id="147" dur="1" fill="hold">
                                          <p:stCondLst>
                                            <p:cond delay="0"/>
                                          </p:stCondLst>
                                        </p:cTn>
                                        <p:tgtEl>
                                          <p:spTgt spid="32"/>
                                        </p:tgtEl>
                                        <p:attrNameLst>
                                          <p:attrName>style.visibility</p:attrName>
                                        </p:attrNameLst>
                                      </p:cBhvr>
                                      <p:to>
                                        <p:strVal val="visible"/>
                                      </p:to>
                                    </p:set>
                                    <p:anim calcmode="lin" valueType="num">
                                      <p:cBhvr additive="base">
                                        <p:cTn id="148" dur="500" fill="hold"/>
                                        <p:tgtEl>
                                          <p:spTgt spid="32"/>
                                        </p:tgtEl>
                                        <p:attrNameLst>
                                          <p:attrName>ppt_x</p:attrName>
                                        </p:attrNameLst>
                                      </p:cBhvr>
                                      <p:tavLst>
                                        <p:tav tm="0">
                                          <p:val>
                                            <p:strVal val="#ppt_x"/>
                                          </p:val>
                                        </p:tav>
                                        <p:tav tm="100000">
                                          <p:val>
                                            <p:strVal val="#ppt_x"/>
                                          </p:val>
                                        </p:tav>
                                      </p:tavLst>
                                    </p:anim>
                                    <p:anim calcmode="lin" valueType="num">
                                      <p:cBhvr additive="base">
                                        <p:cTn id="149" dur="500" fill="hold"/>
                                        <p:tgtEl>
                                          <p:spTgt spid="32"/>
                                        </p:tgtEl>
                                        <p:attrNameLst>
                                          <p:attrName>ppt_y</p:attrName>
                                        </p:attrNameLst>
                                      </p:cBhvr>
                                      <p:tavLst>
                                        <p:tav tm="0">
                                          <p:val>
                                            <p:strVal val="#ppt_y+0.1"/>
                                          </p:val>
                                        </p:tav>
                                        <p:tav tm="100000">
                                          <p:val>
                                            <p:strVal val="#ppt_y"/>
                                          </p:val>
                                        </p:tav>
                                      </p:tavLst>
                                    </p:anim>
                                    <p:animEffect transition="in" filter="fade">
                                      <p:cBhvr>
                                        <p:cTn id="150" dur="500"/>
                                        <p:tgtEl>
                                          <p:spTgt spid="32"/>
                                        </p:tgtEl>
                                      </p:cBhvr>
                                    </p:animEffect>
                                  </p:childTnLst>
                                </p:cTn>
                              </p:par>
                            </p:childTnLst>
                          </p:cTn>
                        </p:par>
                      </p:childTnLst>
                    </p:cTn>
                  </p:par>
                  <p:par>
                    <p:cTn id="152" fill="hold">
                      <p:stCondLst>
                        <p:cond delay="indefinite"/>
                      </p:stCondLst>
                      <p:childTnLst>
                        <p:par>
                          <p:cTn id="153" fill="hold">
                            <p:stCondLst>
                              <p:cond delay="0"/>
                            </p:stCondLst>
                            <p:childTnLst>
                              <p:par>
                                <p:cTn id="158" presetID="2" presetClass="entr" presetSubtype="4" fill="hold" grpId="0" nodeType="clickEffect">
                                  <p:stCondLst>
                                    <p:cond delay="0"/>
                                  </p:stCondLst>
                                  <p:childTnLst>
                                    <p:set>
                                      <p:cBhvr>
                                        <p:cTn id="154" dur="1" fill="hold">
                                          <p:stCondLst>
                                            <p:cond delay="0"/>
                                          </p:stCondLst>
                                        </p:cTn>
                                        <p:tgtEl>
                                          <p:spTgt spid="33"/>
                                        </p:tgtEl>
                                        <p:attrNameLst>
                                          <p:attrName>style.visibility</p:attrName>
                                        </p:attrNameLst>
                                      </p:cBhvr>
                                      <p:to>
                                        <p:strVal val="visible"/>
                                      </p:to>
                                    </p:set>
                                    <p:anim calcmode="lin" valueType="num">
                                      <p:cBhvr additive="base">
                                        <p:cTn id="155" dur="500" fill="hold"/>
                                        <p:tgtEl>
                                          <p:spTgt spid="33"/>
                                        </p:tgtEl>
                                        <p:attrNameLst>
                                          <p:attrName>ppt_x</p:attrName>
                                        </p:attrNameLst>
                                      </p:cBhvr>
                                      <p:tavLst>
                                        <p:tav tm="0">
                                          <p:val>
                                            <p:strVal val="#ppt_x"/>
                                          </p:val>
                                        </p:tav>
                                        <p:tav tm="100000">
                                          <p:val>
                                            <p:strVal val="#ppt_x"/>
                                          </p:val>
                                        </p:tav>
                                      </p:tavLst>
                                    </p:anim>
                                    <p:anim calcmode="lin" valueType="num">
                                      <p:cBhvr additive="base">
                                        <p:cTn id="156" dur="500" fill="hold"/>
                                        <p:tgtEl>
                                          <p:spTgt spid="33"/>
                                        </p:tgtEl>
                                        <p:attrNameLst>
                                          <p:attrName>ppt_y</p:attrName>
                                        </p:attrNameLst>
                                      </p:cBhvr>
                                      <p:tavLst>
                                        <p:tav tm="0">
                                          <p:val>
                                            <p:strVal val="#ppt_y+0.1"/>
                                          </p:val>
                                        </p:tav>
                                        <p:tav tm="100000">
                                          <p:val>
                                            <p:strVal val="#ppt_y"/>
                                          </p:val>
                                        </p:tav>
                                      </p:tavLst>
                                    </p:anim>
                                    <p:animEffect transition="in" filter="fade">
                                      <p:cBhvr>
                                        <p:cTn id="157" dur="500"/>
                                        <p:tgtEl>
                                          <p:spTgt spid="33"/>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34"/>
                                        </p:tgtEl>
                                        <p:attrNameLst>
                                          <p:attrName>style.visibility</p:attrName>
                                        </p:attrNameLst>
                                      </p:cBhvr>
                                      <p:to>
                                        <p:strVal val="visible"/>
                                      </p:to>
                                    </p:set>
                                    <p:anim calcmode="lin" valueType="num">
                                      <p:cBhvr additive="base">
                                        <p:cTn id="160" dur="500" fill="hold"/>
                                        <p:tgtEl>
                                          <p:spTgt spid="34"/>
                                        </p:tgtEl>
                                        <p:attrNameLst>
                                          <p:attrName>ppt_x</p:attrName>
                                        </p:attrNameLst>
                                      </p:cBhvr>
                                      <p:tavLst>
                                        <p:tav tm="0">
                                          <p:val>
                                            <p:strVal val="#ppt_x"/>
                                          </p:val>
                                        </p:tav>
                                        <p:tav tm="100000">
                                          <p:val>
                                            <p:strVal val="#ppt_x"/>
                                          </p:val>
                                        </p:tav>
                                      </p:tavLst>
                                    </p:anim>
                                    <p:anim calcmode="lin" valueType="num">
                                      <p:cBhvr additive="base">
                                        <p:cTn id="161" dur="500" fill="hold"/>
                                        <p:tgtEl>
                                          <p:spTgt spid="34"/>
                                        </p:tgtEl>
                                        <p:attrNameLst>
                                          <p:attrName>ppt_y</p:attrName>
                                        </p:attrNameLst>
                                      </p:cBhvr>
                                      <p:tavLst>
                                        <p:tav tm="0">
                                          <p:val>
                                            <p:strVal val="#ppt_y+0.1"/>
                                          </p:val>
                                        </p:tav>
                                        <p:tav tm="100000">
                                          <p:val>
                                            <p:strVal val="#ppt_y"/>
                                          </p:val>
                                        </p:tav>
                                      </p:tavLst>
                                    </p:anim>
                                    <p:animEffect transition="in" filter="fade">
                                      <p:cBhvr>
                                        <p:cTn id="162" dur="500"/>
                                        <p:tgtEl>
                                          <p:spTgt spid="34"/>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35"/>
                                        </p:tgtEl>
                                        <p:attrNameLst>
                                          <p:attrName>style.visibility</p:attrName>
                                        </p:attrNameLst>
                                      </p:cBhvr>
                                      <p:to>
                                        <p:strVal val="visible"/>
                                      </p:to>
                                    </p:set>
                                    <p:anim calcmode="lin" valueType="num">
                                      <p:cBhvr additive="base">
                                        <p:cTn id="165" dur="500" fill="hold"/>
                                        <p:tgtEl>
                                          <p:spTgt spid="35"/>
                                        </p:tgtEl>
                                        <p:attrNameLst>
                                          <p:attrName>ppt_x</p:attrName>
                                        </p:attrNameLst>
                                      </p:cBhvr>
                                      <p:tavLst>
                                        <p:tav tm="0">
                                          <p:val>
                                            <p:strVal val="#ppt_x"/>
                                          </p:val>
                                        </p:tav>
                                        <p:tav tm="100000">
                                          <p:val>
                                            <p:strVal val="#ppt_x"/>
                                          </p:val>
                                        </p:tav>
                                      </p:tavLst>
                                    </p:anim>
                                    <p:anim calcmode="lin" valueType="num">
                                      <p:cBhvr additive="base">
                                        <p:cTn id="166" dur="500" fill="hold"/>
                                        <p:tgtEl>
                                          <p:spTgt spid="35"/>
                                        </p:tgtEl>
                                        <p:attrNameLst>
                                          <p:attrName>ppt_y</p:attrName>
                                        </p:attrNameLst>
                                      </p:cBhvr>
                                      <p:tavLst>
                                        <p:tav tm="0">
                                          <p:val>
                                            <p:strVal val="#ppt_y+0.1"/>
                                          </p:val>
                                        </p:tav>
                                        <p:tav tm="100000">
                                          <p:val>
                                            <p:strVal val="#ppt_y"/>
                                          </p:val>
                                        </p:tav>
                                      </p:tavLst>
                                    </p:anim>
                                    <p:animEffect transition="in" filter="fade">
                                      <p:cBhvr>
                                        <p:cTn id="16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Pressure 3 · Not Everything Fits in a Rectangle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A table is a good fit for a form. It is a poor fit for the rest of what we store now</a:t>
            </a:r>
          </a:p>
        </p:txBody>
      </p:sp>
      <p:sp>
        <p:nvSpPr>
          <p:cNvPr id="4" name="a1u_card3"/>
          <p:cNvSpPr/>
          <p:nvPr/>
        </p:nvSpPr>
        <p:spPr>
          <a:xfrm>
            <a:off x="457200" y="1170432"/>
            <a:ext cx="1906524" cy="1554480"/>
          </a:xfrm>
          <a:prstGeom prst="roundRect">
            <a:avLst>
              <a:gd name="adj" fmla="val 5882"/>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170432"/>
            <a:ext cx="1906524" cy="502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60_ic5"/>
          <p:cNvSpPr/>
          <p:nvPr/>
        </p:nvSpPr>
        <p:spPr>
          <a:xfrm>
            <a:off x="621792" y="1371600"/>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60_ict6"/>
          <p:cNvSpPr txBox="1"/>
          <p:nvPr/>
        </p:nvSpPr>
        <p:spPr>
          <a:xfrm>
            <a:off x="621792"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S</a:t>
            </a:r>
          </a:p>
        </p:txBody>
      </p:sp>
      <p:sp>
        <p:nvSpPr>
          <p:cNvPr id="8" name="a1ud90_ct7"/>
          <p:cNvSpPr txBox="1"/>
          <p:nvPr/>
        </p:nvSpPr>
        <p:spPr>
          <a:xfrm>
            <a:off x="621792"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Sparse</a:t>
            </a:r>
          </a:p>
        </p:txBody>
      </p:sp>
      <p:sp>
        <p:nvSpPr>
          <p:cNvPr id="9" name="a1ud120_cs8"/>
          <p:cNvSpPr txBox="1"/>
          <p:nvPr/>
        </p:nvSpPr>
        <p:spPr>
          <a:xfrm>
            <a:off x="621792" y="2121408"/>
            <a:ext cx="1577340" cy="237744"/>
          </a:xfrm>
          <a:prstGeom prst="rect">
            <a:avLst/>
          </a:prstGeom>
          <a:noFill/>
        </p:spPr>
        <p:txBody>
          <a:bodyPr wrap="square" lIns="0" tIns="0" rIns="0" bIns="0" anchor="ctr">
            <a:spAutoFit/>
          </a:bodyPr>
          <a:lstStyle/>
          <a:p>
            <a:pPr algn="l"/>
            <a:r>
              <a:rPr sz="1000" b="1">
                <a:solidFill>
                  <a:srgbClr val="8B5CF6"/>
                </a:solidFill>
                <a:latin typeface="Courier New"/>
              </a:rPr>
              <a:t>MANY NULLS</a:t>
            </a:r>
          </a:p>
        </p:txBody>
      </p:sp>
      <p:sp>
        <p:nvSpPr>
          <p:cNvPr id="10" name="a1ud150_cb9"/>
          <p:cNvSpPr txBox="1"/>
          <p:nvPr/>
        </p:nvSpPr>
        <p:spPr>
          <a:xfrm>
            <a:off x="621792" y="2377439"/>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A product catalogue where every category has different attributes</a:t>
            </a:r>
          </a:p>
        </p:txBody>
      </p:sp>
      <p:sp>
        <p:nvSpPr>
          <p:cNvPr id="11" name="a1ud220_cb10"/>
          <p:cNvSpPr txBox="1"/>
          <p:nvPr/>
        </p:nvSpPr>
        <p:spPr>
          <a:xfrm>
            <a:off x="621792" y="2761487"/>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Relational answer: 200 nullable columns</a:t>
            </a:r>
          </a:p>
        </p:txBody>
      </p:sp>
      <p:sp>
        <p:nvSpPr>
          <p:cNvPr id="12" name="a2u_card11"/>
          <p:cNvSpPr/>
          <p:nvPr/>
        </p:nvSpPr>
        <p:spPr>
          <a:xfrm>
            <a:off x="2564892" y="1170432"/>
            <a:ext cx="1906524" cy="1554480"/>
          </a:xfrm>
          <a:prstGeom prst="roundRect">
            <a:avLst>
              <a:gd name="adj" fmla="val 5882"/>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2u_acc12"/>
          <p:cNvSpPr/>
          <p:nvPr/>
        </p:nvSpPr>
        <p:spPr>
          <a:xfrm>
            <a:off x="2564892" y="1170432"/>
            <a:ext cx="1906524"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d60_ic13"/>
          <p:cNvSpPr/>
          <p:nvPr/>
        </p:nvSpPr>
        <p:spPr>
          <a:xfrm>
            <a:off x="2729484" y="1371600"/>
            <a:ext cx="384048" cy="384048"/>
          </a:xfrm>
          <a:prstGeom prst="roundRect">
            <a:avLst>
              <a:gd name="adj" fmla="val 23809"/>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d60_ict14"/>
          <p:cNvSpPr txBox="1"/>
          <p:nvPr/>
        </p:nvSpPr>
        <p:spPr>
          <a:xfrm>
            <a:off x="2729484"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N</a:t>
            </a:r>
          </a:p>
        </p:txBody>
      </p:sp>
      <p:sp>
        <p:nvSpPr>
          <p:cNvPr id="16" name="a2ud90_ct15"/>
          <p:cNvSpPr txBox="1"/>
          <p:nvPr/>
        </p:nvSpPr>
        <p:spPr>
          <a:xfrm>
            <a:off x="2729484"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Nested</a:t>
            </a:r>
          </a:p>
        </p:txBody>
      </p:sp>
      <p:sp>
        <p:nvSpPr>
          <p:cNvPr id="17" name="a2ud120_cs16"/>
          <p:cNvSpPr txBox="1"/>
          <p:nvPr/>
        </p:nvSpPr>
        <p:spPr>
          <a:xfrm>
            <a:off x="2729484" y="2121408"/>
            <a:ext cx="1577340" cy="237744"/>
          </a:xfrm>
          <a:prstGeom prst="rect">
            <a:avLst/>
          </a:prstGeom>
          <a:noFill/>
        </p:spPr>
        <p:txBody>
          <a:bodyPr wrap="square" lIns="0" tIns="0" rIns="0" bIns="0" anchor="ctr">
            <a:spAutoFit/>
          </a:bodyPr>
          <a:lstStyle/>
          <a:p>
            <a:pPr algn="l"/>
            <a:r>
              <a:rPr sz="1000" b="1">
                <a:solidFill>
                  <a:srgbClr val="0F766E"/>
                </a:solidFill>
                <a:latin typeface="Courier New"/>
              </a:rPr>
              <a:t>TREES</a:t>
            </a:r>
          </a:p>
        </p:txBody>
      </p:sp>
      <p:sp>
        <p:nvSpPr>
          <p:cNvPr id="18" name="a2ud150_cb17"/>
          <p:cNvSpPr txBox="1"/>
          <p:nvPr/>
        </p:nvSpPr>
        <p:spPr>
          <a:xfrm>
            <a:off x="2729484" y="2377439"/>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A JSON payload from a partner API, five levels deep</a:t>
            </a:r>
          </a:p>
        </p:txBody>
      </p:sp>
      <p:sp>
        <p:nvSpPr>
          <p:cNvPr id="19" name="a2ud220_cb18"/>
          <p:cNvSpPr txBox="1"/>
          <p:nvPr/>
        </p:nvSpPr>
        <p:spPr>
          <a:xfrm>
            <a:off x="2729484" y="2761487"/>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Relational answer: five child tables</a:t>
            </a:r>
          </a:p>
        </p:txBody>
      </p:sp>
      <p:sp>
        <p:nvSpPr>
          <p:cNvPr id="20" name="a3u_card19"/>
          <p:cNvSpPr/>
          <p:nvPr/>
        </p:nvSpPr>
        <p:spPr>
          <a:xfrm>
            <a:off x="4672584" y="1170432"/>
            <a:ext cx="1906524" cy="1554480"/>
          </a:xfrm>
          <a:prstGeom prst="roundRect">
            <a:avLst>
              <a:gd name="adj" fmla="val 5882"/>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acc20"/>
          <p:cNvSpPr/>
          <p:nvPr/>
        </p:nvSpPr>
        <p:spPr>
          <a:xfrm>
            <a:off x="4672584" y="1170432"/>
            <a:ext cx="1906524"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d60_ic21"/>
          <p:cNvSpPr/>
          <p:nvPr/>
        </p:nvSpPr>
        <p:spPr>
          <a:xfrm>
            <a:off x="4837176" y="1371600"/>
            <a:ext cx="384048" cy="384048"/>
          </a:xfrm>
          <a:prstGeom prst="roundRect">
            <a:avLst>
              <a:gd name="adj" fmla="val 23809"/>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d60_ict22"/>
          <p:cNvSpPr txBox="1"/>
          <p:nvPr/>
        </p:nvSpPr>
        <p:spPr>
          <a:xfrm>
            <a:off x="4837176"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C</a:t>
            </a:r>
          </a:p>
        </p:txBody>
      </p:sp>
      <p:sp>
        <p:nvSpPr>
          <p:cNvPr id="24" name="a3ud90_ct23"/>
          <p:cNvSpPr txBox="1"/>
          <p:nvPr/>
        </p:nvSpPr>
        <p:spPr>
          <a:xfrm>
            <a:off x="4837176"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Connected</a:t>
            </a:r>
          </a:p>
        </p:txBody>
      </p:sp>
      <p:sp>
        <p:nvSpPr>
          <p:cNvPr id="25" name="a3ud120_cs24"/>
          <p:cNvSpPr txBox="1"/>
          <p:nvPr/>
        </p:nvSpPr>
        <p:spPr>
          <a:xfrm>
            <a:off x="4837176" y="2121408"/>
            <a:ext cx="1577340" cy="237744"/>
          </a:xfrm>
          <a:prstGeom prst="rect">
            <a:avLst/>
          </a:prstGeom>
          <a:noFill/>
        </p:spPr>
        <p:txBody>
          <a:bodyPr wrap="square" lIns="0" tIns="0" rIns="0" bIns="0" anchor="ctr">
            <a:spAutoFit/>
          </a:bodyPr>
          <a:lstStyle/>
          <a:p>
            <a:pPr algn="l"/>
            <a:r>
              <a:rPr sz="1000" b="1">
                <a:solidFill>
                  <a:srgbClr val="B45309"/>
                </a:solidFill>
                <a:latin typeface="Courier New"/>
              </a:rPr>
              <a:t>GRAPHS</a:t>
            </a:r>
          </a:p>
        </p:txBody>
      </p:sp>
      <p:sp>
        <p:nvSpPr>
          <p:cNvPr id="26" name="a3ud150_cb25"/>
          <p:cNvSpPr txBox="1"/>
          <p:nvPr/>
        </p:nvSpPr>
        <p:spPr>
          <a:xfrm>
            <a:off x="4837176" y="2377439"/>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"Who is within three hops of this account?"</a:t>
            </a:r>
          </a:p>
        </p:txBody>
      </p:sp>
      <p:sp>
        <p:nvSpPr>
          <p:cNvPr id="27" name="a3ud220_cb26"/>
          <p:cNvSpPr txBox="1"/>
          <p:nvPr/>
        </p:nvSpPr>
        <p:spPr>
          <a:xfrm>
            <a:off x="4837176" y="2761487"/>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Relational answer: recursive joins</a:t>
            </a:r>
          </a:p>
        </p:txBody>
      </p:sp>
      <p:sp>
        <p:nvSpPr>
          <p:cNvPr id="28" name="a4u_card27"/>
          <p:cNvSpPr/>
          <p:nvPr/>
        </p:nvSpPr>
        <p:spPr>
          <a:xfrm>
            <a:off x="6780276" y="1170432"/>
            <a:ext cx="1906524" cy="1554480"/>
          </a:xfrm>
          <a:prstGeom prst="roundRect">
            <a:avLst>
              <a:gd name="adj" fmla="val 5882"/>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4u_acc28"/>
          <p:cNvSpPr/>
          <p:nvPr/>
        </p:nvSpPr>
        <p:spPr>
          <a:xfrm>
            <a:off x="6780276" y="1170432"/>
            <a:ext cx="1906524" cy="5029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4ud60_ic29"/>
          <p:cNvSpPr/>
          <p:nvPr/>
        </p:nvSpPr>
        <p:spPr>
          <a:xfrm>
            <a:off x="6944868" y="1371600"/>
            <a:ext cx="384048" cy="384048"/>
          </a:xfrm>
          <a:prstGeom prst="roundRect">
            <a:avLst>
              <a:gd name="adj" fmla="val 23809"/>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d60_ict30"/>
          <p:cNvSpPr txBox="1"/>
          <p:nvPr/>
        </p:nvSpPr>
        <p:spPr>
          <a:xfrm>
            <a:off x="6944868"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E</a:t>
            </a:r>
          </a:p>
        </p:txBody>
      </p:sp>
      <p:sp>
        <p:nvSpPr>
          <p:cNvPr id="32" name="a4ud90_ct31"/>
          <p:cNvSpPr txBox="1"/>
          <p:nvPr/>
        </p:nvSpPr>
        <p:spPr>
          <a:xfrm>
            <a:off x="6944868"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Evolving</a:t>
            </a:r>
          </a:p>
        </p:txBody>
      </p:sp>
      <p:sp>
        <p:nvSpPr>
          <p:cNvPr id="33" name="a4ud120_cs32"/>
          <p:cNvSpPr txBox="1"/>
          <p:nvPr/>
        </p:nvSpPr>
        <p:spPr>
          <a:xfrm>
            <a:off x="6944868" y="2121408"/>
            <a:ext cx="1577340" cy="237744"/>
          </a:xfrm>
          <a:prstGeom prst="rect">
            <a:avLst/>
          </a:prstGeom>
          <a:noFill/>
        </p:spPr>
        <p:txBody>
          <a:bodyPr wrap="square" lIns="0" tIns="0" rIns="0" bIns="0" anchor="ctr">
            <a:spAutoFit/>
          </a:bodyPr>
          <a:lstStyle/>
          <a:p>
            <a:pPr algn="l"/>
            <a:r>
              <a:rPr sz="1000" b="1">
                <a:solidFill>
                  <a:srgbClr val="DC382C"/>
                </a:solidFill>
                <a:latin typeface="Courier New"/>
              </a:rPr>
              <a:t>NO FIXED SCHEMA</a:t>
            </a:r>
          </a:p>
        </p:txBody>
      </p:sp>
      <p:sp>
        <p:nvSpPr>
          <p:cNvPr id="34" name="a4ud150_cb33"/>
          <p:cNvSpPr txBox="1"/>
          <p:nvPr/>
        </p:nvSpPr>
        <p:spPr>
          <a:xfrm>
            <a:off x="6944868" y="2377439"/>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A new field arrives with every sprint</a:t>
            </a:r>
          </a:p>
        </p:txBody>
      </p:sp>
      <p:sp>
        <p:nvSpPr>
          <p:cNvPr id="35" name="a4ud220_cb34"/>
          <p:cNvSpPr txBox="1"/>
          <p:nvPr/>
        </p:nvSpPr>
        <p:spPr>
          <a:xfrm>
            <a:off x="6944868" y="2761487"/>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Relational answer: ALTER TABLE on 400 million rows</a:t>
            </a:r>
          </a:p>
        </p:txBody>
      </p:sp>
      <p:sp>
        <p:nvSpPr>
          <p:cNvPr id="36" name="a5u_nb35"/>
          <p:cNvSpPr/>
          <p:nvPr/>
        </p:nvSpPr>
        <p:spPr>
          <a:xfrm>
            <a:off x="457200" y="2880360"/>
            <a:ext cx="8229600" cy="530352"/>
          </a:xfrm>
          <a:prstGeom prst="roundRect">
            <a:avLst>
              <a:gd name="adj" fmla="val 1379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acc36"/>
          <p:cNvSpPr/>
          <p:nvPr/>
        </p:nvSpPr>
        <p:spPr>
          <a:xfrm>
            <a:off x="457200" y="2880360"/>
            <a:ext cx="50292" cy="53035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t37"/>
          <p:cNvSpPr txBox="1"/>
          <p:nvPr/>
        </p:nvSpPr>
        <p:spPr>
          <a:xfrm>
            <a:off x="658368" y="2880360"/>
            <a:ext cx="7827264" cy="530352"/>
          </a:xfrm>
          <a:prstGeom prst="rect">
            <a:avLst/>
          </a:prstGeom>
          <a:noFill/>
        </p:spPr>
        <p:txBody>
          <a:bodyPr wrap="square" lIns="0" tIns="0" rIns="0" bIns="0" anchor="ctr">
            <a:spAutoFit/>
          </a:bodyPr>
          <a:lstStyle/>
          <a:p>
            <a:pPr algn="l"/>
            <a:r>
              <a:rPr sz="1150" b="1">
                <a:solidFill>
                  <a:srgbClr val="8B5CF6"/>
                </a:solidFill>
                <a:latin typeface="Calibri"/>
              </a:rPr>
              <a:t>i  </a:t>
            </a:r>
            <a:r>
              <a:rPr sz="1150" b="0">
                <a:solidFill>
                  <a:srgbClr val="334155"/>
                </a:solidFill>
                <a:latin typeface="Calibri"/>
              </a:rPr>
              <a:t>None of these are impossible in SQL. All of them are awkward - and awkward at scale becomes expensive. NoSQL databases each pick one of these shapes and make it the natural case.</a:t>
            </a:r>
          </a:p>
        </p:txBody>
      </p:sp>
      <p:sp>
        <p:nvSpPr>
          <p:cNvPr id="39" name="ft3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0" name="ft3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ppt_y+0.1"/>
                                          </p:val>
                                        </p:tav>
                                        <p:tav tm="100000">
                                          <p:val>
                                            <p:strVal val="#ppt_y"/>
                                          </p:val>
                                        </p:tav>
                                      </p:tavLst>
                                    </p:anim>
                                    <p:animEffect transition="in" filter="fade">
                                      <p:cBhvr>
                                        <p:cTn id="50" dur="500"/>
                                        <p:tgtEl>
                                          <p:spTgt spid="12"/>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6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9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12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22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ppt_x</p:attrName>
                                        </p:attrNameLst>
                                      </p:cBhvr>
                                      <p:tavLst>
                                        <p:tav tm="0">
                                          <p:val>
                                            <p:strVal val="#ppt_x"/>
                                          </p:val>
                                        </p:tav>
                                        <p:tav tm="100000">
                                          <p:val>
                                            <p:strVal val="#ppt_x"/>
                                          </p:val>
                                        </p:tav>
                                      </p:tavLst>
                                    </p:anim>
                                    <p:anim calcmode="lin" valueType="num">
                                      <p:cBhvr additive="base">
                                        <p:cTn id="91" dur="500" fill="hold"/>
                                        <p:tgtEl>
                                          <p:spTgt spid="20"/>
                                        </p:tgtEl>
                                        <p:attrNameLst>
                                          <p:attrName>ppt_y</p:attrName>
                                        </p:attrNameLst>
                                      </p:cBhvr>
                                      <p:tavLst>
                                        <p:tav tm="0">
                                          <p:val>
                                            <p:strVal val="#ppt_y+0.1"/>
                                          </p:val>
                                        </p:tav>
                                        <p:tav tm="100000">
                                          <p:val>
                                            <p:strVal val="#ppt_y"/>
                                          </p:val>
                                        </p:tav>
                                      </p:tavLst>
                                    </p:anim>
                                    <p:animEffect transition="in" filter="fade">
                                      <p:cBhvr>
                                        <p:cTn id="92" dur="500"/>
                                        <p:tgtEl>
                                          <p:spTgt spid="20"/>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ppt_x</p:attrName>
                                        </p:attrNameLst>
                                      </p:cBhvr>
                                      <p:tavLst>
                                        <p:tav tm="0">
                                          <p:val>
                                            <p:strVal val="#ppt_x"/>
                                          </p:val>
                                        </p:tav>
                                        <p:tav tm="100000">
                                          <p:val>
                                            <p:strVal val="#ppt_x"/>
                                          </p:val>
                                        </p:tav>
                                      </p:tavLst>
                                    </p:anim>
                                    <p:anim calcmode="lin" valueType="num">
                                      <p:cBhvr additive="base">
                                        <p:cTn id="96" dur="500" fill="hold"/>
                                        <p:tgtEl>
                                          <p:spTgt spid="21"/>
                                        </p:tgtEl>
                                        <p:attrNameLst>
                                          <p:attrName>ppt_y</p:attrName>
                                        </p:attrNameLst>
                                      </p:cBhvr>
                                      <p:tavLst>
                                        <p:tav tm="0">
                                          <p:val>
                                            <p:strVal val="#ppt_y+0.1"/>
                                          </p:val>
                                        </p:tav>
                                        <p:tav tm="100000">
                                          <p:val>
                                            <p:strVal val="#ppt_y"/>
                                          </p:val>
                                        </p:tav>
                                      </p:tavLst>
                                    </p:anim>
                                    <p:animEffect transition="in" filter="fade">
                                      <p:cBhvr>
                                        <p:cTn id="97" dur="500"/>
                                        <p:tgtEl>
                                          <p:spTgt spid="21"/>
                                        </p:tgtEl>
                                      </p:cBhvr>
                                    </p:animEffect>
                                  </p:childTnLst>
                                </p:cTn>
                              </p:par>
                              <p:par>
                                <p:cTn id="103" presetID="2" presetClass="entr" presetSubtype="4" fill="hold" grpId="0" nodeType="withEffect">
                                  <p:stCondLst>
                                    <p:cond delay="6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ppt_x</p:attrName>
                                        </p:attrNameLst>
                                      </p:cBhvr>
                                      <p:tavLst>
                                        <p:tav tm="0">
                                          <p:val>
                                            <p:strVal val="#ppt_x"/>
                                          </p:val>
                                        </p:tav>
                                        <p:tav tm="100000">
                                          <p:val>
                                            <p:strVal val="#ppt_x"/>
                                          </p:val>
                                        </p:tav>
                                      </p:tavLst>
                                    </p:anim>
                                    <p:anim calcmode="lin" valueType="num">
                                      <p:cBhvr additive="base">
                                        <p:cTn id="101" dur="500" fill="hold"/>
                                        <p:tgtEl>
                                          <p:spTgt spid="22"/>
                                        </p:tgtEl>
                                        <p:attrNameLst>
                                          <p:attrName>ppt_y</p:attrName>
                                        </p:attrNameLst>
                                      </p:cBhvr>
                                      <p:tavLst>
                                        <p:tav tm="0">
                                          <p:val>
                                            <p:strVal val="#ppt_y+0.1"/>
                                          </p:val>
                                        </p:tav>
                                        <p:tav tm="100000">
                                          <p:val>
                                            <p:strVal val="#ppt_y"/>
                                          </p:val>
                                        </p:tav>
                                      </p:tavLst>
                                    </p:anim>
                                    <p:animEffect transition="in" filter="fade">
                                      <p:cBhvr>
                                        <p:cTn id="102" dur="500"/>
                                        <p:tgtEl>
                                          <p:spTgt spid="22"/>
                                        </p:tgtEl>
                                      </p:cBhvr>
                                    </p:animEffect>
                                  </p:childTnLst>
                                </p:cTn>
                              </p:par>
                              <p:par>
                                <p:cTn id="108" presetID="2" presetClass="entr" presetSubtype="4" fill="hold" grpId="0" nodeType="withEffect">
                                  <p:stCondLst>
                                    <p:cond delay="6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ppt_x</p:attrName>
                                        </p:attrNameLst>
                                      </p:cBhvr>
                                      <p:tavLst>
                                        <p:tav tm="0">
                                          <p:val>
                                            <p:strVal val="#ppt_x"/>
                                          </p:val>
                                        </p:tav>
                                        <p:tav tm="100000">
                                          <p:val>
                                            <p:strVal val="#ppt_x"/>
                                          </p:val>
                                        </p:tav>
                                      </p:tavLst>
                                    </p:anim>
                                    <p:anim calcmode="lin" valueType="num">
                                      <p:cBhvr additive="base">
                                        <p:cTn id="106" dur="500" fill="hold"/>
                                        <p:tgtEl>
                                          <p:spTgt spid="23"/>
                                        </p:tgtEl>
                                        <p:attrNameLst>
                                          <p:attrName>ppt_y</p:attrName>
                                        </p:attrNameLst>
                                      </p:cBhvr>
                                      <p:tavLst>
                                        <p:tav tm="0">
                                          <p:val>
                                            <p:strVal val="#ppt_y+0.1"/>
                                          </p:val>
                                        </p:tav>
                                        <p:tav tm="100000">
                                          <p:val>
                                            <p:strVal val="#ppt_y"/>
                                          </p:val>
                                        </p:tav>
                                      </p:tavLst>
                                    </p:anim>
                                    <p:animEffect transition="in" filter="fade">
                                      <p:cBhvr>
                                        <p:cTn id="107" dur="500"/>
                                        <p:tgtEl>
                                          <p:spTgt spid="23"/>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p:tgtEl>
                                          <p:spTgt spid="24"/>
                                        </p:tgtEl>
                                        <p:attrNameLst>
                                          <p:attrName>ppt_y</p:attrName>
                                        </p:attrNameLst>
                                      </p:cBhvr>
                                      <p:tavLst>
                                        <p:tav tm="0">
                                          <p:val>
                                            <p:strVal val="#ppt_y+0.1"/>
                                          </p:val>
                                        </p:tav>
                                        <p:tav tm="100000">
                                          <p:val>
                                            <p:strVal val="#ppt_y"/>
                                          </p:val>
                                        </p:tav>
                                      </p:tavLst>
                                    </p:anim>
                                    <p:animEffect transition="in" filter="fade">
                                      <p:cBhvr>
                                        <p:cTn id="112" dur="500"/>
                                        <p:tgtEl>
                                          <p:spTgt spid="24"/>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ppt_x</p:attrName>
                                        </p:attrNameLst>
                                      </p:cBhvr>
                                      <p:tavLst>
                                        <p:tav tm="0">
                                          <p:val>
                                            <p:strVal val="#ppt_x"/>
                                          </p:val>
                                        </p:tav>
                                        <p:tav tm="100000">
                                          <p:val>
                                            <p:strVal val="#ppt_x"/>
                                          </p:val>
                                        </p:tav>
                                      </p:tavLst>
                                    </p:anim>
                                    <p:anim calcmode="lin" valueType="num">
                                      <p:cBhvr additive="base">
                                        <p:cTn id="116" dur="500" fill="hold"/>
                                        <p:tgtEl>
                                          <p:spTgt spid="25"/>
                                        </p:tgtEl>
                                        <p:attrNameLst>
                                          <p:attrName>ppt_y</p:attrName>
                                        </p:attrNameLst>
                                      </p:cBhvr>
                                      <p:tavLst>
                                        <p:tav tm="0">
                                          <p:val>
                                            <p:strVal val="#ppt_y+0.1"/>
                                          </p:val>
                                        </p:tav>
                                        <p:tav tm="100000">
                                          <p:val>
                                            <p:strVal val="#ppt_y"/>
                                          </p:val>
                                        </p:tav>
                                      </p:tavLst>
                                    </p:anim>
                                    <p:animEffect transition="in" filter="fade">
                                      <p:cBhvr>
                                        <p:cTn id="117" dur="500"/>
                                        <p:tgtEl>
                                          <p:spTgt spid="25"/>
                                        </p:tgtEl>
                                      </p:cBhvr>
                                    </p:animEffect>
                                  </p:childTnLst>
                                </p:cTn>
                              </p:par>
                              <p:par>
                                <p:cTn id="123" presetID="2" presetClass="entr" presetSubtype="4" fill="hold" grpId="0" nodeType="withEffect">
                                  <p:stCondLst>
                                    <p:cond delay="15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ppt_x</p:attrName>
                                        </p:attrNameLst>
                                      </p:cBhvr>
                                      <p:tavLst>
                                        <p:tav tm="0">
                                          <p:val>
                                            <p:strVal val="#ppt_x"/>
                                          </p:val>
                                        </p:tav>
                                        <p:tav tm="100000">
                                          <p:val>
                                            <p:strVal val="#ppt_x"/>
                                          </p:val>
                                        </p:tav>
                                      </p:tavLst>
                                    </p:anim>
                                    <p:anim calcmode="lin" valueType="num">
                                      <p:cBhvr additive="base">
                                        <p:cTn id="121" dur="500" fill="hold"/>
                                        <p:tgtEl>
                                          <p:spTgt spid="26"/>
                                        </p:tgtEl>
                                        <p:attrNameLst>
                                          <p:attrName>ppt_y</p:attrName>
                                        </p:attrNameLst>
                                      </p:cBhvr>
                                      <p:tavLst>
                                        <p:tav tm="0">
                                          <p:val>
                                            <p:strVal val="#ppt_y+0.1"/>
                                          </p:val>
                                        </p:tav>
                                        <p:tav tm="100000">
                                          <p:val>
                                            <p:strVal val="#ppt_y"/>
                                          </p:val>
                                        </p:tav>
                                      </p:tavLst>
                                    </p:anim>
                                    <p:animEffect transition="in" filter="fade">
                                      <p:cBhvr>
                                        <p:cTn id="122" dur="500"/>
                                        <p:tgtEl>
                                          <p:spTgt spid="26"/>
                                        </p:tgtEl>
                                      </p:cBhvr>
                                    </p:animEffect>
                                  </p:childTnLst>
                                </p:cTn>
                              </p:par>
                              <p:par>
                                <p:cTn id="128" presetID="2" presetClass="entr" presetSubtype="4" fill="hold" grpId="0" nodeType="withEffect">
                                  <p:stCondLst>
                                    <p:cond delay="2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ppt_x</p:attrName>
                                        </p:attrNameLst>
                                      </p:cBhvr>
                                      <p:tavLst>
                                        <p:tav tm="0">
                                          <p:val>
                                            <p:strVal val="#ppt_x"/>
                                          </p:val>
                                        </p:tav>
                                        <p:tav tm="100000">
                                          <p:val>
                                            <p:strVal val="#ppt_x"/>
                                          </p:val>
                                        </p:tav>
                                      </p:tavLst>
                                    </p:anim>
                                    <p:anim calcmode="lin" valueType="num">
                                      <p:cBhvr additive="base">
                                        <p:cTn id="126" dur="500" fill="hold"/>
                                        <p:tgtEl>
                                          <p:spTgt spid="27"/>
                                        </p:tgtEl>
                                        <p:attrNameLst>
                                          <p:attrName>ppt_y</p:attrName>
                                        </p:attrNameLst>
                                      </p:cBhvr>
                                      <p:tavLst>
                                        <p:tav tm="0">
                                          <p:val>
                                            <p:strVal val="#ppt_y+0.1"/>
                                          </p:val>
                                        </p:tav>
                                        <p:tav tm="100000">
                                          <p:val>
                                            <p:strVal val="#ppt_y"/>
                                          </p:val>
                                        </p:tav>
                                      </p:tavLst>
                                    </p:anim>
                                    <p:animEffect transition="in" filter="fade">
                                      <p:cBhvr>
                                        <p:cTn id="127" dur="500"/>
                                        <p:tgtEl>
                                          <p:spTgt spid="27"/>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28"/>
                                        </p:tgtEl>
                                        <p:attrNameLst>
                                          <p:attrName>style.visibility</p:attrName>
                                        </p:attrNameLst>
                                      </p:cBhvr>
                                      <p:to>
                                        <p:strVal val="visible"/>
                                      </p:to>
                                    </p:set>
                                    <p:anim calcmode="lin" valueType="num">
                                      <p:cBhvr additive="base">
                                        <p:cTn id="132" dur="500" fill="hold"/>
                                        <p:tgtEl>
                                          <p:spTgt spid="28"/>
                                        </p:tgtEl>
                                        <p:attrNameLst>
                                          <p:attrName>ppt_x</p:attrName>
                                        </p:attrNameLst>
                                      </p:cBhvr>
                                      <p:tavLst>
                                        <p:tav tm="0">
                                          <p:val>
                                            <p:strVal val="#ppt_x"/>
                                          </p:val>
                                        </p:tav>
                                        <p:tav tm="100000">
                                          <p:val>
                                            <p:strVal val="#ppt_x"/>
                                          </p:val>
                                        </p:tav>
                                      </p:tavLst>
                                    </p:anim>
                                    <p:anim calcmode="lin" valueType="num">
                                      <p:cBhvr additive="base">
                                        <p:cTn id="133" dur="500" fill="hold"/>
                                        <p:tgtEl>
                                          <p:spTgt spid="28"/>
                                        </p:tgtEl>
                                        <p:attrNameLst>
                                          <p:attrName>ppt_y</p:attrName>
                                        </p:attrNameLst>
                                      </p:cBhvr>
                                      <p:tavLst>
                                        <p:tav tm="0">
                                          <p:val>
                                            <p:strVal val="#ppt_y+0.1"/>
                                          </p:val>
                                        </p:tav>
                                        <p:tav tm="100000">
                                          <p:val>
                                            <p:strVal val="#ppt_y"/>
                                          </p:val>
                                        </p:tav>
                                      </p:tavLst>
                                    </p:anim>
                                    <p:animEffect transition="in" filter="fade">
                                      <p:cBhvr>
                                        <p:cTn id="134" dur="500"/>
                                        <p:tgtEl>
                                          <p:spTgt spid="28"/>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additive="base">
                                        <p:cTn id="137" dur="500" fill="hold"/>
                                        <p:tgtEl>
                                          <p:spTgt spid="29"/>
                                        </p:tgtEl>
                                        <p:attrNameLst>
                                          <p:attrName>ppt_x</p:attrName>
                                        </p:attrNameLst>
                                      </p:cBhvr>
                                      <p:tavLst>
                                        <p:tav tm="0">
                                          <p:val>
                                            <p:strVal val="#ppt_x"/>
                                          </p:val>
                                        </p:tav>
                                        <p:tav tm="100000">
                                          <p:val>
                                            <p:strVal val="#ppt_x"/>
                                          </p:val>
                                        </p:tav>
                                      </p:tavLst>
                                    </p:anim>
                                    <p:anim calcmode="lin" valueType="num">
                                      <p:cBhvr additive="base">
                                        <p:cTn id="138" dur="500" fill="hold"/>
                                        <p:tgtEl>
                                          <p:spTgt spid="29"/>
                                        </p:tgtEl>
                                        <p:attrNameLst>
                                          <p:attrName>ppt_y</p:attrName>
                                        </p:attrNameLst>
                                      </p:cBhvr>
                                      <p:tavLst>
                                        <p:tav tm="0">
                                          <p:val>
                                            <p:strVal val="#ppt_y+0.1"/>
                                          </p:val>
                                        </p:tav>
                                        <p:tav tm="100000">
                                          <p:val>
                                            <p:strVal val="#ppt_y"/>
                                          </p:val>
                                        </p:tav>
                                      </p:tavLst>
                                    </p:anim>
                                    <p:animEffect transition="in" filter="fade">
                                      <p:cBhvr>
                                        <p:cTn id="139" dur="500"/>
                                        <p:tgtEl>
                                          <p:spTgt spid="29"/>
                                        </p:tgtEl>
                                      </p:cBhvr>
                                    </p:animEffect>
                                  </p:childTnLst>
                                </p:cTn>
                              </p:par>
                              <p:par>
                                <p:cTn id="145" presetID="2" presetClass="entr" presetSubtype="4" fill="hold" grpId="0" nodeType="withEffect">
                                  <p:stCondLst>
                                    <p:cond delay="60"/>
                                  </p:stCondLst>
                                  <p:childTnLst>
                                    <p:set>
                                      <p:cBhvr>
                                        <p:cTn id="141" dur="1" fill="hold">
                                          <p:stCondLst>
                                            <p:cond delay="0"/>
                                          </p:stCondLst>
                                        </p:cTn>
                                        <p:tgtEl>
                                          <p:spTgt spid="30"/>
                                        </p:tgtEl>
                                        <p:attrNameLst>
                                          <p:attrName>style.visibility</p:attrName>
                                        </p:attrNameLst>
                                      </p:cBhvr>
                                      <p:to>
                                        <p:strVal val="visible"/>
                                      </p:to>
                                    </p:set>
                                    <p:anim calcmode="lin" valueType="num">
                                      <p:cBhvr additive="base">
                                        <p:cTn id="142" dur="500" fill="hold"/>
                                        <p:tgtEl>
                                          <p:spTgt spid="30"/>
                                        </p:tgtEl>
                                        <p:attrNameLst>
                                          <p:attrName>ppt_x</p:attrName>
                                        </p:attrNameLst>
                                      </p:cBhvr>
                                      <p:tavLst>
                                        <p:tav tm="0">
                                          <p:val>
                                            <p:strVal val="#ppt_x"/>
                                          </p:val>
                                        </p:tav>
                                        <p:tav tm="100000">
                                          <p:val>
                                            <p:strVal val="#ppt_x"/>
                                          </p:val>
                                        </p:tav>
                                      </p:tavLst>
                                    </p:anim>
                                    <p:anim calcmode="lin" valueType="num">
                                      <p:cBhvr additive="base">
                                        <p:cTn id="143" dur="500" fill="hold"/>
                                        <p:tgtEl>
                                          <p:spTgt spid="30"/>
                                        </p:tgtEl>
                                        <p:attrNameLst>
                                          <p:attrName>ppt_y</p:attrName>
                                        </p:attrNameLst>
                                      </p:cBhvr>
                                      <p:tavLst>
                                        <p:tav tm="0">
                                          <p:val>
                                            <p:strVal val="#ppt_y+0.1"/>
                                          </p:val>
                                        </p:tav>
                                        <p:tav tm="100000">
                                          <p:val>
                                            <p:strVal val="#ppt_y"/>
                                          </p:val>
                                        </p:tav>
                                      </p:tavLst>
                                    </p:anim>
                                    <p:animEffect transition="in" filter="fade">
                                      <p:cBhvr>
                                        <p:cTn id="144" dur="500"/>
                                        <p:tgtEl>
                                          <p:spTgt spid="30"/>
                                        </p:tgtEl>
                                      </p:cBhvr>
                                    </p:animEffect>
                                  </p:childTnLst>
                                </p:cTn>
                              </p:par>
                              <p:par>
                                <p:cTn id="150" presetID="2" presetClass="entr" presetSubtype="4" fill="hold" grpId="0" nodeType="withEffect">
                                  <p:stCondLst>
                                    <p:cond delay="60"/>
                                  </p:stCondLst>
                                  <p:childTnLst>
                                    <p:set>
                                      <p:cBhvr>
                                        <p:cTn id="146" dur="1" fill="hold">
                                          <p:stCondLst>
                                            <p:cond delay="0"/>
                                          </p:stCondLst>
                                        </p:cTn>
                                        <p:tgtEl>
                                          <p:spTgt spid="31"/>
                                        </p:tgtEl>
                                        <p:attrNameLst>
                                          <p:attrName>style.visibility</p:attrName>
                                        </p:attrNameLst>
                                      </p:cBhvr>
                                      <p:to>
                                        <p:strVal val="visible"/>
                                      </p:to>
                                    </p:set>
                                    <p:anim calcmode="lin" valueType="num">
                                      <p:cBhvr additive="base">
                                        <p:cTn id="147" dur="500" fill="hold"/>
                                        <p:tgtEl>
                                          <p:spTgt spid="31"/>
                                        </p:tgtEl>
                                        <p:attrNameLst>
                                          <p:attrName>ppt_x</p:attrName>
                                        </p:attrNameLst>
                                      </p:cBhvr>
                                      <p:tavLst>
                                        <p:tav tm="0">
                                          <p:val>
                                            <p:strVal val="#ppt_x"/>
                                          </p:val>
                                        </p:tav>
                                        <p:tav tm="100000">
                                          <p:val>
                                            <p:strVal val="#ppt_x"/>
                                          </p:val>
                                        </p:tav>
                                      </p:tavLst>
                                    </p:anim>
                                    <p:anim calcmode="lin" valueType="num">
                                      <p:cBhvr additive="base">
                                        <p:cTn id="148" dur="500" fill="hold"/>
                                        <p:tgtEl>
                                          <p:spTgt spid="31"/>
                                        </p:tgtEl>
                                        <p:attrNameLst>
                                          <p:attrName>ppt_y</p:attrName>
                                        </p:attrNameLst>
                                      </p:cBhvr>
                                      <p:tavLst>
                                        <p:tav tm="0">
                                          <p:val>
                                            <p:strVal val="#ppt_y+0.1"/>
                                          </p:val>
                                        </p:tav>
                                        <p:tav tm="100000">
                                          <p:val>
                                            <p:strVal val="#ppt_y"/>
                                          </p:val>
                                        </p:tav>
                                      </p:tavLst>
                                    </p:anim>
                                    <p:animEffect transition="in" filter="fade">
                                      <p:cBhvr>
                                        <p:cTn id="149" dur="500"/>
                                        <p:tgtEl>
                                          <p:spTgt spid="31"/>
                                        </p:tgtEl>
                                      </p:cBhvr>
                                    </p:animEffect>
                                  </p:childTnLst>
                                </p:cTn>
                              </p:par>
                              <p:par>
                                <p:cTn id="155" presetID="2" presetClass="entr" presetSubtype="4" fill="hold" grpId="0" nodeType="withEffect">
                                  <p:stCondLst>
                                    <p:cond delay="90"/>
                                  </p:stCondLst>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ppt_x"/>
                                          </p:val>
                                        </p:tav>
                                        <p:tav tm="100000">
                                          <p:val>
                                            <p:strVal val="#ppt_x"/>
                                          </p:val>
                                        </p:tav>
                                      </p:tavLst>
                                    </p:anim>
                                    <p:anim calcmode="lin" valueType="num">
                                      <p:cBhvr additive="base">
                                        <p:cTn id="153" dur="500" fill="hold"/>
                                        <p:tgtEl>
                                          <p:spTgt spid="32"/>
                                        </p:tgtEl>
                                        <p:attrNameLst>
                                          <p:attrName>ppt_y</p:attrName>
                                        </p:attrNameLst>
                                      </p:cBhvr>
                                      <p:tavLst>
                                        <p:tav tm="0">
                                          <p:val>
                                            <p:strVal val="#ppt_y+0.1"/>
                                          </p:val>
                                        </p:tav>
                                        <p:tav tm="100000">
                                          <p:val>
                                            <p:strVal val="#ppt_y"/>
                                          </p:val>
                                        </p:tav>
                                      </p:tavLst>
                                    </p:anim>
                                    <p:animEffect transition="in" filter="fade">
                                      <p:cBhvr>
                                        <p:cTn id="154" dur="500"/>
                                        <p:tgtEl>
                                          <p:spTgt spid="32"/>
                                        </p:tgtEl>
                                      </p:cBhvr>
                                    </p:animEffect>
                                  </p:childTnLst>
                                </p:cTn>
                              </p:par>
                              <p:par>
                                <p:cTn id="160" presetID="2" presetClass="entr" presetSubtype="4" fill="hold" grpId="0" nodeType="withEffect">
                                  <p:stCondLst>
                                    <p:cond delay="120"/>
                                  </p:stCondLst>
                                  <p:childTnLst>
                                    <p:set>
                                      <p:cBhvr>
                                        <p:cTn id="156" dur="1" fill="hold">
                                          <p:stCondLst>
                                            <p:cond delay="0"/>
                                          </p:stCondLst>
                                        </p:cTn>
                                        <p:tgtEl>
                                          <p:spTgt spid="33"/>
                                        </p:tgtEl>
                                        <p:attrNameLst>
                                          <p:attrName>style.visibility</p:attrName>
                                        </p:attrNameLst>
                                      </p:cBhvr>
                                      <p:to>
                                        <p:strVal val="visible"/>
                                      </p:to>
                                    </p:set>
                                    <p:anim calcmode="lin" valueType="num">
                                      <p:cBhvr additive="base">
                                        <p:cTn id="157" dur="500" fill="hold"/>
                                        <p:tgtEl>
                                          <p:spTgt spid="33"/>
                                        </p:tgtEl>
                                        <p:attrNameLst>
                                          <p:attrName>ppt_x</p:attrName>
                                        </p:attrNameLst>
                                      </p:cBhvr>
                                      <p:tavLst>
                                        <p:tav tm="0">
                                          <p:val>
                                            <p:strVal val="#ppt_x"/>
                                          </p:val>
                                        </p:tav>
                                        <p:tav tm="100000">
                                          <p:val>
                                            <p:strVal val="#ppt_x"/>
                                          </p:val>
                                        </p:tav>
                                      </p:tavLst>
                                    </p:anim>
                                    <p:anim calcmode="lin" valueType="num">
                                      <p:cBhvr additive="base">
                                        <p:cTn id="158" dur="500" fill="hold"/>
                                        <p:tgtEl>
                                          <p:spTgt spid="33"/>
                                        </p:tgtEl>
                                        <p:attrNameLst>
                                          <p:attrName>ppt_y</p:attrName>
                                        </p:attrNameLst>
                                      </p:cBhvr>
                                      <p:tavLst>
                                        <p:tav tm="0">
                                          <p:val>
                                            <p:strVal val="#ppt_y+0.1"/>
                                          </p:val>
                                        </p:tav>
                                        <p:tav tm="100000">
                                          <p:val>
                                            <p:strVal val="#ppt_y"/>
                                          </p:val>
                                        </p:tav>
                                      </p:tavLst>
                                    </p:anim>
                                    <p:animEffect transition="in" filter="fade">
                                      <p:cBhvr>
                                        <p:cTn id="159" dur="500"/>
                                        <p:tgtEl>
                                          <p:spTgt spid="33"/>
                                        </p:tgtEl>
                                      </p:cBhvr>
                                    </p:animEffect>
                                  </p:childTnLst>
                                </p:cTn>
                              </p:par>
                              <p:par>
                                <p:cTn id="165" presetID="2" presetClass="entr" presetSubtype="4" fill="hold" grpId="0" nodeType="withEffect">
                                  <p:stCondLst>
                                    <p:cond delay="150"/>
                                  </p:stCondLst>
                                  <p:childTnLst>
                                    <p:set>
                                      <p:cBhvr>
                                        <p:cTn id="161" dur="1" fill="hold">
                                          <p:stCondLst>
                                            <p:cond delay="0"/>
                                          </p:stCondLst>
                                        </p:cTn>
                                        <p:tgtEl>
                                          <p:spTgt spid="34"/>
                                        </p:tgtEl>
                                        <p:attrNameLst>
                                          <p:attrName>style.visibility</p:attrName>
                                        </p:attrNameLst>
                                      </p:cBhvr>
                                      <p:to>
                                        <p:strVal val="visible"/>
                                      </p:to>
                                    </p:set>
                                    <p:anim calcmode="lin" valueType="num">
                                      <p:cBhvr additive="base">
                                        <p:cTn id="162" dur="500" fill="hold"/>
                                        <p:tgtEl>
                                          <p:spTgt spid="34"/>
                                        </p:tgtEl>
                                        <p:attrNameLst>
                                          <p:attrName>ppt_x</p:attrName>
                                        </p:attrNameLst>
                                      </p:cBhvr>
                                      <p:tavLst>
                                        <p:tav tm="0">
                                          <p:val>
                                            <p:strVal val="#ppt_x"/>
                                          </p:val>
                                        </p:tav>
                                        <p:tav tm="100000">
                                          <p:val>
                                            <p:strVal val="#ppt_x"/>
                                          </p:val>
                                        </p:tav>
                                      </p:tavLst>
                                    </p:anim>
                                    <p:anim calcmode="lin" valueType="num">
                                      <p:cBhvr additive="base">
                                        <p:cTn id="163" dur="500" fill="hold"/>
                                        <p:tgtEl>
                                          <p:spTgt spid="34"/>
                                        </p:tgtEl>
                                        <p:attrNameLst>
                                          <p:attrName>ppt_y</p:attrName>
                                        </p:attrNameLst>
                                      </p:cBhvr>
                                      <p:tavLst>
                                        <p:tav tm="0">
                                          <p:val>
                                            <p:strVal val="#ppt_y+0.1"/>
                                          </p:val>
                                        </p:tav>
                                        <p:tav tm="100000">
                                          <p:val>
                                            <p:strVal val="#ppt_y"/>
                                          </p:val>
                                        </p:tav>
                                      </p:tavLst>
                                    </p:anim>
                                    <p:animEffect transition="in" filter="fade">
                                      <p:cBhvr>
                                        <p:cTn id="164" dur="500"/>
                                        <p:tgtEl>
                                          <p:spTgt spid="34"/>
                                        </p:tgtEl>
                                      </p:cBhvr>
                                    </p:animEffect>
                                  </p:childTnLst>
                                </p:cTn>
                              </p:par>
                              <p:par>
                                <p:cTn id="170" presetID="2" presetClass="entr" presetSubtype="4" fill="hold" grpId="0" nodeType="withEffect">
                                  <p:stCondLst>
                                    <p:cond delay="220"/>
                                  </p:stCondLst>
                                  <p:childTnLst>
                                    <p:set>
                                      <p:cBhvr>
                                        <p:cTn id="166" dur="1" fill="hold">
                                          <p:stCondLst>
                                            <p:cond delay="0"/>
                                          </p:stCondLst>
                                        </p:cTn>
                                        <p:tgtEl>
                                          <p:spTgt spid="35"/>
                                        </p:tgtEl>
                                        <p:attrNameLst>
                                          <p:attrName>style.visibility</p:attrName>
                                        </p:attrNameLst>
                                      </p:cBhvr>
                                      <p:to>
                                        <p:strVal val="visible"/>
                                      </p:to>
                                    </p:set>
                                    <p:anim calcmode="lin" valueType="num">
                                      <p:cBhvr additive="base">
                                        <p:cTn id="167" dur="500" fill="hold"/>
                                        <p:tgtEl>
                                          <p:spTgt spid="35"/>
                                        </p:tgtEl>
                                        <p:attrNameLst>
                                          <p:attrName>ppt_x</p:attrName>
                                        </p:attrNameLst>
                                      </p:cBhvr>
                                      <p:tavLst>
                                        <p:tav tm="0">
                                          <p:val>
                                            <p:strVal val="#ppt_x"/>
                                          </p:val>
                                        </p:tav>
                                        <p:tav tm="100000">
                                          <p:val>
                                            <p:strVal val="#ppt_x"/>
                                          </p:val>
                                        </p:tav>
                                      </p:tavLst>
                                    </p:anim>
                                    <p:anim calcmode="lin" valueType="num">
                                      <p:cBhvr additive="base">
                                        <p:cTn id="168" dur="500" fill="hold"/>
                                        <p:tgtEl>
                                          <p:spTgt spid="35"/>
                                        </p:tgtEl>
                                        <p:attrNameLst>
                                          <p:attrName>ppt_y</p:attrName>
                                        </p:attrNameLst>
                                      </p:cBhvr>
                                      <p:tavLst>
                                        <p:tav tm="0">
                                          <p:val>
                                            <p:strVal val="#ppt_y+0.1"/>
                                          </p:val>
                                        </p:tav>
                                        <p:tav tm="100000">
                                          <p:val>
                                            <p:strVal val="#ppt_y"/>
                                          </p:val>
                                        </p:tav>
                                      </p:tavLst>
                                    </p:anim>
                                    <p:animEffect transition="in" filter="fade">
                                      <p:cBhvr>
                                        <p:cTn id="169" dur="500"/>
                                        <p:tgtEl>
                                          <p:spTgt spid="35"/>
                                        </p:tgtEl>
                                      </p:cBhvr>
                                    </p:animEffect>
                                  </p:childTnLst>
                                </p:cTn>
                              </p:par>
                            </p:childTnLst>
                          </p:cTn>
                        </p:par>
                      </p:childTnLst>
                    </p:cTn>
                  </p:par>
                  <p:par>
                    <p:cTn id="171" fill="hold">
                      <p:stCondLst>
                        <p:cond delay="indefinite"/>
                      </p:stCondLst>
                      <p:childTnLst>
                        <p:par>
                          <p:cTn id="172" fill="hold">
                            <p:stCondLst>
                              <p:cond delay="0"/>
                            </p:stCondLst>
                            <p:childTnLst>
                              <p:par>
                                <p:cTn id="177" presetID="2" presetClass="entr" presetSubtype="4" fill="hold" grpId="0" nodeType="clickEffect">
                                  <p:stCondLst>
                                    <p:cond delay="0"/>
                                  </p:stCondLst>
                                  <p:childTnLst>
                                    <p:set>
                                      <p:cBhvr>
                                        <p:cTn id="173" dur="1" fill="hold">
                                          <p:stCondLst>
                                            <p:cond delay="0"/>
                                          </p:stCondLst>
                                        </p:cTn>
                                        <p:tgtEl>
                                          <p:spTgt spid="36"/>
                                        </p:tgtEl>
                                        <p:attrNameLst>
                                          <p:attrName>style.visibility</p:attrName>
                                        </p:attrNameLst>
                                      </p:cBhvr>
                                      <p:to>
                                        <p:strVal val="visible"/>
                                      </p:to>
                                    </p:set>
                                    <p:anim calcmode="lin" valueType="num">
                                      <p:cBhvr additive="base">
                                        <p:cTn id="174" dur="500" fill="hold"/>
                                        <p:tgtEl>
                                          <p:spTgt spid="36"/>
                                        </p:tgtEl>
                                        <p:attrNameLst>
                                          <p:attrName>ppt_x</p:attrName>
                                        </p:attrNameLst>
                                      </p:cBhvr>
                                      <p:tavLst>
                                        <p:tav tm="0">
                                          <p:val>
                                            <p:strVal val="#ppt_x"/>
                                          </p:val>
                                        </p:tav>
                                        <p:tav tm="100000">
                                          <p:val>
                                            <p:strVal val="#ppt_x"/>
                                          </p:val>
                                        </p:tav>
                                      </p:tavLst>
                                    </p:anim>
                                    <p:anim calcmode="lin" valueType="num">
                                      <p:cBhvr additive="base">
                                        <p:cTn id="175" dur="500" fill="hold"/>
                                        <p:tgtEl>
                                          <p:spTgt spid="36"/>
                                        </p:tgtEl>
                                        <p:attrNameLst>
                                          <p:attrName>ppt_y</p:attrName>
                                        </p:attrNameLst>
                                      </p:cBhvr>
                                      <p:tavLst>
                                        <p:tav tm="0">
                                          <p:val>
                                            <p:strVal val="#ppt_y+0.1"/>
                                          </p:val>
                                        </p:tav>
                                        <p:tav tm="100000">
                                          <p:val>
                                            <p:strVal val="#ppt_y"/>
                                          </p:val>
                                        </p:tav>
                                      </p:tavLst>
                                    </p:anim>
                                    <p:animEffect transition="in" filter="fade">
                                      <p:cBhvr>
                                        <p:cTn id="176" dur="500"/>
                                        <p:tgtEl>
                                          <p:spTgt spid="36"/>
                                        </p:tgtEl>
                                      </p:cBhvr>
                                    </p:animEffect>
                                  </p:childTnLst>
                                </p:cTn>
                              </p:par>
                              <p:par>
                                <p:cTn id="182" presetID="2" presetClass="entr" presetSubtype="4" fill="hold" grpId="0" nodeType="withEffect">
                                  <p:stCondLst>
                                    <p:cond delay="0"/>
                                  </p:stCondLst>
                                  <p:childTnLst>
                                    <p:set>
                                      <p:cBhvr>
                                        <p:cTn id="178" dur="1" fill="hold">
                                          <p:stCondLst>
                                            <p:cond delay="0"/>
                                          </p:stCondLst>
                                        </p:cTn>
                                        <p:tgtEl>
                                          <p:spTgt spid="37"/>
                                        </p:tgtEl>
                                        <p:attrNameLst>
                                          <p:attrName>style.visibility</p:attrName>
                                        </p:attrNameLst>
                                      </p:cBhvr>
                                      <p:to>
                                        <p:strVal val="visible"/>
                                      </p:to>
                                    </p:set>
                                    <p:anim calcmode="lin" valueType="num">
                                      <p:cBhvr additive="base">
                                        <p:cTn id="179" dur="500" fill="hold"/>
                                        <p:tgtEl>
                                          <p:spTgt spid="37"/>
                                        </p:tgtEl>
                                        <p:attrNameLst>
                                          <p:attrName>ppt_x</p:attrName>
                                        </p:attrNameLst>
                                      </p:cBhvr>
                                      <p:tavLst>
                                        <p:tav tm="0">
                                          <p:val>
                                            <p:strVal val="#ppt_x"/>
                                          </p:val>
                                        </p:tav>
                                        <p:tav tm="100000">
                                          <p:val>
                                            <p:strVal val="#ppt_x"/>
                                          </p:val>
                                        </p:tav>
                                      </p:tavLst>
                                    </p:anim>
                                    <p:anim calcmode="lin" valueType="num">
                                      <p:cBhvr additive="base">
                                        <p:cTn id="180" dur="500" fill="hold"/>
                                        <p:tgtEl>
                                          <p:spTgt spid="37"/>
                                        </p:tgtEl>
                                        <p:attrNameLst>
                                          <p:attrName>ppt_y</p:attrName>
                                        </p:attrNameLst>
                                      </p:cBhvr>
                                      <p:tavLst>
                                        <p:tav tm="0">
                                          <p:val>
                                            <p:strVal val="#ppt_y+0.1"/>
                                          </p:val>
                                        </p:tav>
                                        <p:tav tm="100000">
                                          <p:val>
                                            <p:strVal val="#ppt_y"/>
                                          </p:val>
                                        </p:tav>
                                      </p:tavLst>
                                    </p:anim>
                                    <p:animEffect transition="in" filter="fade">
                                      <p:cBhvr>
                                        <p:cTn id="181" dur="500"/>
                                        <p:tgtEl>
                                          <p:spTgt spid="37"/>
                                        </p:tgtEl>
                                      </p:cBhvr>
                                    </p:animEffect>
                                  </p:childTnLst>
                                </p:cTn>
                              </p:par>
                              <p:par>
                                <p:cTn id="187" presetID="2" presetClass="entr" presetSubtype="4" fill="hold" grpId="0" nodeType="withEffect">
                                  <p:stCondLst>
                                    <p:cond delay="0"/>
                                  </p:stCondLst>
                                  <p:childTnLst>
                                    <p:set>
                                      <p:cBhvr>
                                        <p:cTn id="183" dur="1" fill="hold">
                                          <p:stCondLst>
                                            <p:cond delay="0"/>
                                          </p:stCondLst>
                                        </p:cTn>
                                        <p:tgtEl>
                                          <p:spTgt spid="38"/>
                                        </p:tgtEl>
                                        <p:attrNameLst>
                                          <p:attrName>style.visibility</p:attrName>
                                        </p:attrNameLst>
                                      </p:cBhvr>
                                      <p:to>
                                        <p:strVal val="visible"/>
                                      </p:to>
                                    </p:set>
                                    <p:anim calcmode="lin" valueType="num">
                                      <p:cBhvr additive="base">
                                        <p:cTn id="184" dur="500" fill="hold"/>
                                        <p:tgtEl>
                                          <p:spTgt spid="38"/>
                                        </p:tgtEl>
                                        <p:attrNameLst>
                                          <p:attrName>ppt_x</p:attrName>
                                        </p:attrNameLst>
                                      </p:cBhvr>
                                      <p:tavLst>
                                        <p:tav tm="0">
                                          <p:val>
                                            <p:strVal val="#ppt_x"/>
                                          </p:val>
                                        </p:tav>
                                        <p:tav tm="100000">
                                          <p:val>
                                            <p:strVal val="#ppt_x"/>
                                          </p:val>
                                        </p:tav>
                                      </p:tavLst>
                                    </p:anim>
                                    <p:anim calcmode="lin" valueType="num">
                                      <p:cBhvr additive="base">
                                        <p:cTn id="185" dur="500" fill="hold"/>
                                        <p:tgtEl>
                                          <p:spTgt spid="38"/>
                                        </p:tgtEl>
                                        <p:attrNameLst>
                                          <p:attrName>ppt_y</p:attrName>
                                        </p:attrNameLst>
                                      </p:cBhvr>
                                      <p:tavLst>
                                        <p:tav tm="0">
                                          <p:val>
                                            <p:strVal val="#ppt_y+0.1"/>
                                          </p:val>
                                        </p:tav>
                                        <p:tav tm="100000">
                                          <p:val>
                                            <p:strVal val="#ppt_y"/>
                                          </p:val>
                                        </p:tav>
                                      </p:tavLst>
                                    </p:anim>
                                    <p:animEffect transition="in" filter="fade">
                                      <p:cBhvr>
                                        <p:cTn id="18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Pressure 4 · Latency Became a Product Feature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When a page takes a second longer, users leave - so the numbers themselves became a requirement</a:t>
            </a:r>
          </a:p>
        </p:txBody>
      </p:sp>
      <p:sp>
        <p:nvSpPr>
          <p:cNvPr id="4" name="a1u_ll3"/>
          <p:cNvSpPr txBox="1"/>
          <p:nvPr/>
        </p:nvSpPr>
        <p:spPr>
          <a:xfrm>
            <a:off x="457200" y="1216152"/>
            <a:ext cx="2468880" cy="310896"/>
          </a:xfrm>
          <a:prstGeom prst="rect">
            <a:avLst/>
          </a:prstGeom>
          <a:noFill/>
        </p:spPr>
        <p:txBody>
          <a:bodyPr wrap="square" lIns="0" tIns="0" rIns="0" bIns="0" anchor="ctr">
            <a:spAutoFit/>
          </a:bodyPr>
          <a:lstStyle/>
          <a:p>
            <a:pPr algn="l"/>
            <a:r>
              <a:rPr sz="1150" b="0">
                <a:solidFill>
                  <a:srgbClr val="334155"/>
                </a:solidFill>
                <a:latin typeface="Calibri"/>
              </a:rPr>
              <a:t>L1 CPU cache</a:t>
            </a:r>
          </a:p>
        </p:txBody>
      </p:sp>
      <p:sp>
        <p:nvSpPr>
          <p:cNvPr id="5" name="a1w_bar4"/>
          <p:cNvSpPr/>
          <p:nvPr/>
        </p:nvSpPr>
        <p:spPr>
          <a:xfrm>
            <a:off x="3017520" y="1271016"/>
            <a:ext cx="91440" cy="219456"/>
          </a:xfrm>
          <a:prstGeom prst="roundRect">
            <a:avLst>
              <a:gd name="adj" fmla="val 4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fd200_lv5"/>
          <p:cNvSpPr txBox="1"/>
          <p:nvPr/>
        </p:nvSpPr>
        <p:spPr>
          <a:xfrm>
            <a:off x="3200400" y="1216152"/>
            <a:ext cx="2103120" cy="310896"/>
          </a:xfrm>
          <a:prstGeom prst="rect">
            <a:avLst/>
          </a:prstGeom>
          <a:noFill/>
        </p:spPr>
        <p:txBody>
          <a:bodyPr wrap="square" lIns="0" tIns="0" rIns="0" bIns="0" anchor="ctr">
            <a:spAutoFit/>
          </a:bodyPr>
          <a:lstStyle/>
          <a:p>
            <a:pPr algn="l"/>
            <a:r>
              <a:rPr sz="1050" b="1">
                <a:solidFill>
                  <a:srgbClr val="0F766E"/>
                </a:solidFill>
                <a:latin typeface="Courier New"/>
              </a:rPr>
              <a:t>1 ns</a:t>
            </a:r>
          </a:p>
        </p:txBody>
      </p:sp>
      <p:sp>
        <p:nvSpPr>
          <p:cNvPr id="7" name="a1ud130_ll6"/>
          <p:cNvSpPr txBox="1"/>
          <p:nvPr/>
        </p:nvSpPr>
        <p:spPr>
          <a:xfrm>
            <a:off x="457200" y="1691640"/>
            <a:ext cx="2468880" cy="310896"/>
          </a:xfrm>
          <a:prstGeom prst="rect">
            <a:avLst/>
          </a:prstGeom>
          <a:noFill/>
        </p:spPr>
        <p:txBody>
          <a:bodyPr wrap="square" lIns="0" tIns="0" rIns="0" bIns="0" anchor="ctr">
            <a:spAutoFit/>
          </a:bodyPr>
          <a:lstStyle/>
          <a:p>
            <a:pPr algn="l"/>
            <a:r>
              <a:rPr sz="1150" b="0">
                <a:solidFill>
                  <a:srgbClr val="334155"/>
                </a:solidFill>
                <a:latin typeface="Calibri"/>
              </a:rPr>
              <a:t>Main memory (RAM)</a:t>
            </a:r>
          </a:p>
        </p:txBody>
      </p:sp>
      <p:sp>
        <p:nvSpPr>
          <p:cNvPr id="8" name="a1wd130_bar7"/>
          <p:cNvSpPr/>
          <p:nvPr/>
        </p:nvSpPr>
        <p:spPr>
          <a:xfrm>
            <a:off x="3017520" y="1746504"/>
            <a:ext cx="128016" cy="219456"/>
          </a:xfrm>
          <a:prstGeom prst="roundRect">
            <a:avLst>
              <a:gd name="adj" fmla="val 28571"/>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fd330_lv8"/>
          <p:cNvSpPr txBox="1"/>
          <p:nvPr/>
        </p:nvSpPr>
        <p:spPr>
          <a:xfrm>
            <a:off x="3236976" y="1691640"/>
            <a:ext cx="2103120" cy="310896"/>
          </a:xfrm>
          <a:prstGeom prst="rect">
            <a:avLst/>
          </a:prstGeom>
          <a:noFill/>
        </p:spPr>
        <p:txBody>
          <a:bodyPr wrap="square" lIns="0" tIns="0" rIns="0" bIns="0" anchor="ctr">
            <a:spAutoFit/>
          </a:bodyPr>
          <a:lstStyle/>
          <a:p>
            <a:pPr algn="l"/>
            <a:r>
              <a:rPr sz="1050" b="1">
                <a:solidFill>
                  <a:srgbClr val="0F766E"/>
                </a:solidFill>
                <a:latin typeface="Courier New"/>
              </a:rPr>
              <a:t>100 ns</a:t>
            </a:r>
          </a:p>
        </p:txBody>
      </p:sp>
      <p:sp>
        <p:nvSpPr>
          <p:cNvPr id="10" name="a1ud260_ll9"/>
          <p:cNvSpPr txBox="1"/>
          <p:nvPr/>
        </p:nvSpPr>
        <p:spPr>
          <a:xfrm>
            <a:off x="457200" y="2167128"/>
            <a:ext cx="2468880" cy="310896"/>
          </a:xfrm>
          <a:prstGeom prst="rect">
            <a:avLst/>
          </a:prstGeom>
          <a:noFill/>
        </p:spPr>
        <p:txBody>
          <a:bodyPr wrap="square" lIns="0" tIns="0" rIns="0" bIns="0" anchor="ctr">
            <a:spAutoFit/>
          </a:bodyPr>
          <a:lstStyle/>
          <a:p>
            <a:pPr algn="l"/>
            <a:r>
              <a:rPr sz="1150" b="0">
                <a:solidFill>
                  <a:srgbClr val="334155"/>
                </a:solidFill>
                <a:latin typeface="Calibri"/>
              </a:rPr>
              <a:t>SSD read</a:t>
            </a:r>
          </a:p>
        </p:txBody>
      </p:sp>
      <p:sp>
        <p:nvSpPr>
          <p:cNvPr id="11" name="a1wd260_bar10"/>
          <p:cNvSpPr/>
          <p:nvPr/>
        </p:nvSpPr>
        <p:spPr>
          <a:xfrm>
            <a:off x="3017520" y="2221992"/>
            <a:ext cx="1188720" cy="219456"/>
          </a:xfrm>
          <a:prstGeom prst="roundRect">
            <a:avLst>
              <a:gd name="adj" fmla="val 16666"/>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d460_lv11"/>
          <p:cNvSpPr txBox="1"/>
          <p:nvPr/>
        </p:nvSpPr>
        <p:spPr>
          <a:xfrm>
            <a:off x="4297680" y="2167128"/>
            <a:ext cx="2103120" cy="310896"/>
          </a:xfrm>
          <a:prstGeom prst="rect">
            <a:avLst/>
          </a:prstGeom>
          <a:noFill/>
        </p:spPr>
        <p:txBody>
          <a:bodyPr wrap="square" lIns="0" tIns="0" rIns="0" bIns="0" anchor="ctr">
            <a:spAutoFit/>
          </a:bodyPr>
          <a:lstStyle/>
          <a:p>
            <a:pPr algn="l"/>
            <a:r>
              <a:rPr sz="1050" b="1">
                <a:solidFill>
                  <a:srgbClr val="F59E0B"/>
                </a:solidFill>
                <a:latin typeface="Courier New"/>
              </a:rPr>
              <a:t>150 000 ns</a:t>
            </a:r>
          </a:p>
        </p:txBody>
      </p:sp>
      <p:sp>
        <p:nvSpPr>
          <p:cNvPr id="13" name="a1ud390_ll12"/>
          <p:cNvSpPr txBox="1"/>
          <p:nvPr/>
        </p:nvSpPr>
        <p:spPr>
          <a:xfrm>
            <a:off x="457200" y="2642616"/>
            <a:ext cx="2468880" cy="310896"/>
          </a:xfrm>
          <a:prstGeom prst="rect">
            <a:avLst/>
          </a:prstGeom>
          <a:noFill/>
        </p:spPr>
        <p:txBody>
          <a:bodyPr wrap="square" lIns="0" tIns="0" rIns="0" bIns="0" anchor="ctr">
            <a:spAutoFit/>
          </a:bodyPr>
          <a:lstStyle/>
          <a:p>
            <a:pPr algn="l"/>
            <a:r>
              <a:rPr sz="1150" b="0">
                <a:solidFill>
                  <a:srgbClr val="334155"/>
                </a:solidFill>
                <a:latin typeface="Calibri"/>
              </a:rPr>
              <a:t>Disk seek (HDD)</a:t>
            </a:r>
          </a:p>
        </p:txBody>
      </p:sp>
      <p:sp>
        <p:nvSpPr>
          <p:cNvPr id="14" name="a1wd390_bar13"/>
          <p:cNvSpPr/>
          <p:nvPr/>
        </p:nvSpPr>
        <p:spPr>
          <a:xfrm>
            <a:off x="3017520" y="2697480"/>
            <a:ext cx="3566160" cy="219456"/>
          </a:xfrm>
          <a:prstGeom prst="roundRect">
            <a:avLst>
              <a:gd name="adj" fmla="val 16666"/>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fd590_lv14"/>
          <p:cNvSpPr txBox="1"/>
          <p:nvPr/>
        </p:nvSpPr>
        <p:spPr>
          <a:xfrm>
            <a:off x="6675120" y="2642616"/>
            <a:ext cx="2103120" cy="310896"/>
          </a:xfrm>
          <a:prstGeom prst="rect">
            <a:avLst/>
          </a:prstGeom>
          <a:noFill/>
        </p:spPr>
        <p:txBody>
          <a:bodyPr wrap="square" lIns="0" tIns="0" rIns="0" bIns="0" anchor="ctr">
            <a:spAutoFit/>
          </a:bodyPr>
          <a:lstStyle/>
          <a:p>
            <a:pPr algn="l"/>
            <a:r>
              <a:rPr sz="1050" b="1">
                <a:solidFill>
                  <a:srgbClr val="DC382C"/>
                </a:solidFill>
                <a:latin typeface="Courier New"/>
              </a:rPr>
              <a:t>10 000 000 ns</a:t>
            </a:r>
          </a:p>
        </p:txBody>
      </p:sp>
      <p:sp>
        <p:nvSpPr>
          <p:cNvPr id="16" name="a1ud520_ll15"/>
          <p:cNvSpPr txBox="1"/>
          <p:nvPr/>
        </p:nvSpPr>
        <p:spPr>
          <a:xfrm>
            <a:off x="457200" y="3118104"/>
            <a:ext cx="2468880" cy="310896"/>
          </a:xfrm>
          <a:prstGeom prst="rect">
            <a:avLst/>
          </a:prstGeom>
          <a:noFill/>
        </p:spPr>
        <p:txBody>
          <a:bodyPr wrap="square" lIns="0" tIns="0" rIns="0" bIns="0" anchor="ctr">
            <a:spAutoFit/>
          </a:bodyPr>
          <a:lstStyle/>
          <a:p>
            <a:pPr algn="l"/>
            <a:r>
              <a:rPr sz="1150" b="0">
                <a:solidFill>
                  <a:srgbClr val="334155"/>
                </a:solidFill>
                <a:latin typeface="Calibri"/>
              </a:rPr>
              <a:t>Network round trip, same DC</a:t>
            </a:r>
          </a:p>
        </p:txBody>
      </p:sp>
      <p:sp>
        <p:nvSpPr>
          <p:cNvPr id="17" name="a1wd520_bar16"/>
          <p:cNvSpPr/>
          <p:nvPr/>
        </p:nvSpPr>
        <p:spPr>
          <a:xfrm>
            <a:off x="3017520" y="3172968"/>
            <a:ext cx="2011680" cy="219456"/>
          </a:xfrm>
          <a:prstGeom prst="roundRect">
            <a:avLst>
              <a:gd name="adj" fmla="val 16666"/>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fd720_lv17"/>
          <p:cNvSpPr txBox="1"/>
          <p:nvPr/>
        </p:nvSpPr>
        <p:spPr>
          <a:xfrm>
            <a:off x="5120640" y="3118104"/>
            <a:ext cx="2103120" cy="310896"/>
          </a:xfrm>
          <a:prstGeom prst="rect">
            <a:avLst/>
          </a:prstGeom>
          <a:noFill/>
        </p:spPr>
        <p:txBody>
          <a:bodyPr wrap="square" lIns="0" tIns="0" rIns="0" bIns="0" anchor="ctr">
            <a:spAutoFit/>
          </a:bodyPr>
          <a:lstStyle/>
          <a:p>
            <a:pPr algn="l"/>
            <a:r>
              <a:rPr sz="1050" b="1">
                <a:solidFill>
                  <a:srgbClr val="B45309"/>
                </a:solidFill>
                <a:latin typeface="Courier New"/>
              </a:rPr>
              <a:t>500 000 ns</a:t>
            </a:r>
          </a:p>
        </p:txBody>
      </p:sp>
      <p:sp>
        <p:nvSpPr>
          <p:cNvPr id="19" name="a2u_nb18"/>
          <p:cNvSpPr/>
          <p:nvPr/>
        </p:nvSpPr>
        <p:spPr>
          <a:xfrm>
            <a:off x="457200" y="3703320"/>
            <a:ext cx="8229600" cy="566928"/>
          </a:xfrm>
          <a:prstGeom prst="roundRect">
            <a:avLst>
              <a:gd name="adj" fmla="val 1290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nacc19"/>
          <p:cNvSpPr/>
          <p:nvPr/>
        </p:nvSpPr>
        <p:spPr>
          <a:xfrm>
            <a:off x="457200" y="3703320"/>
            <a:ext cx="50292" cy="566928"/>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nt20"/>
          <p:cNvSpPr txBox="1"/>
          <p:nvPr/>
        </p:nvSpPr>
        <p:spPr>
          <a:xfrm>
            <a:off x="658368" y="3703320"/>
            <a:ext cx="7827264" cy="566928"/>
          </a:xfrm>
          <a:prstGeom prst="rect">
            <a:avLst/>
          </a:prstGeom>
          <a:noFill/>
        </p:spPr>
        <p:txBody>
          <a:bodyPr wrap="square" lIns="0" tIns="0" rIns="0" bIns="0" anchor="ctr">
            <a:spAutoFit/>
          </a:bodyPr>
          <a:lstStyle/>
          <a:p>
            <a:pPr algn="l"/>
            <a:r>
              <a:rPr sz="1150" b="1">
                <a:solidFill>
                  <a:srgbClr val="DC382C"/>
                </a:solidFill>
                <a:latin typeface="Calibri"/>
              </a:rPr>
              <a:t>KEY  </a:t>
            </a:r>
            <a:r>
              <a:rPr sz="1150" b="0">
                <a:solidFill>
                  <a:srgbClr val="334155"/>
                </a:solidFill>
                <a:latin typeface="Calibri"/>
              </a:rPr>
              <a:t>Reading from memory is roughly 100 000 times faster than a disk seek. Every in-memory store - Redis included - is built on that one ratio. Deck 2 starts exactly here.</a:t>
            </a:r>
          </a:p>
        </p:txBody>
      </p:sp>
      <p:sp>
        <p:nvSpPr>
          <p:cNvPr id="22" name="ft21"/>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23" name="ft22"/>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2" presetID="2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7" presetID="2" presetClass="entr" presetSubtype="4" fill="hold" grpId="0" nodeType="withEffect">
                                  <p:stCondLst>
                                    <p:cond delay="13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ppt_y+0.1"/>
                                          </p:val>
                                        </p:tav>
                                        <p:tav tm="100000">
                                          <p:val>
                                            <p:strVal val="#ppt_y"/>
                                          </p:val>
                                        </p:tav>
                                      </p:tavLst>
                                    </p:anim>
                                    <p:animEffect transition="in" filter="fade">
                                      <p:cBhvr>
                                        <p:cTn id="16" dur="500"/>
                                        <p:tgtEl>
                                          <p:spTgt spid="7"/>
                                        </p:tgtEl>
                                      </p:cBhvr>
                                    </p:animEffect>
                                  </p:childTnLst>
                                </p:cTn>
                              </p:par>
                              <p:par>
                                <p:cTn id="20" presetID="22" presetClass="entr" presetSubtype="8" fill="hold" grpId="0" nodeType="withEffect">
                                  <p:stCondLst>
                                    <p:cond delay="13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3" presetID="10" presetClass="entr" presetSubtype="0" fill="hold" grpId="0"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8" presetID="2" presetClass="entr" presetSubtype="4" fill="hold" grpId="0" nodeType="withEffect">
                                  <p:stCondLst>
                                    <p:cond delay="26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ppt_y+0.1"/>
                                          </p:val>
                                        </p:tav>
                                        <p:tav tm="100000">
                                          <p:val>
                                            <p:strVal val="#ppt_y"/>
                                          </p:val>
                                        </p:tav>
                                      </p:tavLst>
                                    </p:anim>
                                    <p:animEffect transition="in" filter="fade">
                                      <p:cBhvr>
                                        <p:cTn id="27" dur="500"/>
                                        <p:tgtEl>
                                          <p:spTgt spid="10"/>
                                        </p:tgtEl>
                                      </p:cBhvr>
                                    </p:animEffect>
                                  </p:childTnLst>
                                </p:cTn>
                              </p:par>
                              <p:par>
                                <p:cTn id="31" presetID="22" presetClass="entr" presetSubtype="8" fill="hold" grpId="0" nodeType="withEffect">
                                  <p:stCondLst>
                                    <p:cond delay="26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4" presetID="10" presetClass="entr" presetSubtype="0" fill="hold" grpId="0" nodeType="withEffect">
                                  <p:stCondLst>
                                    <p:cond delay="33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9" presetID="2" presetClass="entr" presetSubtype="4" fill="hold" grpId="0" nodeType="withEffect">
                                  <p:stCondLst>
                                    <p:cond delay="39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
                                          </p:val>
                                        </p:tav>
                                        <p:tav tm="100000">
                                          <p:val>
                                            <p:strVal val="#ppt_x"/>
                                          </p:val>
                                        </p:tav>
                                      </p:tavLst>
                                    </p:anim>
                                    <p:anim calcmode="lin" valueType="num">
                                      <p:cBhvr additive="base">
                                        <p:cTn id="37" dur="500" fill="hold"/>
                                        <p:tgtEl>
                                          <p:spTgt spid="13"/>
                                        </p:tgtEl>
                                        <p:attrNameLst>
                                          <p:attrName>ppt_y</p:attrName>
                                        </p:attrNameLst>
                                      </p:cBhvr>
                                      <p:tavLst>
                                        <p:tav tm="0">
                                          <p:val>
                                            <p:strVal val="#ppt_y+0.1"/>
                                          </p:val>
                                        </p:tav>
                                        <p:tav tm="100000">
                                          <p:val>
                                            <p:strVal val="#ppt_y"/>
                                          </p:val>
                                        </p:tav>
                                      </p:tavLst>
                                    </p:anim>
                                    <p:animEffect transition="in" filter="fade">
                                      <p:cBhvr>
                                        <p:cTn id="38" dur="500"/>
                                        <p:tgtEl>
                                          <p:spTgt spid="13"/>
                                        </p:tgtEl>
                                      </p:cBhvr>
                                    </p:animEffect>
                                  </p:childTnLst>
                                </p:cTn>
                              </p:par>
                              <p:par>
                                <p:cTn id="42" presetID="22" presetClass="entr" presetSubtype="8" fill="hold" grpId="0" nodeType="withEffect">
                                  <p:stCondLst>
                                    <p:cond delay="39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par>
                                <p:cTn id="45" presetID="10" presetClass="entr" presetSubtype="0" fill="hold" grpId="0" nodeType="withEffect">
                                  <p:stCondLst>
                                    <p:cond delay="46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50" presetID="2" presetClass="entr" presetSubtype="4" fill="hold" grpId="0" nodeType="withEffect">
                                  <p:stCondLst>
                                    <p:cond delay="5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1"/>
                                          </p:val>
                                        </p:tav>
                                        <p:tav tm="100000">
                                          <p:val>
                                            <p:strVal val="#ppt_y"/>
                                          </p:val>
                                        </p:tav>
                                      </p:tavLst>
                                    </p:anim>
                                    <p:animEffect transition="in" filter="fade">
                                      <p:cBhvr>
                                        <p:cTn id="49" dur="500"/>
                                        <p:tgtEl>
                                          <p:spTgt spid="16"/>
                                        </p:tgtEl>
                                      </p:cBhvr>
                                    </p:animEffect>
                                  </p:childTnLst>
                                </p:cTn>
                              </p:par>
                              <p:par>
                                <p:cTn id="53" presetID="22" presetClass="entr" presetSubtype="8" fill="hold" grpId="0" nodeType="withEffect">
                                  <p:stCondLst>
                                    <p:cond delay="52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par>
                                <p:cTn id="56" presetID="10" presetClass="entr" presetSubtype="0" fill="hold" grpId="0" nodeType="withEffect">
                                  <p:stCondLst>
                                    <p:cond delay="59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9" presetID="10" presetClass="entr" presetSubtype="0" fill="hold" grpId="0" nodeType="withEffect">
                                  <p:stCondLst>
                                    <p:cond delay="72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6" presetID="2" presetClass="entr" presetSubtype="4"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ppt_y+0.1"/>
                                          </p:val>
                                        </p:tav>
                                        <p:tav tm="100000">
                                          <p:val>
                                            <p:strVal val="#ppt_y"/>
                                          </p:val>
                                        </p:tav>
                                      </p:tavLst>
                                    </p:anim>
                                    <p:animEffect transition="in" filter="fade">
                                      <p:cBhvr>
                                        <p:cTn id="65" dur="500"/>
                                        <p:tgtEl>
                                          <p:spTgt spid="19"/>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00" fill="hold"/>
                                        <p:tgtEl>
                                          <p:spTgt spid="20"/>
                                        </p:tgtEl>
                                        <p:attrNameLst>
                                          <p:attrName>ppt_x</p:attrName>
                                        </p:attrNameLst>
                                      </p:cBhvr>
                                      <p:tavLst>
                                        <p:tav tm="0">
                                          <p:val>
                                            <p:strVal val="#ppt_x"/>
                                          </p:val>
                                        </p:tav>
                                        <p:tav tm="100000">
                                          <p:val>
                                            <p:strVal val="#ppt_x"/>
                                          </p:val>
                                        </p:tav>
                                      </p:tavLst>
                                    </p:anim>
                                    <p:anim calcmode="lin" valueType="num">
                                      <p:cBhvr additive="base">
                                        <p:cTn id="69" dur="500" fill="hold"/>
                                        <p:tgtEl>
                                          <p:spTgt spid="20"/>
                                        </p:tgtEl>
                                        <p:attrNameLst>
                                          <p:attrName>ppt_y</p:attrName>
                                        </p:attrNameLst>
                                      </p:cBhvr>
                                      <p:tavLst>
                                        <p:tav tm="0">
                                          <p:val>
                                            <p:strVal val="#ppt_y+0.1"/>
                                          </p:val>
                                        </p:tav>
                                        <p:tav tm="100000">
                                          <p:val>
                                            <p:strVal val="#ppt_y"/>
                                          </p:val>
                                        </p:tav>
                                      </p:tavLst>
                                    </p:anim>
                                    <p:animEffect transition="in" filter="fade">
                                      <p:cBhvr>
                                        <p:cTn id="70" dur="500"/>
                                        <p:tgtEl>
                                          <p:spTgt spid="20"/>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ppt_y+0.1"/>
                                          </p:val>
                                        </p:tav>
                                        <p:tav tm="100000">
                                          <p:val>
                                            <p:strVal val="#ppt_y"/>
                                          </p:val>
                                        </p:tav>
                                      </p:tavLst>
                                    </p:anim>
                                    <p:animEffect transition="in" filter="fade">
                                      <p:cBhvr>
                                        <p:cTn id="7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A78BFA"/>
                </a:solidFill>
                <a:latin typeface="Calibri"/>
              </a:rPr>
              <a:t>02</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A Short History</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From Codd's paper to today's multi-model engines - the dates that matter</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1970  relational</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2004  MapReduce</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2006  BigTable</a:t>
            </a:r>
          </a:p>
        </p:txBody>
      </p:sp>
      <p:sp>
        <p:nvSpPr>
          <p:cNvPr id="8" name="a0ud1050_pill7"/>
          <p:cNvSpPr/>
          <p:nvPr/>
        </p:nvSpPr>
        <p:spPr>
          <a:xfrm>
            <a:off x="5532120" y="2752344"/>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2007  Dynamo</a:t>
            </a:r>
          </a:p>
        </p:txBody>
      </p:sp>
      <p:sp>
        <p:nvSpPr>
          <p:cNvPr id="9" name="a0ud1200_pill8"/>
          <p:cNvSpPr/>
          <p:nvPr/>
        </p:nvSpPr>
        <p:spPr>
          <a:xfrm>
            <a:off x="5532120" y="3227832"/>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2009  the name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ppt_y+0.1"/>
                                          </p:val>
                                        </p:tav>
                                        <p:tav tm="100000">
                                          <p:val>
                                            <p:strVal val="#ppt_y"/>
                                          </p:val>
                                        </p:tav>
                                      </p:tavLst>
                                    </p:anim>
                                    <p:animEffect transition="in" filter="fade">
                                      <p:cBhvr>
                                        <p:cTn id="11" dur="500"/>
                                        <p:tgtEl>
                                          <p:spTgt spid="3"/>
                                        </p:tgtEl>
                                      </p:cBhvr>
                                    </p:animEffect>
                                  </p:childTnLst>
                                </p:cTn>
                              </p:par>
                              <p:par>
                                <p:cTn id="15" presetID="10" presetClass="entr" presetSubtype="0" fill="hold" grpId="0" nodeType="withEffect">
                                  <p:stCondLst>
                                    <p:cond delay="4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20" presetID="2" presetClass="entr" presetSubtype="4"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ppt_y+0.1"/>
                                          </p:val>
                                        </p:tav>
                                        <p:tav tm="100000">
                                          <p:val>
                                            <p:strVal val="#ppt_y"/>
                                          </p:val>
                                        </p:tav>
                                      </p:tavLst>
                                    </p:anim>
                                    <p:animEffect transition="in" filter="fade">
                                      <p:cBhvr>
                                        <p:cTn id="19" dur="500"/>
                                        <p:tgtEl>
                                          <p:spTgt spid="5"/>
                                        </p:tgtEl>
                                      </p:cBhvr>
                                    </p:animEffect>
                                  </p:childTnLst>
                                </p:cTn>
                              </p:par>
                              <p:par>
                                <p:cTn id="25" presetID="2" presetClass="entr" presetSubtype="4" fill="hold" grpId="0" nodeType="withEffect">
                                  <p:stCondLst>
                                    <p:cond delay="7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ppt_y+0.1"/>
                                          </p:val>
                                        </p:tav>
                                        <p:tav tm="100000">
                                          <p:val>
                                            <p:strVal val="#ppt_y"/>
                                          </p:val>
                                        </p:tav>
                                      </p:tavLst>
                                    </p:anim>
                                    <p:animEffect transition="in" filter="fade">
                                      <p:cBhvr>
                                        <p:cTn id="24" dur="500"/>
                                        <p:tgtEl>
                                          <p:spTgt spid="6"/>
                                        </p:tgtEl>
                                      </p:cBhvr>
                                    </p:animEffect>
                                  </p:childTnLst>
                                </p:cTn>
                              </p:par>
                              <p:par>
                                <p:cTn id="30" presetID="2" presetClass="entr" presetSubtype="4" fill="hold" grpId="0" nodeType="withEffect">
                                  <p:stCondLst>
                                    <p:cond delay="9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ppt_y+0.1"/>
                                          </p:val>
                                        </p:tav>
                                        <p:tav tm="100000">
                                          <p:val>
                                            <p:strVal val="#ppt_y"/>
                                          </p:val>
                                        </p:tav>
                                      </p:tavLst>
                                    </p:anim>
                                    <p:animEffect transition="in" filter="fade">
                                      <p:cBhvr>
                                        <p:cTn id="29" dur="500"/>
                                        <p:tgtEl>
                                          <p:spTgt spid="7"/>
                                        </p:tgtEl>
                                      </p:cBhvr>
                                    </p:animEffect>
                                  </p:childTnLst>
                                </p:cTn>
                              </p:par>
                              <p:par>
                                <p:cTn id="35" presetID="2" presetClass="entr" presetSubtype="4" fill="hold" grpId="0" nodeType="withEffect">
                                  <p:stCondLst>
                                    <p:cond delay="10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ppt_y+0.1"/>
                                          </p:val>
                                        </p:tav>
                                        <p:tav tm="100000">
                                          <p:val>
                                            <p:strVal val="#ppt_y"/>
                                          </p:val>
                                        </p:tav>
                                      </p:tavLst>
                                    </p:anim>
                                    <p:animEffect transition="in" filter="fade">
                                      <p:cBhvr>
                                        <p:cTn id="34" dur="500"/>
                                        <p:tgtEl>
                                          <p:spTgt spid="8"/>
                                        </p:tgtEl>
                                      </p:cBhvr>
                                    </p:animEffect>
                                  </p:childTnLst>
                                </p:cTn>
                              </p:par>
                              <p:par>
                                <p:cTn id="40" presetID="2" presetClass="entr" presetSubtype="4" fill="hold" grpId="0" nodeType="withEffect">
                                  <p:stCondLst>
                                    <p:cond delay="120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ppt_y+0.1"/>
                                          </p:val>
                                        </p:tav>
                                        <p:tav tm="100000">
                                          <p:val>
                                            <p:strVal val="#ppt_y"/>
                                          </p:val>
                                        </p:tav>
                                      </p:tavLst>
                                    </p:anim>
                                    <p:animEffect transition="in" filter="fade">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Timeline · 1970 to 2006</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The long build-up, then three papers in three years</a:t>
            </a:r>
          </a:p>
        </p:txBody>
      </p:sp>
      <p:sp>
        <p:nvSpPr>
          <p:cNvPr id="4" name="a1w_axis3"/>
          <p:cNvSpPr/>
          <p:nvPr/>
        </p:nvSpPr>
        <p:spPr>
          <a:xfrm>
            <a:off x="457200" y="2313432"/>
            <a:ext cx="8229600"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d200_pt4"/>
          <p:cNvSpPr/>
          <p:nvPr/>
        </p:nvSpPr>
        <p:spPr>
          <a:xfrm>
            <a:off x="1115568" y="2258568"/>
            <a:ext cx="155448" cy="15544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200_card5"/>
          <p:cNvSpPr/>
          <p:nvPr/>
        </p:nvSpPr>
        <p:spPr>
          <a:xfrm>
            <a:off x="566928" y="128930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240_yr6"/>
          <p:cNvSpPr txBox="1"/>
          <p:nvPr/>
        </p:nvSpPr>
        <p:spPr>
          <a:xfrm>
            <a:off x="676656" y="1362456"/>
            <a:ext cx="1042415" cy="219456"/>
          </a:xfrm>
          <a:prstGeom prst="rect">
            <a:avLst/>
          </a:prstGeom>
          <a:noFill/>
        </p:spPr>
        <p:txBody>
          <a:bodyPr wrap="square" lIns="0" tIns="0" rIns="0" bIns="0" anchor="ctr">
            <a:spAutoFit/>
          </a:bodyPr>
          <a:lstStyle/>
          <a:p>
            <a:pPr algn="l"/>
            <a:r>
              <a:rPr sz="1100" b="1">
                <a:solidFill>
                  <a:srgbClr val="8B5CF6"/>
                </a:solidFill>
                <a:latin typeface="Courier New"/>
              </a:rPr>
              <a:t>1970</a:t>
            </a:r>
          </a:p>
        </p:txBody>
      </p:sp>
      <p:sp>
        <p:nvSpPr>
          <p:cNvPr id="8" name="a1ud260_tt7"/>
          <p:cNvSpPr txBox="1"/>
          <p:nvPr/>
        </p:nvSpPr>
        <p:spPr>
          <a:xfrm>
            <a:off x="676656" y="1563624"/>
            <a:ext cx="1042415" cy="219456"/>
          </a:xfrm>
          <a:prstGeom prst="rect">
            <a:avLst/>
          </a:prstGeom>
          <a:noFill/>
        </p:spPr>
        <p:txBody>
          <a:bodyPr wrap="square" lIns="0" tIns="0" rIns="0" bIns="0" anchor="ctr">
            <a:spAutoFit/>
          </a:bodyPr>
          <a:lstStyle/>
          <a:p>
            <a:pPr algn="l"/>
            <a:r>
              <a:rPr sz="1100" b="1">
                <a:solidFill>
                  <a:srgbClr val="0F172A"/>
                </a:solidFill>
                <a:latin typeface="Calibri"/>
              </a:rPr>
              <a:t>Codd's paper</a:t>
            </a:r>
          </a:p>
        </p:txBody>
      </p:sp>
      <p:sp>
        <p:nvSpPr>
          <p:cNvPr id="9" name="a1ud280_ts8"/>
          <p:cNvSpPr txBox="1"/>
          <p:nvPr/>
        </p:nvSpPr>
        <p:spPr>
          <a:xfrm>
            <a:off x="676656" y="1764792"/>
            <a:ext cx="1042415" cy="384048"/>
          </a:xfrm>
          <a:prstGeom prst="rect">
            <a:avLst/>
          </a:prstGeom>
          <a:noFill/>
        </p:spPr>
        <p:txBody>
          <a:bodyPr wrap="square" lIns="0" tIns="0" rIns="0" bIns="0" anchor="t">
            <a:spAutoFit/>
          </a:bodyPr>
          <a:lstStyle/>
          <a:p>
            <a:pPr algn="l"/>
            <a:r>
              <a:rPr sz="800" b="0">
                <a:solidFill>
                  <a:srgbClr val="64748B"/>
                </a:solidFill>
                <a:latin typeface="Calibri"/>
              </a:rPr>
              <a:t>The relational model is published at IBM</a:t>
            </a:r>
          </a:p>
        </p:txBody>
      </p:sp>
      <p:sp>
        <p:nvSpPr>
          <p:cNvPr id="10" name="a1ud350_pt9"/>
          <p:cNvSpPr/>
          <p:nvPr/>
        </p:nvSpPr>
        <p:spPr>
          <a:xfrm>
            <a:off x="2487168" y="2258568"/>
            <a:ext cx="155448" cy="15544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350_card10"/>
          <p:cNvSpPr/>
          <p:nvPr/>
        </p:nvSpPr>
        <p:spPr>
          <a:xfrm>
            <a:off x="1938528" y="256946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d390_yr11"/>
          <p:cNvSpPr txBox="1"/>
          <p:nvPr/>
        </p:nvSpPr>
        <p:spPr>
          <a:xfrm>
            <a:off x="2048256" y="2642616"/>
            <a:ext cx="1042415" cy="219456"/>
          </a:xfrm>
          <a:prstGeom prst="rect">
            <a:avLst/>
          </a:prstGeom>
          <a:noFill/>
        </p:spPr>
        <p:txBody>
          <a:bodyPr wrap="square" lIns="0" tIns="0" rIns="0" bIns="0" anchor="ctr">
            <a:spAutoFit/>
          </a:bodyPr>
          <a:lstStyle/>
          <a:p>
            <a:pPr algn="l"/>
            <a:r>
              <a:rPr sz="1100" b="1">
                <a:solidFill>
                  <a:srgbClr val="8B5CF6"/>
                </a:solidFill>
                <a:latin typeface="Courier New"/>
              </a:rPr>
              <a:t>1979</a:t>
            </a:r>
          </a:p>
        </p:txBody>
      </p:sp>
      <p:sp>
        <p:nvSpPr>
          <p:cNvPr id="13" name="a1ud410_tt12"/>
          <p:cNvSpPr txBox="1"/>
          <p:nvPr/>
        </p:nvSpPr>
        <p:spPr>
          <a:xfrm>
            <a:off x="2048256" y="2843784"/>
            <a:ext cx="1042415" cy="219456"/>
          </a:xfrm>
          <a:prstGeom prst="rect">
            <a:avLst/>
          </a:prstGeom>
          <a:noFill/>
        </p:spPr>
        <p:txBody>
          <a:bodyPr wrap="square" lIns="0" tIns="0" rIns="0" bIns="0" anchor="ctr">
            <a:spAutoFit/>
          </a:bodyPr>
          <a:lstStyle/>
          <a:p>
            <a:pPr algn="l"/>
            <a:r>
              <a:rPr sz="1100" b="1">
                <a:solidFill>
                  <a:srgbClr val="0F172A"/>
                </a:solidFill>
                <a:latin typeface="Calibri"/>
              </a:rPr>
              <a:t>Oracle v2</a:t>
            </a:r>
          </a:p>
        </p:txBody>
      </p:sp>
      <p:sp>
        <p:nvSpPr>
          <p:cNvPr id="14" name="a1ud430_ts13"/>
          <p:cNvSpPr txBox="1"/>
          <p:nvPr/>
        </p:nvSpPr>
        <p:spPr>
          <a:xfrm>
            <a:off x="2048256" y="3044952"/>
            <a:ext cx="1042415" cy="384048"/>
          </a:xfrm>
          <a:prstGeom prst="rect">
            <a:avLst/>
          </a:prstGeom>
          <a:noFill/>
        </p:spPr>
        <p:txBody>
          <a:bodyPr wrap="square" lIns="0" tIns="0" rIns="0" bIns="0" anchor="t">
            <a:spAutoFit/>
          </a:bodyPr>
          <a:lstStyle/>
          <a:p>
            <a:pPr algn="l"/>
            <a:r>
              <a:rPr sz="800" b="0">
                <a:solidFill>
                  <a:srgbClr val="64748B"/>
                </a:solidFill>
                <a:latin typeface="Calibri"/>
              </a:rPr>
              <a:t>First commercial SQL database ships</a:t>
            </a:r>
          </a:p>
        </p:txBody>
      </p:sp>
      <p:sp>
        <p:nvSpPr>
          <p:cNvPr id="15" name="a1ud500_pt14"/>
          <p:cNvSpPr/>
          <p:nvPr/>
        </p:nvSpPr>
        <p:spPr>
          <a:xfrm>
            <a:off x="3858768" y="2258568"/>
            <a:ext cx="155448" cy="1554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500_card15"/>
          <p:cNvSpPr/>
          <p:nvPr/>
        </p:nvSpPr>
        <p:spPr>
          <a:xfrm>
            <a:off x="3310128" y="128930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540_yr16"/>
          <p:cNvSpPr txBox="1"/>
          <p:nvPr/>
        </p:nvSpPr>
        <p:spPr>
          <a:xfrm>
            <a:off x="3419856" y="1362456"/>
            <a:ext cx="1042415" cy="219456"/>
          </a:xfrm>
          <a:prstGeom prst="rect">
            <a:avLst/>
          </a:prstGeom>
          <a:noFill/>
        </p:spPr>
        <p:txBody>
          <a:bodyPr wrap="square" lIns="0" tIns="0" rIns="0" bIns="0" anchor="ctr">
            <a:spAutoFit/>
          </a:bodyPr>
          <a:lstStyle/>
          <a:p>
            <a:pPr algn="l"/>
            <a:r>
              <a:rPr sz="1100" b="1">
                <a:solidFill>
                  <a:srgbClr val="0F766E"/>
                </a:solidFill>
                <a:latin typeface="Courier New"/>
              </a:rPr>
              <a:t>1998</a:t>
            </a:r>
          </a:p>
        </p:txBody>
      </p:sp>
      <p:sp>
        <p:nvSpPr>
          <p:cNvPr id="18" name="a1ud560_tt17"/>
          <p:cNvSpPr txBox="1"/>
          <p:nvPr/>
        </p:nvSpPr>
        <p:spPr>
          <a:xfrm>
            <a:off x="3419856" y="1563624"/>
            <a:ext cx="1042415" cy="219456"/>
          </a:xfrm>
          <a:prstGeom prst="rect">
            <a:avLst/>
          </a:prstGeom>
          <a:noFill/>
        </p:spPr>
        <p:txBody>
          <a:bodyPr wrap="square" lIns="0" tIns="0" rIns="0" bIns="0" anchor="ctr">
            <a:spAutoFit/>
          </a:bodyPr>
          <a:lstStyle/>
          <a:p>
            <a:pPr algn="l"/>
            <a:r>
              <a:rPr sz="1100" b="1">
                <a:solidFill>
                  <a:srgbClr val="0F172A"/>
                </a:solidFill>
                <a:latin typeface="Calibri"/>
              </a:rPr>
              <a:t>"NoSQL"</a:t>
            </a:r>
          </a:p>
        </p:txBody>
      </p:sp>
      <p:sp>
        <p:nvSpPr>
          <p:cNvPr id="19" name="a1ud580_ts18"/>
          <p:cNvSpPr txBox="1"/>
          <p:nvPr/>
        </p:nvSpPr>
        <p:spPr>
          <a:xfrm>
            <a:off x="3419856" y="1764792"/>
            <a:ext cx="1042415" cy="384048"/>
          </a:xfrm>
          <a:prstGeom prst="rect">
            <a:avLst/>
          </a:prstGeom>
          <a:noFill/>
        </p:spPr>
        <p:txBody>
          <a:bodyPr wrap="square" lIns="0" tIns="0" rIns="0" bIns="0" anchor="t">
            <a:spAutoFit/>
          </a:bodyPr>
          <a:lstStyle/>
          <a:p>
            <a:pPr algn="l"/>
            <a:r>
              <a:rPr sz="800" b="0">
                <a:solidFill>
                  <a:srgbClr val="64748B"/>
                </a:solidFill>
                <a:latin typeface="Calibri"/>
              </a:rPr>
              <a:t>Carlo Strozzi names a relational DB with no SQL layer</a:t>
            </a:r>
          </a:p>
        </p:txBody>
      </p:sp>
      <p:sp>
        <p:nvSpPr>
          <p:cNvPr id="20" name="a1ud650_pt19"/>
          <p:cNvSpPr/>
          <p:nvPr/>
        </p:nvSpPr>
        <p:spPr>
          <a:xfrm>
            <a:off x="5230368" y="2258568"/>
            <a:ext cx="155448" cy="15544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650_card20"/>
          <p:cNvSpPr/>
          <p:nvPr/>
        </p:nvSpPr>
        <p:spPr>
          <a:xfrm>
            <a:off x="4681728" y="256946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690_yr21"/>
          <p:cNvSpPr txBox="1"/>
          <p:nvPr/>
        </p:nvSpPr>
        <p:spPr>
          <a:xfrm>
            <a:off x="4791456" y="2642616"/>
            <a:ext cx="1042415" cy="219456"/>
          </a:xfrm>
          <a:prstGeom prst="rect">
            <a:avLst/>
          </a:prstGeom>
          <a:noFill/>
        </p:spPr>
        <p:txBody>
          <a:bodyPr wrap="square" lIns="0" tIns="0" rIns="0" bIns="0" anchor="ctr">
            <a:spAutoFit/>
          </a:bodyPr>
          <a:lstStyle/>
          <a:p>
            <a:pPr algn="l"/>
            <a:r>
              <a:rPr sz="1100" b="1">
                <a:solidFill>
                  <a:srgbClr val="B45309"/>
                </a:solidFill>
                <a:latin typeface="Courier New"/>
              </a:rPr>
              <a:t>2003</a:t>
            </a:r>
          </a:p>
        </p:txBody>
      </p:sp>
      <p:sp>
        <p:nvSpPr>
          <p:cNvPr id="23" name="a1ud710_tt22"/>
          <p:cNvSpPr txBox="1"/>
          <p:nvPr/>
        </p:nvSpPr>
        <p:spPr>
          <a:xfrm>
            <a:off x="4791456" y="2843784"/>
            <a:ext cx="1042415" cy="219456"/>
          </a:xfrm>
          <a:prstGeom prst="rect">
            <a:avLst/>
          </a:prstGeom>
          <a:noFill/>
        </p:spPr>
        <p:txBody>
          <a:bodyPr wrap="square" lIns="0" tIns="0" rIns="0" bIns="0" anchor="ctr">
            <a:spAutoFit/>
          </a:bodyPr>
          <a:lstStyle/>
          <a:p>
            <a:pPr algn="l"/>
            <a:r>
              <a:rPr sz="1100" b="1">
                <a:solidFill>
                  <a:srgbClr val="0F172A"/>
                </a:solidFill>
                <a:latin typeface="Calibri"/>
              </a:rPr>
              <a:t>Memcached</a:t>
            </a:r>
          </a:p>
        </p:txBody>
      </p:sp>
      <p:sp>
        <p:nvSpPr>
          <p:cNvPr id="24" name="a1ud730_ts23"/>
          <p:cNvSpPr txBox="1"/>
          <p:nvPr/>
        </p:nvSpPr>
        <p:spPr>
          <a:xfrm>
            <a:off x="4791456" y="3044952"/>
            <a:ext cx="1042415" cy="384048"/>
          </a:xfrm>
          <a:prstGeom prst="rect">
            <a:avLst/>
          </a:prstGeom>
          <a:noFill/>
        </p:spPr>
        <p:txBody>
          <a:bodyPr wrap="square" lIns="0" tIns="0" rIns="0" bIns="0" anchor="t">
            <a:spAutoFit/>
          </a:bodyPr>
          <a:lstStyle/>
          <a:p>
            <a:pPr algn="l"/>
            <a:r>
              <a:rPr sz="800" b="0">
                <a:solidFill>
                  <a:srgbClr val="64748B"/>
                </a:solidFill>
                <a:latin typeface="Calibri"/>
              </a:rPr>
              <a:t>Brad Fitzpatrick caches LiveJournal in RAM</a:t>
            </a:r>
          </a:p>
        </p:txBody>
      </p:sp>
      <p:sp>
        <p:nvSpPr>
          <p:cNvPr id="25" name="a1ud800_pt24"/>
          <p:cNvSpPr/>
          <p:nvPr/>
        </p:nvSpPr>
        <p:spPr>
          <a:xfrm>
            <a:off x="6601968" y="2258568"/>
            <a:ext cx="155448" cy="1554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800_card25"/>
          <p:cNvSpPr/>
          <p:nvPr/>
        </p:nvSpPr>
        <p:spPr>
          <a:xfrm>
            <a:off x="6053328" y="128930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840_yr26"/>
          <p:cNvSpPr txBox="1"/>
          <p:nvPr/>
        </p:nvSpPr>
        <p:spPr>
          <a:xfrm>
            <a:off x="6163056" y="1362456"/>
            <a:ext cx="1042415" cy="219456"/>
          </a:xfrm>
          <a:prstGeom prst="rect">
            <a:avLst/>
          </a:prstGeom>
          <a:noFill/>
        </p:spPr>
        <p:txBody>
          <a:bodyPr wrap="square" lIns="0" tIns="0" rIns="0" bIns="0" anchor="ctr">
            <a:spAutoFit/>
          </a:bodyPr>
          <a:lstStyle/>
          <a:p>
            <a:pPr algn="l"/>
            <a:r>
              <a:rPr sz="1100" b="1">
                <a:solidFill>
                  <a:srgbClr val="0F766E"/>
                </a:solidFill>
                <a:latin typeface="Courier New"/>
              </a:rPr>
              <a:t>2004</a:t>
            </a:r>
          </a:p>
        </p:txBody>
      </p:sp>
      <p:sp>
        <p:nvSpPr>
          <p:cNvPr id="28" name="a1ud860_tt27"/>
          <p:cNvSpPr txBox="1"/>
          <p:nvPr/>
        </p:nvSpPr>
        <p:spPr>
          <a:xfrm>
            <a:off x="6163056" y="1563624"/>
            <a:ext cx="1042415" cy="219456"/>
          </a:xfrm>
          <a:prstGeom prst="rect">
            <a:avLst/>
          </a:prstGeom>
          <a:noFill/>
        </p:spPr>
        <p:txBody>
          <a:bodyPr wrap="square" lIns="0" tIns="0" rIns="0" bIns="0" anchor="ctr">
            <a:spAutoFit/>
          </a:bodyPr>
          <a:lstStyle/>
          <a:p>
            <a:pPr algn="l"/>
            <a:r>
              <a:rPr sz="1100" b="1">
                <a:solidFill>
                  <a:srgbClr val="0F172A"/>
                </a:solidFill>
                <a:latin typeface="Calibri"/>
              </a:rPr>
              <a:t>MapReduce</a:t>
            </a:r>
          </a:p>
        </p:txBody>
      </p:sp>
      <p:sp>
        <p:nvSpPr>
          <p:cNvPr id="29" name="a1ud880_ts28"/>
          <p:cNvSpPr txBox="1"/>
          <p:nvPr/>
        </p:nvSpPr>
        <p:spPr>
          <a:xfrm>
            <a:off x="6163056" y="1764792"/>
            <a:ext cx="1042415" cy="384048"/>
          </a:xfrm>
          <a:prstGeom prst="rect">
            <a:avLst/>
          </a:prstGeom>
          <a:noFill/>
        </p:spPr>
        <p:txBody>
          <a:bodyPr wrap="square" lIns="0" tIns="0" rIns="0" bIns="0" anchor="t">
            <a:spAutoFit/>
          </a:bodyPr>
          <a:lstStyle/>
          <a:p>
            <a:pPr algn="l"/>
            <a:r>
              <a:rPr sz="800" b="0">
                <a:solidFill>
                  <a:srgbClr val="64748B"/>
                </a:solidFill>
                <a:latin typeface="Calibri"/>
              </a:rPr>
              <a:t>Google publishes batch processing on commodity clusters</a:t>
            </a:r>
          </a:p>
        </p:txBody>
      </p:sp>
      <p:sp>
        <p:nvSpPr>
          <p:cNvPr id="30" name="a1ud950_pt29"/>
          <p:cNvSpPr/>
          <p:nvPr/>
        </p:nvSpPr>
        <p:spPr>
          <a:xfrm>
            <a:off x="7973567" y="2258568"/>
            <a:ext cx="155448" cy="155448"/>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ud950_card30"/>
          <p:cNvSpPr/>
          <p:nvPr/>
        </p:nvSpPr>
        <p:spPr>
          <a:xfrm>
            <a:off x="7424927" y="256946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ud990_yr31"/>
          <p:cNvSpPr txBox="1"/>
          <p:nvPr/>
        </p:nvSpPr>
        <p:spPr>
          <a:xfrm>
            <a:off x="7534655" y="2642616"/>
            <a:ext cx="1042415" cy="219456"/>
          </a:xfrm>
          <a:prstGeom prst="rect">
            <a:avLst/>
          </a:prstGeom>
          <a:noFill/>
        </p:spPr>
        <p:txBody>
          <a:bodyPr wrap="square" lIns="0" tIns="0" rIns="0" bIns="0" anchor="ctr">
            <a:spAutoFit/>
          </a:bodyPr>
          <a:lstStyle/>
          <a:p>
            <a:pPr algn="l"/>
            <a:r>
              <a:rPr sz="1100" b="1">
                <a:solidFill>
                  <a:srgbClr val="DC382C"/>
                </a:solidFill>
                <a:latin typeface="Courier New"/>
              </a:rPr>
              <a:t>2006</a:t>
            </a:r>
          </a:p>
        </p:txBody>
      </p:sp>
      <p:sp>
        <p:nvSpPr>
          <p:cNvPr id="33" name="a1ud1010_tt32"/>
          <p:cNvSpPr txBox="1"/>
          <p:nvPr/>
        </p:nvSpPr>
        <p:spPr>
          <a:xfrm>
            <a:off x="7534655" y="2843784"/>
            <a:ext cx="1042415" cy="219456"/>
          </a:xfrm>
          <a:prstGeom prst="rect">
            <a:avLst/>
          </a:prstGeom>
          <a:noFill/>
        </p:spPr>
        <p:txBody>
          <a:bodyPr wrap="square" lIns="0" tIns="0" rIns="0" bIns="0" anchor="ctr">
            <a:spAutoFit/>
          </a:bodyPr>
          <a:lstStyle/>
          <a:p>
            <a:pPr algn="l"/>
            <a:r>
              <a:rPr sz="1100" b="1">
                <a:solidFill>
                  <a:srgbClr val="0F172A"/>
                </a:solidFill>
                <a:latin typeface="Calibri"/>
              </a:rPr>
              <a:t>BigTable</a:t>
            </a:r>
          </a:p>
        </p:txBody>
      </p:sp>
      <p:sp>
        <p:nvSpPr>
          <p:cNvPr id="34" name="a1ud1030_ts33"/>
          <p:cNvSpPr txBox="1"/>
          <p:nvPr/>
        </p:nvSpPr>
        <p:spPr>
          <a:xfrm>
            <a:off x="7534655" y="3044952"/>
            <a:ext cx="1042415" cy="384048"/>
          </a:xfrm>
          <a:prstGeom prst="rect">
            <a:avLst/>
          </a:prstGeom>
          <a:noFill/>
        </p:spPr>
        <p:txBody>
          <a:bodyPr wrap="square" lIns="0" tIns="0" rIns="0" bIns="0" anchor="t">
            <a:spAutoFit/>
          </a:bodyPr>
          <a:lstStyle/>
          <a:p>
            <a:pPr algn="l"/>
            <a:r>
              <a:rPr sz="800" b="0">
                <a:solidFill>
                  <a:srgbClr val="64748B"/>
                </a:solidFill>
                <a:latin typeface="Calibri"/>
              </a:rPr>
              <a:t>Google publishes the wide-column model</a:t>
            </a:r>
          </a:p>
        </p:txBody>
      </p:sp>
      <p:sp>
        <p:nvSpPr>
          <p:cNvPr id="35" name="a2u_nb34"/>
          <p:cNvSpPr/>
          <p:nvPr/>
        </p:nvSpPr>
        <p:spPr>
          <a:xfrm>
            <a:off x="457200" y="3758183"/>
            <a:ext cx="8229600" cy="475488"/>
          </a:xfrm>
          <a:prstGeom prst="roundRect">
            <a:avLst>
              <a:gd name="adj" fmla="val 15384"/>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_nacc35"/>
          <p:cNvSpPr/>
          <p:nvPr/>
        </p:nvSpPr>
        <p:spPr>
          <a:xfrm>
            <a:off x="457200" y="3758183"/>
            <a:ext cx="50292" cy="4754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_nt36"/>
          <p:cNvSpPr txBox="1"/>
          <p:nvPr/>
        </p:nvSpPr>
        <p:spPr>
          <a:xfrm>
            <a:off x="658368" y="3758183"/>
            <a:ext cx="7827264" cy="475488"/>
          </a:xfrm>
          <a:prstGeom prst="rect">
            <a:avLst/>
          </a:prstGeom>
          <a:noFill/>
        </p:spPr>
        <p:txBody>
          <a:bodyPr wrap="square" lIns="0" tIns="0" rIns="0" bIns="0" anchor="ctr">
            <a:spAutoFit/>
          </a:bodyPr>
          <a:lstStyle/>
          <a:p>
            <a:pPr algn="l"/>
            <a:r>
              <a:rPr sz="1050" b="1">
                <a:solidFill>
                  <a:srgbClr val="B45309"/>
                </a:solidFill>
                <a:latin typeface="Calibri"/>
              </a:rPr>
              <a:t>!  </a:t>
            </a:r>
            <a:r>
              <a:rPr sz="1050" b="0">
                <a:solidFill>
                  <a:srgbClr val="334155"/>
                </a:solidFill>
                <a:latin typeface="Calibri"/>
              </a:rPr>
              <a:t>Strozzi's 1998 "NoSQL" is a historical accident - his database was relational, it just had no SQL interface. The name was reused eleven years later for something else entirely.</a:t>
            </a:r>
          </a:p>
        </p:txBody>
      </p:sp>
      <p:sp>
        <p:nvSpPr>
          <p:cNvPr id="38" name="ft3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9" name="ft3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500"/>
                                        <p:tgtEl>
                                          <p:spTgt spid="4"/>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fill="hold"/>
                                        <p:tgtEl>
                                          <p:spTgt spid="5"/>
                                        </p:tgtEl>
                                        <p:attrNameLst>
                                          <p:attrName>ppt_x</p:attrName>
                                        </p:attrNameLst>
                                      </p:cBhvr>
                                      <p:tavLst>
                                        <p:tav tm="0">
                                          <p:val>
                                            <p:strVal val="#ppt_x"/>
                                          </p:val>
                                        </p:tav>
                                        <p:tav tm="100000">
                                          <p:val>
                                            <p:strVal val="#ppt_x"/>
                                          </p:val>
                                        </p:tav>
                                      </p:tavLst>
                                    </p:anim>
                                    <p:anim calcmode="lin" valueType="num">
                                      <p:cBhvr additive="base">
                                        <p:cTn id="10" dur="500" fill="hold"/>
                                        <p:tgtEl>
                                          <p:spTgt spid="5"/>
                                        </p:tgtEl>
                                        <p:attrNameLst>
                                          <p:attrName>ppt_y</p:attrName>
                                        </p:attrNameLst>
                                      </p:cBhvr>
                                      <p:tavLst>
                                        <p:tav tm="0">
                                          <p:val>
                                            <p:strVal val="#ppt_y+0.1"/>
                                          </p:val>
                                        </p:tav>
                                        <p:tav tm="100000">
                                          <p:val>
                                            <p:strVal val="#ppt_y"/>
                                          </p:val>
                                        </p:tav>
                                      </p:tavLst>
                                    </p:anim>
                                    <p:animEffect transition="in" filter="fade">
                                      <p:cBhvr>
                                        <p:cTn id="11" dur="500"/>
                                        <p:tgtEl>
                                          <p:spTgt spid="5"/>
                                        </p:tgtEl>
                                      </p:cBhvr>
                                    </p:animEffect>
                                  </p:childTnLst>
                                </p:cTn>
                              </p:par>
                              <p:par>
                                <p:cTn id="17" presetID="2" presetClass="entr" presetSubtype="4" fill="hold" grpId="0" nodeType="withEffect">
                                  <p:stCondLst>
                                    <p:cond delay="20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ppt_y+0.1"/>
                                          </p:val>
                                        </p:tav>
                                        <p:tav tm="100000">
                                          <p:val>
                                            <p:strVal val="#ppt_y"/>
                                          </p:val>
                                        </p:tav>
                                      </p:tavLst>
                                    </p:anim>
                                    <p:animEffect transition="in" filter="fade">
                                      <p:cBhvr>
                                        <p:cTn id="16" dur="500"/>
                                        <p:tgtEl>
                                          <p:spTgt spid="6"/>
                                        </p:tgtEl>
                                      </p:cBhvr>
                                    </p:animEffect>
                                  </p:childTnLst>
                                </p:cTn>
                              </p:par>
                              <p:par>
                                <p:cTn id="22" presetID="2" presetClass="entr" presetSubtype="4" fill="hold" grpId="0" nodeType="withEffect">
                                  <p:stCondLst>
                                    <p:cond delay="24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ppt_y+0.1"/>
                                          </p:val>
                                        </p:tav>
                                        <p:tav tm="100000">
                                          <p:val>
                                            <p:strVal val="#ppt_y"/>
                                          </p:val>
                                        </p:tav>
                                      </p:tavLst>
                                    </p:anim>
                                    <p:animEffect transition="in" filter="fade">
                                      <p:cBhvr>
                                        <p:cTn id="21" dur="500"/>
                                        <p:tgtEl>
                                          <p:spTgt spid="7"/>
                                        </p:tgtEl>
                                      </p:cBhvr>
                                    </p:animEffect>
                                  </p:childTnLst>
                                </p:cTn>
                              </p:par>
                              <p:par>
                                <p:cTn id="27" presetID="2" presetClass="entr" presetSubtype="4" fill="hold" grpId="0" nodeType="withEffect">
                                  <p:stCondLst>
                                    <p:cond delay="26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ppt_y+0.1"/>
                                          </p:val>
                                        </p:tav>
                                        <p:tav tm="100000">
                                          <p:val>
                                            <p:strVal val="#ppt_y"/>
                                          </p:val>
                                        </p:tav>
                                      </p:tavLst>
                                    </p:anim>
                                    <p:animEffect transition="in" filter="fade">
                                      <p:cBhvr>
                                        <p:cTn id="26" dur="500"/>
                                        <p:tgtEl>
                                          <p:spTgt spid="8"/>
                                        </p:tgtEl>
                                      </p:cBhvr>
                                    </p:animEffect>
                                  </p:childTnLst>
                                </p:cTn>
                              </p:par>
                              <p:par>
                                <p:cTn id="32" presetID="2" presetClass="entr" presetSubtype="4" fill="hold" grpId="0" nodeType="withEffect">
                                  <p:stCondLst>
                                    <p:cond delay="28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ppt_y+0.1"/>
                                          </p:val>
                                        </p:tav>
                                        <p:tav tm="100000">
                                          <p:val>
                                            <p:strVal val="#ppt_y"/>
                                          </p:val>
                                        </p:tav>
                                      </p:tavLst>
                                    </p:anim>
                                    <p:animEffect transition="in" filter="fade">
                                      <p:cBhvr>
                                        <p:cTn id="31" dur="500"/>
                                        <p:tgtEl>
                                          <p:spTgt spid="9"/>
                                        </p:tgtEl>
                                      </p:cBhvr>
                                    </p:animEffect>
                                  </p:childTnLst>
                                </p:cTn>
                              </p:par>
                              <p:par>
                                <p:cTn id="37" presetID="2" presetClass="entr" presetSubtype="4" fill="hold" grpId="0" nodeType="withEffect">
                                  <p:stCondLst>
                                    <p:cond delay="3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ppt_y+0.1"/>
                                          </p:val>
                                        </p:tav>
                                        <p:tav tm="100000">
                                          <p:val>
                                            <p:strVal val="#ppt_y"/>
                                          </p:val>
                                        </p:tav>
                                      </p:tavLst>
                                    </p:anim>
                                    <p:animEffect transition="in" filter="fade">
                                      <p:cBhvr>
                                        <p:cTn id="36" dur="500"/>
                                        <p:tgtEl>
                                          <p:spTgt spid="10"/>
                                        </p:tgtEl>
                                      </p:cBhvr>
                                    </p:animEffect>
                                  </p:childTnLst>
                                </p:cTn>
                              </p:par>
                              <p:par>
                                <p:cTn id="42" presetID="2" presetClass="entr" presetSubtype="4" fill="hold" grpId="0" nodeType="withEffect">
                                  <p:stCondLst>
                                    <p:cond delay="35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ppt_y+0.1"/>
                                          </p:val>
                                        </p:tav>
                                        <p:tav tm="100000">
                                          <p:val>
                                            <p:strVal val="#ppt_y"/>
                                          </p:val>
                                        </p:tav>
                                      </p:tavLst>
                                    </p:anim>
                                    <p:animEffect transition="in" filter="fade">
                                      <p:cBhvr>
                                        <p:cTn id="41" dur="500"/>
                                        <p:tgtEl>
                                          <p:spTgt spid="11"/>
                                        </p:tgtEl>
                                      </p:cBhvr>
                                    </p:animEffect>
                                  </p:childTnLst>
                                </p:cTn>
                              </p:par>
                              <p:par>
                                <p:cTn id="47" presetID="2" presetClass="entr" presetSubtype="4" fill="hold" grpId="0" nodeType="withEffect">
                                  <p:stCondLst>
                                    <p:cond delay="39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ppt_y+0.1"/>
                                          </p:val>
                                        </p:tav>
                                        <p:tav tm="100000">
                                          <p:val>
                                            <p:strVal val="#ppt_y"/>
                                          </p:val>
                                        </p:tav>
                                      </p:tavLst>
                                    </p:anim>
                                    <p:animEffect transition="in" filter="fade">
                                      <p:cBhvr>
                                        <p:cTn id="46" dur="500"/>
                                        <p:tgtEl>
                                          <p:spTgt spid="12"/>
                                        </p:tgtEl>
                                      </p:cBhvr>
                                    </p:animEffect>
                                  </p:childTnLst>
                                </p:cTn>
                              </p:par>
                              <p:par>
                                <p:cTn id="52" presetID="2" presetClass="entr" presetSubtype="4" fill="hold" grpId="0" nodeType="withEffect">
                                  <p:stCondLst>
                                    <p:cond delay="41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ppt_y+0.1"/>
                                          </p:val>
                                        </p:tav>
                                        <p:tav tm="100000">
                                          <p:val>
                                            <p:strVal val="#ppt_y"/>
                                          </p:val>
                                        </p:tav>
                                      </p:tavLst>
                                    </p:anim>
                                    <p:animEffect transition="in" filter="fade">
                                      <p:cBhvr>
                                        <p:cTn id="51" dur="500"/>
                                        <p:tgtEl>
                                          <p:spTgt spid="13"/>
                                        </p:tgtEl>
                                      </p:cBhvr>
                                    </p:animEffect>
                                  </p:childTnLst>
                                </p:cTn>
                              </p:par>
                              <p:par>
                                <p:cTn id="57" presetID="2" presetClass="entr" presetSubtype="4" fill="hold" grpId="0" nodeType="withEffect">
                                  <p:stCondLst>
                                    <p:cond delay="43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ppt_y+0.1"/>
                                          </p:val>
                                        </p:tav>
                                        <p:tav tm="100000">
                                          <p:val>
                                            <p:strVal val="#ppt_y"/>
                                          </p:val>
                                        </p:tav>
                                      </p:tavLst>
                                    </p:anim>
                                    <p:animEffect transition="in" filter="fade">
                                      <p:cBhvr>
                                        <p:cTn id="56" dur="500"/>
                                        <p:tgtEl>
                                          <p:spTgt spid="14"/>
                                        </p:tgtEl>
                                      </p:cBhvr>
                                    </p:animEffect>
                                  </p:childTnLst>
                                </p:cTn>
                              </p:par>
                              <p:par>
                                <p:cTn id="62" presetID="2" presetClass="entr" presetSubtype="4" fill="hold" grpId="0" nodeType="withEffect">
                                  <p:stCondLst>
                                    <p:cond delay="50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ppt_y+0.1"/>
                                          </p:val>
                                        </p:tav>
                                        <p:tav tm="100000">
                                          <p:val>
                                            <p:strVal val="#ppt_y"/>
                                          </p:val>
                                        </p:tav>
                                      </p:tavLst>
                                    </p:anim>
                                    <p:animEffect transition="in" filter="fade">
                                      <p:cBhvr>
                                        <p:cTn id="61" dur="500"/>
                                        <p:tgtEl>
                                          <p:spTgt spid="15"/>
                                        </p:tgtEl>
                                      </p:cBhvr>
                                    </p:animEffect>
                                  </p:childTnLst>
                                </p:cTn>
                              </p:par>
                              <p:par>
                                <p:cTn id="67" presetID="2" presetClass="entr" presetSubtype="4" fill="hold" grpId="0" nodeType="withEffect">
                                  <p:stCondLst>
                                    <p:cond delay="50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ppt_x"/>
                                          </p:val>
                                        </p:tav>
                                        <p:tav tm="100000">
                                          <p:val>
                                            <p:strVal val="#ppt_x"/>
                                          </p:val>
                                        </p:tav>
                                      </p:tavLst>
                                    </p:anim>
                                    <p:anim calcmode="lin" valueType="num">
                                      <p:cBhvr additive="base">
                                        <p:cTn id="65" dur="500" fill="hold"/>
                                        <p:tgtEl>
                                          <p:spTgt spid="16"/>
                                        </p:tgtEl>
                                        <p:attrNameLst>
                                          <p:attrName>ppt_y</p:attrName>
                                        </p:attrNameLst>
                                      </p:cBhvr>
                                      <p:tavLst>
                                        <p:tav tm="0">
                                          <p:val>
                                            <p:strVal val="#ppt_y+0.1"/>
                                          </p:val>
                                        </p:tav>
                                        <p:tav tm="100000">
                                          <p:val>
                                            <p:strVal val="#ppt_y"/>
                                          </p:val>
                                        </p:tav>
                                      </p:tavLst>
                                    </p:anim>
                                    <p:animEffect transition="in" filter="fade">
                                      <p:cBhvr>
                                        <p:cTn id="66" dur="500"/>
                                        <p:tgtEl>
                                          <p:spTgt spid="16"/>
                                        </p:tgtEl>
                                      </p:cBhvr>
                                    </p:animEffect>
                                  </p:childTnLst>
                                </p:cTn>
                              </p:par>
                              <p:par>
                                <p:cTn id="72" presetID="2" presetClass="entr" presetSubtype="4" fill="hold" grpId="0" nodeType="withEffect">
                                  <p:stCondLst>
                                    <p:cond delay="54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ppt_x"/>
                                          </p:val>
                                        </p:tav>
                                        <p:tav tm="100000">
                                          <p:val>
                                            <p:strVal val="#ppt_x"/>
                                          </p:val>
                                        </p:tav>
                                      </p:tavLst>
                                    </p:anim>
                                    <p:anim calcmode="lin" valueType="num">
                                      <p:cBhvr additive="base">
                                        <p:cTn id="70" dur="500" fill="hold"/>
                                        <p:tgtEl>
                                          <p:spTgt spid="17"/>
                                        </p:tgtEl>
                                        <p:attrNameLst>
                                          <p:attrName>ppt_y</p:attrName>
                                        </p:attrNameLst>
                                      </p:cBhvr>
                                      <p:tavLst>
                                        <p:tav tm="0">
                                          <p:val>
                                            <p:strVal val="#ppt_y+0.1"/>
                                          </p:val>
                                        </p:tav>
                                        <p:tav tm="100000">
                                          <p:val>
                                            <p:strVal val="#ppt_y"/>
                                          </p:val>
                                        </p:tav>
                                      </p:tavLst>
                                    </p:anim>
                                    <p:animEffect transition="in" filter="fade">
                                      <p:cBhvr>
                                        <p:cTn id="71" dur="500"/>
                                        <p:tgtEl>
                                          <p:spTgt spid="17"/>
                                        </p:tgtEl>
                                      </p:cBhvr>
                                    </p:animEffect>
                                  </p:childTnLst>
                                </p:cTn>
                              </p:par>
                              <p:par>
                                <p:cTn id="77" presetID="2" presetClass="entr" presetSubtype="4" fill="hold" grpId="0" nodeType="withEffect">
                                  <p:stCondLst>
                                    <p:cond delay="56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500" fill="hold"/>
                                        <p:tgtEl>
                                          <p:spTgt spid="18"/>
                                        </p:tgtEl>
                                        <p:attrNameLst>
                                          <p:attrName>ppt_x</p:attrName>
                                        </p:attrNameLst>
                                      </p:cBhvr>
                                      <p:tavLst>
                                        <p:tav tm="0">
                                          <p:val>
                                            <p:strVal val="#ppt_x"/>
                                          </p:val>
                                        </p:tav>
                                        <p:tav tm="100000">
                                          <p:val>
                                            <p:strVal val="#ppt_x"/>
                                          </p:val>
                                        </p:tav>
                                      </p:tavLst>
                                    </p:anim>
                                    <p:anim calcmode="lin" valueType="num">
                                      <p:cBhvr additive="base">
                                        <p:cTn id="75" dur="500" fill="hold"/>
                                        <p:tgtEl>
                                          <p:spTgt spid="18"/>
                                        </p:tgtEl>
                                        <p:attrNameLst>
                                          <p:attrName>ppt_y</p:attrName>
                                        </p:attrNameLst>
                                      </p:cBhvr>
                                      <p:tavLst>
                                        <p:tav tm="0">
                                          <p:val>
                                            <p:strVal val="#ppt_y+0.1"/>
                                          </p:val>
                                        </p:tav>
                                        <p:tav tm="100000">
                                          <p:val>
                                            <p:strVal val="#ppt_y"/>
                                          </p:val>
                                        </p:tav>
                                      </p:tavLst>
                                    </p:anim>
                                    <p:animEffect transition="in" filter="fade">
                                      <p:cBhvr>
                                        <p:cTn id="76" dur="500"/>
                                        <p:tgtEl>
                                          <p:spTgt spid="18"/>
                                        </p:tgtEl>
                                      </p:cBhvr>
                                    </p:animEffect>
                                  </p:childTnLst>
                                </p:cTn>
                              </p:par>
                              <p:par>
                                <p:cTn id="82" presetID="2" presetClass="entr" presetSubtype="4" fill="hold" grpId="0" nodeType="withEffect">
                                  <p:stCondLst>
                                    <p:cond delay="58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ppt_y+0.1"/>
                                          </p:val>
                                        </p:tav>
                                        <p:tav tm="100000">
                                          <p:val>
                                            <p:strVal val="#ppt_y"/>
                                          </p:val>
                                        </p:tav>
                                      </p:tavLst>
                                    </p:anim>
                                    <p:animEffect transition="in" filter="fade">
                                      <p:cBhvr>
                                        <p:cTn id="81" dur="500"/>
                                        <p:tgtEl>
                                          <p:spTgt spid="19"/>
                                        </p:tgtEl>
                                      </p:cBhvr>
                                    </p:animEffect>
                                  </p:childTnLst>
                                </p:cTn>
                              </p:par>
                              <p:par>
                                <p:cTn id="87" presetID="2" presetClass="entr" presetSubtype="4" fill="hold" grpId="0" nodeType="withEffect">
                                  <p:stCondLst>
                                    <p:cond delay="65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500" fill="hold"/>
                                        <p:tgtEl>
                                          <p:spTgt spid="20"/>
                                        </p:tgtEl>
                                        <p:attrNameLst>
                                          <p:attrName>ppt_x</p:attrName>
                                        </p:attrNameLst>
                                      </p:cBhvr>
                                      <p:tavLst>
                                        <p:tav tm="0">
                                          <p:val>
                                            <p:strVal val="#ppt_x"/>
                                          </p:val>
                                        </p:tav>
                                        <p:tav tm="100000">
                                          <p:val>
                                            <p:strVal val="#ppt_x"/>
                                          </p:val>
                                        </p:tav>
                                      </p:tavLst>
                                    </p:anim>
                                    <p:anim calcmode="lin" valueType="num">
                                      <p:cBhvr additive="base">
                                        <p:cTn id="85" dur="500" fill="hold"/>
                                        <p:tgtEl>
                                          <p:spTgt spid="20"/>
                                        </p:tgtEl>
                                        <p:attrNameLst>
                                          <p:attrName>ppt_y</p:attrName>
                                        </p:attrNameLst>
                                      </p:cBhvr>
                                      <p:tavLst>
                                        <p:tav tm="0">
                                          <p:val>
                                            <p:strVal val="#ppt_y+0.1"/>
                                          </p:val>
                                        </p:tav>
                                        <p:tav tm="100000">
                                          <p:val>
                                            <p:strVal val="#ppt_y"/>
                                          </p:val>
                                        </p:tav>
                                      </p:tavLst>
                                    </p:anim>
                                    <p:animEffect transition="in" filter="fade">
                                      <p:cBhvr>
                                        <p:cTn id="86" dur="500"/>
                                        <p:tgtEl>
                                          <p:spTgt spid="20"/>
                                        </p:tgtEl>
                                      </p:cBhvr>
                                    </p:animEffect>
                                  </p:childTnLst>
                                </p:cTn>
                              </p:par>
                              <p:par>
                                <p:cTn id="92" presetID="2" presetClass="entr" presetSubtype="4" fill="hold" grpId="0" nodeType="withEffect">
                                  <p:stCondLst>
                                    <p:cond delay="650"/>
                                  </p:stCondLst>
                                  <p:childTnLst>
                                    <p:set>
                                      <p:cBhvr>
                                        <p:cTn id="88" dur="1" fill="hold">
                                          <p:stCondLst>
                                            <p:cond delay="0"/>
                                          </p:stCondLst>
                                        </p:cTn>
                                        <p:tgtEl>
                                          <p:spTgt spid="21"/>
                                        </p:tgtEl>
                                        <p:attrNameLst>
                                          <p:attrName>style.visibility</p:attrName>
                                        </p:attrNameLst>
                                      </p:cBhvr>
                                      <p:to>
                                        <p:strVal val="visible"/>
                                      </p:to>
                                    </p:set>
                                    <p:anim calcmode="lin" valueType="num">
                                      <p:cBhvr additive="base">
                                        <p:cTn id="89" dur="500" fill="hold"/>
                                        <p:tgtEl>
                                          <p:spTgt spid="21"/>
                                        </p:tgtEl>
                                        <p:attrNameLst>
                                          <p:attrName>ppt_x</p:attrName>
                                        </p:attrNameLst>
                                      </p:cBhvr>
                                      <p:tavLst>
                                        <p:tav tm="0">
                                          <p:val>
                                            <p:strVal val="#ppt_x"/>
                                          </p:val>
                                        </p:tav>
                                        <p:tav tm="100000">
                                          <p:val>
                                            <p:strVal val="#ppt_x"/>
                                          </p:val>
                                        </p:tav>
                                      </p:tavLst>
                                    </p:anim>
                                    <p:anim calcmode="lin" valueType="num">
                                      <p:cBhvr additive="base">
                                        <p:cTn id="90" dur="500" fill="hold"/>
                                        <p:tgtEl>
                                          <p:spTgt spid="21"/>
                                        </p:tgtEl>
                                        <p:attrNameLst>
                                          <p:attrName>ppt_y</p:attrName>
                                        </p:attrNameLst>
                                      </p:cBhvr>
                                      <p:tavLst>
                                        <p:tav tm="0">
                                          <p:val>
                                            <p:strVal val="#ppt_y+0.1"/>
                                          </p:val>
                                        </p:tav>
                                        <p:tav tm="100000">
                                          <p:val>
                                            <p:strVal val="#ppt_y"/>
                                          </p:val>
                                        </p:tav>
                                      </p:tavLst>
                                    </p:anim>
                                    <p:animEffect transition="in" filter="fade">
                                      <p:cBhvr>
                                        <p:cTn id="91" dur="500"/>
                                        <p:tgtEl>
                                          <p:spTgt spid="21"/>
                                        </p:tgtEl>
                                      </p:cBhvr>
                                    </p:animEffect>
                                  </p:childTnLst>
                                </p:cTn>
                              </p:par>
                              <p:par>
                                <p:cTn id="97" presetID="2" presetClass="entr" presetSubtype="4" fill="hold" grpId="0" nodeType="withEffect">
                                  <p:stCondLst>
                                    <p:cond delay="690"/>
                                  </p:stCondLst>
                                  <p:childTnLst>
                                    <p:set>
                                      <p:cBhvr>
                                        <p:cTn id="93" dur="1" fill="hold">
                                          <p:stCondLst>
                                            <p:cond delay="0"/>
                                          </p:stCondLst>
                                        </p:cTn>
                                        <p:tgtEl>
                                          <p:spTgt spid="22"/>
                                        </p:tgtEl>
                                        <p:attrNameLst>
                                          <p:attrName>style.visibility</p:attrName>
                                        </p:attrNameLst>
                                      </p:cBhvr>
                                      <p:to>
                                        <p:strVal val="visible"/>
                                      </p:to>
                                    </p:set>
                                    <p:anim calcmode="lin" valueType="num">
                                      <p:cBhvr additive="base">
                                        <p:cTn id="94" dur="500" fill="hold"/>
                                        <p:tgtEl>
                                          <p:spTgt spid="22"/>
                                        </p:tgtEl>
                                        <p:attrNameLst>
                                          <p:attrName>ppt_x</p:attrName>
                                        </p:attrNameLst>
                                      </p:cBhvr>
                                      <p:tavLst>
                                        <p:tav tm="0">
                                          <p:val>
                                            <p:strVal val="#ppt_x"/>
                                          </p:val>
                                        </p:tav>
                                        <p:tav tm="100000">
                                          <p:val>
                                            <p:strVal val="#ppt_x"/>
                                          </p:val>
                                        </p:tav>
                                      </p:tavLst>
                                    </p:anim>
                                    <p:anim calcmode="lin" valueType="num">
                                      <p:cBhvr additive="base">
                                        <p:cTn id="95" dur="500" fill="hold"/>
                                        <p:tgtEl>
                                          <p:spTgt spid="22"/>
                                        </p:tgtEl>
                                        <p:attrNameLst>
                                          <p:attrName>ppt_y</p:attrName>
                                        </p:attrNameLst>
                                      </p:cBhvr>
                                      <p:tavLst>
                                        <p:tav tm="0">
                                          <p:val>
                                            <p:strVal val="#ppt_y+0.1"/>
                                          </p:val>
                                        </p:tav>
                                        <p:tav tm="100000">
                                          <p:val>
                                            <p:strVal val="#ppt_y"/>
                                          </p:val>
                                        </p:tav>
                                      </p:tavLst>
                                    </p:anim>
                                    <p:animEffect transition="in" filter="fade">
                                      <p:cBhvr>
                                        <p:cTn id="96" dur="500"/>
                                        <p:tgtEl>
                                          <p:spTgt spid="22"/>
                                        </p:tgtEl>
                                      </p:cBhvr>
                                    </p:animEffect>
                                  </p:childTnLst>
                                </p:cTn>
                              </p:par>
                              <p:par>
                                <p:cTn id="102" presetID="2" presetClass="entr" presetSubtype="4" fill="hold" grpId="0" nodeType="withEffect">
                                  <p:stCondLst>
                                    <p:cond delay="71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500" fill="hold"/>
                                        <p:tgtEl>
                                          <p:spTgt spid="23"/>
                                        </p:tgtEl>
                                        <p:attrNameLst>
                                          <p:attrName>ppt_x</p:attrName>
                                        </p:attrNameLst>
                                      </p:cBhvr>
                                      <p:tavLst>
                                        <p:tav tm="0">
                                          <p:val>
                                            <p:strVal val="#ppt_x"/>
                                          </p:val>
                                        </p:tav>
                                        <p:tav tm="100000">
                                          <p:val>
                                            <p:strVal val="#ppt_x"/>
                                          </p:val>
                                        </p:tav>
                                      </p:tavLst>
                                    </p:anim>
                                    <p:anim calcmode="lin" valueType="num">
                                      <p:cBhvr additive="base">
                                        <p:cTn id="100" dur="500" fill="hold"/>
                                        <p:tgtEl>
                                          <p:spTgt spid="23"/>
                                        </p:tgtEl>
                                        <p:attrNameLst>
                                          <p:attrName>ppt_y</p:attrName>
                                        </p:attrNameLst>
                                      </p:cBhvr>
                                      <p:tavLst>
                                        <p:tav tm="0">
                                          <p:val>
                                            <p:strVal val="#ppt_y+0.1"/>
                                          </p:val>
                                        </p:tav>
                                        <p:tav tm="100000">
                                          <p:val>
                                            <p:strVal val="#ppt_y"/>
                                          </p:val>
                                        </p:tav>
                                      </p:tavLst>
                                    </p:anim>
                                    <p:animEffect transition="in" filter="fade">
                                      <p:cBhvr>
                                        <p:cTn id="101" dur="500"/>
                                        <p:tgtEl>
                                          <p:spTgt spid="23"/>
                                        </p:tgtEl>
                                      </p:cBhvr>
                                    </p:animEffect>
                                  </p:childTnLst>
                                </p:cTn>
                              </p:par>
                              <p:par>
                                <p:cTn id="107" presetID="2" presetClass="entr" presetSubtype="4" fill="hold" grpId="0" nodeType="withEffect">
                                  <p:stCondLst>
                                    <p:cond delay="730"/>
                                  </p:stCondLst>
                                  <p:childTnLst>
                                    <p:set>
                                      <p:cBhvr>
                                        <p:cTn id="103" dur="1" fill="hold">
                                          <p:stCondLst>
                                            <p:cond delay="0"/>
                                          </p:stCondLst>
                                        </p:cTn>
                                        <p:tgtEl>
                                          <p:spTgt spid="24"/>
                                        </p:tgtEl>
                                        <p:attrNameLst>
                                          <p:attrName>style.visibility</p:attrName>
                                        </p:attrNameLst>
                                      </p:cBhvr>
                                      <p:to>
                                        <p:strVal val="visible"/>
                                      </p:to>
                                    </p:set>
                                    <p:anim calcmode="lin" valueType="num">
                                      <p:cBhvr additive="base">
                                        <p:cTn id="104" dur="500" fill="hold"/>
                                        <p:tgtEl>
                                          <p:spTgt spid="24"/>
                                        </p:tgtEl>
                                        <p:attrNameLst>
                                          <p:attrName>ppt_x</p:attrName>
                                        </p:attrNameLst>
                                      </p:cBhvr>
                                      <p:tavLst>
                                        <p:tav tm="0">
                                          <p:val>
                                            <p:strVal val="#ppt_x"/>
                                          </p:val>
                                        </p:tav>
                                        <p:tav tm="100000">
                                          <p:val>
                                            <p:strVal val="#ppt_x"/>
                                          </p:val>
                                        </p:tav>
                                      </p:tavLst>
                                    </p:anim>
                                    <p:anim calcmode="lin" valueType="num">
                                      <p:cBhvr additive="base">
                                        <p:cTn id="105" dur="500" fill="hold"/>
                                        <p:tgtEl>
                                          <p:spTgt spid="24"/>
                                        </p:tgtEl>
                                        <p:attrNameLst>
                                          <p:attrName>ppt_y</p:attrName>
                                        </p:attrNameLst>
                                      </p:cBhvr>
                                      <p:tavLst>
                                        <p:tav tm="0">
                                          <p:val>
                                            <p:strVal val="#ppt_y+0.1"/>
                                          </p:val>
                                        </p:tav>
                                        <p:tav tm="100000">
                                          <p:val>
                                            <p:strVal val="#ppt_y"/>
                                          </p:val>
                                        </p:tav>
                                      </p:tavLst>
                                    </p:anim>
                                    <p:animEffect transition="in" filter="fade">
                                      <p:cBhvr>
                                        <p:cTn id="106" dur="500"/>
                                        <p:tgtEl>
                                          <p:spTgt spid="24"/>
                                        </p:tgtEl>
                                      </p:cBhvr>
                                    </p:animEffect>
                                  </p:childTnLst>
                                </p:cTn>
                              </p:par>
                              <p:par>
                                <p:cTn id="112" presetID="2" presetClass="entr" presetSubtype="4" fill="hold" grpId="0" nodeType="withEffect">
                                  <p:stCondLst>
                                    <p:cond delay="800"/>
                                  </p:stCondLst>
                                  <p:childTnLst>
                                    <p:set>
                                      <p:cBhvr>
                                        <p:cTn id="108" dur="1" fill="hold">
                                          <p:stCondLst>
                                            <p:cond delay="0"/>
                                          </p:stCondLst>
                                        </p:cTn>
                                        <p:tgtEl>
                                          <p:spTgt spid="25"/>
                                        </p:tgtEl>
                                        <p:attrNameLst>
                                          <p:attrName>style.visibility</p:attrName>
                                        </p:attrNameLst>
                                      </p:cBhvr>
                                      <p:to>
                                        <p:strVal val="visible"/>
                                      </p:to>
                                    </p:set>
                                    <p:anim calcmode="lin" valueType="num">
                                      <p:cBhvr additive="base">
                                        <p:cTn id="109" dur="500" fill="hold"/>
                                        <p:tgtEl>
                                          <p:spTgt spid="25"/>
                                        </p:tgtEl>
                                        <p:attrNameLst>
                                          <p:attrName>ppt_x</p:attrName>
                                        </p:attrNameLst>
                                      </p:cBhvr>
                                      <p:tavLst>
                                        <p:tav tm="0">
                                          <p:val>
                                            <p:strVal val="#ppt_x"/>
                                          </p:val>
                                        </p:tav>
                                        <p:tav tm="100000">
                                          <p:val>
                                            <p:strVal val="#ppt_x"/>
                                          </p:val>
                                        </p:tav>
                                      </p:tavLst>
                                    </p:anim>
                                    <p:anim calcmode="lin" valueType="num">
                                      <p:cBhvr additive="base">
                                        <p:cTn id="110" dur="500" fill="hold"/>
                                        <p:tgtEl>
                                          <p:spTgt spid="25"/>
                                        </p:tgtEl>
                                        <p:attrNameLst>
                                          <p:attrName>ppt_y</p:attrName>
                                        </p:attrNameLst>
                                      </p:cBhvr>
                                      <p:tavLst>
                                        <p:tav tm="0">
                                          <p:val>
                                            <p:strVal val="#ppt_y+0.1"/>
                                          </p:val>
                                        </p:tav>
                                        <p:tav tm="100000">
                                          <p:val>
                                            <p:strVal val="#ppt_y"/>
                                          </p:val>
                                        </p:tav>
                                      </p:tavLst>
                                    </p:anim>
                                    <p:animEffect transition="in" filter="fade">
                                      <p:cBhvr>
                                        <p:cTn id="111" dur="500"/>
                                        <p:tgtEl>
                                          <p:spTgt spid="25"/>
                                        </p:tgtEl>
                                      </p:cBhvr>
                                    </p:animEffect>
                                  </p:childTnLst>
                                </p:cTn>
                              </p:par>
                              <p:par>
                                <p:cTn id="117" presetID="2" presetClass="entr" presetSubtype="4" fill="hold" grpId="0" nodeType="withEffect">
                                  <p:stCondLst>
                                    <p:cond delay="800"/>
                                  </p:stCondLst>
                                  <p:childTnLst>
                                    <p:set>
                                      <p:cBhvr>
                                        <p:cTn id="113" dur="1" fill="hold">
                                          <p:stCondLst>
                                            <p:cond delay="0"/>
                                          </p:stCondLst>
                                        </p:cTn>
                                        <p:tgtEl>
                                          <p:spTgt spid="26"/>
                                        </p:tgtEl>
                                        <p:attrNameLst>
                                          <p:attrName>style.visibility</p:attrName>
                                        </p:attrNameLst>
                                      </p:cBhvr>
                                      <p:to>
                                        <p:strVal val="visible"/>
                                      </p:to>
                                    </p:set>
                                    <p:anim calcmode="lin" valueType="num">
                                      <p:cBhvr additive="base">
                                        <p:cTn id="114" dur="500" fill="hold"/>
                                        <p:tgtEl>
                                          <p:spTgt spid="26"/>
                                        </p:tgtEl>
                                        <p:attrNameLst>
                                          <p:attrName>ppt_x</p:attrName>
                                        </p:attrNameLst>
                                      </p:cBhvr>
                                      <p:tavLst>
                                        <p:tav tm="0">
                                          <p:val>
                                            <p:strVal val="#ppt_x"/>
                                          </p:val>
                                        </p:tav>
                                        <p:tav tm="100000">
                                          <p:val>
                                            <p:strVal val="#ppt_x"/>
                                          </p:val>
                                        </p:tav>
                                      </p:tavLst>
                                    </p:anim>
                                    <p:anim calcmode="lin" valueType="num">
                                      <p:cBhvr additive="base">
                                        <p:cTn id="115" dur="500" fill="hold"/>
                                        <p:tgtEl>
                                          <p:spTgt spid="26"/>
                                        </p:tgtEl>
                                        <p:attrNameLst>
                                          <p:attrName>ppt_y</p:attrName>
                                        </p:attrNameLst>
                                      </p:cBhvr>
                                      <p:tavLst>
                                        <p:tav tm="0">
                                          <p:val>
                                            <p:strVal val="#ppt_y+0.1"/>
                                          </p:val>
                                        </p:tav>
                                        <p:tav tm="100000">
                                          <p:val>
                                            <p:strVal val="#ppt_y"/>
                                          </p:val>
                                        </p:tav>
                                      </p:tavLst>
                                    </p:anim>
                                    <p:animEffect transition="in" filter="fade">
                                      <p:cBhvr>
                                        <p:cTn id="116" dur="500"/>
                                        <p:tgtEl>
                                          <p:spTgt spid="26"/>
                                        </p:tgtEl>
                                      </p:cBhvr>
                                    </p:animEffect>
                                  </p:childTnLst>
                                </p:cTn>
                              </p:par>
                              <p:par>
                                <p:cTn id="122" presetID="2" presetClass="entr" presetSubtype="4" fill="hold" grpId="0" nodeType="withEffect">
                                  <p:stCondLst>
                                    <p:cond delay="840"/>
                                  </p:stCondLst>
                                  <p:childTnLst>
                                    <p:set>
                                      <p:cBhvr>
                                        <p:cTn id="118" dur="1" fill="hold">
                                          <p:stCondLst>
                                            <p:cond delay="0"/>
                                          </p:stCondLst>
                                        </p:cTn>
                                        <p:tgtEl>
                                          <p:spTgt spid="27"/>
                                        </p:tgtEl>
                                        <p:attrNameLst>
                                          <p:attrName>style.visibility</p:attrName>
                                        </p:attrNameLst>
                                      </p:cBhvr>
                                      <p:to>
                                        <p:strVal val="visible"/>
                                      </p:to>
                                    </p:set>
                                    <p:anim calcmode="lin" valueType="num">
                                      <p:cBhvr additive="base">
                                        <p:cTn id="119" dur="500" fill="hold"/>
                                        <p:tgtEl>
                                          <p:spTgt spid="27"/>
                                        </p:tgtEl>
                                        <p:attrNameLst>
                                          <p:attrName>ppt_x</p:attrName>
                                        </p:attrNameLst>
                                      </p:cBhvr>
                                      <p:tavLst>
                                        <p:tav tm="0">
                                          <p:val>
                                            <p:strVal val="#ppt_x"/>
                                          </p:val>
                                        </p:tav>
                                        <p:tav tm="100000">
                                          <p:val>
                                            <p:strVal val="#ppt_x"/>
                                          </p:val>
                                        </p:tav>
                                      </p:tavLst>
                                    </p:anim>
                                    <p:anim calcmode="lin" valueType="num">
                                      <p:cBhvr additive="base">
                                        <p:cTn id="120" dur="500" fill="hold"/>
                                        <p:tgtEl>
                                          <p:spTgt spid="27"/>
                                        </p:tgtEl>
                                        <p:attrNameLst>
                                          <p:attrName>ppt_y</p:attrName>
                                        </p:attrNameLst>
                                      </p:cBhvr>
                                      <p:tavLst>
                                        <p:tav tm="0">
                                          <p:val>
                                            <p:strVal val="#ppt_y+0.1"/>
                                          </p:val>
                                        </p:tav>
                                        <p:tav tm="100000">
                                          <p:val>
                                            <p:strVal val="#ppt_y"/>
                                          </p:val>
                                        </p:tav>
                                      </p:tavLst>
                                    </p:anim>
                                    <p:animEffect transition="in" filter="fade">
                                      <p:cBhvr>
                                        <p:cTn id="121" dur="500"/>
                                        <p:tgtEl>
                                          <p:spTgt spid="27"/>
                                        </p:tgtEl>
                                      </p:cBhvr>
                                    </p:animEffect>
                                  </p:childTnLst>
                                </p:cTn>
                              </p:par>
                              <p:par>
                                <p:cTn id="127" presetID="2" presetClass="entr" presetSubtype="4" fill="hold" grpId="0" nodeType="withEffect">
                                  <p:stCondLst>
                                    <p:cond delay="860"/>
                                  </p:stCondLst>
                                  <p:childTnLst>
                                    <p:set>
                                      <p:cBhvr>
                                        <p:cTn id="123" dur="1" fill="hold">
                                          <p:stCondLst>
                                            <p:cond delay="0"/>
                                          </p:stCondLst>
                                        </p:cTn>
                                        <p:tgtEl>
                                          <p:spTgt spid="28"/>
                                        </p:tgtEl>
                                        <p:attrNameLst>
                                          <p:attrName>style.visibility</p:attrName>
                                        </p:attrNameLst>
                                      </p:cBhvr>
                                      <p:to>
                                        <p:strVal val="visible"/>
                                      </p:to>
                                    </p:set>
                                    <p:anim calcmode="lin" valueType="num">
                                      <p:cBhvr additive="base">
                                        <p:cTn id="124" dur="500" fill="hold"/>
                                        <p:tgtEl>
                                          <p:spTgt spid="28"/>
                                        </p:tgtEl>
                                        <p:attrNameLst>
                                          <p:attrName>ppt_x</p:attrName>
                                        </p:attrNameLst>
                                      </p:cBhvr>
                                      <p:tavLst>
                                        <p:tav tm="0">
                                          <p:val>
                                            <p:strVal val="#ppt_x"/>
                                          </p:val>
                                        </p:tav>
                                        <p:tav tm="100000">
                                          <p:val>
                                            <p:strVal val="#ppt_x"/>
                                          </p:val>
                                        </p:tav>
                                      </p:tavLst>
                                    </p:anim>
                                    <p:anim calcmode="lin" valueType="num">
                                      <p:cBhvr additive="base">
                                        <p:cTn id="125" dur="500" fill="hold"/>
                                        <p:tgtEl>
                                          <p:spTgt spid="28"/>
                                        </p:tgtEl>
                                        <p:attrNameLst>
                                          <p:attrName>ppt_y</p:attrName>
                                        </p:attrNameLst>
                                      </p:cBhvr>
                                      <p:tavLst>
                                        <p:tav tm="0">
                                          <p:val>
                                            <p:strVal val="#ppt_y+0.1"/>
                                          </p:val>
                                        </p:tav>
                                        <p:tav tm="100000">
                                          <p:val>
                                            <p:strVal val="#ppt_y"/>
                                          </p:val>
                                        </p:tav>
                                      </p:tavLst>
                                    </p:anim>
                                    <p:animEffect transition="in" filter="fade">
                                      <p:cBhvr>
                                        <p:cTn id="126" dur="500"/>
                                        <p:tgtEl>
                                          <p:spTgt spid="28"/>
                                        </p:tgtEl>
                                      </p:cBhvr>
                                    </p:animEffect>
                                  </p:childTnLst>
                                </p:cTn>
                              </p:par>
                              <p:par>
                                <p:cTn id="132" presetID="2" presetClass="entr" presetSubtype="4" fill="hold" grpId="0" nodeType="withEffect">
                                  <p:stCondLst>
                                    <p:cond delay="880"/>
                                  </p:stCondLst>
                                  <p:childTnLst>
                                    <p:set>
                                      <p:cBhvr>
                                        <p:cTn id="128" dur="1" fill="hold">
                                          <p:stCondLst>
                                            <p:cond delay="0"/>
                                          </p:stCondLst>
                                        </p:cTn>
                                        <p:tgtEl>
                                          <p:spTgt spid="29"/>
                                        </p:tgtEl>
                                        <p:attrNameLst>
                                          <p:attrName>style.visibility</p:attrName>
                                        </p:attrNameLst>
                                      </p:cBhvr>
                                      <p:to>
                                        <p:strVal val="visible"/>
                                      </p:to>
                                    </p:set>
                                    <p:anim calcmode="lin" valueType="num">
                                      <p:cBhvr additive="base">
                                        <p:cTn id="129" dur="500" fill="hold"/>
                                        <p:tgtEl>
                                          <p:spTgt spid="29"/>
                                        </p:tgtEl>
                                        <p:attrNameLst>
                                          <p:attrName>ppt_x</p:attrName>
                                        </p:attrNameLst>
                                      </p:cBhvr>
                                      <p:tavLst>
                                        <p:tav tm="0">
                                          <p:val>
                                            <p:strVal val="#ppt_x"/>
                                          </p:val>
                                        </p:tav>
                                        <p:tav tm="100000">
                                          <p:val>
                                            <p:strVal val="#ppt_x"/>
                                          </p:val>
                                        </p:tav>
                                      </p:tavLst>
                                    </p:anim>
                                    <p:anim calcmode="lin" valueType="num">
                                      <p:cBhvr additive="base">
                                        <p:cTn id="130" dur="500" fill="hold"/>
                                        <p:tgtEl>
                                          <p:spTgt spid="29"/>
                                        </p:tgtEl>
                                        <p:attrNameLst>
                                          <p:attrName>ppt_y</p:attrName>
                                        </p:attrNameLst>
                                      </p:cBhvr>
                                      <p:tavLst>
                                        <p:tav tm="0">
                                          <p:val>
                                            <p:strVal val="#ppt_y+0.1"/>
                                          </p:val>
                                        </p:tav>
                                        <p:tav tm="100000">
                                          <p:val>
                                            <p:strVal val="#ppt_y"/>
                                          </p:val>
                                        </p:tav>
                                      </p:tavLst>
                                    </p:anim>
                                    <p:animEffect transition="in" filter="fade">
                                      <p:cBhvr>
                                        <p:cTn id="131" dur="500"/>
                                        <p:tgtEl>
                                          <p:spTgt spid="29"/>
                                        </p:tgtEl>
                                      </p:cBhvr>
                                    </p:animEffect>
                                  </p:childTnLst>
                                </p:cTn>
                              </p:par>
                              <p:par>
                                <p:cTn id="137" presetID="2" presetClass="entr" presetSubtype="4" fill="hold" grpId="0" nodeType="withEffect">
                                  <p:stCondLst>
                                    <p:cond delay="950"/>
                                  </p:stCondLst>
                                  <p:childTnLst>
                                    <p:set>
                                      <p:cBhvr>
                                        <p:cTn id="133" dur="1" fill="hold">
                                          <p:stCondLst>
                                            <p:cond delay="0"/>
                                          </p:stCondLst>
                                        </p:cTn>
                                        <p:tgtEl>
                                          <p:spTgt spid="30"/>
                                        </p:tgtEl>
                                        <p:attrNameLst>
                                          <p:attrName>style.visibility</p:attrName>
                                        </p:attrNameLst>
                                      </p:cBhvr>
                                      <p:to>
                                        <p:strVal val="visible"/>
                                      </p:to>
                                    </p:set>
                                    <p:anim calcmode="lin" valueType="num">
                                      <p:cBhvr additive="base">
                                        <p:cTn id="134" dur="500" fill="hold"/>
                                        <p:tgtEl>
                                          <p:spTgt spid="30"/>
                                        </p:tgtEl>
                                        <p:attrNameLst>
                                          <p:attrName>ppt_x</p:attrName>
                                        </p:attrNameLst>
                                      </p:cBhvr>
                                      <p:tavLst>
                                        <p:tav tm="0">
                                          <p:val>
                                            <p:strVal val="#ppt_x"/>
                                          </p:val>
                                        </p:tav>
                                        <p:tav tm="100000">
                                          <p:val>
                                            <p:strVal val="#ppt_x"/>
                                          </p:val>
                                        </p:tav>
                                      </p:tavLst>
                                    </p:anim>
                                    <p:anim calcmode="lin" valueType="num">
                                      <p:cBhvr additive="base">
                                        <p:cTn id="135" dur="500" fill="hold"/>
                                        <p:tgtEl>
                                          <p:spTgt spid="30"/>
                                        </p:tgtEl>
                                        <p:attrNameLst>
                                          <p:attrName>ppt_y</p:attrName>
                                        </p:attrNameLst>
                                      </p:cBhvr>
                                      <p:tavLst>
                                        <p:tav tm="0">
                                          <p:val>
                                            <p:strVal val="#ppt_y+0.1"/>
                                          </p:val>
                                        </p:tav>
                                        <p:tav tm="100000">
                                          <p:val>
                                            <p:strVal val="#ppt_y"/>
                                          </p:val>
                                        </p:tav>
                                      </p:tavLst>
                                    </p:anim>
                                    <p:animEffect transition="in" filter="fade">
                                      <p:cBhvr>
                                        <p:cTn id="136" dur="500"/>
                                        <p:tgtEl>
                                          <p:spTgt spid="30"/>
                                        </p:tgtEl>
                                      </p:cBhvr>
                                    </p:animEffect>
                                  </p:childTnLst>
                                </p:cTn>
                              </p:par>
                              <p:par>
                                <p:cTn id="142" presetID="2" presetClass="entr" presetSubtype="4" fill="hold" grpId="0" nodeType="withEffect">
                                  <p:stCondLst>
                                    <p:cond delay="950"/>
                                  </p:stCondLst>
                                  <p:childTnLst>
                                    <p:set>
                                      <p:cBhvr>
                                        <p:cTn id="138" dur="1" fill="hold">
                                          <p:stCondLst>
                                            <p:cond delay="0"/>
                                          </p:stCondLst>
                                        </p:cTn>
                                        <p:tgtEl>
                                          <p:spTgt spid="31"/>
                                        </p:tgtEl>
                                        <p:attrNameLst>
                                          <p:attrName>style.visibility</p:attrName>
                                        </p:attrNameLst>
                                      </p:cBhvr>
                                      <p:to>
                                        <p:strVal val="visible"/>
                                      </p:to>
                                    </p:set>
                                    <p:anim calcmode="lin" valueType="num">
                                      <p:cBhvr additive="base">
                                        <p:cTn id="139" dur="500" fill="hold"/>
                                        <p:tgtEl>
                                          <p:spTgt spid="31"/>
                                        </p:tgtEl>
                                        <p:attrNameLst>
                                          <p:attrName>ppt_x</p:attrName>
                                        </p:attrNameLst>
                                      </p:cBhvr>
                                      <p:tavLst>
                                        <p:tav tm="0">
                                          <p:val>
                                            <p:strVal val="#ppt_x"/>
                                          </p:val>
                                        </p:tav>
                                        <p:tav tm="100000">
                                          <p:val>
                                            <p:strVal val="#ppt_x"/>
                                          </p:val>
                                        </p:tav>
                                      </p:tavLst>
                                    </p:anim>
                                    <p:anim calcmode="lin" valueType="num">
                                      <p:cBhvr additive="base">
                                        <p:cTn id="140" dur="500" fill="hold"/>
                                        <p:tgtEl>
                                          <p:spTgt spid="31"/>
                                        </p:tgtEl>
                                        <p:attrNameLst>
                                          <p:attrName>ppt_y</p:attrName>
                                        </p:attrNameLst>
                                      </p:cBhvr>
                                      <p:tavLst>
                                        <p:tav tm="0">
                                          <p:val>
                                            <p:strVal val="#ppt_y+0.1"/>
                                          </p:val>
                                        </p:tav>
                                        <p:tav tm="100000">
                                          <p:val>
                                            <p:strVal val="#ppt_y"/>
                                          </p:val>
                                        </p:tav>
                                      </p:tavLst>
                                    </p:anim>
                                    <p:animEffect transition="in" filter="fade">
                                      <p:cBhvr>
                                        <p:cTn id="141" dur="500"/>
                                        <p:tgtEl>
                                          <p:spTgt spid="31"/>
                                        </p:tgtEl>
                                      </p:cBhvr>
                                    </p:animEffect>
                                  </p:childTnLst>
                                </p:cTn>
                              </p:par>
                              <p:par>
                                <p:cTn id="147" presetID="2" presetClass="entr" presetSubtype="4" fill="hold" grpId="0" nodeType="withEffect">
                                  <p:stCondLst>
                                    <p:cond delay="990"/>
                                  </p:stCondLst>
                                  <p:childTnLst>
                                    <p:set>
                                      <p:cBhvr>
                                        <p:cTn id="143" dur="1" fill="hold">
                                          <p:stCondLst>
                                            <p:cond delay="0"/>
                                          </p:stCondLst>
                                        </p:cTn>
                                        <p:tgtEl>
                                          <p:spTgt spid="32"/>
                                        </p:tgtEl>
                                        <p:attrNameLst>
                                          <p:attrName>style.visibility</p:attrName>
                                        </p:attrNameLst>
                                      </p:cBhvr>
                                      <p:to>
                                        <p:strVal val="visible"/>
                                      </p:to>
                                    </p:set>
                                    <p:anim calcmode="lin" valueType="num">
                                      <p:cBhvr additive="base">
                                        <p:cTn id="144" dur="500" fill="hold"/>
                                        <p:tgtEl>
                                          <p:spTgt spid="32"/>
                                        </p:tgtEl>
                                        <p:attrNameLst>
                                          <p:attrName>ppt_x</p:attrName>
                                        </p:attrNameLst>
                                      </p:cBhvr>
                                      <p:tavLst>
                                        <p:tav tm="0">
                                          <p:val>
                                            <p:strVal val="#ppt_x"/>
                                          </p:val>
                                        </p:tav>
                                        <p:tav tm="100000">
                                          <p:val>
                                            <p:strVal val="#ppt_x"/>
                                          </p:val>
                                        </p:tav>
                                      </p:tavLst>
                                    </p:anim>
                                    <p:anim calcmode="lin" valueType="num">
                                      <p:cBhvr additive="base">
                                        <p:cTn id="145" dur="500" fill="hold"/>
                                        <p:tgtEl>
                                          <p:spTgt spid="32"/>
                                        </p:tgtEl>
                                        <p:attrNameLst>
                                          <p:attrName>ppt_y</p:attrName>
                                        </p:attrNameLst>
                                      </p:cBhvr>
                                      <p:tavLst>
                                        <p:tav tm="0">
                                          <p:val>
                                            <p:strVal val="#ppt_y+0.1"/>
                                          </p:val>
                                        </p:tav>
                                        <p:tav tm="100000">
                                          <p:val>
                                            <p:strVal val="#ppt_y"/>
                                          </p:val>
                                        </p:tav>
                                      </p:tavLst>
                                    </p:anim>
                                    <p:animEffect transition="in" filter="fade">
                                      <p:cBhvr>
                                        <p:cTn id="146" dur="500"/>
                                        <p:tgtEl>
                                          <p:spTgt spid="32"/>
                                        </p:tgtEl>
                                      </p:cBhvr>
                                    </p:animEffect>
                                  </p:childTnLst>
                                </p:cTn>
                              </p:par>
                              <p:par>
                                <p:cTn id="152" presetID="2" presetClass="entr" presetSubtype="4" fill="hold" grpId="0" nodeType="withEffect">
                                  <p:stCondLst>
                                    <p:cond delay="1010"/>
                                  </p:stCondLst>
                                  <p:childTnLst>
                                    <p:set>
                                      <p:cBhvr>
                                        <p:cTn id="148" dur="1" fill="hold">
                                          <p:stCondLst>
                                            <p:cond delay="0"/>
                                          </p:stCondLst>
                                        </p:cTn>
                                        <p:tgtEl>
                                          <p:spTgt spid="33"/>
                                        </p:tgtEl>
                                        <p:attrNameLst>
                                          <p:attrName>style.visibility</p:attrName>
                                        </p:attrNameLst>
                                      </p:cBhvr>
                                      <p:to>
                                        <p:strVal val="visible"/>
                                      </p:to>
                                    </p:set>
                                    <p:anim calcmode="lin" valueType="num">
                                      <p:cBhvr additive="base">
                                        <p:cTn id="149" dur="500" fill="hold"/>
                                        <p:tgtEl>
                                          <p:spTgt spid="33"/>
                                        </p:tgtEl>
                                        <p:attrNameLst>
                                          <p:attrName>ppt_x</p:attrName>
                                        </p:attrNameLst>
                                      </p:cBhvr>
                                      <p:tavLst>
                                        <p:tav tm="0">
                                          <p:val>
                                            <p:strVal val="#ppt_x"/>
                                          </p:val>
                                        </p:tav>
                                        <p:tav tm="100000">
                                          <p:val>
                                            <p:strVal val="#ppt_x"/>
                                          </p:val>
                                        </p:tav>
                                      </p:tavLst>
                                    </p:anim>
                                    <p:anim calcmode="lin" valueType="num">
                                      <p:cBhvr additive="base">
                                        <p:cTn id="150" dur="500" fill="hold"/>
                                        <p:tgtEl>
                                          <p:spTgt spid="33"/>
                                        </p:tgtEl>
                                        <p:attrNameLst>
                                          <p:attrName>ppt_y</p:attrName>
                                        </p:attrNameLst>
                                      </p:cBhvr>
                                      <p:tavLst>
                                        <p:tav tm="0">
                                          <p:val>
                                            <p:strVal val="#ppt_y+0.1"/>
                                          </p:val>
                                        </p:tav>
                                        <p:tav tm="100000">
                                          <p:val>
                                            <p:strVal val="#ppt_y"/>
                                          </p:val>
                                        </p:tav>
                                      </p:tavLst>
                                    </p:anim>
                                    <p:animEffect transition="in" filter="fade">
                                      <p:cBhvr>
                                        <p:cTn id="151" dur="500"/>
                                        <p:tgtEl>
                                          <p:spTgt spid="33"/>
                                        </p:tgtEl>
                                      </p:cBhvr>
                                    </p:animEffect>
                                  </p:childTnLst>
                                </p:cTn>
                              </p:par>
                              <p:par>
                                <p:cTn id="157" presetID="2" presetClass="entr" presetSubtype="4" fill="hold" grpId="0" nodeType="withEffect">
                                  <p:stCondLst>
                                    <p:cond delay="1030"/>
                                  </p:stCondLst>
                                  <p:childTnLst>
                                    <p:set>
                                      <p:cBhvr>
                                        <p:cTn id="153" dur="1" fill="hold">
                                          <p:stCondLst>
                                            <p:cond delay="0"/>
                                          </p:stCondLst>
                                        </p:cTn>
                                        <p:tgtEl>
                                          <p:spTgt spid="34"/>
                                        </p:tgtEl>
                                        <p:attrNameLst>
                                          <p:attrName>style.visibility</p:attrName>
                                        </p:attrNameLst>
                                      </p:cBhvr>
                                      <p:to>
                                        <p:strVal val="visible"/>
                                      </p:to>
                                    </p:set>
                                    <p:anim calcmode="lin" valueType="num">
                                      <p:cBhvr additive="base">
                                        <p:cTn id="154" dur="500" fill="hold"/>
                                        <p:tgtEl>
                                          <p:spTgt spid="34"/>
                                        </p:tgtEl>
                                        <p:attrNameLst>
                                          <p:attrName>ppt_x</p:attrName>
                                        </p:attrNameLst>
                                      </p:cBhvr>
                                      <p:tavLst>
                                        <p:tav tm="0">
                                          <p:val>
                                            <p:strVal val="#ppt_x"/>
                                          </p:val>
                                        </p:tav>
                                        <p:tav tm="100000">
                                          <p:val>
                                            <p:strVal val="#ppt_x"/>
                                          </p:val>
                                        </p:tav>
                                      </p:tavLst>
                                    </p:anim>
                                    <p:anim calcmode="lin" valueType="num">
                                      <p:cBhvr additive="base">
                                        <p:cTn id="155" dur="500" fill="hold"/>
                                        <p:tgtEl>
                                          <p:spTgt spid="34"/>
                                        </p:tgtEl>
                                        <p:attrNameLst>
                                          <p:attrName>ppt_y</p:attrName>
                                        </p:attrNameLst>
                                      </p:cBhvr>
                                      <p:tavLst>
                                        <p:tav tm="0">
                                          <p:val>
                                            <p:strVal val="#ppt_y+0.1"/>
                                          </p:val>
                                        </p:tav>
                                        <p:tav tm="100000">
                                          <p:val>
                                            <p:strVal val="#ppt_y"/>
                                          </p:val>
                                        </p:tav>
                                      </p:tavLst>
                                    </p:anim>
                                    <p:animEffect transition="in" filter="fade">
                                      <p:cBhvr>
                                        <p:cTn id="156" dur="500"/>
                                        <p:tgtEl>
                                          <p:spTgt spid="34"/>
                                        </p:tgtEl>
                                      </p:cBhvr>
                                    </p:animEffect>
                                  </p:childTnLst>
                                </p:cTn>
                              </p:par>
                            </p:childTnLst>
                          </p:cTn>
                        </p:par>
                      </p:childTnLst>
                    </p:cTn>
                  </p:par>
                  <p:par>
                    <p:cTn id="158" fill="hold">
                      <p:stCondLst>
                        <p:cond delay="indefinite"/>
                      </p:stCondLst>
                      <p:childTnLst>
                        <p:par>
                          <p:cTn id="159" fill="hold">
                            <p:stCondLst>
                              <p:cond delay="0"/>
                            </p:stCondLst>
                            <p:childTnLst>
                              <p:par>
                                <p:cTn id="164" presetID="2" presetClass="entr" presetSubtype="4" fill="hold" grpId="0" nodeType="clickEffect">
                                  <p:stCondLst>
                                    <p:cond delay="0"/>
                                  </p:stCondLst>
                                  <p:childTnLst>
                                    <p:set>
                                      <p:cBhvr>
                                        <p:cTn id="160" dur="1" fill="hold">
                                          <p:stCondLst>
                                            <p:cond delay="0"/>
                                          </p:stCondLst>
                                        </p:cTn>
                                        <p:tgtEl>
                                          <p:spTgt spid="35"/>
                                        </p:tgtEl>
                                        <p:attrNameLst>
                                          <p:attrName>style.visibility</p:attrName>
                                        </p:attrNameLst>
                                      </p:cBhvr>
                                      <p:to>
                                        <p:strVal val="visible"/>
                                      </p:to>
                                    </p:set>
                                    <p:anim calcmode="lin" valueType="num">
                                      <p:cBhvr additive="base">
                                        <p:cTn id="161" dur="500" fill="hold"/>
                                        <p:tgtEl>
                                          <p:spTgt spid="35"/>
                                        </p:tgtEl>
                                        <p:attrNameLst>
                                          <p:attrName>ppt_x</p:attrName>
                                        </p:attrNameLst>
                                      </p:cBhvr>
                                      <p:tavLst>
                                        <p:tav tm="0">
                                          <p:val>
                                            <p:strVal val="#ppt_x"/>
                                          </p:val>
                                        </p:tav>
                                        <p:tav tm="100000">
                                          <p:val>
                                            <p:strVal val="#ppt_x"/>
                                          </p:val>
                                        </p:tav>
                                      </p:tavLst>
                                    </p:anim>
                                    <p:anim calcmode="lin" valueType="num">
                                      <p:cBhvr additive="base">
                                        <p:cTn id="162" dur="500" fill="hold"/>
                                        <p:tgtEl>
                                          <p:spTgt spid="35"/>
                                        </p:tgtEl>
                                        <p:attrNameLst>
                                          <p:attrName>ppt_y</p:attrName>
                                        </p:attrNameLst>
                                      </p:cBhvr>
                                      <p:tavLst>
                                        <p:tav tm="0">
                                          <p:val>
                                            <p:strVal val="#ppt_y+0.1"/>
                                          </p:val>
                                        </p:tav>
                                        <p:tav tm="100000">
                                          <p:val>
                                            <p:strVal val="#ppt_y"/>
                                          </p:val>
                                        </p:tav>
                                      </p:tavLst>
                                    </p:anim>
                                    <p:animEffect transition="in" filter="fade">
                                      <p:cBhvr>
                                        <p:cTn id="163" dur="500"/>
                                        <p:tgtEl>
                                          <p:spTgt spid="35"/>
                                        </p:tgtEl>
                                      </p:cBhvr>
                                    </p:animEffect>
                                  </p:childTnLst>
                                </p:cTn>
                              </p:par>
                              <p:par>
                                <p:cTn id="169" presetID="2" presetClass="entr" presetSubtype="4" fill="hold" grpId="0" nodeType="withEffect">
                                  <p:stCondLst>
                                    <p:cond delay="0"/>
                                  </p:stCondLst>
                                  <p:childTnLst>
                                    <p:set>
                                      <p:cBhvr>
                                        <p:cTn id="165" dur="1" fill="hold">
                                          <p:stCondLst>
                                            <p:cond delay="0"/>
                                          </p:stCondLst>
                                        </p:cTn>
                                        <p:tgtEl>
                                          <p:spTgt spid="36"/>
                                        </p:tgtEl>
                                        <p:attrNameLst>
                                          <p:attrName>style.visibility</p:attrName>
                                        </p:attrNameLst>
                                      </p:cBhvr>
                                      <p:to>
                                        <p:strVal val="visible"/>
                                      </p:to>
                                    </p:set>
                                    <p:anim calcmode="lin" valueType="num">
                                      <p:cBhvr additive="base">
                                        <p:cTn id="166" dur="500" fill="hold"/>
                                        <p:tgtEl>
                                          <p:spTgt spid="36"/>
                                        </p:tgtEl>
                                        <p:attrNameLst>
                                          <p:attrName>ppt_x</p:attrName>
                                        </p:attrNameLst>
                                      </p:cBhvr>
                                      <p:tavLst>
                                        <p:tav tm="0">
                                          <p:val>
                                            <p:strVal val="#ppt_x"/>
                                          </p:val>
                                        </p:tav>
                                        <p:tav tm="100000">
                                          <p:val>
                                            <p:strVal val="#ppt_x"/>
                                          </p:val>
                                        </p:tav>
                                      </p:tavLst>
                                    </p:anim>
                                    <p:anim calcmode="lin" valueType="num">
                                      <p:cBhvr additive="base">
                                        <p:cTn id="167" dur="500" fill="hold"/>
                                        <p:tgtEl>
                                          <p:spTgt spid="36"/>
                                        </p:tgtEl>
                                        <p:attrNameLst>
                                          <p:attrName>ppt_y</p:attrName>
                                        </p:attrNameLst>
                                      </p:cBhvr>
                                      <p:tavLst>
                                        <p:tav tm="0">
                                          <p:val>
                                            <p:strVal val="#ppt_y+0.1"/>
                                          </p:val>
                                        </p:tav>
                                        <p:tav tm="100000">
                                          <p:val>
                                            <p:strVal val="#ppt_y"/>
                                          </p:val>
                                        </p:tav>
                                      </p:tavLst>
                                    </p:anim>
                                    <p:animEffect transition="in" filter="fade">
                                      <p:cBhvr>
                                        <p:cTn id="168" dur="500"/>
                                        <p:tgtEl>
                                          <p:spTgt spid="36"/>
                                        </p:tgtEl>
                                      </p:cBhvr>
                                    </p:animEffect>
                                  </p:childTnLst>
                                </p:cTn>
                              </p:par>
                              <p:par>
                                <p:cTn id="174" presetID="2" presetClass="entr" presetSubtype="4" fill="hold" grpId="0" nodeType="withEffect">
                                  <p:stCondLst>
                                    <p:cond delay="0"/>
                                  </p:stCondLst>
                                  <p:childTnLst>
                                    <p:set>
                                      <p:cBhvr>
                                        <p:cTn id="170" dur="1" fill="hold">
                                          <p:stCondLst>
                                            <p:cond delay="0"/>
                                          </p:stCondLst>
                                        </p:cTn>
                                        <p:tgtEl>
                                          <p:spTgt spid="37"/>
                                        </p:tgtEl>
                                        <p:attrNameLst>
                                          <p:attrName>style.visibility</p:attrName>
                                        </p:attrNameLst>
                                      </p:cBhvr>
                                      <p:to>
                                        <p:strVal val="visible"/>
                                      </p:to>
                                    </p:set>
                                    <p:anim calcmode="lin" valueType="num">
                                      <p:cBhvr additive="base">
                                        <p:cTn id="171" dur="500" fill="hold"/>
                                        <p:tgtEl>
                                          <p:spTgt spid="37"/>
                                        </p:tgtEl>
                                        <p:attrNameLst>
                                          <p:attrName>ppt_x</p:attrName>
                                        </p:attrNameLst>
                                      </p:cBhvr>
                                      <p:tavLst>
                                        <p:tav tm="0">
                                          <p:val>
                                            <p:strVal val="#ppt_x"/>
                                          </p:val>
                                        </p:tav>
                                        <p:tav tm="100000">
                                          <p:val>
                                            <p:strVal val="#ppt_x"/>
                                          </p:val>
                                        </p:tav>
                                      </p:tavLst>
                                    </p:anim>
                                    <p:anim calcmode="lin" valueType="num">
                                      <p:cBhvr additive="base">
                                        <p:cTn id="172" dur="500" fill="hold"/>
                                        <p:tgtEl>
                                          <p:spTgt spid="37"/>
                                        </p:tgtEl>
                                        <p:attrNameLst>
                                          <p:attrName>ppt_y</p:attrName>
                                        </p:attrNameLst>
                                      </p:cBhvr>
                                      <p:tavLst>
                                        <p:tav tm="0">
                                          <p:val>
                                            <p:strVal val="#ppt_y+0.1"/>
                                          </p:val>
                                        </p:tav>
                                        <p:tav tm="100000">
                                          <p:val>
                                            <p:strVal val="#ppt_y"/>
                                          </p:val>
                                        </p:tav>
                                      </p:tavLst>
                                    </p:anim>
                                    <p:animEffect transition="in" filter="fade">
                                      <p:cBhvr>
                                        <p:cTn id="17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Timeline · 2007 to Today</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The products arrive, the name sticks, then the field consolidates</a:t>
            </a:r>
          </a:p>
        </p:txBody>
      </p:sp>
      <p:sp>
        <p:nvSpPr>
          <p:cNvPr id="4" name="a1w_axis3"/>
          <p:cNvSpPr/>
          <p:nvPr/>
        </p:nvSpPr>
        <p:spPr>
          <a:xfrm>
            <a:off x="457200" y="2313432"/>
            <a:ext cx="8229600"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d200_pt4"/>
          <p:cNvSpPr/>
          <p:nvPr/>
        </p:nvSpPr>
        <p:spPr>
          <a:xfrm>
            <a:off x="1115568" y="2258568"/>
            <a:ext cx="155448" cy="155448"/>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200_card5"/>
          <p:cNvSpPr/>
          <p:nvPr/>
        </p:nvSpPr>
        <p:spPr>
          <a:xfrm>
            <a:off x="566928" y="128930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240_yr6"/>
          <p:cNvSpPr txBox="1"/>
          <p:nvPr/>
        </p:nvSpPr>
        <p:spPr>
          <a:xfrm>
            <a:off x="676656" y="1362456"/>
            <a:ext cx="1042415" cy="219456"/>
          </a:xfrm>
          <a:prstGeom prst="rect">
            <a:avLst/>
          </a:prstGeom>
          <a:noFill/>
        </p:spPr>
        <p:txBody>
          <a:bodyPr wrap="square" lIns="0" tIns="0" rIns="0" bIns="0" anchor="ctr">
            <a:spAutoFit/>
          </a:bodyPr>
          <a:lstStyle/>
          <a:p>
            <a:pPr algn="l"/>
            <a:r>
              <a:rPr sz="1100" b="1">
                <a:solidFill>
                  <a:srgbClr val="DC382C"/>
                </a:solidFill>
                <a:latin typeface="Courier New"/>
              </a:rPr>
              <a:t>2007</a:t>
            </a:r>
          </a:p>
        </p:txBody>
      </p:sp>
      <p:sp>
        <p:nvSpPr>
          <p:cNvPr id="8" name="a1ud260_tt7"/>
          <p:cNvSpPr txBox="1"/>
          <p:nvPr/>
        </p:nvSpPr>
        <p:spPr>
          <a:xfrm>
            <a:off x="676656" y="1563624"/>
            <a:ext cx="1042415" cy="219456"/>
          </a:xfrm>
          <a:prstGeom prst="rect">
            <a:avLst/>
          </a:prstGeom>
          <a:noFill/>
        </p:spPr>
        <p:txBody>
          <a:bodyPr wrap="square" lIns="0" tIns="0" rIns="0" bIns="0" anchor="ctr">
            <a:spAutoFit/>
          </a:bodyPr>
          <a:lstStyle/>
          <a:p>
            <a:pPr algn="l"/>
            <a:r>
              <a:rPr sz="1000" b="1">
                <a:solidFill>
                  <a:srgbClr val="0F172A"/>
                </a:solidFill>
                <a:latin typeface="Calibri"/>
              </a:rPr>
              <a:t>Dynamo</a:t>
            </a:r>
          </a:p>
        </p:txBody>
      </p:sp>
      <p:sp>
        <p:nvSpPr>
          <p:cNvPr id="9" name="a1ud280_ts8"/>
          <p:cNvSpPr txBox="1"/>
          <p:nvPr/>
        </p:nvSpPr>
        <p:spPr>
          <a:xfrm>
            <a:off x="676656" y="1764792"/>
            <a:ext cx="1042415" cy="384048"/>
          </a:xfrm>
          <a:prstGeom prst="rect">
            <a:avLst/>
          </a:prstGeom>
          <a:noFill/>
        </p:spPr>
        <p:txBody>
          <a:bodyPr wrap="square" lIns="0" tIns="0" rIns="0" bIns="0" anchor="t">
            <a:spAutoFit/>
          </a:bodyPr>
          <a:lstStyle/>
          <a:p>
            <a:pPr algn="l"/>
            <a:r>
              <a:rPr sz="800" b="0">
                <a:solidFill>
                  <a:srgbClr val="64748B"/>
                </a:solidFill>
                <a:latin typeface="Calibri"/>
              </a:rPr>
              <a:t>Amazon publishes the eventually-consistent key-value design</a:t>
            </a:r>
          </a:p>
        </p:txBody>
      </p:sp>
      <p:sp>
        <p:nvSpPr>
          <p:cNvPr id="10" name="a1ud350_pt9"/>
          <p:cNvSpPr/>
          <p:nvPr/>
        </p:nvSpPr>
        <p:spPr>
          <a:xfrm>
            <a:off x="2487168" y="2258568"/>
            <a:ext cx="155448" cy="15544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350_card10"/>
          <p:cNvSpPr/>
          <p:nvPr/>
        </p:nvSpPr>
        <p:spPr>
          <a:xfrm>
            <a:off x="1938528" y="256946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d390_yr11"/>
          <p:cNvSpPr txBox="1"/>
          <p:nvPr/>
        </p:nvSpPr>
        <p:spPr>
          <a:xfrm>
            <a:off x="2048256" y="2642616"/>
            <a:ext cx="1042415" cy="219456"/>
          </a:xfrm>
          <a:prstGeom prst="rect">
            <a:avLst/>
          </a:prstGeom>
          <a:noFill/>
        </p:spPr>
        <p:txBody>
          <a:bodyPr wrap="square" lIns="0" tIns="0" rIns="0" bIns="0" anchor="ctr">
            <a:spAutoFit/>
          </a:bodyPr>
          <a:lstStyle/>
          <a:p>
            <a:pPr algn="l"/>
            <a:r>
              <a:rPr sz="1100" b="1">
                <a:solidFill>
                  <a:srgbClr val="8B5CF6"/>
                </a:solidFill>
                <a:latin typeface="Courier New"/>
              </a:rPr>
              <a:t>2009</a:t>
            </a:r>
          </a:p>
        </p:txBody>
      </p:sp>
      <p:sp>
        <p:nvSpPr>
          <p:cNvPr id="13" name="a1ud410_tt12"/>
          <p:cNvSpPr txBox="1"/>
          <p:nvPr/>
        </p:nvSpPr>
        <p:spPr>
          <a:xfrm>
            <a:off x="2048256" y="2843784"/>
            <a:ext cx="1042415" cy="219456"/>
          </a:xfrm>
          <a:prstGeom prst="rect">
            <a:avLst/>
          </a:prstGeom>
          <a:noFill/>
        </p:spPr>
        <p:txBody>
          <a:bodyPr wrap="square" lIns="0" tIns="0" rIns="0" bIns="0" anchor="ctr">
            <a:spAutoFit/>
          </a:bodyPr>
          <a:lstStyle/>
          <a:p>
            <a:pPr algn="l"/>
            <a:r>
              <a:rPr sz="1000" b="1">
                <a:solidFill>
                  <a:srgbClr val="0F172A"/>
                </a:solidFill>
                <a:latin typeface="Calibri"/>
              </a:rPr>
              <a:t>The name</a:t>
            </a:r>
          </a:p>
        </p:txBody>
      </p:sp>
      <p:sp>
        <p:nvSpPr>
          <p:cNvPr id="14" name="a1ud430_ts13"/>
          <p:cNvSpPr txBox="1"/>
          <p:nvPr/>
        </p:nvSpPr>
        <p:spPr>
          <a:xfrm>
            <a:off x="2048256" y="3044952"/>
            <a:ext cx="1042415" cy="384048"/>
          </a:xfrm>
          <a:prstGeom prst="rect">
            <a:avLst/>
          </a:prstGeom>
          <a:noFill/>
        </p:spPr>
        <p:txBody>
          <a:bodyPr wrap="square" lIns="0" tIns="0" rIns="0" bIns="0" anchor="t">
            <a:spAutoFit/>
          </a:bodyPr>
          <a:lstStyle/>
          <a:p>
            <a:pPr algn="l"/>
            <a:r>
              <a:rPr sz="800" b="0">
                <a:solidFill>
                  <a:srgbClr val="64748B"/>
                </a:solidFill>
                <a:latin typeface="Calibri"/>
              </a:rPr>
              <a:t>Johan Oskarsson's San Francisco meetup reuses "NoSQL"</a:t>
            </a:r>
          </a:p>
        </p:txBody>
      </p:sp>
      <p:sp>
        <p:nvSpPr>
          <p:cNvPr id="15" name="a1ud500_pt14"/>
          <p:cNvSpPr/>
          <p:nvPr/>
        </p:nvSpPr>
        <p:spPr>
          <a:xfrm>
            <a:off x="3858768" y="2258568"/>
            <a:ext cx="155448" cy="155448"/>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500_card15"/>
          <p:cNvSpPr/>
          <p:nvPr/>
        </p:nvSpPr>
        <p:spPr>
          <a:xfrm>
            <a:off x="3310128" y="128930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540_yr16"/>
          <p:cNvSpPr txBox="1"/>
          <p:nvPr/>
        </p:nvSpPr>
        <p:spPr>
          <a:xfrm>
            <a:off x="3419856" y="1362456"/>
            <a:ext cx="1042415" cy="219456"/>
          </a:xfrm>
          <a:prstGeom prst="rect">
            <a:avLst/>
          </a:prstGeom>
          <a:noFill/>
        </p:spPr>
        <p:txBody>
          <a:bodyPr wrap="square" lIns="0" tIns="0" rIns="0" bIns="0" anchor="ctr">
            <a:spAutoFit/>
          </a:bodyPr>
          <a:lstStyle/>
          <a:p>
            <a:pPr algn="l"/>
            <a:r>
              <a:rPr sz="1100" b="1">
                <a:solidFill>
                  <a:srgbClr val="DC382C"/>
                </a:solidFill>
                <a:latin typeface="Courier New"/>
              </a:rPr>
              <a:t>2009</a:t>
            </a:r>
          </a:p>
        </p:txBody>
      </p:sp>
      <p:sp>
        <p:nvSpPr>
          <p:cNvPr id="18" name="a1ud560_tt17"/>
          <p:cNvSpPr txBox="1"/>
          <p:nvPr/>
        </p:nvSpPr>
        <p:spPr>
          <a:xfrm>
            <a:off x="3419856" y="1563624"/>
            <a:ext cx="1042415" cy="219456"/>
          </a:xfrm>
          <a:prstGeom prst="rect">
            <a:avLst/>
          </a:prstGeom>
          <a:noFill/>
        </p:spPr>
        <p:txBody>
          <a:bodyPr wrap="square" lIns="0" tIns="0" rIns="0" bIns="0" anchor="ctr">
            <a:spAutoFit/>
          </a:bodyPr>
          <a:lstStyle/>
          <a:p>
            <a:pPr algn="l"/>
            <a:r>
              <a:rPr sz="1000" b="1">
                <a:solidFill>
                  <a:srgbClr val="0F172A"/>
                </a:solidFill>
                <a:latin typeface="Calibri"/>
              </a:rPr>
              <a:t>Redis · Mongo</a:t>
            </a:r>
          </a:p>
        </p:txBody>
      </p:sp>
      <p:sp>
        <p:nvSpPr>
          <p:cNvPr id="19" name="a1ud580_ts18"/>
          <p:cNvSpPr txBox="1"/>
          <p:nvPr/>
        </p:nvSpPr>
        <p:spPr>
          <a:xfrm>
            <a:off x="3419856" y="1764792"/>
            <a:ext cx="1042415" cy="384048"/>
          </a:xfrm>
          <a:prstGeom prst="rect">
            <a:avLst/>
          </a:prstGeom>
          <a:noFill/>
        </p:spPr>
        <p:txBody>
          <a:bodyPr wrap="square" lIns="0" tIns="0" rIns="0" bIns="0" anchor="t">
            <a:spAutoFit/>
          </a:bodyPr>
          <a:lstStyle/>
          <a:p>
            <a:pPr algn="l"/>
            <a:r>
              <a:rPr sz="800" b="0">
                <a:solidFill>
                  <a:srgbClr val="64748B"/>
                </a:solidFill>
                <a:latin typeface="Calibri"/>
              </a:rPr>
              <a:t>Salvatore Sanfilippo releases Redis; MongoDB 1.0 ships</a:t>
            </a:r>
          </a:p>
        </p:txBody>
      </p:sp>
      <p:sp>
        <p:nvSpPr>
          <p:cNvPr id="20" name="a1ud650_pt19"/>
          <p:cNvSpPr/>
          <p:nvPr/>
        </p:nvSpPr>
        <p:spPr>
          <a:xfrm>
            <a:off x="5230368" y="2258568"/>
            <a:ext cx="155448" cy="15544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650_card20"/>
          <p:cNvSpPr/>
          <p:nvPr/>
        </p:nvSpPr>
        <p:spPr>
          <a:xfrm>
            <a:off x="4681728" y="256946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690_yr21"/>
          <p:cNvSpPr txBox="1"/>
          <p:nvPr/>
        </p:nvSpPr>
        <p:spPr>
          <a:xfrm>
            <a:off x="4791456" y="2642616"/>
            <a:ext cx="1042415" cy="219456"/>
          </a:xfrm>
          <a:prstGeom prst="rect">
            <a:avLst/>
          </a:prstGeom>
          <a:noFill/>
        </p:spPr>
        <p:txBody>
          <a:bodyPr wrap="square" lIns="0" tIns="0" rIns="0" bIns="0" anchor="ctr">
            <a:spAutoFit/>
          </a:bodyPr>
          <a:lstStyle/>
          <a:p>
            <a:pPr algn="l"/>
            <a:r>
              <a:rPr sz="1100" b="1">
                <a:solidFill>
                  <a:srgbClr val="0F766E"/>
                </a:solidFill>
                <a:latin typeface="Courier New"/>
              </a:rPr>
              <a:t>2012</a:t>
            </a:r>
          </a:p>
        </p:txBody>
      </p:sp>
      <p:sp>
        <p:nvSpPr>
          <p:cNvPr id="23" name="a1ud710_tt22"/>
          <p:cNvSpPr txBox="1"/>
          <p:nvPr/>
        </p:nvSpPr>
        <p:spPr>
          <a:xfrm>
            <a:off x="4791456" y="2843784"/>
            <a:ext cx="1042415" cy="219456"/>
          </a:xfrm>
          <a:prstGeom prst="rect">
            <a:avLst/>
          </a:prstGeom>
          <a:noFill/>
        </p:spPr>
        <p:txBody>
          <a:bodyPr wrap="square" lIns="0" tIns="0" rIns="0" bIns="0" anchor="ctr">
            <a:spAutoFit/>
          </a:bodyPr>
          <a:lstStyle/>
          <a:p>
            <a:pPr algn="l"/>
            <a:r>
              <a:rPr sz="1000" b="1">
                <a:solidFill>
                  <a:srgbClr val="0F172A"/>
                </a:solidFill>
                <a:latin typeface="Calibri"/>
              </a:rPr>
              <a:t>Mainstream</a:t>
            </a:r>
          </a:p>
        </p:txBody>
      </p:sp>
      <p:sp>
        <p:nvSpPr>
          <p:cNvPr id="24" name="a1ud730_ts23"/>
          <p:cNvSpPr txBox="1"/>
          <p:nvPr/>
        </p:nvSpPr>
        <p:spPr>
          <a:xfrm>
            <a:off x="4791456" y="3044952"/>
            <a:ext cx="1042415" cy="384048"/>
          </a:xfrm>
          <a:prstGeom prst="rect">
            <a:avLst/>
          </a:prstGeom>
          <a:noFill/>
        </p:spPr>
        <p:txBody>
          <a:bodyPr wrap="square" lIns="0" tIns="0" rIns="0" bIns="0" anchor="t">
            <a:spAutoFit/>
          </a:bodyPr>
          <a:lstStyle/>
          <a:p>
            <a:pPr algn="l"/>
            <a:r>
              <a:rPr sz="800" b="0">
                <a:solidFill>
                  <a:srgbClr val="64748B"/>
                </a:solidFill>
                <a:latin typeface="Calibri"/>
              </a:rPr>
              <a:t>Fowler's GOTO talk; NoSQL reaches ordinary enterprises</a:t>
            </a:r>
          </a:p>
        </p:txBody>
      </p:sp>
      <p:sp>
        <p:nvSpPr>
          <p:cNvPr id="25" name="a1ud800_pt24"/>
          <p:cNvSpPr/>
          <p:nvPr/>
        </p:nvSpPr>
        <p:spPr>
          <a:xfrm>
            <a:off x="6601968" y="2258568"/>
            <a:ext cx="155448" cy="15544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800_card25"/>
          <p:cNvSpPr/>
          <p:nvPr/>
        </p:nvSpPr>
        <p:spPr>
          <a:xfrm>
            <a:off x="6053328" y="128930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840_yr26"/>
          <p:cNvSpPr txBox="1"/>
          <p:nvPr/>
        </p:nvSpPr>
        <p:spPr>
          <a:xfrm>
            <a:off x="6163056" y="1362456"/>
            <a:ext cx="1042415" cy="219456"/>
          </a:xfrm>
          <a:prstGeom prst="rect">
            <a:avLst/>
          </a:prstGeom>
          <a:noFill/>
        </p:spPr>
        <p:txBody>
          <a:bodyPr wrap="square" lIns="0" tIns="0" rIns="0" bIns="0" anchor="ctr">
            <a:spAutoFit/>
          </a:bodyPr>
          <a:lstStyle/>
          <a:p>
            <a:pPr algn="l"/>
            <a:r>
              <a:rPr sz="1100" b="1">
                <a:solidFill>
                  <a:srgbClr val="B45309"/>
                </a:solidFill>
                <a:latin typeface="Courier New"/>
              </a:rPr>
              <a:t>2015+</a:t>
            </a:r>
          </a:p>
        </p:txBody>
      </p:sp>
      <p:sp>
        <p:nvSpPr>
          <p:cNvPr id="28" name="a1ud860_tt27"/>
          <p:cNvSpPr txBox="1"/>
          <p:nvPr/>
        </p:nvSpPr>
        <p:spPr>
          <a:xfrm>
            <a:off x="6163056" y="1563624"/>
            <a:ext cx="1042415" cy="219456"/>
          </a:xfrm>
          <a:prstGeom prst="rect">
            <a:avLst/>
          </a:prstGeom>
          <a:noFill/>
        </p:spPr>
        <p:txBody>
          <a:bodyPr wrap="square" lIns="0" tIns="0" rIns="0" bIns="0" anchor="ctr">
            <a:spAutoFit/>
          </a:bodyPr>
          <a:lstStyle/>
          <a:p>
            <a:pPr algn="l"/>
            <a:r>
              <a:rPr sz="1000" b="1">
                <a:solidFill>
                  <a:srgbClr val="0F172A"/>
                </a:solidFill>
                <a:latin typeface="Calibri"/>
              </a:rPr>
              <a:t>Multi-model</a:t>
            </a:r>
          </a:p>
        </p:txBody>
      </p:sp>
      <p:sp>
        <p:nvSpPr>
          <p:cNvPr id="29" name="a1ud880_ts28"/>
          <p:cNvSpPr txBox="1"/>
          <p:nvPr/>
        </p:nvSpPr>
        <p:spPr>
          <a:xfrm>
            <a:off x="6163056" y="1764792"/>
            <a:ext cx="1042415" cy="384048"/>
          </a:xfrm>
          <a:prstGeom prst="rect">
            <a:avLst/>
          </a:prstGeom>
          <a:noFill/>
        </p:spPr>
        <p:txBody>
          <a:bodyPr wrap="square" lIns="0" tIns="0" rIns="0" bIns="0" anchor="t">
            <a:spAutoFit/>
          </a:bodyPr>
          <a:lstStyle/>
          <a:p>
            <a:pPr algn="l"/>
            <a:r>
              <a:rPr sz="800" b="0">
                <a:solidFill>
                  <a:srgbClr val="64748B"/>
                </a:solidFill>
                <a:latin typeface="Calibri"/>
              </a:rPr>
              <a:t>Engines add documents, graphs, search and SQL-like layers</a:t>
            </a:r>
          </a:p>
        </p:txBody>
      </p:sp>
      <p:sp>
        <p:nvSpPr>
          <p:cNvPr id="30" name="a1ud950_pt29"/>
          <p:cNvSpPr/>
          <p:nvPr/>
        </p:nvSpPr>
        <p:spPr>
          <a:xfrm>
            <a:off x="7973567" y="2258568"/>
            <a:ext cx="155448" cy="15544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ud950_card30"/>
          <p:cNvSpPr/>
          <p:nvPr/>
        </p:nvSpPr>
        <p:spPr>
          <a:xfrm>
            <a:off x="7424927" y="2569464"/>
            <a:ext cx="1261872" cy="914400"/>
          </a:xfrm>
          <a:prstGeom prst="roundRect">
            <a:avLst>
              <a:gd name="adj" fmla="val 7000"/>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ud990_yr31"/>
          <p:cNvSpPr txBox="1"/>
          <p:nvPr/>
        </p:nvSpPr>
        <p:spPr>
          <a:xfrm>
            <a:off x="7534655" y="2642616"/>
            <a:ext cx="1042415" cy="219456"/>
          </a:xfrm>
          <a:prstGeom prst="rect">
            <a:avLst/>
          </a:prstGeom>
          <a:noFill/>
        </p:spPr>
        <p:txBody>
          <a:bodyPr wrap="square" lIns="0" tIns="0" rIns="0" bIns="0" anchor="ctr">
            <a:spAutoFit/>
          </a:bodyPr>
          <a:lstStyle/>
          <a:p>
            <a:pPr algn="l"/>
            <a:r>
              <a:rPr sz="1100" b="1">
                <a:solidFill>
                  <a:srgbClr val="8B5CF6"/>
                </a:solidFill>
                <a:latin typeface="Courier New"/>
              </a:rPr>
              <a:t>2020s</a:t>
            </a:r>
          </a:p>
        </p:txBody>
      </p:sp>
      <p:sp>
        <p:nvSpPr>
          <p:cNvPr id="33" name="a1ud1010_tt32"/>
          <p:cNvSpPr txBox="1"/>
          <p:nvPr/>
        </p:nvSpPr>
        <p:spPr>
          <a:xfrm>
            <a:off x="7534655" y="2843784"/>
            <a:ext cx="1042415" cy="219456"/>
          </a:xfrm>
          <a:prstGeom prst="rect">
            <a:avLst/>
          </a:prstGeom>
          <a:noFill/>
        </p:spPr>
        <p:txBody>
          <a:bodyPr wrap="square" lIns="0" tIns="0" rIns="0" bIns="0" anchor="ctr">
            <a:spAutoFit/>
          </a:bodyPr>
          <a:lstStyle/>
          <a:p>
            <a:pPr algn="l"/>
            <a:r>
              <a:rPr sz="1000" b="1">
                <a:solidFill>
                  <a:srgbClr val="0F172A"/>
                </a:solidFill>
                <a:latin typeface="Calibri"/>
              </a:rPr>
              <a:t>Managed</a:t>
            </a:r>
          </a:p>
        </p:txBody>
      </p:sp>
      <p:sp>
        <p:nvSpPr>
          <p:cNvPr id="34" name="a1ud1030_ts33"/>
          <p:cNvSpPr txBox="1"/>
          <p:nvPr/>
        </p:nvSpPr>
        <p:spPr>
          <a:xfrm>
            <a:off x="7534655" y="3044952"/>
            <a:ext cx="1042415" cy="384048"/>
          </a:xfrm>
          <a:prstGeom prst="rect">
            <a:avLst/>
          </a:prstGeom>
          <a:noFill/>
        </p:spPr>
        <p:txBody>
          <a:bodyPr wrap="square" lIns="0" tIns="0" rIns="0" bIns="0" anchor="t">
            <a:spAutoFit/>
          </a:bodyPr>
          <a:lstStyle/>
          <a:p>
            <a:pPr algn="l"/>
            <a:r>
              <a:rPr sz="800" b="0">
                <a:solidFill>
                  <a:srgbClr val="64748B"/>
                </a:solidFill>
                <a:latin typeface="Calibri"/>
              </a:rPr>
              <a:t>Cloud services, serverless tiers, vector search for AI</a:t>
            </a:r>
          </a:p>
        </p:txBody>
      </p:sp>
      <p:sp>
        <p:nvSpPr>
          <p:cNvPr id="35" name="a2u_nb34"/>
          <p:cNvSpPr/>
          <p:nvPr/>
        </p:nvSpPr>
        <p:spPr>
          <a:xfrm>
            <a:off x="457200" y="3758183"/>
            <a:ext cx="8229600" cy="475488"/>
          </a:xfrm>
          <a:prstGeom prst="roundRect">
            <a:avLst>
              <a:gd name="adj" fmla="val 15384"/>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_nacc35"/>
          <p:cNvSpPr/>
          <p:nvPr/>
        </p:nvSpPr>
        <p:spPr>
          <a:xfrm>
            <a:off x="457200" y="3758183"/>
            <a:ext cx="50292" cy="475488"/>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_nt36"/>
          <p:cNvSpPr txBox="1"/>
          <p:nvPr/>
        </p:nvSpPr>
        <p:spPr>
          <a:xfrm>
            <a:off x="658368" y="3758183"/>
            <a:ext cx="7827264" cy="475488"/>
          </a:xfrm>
          <a:prstGeom prst="rect">
            <a:avLst/>
          </a:prstGeom>
          <a:noFill/>
        </p:spPr>
        <p:txBody>
          <a:bodyPr wrap="square" lIns="0" tIns="0" rIns="0" bIns="0" anchor="ctr">
            <a:spAutoFit/>
          </a:bodyPr>
          <a:lstStyle/>
          <a:p>
            <a:pPr algn="l"/>
            <a:r>
              <a:rPr sz="1050" b="1">
                <a:solidFill>
                  <a:srgbClr val="DC382C"/>
                </a:solidFill>
                <a:latin typeface="Calibri"/>
              </a:rPr>
              <a:t>i  </a:t>
            </a:r>
            <a:r>
              <a:rPr sz="1050" b="0">
                <a:solidFill>
                  <a:srgbClr val="334155"/>
                </a:solidFill>
                <a:latin typeface="Calibri"/>
              </a:rPr>
              <a:t>Redis turns sixteen this year and is still the most-loved database in the Stack Overflow survey. Longevity, not novelty, is why this module teaches it.</a:t>
            </a:r>
          </a:p>
        </p:txBody>
      </p:sp>
      <p:sp>
        <p:nvSpPr>
          <p:cNvPr id="38" name="ft3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9" name="ft3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500"/>
                                        <p:tgtEl>
                                          <p:spTgt spid="4"/>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fill="hold"/>
                                        <p:tgtEl>
                                          <p:spTgt spid="5"/>
                                        </p:tgtEl>
                                        <p:attrNameLst>
                                          <p:attrName>ppt_x</p:attrName>
                                        </p:attrNameLst>
                                      </p:cBhvr>
                                      <p:tavLst>
                                        <p:tav tm="0">
                                          <p:val>
                                            <p:strVal val="#ppt_x"/>
                                          </p:val>
                                        </p:tav>
                                        <p:tav tm="100000">
                                          <p:val>
                                            <p:strVal val="#ppt_x"/>
                                          </p:val>
                                        </p:tav>
                                      </p:tavLst>
                                    </p:anim>
                                    <p:anim calcmode="lin" valueType="num">
                                      <p:cBhvr additive="base">
                                        <p:cTn id="10" dur="500" fill="hold"/>
                                        <p:tgtEl>
                                          <p:spTgt spid="5"/>
                                        </p:tgtEl>
                                        <p:attrNameLst>
                                          <p:attrName>ppt_y</p:attrName>
                                        </p:attrNameLst>
                                      </p:cBhvr>
                                      <p:tavLst>
                                        <p:tav tm="0">
                                          <p:val>
                                            <p:strVal val="#ppt_y+0.1"/>
                                          </p:val>
                                        </p:tav>
                                        <p:tav tm="100000">
                                          <p:val>
                                            <p:strVal val="#ppt_y"/>
                                          </p:val>
                                        </p:tav>
                                      </p:tavLst>
                                    </p:anim>
                                    <p:animEffect transition="in" filter="fade">
                                      <p:cBhvr>
                                        <p:cTn id="11" dur="500"/>
                                        <p:tgtEl>
                                          <p:spTgt spid="5"/>
                                        </p:tgtEl>
                                      </p:cBhvr>
                                    </p:animEffect>
                                  </p:childTnLst>
                                </p:cTn>
                              </p:par>
                              <p:par>
                                <p:cTn id="17" presetID="2" presetClass="entr" presetSubtype="4" fill="hold" grpId="0" nodeType="withEffect">
                                  <p:stCondLst>
                                    <p:cond delay="20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ppt_y+0.1"/>
                                          </p:val>
                                        </p:tav>
                                        <p:tav tm="100000">
                                          <p:val>
                                            <p:strVal val="#ppt_y"/>
                                          </p:val>
                                        </p:tav>
                                      </p:tavLst>
                                    </p:anim>
                                    <p:animEffect transition="in" filter="fade">
                                      <p:cBhvr>
                                        <p:cTn id="16" dur="500"/>
                                        <p:tgtEl>
                                          <p:spTgt spid="6"/>
                                        </p:tgtEl>
                                      </p:cBhvr>
                                    </p:animEffect>
                                  </p:childTnLst>
                                </p:cTn>
                              </p:par>
                              <p:par>
                                <p:cTn id="22" presetID="2" presetClass="entr" presetSubtype="4" fill="hold" grpId="0" nodeType="withEffect">
                                  <p:stCondLst>
                                    <p:cond delay="24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ppt_y+0.1"/>
                                          </p:val>
                                        </p:tav>
                                        <p:tav tm="100000">
                                          <p:val>
                                            <p:strVal val="#ppt_y"/>
                                          </p:val>
                                        </p:tav>
                                      </p:tavLst>
                                    </p:anim>
                                    <p:animEffect transition="in" filter="fade">
                                      <p:cBhvr>
                                        <p:cTn id="21" dur="500"/>
                                        <p:tgtEl>
                                          <p:spTgt spid="7"/>
                                        </p:tgtEl>
                                      </p:cBhvr>
                                    </p:animEffect>
                                  </p:childTnLst>
                                </p:cTn>
                              </p:par>
                              <p:par>
                                <p:cTn id="27" presetID="2" presetClass="entr" presetSubtype="4" fill="hold" grpId="0" nodeType="withEffect">
                                  <p:stCondLst>
                                    <p:cond delay="26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ppt_y+0.1"/>
                                          </p:val>
                                        </p:tav>
                                        <p:tav tm="100000">
                                          <p:val>
                                            <p:strVal val="#ppt_y"/>
                                          </p:val>
                                        </p:tav>
                                      </p:tavLst>
                                    </p:anim>
                                    <p:animEffect transition="in" filter="fade">
                                      <p:cBhvr>
                                        <p:cTn id="26" dur="500"/>
                                        <p:tgtEl>
                                          <p:spTgt spid="8"/>
                                        </p:tgtEl>
                                      </p:cBhvr>
                                    </p:animEffect>
                                  </p:childTnLst>
                                </p:cTn>
                              </p:par>
                              <p:par>
                                <p:cTn id="32" presetID="2" presetClass="entr" presetSubtype="4" fill="hold" grpId="0" nodeType="withEffect">
                                  <p:stCondLst>
                                    <p:cond delay="28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ppt_y+0.1"/>
                                          </p:val>
                                        </p:tav>
                                        <p:tav tm="100000">
                                          <p:val>
                                            <p:strVal val="#ppt_y"/>
                                          </p:val>
                                        </p:tav>
                                      </p:tavLst>
                                    </p:anim>
                                    <p:animEffect transition="in" filter="fade">
                                      <p:cBhvr>
                                        <p:cTn id="31" dur="500"/>
                                        <p:tgtEl>
                                          <p:spTgt spid="9"/>
                                        </p:tgtEl>
                                      </p:cBhvr>
                                    </p:animEffect>
                                  </p:childTnLst>
                                </p:cTn>
                              </p:par>
                              <p:par>
                                <p:cTn id="37" presetID="2" presetClass="entr" presetSubtype="4" fill="hold" grpId="0" nodeType="withEffect">
                                  <p:stCondLst>
                                    <p:cond delay="3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ppt_y+0.1"/>
                                          </p:val>
                                        </p:tav>
                                        <p:tav tm="100000">
                                          <p:val>
                                            <p:strVal val="#ppt_y"/>
                                          </p:val>
                                        </p:tav>
                                      </p:tavLst>
                                    </p:anim>
                                    <p:animEffect transition="in" filter="fade">
                                      <p:cBhvr>
                                        <p:cTn id="36" dur="500"/>
                                        <p:tgtEl>
                                          <p:spTgt spid="10"/>
                                        </p:tgtEl>
                                      </p:cBhvr>
                                    </p:animEffect>
                                  </p:childTnLst>
                                </p:cTn>
                              </p:par>
                              <p:par>
                                <p:cTn id="42" presetID="2" presetClass="entr" presetSubtype="4" fill="hold" grpId="0" nodeType="withEffect">
                                  <p:stCondLst>
                                    <p:cond delay="35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ppt_y+0.1"/>
                                          </p:val>
                                        </p:tav>
                                        <p:tav tm="100000">
                                          <p:val>
                                            <p:strVal val="#ppt_y"/>
                                          </p:val>
                                        </p:tav>
                                      </p:tavLst>
                                    </p:anim>
                                    <p:animEffect transition="in" filter="fade">
                                      <p:cBhvr>
                                        <p:cTn id="41" dur="500"/>
                                        <p:tgtEl>
                                          <p:spTgt spid="11"/>
                                        </p:tgtEl>
                                      </p:cBhvr>
                                    </p:animEffect>
                                  </p:childTnLst>
                                </p:cTn>
                              </p:par>
                              <p:par>
                                <p:cTn id="47" presetID="2" presetClass="entr" presetSubtype="4" fill="hold" grpId="0" nodeType="withEffect">
                                  <p:stCondLst>
                                    <p:cond delay="39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ppt_y+0.1"/>
                                          </p:val>
                                        </p:tav>
                                        <p:tav tm="100000">
                                          <p:val>
                                            <p:strVal val="#ppt_y"/>
                                          </p:val>
                                        </p:tav>
                                      </p:tavLst>
                                    </p:anim>
                                    <p:animEffect transition="in" filter="fade">
                                      <p:cBhvr>
                                        <p:cTn id="46" dur="500"/>
                                        <p:tgtEl>
                                          <p:spTgt spid="12"/>
                                        </p:tgtEl>
                                      </p:cBhvr>
                                    </p:animEffect>
                                  </p:childTnLst>
                                </p:cTn>
                              </p:par>
                              <p:par>
                                <p:cTn id="52" presetID="2" presetClass="entr" presetSubtype="4" fill="hold" grpId="0" nodeType="withEffect">
                                  <p:stCondLst>
                                    <p:cond delay="41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ppt_y+0.1"/>
                                          </p:val>
                                        </p:tav>
                                        <p:tav tm="100000">
                                          <p:val>
                                            <p:strVal val="#ppt_y"/>
                                          </p:val>
                                        </p:tav>
                                      </p:tavLst>
                                    </p:anim>
                                    <p:animEffect transition="in" filter="fade">
                                      <p:cBhvr>
                                        <p:cTn id="51" dur="500"/>
                                        <p:tgtEl>
                                          <p:spTgt spid="13"/>
                                        </p:tgtEl>
                                      </p:cBhvr>
                                    </p:animEffect>
                                  </p:childTnLst>
                                </p:cTn>
                              </p:par>
                              <p:par>
                                <p:cTn id="57" presetID="2" presetClass="entr" presetSubtype="4" fill="hold" grpId="0" nodeType="withEffect">
                                  <p:stCondLst>
                                    <p:cond delay="43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ppt_y+0.1"/>
                                          </p:val>
                                        </p:tav>
                                        <p:tav tm="100000">
                                          <p:val>
                                            <p:strVal val="#ppt_y"/>
                                          </p:val>
                                        </p:tav>
                                      </p:tavLst>
                                    </p:anim>
                                    <p:animEffect transition="in" filter="fade">
                                      <p:cBhvr>
                                        <p:cTn id="56" dur="500"/>
                                        <p:tgtEl>
                                          <p:spTgt spid="14"/>
                                        </p:tgtEl>
                                      </p:cBhvr>
                                    </p:animEffect>
                                  </p:childTnLst>
                                </p:cTn>
                              </p:par>
                              <p:par>
                                <p:cTn id="62" presetID="2" presetClass="entr" presetSubtype="4" fill="hold" grpId="0" nodeType="withEffect">
                                  <p:stCondLst>
                                    <p:cond delay="50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ppt_y+0.1"/>
                                          </p:val>
                                        </p:tav>
                                        <p:tav tm="100000">
                                          <p:val>
                                            <p:strVal val="#ppt_y"/>
                                          </p:val>
                                        </p:tav>
                                      </p:tavLst>
                                    </p:anim>
                                    <p:animEffect transition="in" filter="fade">
                                      <p:cBhvr>
                                        <p:cTn id="61" dur="500"/>
                                        <p:tgtEl>
                                          <p:spTgt spid="15"/>
                                        </p:tgtEl>
                                      </p:cBhvr>
                                    </p:animEffect>
                                  </p:childTnLst>
                                </p:cTn>
                              </p:par>
                              <p:par>
                                <p:cTn id="67" presetID="2" presetClass="entr" presetSubtype="4" fill="hold" grpId="0" nodeType="withEffect">
                                  <p:stCondLst>
                                    <p:cond delay="50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ppt_x"/>
                                          </p:val>
                                        </p:tav>
                                        <p:tav tm="100000">
                                          <p:val>
                                            <p:strVal val="#ppt_x"/>
                                          </p:val>
                                        </p:tav>
                                      </p:tavLst>
                                    </p:anim>
                                    <p:anim calcmode="lin" valueType="num">
                                      <p:cBhvr additive="base">
                                        <p:cTn id="65" dur="500" fill="hold"/>
                                        <p:tgtEl>
                                          <p:spTgt spid="16"/>
                                        </p:tgtEl>
                                        <p:attrNameLst>
                                          <p:attrName>ppt_y</p:attrName>
                                        </p:attrNameLst>
                                      </p:cBhvr>
                                      <p:tavLst>
                                        <p:tav tm="0">
                                          <p:val>
                                            <p:strVal val="#ppt_y+0.1"/>
                                          </p:val>
                                        </p:tav>
                                        <p:tav tm="100000">
                                          <p:val>
                                            <p:strVal val="#ppt_y"/>
                                          </p:val>
                                        </p:tav>
                                      </p:tavLst>
                                    </p:anim>
                                    <p:animEffect transition="in" filter="fade">
                                      <p:cBhvr>
                                        <p:cTn id="66" dur="500"/>
                                        <p:tgtEl>
                                          <p:spTgt spid="16"/>
                                        </p:tgtEl>
                                      </p:cBhvr>
                                    </p:animEffect>
                                  </p:childTnLst>
                                </p:cTn>
                              </p:par>
                              <p:par>
                                <p:cTn id="72" presetID="2" presetClass="entr" presetSubtype="4" fill="hold" grpId="0" nodeType="withEffect">
                                  <p:stCondLst>
                                    <p:cond delay="54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ppt_x"/>
                                          </p:val>
                                        </p:tav>
                                        <p:tav tm="100000">
                                          <p:val>
                                            <p:strVal val="#ppt_x"/>
                                          </p:val>
                                        </p:tav>
                                      </p:tavLst>
                                    </p:anim>
                                    <p:anim calcmode="lin" valueType="num">
                                      <p:cBhvr additive="base">
                                        <p:cTn id="70" dur="500" fill="hold"/>
                                        <p:tgtEl>
                                          <p:spTgt spid="17"/>
                                        </p:tgtEl>
                                        <p:attrNameLst>
                                          <p:attrName>ppt_y</p:attrName>
                                        </p:attrNameLst>
                                      </p:cBhvr>
                                      <p:tavLst>
                                        <p:tav tm="0">
                                          <p:val>
                                            <p:strVal val="#ppt_y+0.1"/>
                                          </p:val>
                                        </p:tav>
                                        <p:tav tm="100000">
                                          <p:val>
                                            <p:strVal val="#ppt_y"/>
                                          </p:val>
                                        </p:tav>
                                      </p:tavLst>
                                    </p:anim>
                                    <p:animEffect transition="in" filter="fade">
                                      <p:cBhvr>
                                        <p:cTn id="71" dur="500"/>
                                        <p:tgtEl>
                                          <p:spTgt spid="17"/>
                                        </p:tgtEl>
                                      </p:cBhvr>
                                    </p:animEffect>
                                  </p:childTnLst>
                                </p:cTn>
                              </p:par>
                              <p:par>
                                <p:cTn id="77" presetID="2" presetClass="entr" presetSubtype="4" fill="hold" grpId="0" nodeType="withEffect">
                                  <p:stCondLst>
                                    <p:cond delay="56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500" fill="hold"/>
                                        <p:tgtEl>
                                          <p:spTgt spid="18"/>
                                        </p:tgtEl>
                                        <p:attrNameLst>
                                          <p:attrName>ppt_x</p:attrName>
                                        </p:attrNameLst>
                                      </p:cBhvr>
                                      <p:tavLst>
                                        <p:tav tm="0">
                                          <p:val>
                                            <p:strVal val="#ppt_x"/>
                                          </p:val>
                                        </p:tav>
                                        <p:tav tm="100000">
                                          <p:val>
                                            <p:strVal val="#ppt_x"/>
                                          </p:val>
                                        </p:tav>
                                      </p:tavLst>
                                    </p:anim>
                                    <p:anim calcmode="lin" valueType="num">
                                      <p:cBhvr additive="base">
                                        <p:cTn id="75" dur="500" fill="hold"/>
                                        <p:tgtEl>
                                          <p:spTgt spid="18"/>
                                        </p:tgtEl>
                                        <p:attrNameLst>
                                          <p:attrName>ppt_y</p:attrName>
                                        </p:attrNameLst>
                                      </p:cBhvr>
                                      <p:tavLst>
                                        <p:tav tm="0">
                                          <p:val>
                                            <p:strVal val="#ppt_y+0.1"/>
                                          </p:val>
                                        </p:tav>
                                        <p:tav tm="100000">
                                          <p:val>
                                            <p:strVal val="#ppt_y"/>
                                          </p:val>
                                        </p:tav>
                                      </p:tavLst>
                                    </p:anim>
                                    <p:animEffect transition="in" filter="fade">
                                      <p:cBhvr>
                                        <p:cTn id="76" dur="500"/>
                                        <p:tgtEl>
                                          <p:spTgt spid="18"/>
                                        </p:tgtEl>
                                      </p:cBhvr>
                                    </p:animEffect>
                                  </p:childTnLst>
                                </p:cTn>
                              </p:par>
                              <p:par>
                                <p:cTn id="82" presetID="2" presetClass="entr" presetSubtype="4" fill="hold" grpId="0" nodeType="withEffect">
                                  <p:stCondLst>
                                    <p:cond delay="58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ppt_y+0.1"/>
                                          </p:val>
                                        </p:tav>
                                        <p:tav tm="100000">
                                          <p:val>
                                            <p:strVal val="#ppt_y"/>
                                          </p:val>
                                        </p:tav>
                                      </p:tavLst>
                                    </p:anim>
                                    <p:animEffect transition="in" filter="fade">
                                      <p:cBhvr>
                                        <p:cTn id="81" dur="500"/>
                                        <p:tgtEl>
                                          <p:spTgt spid="19"/>
                                        </p:tgtEl>
                                      </p:cBhvr>
                                    </p:animEffect>
                                  </p:childTnLst>
                                </p:cTn>
                              </p:par>
                              <p:par>
                                <p:cTn id="87" presetID="2" presetClass="entr" presetSubtype="4" fill="hold" grpId="0" nodeType="withEffect">
                                  <p:stCondLst>
                                    <p:cond delay="65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500" fill="hold"/>
                                        <p:tgtEl>
                                          <p:spTgt spid="20"/>
                                        </p:tgtEl>
                                        <p:attrNameLst>
                                          <p:attrName>ppt_x</p:attrName>
                                        </p:attrNameLst>
                                      </p:cBhvr>
                                      <p:tavLst>
                                        <p:tav tm="0">
                                          <p:val>
                                            <p:strVal val="#ppt_x"/>
                                          </p:val>
                                        </p:tav>
                                        <p:tav tm="100000">
                                          <p:val>
                                            <p:strVal val="#ppt_x"/>
                                          </p:val>
                                        </p:tav>
                                      </p:tavLst>
                                    </p:anim>
                                    <p:anim calcmode="lin" valueType="num">
                                      <p:cBhvr additive="base">
                                        <p:cTn id="85" dur="500" fill="hold"/>
                                        <p:tgtEl>
                                          <p:spTgt spid="20"/>
                                        </p:tgtEl>
                                        <p:attrNameLst>
                                          <p:attrName>ppt_y</p:attrName>
                                        </p:attrNameLst>
                                      </p:cBhvr>
                                      <p:tavLst>
                                        <p:tav tm="0">
                                          <p:val>
                                            <p:strVal val="#ppt_y+0.1"/>
                                          </p:val>
                                        </p:tav>
                                        <p:tav tm="100000">
                                          <p:val>
                                            <p:strVal val="#ppt_y"/>
                                          </p:val>
                                        </p:tav>
                                      </p:tavLst>
                                    </p:anim>
                                    <p:animEffect transition="in" filter="fade">
                                      <p:cBhvr>
                                        <p:cTn id="86" dur="500"/>
                                        <p:tgtEl>
                                          <p:spTgt spid="20"/>
                                        </p:tgtEl>
                                      </p:cBhvr>
                                    </p:animEffect>
                                  </p:childTnLst>
                                </p:cTn>
                              </p:par>
                              <p:par>
                                <p:cTn id="92" presetID="2" presetClass="entr" presetSubtype="4" fill="hold" grpId="0" nodeType="withEffect">
                                  <p:stCondLst>
                                    <p:cond delay="650"/>
                                  </p:stCondLst>
                                  <p:childTnLst>
                                    <p:set>
                                      <p:cBhvr>
                                        <p:cTn id="88" dur="1" fill="hold">
                                          <p:stCondLst>
                                            <p:cond delay="0"/>
                                          </p:stCondLst>
                                        </p:cTn>
                                        <p:tgtEl>
                                          <p:spTgt spid="21"/>
                                        </p:tgtEl>
                                        <p:attrNameLst>
                                          <p:attrName>style.visibility</p:attrName>
                                        </p:attrNameLst>
                                      </p:cBhvr>
                                      <p:to>
                                        <p:strVal val="visible"/>
                                      </p:to>
                                    </p:set>
                                    <p:anim calcmode="lin" valueType="num">
                                      <p:cBhvr additive="base">
                                        <p:cTn id="89" dur="500" fill="hold"/>
                                        <p:tgtEl>
                                          <p:spTgt spid="21"/>
                                        </p:tgtEl>
                                        <p:attrNameLst>
                                          <p:attrName>ppt_x</p:attrName>
                                        </p:attrNameLst>
                                      </p:cBhvr>
                                      <p:tavLst>
                                        <p:tav tm="0">
                                          <p:val>
                                            <p:strVal val="#ppt_x"/>
                                          </p:val>
                                        </p:tav>
                                        <p:tav tm="100000">
                                          <p:val>
                                            <p:strVal val="#ppt_x"/>
                                          </p:val>
                                        </p:tav>
                                      </p:tavLst>
                                    </p:anim>
                                    <p:anim calcmode="lin" valueType="num">
                                      <p:cBhvr additive="base">
                                        <p:cTn id="90" dur="500" fill="hold"/>
                                        <p:tgtEl>
                                          <p:spTgt spid="21"/>
                                        </p:tgtEl>
                                        <p:attrNameLst>
                                          <p:attrName>ppt_y</p:attrName>
                                        </p:attrNameLst>
                                      </p:cBhvr>
                                      <p:tavLst>
                                        <p:tav tm="0">
                                          <p:val>
                                            <p:strVal val="#ppt_y+0.1"/>
                                          </p:val>
                                        </p:tav>
                                        <p:tav tm="100000">
                                          <p:val>
                                            <p:strVal val="#ppt_y"/>
                                          </p:val>
                                        </p:tav>
                                      </p:tavLst>
                                    </p:anim>
                                    <p:animEffect transition="in" filter="fade">
                                      <p:cBhvr>
                                        <p:cTn id="91" dur="500"/>
                                        <p:tgtEl>
                                          <p:spTgt spid="21"/>
                                        </p:tgtEl>
                                      </p:cBhvr>
                                    </p:animEffect>
                                  </p:childTnLst>
                                </p:cTn>
                              </p:par>
                              <p:par>
                                <p:cTn id="97" presetID="2" presetClass="entr" presetSubtype="4" fill="hold" grpId="0" nodeType="withEffect">
                                  <p:stCondLst>
                                    <p:cond delay="690"/>
                                  </p:stCondLst>
                                  <p:childTnLst>
                                    <p:set>
                                      <p:cBhvr>
                                        <p:cTn id="93" dur="1" fill="hold">
                                          <p:stCondLst>
                                            <p:cond delay="0"/>
                                          </p:stCondLst>
                                        </p:cTn>
                                        <p:tgtEl>
                                          <p:spTgt spid="22"/>
                                        </p:tgtEl>
                                        <p:attrNameLst>
                                          <p:attrName>style.visibility</p:attrName>
                                        </p:attrNameLst>
                                      </p:cBhvr>
                                      <p:to>
                                        <p:strVal val="visible"/>
                                      </p:to>
                                    </p:set>
                                    <p:anim calcmode="lin" valueType="num">
                                      <p:cBhvr additive="base">
                                        <p:cTn id="94" dur="500" fill="hold"/>
                                        <p:tgtEl>
                                          <p:spTgt spid="22"/>
                                        </p:tgtEl>
                                        <p:attrNameLst>
                                          <p:attrName>ppt_x</p:attrName>
                                        </p:attrNameLst>
                                      </p:cBhvr>
                                      <p:tavLst>
                                        <p:tav tm="0">
                                          <p:val>
                                            <p:strVal val="#ppt_x"/>
                                          </p:val>
                                        </p:tav>
                                        <p:tav tm="100000">
                                          <p:val>
                                            <p:strVal val="#ppt_x"/>
                                          </p:val>
                                        </p:tav>
                                      </p:tavLst>
                                    </p:anim>
                                    <p:anim calcmode="lin" valueType="num">
                                      <p:cBhvr additive="base">
                                        <p:cTn id="95" dur="500" fill="hold"/>
                                        <p:tgtEl>
                                          <p:spTgt spid="22"/>
                                        </p:tgtEl>
                                        <p:attrNameLst>
                                          <p:attrName>ppt_y</p:attrName>
                                        </p:attrNameLst>
                                      </p:cBhvr>
                                      <p:tavLst>
                                        <p:tav tm="0">
                                          <p:val>
                                            <p:strVal val="#ppt_y+0.1"/>
                                          </p:val>
                                        </p:tav>
                                        <p:tav tm="100000">
                                          <p:val>
                                            <p:strVal val="#ppt_y"/>
                                          </p:val>
                                        </p:tav>
                                      </p:tavLst>
                                    </p:anim>
                                    <p:animEffect transition="in" filter="fade">
                                      <p:cBhvr>
                                        <p:cTn id="96" dur="500"/>
                                        <p:tgtEl>
                                          <p:spTgt spid="22"/>
                                        </p:tgtEl>
                                      </p:cBhvr>
                                    </p:animEffect>
                                  </p:childTnLst>
                                </p:cTn>
                              </p:par>
                              <p:par>
                                <p:cTn id="102" presetID="2" presetClass="entr" presetSubtype="4" fill="hold" grpId="0" nodeType="withEffect">
                                  <p:stCondLst>
                                    <p:cond delay="71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500" fill="hold"/>
                                        <p:tgtEl>
                                          <p:spTgt spid="23"/>
                                        </p:tgtEl>
                                        <p:attrNameLst>
                                          <p:attrName>ppt_x</p:attrName>
                                        </p:attrNameLst>
                                      </p:cBhvr>
                                      <p:tavLst>
                                        <p:tav tm="0">
                                          <p:val>
                                            <p:strVal val="#ppt_x"/>
                                          </p:val>
                                        </p:tav>
                                        <p:tav tm="100000">
                                          <p:val>
                                            <p:strVal val="#ppt_x"/>
                                          </p:val>
                                        </p:tav>
                                      </p:tavLst>
                                    </p:anim>
                                    <p:anim calcmode="lin" valueType="num">
                                      <p:cBhvr additive="base">
                                        <p:cTn id="100" dur="500" fill="hold"/>
                                        <p:tgtEl>
                                          <p:spTgt spid="23"/>
                                        </p:tgtEl>
                                        <p:attrNameLst>
                                          <p:attrName>ppt_y</p:attrName>
                                        </p:attrNameLst>
                                      </p:cBhvr>
                                      <p:tavLst>
                                        <p:tav tm="0">
                                          <p:val>
                                            <p:strVal val="#ppt_y+0.1"/>
                                          </p:val>
                                        </p:tav>
                                        <p:tav tm="100000">
                                          <p:val>
                                            <p:strVal val="#ppt_y"/>
                                          </p:val>
                                        </p:tav>
                                      </p:tavLst>
                                    </p:anim>
                                    <p:animEffect transition="in" filter="fade">
                                      <p:cBhvr>
                                        <p:cTn id="101" dur="500"/>
                                        <p:tgtEl>
                                          <p:spTgt spid="23"/>
                                        </p:tgtEl>
                                      </p:cBhvr>
                                    </p:animEffect>
                                  </p:childTnLst>
                                </p:cTn>
                              </p:par>
                              <p:par>
                                <p:cTn id="107" presetID="2" presetClass="entr" presetSubtype="4" fill="hold" grpId="0" nodeType="withEffect">
                                  <p:stCondLst>
                                    <p:cond delay="730"/>
                                  </p:stCondLst>
                                  <p:childTnLst>
                                    <p:set>
                                      <p:cBhvr>
                                        <p:cTn id="103" dur="1" fill="hold">
                                          <p:stCondLst>
                                            <p:cond delay="0"/>
                                          </p:stCondLst>
                                        </p:cTn>
                                        <p:tgtEl>
                                          <p:spTgt spid="24"/>
                                        </p:tgtEl>
                                        <p:attrNameLst>
                                          <p:attrName>style.visibility</p:attrName>
                                        </p:attrNameLst>
                                      </p:cBhvr>
                                      <p:to>
                                        <p:strVal val="visible"/>
                                      </p:to>
                                    </p:set>
                                    <p:anim calcmode="lin" valueType="num">
                                      <p:cBhvr additive="base">
                                        <p:cTn id="104" dur="500" fill="hold"/>
                                        <p:tgtEl>
                                          <p:spTgt spid="24"/>
                                        </p:tgtEl>
                                        <p:attrNameLst>
                                          <p:attrName>ppt_x</p:attrName>
                                        </p:attrNameLst>
                                      </p:cBhvr>
                                      <p:tavLst>
                                        <p:tav tm="0">
                                          <p:val>
                                            <p:strVal val="#ppt_x"/>
                                          </p:val>
                                        </p:tav>
                                        <p:tav tm="100000">
                                          <p:val>
                                            <p:strVal val="#ppt_x"/>
                                          </p:val>
                                        </p:tav>
                                      </p:tavLst>
                                    </p:anim>
                                    <p:anim calcmode="lin" valueType="num">
                                      <p:cBhvr additive="base">
                                        <p:cTn id="105" dur="500" fill="hold"/>
                                        <p:tgtEl>
                                          <p:spTgt spid="24"/>
                                        </p:tgtEl>
                                        <p:attrNameLst>
                                          <p:attrName>ppt_y</p:attrName>
                                        </p:attrNameLst>
                                      </p:cBhvr>
                                      <p:tavLst>
                                        <p:tav tm="0">
                                          <p:val>
                                            <p:strVal val="#ppt_y+0.1"/>
                                          </p:val>
                                        </p:tav>
                                        <p:tav tm="100000">
                                          <p:val>
                                            <p:strVal val="#ppt_y"/>
                                          </p:val>
                                        </p:tav>
                                      </p:tavLst>
                                    </p:anim>
                                    <p:animEffect transition="in" filter="fade">
                                      <p:cBhvr>
                                        <p:cTn id="106" dur="500"/>
                                        <p:tgtEl>
                                          <p:spTgt spid="24"/>
                                        </p:tgtEl>
                                      </p:cBhvr>
                                    </p:animEffect>
                                  </p:childTnLst>
                                </p:cTn>
                              </p:par>
                              <p:par>
                                <p:cTn id="112" presetID="2" presetClass="entr" presetSubtype="4" fill="hold" grpId="0" nodeType="withEffect">
                                  <p:stCondLst>
                                    <p:cond delay="800"/>
                                  </p:stCondLst>
                                  <p:childTnLst>
                                    <p:set>
                                      <p:cBhvr>
                                        <p:cTn id="108" dur="1" fill="hold">
                                          <p:stCondLst>
                                            <p:cond delay="0"/>
                                          </p:stCondLst>
                                        </p:cTn>
                                        <p:tgtEl>
                                          <p:spTgt spid="25"/>
                                        </p:tgtEl>
                                        <p:attrNameLst>
                                          <p:attrName>style.visibility</p:attrName>
                                        </p:attrNameLst>
                                      </p:cBhvr>
                                      <p:to>
                                        <p:strVal val="visible"/>
                                      </p:to>
                                    </p:set>
                                    <p:anim calcmode="lin" valueType="num">
                                      <p:cBhvr additive="base">
                                        <p:cTn id="109" dur="500" fill="hold"/>
                                        <p:tgtEl>
                                          <p:spTgt spid="25"/>
                                        </p:tgtEl>
                                        <p:attrNameLst>
                                          <p:attrName>ppt_x</p:attrName>
                                        </p:attrNameLst>
                                      </p:cBhvr>
                                      <p:tavLst>
                                        <p:tav tm="0">
                                          <p:val>
                                            <p:strVal val="#ppt_x"/>
                                          </p:val>
                                        </p:tav>
                                        <p:tav tm="100000">
                                          <p:val>
                                            <p:strVal val="#ppt_x"/>
                                          </p:val>
                                        </p:tav>
                                      </p:tavLst>
                                    </p:anim>
                                    <p:anim calcmode="lin" valueType="num">
                                      <p:cBhvr additive="base">
                                        <p:cTn id="110" dur="500" fill="hold"/>
                                        <p:tgtEl>
                                          <p:spTgt spid="25"/>
                                        </p:tgtEl>
                                        <p:attrNameLst>
                                          <p:attrName>ppt_y</p:attrName>
                                        </p:attrNameLst>
                                      </p:cBhvr>
                                      <p:tavLst>
                                        <p:tav tm="0">
                                          <p:val>
                                            <p:strVal val="#ppt_y+0.1"/>
                                          </p:val>
                                        </p:tav>
                                        <p:tav tm="100000">
                                          <p:val>
                                            <p:strVal val="#ppt_y"/>
                                          </p:val>
                                        </p:tav>
                                      </p:tavLst>
                                    </p:anim>
                                    <p:animEffect transition="in" filter="fade">
                                      <p:cBhvr>
                                        <p:cTn id="111" dur="500"/>
                                        <p:tgtEl>
                                          <p:spTgt spid="25"/>
                                        </p:tgtEl>
                                      </p:cBhvr>
                                    </p:animEffect>
                                  </p:childTnLst>
                                </p:cTn>
                              </p:par>
                              <p:par>
                                <p:cTn id="117" presetID="2" presetClass="entr" presetSubtype="4" fill="hold" grpId="0" nodeType="withEffect">
                                  <p:stCondLst>
                                    <p:cond delay="800"/>
                                  </p:stCondLst>
                                  <p:childTnLst>
                                    <p:set>
                                      <p:cBhvr>
                                        <p:cTn id="113" dur="1" fill="hold">
                                          <p:stCondLst>
                                            <p:cond delay="0"/>
                                          </p:stCondLst>
                                        </p:cTn>
                                        <p:tgtEl>
                                          <p:spTgt spid="26"/>
                                        </p:tgtEl>
                                        <p:attrNameLst>
                                          <p:attrName>style.visibility</p:attrName>
                                        </p:attrNameLst>
                                      </p:cBhvr>
                                      <p:to>
                                        <p:strVal val="visible"/>
                                      </p:to>
                                    </p:set>
                                    <p:anim calcmode="lin" valueType="num">
                                      <p:cBhvr additive="base">
                                        <p:cTn id="114" dur="500" fill="hold"/>
                                        <p:tgtEl>
                                          <p:spTgt spid="26"/>
                                        </p:tgtEl>
                                        <p:attrNameLst>
                                          <p:attrName>ppt_x</p:attrName>
                                        </p:attrNameLst>
                                      </p:cBhvr>
                                      <p:tavLst>
                                        <p:tav tm="0">
                                          <p:val>
                                            <p:strVal val="#ppt_x"/>
                                          </p:val>
                                        </p:tav>
                                        <p:tav tm="100000">
                                          <p:val>
                                            <p:strVal val="#ppt_x"/>
                                          </p:val>
                                        </p:tav>
                                      </p:tavLst>
                                    </p:anim>
                                    <p:anim calcmode="lin" valueType="num">
                                      <p:cBhvr additive="base">
                                        <p:cTn id="115" dur="500" fill="hold"/>
                                        <p:tgtEl>
                                          <p:spTgt spid="26"/>
                                        </p:tgtEl>
                                        <p:attrNameLst>
                                          <p:attrName>ppt_y</p:attrName>
                                        </p:attrNameLst>
                                      </p:cBhvr>
                                      <p:tavLst>
                                        <p:tav tm="0">
                                          <p:val>
                                            <p:strVal val="#ppt_y+0.1"/>
                                          </p:val>
                                        </p:tav>
                                        <p:tav tm="100000">
                                          <p:val>
                                            <p:strVal val="#ppt_y"/>
                                          </p:val>
                                        </p:tav>
                                      </p:tavLst>
                                    </p:anim>
                                    <p:animEffect transition="in" filter="fade">
                                      <p:cBhvr>
                                        <p:cTn id="116" dur="500"/>
                                        <p:tgtEl>
                                          <p:spTgt spid="26"/>
                                        </p:tgtEl>
                                      </p:cBhvr>
                                    </p:animEffect>
                                  </p:childTnLst>
                                </p:cTn>
                              </p:par>
                              <p:par>
                                <p:cTn id="122" presetID="2" presetClass="entr" presetSubtype="4" fill="hold" grpId="0" nodeType="withEffect">
                                  <p:stCondLst>
                                    <p:cond delay="840"/>
                                  </p:stCondLst>
                                  <p:childTnLst>
                                    <p:set>
                                      <p:cBhvr>
                                        <p:cTn id="118" dur="1" fill="hold">
                                          <p:stCondLst>
                                            <p:cond delay="0"/>
                                          </p:stCondLst>
                                        </p:cTn>
                                        <p:tgtEl>
                                          <p:spTgt spid="27"/>
                                        </p:tgtEl>
                                        <p:attrNameLst>
                                          <p:attrName>style.visibility</p:attrName>
                                        </p:attrNameLst>
                                      </p:cBhvr>
                                      <p:to>
                                        <p:strVal val="visible"/>
                                      </p:to>
                                    </p:set>
                                    <p:anim calcmode="lin" valueType="num">
                                      <p:cBhvr additive="base">
                                        <p:cTn id="119" dur="500" fill="hold"/>
                                        <p:tgtEl>
                                          <p:spTgt spid="27"/>
                                        </p:tgtEl>
                                        <p:attrNameLst>
                                          <p:attrName>ppt_x</p:attrName>
                                        </p:attrNameLst>
                                      </p:cBhvr>
                                      <p:tavLst>
                                        <p:tav tm="0">
                                          <p:val>
                                            <p:strVal val="#ppt_x"/>
                                          </p:val>
                                        </p:tav>
                                        <p:tav tm="100000">
                                          <p:val>
                                            <p:strVal val="#ppt_x"/>
                                          </p:val>
                                        </p:tav>
                                      </p:tavLst>
                                    </p:anim>
                                    <p:anim calcmode="lin" valueType="num">
                                      <p:cBhvr additive="base">
                                        <p:cTn id="120" dur="500" fill="hold"/>
                                        <p:tgtEl>
                                          <p:spTgt spid="27"/>
                                        </p:tgtEl>
                                        <p:attrNameLst>
                                          <p:attrName>ppt_y</p:attrName>
                                        </p:attrNameLst>
                                      </p:cBhvr>
                                      <p:tavLst>
                                        <p:tav tm="0">
                                          <p:val>
                                            <p:strVal val="#ppt_y+0.1"/>
                                          </p:val>
                                        </p:tav>
                                        <p:tav tm="100000">
                                          <p:val>
                                            <p:strVal val="#ppt_y"/>
                                          </p:val>
                                        </p:tav>
                                      </p:tavLst>
                                    </p:anim>
                                    <p:animEffect transition="in" filter="fade">
                                      <p:cBhvr>
                                        <p:cTn id="121" dur="500"/>
                                        <p:tgtEl>
                                          <p:spTgt spid="27"/>
                                        </p:tgtEl>
                                      </p:cBhvr>
                                    </p:animEffect>
                                  </p:childTnLst>
                                </p:cTn>
                              </p:par>
                              <p:par>
                                <p:cTn id="127" presetID="2" presetClass="entr" presetSubtype="4" fill="hold" grpId="0" nodeType="withEffect">
                                  <p:stCondLst>
                                    <p:cond delay="860"/>
                                  </p:stCondLst>
                                  <p:childTnLst>
                                    <p:set>
                                      <p:cBhvr>
                                        <p:cTn id="123" dur="1" fill="hold">
                                          <p:stCondLst>
                                            <p:cond delay="0"/>
                                          </p:stCondLst>
                                        </p:cTn>
                                        <p:tgtEl>
                                          <p:spTgt spid="28"/>
                                        </p:tgtEl>
                                        <p:attrNameLst>
                                          <p:attrName>style.visibility</p:attrName>
                                        </p:attrNameLst>
                                      </p:cBhvr>
                                      <p:to>
                                        <p:strVal val="visible"/>
                                      </p:to>
                                    </p:set>
                                    <p:anim calcmode="lin" valueType="num">
                                      <p:cBhvr additive="base">
                                        <p:cTn id="124" dur="500" fill="hold"/>
                                        <p:tgtEl>
                                          <p:spTgt spid="28"/>
                                        </p:tgtEl>
                                        <p:attrNameLst>
                                          <p:attrName>ppt_x</p:attrName>
                                        </p:attrNameLst>
                                      </p:cBhvr>
                                      <p:tavLst>
                                        <p:tav tm="0">
                                          <p:val>
                                            <p:strVal val="#ppt_x"/>
                                          </p:val>
                                        </p:tav>
                                        <p:tav tm="100000">
                                          <p:val>
                                            <p:strVal val="#ppt_x"/>
                                          </p:val>
                                        </p:tav>
                                      </p:tavLst>
                                    </p:anim>
                                    <p:anim calcmode="lin" valueType="num">
                                      <p:cBhvr additive="base">
                                        <p:cTn id="125" dur="500" fill="hold"/>
                                        <p:tgtEl>
                                          <p:spTgt spid="28"/>
                                        </p:tgtEl>
                                        <p:attrNameLst>
                                          <p:attrName>ppt_y</p:attrName>
                                        </p:attrNameLst>
                                      </p:cBhvr>
                                      <p:tavLst>
                                        <p:tav tm="0">
                                          <p:val>
                                            <p:strVal val="#ppt_y+0.1"/>
                                          </p:val>
                                        </p:tav>
                                        <p:tav tm="100000">
                                          <p:val>
                                            <p:strVal val="#ppt_y"/>
                                          </p:val>
                                        </p:tav>
                                      </p:tavLst>
                                    </p:anim>
                                    <p:animEffect transition="in" filter="fade">
                                      <p:cBhvr>
                                        <p:cTn id="126" dur="500"/>
                                        <p:tgtEl>
                                          <p:spTgt spid="28"/>
                                        </p:tgtEl>
                                      </p:cBhvr>
                                    </p:animEffect>
                                  </p:childTnLst>
                                </p:cTn>
                              </p:par>
                              <p:par>
                                <p:cTn id="132" presetID="2" presetClass="entr" presetSubtype="4" fill="hold" grpId="0" nodeType="withEffect">
                                  <p:stCondLst>
                                    <p:cond delay="880"/>
                                  </p:stCondLst>
                                  <p:childTnLst>
                                    <p:set>
                                      <p:cBhvr>
                                        <p:cTn id="128" dur="1" fill="hold">
                                          <p:stCondLst>
                                            <p:cond delay="0"/>
                                          </p:stCondLst>
                                        </p:cTn>
                                        <p:tgtEl>
                                          <p:spTgt spid="29"/>
                                        </p:tgtEl>
                                        <p:attrNameLst>
                                          <p:attrName>style.visibility</p:attrName>
                                        </p:attrNameLst>
                                      </p:cBhvr>
                                      <p:to>
                                        <p:strVal val="visible"/>
                                      </p:to>
                                    </p:set>
                                    <p:anim calcmode="lin" valueType="num">
                                      <p:cBhvr additive="base">
                                        <p:cTn id="129" dur="500" fill="hold"/>
                                        <p:tgtEl>
                                          <p:spTgt spid="29"/>
                                        </p:tgtEl>
                                        <p:attrNameLst>
                                          <p:attrName>ppt_x</p:attrName>
                                        </p:attrNameLst>
                                      </p:cBhvr>
                                      <p:tavLst>
                                        <p:tav tm="0">
                                          <p:val>
                                            <p:strVal val="#ppt_x"/>
                                          </p:val>
                                        </p:tav>
                                        <p:tav tm="100000">
                                          <p:val>
                                            <p:strVal val="#ppt_x"/>
                                          </p:val>
                                        </p:tav>
                                      </p:tavLst>
                                    </p:anim>
                                    <p:anim calcmode="lin" valueType="num">
                                      <p:cBhvr additive="base">
                                        <p:cTn id="130" dur="500" fill="hold"/>
                                        <p:tgtEl>
                                          <p:spTgt spid="29"/>
                                        </p:tgtEl>
                                        <p:attrNameLst>
                                          <p:attrName>ppt_y</p:attrName>
                                        </p:attrNameLst>
                                      </p:cBhvr>
                                      <p:tavLst>
                                        <p:tav tm="0">
                                          <p:val>
                                            <p:strVal val="#ppt_y+0.1"/>
                                          </p:val>
                                        </p:tav>
                                        <p:tav tm="100000">
                                          <p:val>
                                            <p:strVal val="#ppt_y"/>
                                          </p:val>
                                        </p:tav>
                                      </p:tavLst>
                                    </p:anim>
                                    <p:animEffect transition="in" filter="fade">
                                      <p:cBhvr>
                                        <p:cTn id="131" dur="500"/>
                                        <p:tgtEl>
                                          <p:spTgt spid="29"/>
                                        </p:tgtEl>
                                      </p:cBhvr>
                                    </p:animEffect>
                                  </p:childTnLst>
                                </p:cTn>
                              </p:par>
                              <p:par>
                                <p:cTn id="137" presetID="2" presetClass="entr" presetSubtype="4" fill="hold" grpId="0" nodeType="withEffect">
                                  <p:stCondLst>
                                    <p:cond delay="950"/>
                                  </p:stCondLst>
                                  <p:childTnLst>
                                    <p:set>
                                      <p:cBhvr>
                                        <p:cTn id="133" dur="1" fill="hold">
                                          <p:stCondLst>
                                            <p:cond delay="0"/>
                                          </p:stCondLst>
                                        </p:cTn>
                                        <p:tgtEl>
                                          <p:spTgt spid="30"/>
                                        </p:tgtEl>
                                        <p:attrNameLst>
                                          <p:attrName>style.visibility</p:attrName>
                                        </p:attrNameLst>
                                      </p:cBhvr>
                                      <p:to>
                                        <p:strVal val="visible"/>
                                      </p:to>
                                    </p:set>
                                    <p:anim calcmode="lin" valueType="num">
                                      <p:cBhvr additive="base">
                                        <p:cTn id="134" dur="500" fill="hold"/>
                                        <p:tgtEl>
                                          <p:spTgt spid="30"/>
                                        </p:tgtEl>
                                        <p:attrNameLst>
                                          <p:attrName>ppt_x</p:attrName>
                                        </p:attrNameLst>
                                      </p:cBhvr>
                                      <p:tavLst>
                                        <p:tav tm="0">
                                          <p:val>
                                            <p:strVal val="#ppt_x"/>
                                          </p:val>
                                        </p:tav>
                                        <p:tav tm="100000">
                                          <p:val>
                                            <p:strVal val="#ppt_x"/>
                                          </p:val>
                                        </p:tav>
                                      </p:tavLst>
                                    </p:anim>
                                    <p:anim calcmode="lin" valueType="num">
                                      <p:cBhvr additive="base">
                                        <p:cTn id="135" dur="500" fill="hold"/>
                                        <p:tgtEl>
                                          <p:spTgt spid="30"/>
                                        </p:tgtEl>
                                        <p:attrNameLst>
                                          <p:attrName>ppt_y</p:attrName>
                                        </p:attrNameLst>
                                      </p:cBhvr>
                                      <p:tavLst>
                                        <p:tav tm="0">
                                          <p:val>
                                            <p:strVal val="#ppt_y+0.1"/>
                                          </p:val>
                                        </p:tav>
                                        <p:tav tm="100000">
                                          <p:val>
                                            <p:strVal val="#ppt_y"/>
                                          </p:val>
                                        </p:tav>
                                      </p:tavLst>
                                    </p:anim>
                                    <p:animEffect transition="in" filter="fade">
                                      <p:cBhvr>
                                        <p:cTn id="136" dur="500"/>
                                        <p:tgtEl>
                                          <p:spTgt spid="30"/>
                                        </p:tgtEl>
                                      </p:cBhvr>
                                    </p:animEffect>
                                  </p:childTnLst>
                                </p:cTn>
                              </p:par>
                              <p:par>
                                <p:cTn id="142" presetID="2" presetClass="entr" presetSubtype="4" fill="hold" grpId="0" nodeType="withEffect">
                                  <p:stCondLst>
                                    <p:cond delay="950"/>
                                  </p:stCondLst>
                                  <p:childTnLst>
                                    <p:set>
                                      <p:cBhvr>
                                        <p:cTn id="138" dur="1" fill="hold">
                                          <p:stCondLst>
                                            <p:cond delay="0"/>
                                          </p:stCondLst>
                                        </p:cTn>
                                        <p:tgtEl>
                                          <p:spTgt spid="31"/>
                                        </p:tgtEl>
                                        <p:attrNameLst>
                                          <p:attrName>style.visibility</p:attrName>
                                        </p:attrNameLst>
                                      </p:cBhvr>
                                      <p:to>
                                        <p:strVal val="visible"/>
                                      </p:to>
                                    </p:set>
                                    <p:anim calcmode="lin" valueType="num">
                                      <p:cBhvr additive="base">
                                        <p:cTn id="139" dur="500" fill="hold"/>
                                        <p:tgtEl>
                                          <p:spTgt spid="31"/>
                                        </p:tgtEl>
                                        <p:attrNameLst>
                                          <p:attrName>ppt_x</p:attrName>
                                        </p:attrNameLst>
                                      </p:cBhvr>
                                      <p:tavLst>
                                        <p:tav tm="0">
                                          <p:val>
                                            <p:strVal val="#ppt_x"/>
                                          </p:val>
                                        </p:tav>
                                        <p:tav tm="100000">
                                          <p:val>
                                            <p:strVal val="#ppt_x"/>
                                          </p:val>
                                        </p:tav>
                                      </p:tavLst>
                                    </p:anim>
                                    <p:anim calcmode="lin" valueType="num">
                                      <p:cBhvr additive="base">
                                        <p:cTn id="140" dur="500" fill="hold"/>
                                        <p:tgtEl>
                                          <p:spTgt spid="31"/>
                                        </p:tgtEl>
                                        <p:attrNameLst>
                                          <p:attrName>ppt_y</p:attrName>
                                        </p:attrNameLst>
                                      </p:cBhvr>
                                      <p:tavLst>
                                        <p:tav tm="0">
                                          <p:val>
                                            <p:strVal val="#ppt_y+0.1"/>
                                          </p:val>
                                        </p:tav>
                                        <p:tav tm="100000">
                                          <p:val>
                                            <p:strVal val="#ppt_y"/>
                                          </p:val>
                                        </p:tav>
                                      </p:tavLst>
                                    </p:anim>
                                    <p:animEffect transition="in" filter="fade">
                                      <p:cBhvr>
                                        <p:cTn id="141" dur="500"/>
                                        <p:tgtEl>
                                          <p:spTgt spid="31"/>
                                        </p:tgtEl>
                                      </p:cBhvr>
                                    </p:animEffect>
                                  </p:childTnLst>
                                </p:cTn>
                              </p:par>
                              <p:par>
                                <p:cTn id="147" presetID="2" presetClass="entr" presetSubtype="4" fill="hold" grpId="0" nodeType="withEffect">
                                  <p:stCondLst>
                                    <p:cond delay="990"/>
                                  </p:stCondLst>
                                  <p:childTnLst>
                                    <p:set>
                                      <p:cBhvr>
                                        <p:cTn id="143" dur="1" fill="hold">
                                          <p:stCondLst>
                                            <p:cond delay="0"/>
                                          </p:stCondLst>
                                        </p:cTn>
                                        <p:tgtEl>
                                          <p:spTgt spid="32"/>
                                        </p:tgtEl>
                                        <p:attrNameLst>
                                          <p:attrName>style.visibility</p:attrName>
                                        </p:attrNameLst>
                                      </p:cBhvr>
                                      <p:to>
                                        <p:strVal val="visible"/>
                                      </p:to>
                                    </p:set>
                                    <p:anim calcmode="lin" valueType="num">
                                      <p:cBhvr additive="base">
                                        <p:cTn id="144" dur="500" fill="hold"/>
                                        <p:tgtEl>
                                          <p:spTgt spid="32"/>
                                        </p:tgtEl>
                                        <p:attrNameLst>
                                          <p:attrName>ppt_x</p:attrName>
                                        </p:attrNameLst>
                                      </p:cBhvr>
                                      <p:tavLst>
                                        <p:tav tm="0">
                                          <p:val>
                                            <p:strVal val="#ppt_x"/>
                                          </p:val>
                                        </p:tav>
                                        <p:tav tm="100000">
                                          <p:val>
                                            <p:strVal val="#ppt_x"/>
                                          </p:val>
                                        </p:tav>
                                      </p:tavLst>
                                    </p:anim>
                                    <p:anim calcmode="lin" valueType="num">
                                      <p:cBhvr additive="base">
                                        <p:cTn id="145" dur="500" fill="hold"/>
                                        <p:tgtEl>
                                          <p:spTgt spid="32"/>
                                        </p:tgtEl>
                                        <p:attrNameLst>
                                          <p:attrName>ppt_y</p:attrName>
                                        </p:attrNameLst>
                                      </p:cBhvr>
                                      <p:tavLst>
                                        <p:tav tm="0">
                                          <p:val>
                                            <p:strVal val="#ppt_y+0.1"/>
                                          </p:val>
                                        </p:tav>
                                        <p:tav tm="100000">
                                          <p:val>
                                            <p:strVal val="#ppt_y"/>
                                          </p:val>
                                        </p:tav>
                                      </p:tavLst>
                                    </p:anim>
                                    <p:animEffect transition="in" filter="fade">
                                      <p:cBhvr>
                                        <p:cTn id="146" dur="500"/>
                                        <p:tgtEl>
                                          <p:spTgt spid="32"/>
                                        </p:tgtEl>
                                      </p:cBhvr>
                                    </p:animEffect>
                                  </p:childTnLst>
                                </p:cTn>
                              </p:par>
                              <p:par>
                                <p:cTn id="152" presetID="2" presetClass="entr" presetSubtype="4" fill="hold" grpId="0" nodeType="withEffect">
                                  <p:stCondLst>
                                    <p:cond delay="1010"/>
                                  </p:stCondLst>
                                  <p:childTnLst>
                                    <p:set>
                                      <p:cBhvr>
                                        <p:cTn id="148" dur="1" fill="hold">
                                          <p:stCondLst>
                                            <p:cond delay="0"/>
                                          </p:stCondLst>
                                        </p:cTn>
                                        <p:tgtEl>
                                          <p:spTgt spid="33"/>
                                        </p:tgtEl>
                                        <p:attrNameLst>
                                          <p:attrName>style.visibility</p:attrName>
                                        </p:attrNameLst>
                                      </p:cBhvr>
                                      <p:to>
                                        <p:strVal val="visible"/>
                                      </p:to>
                                    </p:set>
                                    <p:anim calcmode="lin" valueType="num">
                                      <p:cBhvr additive="base">
                                        <p:cTn id="149" dur="500" fill="hold"/>
                                        <p:tgtEl>
                                          <p:spTgt spid="33"/>
                                        </p:tgtEl>
                                        <p:attrNameLst>
                                          <p:attrName>ppt_x</p:attrName>
                                        </p:attrNameLst>
                                      </p:cBhvr>
                                      <p:tavLst>
                                        <p:tav tm="0">
                                          <p:val>
                                            <p:strVal val="#ppt_x"/>
                                          </p:val>
                                        </p:tav>
                                        <p:tav tm="100000">
                                          <p:val>
                                            <p:strVal val="#ppt_x"/>
                                          </p:val>
                                        </p:tav>
                                      </p:tavLst>
                                    </p:anim>
                                    <p:anim calcmode="lin" valueType="num">
                                      <p:cBhvr additive="base">
                                        <p:cTn id="150" dur="500" fill="hold"/>
                                        <p:tgtEl>
                                          <p:spTgt spid="33"/>
                                        </p:tgtEl>
                                        <p:attrNameLst>
                                          <p:attrName>ppt_y</p:attrName>
                                        </p:attrNameLst>
                                      </p:cBhvr>
                                      <p:tavLst>
                                        <p:tav tm="0">
                                          <p:val>
                                            <p:strVal val="#ppt_y+0.1"/>
                                          </p:val>
                                        </p:tav>
                                        <p:tav tm="100000">
                                          <p:val>
                                            <p:strVal val="#ppt_y"/>
                                          </p:val>
                                        </p:tav>
                                      </p:tavLst>
                                    </p:anim>
                                    <p:animEffect transition="in" filter="fade">
                                      <p:cBhvr>
                                        <p:cTn id="151" dur="500"/>
                                        <p:tgtEl>
                                          <p:spTgt spid="33"/>
                                        </p:tgtEl>
                                      </p:cBhvr>
                                    </p:animEffect>
                                  </p:childTnLst>
                                </p:cTn>
                              </p:par>
                              <p:par>
                                <p:cTn id="157" presetID="2" presetClass="entr" presetSubtype="4" fill="hold" grpId="0" nodeType="withEffect">
                                  <p:stCondLst>
                                    <p:cond delay="1030"/>
                                  </p:stCondLst>
                                  <p:childTnLst>
                                    <p:set>
                                      <p:cBhvr>
                                        <p:cTn id="153" dur="1" fill="hold">
                                          <p:stCondLst>
                                            <p:cond delay="0"/>
                                          </p:stCondLst>
                                        </p:cTn>
                                        <p:tgtEl>
                                          <p:spTgt spid="34"/>
                                        </p:tgtEl>
                                        <p:attrNameLst>
                                          <p:attrName>style.visibility</p:attrName>
                                        </p:attrNameLst>
                                      </p:cBhvr>
                                      <p:to>
                                        <p:strVal val="visible"/>
                                      </p:to>
                                    </p:set>
                                    <p:anim calcmode="lin" valueType="num">
                                      <p:cBhvr additive="base">
                                        <p:cTn id="154" dur="500" fill="hold"/>
                                        <p:tgtEl>
                                          <p:spTgt spid="34"/>
                                        </p:tgtEl>
                                        <p:attrNameLst>
                                          <p:attrName>ppt_x</p:attrName>
                                        </p:attrNameLst>
                                      </p:cBhvr>
                                      <p:tavLst>
                                        <p:tav tm="0">
                                          <p:val>
                                            <p:strVal val="#ppt_x"/>
                                          </p:val>
                                        </p:tav>
                                        <p:tav tm="100000">
                                          <p:val>
                                            <p:strVal val="#ppt_x"/>
                                          </p:val>
                                        </p:tav>
                                      </p:tavLst>
                                    </p:anim>
                                    <p:anim calcmode="lin" valueType="num">
                                      <p:cBhvr additive="base">
                                        <p:cTn id="155" dur="500" fill="hold"/>
                                        <p:tgtEl>
                                          <p:spTgt spid="34"/>
                                        </p:tgtEl>
                                        <p:attrNameLst>
                                          <p:attrName>ppt_y</p:attrName>
                                        </p:attrNameLst>
                                      </p:cBhvr>
                                      <p:tavLst>
                                        <p:tav tm="0">
                                          <p:val>
                                            <p:strVal val="#ppt_y+0.1"/>
                                          </p:val>
                                        </p:tav>
                                        <p:tav tm="100000">
                                          <p:val>
                                            <p:strVal val="#ppt_y"/>
                                          </p:val>
                                        </p:tav>
                                      </p:tavLst>
                                    </p:anim>
                                    <p:animEffect transition="in" filter="fade">
                                      <p:cBhvr>
                                        <p:cTn id="156" dur="500"/>
                                        <p:tgtEl>
                                          <p:spTgt spid="34"/>
                                        </p:tgtEl>
                                      </p:cBhvr>
                                    </p:animEffect>
                                  </p:childTnLst>
                                </p:cTn>
                              </p:par>
                            </p:childTnLst>
                          </p:cTn>
                        </p:par>
                      </p:childTnLst>
                    </p:cTn>
                  </p:par>
                  <p:par>
                    <p:cTn id="158" fill="hold">
                      <p:stCondLst>
                        <p:cond delay="indefinite"/>
                      </p:stCondLst>
                      <p:childTnLst>
                        <p:par>
                          <p:cTn id="159" fill="hold">
                            <p:stCondLst>
                              <p:cond delay="0"/>
                            </p:stCondLst>
                            <p:childTnLst>
                              <p:par>
                                <p:cTn id="164" presetID="2" presetClass="entr" presetSubtype="4" fill="hold" grpId="0" nodeType="clickEffect">
                                  <p:stCondLst>
                                    <p:cond delay="0"/>
                                  </p:stCondLst>
                                  <p:childTnLst>
                                    <p:set>
                                      <p:cBhvr>
                                        <p:cTn id="160" dur="1" fill="hold">
                                          <p:stCondLst>
                                            <p:cond delay="0"/>
                                          </p:stCondLst>
                                        </p:cTn>
                                        <p:tgtEl>
                                          <p:spTgt spid="35"/>
                                        </p:tgtEl>
                                        <p:attrNameLst>
                                          <p:attrName>style.visibility</p:attrName>
                                        </p:attrNameLst>
                                      </p:cBhvr>
                                      <p:to>
                                        <p:strVal val="visible"/>
                                      </p:to>
                                    </p:set>
                                    <p:anim calcmode="lin" valueType="num">
                                      <p:cBhvr additive="base">
                                        <p:cTn id="161" dur="500" fill="hold"/>
                                        <p:tgtEl>
                                          <p:spTgt spid="35"/>
                                        </p:tgtEl>
                                        <p:attrNameLst>
                                          <p:attrName>ppt_x</p:attrName>
                                        </p:attrNameLst>
                                      </p:cBhvr>
                                      <p:tavLst>
                                        <p:tav tm="0">
                                          <p:val>
                                            <p:strVal val="#ppt_x"/>
                                          </p:val>
                                        </p:tav>
                                        <p:tav tm="100000">
                                          <p:val>
                                            <p:strVal val="#ppt_x"/>
                                          </p:val>
                                        </p:tav>
                                      </p:tavLst>
                                    </p:anim>
                                    <p:anim calcmode="lin" valueType="num">
                                      <p:cBhvr additive="base">
                                        <p:cTn id="162" dur="500" fill="hold"/>
                                        <p:tgtEl>
                                          <p:spTgt spid="35"/>
                                        </p:tgtEl>
                                        <p:attrNameLst>
                                          <p:attrName>ppt_y</p:attrName>
                                        </p:attrNameLst>
                                      </p:cBhvr>
                                      <p:tavLst>
                                        <p:tav tm="0">
                                          <p:val>
                                            <p:strVal val="#ppt_y+0.1"/>
                                          </p:val>
                                        </p:tav>
                                        <p:tav tm="100000">
                                          <p:val>
                                            <p:strVal val="#ppt_y"/>
                                          </p:val>
                                        </p:tav>
                                      </p:tavLst>
                                    </p:anim>
                                    <p:animEffect transition="in" filter="fade">
                                      <p:cBhvr>
                                        <p:cTn id="163" dur="500"/>
                                        <p:tgtEl>
                                          <p:spTgt spid="35"/>
                                        </p:tgtEl>
                                      </p:cBhvr>
                                    </p:animEffect>
                                  </p:childTnLst>
                                </p:cTn>
                              </p:par>
                              <p:par>
                                <p:cTn id="169" presetID="2" presetClass="entr" presetSubtype="4" fill="hold" grpId="0" nodeType="withEffect">
                                  <p:stCondLst>
                                    <p:cond delay="0"/>
                                  </p:stCondLst>
                                  <p:childTnLst>
                                    <p:set>
                                      <p:cBhvr>
                                        <p:cTn id="165" dur="1" fill="hold">
                                          <p:stCondLst>
                                            <p:cond delay="0"/>
                                          </p:stCondLst>
                                        </p:cTn>
                                        <p:tgtEl>
                                          <p:spTgt spid="36"/>
                                        </p:tgtEl>
                                        <p:attrNameLst>
                                          <p:attrName>style.visibility</p:attrName>
                                        </p:attrNameLst>
                                      </p:cBhvr>
                                      <p:to>
                                        <p:strVal val="visible"/>
                                      </p:to>
                                    </p:set>
                                    <p:anim calcmode="lin" valueType="num">
                                      <p:cBhvr additive="base">
                                        <p:cTn id="166" dur="500" fill="hold"/>
                                        <p:tgtEl>
                                          <p:spTgt spid="36"/>
                                        </p:tgtEl>
                                        <p:attrNameLst>
                                          <p:attrName>ppt_x</p:attrName>
                                        </p:attrNameLst>
                                      </p:cBhvr>
                                      <p:tavLst>
                                        <p:tav tm="0">
                                          <p:val>
                                            <p:strVal val="#ppt_x"/>
                                          </p:val>
                                        </p:tav>
                                        <p:tav tm="100000">
                                          <p:val>
                                            <p:strVal val="#ppt_x"/>
                                          </p:val>
                                        </p:tav>
                                      </p:tavLst>
                                    </p:anim>
                                    <p:anim calcmode="lin" valueType="num">
                                      <p:cBhvr additive="base">
                                        <p:cTn id="167" dur="500" fill="hold"/>
                                        <p:tgtEl>
                                          <p:spTgt spid="36"/>
                                        </p:tgtEl>
                                        <p:attrNameLst>
                                          <p:attrName>ppt_y</p:attrName>
                                        </p:attrNameLst>
                                      </p:cBhvr>
                                      <p:tavLst>
                                        <p:tav tm="0">
                                          <p:val>
                                            <p:strVal val="#ppt_y+0.1"/>
                                          </p:val>
                                        </p:tav>
                                        <p:tav tm="100000">
                                          <p:val>
                                            <p:strVal val="#ppt_y"/>
                                          </p:val>
                                        </p:tav>
                                      </p:tavLst>
                                    </p:anim>
                                    <p:animEffect transition="in" filter="fade">
                                      <p:cBhvr>
                                        <p:cTn id="168" dur="500"/>
                                        <p:tgtEl>
                                          <p:spTgt spid="36"/>
                                        </p:tgtEl>
                                      </p:cBhvr>
                                    </p:animEffect>
                                  </p:childTnLst>
                                </p:cTn>
                              </p:par>
                              <p:par>
                                <p:cTn id="174" presetID="2" presetClass="entr" presetSubtype="4" fill="hold" grpId="0" nodeType="withEffect">
                                  <p:stCondLst>
                                    <p:cond delay="0"/>
                                  </p:stCondLst>
                                  <p:childTnLst>
                                    <p:set>
                                      <p:cBhvr>
                                        <p:cTn id="170" dur="1" fill="hold">
                                          <p:stCondLst>
                                            <p:cond delay="0"/>
                                          </p:stCondLst>
                                        </p:cTn>
                                        <p:tgtEl>
                                          <p:spTgt spid="37"/>
                                        </p:tgtEl>
                                        <p:attrNameLst>
                                          <p:attrName>style.visibility</p:attrName>
                                        </p:attrNameLst>
                                      </p:cBhvr>
                                      <p:to>
                                        <p:strVal val="visible"/>
                                      </p:to>
                                    </p:set>
                                    <p:anim calcmode="lin" valueType="num">
                                      <p:cBhvr additive="base">
                                        <p:cTn id="171" dur="500" fill="hold"/>
                                        <p:tgtEl>
                                          <p:spTgt spid="37"/>
                                        </p:tgtEl>
                                        <p:attrNameLst>
                                          <p:attrName>ppt_x</p:attrName>
                                        </p:attrNameLst>
                                      </p:cBhvr>
                                      <p:tavLst>
                                        <p:tav tm="0">
                                          <p:val>
                                            <p:strVal val="#ppt_x"/>
                                          </p:val>
                                        </p:tav>
                                        <p:tav tm="100000">
                                          <p:val>
                                            <p:strVal val="#ppt_x"/>
                                          </p:val>
                                        </p:tav>
                                      </p:tavLst>
                                    </p:anim>
                                    <p:anim calcmode="lin" valueType="num">
                                      <p:cBhvr additive="base">
                                        <p:cTn id="172" dur="500" fill="hold"/>
                                        <p:tgtEl>
                                          <p:spTgt spid="37"/>
                                        </p:tgtEl>
                                        <p:attrNameLst>
                                          <p:attrName>ppt_y</p:attrName>
                                        </p:attrNameLst>
                                      </p:cBhvr>
                                      <p:tavLst>
                                        <p:tav tm="0">
                                          <p:val>
                                            <p:strVal val="#ppt_y+0.1"/>
                                          </p:val>
                                        </p:tav>
                                        <p:tav tm="100000">
                                          <p:val>
                                            <p:strVal val="#ppt_y"/>
                                          </p:val>
                                        </p:tav>
                                      </p:tavLst>
                                    </p:anim>
                                    <p:animEffect transition="in" filter="fade">
                                      <p:cBhvr>
                                        <p:cTn id="17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The Three Papers Everything Descends From</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Almost every NoSQL product traces its design to one of these</a:t>
            </a:r>
          </a:p>
        </p:txBody>
      </p:sp>
      <p:sp>
        <p:nvSpPr>
          <p:cNvPr id="4" name="a1u_card3"/>
          <p:cNvSpPr/>
          <p:nvPr/>
        </p:nvSpPr>
        <p:spPr>
          <a:xfrm>
            <a:off x="457200" y="1170432"/>
            <a:ext cx="2609088" cy="2148840"/>
          </a:xfrm>
          <a:prstGeom prst="roundRect">
            <a:avLst>
              <a:gd name="adj" fmla="val 42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170432"/>
            <a:ext cx="2609088"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60_ic5"/>
          <p:cNvSpPr/>
          <p:nvPr/>
        </p:nvSpPr>
        <p:spPr>
          <a:xfrm>
            <a:off x="621792" y="1371600"/>
            <a:ext cx="384048" cy="384048"/>
          </a:xfrm>
          <a:prstGeom prst="roundRect">
            <a:avLst>
              <a:gd name="adj" fmla="val 23809"/>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60_ict6"/>
          <p:cNvSpPr txBox="1"/>
          <p:nvPr/>
        </p:nvSpPr>
        <p:spPr>
          <a:xfrm>
            <a:off x="621792"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M</a:t>
            </a:r>
          </a:p>
        </p:txBody>
      </p:sp>
      <p:sp>
        <p:nvSpPr>
          <p:cNvPr id="8" name="a1ud90_ct7"/>
          <p:cNvSpPr txBox="1"/>
          <p:nvPr/>
        </p:nvSpPr>
        <p:spPr>
          <a:xfrm>
            <a:off x="621792" y="1847088"/>
            <a:ext cx="2279904" cy="274320"/>
          </a:xfrm>
          <a:prstGeom prst="rect">
            <a:avLst/>
          </a:prstGeom>
          <a:noFill/>
        </p:spPr>
        <p:txBody>
          <a:bodyPr wrap="square" lIns="0" tIns="0" rIns="0" bIns="0" anchor="ctr">
            <a:spAutoFit/>
          </a:bodyPr>
          <a:lstStyle/>
          <a:p>
            <a:pPr algn="l"/>
            <a:r>
              <a:rPr sz="1400" b="1">
                <a:solidFill>
                  <a:srgbClr val="0F172A"/>
                </a:solidFill>
                <a:latin typeface="Calibri"/>
              </a:rPr>
              <a:t>MapReduce</a:t>
            </a:r>
          </a:p>
        </p:txBody>
      </p:sp>
      <p:sp>
        <p:nvSpPr>
          <p:cNvPr id="9" name="a1ud120_cs8"/>
          <p:cNvSpPr txBox="1"/>
          <p:nvPr/>
        </p:nvSpPr>
        <p:spPr>
          <a:xfrm>
            <a:off x="621792" y="2121408"/>
            <a:ext cx="2279904" cy="237744"/>
          </a:xfrm>
          <a:prstGeom prst="rect">
            <a:avLst/>
          </a:prstGeom>
          <a:noFill/>
        </p:spPr>
        <p:txBody>
          <a:bodyPr wrap="square" lIns="0" tIns="0" rIns="0" bIns="0" anchor="ctr">
            <a:spAutoFit/>
          </a:bodyPr>
          <a:lstStyle/>
          <a:p>
            <a:pPr algn="l"/>
            <a:r>
              <a:rPr sz="1000" b="1">
                <a:solidFill>
                  <a:srgbClr val="0F766E"/>
                </a:solidFill>
                <a:latin typeface="Courier New"/>
              </a:rPr>
              <a:t>GOOGLE · 2004</a:t>
            </a:r>
          </a:p>
        </p:txBody>
      </p:sp>
      <p:sp>
        <p:nvSpPr>
          <p:cNvPr id="10" name="a1ud150_cb9"/>
          <p:cNvSpPr txBox="1"/>
          <p:nvPr/>
        </p:nvSpPr>
        <p:spPr>
          <a:xfrm>
            <a:off x="621792" y="2377439"/>
            <a:ext cx="2279904"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Process petabytes by splitting work across cheap machines</a:t>
            </a:r>
          </a:p>
        </p:txBody>
      </p:sp>
      <p:sp>
        <p:nvSpPr>
          <p:cNvPr id="11" name="a1ud220_cb10"/>
          <p:cNvSpPr txBox="1"/>
          <p:nvPr/>
        </p:nvSpPr>
        <p:spPr>
          <a:xfrm>
            <a:off x="621792" y="2761487"/>
            <a:ext cx="2279904"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Descendants: Hadoop, Spark</a:t>
            </a:r>
          </a:p>
        </p:txBody>
      </p:sp>
      <p:sp>
        <p:nvSpPr>
          <p:cNvPr id="12" name="a1ud290_cb11"/>
          <p:cNvSpPr txBox="1"/>
          <p:nvPr/>
        </p:nvSpPr>
        <p:spPr>
          <a:xfrm>
            <a:off x="621792" y="3145535"/>
            <a:ext cx="2279904"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Lesson: the cluster is the computer</a:t>
            </a:r>
          </a:p>
        </p:txBody>
      </p:sp>
      <p:sp>
        <p:nvSpPr>
          <p:cNvPr id="13" name="a2u_card12"/>
          <p:cNvSpPr/>
          <p:nvPr/>
        </p:nvSpPr>
        <p:spPr>
          <a:xfrm>
            <a:off x="3267456" y="1170432"/>
            <a:ext cx="2609088" cy="2148840"/>
          </a:xfrm>
          <a:prstGeom prst="roundRect">
            <a:avLst>
              <a:gd name="adj" fmla="val 42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_acc13"/>
          <p:cNvSpPr/>
          <p:nvPr/>
        </p:nvSpPr>
        <p:spPr>
          <a:xfrm>
            <a:off x="3267456" y="1170432"/>
            <a:ext cx="2609088"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d60_ic14"/>
          <p:cNvSpPr/>
          <p:nvPr/>
        </p:nvSpPr>
        <p:spPr>
          <a:xfrm>
            <a:off x="3432048" y="1371600"/>
            <a:ext cx="384048" cy="384048"/>
          </a:xfrm>
          <a:prstGeom prst="roundRect">
            <a:avLst>
              <a:gd name="adj" fmla="val 23809"/>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d60_ict15"/>
          <p:cNvSpPr txBox="1"/>
          <p:nvPr/>
        </p:nvSpPr>
        <p:spPr>
          <a:xfrm>
            <a:off x="3432048"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B</a:t>
            </a:r>
          </a:p>
        </p:txBody>
      </p:sp>
      <p:sp>
        <p:nvSpPr>
          <p:cNvPr id="17" name="a2ud90_ct16"/>
          <p:cNvSpPr txBox="1"/>
          <p:nvPr/>
        </p:nvSpPr>
        <p:spPr>
          <a:xfrm>
            <a:off x="3432048" y="1847088"/>
            <a:ext cx="2279904" cy="274320"/>
          </a:xfrm>
          <a:prstGeom prst="rect">
            <a:avLst/>
          </a:prstGeom>
          <a:noFill/>
        </p:spPr>
        <p:txBody>
          <a:bodyPr wrap="square" lIns="0" tIns="0" rIns="0" bIns="0" anchor="ctr">
            <a:spAutoFit/>
          </a:bodyPr>
          <a:lstStyle/>
          <a:p>
            <a:pPr algn="l"/>
            <a:r>
              <a:rPr sz="1400" b="1">
                <a:solidFill>
                  <a:srgbClr val="0F172A"/>
                </a:solidFill>
                <a:latin typeface="Calibri"/>
              </a:rPr>
              <a:t>BigTable</a:t>
            </a:r>
          </a:p>
        </p:txBody>
      </p:sp>
      <p:sp>
        <p:nvSpPr>
          <p:cNvPr id="18" name="a2ud120_cs17"/>
          <p:cNvSpPr txBox="1"/>
          <p:nvPr/>
        </p:nvSpPr>
        <p:spPr>
          <a:xfrm>
            <a:off x="3432048" y="2121408"/>
            <a:ext cx="2279904" cy="237744"/>
          </a:xfrm>
          <a:prstGeom prst="rect">
            <a:avLst/>
          </a:prstGeom>
          <a:noFill/>
        </p:spPr>
        <p:txBody>
          <a:bodyPr wrap="square" lIns="0" tIns="0" rIns="0" bIns="0" anchor="ctr">
            <a:spAutoFit/>
          </a:bodyPr>
          <a:lstStyle/>
          <a:p>
            <a:pPr algn="l"/>
            <a:r>
              <a:rPr sz="1000" b="1">
                <a:solidFill>
                  <a:srgbClr val="B45309"/>
                </a:solidFill>
                <a:latin typeface="Courier New"/>
              </a:rPr>
              <a:t>GOOGLE · 2006</a:t>
            </a:r>
          </a:p>
        </p:txBody>
      </p:sp>
      <p:sp>
        <p:nvSpPr>
          <p:cNvPr id="19" name="a2ud150_cb18"/>
          <p:cNvSpPr txBox="1"/>
          <p:nvPr/>
        </p:nvSpPr>
        <p:spPr>
          <a:xfrm>
            <a:off x="3432048" y="2377439"/>
            <a:ext cx="2279904"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A sparse, distributed, sorted map - rows, column families, timestamps</a:t>
            </a:r>
          </a:p>
        </p:txBody>
      </p:sp>
      <p:sp>
        <p:nvSpPr>
          <p:cNvPr id="20" name="a2ud220_cb19"/>
          <p:cNvSpPr txBox="1"/>
          <p:nvPr/>
        </p:nvSpPr>
        <p:spPr>
          <a:xfrm>
            <a:off x="3432048" y="2761487"/>
            <a:ext cx="2279904"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Descendants: HBase, Cassandra, Accumulo</a:t>
            </a:r>
          </a:p>
        </p:txBody>
      </p:sp>
      <p:sp>
        <p:nvSpPr>
          <p:cNvPr id="21" name="a2ud290_cb20"/>
          <p:cNvSpPr txBox="1"/>
          <p:nvPr/>
        </p:nvSpPr>
        <p:spPr>
          <a:xfrm>
            <a:off x="3432048" y="3145535"/>
            <a:ext cx="2279904"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Lesson: drop joins, keep scale</a:t>
            </a:r>
          </a:p>
        </p:txBody>
      </p:sp>
      <p:sp>
        <p:nvSpPr>
          <p:cNvPr id="22" name="a3u_card21"/>
          <p:cNvSpPr/>
          <p:nvPr/>
        </p:nvSpPr>
        <p:spPr>
          <a:xfrm>
            <a:off x="6077712" y="1170432"/>
            <a:ext cx="2609088" cy="2148840"/>
          </a:xfrm>
          <a:prstGeom prst="roundRect">
            <a:avLst>
              <a:gd name="adj" fmla="val 42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_acc22"/>
          <p:cNvSpPr/>
          <p:nvPr/>
        </p:nvSpPr>
        <p:spPr>
          <a:xfrm>
            <a:off x="6077712" y="1170432"/>
            <a:ext cx="2609088" cy="5029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d60_ic23"/>
          <p:cNvSpPr/>
          <p:nvPr/>
        </p:nvSpPr>
        <p:spPr>
          <a:xfrm>
            <a:off x="6242304" y="1371600"/>
            <a:ext cx="384048" cy="384048"/>
          </a:xfrm>
          <a:prstGeom prst="roundRect">
            <a:avLst>
              <a:gd name="adj" fmla="val 23809"/>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d60_ict24"/>
          <p:cNvSpPr txBox="1"/>
          <p:nvPr/>
        </p:nvSpPr>
        <p:spPr>
          <a:xfrm>
            <a:off x="6242304"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D</a:t>
            </a:r>
          </a:p>
        </p:txBody>
      </p:sp>
      <p:sp>
        <p:nvSpPr>
          <p:cNvPr id="26" name="a3ud90_ct25"/>
          <p:cNvSpPr txBox="1"/>
          <p:nvPr/>
        </p:nvSpPr>
        <p:spPr>
          <a:xfrm>
            <a:off x="6242304" y="1847088"/>
            <a:ext cx="2279904" cy="274320"/>
          </a:xfrm>
          <a:prstGeom prst="rect">
            <a:avLst/>
          </a:prstGeom>
          <a:noFill/>
        </p:spPr>
        <p:txBody>
          <a:bodyPr wrap="square" lIns="0" tIns="0" rIns="0" bIns="0" anchor="ctr">
            <a:spAutoFit/>
          </a:bodyPr>
          <a:lstStyle/>
          <a:p>
            <a:pPr algn="l"/>
            <a:r>
              <a:rPr sz="1400" b="1">
                <a:solidFill>
                  <a:srgbClr val="0F172A"/>
                </a:solidFill>
                <a:latin typeface="Calibri"/>
              </a:rPr>
              <a:t>Dynamo</a:t>
            </a:r>
          </a:p>
        </p:txBody>
      </p:sp>
      <p:sp>
        <p:nvSpPr>
          <p:cNvPr id="27" name="a3ud120_cs26"/>
          <p:cNvSpPr txBox="1"/>
          <p:nvPr/>
        </p:nvSpPr>
        <p:spPr>
          <a:xfrm>
            <a:off x="6242304" y="2121408"/>
            <a:ext cx="2279904" cy="237744"/>
          </a:xfrm>
          <a:prstGeom prst="rect">
            <a:avLst/>
          </a:prstGeom>
          <a:noFill/>
        </p:spPr>
        <p:txBody>
          <a:bodyPr wrap="square" lIns="0" tIns="0" rIns="0" bIns="0" anchor="ctr">
            <a:spAutoFit/>
          </a:bodyPr>
          <a:lstStyle/>
          <a:p>
            <a:pPr algn="l"/>
            <a:r>
              <a:rPr sz="1000" b="1">
                <a:solidFill>
                  <a:srgbClr val="DC382C"/>
                </a:solidFill>
                <a:latin typeface="Courier New"/>
              </a:rPr>
              <a:t>AMAZON · 2007</a:t>
            </a:r>
          </a:p>
        </p:txBody>
      </p:sp>
      <p:sp>
        <p:nvSpPr>
          <p:cNvPr id="28" name="a3ud150_cb27"/>
          <p:cNvSpPr txBox="1"/>
          <p:nvPr/>
        </p:nvSpPr>
        <p:spPr>
          <a:xfrm>
            <a:off x="6242304" y="2377439"/>
            <a:ext cx="2279904"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An always-writable key-value store using consistent hashing and quorums</a:t>
            </a:r>
          </a:p>
        </p:txBody>
      </p:sp>
      <p:sp>
        <p:nvSpPr>
          <p:cNvPr id="29" name="a3ud220_cb28"/>
          <p:cNvSpPr txBox="1"/>
          <p:nvPr/>
        </p:nvSpPr>
        <p:spPr>
          <a:xfrm>
            <a:off x="6242304" y="2761487"/>
            <a:ext cx="2279904"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Descendants: DynamoDB, Riak, Cassandra, Voldemort</a:t>
            </a:r>
          </a:p>
        </p:txBody>
      </p:sp>
      <p:sp>
        <p:nvSpPr>
          <p:cNvPr id="30" name="a3ud290_cb29"/>
          <p:cNvSpPr txBox="1"/>
          <p:nvPr/>
        </p:nvSpPr>
        <p:spPr>
          <a:xfrm>
            <a:off x="6242304" y="3145535"/>
            <a:ext cx="2279904"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Lesson: availability can beat consistency</a:t>
            </a:r>
          </a:p>
        </p:txBody>
      </p:sp>
      <p:sp>
        <p:nvSpPr>
          <p:cNvPr id="31" name="a4u_nb30"/>
          <p:cNvSpPr/>
          <p:nvPr/>
        </p:nvSpPr>
        <p:spPr>
          <a:xfrm>
            <a:off x="457200" y="3456432"/>
            <a:ext cx="8229600" cy="475488"/>
          </a:xfrm>
          <a:prstGeom prst="roundRect">
            <a:avLst>
              <a:gd name="adj" fmla="val 15384"/>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4u_nacc31"/>
          <p:cNvSpPr/>
          <p:nvPr/>
        </p:nvSpPr>
        <p:spPr>
          <a:xfrm>
            <a:off x="457200" y="3456432"/>
            <a:ext cx="50292" cy="47548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t32"/>
          <p:cNvSpPr txBox="1"/>
          <p:nvPr/>
        </p:nvSpPr>
        <p:spPr>
          <a:xfrm>
            <a:off x="658368" y="3456432"/>
            <a:ext cx="7827264" cy="475488"/>
          </a:xfrm>
          <a:prstGeom prst="rect">
            <a:avLst/>
          </a:prstGeom>
          <a:noFill/>
        </p:spPr>
        <p:txBody>
          <a:bodyPr wrap="square" lIns="0" tIns="0" rIns="0" bIns="0" anchor="ctr">
            <a:spAutoFit/>
          </a:bodyPr>
          <a:lstStyle/>
          <a:p>
            <a:pPr algn="l"/>
            <a:r>
              <a:rPr sz="1050" b="1">
                <a:solidFill>
                  <a:srgbClr val="8B5CF6"/>
                </a:solidFill>
                <a:latin typeface="Calibri"/>
              </a:rPr>
              <a:t>i  </a:t>
            </a:r>
            <a:r>
              <a:rPr sz="1050" b="0">
                <a:solidFill>
                  <a:srgbClr val="334155"/>
                </a:solidFill>
                <a:latin typeface="Calibri"/>
              </a:rPr>
              <a:t>Cassandra is the famous hybrid: BigTable's data model on top of Dynamo's distribution. Recognise the ancestry and a new product's behaviour stops being a surprise.</a:t>
            </a:r>
          </a:p>
        </p:txBody>
      </p:sp>
      <p:sp>
        <p:nvSpPr>
          <p:cNvPr id="34" name="ft33"/>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5" name="ft34"/>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29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6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9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2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15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22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29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ppt_x</p:attrName>
                                        </p:attrNameLst>
                                      </p:cBhvr>
                                      <p:tavLst>
                                        <p:tav tm="0">
                                          <p:val>
                                            <p:strVal val="#ppt_x"/>
                                          </p:val>
                                        </p:tav>
                                        <p:tav tm="100000">
                                          <p:val>
                                            <p:strVal val="#ppt_x"/>
                                          </p:val>
                                        </p:tav>
                                      </p:tavLst>
                                    </p:anim>
                                    <p:anim calcmode="lin" valueType="num">
                                      <p:cBhvr additive="base">
                                        <p:cTn id="101" dur="500" fill="hold"/>
                                        <p:tgtEl>
                                          <p:spTgt spid="22"/>
                                        </p:tgtEl>
                                        <p:attrNameLst>
                                          <p:attrName>ppt_y</p:attrName>
                                        </p:attrNameLst>
                                      </p:cBhvr>
                                      <p:tavLst>
                                        <p:tav tm="0">
                                          <p:val>
                                            <p:strVal val="#ppt_y+0.1"/>
                                          </p:val>
                                        </p:tav>
                                        <p:tav tm="100000">
                                          <p:val>
                                            <p:strVal val="#ppt_y"/>
                                          </p:val>
                                        </p:tav>
                                      </p:tavLst>
                                    </p:anim>
                                    <p:animEffect transition="in" filter="fade">
                                      <p:cBhvr>
                                        <p:cTn id="102" dur="500"/>
                                        <p:tgtEl>
                                          <p:spTgt spid="22"/>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ppt_x</p:attrName>
                                        </p:attrNameLst>
                                      </p:cBhvr>
                                      <p:tavLst>
                                        <p:tav tm="0">
                                          <p:val>
                                            <p:strVal val="#ppt_x"/>
                                          </p:val>
                                        </p:tav>
                                        <p:tav tm="100000">
                                          <p:val>
                                            <p:strVal val="#ppt_x"/>
                                          </p:val>
                                        </p:tav>
                                      </p:tavLst>
                                    </p:anim>
                                    <p:anim calcmode="lin" valueType="num">
                                      <p:cBhvr additive="base">
                                        <p:cTn id="106" dur="500" fill="hold"/>
                                        <p:tgtEl>
                                          <p:spTgt spid="23"/>
                                        </p:tgtEl>
                                        <p:attrNameLst>
                                          <p:attrName>ppt_y</p:attrName>
                                        </p:attrNameLst>
                                      </p:cBhvr>
                                      <p:tavLst>
                                        <p:tav tm="0">
                                          <p:val>
                                            <p:strVal val="#ppt_y+0.1"/>
                                          </p:val>
                                        </p:tav>
                                        <p:tav tm="100000">
                                          <p:val>
                                            <p:strVal val="#ppt_y"/>
                                          </p:val>
                                        </p:tav>
                                      </p:tavLst>
                                    </p:anim>
                                    <p:animEffect transition="in" filter="fade">
                                      <p:cBhvr>
                                        <p:cTn id="107" dur="500"/>
                                        <p:tgtEl>
                                          <p:spTgt spid="23"/>
                                        </p:tgtEl>
                                      </p:cBhvr>
                                    </p:animEffect>
                                  </p:childTnLst>
                                </p:cTn>
                              </p:par>
                              <p:par>
                                <p:cTn id="113" presetID="2" presetClass="entr" presetSubtype="4" fill="hold" grpId="0" nodeType="withEffect">
                                  <p:stCondLst>
                                    <p:cond delay="6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p:tgtEl>
                                          <p:spTgt spid="24"/>
                                        </p:tgtEl>
                                        <p:attrNameLst>
                                          <p:attrName>ppt_y</p:attrName>
                                        </p:attrNameLst>
                                      </p:cBhvr>
                                      <p:tavLst>
                                        <p:tav tm="0">
                                          <p:val>
                                            <p:strVal val="#ppt_y+0.1"/>
                                          </p:val>
                                        </p:tav>
                                        <p:tav tm="100000">
                                          <p:val>
                                            <p:strVal val="#ppt_y"/>
                                          </p:val>
                                        </p:tav>
                                      </p:tavLst>
                                    </p:anim>
                                    <p:animEffect transition="in" filter="fade">
                                      <p:cBhvr>
                                        <p:cTn id="112" dur="500"/>
                                        <p:tgtEl>
                                          <p:spTgt spid="24"/>
                                        </p:tgtEl>
                                      </p:cBhvr>
                                    </p:animEffect>
                                  </p:childTnLst>
                                </p:cTn>
                              </p:par>
                              <p:par>
                                <p:cTn id="118" presetID="2" presetClass="entr" presetSubtype="4" fill="hold" grpId="0" nodeType="withEffect">
                                  <p:stCondLst>
                                    <p:cond delay="6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ppt_x</p:attrName>
                                        </p:attrNameLst>
                                      </p:cBhvr>
                                      <p:tavLst>
                                        <p:tav tm="0">
                                          <p:val>
                                            <p:strVal val="#ppt_x"/>
                                          </p:val>
                                        </p:tav>
                                        <p:tav tm="100000">
                                          <p:val>
                                            <p:strVal val="#ppt_x"/>
                                          </p:val>
                                        </p:tav>
                                      </p:tavLst>
                                    </p:anim>
                                    <p:anim calcmode="lin" valueType="num">
                                      <p:cBhvr additive="base">
                                        <p:cTn id="116" dur="500" fill="hold"/>
                                        <p:tgtEl>
                                          <p:spTgt spid="25"/>
                                        </p:tgtEl>
                                        <p:attrNameLst>
                                          <p:attrName>ppt_y</p:attrName>
                                        </p:attrNameLst>
                                      </p:cBhvr>
                                      <p:tavLst>
                                        <p:tav tm="0">
                                          <p:val>
                                            <p:strVal val="#ppt_y+0.1"/>
                                          </p:val>
                                        </p:tav>
                                        <p:tav tm="100000">
                                          <p:val>
                                            <p:strVal val="#ppt_y"/>
                                          </p:val>
                                        </p:tav>
                                      </p:tavLst>
                                    </p:anim>
                                    <p:animEffect transition="in" filter="fade">
                                      <p:cBhvr>
                                        <p:cTn id="117" dur="500"/>
                                        <p:tgtEl>
                                          <p:spTgt spid="25"/>
                                        </p:tgtEl>
                                      </p:cBhvr>
                                    </p:animEffect>
                                  </p:childTnLst>
                                </p:cTn>
                              </p:par>
                              <p:par>
                                <p:cTn id="123" presetID="2" presetClass="entr" presetSubtype="4" fill="hold" grpId="0" nodeType="withEffect">
                                  <p:stCondLst>
                                    <p:cond delay="9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ppt_x</p:attrName>
                                        </p:attrNameLst>
                                      </p:cBhvr>
                                      <p:tavLst>
                                        <p:tav tm="0">
                                          <p:val>
                                            <p:strVal val="#ppt_x"/>
                                          </p:val>
                                        </p:tav>
                                        <p:tav tm="100000">
                                          <p:val>
                                            <p:strVal val="#ppt_x"/>
                                          </p:val>
                                        </p:tav>
                                      </p:tavLst>
                                    </p:anim>
                                    <p:anim calcmode="lin" valueType="num">
                                      <p:cBhvr additive="base">
                                        <p:cTn id="121" dur="500" fill="hold"/>
                                        <p:tgtEl>
                                          <p:spTgt spid="26"/>
                                        </p:tgtEl>
                                        <p:attrNameLst>
                                          <p:attrName>ppt_y</p:attrName>
                                        </p:attrNameLst>
                                      </p:cBhvr>
                                      <p:tavLst>
                                        <p:tav tm="0">
                                          <p:val>
                                            <p:strVal val="#ppt_y+0.1"/>
                                          </p:val>
                                        </p:tav>
                                        <p:tav tm="100000">
                                          <p:val>
                                            <p:strVal val="#ppt_y"/>
                                          </p:val>
                                        </p:tav>
                                      </p:tavLst>
                                    </p:anim>
                                    <p:animEffect transition="in" filter="fade">
                                      <p:cBhvr>
                                        <p:cTn id="122" dur="500"/>
                                        <p:tgtEl>
                                          <p:spTgt spid="26"/>
                                        </p:tgtEl>
                                      </p:cBhvr>
                                    </p:animEffect>
                                  </p:childTnLst>
                                </p:cTn>
                              </p:par>
                              <p:par>
                                <p:cTn id="128" presetID="2" presetClass="entr" presetSubtype="4" fill="hold" grpId="0" nodeType="withEffect">
                                  <p:stCondLst>
                                    <p:cond delay="1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ppt_x</p:attrName>
                                        </p:attrNameLst>
                                      </p:cBhvr>
                                      <p:tavLst>
                                        <p:tav tm="0">
                                          <p:val>
                                            <p:strVal val="#ppt_x"/>
                                          </p:val>
                                        </p:tav>
                                        <p:tav tm="100000">
                                          <p:val>
                                            <p:strVal val="#ppt_x"/>
                                          </p:val>
                                        </p:tav>
                                      </p:tavLst>
                                    </p:anim>
                                    <p:anim calcmode="lin" valueType="num">
                                      <p:cBhvr additive="base">
                                        <p:cTn id="126" dur="500" fill="hold"/>
                                        <p:tgtEl>
                                          <p:spTgt spid="27"/>
                                        </p:tgtEl>
                                        <p:attrNameLst>
                                          <p:attrName>ppt_y</p:attrName>
                                        </p:attrNameLst>
                                      </p:cBhvr>
                                      <p:tavLst>
                                        <p:tav tm="0">
                                          <p:val>
                                            <p:strVal val="#ppt_y+0.1"/>
                                          </p:val>
                                        </p:tav>
                                        <p:tav tm="100000">
                                          <p:val>
                                            <p:strVal val="#ppt_y"/>
                                          </p:val>
                                        </p:tav>
                                      </p:tavLst>
                                    </p:anim>
                                    <p:animEffect transition="in" filter="fade">
                                      <p:cBhvr>
                                        <p:cTn id="127" dur="500"/>
                                        <p:tgtEl>
                                          <p:spTgt spid="27"/>
                                        </p:tgtEl>
                                      </p:cBhvr>
                                    </p:animEffect>
                                  </p:childTnLst>
                                </p:cTn>
                              </p:par>
                              <p:par>
                                <p:cTn id="133" presetID="2" presetClass="entr" presetSubtype="4" fill="hold" grpId="0" nodeType="withEffect">
                                  <p:stCondLst>
                                    <p:cond delay="150"/>
                                  </p:stCondLst>
                                  <p:childTnLst>
                                    <p:set>
                                      <p:cBhvr>
                                        <p:cTn id="129" dur="1" fill="hold">
                                          <p:stCondLst>
                                            <p:cond delay="0"/>
                                          </p:stCondLst>
                                        </p:cTn>
                                        <p:tgtEl>
                                          <p:spTgt spid="28"/>
                                        </p:tgtEl>
                                        <p:attrNameLst>
                                          <p:attrName>style.visibility</p:attrName>
                                        </p:attrNameLst>
                                      </p:cBhvr>
                                      <p:to>
                                        <p:strVal val="visible"/>
                                      </p:to>
                                    </p:set>
                                    <p:anim calcmode="lin" valueType="num">
                                      <p:cBhvr additive="base">
                                        <p:cTn id="130" dur="500" fill="hold"/>
                                        <p:tgtEl>
                                          <p:spTgt spid="28"/>
                                        </p:tgtEl>
                                        <p:attrNameLst>
                                          <p:attrName>ppt_x</p:attrName>
                                        </p:attrNameLst>
                                      </p:cBhvr>
                                      <p:tavLst>
                                        <p:tav tm="0">
                                          <p:val>
                                            <p:strVal val="#ppt_x"/>
                                          </p:val>
                                        </p:tav>
                                        <p:tav tm="100000">
                                          <p:val>
                                            <p:strVal val="#ppt_x"/>
                                          </p:val>
                                        </p:tav>
                                      </p:tavLst>
                                    </p:anim>
                                    <p:anim calcmode="lin" valueType="num">
                                      <p:cBhvr additive="base">
                                        <p:cTn id="131" dur="500" fill="hold"/>
                                        <p:tgtEl>
                                          <p:spTgt spid="28"/>
                                        </p:tgtEl>
                                        <p:attrNameLst>
                                          <p:attrName>ppt_y</p:attrName>
                                        </p:attrNameLst>
                                      </p:cBhvr>
                                      <p:tavLst>
                                        <p:tav tm="0">
                                          <p:val>
                                            <p:strVal val="#ppt_y+0.1"/>
                                          </p:val>
                                        </p:tav>
                                        <p:tav tm="100000">
                                          <p:val>
                                            <p:strVal val="#ppt_y"/>
                                          </p:val>
                                        </p:tav>
                                      </p:tavLst>
                                    </p:anim>
                                    <p:animEffect transition="in" filter="fade">
                                      <p:cBhvr>
                                        <p:cTn id="132" dur="500"/>
                                        <p:tgtEl>
                                          <p:spTgt spid="28"/>
                                        </p:tgtEl>
                                      </p:cBhvr>
                                    </p:animEffect>
                                  </p:childTnLst>
                                </p:cTn>
                              </p:par>
                              <p:par>
                                <p:cTn id="138" presetID="2" presetClass="entr" presetSubtype="4" fill="hold" grpId="0" nodeType="withEffect">
                                  <p:stCondLst>
                                    <p:cond delay="220"/>
                                  </p:stCondLst>
                                  <p:childTnLst>
                                    <p:set>
                                      <p:cBhvr>
                                        <p:cTn id="134" dur="1" fill="hold">
                                          <p:stCondLst>
                                            <p:cond delay="0"/>
                                          </p:stCondLst>
                                        </p:cTn>
                                        <p:tgtEl>
                                          <p:spTgt spid="29"/>
                                        </p:tgtEl>
                                        <p:attrNameLst>
                                          <p:attrName>style.visibility</p:attrName>
                                        </p:attrNameLst>
                                      </p:cBhvr>
                                      <p:to>
                                        <p:strVal val="visible"/>
                                      </p:to>
                                    </p:set>
                                    <p:anim calcmode="lin" valueType="num">
                                      <p:cBhvr additive="base">
                                        <p:cTn id="135" dur="500" fill="hold"/>
                                        <p:tgtEl>
                                          <p:spTgt spid="29"/>
                                        </p:tgtEl>
                                        <p:attrNameLst>
                                          <p:attrName>ppt_x</p:attrName>
                                        </p:attrNameLst>
                                      </p:cBhvr>
                                      <p:tavLst>
                                        <p:tav tm="0">
                                          <p:val>
                                            <p:strVal val="#ppt_x"/>
                                          </p:val>
                                        </p:tav>
                                        <p:tav tm="100000">
                                          <p:val>
                                            <p:strVal val="#ppt_x"/>
                                          </p:val>
                                        </p:tav>
                                      </p:tavLst>
                                    </p:anim>
                                    <p:anim calcmode="lin" valueType="num">
                                      <p:cBhvr additive="base">
                                        <p:cTn id="136" dur="500" fill="hold"/>
                                        <p:tgtEl>
                                          <p:spTgt spid="29"/>
                                        </p:tgtEl>
                                        <p:attrNameLst>
                                          <p:attrName>ppt_y</p:attrName>
                                        </p:attrNameLst>
                                      </p:cBhvr>
                                      <p:tavLst>
                                        <p:tav tm="0">
                                          <p:val>
                                            <p:strVal val="#ppt_y+0.1"/>
                                          </p:val>
                                        </p:tav>
                                        <p:tav tm="100000">
                                          <p:val>
                                            <p:strVal val="#ppt_y"/>
                                          </p:val>
                                        </p:tav>
                                      </p:tavLst>
                                    </p:anim>
                                    <p:animEffect transition="in" filter="fade">
                                      <p:cBhvr>
                                        <p:cTn id="137" dur="500"/>
                                        <p:tgtEl>
                                          <p:spTgt spid="29"/>
                                        </p:tgtEl>
                                      </p:cBhvr>
                                    </p:animEffect>
                                  </p:childTnLst>
                                </p:cTn>
                              </p:par>
                              <p:par>
                                <p:cTn id="143" presetID="2" presetClass="entr" presetSubtype="4" fill="hold" grpId="0" nodeType="withEffect">
                                  <p:stCondLst>
                                    <p:cond delay="290"/>
                                  </p:stCondLst>
                                  <p:childTnLst>
                                    <p:set>
                                      <p:cBhvr>
                                        <p:cTn id="139" dur="1" fill="hold">
                                          <p:stCondLst>
                                            <p:cond delay="0"/>
                                          </p:stCondLst>
                                        </p:cTn>
                                        <p:tgtEl>
                                          <p:spTgt spid="30"/>
                                        </p:tgtEl>
                                        <p:attrNameLst>
                                          <p:attrName>style.visibility</p:attrName>
                                        </p:attrNameLst>
                                      </p:cBhvr>
                                      <p:to>
                                        <p:strVal val="visible"/>
                                      </p:to>
                                    </p:set>
                                    <p:anim calcmode="lin" valueType="num">
                                      <p:cBhvr additive="base">
                                        <p:cTn id="140" dur="500" fill="hold"/>
                                        <p:tgtEl>
                                          <p:spTgt spid="30"/>
                                        </p:tgtEl>
                                        <p:attrNameLst>
                                          <p:attrName>ppt_x</p:attrName>
                                        </p:attrNameLst>
                                      </p:cBhvr>
                                      <p:tavLst>
                                        <p:tav tm="0">
                                          <p:val>
                                            <p:strVal val="#ppt_x"/>
                                          </p:val>
                                        </p:tav>
                                        <p:tav tm="100000">
                                          <p:val>
                                            <p:strVal val="#ppt_x"/>
                                          </p:val>
                                        </p:tav>
                                      </p:tavLst>
                                    </p:anim>
                                    <p:anim calcmode="lin" valueType="num">
                                      <p:cBhvr additive="base">
                                        <p:cTn id="141" dur="500" fill="hold"/>
                                        <p:tgtEl>
                                          <p:spTgt spid="30"/>
                                        </p:tgtEl>
                                        <p:attrNameLst>
                                          <p:attrName>ppt_y</p:attrName>
                                        </p:attrNameLst>
                                      </p:cBhvr>
                                      <p:tavLst>
                                        <p:tav tm="0">
                                          <p:val>
                                            <p:strVal val="#ppt_y+0.1"/>
                                          </p:val>
                                        </p:tav>
                                        <p:tav tm="100000">
                                          <p:val>
                                            <p:strVal val="#ppt_y"/>
                                          </p:val>
                                        </p:tav>
                                      </p:tavLst>
                                    </p:anim>
                                    <p:animEffect transition="in" filter="fade">
                                      <p:cBhvr>
                                        <p:cTn id="142"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50" presetID="2" presetClass="entr" presetSubtype="4" fill="hold" grpId="0" nodeType="clickEffect">
                                  <p:stCondLst>
                                    <p:cond delay="0"/>
                                  </p:stCondLst>
                                  <p:childTnLst>
                                    <p:set>
                                      <p:cBhvr>
                                        <p:cTn id="146" dur="1" fill="hold">
                                          <p:stCondLst>
                                            <p:cond delay="0"/>
                                          </p:stCondLst>
                                        </p:cTn>
                                        <p:tgtEl>
                                          <p:spTgt spid="31"/>
                                        </p:tgtEl>
                                        <p:attrNameLst>
                                          <p:attrName>style.visibility</p:attrName>
                                        </p:attrNameLst>
                                      </p:cBhvr>
                                      <p:to>
                                        <p:strVal val="visible"/>
                                      </p:to>
                                    </p:set>
                                    <p:anim calcmode="lin" valueType="num">
                                      <p:cBhvr additive="base">
                                        <p:cTn id="147" dur="500" fill="hold"/>
                                        <p:tgtEl>
                                          <p:spTgt spid="31"/>
                                        </p:tgtEl>
                                        <p:attrNameLst>
                                          <p:attrName>ppt_x</p:attrName>
                                        </p:attrNameLst>
                                      </p:cBhvr>
                                      <p:tavLst>
                                        <p:tav tm="0">
                                          <p:val>
                                            <p:strVal val="#ppt_x"/>
                                          </p:val>
                                        </p:tav>
                                        <p:tav tm="100000">
                                          <p:val>
                                            <p:strVal val="#ppt_x"/>
                                          </p:val>
                                        </p:tav>
                                      </p:tavLst>
                                    </p:anim>
                                    <p:anim calcmode="lin" valueType="num">
                                      <p:cBhvr additive="base">
                                        <p:cTn id="148" dur="500" fill="hold"/>
                                        <p:tgtEl>
                                          <p:spTgt spid="31"/>
                                        </p:tgtEl>
                                        <p:attrNameLst>
                                          <p:attrName>ppt_y</p:attrName>
                                        </p:attrNameLst>
                                      </p:cBhvr>
                                      <p:tavLst>
                                        <p:tav tm="0">
                                          <p:val>
                                            <p:strVal val="#ppt_y+0.1"/>
                                          </p:val>
                                        </p:tav>
                                        <p:tav tm="100000">
                                          <p:val>
                                            <p:strVal val="#ppt_y"/>
                                          </p:val>
                                        </p:tav>
                                      </p:tavLst>
                                    </p:anim>
                                    <p:animEffect transition="in" filter="fade">
                                      <p:cBhvr>
                                        <p:cTn id="149" dur="500"/>
                                        <p:tgtEl>
                                          <p:spTgt spid="31"/>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ppt_x"/>
                                          </p:val>
                                        </p:tav>
                                        <p:tav tm="100000">
                                          <p:val>
                                            <p:strVal val="#ppt_x"/>
                                          </p:val>
                                        </p:tav>
                                      </p:tavLst>
                                    </p:anim>
                                    <p:anim calcmode="lin" valueType="num">
                                      <p:cBhvr additive="base">
                                        <p:cTn id="153" dur="500" fill="hold"/>
                                        <p:tgtEl>
                                          <p:spTgt spid="32"/>
                                        </p:tgtEl>
                                        <p:attrNameLst>
                                          <p:attrName>ppt_y</p:attrName>
                                        </p:attrNameLst>
                                      </p:cBhvr>
                                      <p:tavLst>
                                        <p:tav tm="0">
                                          <p:val>
                                            <p:strVal val="#ppt_y+0.1"/>
                                          </p:val>
                                        </p:tav>
                                        <p:tav tm="100000">
                                          <p:val>
                                            <p:strVal val="#ppt_y"/>
                                          </p:val>
                                        </p:tav>
                                      </p:tavLst>
                                    </p:anim>
                                    <p:animEffect transition="in" filter="fade">
                                      <p:cBhvr>
                                        <p:cTn id="154" dur="500"/>
                                        <p:tgtEl>
                                          <p:spTgt spid="32"/>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 calcmode="lin" valueType="num">
                                      <p:cBhvr additive="base">
                                        <p:cTn id="157" dur="500" fill="hold"/>
                                        <p:tgtEl>
                                          <p:spTgt spid="33"/>
                                        </p:tgtEl>
                                        <p:attrNameLst>
                                          <p:attrName>ppt_x</p:attrName>
                                        </p:attrNameLst>
                                      </p:cBhvr>
                                      <p:tavLst>
                                        <p:tav tm="0">
                                          <p:val>
                                            <p:strVal val="#ppt_x"/>
                                          </p:val>
                                        </p:tav>
                                        <p:tav tm="100000">
                                          <p:val>
                                            <p:strVal val="#ppt_x"/>
                                          </p:val>
                                        </p:tav>
                                      </p:tavLst>
                                    </p:anim>
                                    <p:anim calcmode="lin" valueType="num">
                                      <p:cBhvr additive="base">
                                        <p:cTn id="158" dur="500" fill="hold"/>
                                        <p:tgtEl>
                                          <p:spTgt spid="33"/>
                                        </p:tgtEl>
                                        <p:attrNameLst>
                                          <p:attrName>ppt_y</p:attrName>
                                        </p:attrNameLst>
                                      </p:cBhvr>
                                      <p:tavLst>
                                        <p:tav tm="0">
                                          <p:val>
                                            <p:strVal val="#ppt_y+0.1"/>
                                          </p:val>
                                        </p:tav>
                                        <p:tav tm="100000">
                                          <p:val>
                                            <p:strVal val="#ppt_y"/>
                                          </p:val>
                                        </p:tav>
                                      </p:tavLst>
                                    </p:anim>
                                    <p:animEffect transition="in" filter="fade">
                                      <p:cBhvr>
                                        <p:cTn id="15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Two Drivers, One Talk</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Martin Fowler's framing is still the clearest summary of why NoSQL exists</a:t>
            </a:r>
          </a:p>
        </p:txBody>
      </p:sp>
      <p:sp>
        <p:nvSpPr>
          <p:cNvPr id="4" name="a1u_card3"/>
          <p:cNvSpPr/>
          <p:nvPr/>
        </p:nvSpPr>
        <p:spPr>
          <a:xfrm>
            <a:off x="457200" y="1170432"/>
            <a:ext cx="3931920" cy="1234440"/>
          </a:xfrm>
          <a:prstGeom prst="roundRect">
            <a:avLst>
              <a:gd name="adj" fmla="val 7407"/>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170432"/>
            <a:ext cx="50292" cy="12344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_hh5"/>
          <p:cNvSpPr txBox="1"/>
          <p:nvPr/>
        </p:nvSpPr>
        <p:spPr>
          <a:xfrm>
            <a:off x="685800" y="1289304"/>
            <a:ext cx="3520440" cy="256032"/>
          </a:xfrm>
          <a:prstGeom prst="rect">
            <a:avLst/>
          </a:prstGeom>
          <a:noFill/>
        </p:spPr>
        <p:txBody>
          <a:bodyPr wrap="square" lIns="0" tIns="0" rIns="0" bIns="0" anchor="ctr">
            <a:spAutoFit/>
          </a:bodyPr>
          <a:lstStyle/>
          <a:p>
            <a:pPr algn="l"/>
            <a:r>
              <a:rPr sz="950" b="1">
                <a:solidFill>
                  <a:srgbClr val="6D28D9"/>
                </a:solidFill>
                <a:latin typeface="Calibri"/>
              </a:rPr>
              <a:t>DRIVER 1 · DEVELOPER PRODUCTIVITY</a:t>
            </a:r>
          </a:p>
        </p:txBody>
      </p:sp>
      <p:sp>
        <p:nvSpPr>
          <p:cNvPr id="7" name="a1ud80_p6"/>
          <p:cNvSpPr txBox="1"/>
          <p:nvPr/>
        </p:nvSpPr>
        <p:spPr>
          <a:xfrm>
            <a:off x="685800" y="1581912"/>
            <a:ext cx="3520440" cy="713232"/>
          </a:xfrm>
          <a:prstGeom prst="rect">
            <a:avLst/>
          </a:prstGeom>
          <a:noFill/>
        </p:spPr>
        <p:txBody>
          <a:bodyPr wrap="square" lIns="0" tIns="0" rIns="0" bIns="0" anchor="t">
            <a:spAutoFit/>
          </a:bodyPr>
          <a:lstStyle/>
          <a:p>
            <a:pPr algn="l"/>
            <a:r>
              <a:rPr sz="1150" b="0">
                <a:solidFill>
                  <a:srgbClr val="334155"/>
                </a:solidFill>
                <a:latin typeface="Calibri"/>
              </a:rPr>
              <a:t>Stop shredding objects into tables. Store the aggregate the way the application already thinks about it, and the mapping layer disappears.</a:t>
            </a:r>
          </a:p>
        </p:txBody>
      </p:sp>
      <p:sp>
        <p:nvSpPr>
          <p:cNvPr id="8" name="a2u_card7"/>
          <p:cNvSpPr/>
          <p:nvPr/>
        </p:nvSpPr>
        <p:spPr>
          <a:xfrm>
            <a:off x="4754880" y="1170432"/>
            <a:ext cx="3931920" cy="1234440"/>
          </a:xfrm>
          <a:prstGeom prst="roundRect">
            <a:avLst>
              <a:gd name="adj" fmla="val 7407"/>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2u_acc8"/>
          <p:cNvSpPr/>
          <p:nvPr/>
        </p:nvSpPr>
        <p:spPr>
          <a:xfrm>
            <a:off x="4754880" y="1170432"/>
            <a:ext cx="50292" cy="1234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2u_hh9"/>
          <p:cNvSpPr txBox="1"/>
          <p:nvPr/>
        </p:nvSpPr>
        <p:spPr>
          <a:xfrm>
            <a:off x="4983480" y="1289304"/>
            <a:ext cx="3520440" cy="256032"/>
          </a:xfrm>
          <a:prstGeom prst="rect">
            <a:avLst/>
          </a:prstGeom>
          <a:noFill/>
        </p:spPr>
        <p:txBody>
          <a:bodyPr wrap="square" lIns="0" tIns="0" rIns="0" bIns="0" anchor="ctr">
            <a:spAutoFit/>
          </a:bodyPr>
          <a:lstStyle/>
          <a:p>
            <a:pPr algn="l"/>
            <a:r>
              <a:rPr sz="950" b="1">
                <a:solidFill>
                  <a:srgbClr val="0F766E"/>
                </a:solidFill>
                <a:latin typeface="Calibri"/>
              </a:rPr>
              <a:t>DRIVER 2 · LARGE-SCALE DATA</a:t>
            </a:r>
          </a:p>
        </p:txBody>
      </p:sp>
      <p:sp>
        <p:nvSpPr>
          <p:cNvPr id="11" name="a2ud80_p10"/>
          <p:cNvSpPr txBox="1"/>
          <p:nvPr/>
        </p:nvSpPr>
        <p:spPr>
          <a:xfrm>
            <a:off x="4983480" y="1581912"/>
            <a:ext cx="3520440" cy="713232"/>
          </a:xfrm>
          <a:prstGeom prst="rect">
            <a:avLst/>
          </a:prstGeom>
          <a:noFill/>
        </p:spPr>
        <p:txBody>
          <a:bodyPr wrap="square" lIns="0" tIns="0" rIns="0" bIns="0" anchor="t">
            <a:spAutoFit/>
          </a:bodyPr>
          <a:lstStyle/>
          <a:p>
            <a:pPr algn="l"/>
            <a:r>
              <a:rPr sz="1150" b="0">
                <a:solidFill>
                  <a:srgbClr val="334155"/>
                </a:solidFill>
                <a:latin typeface="Calibri"/>
              </a:rPr>
              <a:t>Run on a cluster of ordinary machines instead of one expensive one. That choice dictates the data model, not the other way round.</a:t>
            </a:r>
          </a:p>
        </p:txBody>
      </p:sp>
      <p:sp>
        <p:nvSpPr>
          <p:cNvPr id="12" name="a3u_card11"/>
          <p:cNvSpPr/>
          <p:nvPr/>
        </p:nvSpPr>
        <p:spPr>
          <a:xfrm>
            <a:off x="457200" y="2542032"/>
            <a:ext cx="8229600" cy="1417320"/>
          </a:xfrm>
          <a:prstGeom prst="roundRect">
            <a:avLst>
              <a:gd name="adj" fmla="val 6451"/>
            </a:avLst>
          </a:prstGeom>
          <a:solidFill>
            <a:srgbClr val="0F172A"/>
          </a:solidFill>
          <a:ln w="12700">
            <a:solidFill>
              <a:srgbClr val="0F172A"/>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3u_hh12"/>
          <p:cNvSpPr txBox="1"/>
          <p:nvPr/>
        </p:nvSpPr>
        <p:spPr>
          <a:xfrm>
            <a:off x="685800" y="2679191"/>
            <a:ext cx="7772400" cy="256032"/>
          </a:xfrm>
          <a:prstGeom prst="rect">
            <a:avLst/>
          </a:prstGeom>
          <a:noFill/>
        </p:spPr>
        <p:txBody>
          <a:bodyPr wrap="square" lIns="0" tIns="0" rIns="0" bIns="0" anchor="ctr">
            <a:spAutoFit/>
          </a:bodyPr>
          <a:lstStyle/>
          <a:p>
            <a:pPr algn="l"/>
            <a:r>
              <a:rPr sz="950" b="1">
                <a:solidFill>
                  <a:srgbClr val="A78BFA"/>
                </a:solidFill>
                <a:latin typeface="Calibri"/>
              </a:rPr>
              <a:t>REFERENCE VIDEO FOR THIS SECTION</a:t>
            </a:r>
          </a:p>
        </p:txBody>
      </p:sp>
      <p:sp>
        <p:nvSpPr>
          <p:cNvPr id="14" name="a3ud80_vt13"/>
          <p:cNvSpPr txBox="1"/>
          <p:nvPr/>
        </p:nvSpPr>
        <p:spPr>
          <a:xfrm>
            <a:off x="685800" y="2971800"/>
            <a:ext cx="7772400" cy="310896"/>
          </a:xfrm>
          <a:prstGeom prst="rect">
            <a:avLst/>
          </a:prstGeom>
          <a:noFill/>
        </p:spPr>
        <p:txBody>
          <a:bodyPr wrap="square" lIns="0" tIns="0" rIns="0" bIns="0" anchor="ctr">
            <a:spAutoFit/>
          </a:bodyPr>
          <a:lstStyle/>
          <a:p>
            <a:pPr algn="l"/>
            <a:r>
              <a:rPr sz="1700" b="1">
                <a:solidFill>
                  <a:srgbClr val="FFFFFF"/>
                </a:solidFill>
                <a:latin typeface="Calibri"/>
              </a:rPr>
              <a:t>Introduction to NoSQL · Martin Fowler · GOTO 2012</a:t>
            </a:r>
          </a:p>
        </p:txBody>
      </p:sp>
      <p:sp>
        <p:nvSpPr>
          <p:cNvPr id="15" name="a3ud140_vu14"/>
          <p:cNvSpPr txBox="1"/>
          <p:nvPr/>
        </p:nvSpPr>
        <p:spPr>
          <a:xfrm>
            <a:off x="685800" y="3319272"/>
            <a:ext cx="7772400" cy="256032"/>
          </a:xfrm>
          <a:prstGeom prst="rect">
            <a:avLst/>
          </a:prstGeom>
          <a:noFill/>
        </p:spPr>
        <p:txBody>
          <a:bodyPr wrap="square" lIns="0" tIns="0" rIns="0" bIns="0" anchor="ctr">
            <a:spAutoFit/>
          </a:bodyPr>
          <a:lstStyle/>
          <a:p>
            <a:pPr algn="l"/>
            <a:r>
              <a:rPr sz="1100" b="0">
                <a:solidFill>
                  <a:srgbClr val="14B8A6"/>
                </a:solidFill>
                <a:latin typeface="Courier New"/>
              </a:rPr>
              <a:t>https://www.youtube.com/watch?v=qI_g07C_Q5I</a:t>
            </a:r>
          </a:p>
        </p:txBody>
      </p:sp>
      <p:sp>
        <p:nvSpPr>
          <p:cNvPr id="16" name="a3ud200_vs15"/>
          <p:cNvSpPr txBox="1"/>
          <p:nvPr/>
        </p:nvSpPr>
        <p:spPr>
          <a:xfrm>
            <a:off x="685800" y="3575304"/>
            <a:ext cx="7772400" cy="274320"/>
          </a:xfrm>
          <a:prstGeom prst="rect">
            <a:avLst/>
          </a:prstGeom>
          <a:noFill/>
        </p:spPr>
        <p:txBody>
          <a:bodyPr wrap="square" lIns="0" tIns="0" rIns="0" bIns="0" anchor="ctr">
            <a:spAutoFit/>
          </a:bodyPr>
          <a:lstStyle/>
          <a:p>
            <a:pPr algn="l"/>
            <a:r>
              <a:rPr sz="1050" b="0">
                <a:solidFill>
                  <a:srgbClr val="CBD5E1"/>
                </a:solidFill>
                <a:latin typeface="Calibri"/>
              </a:rPr>
              <a:t>53 minutes. Watch before the next session - it covers aggregate orientation, schemalessness, consistency and polyglot persistence in one pass.</a:t>
            </a:r>
          </a:p>
        </p:txBody>
      </p:sp>
      <p:sp>
        <p:nvSpPr>
          <p:cNvPr id="17" name="ft16"/>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18" name="ft17"/>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0.1"/>
                                          </p:val>
                                        </p:tav>
                                        <p:tav tm="100000">
                                          <p:val>
                                            <p:strVal val="#ppt_y"/>
                                          </p:val>
                                        </p:tav>
                                      </p:tavLst>
                                    </p:anim>
                                    <p:animEffect transition="in" filter="fade">
                                      <p:cBhvr>
                                        <p:cTn id="30" dur="500"/>
                                        <p:tgtEl>
                                          <p:spTgt spid="8"/>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ppt_y+0.1"/>
                                          </p:val>
                                        </p:tav>
                                        <p:tav tm="100000">
                                          <p:val>
                                            <p:strVal val="#ppt_y"/>
                                          </p:val>
                                        </p:tav>
                                      </p:tavLst>
                                    </p:anim>
                                    <p:animEffect transition="in" filter="fade">
                                      <p:cBhvr>
                                        <p:cTn id="35" dur="500"/>
                                        <p:tgtEl>
                                          <p:spTgt spid="9"/>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ppt_y+0.1"/>
                                          </p:val>
                                        </p:tav>
                                        <p:tav tm="100000">
                                          <p:val>
                                            <p:strVal val="#ppt_y"/>
                                          </p:val>
                                        </p:tav>
                                      </p:tavLst>
                                    </p:anim>
                                    <p:animEffect transition="in" filter="fade">
                                      <p:cBhvr>
                                        <p:cTn id="40" dur="500"/>
                                        <p:tgtEl>
                                          <p:spTgt spid="10"/>
                                        </p:tgtEl>
                                      </p:cBhvr>
                                    </p:animEffect>
                                  </p:childTnLst>
                                </p:cTn>
                              </p:par>
                              <p:par>
                                <p:cTn id="46" presetID="2" presetClass="entr" presetSubtype="4" fill="hold" grpId="0" nodeType="withEffect">
                                  <p:stCondLst>
                                    <p:cond delay="8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ppt_y+0.1"/>
                                          </p:val>
                                        </p:tav>
                                        <p:tav tm="100000">
                                          <p:val>
                                            <p:strVal val="#ppt_y"/>
                                          </p:val>
                                        </p:tav>
                                      </p:tavLst>
                                    </p:anim>
                                    <p:animEffect transition="in" filter="fade">
                                      <p:cBhvr>
                                        <p:cTn id="45"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ppt_y+0.1"/>
                                          </p:val>
                                        </p:tav>
                                        <p:tav tm="100000">
                                          <p:val>
                                            <p:strVal val="#ppt_y"/>
                                          </p:val>
                                        </p:tav>
                                      </p:tavLst>
                                    </p:anim>
                                    <p:animEffect transition="in" filter="fade">
                                      <p:cBhvr>
                                        <p:cTn id="52" dur="500"/>
                                        <p:tgtEl>
                                          <p:spTgt spid="12"/>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ppt_x"/>
                                          </p:val>
                                        </p:tav>
                                        <p:tav tm="100000">
                                          <p:val>
                                            <p:strVal val="#ppt_x"/>
                                          </p:val>
                                        </p:tav>
                                      </p:tavLst>
                                    </p:anim>
                                    <p:anim calcmode="lin" valueType="num">
                                      <p:cBhvr additive="base">
                                        <p:cTn id="56" dur="500" fill="hold"/>
                                        <p:tgtEl>
                                          <p:spTgt spid="13"/>
                                        </p:tgtEl>
                                        <p:attrNameLst>
                                          <p:attrName>ppt_y</p:attrName>
                                        </p:attrNameLst>
                                      </p:cBhvr>
                                      <p:tavLst>
                                        <p:tav tm="0">
                                          <p:val>
                                            <p:strVal val="#ppt_y+0.1"/>
                                          </p:val>
                                        </p:tav>
                                        <p:tav tm="100000">
                                          <p:val>
                                            <p:strVal val="#ppt_y"/>
                                          </p:val>
                                        </p:tav>
                                      </p:tavLst>
                                    </p:anim>
                                    <p:animEffect transition="in" filter="fade">
                                      <p:cBhvr>
                                        <p:cTn id="57" dur="500"/>
                                        <p:tgtEl>
                                          <p:spTgt spid="13"/>
                                        </p:tgtEl>
                                      </p:cBhvr>
                                    </p:animEffect>
                                  </p:childTnLst>
                                </p:cTn>
                              </p:par>
                              <p:par>
                                <p:cTn id="63" presetID="2" presetClass="entr" presetSubtype="4" fill="hold" grpId="0" nodeType="withEffect">
                                  <p:stCondLst>
                                    <p:cond delay="8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00" fill="hold"/>
                                        <p:tgtEl>
                                          <p:spTgt spid="14"/>
                                        </p:tgtEl>
                                        <p:attrNameLst>
                                          <p:attrName>ppt_x</p:attrName>
                                        </p:attrNameLst>
                                      </p:cBhvr>
                                      <p:tavLst>
                                        <p:tav tm="0">
                                          <p:val>
                                            <p:strVal val="#ppt_x"/>
                                          </p:val>
                                        </p:tav>
                                        <p:tav tm="100000">
                                          <p:val>
                                            <p:strVal val="#ppt_x"/>
                                          </p:val>
                                        </p:tav>
                                      </p:tavLst>
                                    </p:anim>
                                    <p:anim calcmode="lin" valueType="num">
                                      <p:cBhvr additive="base">
                                        <p:cTn id="61" dur="500" fill="hold"/>
                                        <p:tgtEl>
                                          <p:spTgt spid="14"/>
                                        </p:tgtEl>
                                        <p:attrNameLst>
                                          <p:attrName>ppt_y</p:attrName>
                                        </p:attrNameLst>
                                      </p:cBhvr>
                                      <p:tavLst>
                                        <p:tav tm="0">
                                          <p:val>
                                            <p:strVal val="#ppt_y+0.1"/>
                                          </p:val>
                                        </p:tav>
                                        <p:tav tm="100000">
                                          <p:val>
                                            <p:strVal val="#ppt_y"/>
                                          </p:val>
                                        </p:tav>
                                      </p:tavLst>
                                    </p:anim>
                                    <p:animEffect transition="in" filter="fade">
                                      <p:cBhvr>
                                        <p:cTn id="62" dur="500"/>
                                        <p:tgtEl>
                                          <p:spTgt spid="14"/>
                                        </p:tgtEl>
                                      </p:cBhvr>
                                    </p:animEffect>
                                  </p:childTnLst>
                                </p:cTn>
                              </p:par>
                              <p:par>
                                <p:cTn id="68" presetID="2" presetClass="entr" presetSubtype="4" fill="hold" grpId="0" nodeType="withEffect">
                                  <p:stCondLst>
                                    <p:cond delay="14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ppt_x</p:attrName>
                                        </p:attrNameLst>
                                      </p:cBhvr>
                                      <p:tavLst>
                                        <p:tav tm="0">
                                          <p:val>
                                            <p:strVal val="#ppt_x"/>
                                          </p:val>
                                        </p:tav>
                                        <p:tav tm="100000">
                                          <p:val>
                                            <p:strVal val="#ppt_x"/>
                                          </p:val>
                                        </p:tav>
                                      </p:tavLst>
                                    </p:anim>
                                    <p:anim calcmode="lin" valueType="num">
                                      <p:cBhvr additive="base">
                                        <p:cTn id="66" dur="500" fill="hold"/>
                                        <p:tgtEl>
                                          <p:spTgt spid="15"/>
                                        </p:tgtEl>
                                        <p:attrNameLst>
                                          <p:attrName>ppt_y</p:attrName>
                                        </p:attrNameLst>
                                      </p:cBhvr>
                                      <p:tavLst>
                                        <p:tav tm="0">
                                          <p:val>
                                            <p:strVal val="#ppt_y+0.1"/>
                                          </p:val>
                                        </p:tav>
                                        <p:tav tm="100000">
                                          <p:val>
                                            <p:strVal val="#ppt_y"/>
                                          </p:val>
                                        </p:tav>
                                      </p:tavLst>
                                    </p:anim>
                                    <p:animEffect transition="in" filter="fade">
                                      <p:cBhvr>
                                        <p:cTn id="67" dur="500"/>
                                        <p:tgtEl>
                                          <p:spTgt spid="15"/>
                                        </p:tgtEl>
                                      </p:cBhvr>
                                    </p:animEffect>
                                  </p:childTnLst>
                                </p:cTn>
                              </p:par>
                              <p:par>
                                <p:cTn id="73" presetID="2" presetClass="entr" presetSubtype="4" fill="hold" grpId="0" nodeType="withEffect">
                                  <p:stCondLst>
                                    <p:cond delay="2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ppt_x</p:attrName>
                                        </p:attrNameLst>
                                      </p:cBhvr>
                                      <p:tavLst>
                                        <p:tav tm="0">
                                          <p:val>
                                            <p:strVal val="#ppt_x"/>
                                          </p:val>
                                        </p:tav>
                                        <p:tav tm="100000">
                                          <p:val>
                                            <p:strVal val="#ppt_x"/>
                                          </p:val>
                                        </p:tav>
                                      </p:tavLst>
                                    </p:anim>
                                    <p:anim calcmode="lin" valueType="num">
                                      <p:cBhvr additive="base">
                                        <p:cTn id="71" dur="500" fill="hold"/>
                                        <p:tgtEl>
                                          <p:spTgt spid="16"/>
                                        </p:tgtEl>
                                        <p:attrNameLst>
                                          <p:attrName>ppt_y</p:attrName>
                                        </p:attrNameLst>
                                      </p:cBhvr>
                                      <p:tavLst>
                                        <p:tav tm="0">
                                          <p:val>
                                            <p:strVal val="#ppt_y+0.1"/>
                                          </p:val>
                                        </p:tav>
                                        <p:tav tm="100000">
                                          <p:val>
                                            <p:strVal val="#ppt_y"/>
                                          </p:val>
                                        </p:tav>
                                      </p:tavLst>
                                    </p:anim>
                                    <p:animEffect transition="in" filter="fade">
                                      <p:cBhvr>
                                        <p:cTn id="7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A78BFA"/>
                </a:solidFill>
                <a:latin typeface="Calibri"/>
              </a:rPr>
              <a:t>03</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What NoSQL Actually Means</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The vocabulary you need before comparing any two products</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Aggregates</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Schemaless</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ACID vs BASE</a:t>
            </a:r>
          </a:p>
        </p:txBody>
      </p:sp>
      <p:sp>
        <p:nvSpPr>
          <p:cNvPr id="8" name="a0ud1050_pill7"/>
          <p:cNvSpPr/>
          <p:nvPr/>
        </p:nvSpPr>
        <p:spPr>
          <a:xfrm>
            <a:off x="5532120" y="2752344"/>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CAP &amp; PACELC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ppt_y+0.1"/>
                                          </p:val>
                                        </p:tav>
                                        <p:tav tm="100000">
                                          <p:val>
                                            <p:strVal val="#ppt_y"/>
                                          </p:val>
                                        </p:tav>
                                      </p:tavLst>
                                    </p:anim>
                                    <p:animEffect transition="in" filter="fade">
                                      <p:cBhvr>
                                        <p:cTn id="11" dur="500"/>
                                        <p:tgtEl>
                                          <p:spTgt spid="3"/>
                                        </p:tgtEl>
                                      </p:cBhvr>
                                    </p:animEffect>
                                  </p:childTnLst>
                                </p:cTn>
                              </p:par>
                              <p:par>
                                <p:cTn id="15" presetID="10" presetClass="entr" presetSubtype="0" fill="hold" grpId="0" nodeType="withEffect">
                                  <p:stCondLst>
                                    <p:cond delay="4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20" presetID="2" presetClass="entr" presetSubtype="4"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ppt_y+0.1"/>
                                          </p:val>
                                        </p:tav>
                                        <p:tav tm="100000">
                                          <p:val>
                                            <p:strVal val="#ppt_y"/>
                                          </p:val>
                                        </p:tav>
                                      </p:tavLst>
                                    </p:anim>
                                    <p:animEffect transition="in" filter="fade">
                                      <p:cBhvr>
                                        <p:cTn id="19" dur="500"/>
                                        <p:tgtEl>
                                          <p:spTgt spid="5"/>
                                        </p:tgtEl>
                                      </p:cBhvr>
                                    </p:animEffect>
                                  </p:childTnLst>
                                </p:cTn>
                              </p:par>
                              <p:par>
                                <p:cTn id="25" presetID="2" presetClass="entr" presetSubtype="4" fill="hold" grpId="0" nodeType="withEffect">
                                  <p:stCondLst>
                                    <p:cond delay="7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ppt_y+0.1"/>
                                          </p:val>
                                        </p:tav>
                                        <p:tav tm="100000">
                                          <p:val>
                                            <p:strVal val="#ppt_y"/>
                                          </p:val>
                                        </p:tav>
                                      </p:tavLst>
                                    </p:anim>
                                    <p:animEffect transition="in" filter="fade">
                                      <p:cBhvr>
                                        <p:cTn id="24" dur="500"/>
                                        <p:tgtEl>
                                          <p:spTgt spid="6"/>
                                        </p:tgtEl>
                                      </p:cBhvr>
                                    </p:animEffect>
                                  </p:childTnLst>
                                </p:cTn>
                              </p:par>
                              <p:par>
                                <p:cTn id="30" presetID="2" presetClass="entr" presetSubtype="4" fill="hold" grpId="0" nodeType="withEffect">
                                  <p:stCondLst>
                                    <p:cond delay="9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ppt_y+0.1"/>
                                          </p:val>
                                        </p:tav>
                                        <p:tav tm="100000">
                                          <p:val>
                                            <p:strVal val="#ppt_y"/>
                                          </p:val>
                                        </p:tav>
                                      </p:tavLst>
                                    </p:anim>
                                    <p:animEffect transition="in" filter="fade">
                                      <p:cBhvr>
                                        <p:cTn id="29" dur="500"/>
                                        <p:tgtEl>
                                          <p:spTgt spid="7"/>
                                        </p:tgtEl>
                                      </p:cBhvr>
                                    </p:animEffect>
                                  </p:childTnLst>
                                </p:cTn>
                              </p:par>
                              <p:par>
                                <p:cTn id="35" presetID="2" presetClass="entr" presetSubtype="4" fill="hold" grpId="0" nodeType="withEffect">
                                  <p:stCondLst>
                                    <p:cond delay="10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ppt_y+0.1"/>
                                          </p:val>
                                        </p:tav>
                                        <p:tav tm="100000">
                                          <p:val>
                                            <p:strVal val="#ppt_y"/>
                                          </p:val>
                                        </p:tav>
                                      </p:tavLst>
                                    </p:anim>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Five Things Most NoSQL Databases Share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There is no standard - but this list is true of nearly all of them</a:t>
            </a:r>
          </a:p>
        </p:txBody>
      </p:sp>
      <p:sp>
        <p:nvSpPr>
          <p:cNvPr id="4" name="a1u_n3"/>
          <p:cNvSpPr/>
          <p:nvPr/>
        </p:nvSpPr>
        <p:spPr>
          <a:xfrm>
            <a:off x="457200" y="1216152"/>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nt4"/>
          <p:cNvSpPr txBox="1"/>
          <p:nvPr/>
        </p:nvSpPr>
        <p:spPr>
          <a:xfrm>
            <a:off x="457200" y="1216152"/>
            <a:ext cx="384048" cy="384048"/>
          </a:xfrm>
          <a:prstGeom prst="rect">
            <a:avLst/>
          </a:prstGeom>
          <a:noFill/>
        </p:spPr>
        <p:txBody>
          <a:bodyPr wrap="square" lIns="0" tIns="0" rIns="0" bIns="0" anchor="ctr">
            <a:spAutoFit/>
          </a:bodyPr>
          <a:lstStyle/>
          <a:p>
            <a:pPr algn="ctr"/>
            <a:r>
              <a:rPr sz="1500" b="1">
                <a:solidFill>
                  <a:srgbClr val="FFFFFF"/>
                </a:solidFill>
                <a:latin typeface="Calibri"/>
              </a:rPr>
              <a:t>1</a:t>
            </a:r>
          </a:p>
        </p:txBody>
      </p:sp>
      <p:sp>
        <p:nvSpPr>
          <p:cNvPr id="6" name="a1u_nb5"/>
          <p:cNvSpPr txBox="1"/>
          <p:nvPr/>
        </p:nvSpPr>
        <p:spPr>
          <a:xfrm>
            <a:off x="1042415" y="1170432"/>
            <a:ext cx="4672584" cy="475488"/>
          </a:xfrm>
          <a:prstGeom prst="rect">
            <a:avLst/>
          </a:prstGeom>
          <a:noFill/>
        </p:spPr>
        <p:txBody>
          <a:bodyPr wrap="square" lIns="0" tIns="0" rIns="0" bIns="0" anchor="ctr">
            <a:spAutoFit/>
          </a:bodyPr>
          <a:lstStyle/>
          <a:p>
            <a:pPr algn="l">
              <a:spcAft>
                <a:spcPts val="100"/>
              </a:spcAft>
            </a:pPr>
            <a:r>
              <a:rPr sz="1400" b="1">
                <a:solidFill>
                  <a:srgbClr val="0F172A"/>
                </a:solidFill>
                <a:latin typeface="Calibri"/>
              </a:rPr>
              <a:t>Not relational</a:t>
            </a:r>
          </a:p>
          <a:p>
            <a:pPr algn="l">
              <a:spcAft>
                <a:spcPts val="100"/>
              </a:spcAft>
            </a:pPr>
            <a:r>
              <a:rPr sz="1200" b="0">
                <a:solidFill>
                  <a:srgbClr val="334155"/>
                </a:solidFill>
                <a:latin typeface="Calibri"/>
              </a:rPr>
              <a:t>No tables, no foreign keys, usually no joins across records.</a:t>
            </a:r>
          </a:p>
        </p:txBody>
      </p:sp>
      <p:sp>
        <p:nvSpPr>
          <p:cNvPr id="7" name="a1ud180_n6"/>
          <p:cNvSpPr/>
          <p:nvPr/>
        </p:nvSpPr>
        <p:spPr>
          <a:xfrm>
            <a:off x="457200" y="1783080"/>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1ud180_nt7"/>
          <p:cNvSpPr txBox="1"/>
          <p:nvPr/>
        </p:nvSpPr>
        <p:spPr>
          <a:xfrm>
            <a:off x="457200" y="1783080"/>
            <a:ext cx="384048" cy="384048"/>
          </a:xfrm>
          <a:prstGeom prst="rect">
            <a:avLst/>
          </a:prstGeom>
          <a:noFill/>
        </p:spPr>
        <p:txBody>
          <a:bodyPr wrap="square" lIns="0" tIns="0" rIns="0" bIns="0" anchor="ctr">
            <a:spAutoFit/>
          </a:bodyPr>
          <a:lstStyle/>
          <a:p>
            <a:pPr algn="ctr"/>
            <a:r>
              <a:rPr sz="1500" b="1">
                <a:solidFill>
                  <a:srgbClr val="FFFFFF"/>
                </a:solidFill>
                <a:latin typeface="Calibri"/>
              </a:rPr>
              <a:t>2</a:t>
            </a:r>
          </a:p>
        </p:txBody>
      </p:sp>
      <p:sp>
        <p:nvSpPr>
          <p:cNvPr id="9" name="a1ud180_nb8"/>
          <p:cNvSpPr txBox="1"/>
          <p:nvPr/>
        </p:nvSpPr>
        <p:spPr>
          <a:xfrm>
            <a:off x="1042415" y="1737360"/>
            <a:ext cx="4672584" cy="475488"/>
          </a:xfrm>
          <a:prstGeom prst="rect">
            <a:avLst/>
          </a:prstGeom>
          <a:noFill/>
        </p:spPr>
        <p:txBody>
          <a:bodyPr wrap="square" lIns="0" tIns="0" rIns="0" bIns="0" anchor="ctr">
            <a:spAutoFit/>
          </a:bodyPr>
          <a:lstStyle/>
          <a:p>
            <a:pPr algn="l">
              <a:spcAft>
                <a:spcPts val="100"/>
              </a:spcAft>
            </a:pPr>
            <a:r>
              <a:rPr sz="1400" b="1">
                <a:solidFill>
                  <a:srgbClr val="0F172A"/>
                </a:solidFill>
                <a:latin typeface="Calibri"/>
              </a:rPr>
              <a:t>Cluster-friendly</a:t>
            </a:r>
          </a:p>
          <a:p>
            <a:pPr algn="l">
              <a:spcAft>
                <a:spcPts val="100"/>
              </a:spcAft>
            </a:pPr>
            <a:r>
              <a:rPr sz="1200" b="0">
                <a:solidFill>
                  <a:srgbClr val="334155"/>
                </a:solidFill>
                <a:latin typeface="Calibri"/>
              </a:rPr>
              <a:t>Designed from day one to shard and replicate across many nodes.</a:t>
            </a:r>
          </a:p>
        </p:txBody>
      </p:sp>
      <p:sp>
        <p:nvSpPr>
          <p:cNvPr id="10" name="a1ud360_n9"/>
          <p:cNvSpPr/>
          <p:nvPr/>
        </p:nvSpPr>
        <p:spPr>
          <a:xfrm>
            <a:off x="457200" y="2350008"/>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360_nt10"/>
          <p:cNvSpPr txBox="1"/>
          <p:nvPr/>
        </p:nvSpPr>
        <p:spPr>
          <a:xfrm>
            <a:off x="457200" y="2350008"/>
            <a:ext cx="384048" cy="384048"/>
          </a:xfrm>
          <a:prstGeom prst="rect">
            <a:avLst/>
          </a:prstGeom>
          <a:noFill/>
        </p:spPr>
        <p:txBody>
          <a:bodyPr wrap="square" lIns="0" tIns="0" rIns="0" bIns="0" anchor="ctr">
            <a:spAutoFit/>
          </a:bodyPr>
          <a:lstStyle/>
          <a:p>
            <a:pPr algn="ctr"/>
            <a:r>
              <a:rPr sz="1500" b="1">
                <a:solidFill>
                  <a:srgbClr val="FFFFFF"/>
                </a:solidFill>
                <a:latin typeface="Calibri"/>
              </a:rPr>
              <a:t>3</a:t>
            </a:r>
          </a:p>
        </p:txBody>
      </p:sp>
      <p:sp>
        <p:nvSpPr>
          <p:cNvPr id="12" name="a1ud360_nb11"/>
          <p:cNvSpPr txBox="1"/>
          <p:nvPr/>
        </p:nvSpPr>
        <p:spPr>
          <a:xfrm>
            <a:off x="1042415" y="2304288"/>
            <a:ext cx="4672584" cy="475488"/>
          </a:xfrm>
          <a:prstGeom prst="rect">
            <a:avLst/>
          </a:prstGeom>
          <a:noFill/>
        </p:spPr>
        <p:txBody>
          <a:bodyPr wrap="square" lIns="0" tIns="0" rIns="0" bIns="0" anchor="ctr">
            <a:spAutoFit/>
          </a:bodyPr>
          <a:lstStyle/>
          <a:p>
            <a:pPr algn="l">
              <a:spcAft>
                <a:spcPts val="100"/>
              </a:spcAft>
            </a:pPr>
            <a:r>
              <a:rPr sz="1400" b="1">
                <a:solidFill>
                  <a:srgbClr val="0F172A"/>
                </a:solidFill>
                <a:latin typeface="Calibri"/>
              </a:rPr>
              <a:t>Schemaless storage</a:t>
            </a:r>
          </a:p>
          <a:p>
            <a:pPr algn="l">
              <a:spcAft>
                <a:spcPts val="100"/>
              </a:spcAft>
            </a:pPr>
            <a:r>
              <a:rPr sz="1200" b="0">
                <a:solidFill>
                  <a:srgbClr val="334155"/>
                </a:solidFill>
                <a:latin typeface="Calibri"/>
              </a:rPr>
              <a:t>The engine does not enforce a shape; the application does.</a:t>
            </a:r>
          </a:p>
        </p:txBody>
      </p:sp>
      <p:sp>
        <p:nvSpPr>
          <p:cNvPr id="13" name="a1ud540_n12"/>
          <p:cNvSpPr/>
          <p:nvPr/>
        </p:nvSpPr>
        <p:spPr>
          <a:xfrm>
            <a:off x="457200" y="2916936"/>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540_nt13"/>
          <p:cNvSpPr txBox="1"/>
          <p:nvPr/>
        </p:nvSpPr>
        <p:spPr>
          <a:xfrm>
            <a:off x="457200" y="2916936"/>
            <a:ext cx="384048" cy="384048"/>
          </a:xfrm>
          <a:prstGeom prst="rect">
            <a:avLst/>
          </a:prstGeom>
          <a:noFill/>
        </p:spPr>
        <p:txBody>
          <a:bodyPr wrap="square" lIns="0" tIns="0" rIns="0" bIns="0" anchor="ctr">
            <a:spAutoFit/>
          </a:bodyPr>
          <a:lstStyle/>
          <a:p>
            <a:pPr algn="ctr"/>
            <a:r>
              <a:rPr sz="1500" b="1">
                <a:solidFill>
                  <a:srgbClr val="FFFFFF"/>
                </a:solidFill>
                <a:latin typeface="Calibri"/>
              </a:rPr>
              <a:t>4</a:t>
            </a:r>
          </a:p>
        </p:txBody>
      </p:sp>
      <p:sp>
        <p:nvSpPr>
          <p:cNvPr id="15" name="a1ud540_nb14"/>
          <p:cNvSpPr txBox="1"/>
          <p:nvPr/>
        </p:nvSpPr>
        <p:spPr>
          <a:xfrm>
            <a:off x="1042415" y="2871216"/>
            <a:ext cx="4672584" cy="475488"/>
          </a:xfrm>
          <a:prstGeom prst="rect">
            <a:avLst/>
          </a:prstGeom>
          <a:noFill/>
        </p:spPr>
        <p:txBody>
          <a:bodyPr wrap="square" lIns="0" tIns="0" rIns="0" bIns="0" anchor="ctr">
            <a:spAutoFit/>
          </a:bodyPr>
          <a:lstStyle/>
          <a:p>
            <a:pPr algn="l">
              <a:spcAft>
                <a:spcPts val="100"/>
              </a:spcAft>
            </a:pPr>
            <a:r>
              <a:rPr sz="1400" b="1">
                <a:solidFill>
                  <a:srgbClr val="0F172A"/>
                </a:solidFill>
                <a:latin typeface="Calibri"/>
              </a:rPr>
              <a:t>Open source roots</a:t>
            </a:r>
          </a:p>
          <a:p>
            <a:pPr algn="l">
              <a:spcAft>
                <a:spcPts val="100"/>
              </a:spcAft>
            </a:pPr>
            <a:r>
              <a:rPr sz="1200" b="0">
                <a:solidFill>
                  <a:srgbClr val="334155"/>
                </a:solidFill>
                <a:latin typeface="Calibri"/>
              </a:rPr>
              <a:t>Nearly all started as open source; commercial tiers came later.</a:t>
            </a:r>
          </a:p>
        </p:txBody>
      </p:sp>
      <p:sp>
        <p:nvSpPr>
          <p:cNvPr id="16" name="a1ud720_n15"/>
          <p:cNvSpPr/>
          <p:nvPr/>
        </p:nvSpPr>
        <p:spPr>
          <a:xfrm>
            <a:off x="457200" y="3483864"/>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720_nt16"/>
          <p:cNvSpPr txBox="1"/>
          <p:nvPr/>
        </p:nvSpPr>
        <p:spPr>
          <a:xfrm>
            <a:off x="457200" y="3483864"/>
            <a:ext cx="384048" cy="384048"/>
          </a:xfrm>
          <a:prstGeom prst="rect">
            <a:avLst/>
          </a:prstGeom>
          <a:noFill/>
        </p:spPr>
        <p:txBody>
          <a:bodyPr wrap="square" lIns="0" tIns="0" rIns="0" bIns="0" anchor="ctr">
            <a:spAutoFit/>
          </a:bodyPr>
          <a:lstStyle/>
          <a:p>
            <a:pPr algn="ctr"/>
            <a:r>
              <a:rPr sz="1500" b="1">
                <a:solidFill>
                  <a:srgbClr val="FFFFFF"/>
                </a:solidFill>
                <a:latin typeface="Calibri"/>
              </a:rPr>
              <a:t>5</a:t>
            </a:r>
          </a:p>
        </p:txBody>
      </p:sp>
      <p:sp>
        <p:nvSpPr>
          <p:cNvPr id="18" name="a1ud720_nb17"/>
          <p:cNvSpPr txBox="1"/>
          <p:nvPr/>
        </p:nvSpPr>
        <p:spPr>
          <a:xfrm>
            <a:off x="1042415" y="3438144"/>
            <a:ext cx="4672584" cy="475488"/>
          </a:xfrm>
          <a:prstGeom prst="rect">
            <a:avLst/>
          </a:prstGeom>
          <a:noFill/>
        </p:spPr>
        <p:txBody>
          <a:bodyPr wrap="square" lIns="0" tIns="0" rIns="0" bIns="0" anchor="ctr">
            <a:spAutoFit/>
          </a:bodyPr>
          <a:lstStyle/>
          <a:p>
            <a:pPr algn="l">
              <a:spcAft>
                <a:spcPts val="100"/>
              </a:spcAft>
            </a:pPr>
            <a:r>
              <a:rPr sz="1400" b="1">
                <a:solidFill>
                  <a:srgbClr val="0F172A"/>
                </a:solidFill>
                <a:latin typeface="Calibri"/>
              </a:rPr>
              <a:t>Built for the web era</a:t>
            </a:r>
          </a:p>
          <a:p>
            <a:pPr algn="l">
              <a:spcAft>
                <a:spcPts val="100"/>
              </a:spcAft>
            </a:pPr>
            <a:r>
              <a:rPr sz="1200" b="0">
                <a:solidFill>
                  <a:srgbClr val="334155"/>
                </a:solidFill>
                <a:latin typeface="Calibri"/>
              </a:rPr>
              <a:t>21st century designs, aimed at a specific access pattern.</a:t>
            </a:r>
          </a:p>
        </p:txBody>
      </p:sp>
      <p:sp>
        <p:nvSpPr>
          <p:cNvPr id="19" name="a2u_card18"/>
          <p:cNvSpPr/>
          <p:nvPr/>
        </p:nvSpPr>
        <p:spPr>
          <a:xfrm>
            <a:off x="5989320" y="1216152"/>
            <a:ext cx="2697480" cy="2743200"/>
          </a:xfrm>
          <a:prstGeom prst="roundRect">
            <a:avLst>
              <a:gd name="adj" fmla="val 3389"/>
            </a:avLst>
          </a:prstGeom>
          <a:solidFill>
            <a:srgbClr val="0F172A"/>
          </a:solidFill>
          <a:ln w="12700">
            <a:solidFill>
              <a:srgbClr val="0F172A"/>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hh19"/>
          <p:cNvSpPr txBox="1"/>
          <p:nvPr/>
        </p:nvSpPr>
        <p:spPr>
          <a:xfrm>
            <a:off x="6199632" y="1362456"/>
            <a:ext cx="2286000" cy="237744"/>
          </a:xfrm>
          <a:prstGeom prst="rect">
            <a:avLst/>
          </a:prstGeom>
          <a:noFill/>
        </p:spPr>
        <p:txBody>
          <a:bodyPr wrap="square" lIns="0" tIns="0" rIns="0" bIns="0" anchor="ctr">
            <a:spAutoFit/>
          </a:bodyPr>
          <a:lstStyle/>
          <a:p>
            <a:pPr algn="l"/>
            <a:r>
              <a:rPr sz="950" b="1">
                <a:solidFill>
                  <a:srgbClr val="A78BFA"/>
                </a:solidFill>
                <a:latin typeface="Calibri"/>
              </a:rPr>
              <a:t>AND ONE NON-RULE</a:t>
            </a:r>
          </a:p>
        </p:txBody>
      </p:sp>
      <p:sp>
        <p:nvSpPr>
          <p:cNvPr id="21" name="a2ud60_p20"/>
          <p:cNvSpPr txBox="1"/>
          <p:nvPr/>
        </p:nvSpPr>
        <p:spPr>
          <a:xfrm>
            <a:off x="6199632" y="1655064"/>
            <a:ext cx="2286000" cy="1005840"/>
          </a:xfrm>
          <a:prstGeom prst="rect">
            <a:avLst/>
          </a:prstGeom>
          <a:noFill/>
        </p:spPr>
        <p:txBody>
          <a:bodyPr wrap="square" lIns="0" tIns="0" rIns="0" bIns="0" anchor="t">
            <a:spAutoFit/>
          </a:bodyPr>
          <a:lstStyle/>
          <a:p>
            <a:pPr algn="l"/>
            <a:r>
              <a:rPr sz="1100" b="0">
                <a:solidFill>
                  <a:srgbClr val="CBD5E1"/>
                </a:solidFill>
                <a:latin typeface="Calibri"/>
              </a:rPr>
              <a:t>"NoSQL" is a marketing accident, not a definition. Read it as "Not Only SQL" - a family of alternatives, not a replacement.</a:t>
            </a:r>
          </a:p>
        </p:txBody>
      </p:sp>
      <p:sp>
        <p:nvSpPr>
          <p:cNvPr id="22" name="a2ud120_sep21"/>
          <p:cNvSpPr/>
          <p:nvPr/>
        </p:nvSpPr>
        <p:spPr>
          <a:xfrm>
            <a:off x="6199632" y="2752344"/>
            <a:ext cx="2286000" cy="1828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160_nb22"/>
          <p:cNvSpPr txBox="1"/>
          <p:nvPr/>
        </p:nvSpPr>
        <p:spPr>
          <a:xfrm>
            <a:off x="6199632" y="2880360"/>
            <a:ext cx="2286000" cy="329184"/>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Some now support SQL (Cassandra CQL)</a:t>
            </a:r>
          </a:p>
        </p:txBody>
      </p:sp>
      <p:sp>
        <p:nvSpPr>
          <p:cNvPr id="24" name="a2ud240_nb23"/>
          <p:cNvSpPr txBox="1"/>
          <p:nvPr/>
        </p:nvSpPr>
        <p:spPr>
          <a:xfrm>
            <a:off x="6199632" y="3227832"/>
            <a:ext cx="2286000" cy="329184"/>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Some support ACID (MongoDB 4.0+)</a:t>
            </a:r>
          </a:p>
        </p:txBody>
      </p:sp>
      <p:sp>
        <p:nvSpPr>
          <p:cNvPr id="25" name="a2ud320_nb24"/>
          <p:cNvSpPr txBox="1"/>
          <p:nvPr/>
        </p:nvSpPr>
        <p:spPr>
          <a:xfrm>
            <a:off x="6199632" y="3575304"/>
            <a:ext cx="2286000" cy="329184"/>
          </a:xfrm>
          <a:prstGeom prst="rect">
            <a:avLst/>
          </a:prstGeom>
          <a:noFill/>
        </p:spPr>
        <p:txBody>
          <a:bodyPr wrap="square" lIns="0" tIns="0" rIns="0" bIns="0" anchor="t">
            <a:spAutoFit/>
          </a:bodyPr>
          <a:lstStyle/>
          <a:p>
            <a:pPr algn="l"/>
            <a:r>
              <a:rPr sz="950" b="1">
                <a:solidFill>
                  <a:srgbClr val="A78BFA"/>
                </a:solidFill>
                <a:latin typeface="Calibri"/>
              </a:rPr>
              <a:t>· </a:t>
            </a:r>
            <a:r>
              <a:rPr sz="950" b="0">
                <a:solidFill>
                  <a:srgbClr val="CBD5E1"/>
                </a:solidFill>
                <a:latin typeface="Calibri"/>
              </a:rPr>
              <a:t>Some support joins (Couchbase N1QL)</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18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18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36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36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36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par>
                                <p:cTn id="54" presetID="2" presetClass="entr" presetSubtype="4" fill="hold" grpId="0" nodeType="withEffect">
                                  <p:stCondLst>
                                    <p:cond delay="54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0.1"/>
                                          </p:val>
                                        </p:tav>
                                        <p:tav tm="100000">
                                          <p:val>
                                            <p:strVal val="#ppt_y"/>
                                          </p:val>
                                        </p:tav>
                                      </p:tavLst>
                                    </p:anim>
                                    <p:animEffect transition="in" filter="fade">
                                      <p:cBhvr>
                                        <p:cTn id="53" dur="500"/>
                                        <p:tgtEl>
                                          <p:spTgt spid="13"/>
                                        </p:tgtEl>
                                      </p:cBhvr>
                                    </p:animEffect>
                                  </p:childTnLst>
                                </p:cTn>
                              </p:par>
                              <p:par>
                                <p:cTn id="59" presetID="2" presetClass="entr" presetSubtype="4" fill="hold" grpId="0" nodeType="withEffect">
                                  <p:stCondLst>
                                    <p:cond delay="54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0.1"/>
                                          </p:val>
                                        </p:tav>
                                        <p:tav tm="100000">
                                          <p:val>
                                            <p:strVal val="#ppt_y"/>
                                          </p:val>
                                        </p:tav>
                                      </p:tavLst>
                                    </p:anim>
                                    <p:animEffect transition="in" filter="fade">
                                      <p:cBhvr>
                                        <p:cTn id="58" dur="500"/>
                                        <p:tgtEl>
                                          <p:spTgt spid="14"/>
                                        </p:tgtEl>
                                      </p:cBhvr>
                                    </p:animEffect>
                                  </p:childTnLst>
                                </p:cTn>
                              </p:par>
                              <p:par>
                                <p:cTn id="64" presetID="2" presetClass="entr" presetSubtype="4" fill="hold" grpId="0" nodeType="withEffect">
                                  <p:stCondLst>
                                    <p:cond delay="54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0.1"/>
                                          </p:val>
                                        </p:tav>
                                        <p:tav tm="100000">
                                          <p:val>
                                            <p:strVal val="#ppt_y"/>
                                          </p:val>
                                        </p:tav>
                                      </p:tavLst>
                                    </p:anim>
                                    <p:animEffect transition="in" filter="fade">
                                      <p:cBhvr>
                                        <p:cTn id="63" dur="500"/>
                                        <p:tgtEl>
                                          <p:spTgt spid="15"/>
                                        </p:tgtEl>
                                      </p:cBhvr>
                                    </p:animEffect>
                                  </p:childTnLst>
                                </p:cTn>
                              </p:par>
                              <p:par>
                                <p:cTn id="69" presetID="2" presetClass="entr" presetSubtype="4" fill="hold" grpId="0" nodeType="withEffect">
                                  <p:stCondLst>
                                    <p:cond delay="72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ppt_y+0.1"/>
                                          </p:val>
                                        </p:tav>
                                        <p:tav tm="100000">
                                          <p:val>
                                            <p:strVal val="#ppt_y"/>
                                          </p:val>
                                        </p:tav>
                                      </p:tavLst>
                                    </p:anim>
                                    <p:animEffect transition="in" filter="fade">
                                      <p:cBhvr>
                                        <p:cTn id="68" dur="500"/>
                                        <p:tgtEl>
                                          <p:spTgt spid="16"/>
                                        </p:tgtEl>
                                      </p:cBhvr>
                                    </p:animEffect>
                                  </p:childTnLst>
                                </p:cTn>
                              </p:par>
                              <p:par>
                                <p:cTn id="74" presetID="2" presetClass="entr" presetSubtype="4" fill="hold" grpId="0" nodeType="withEffect">
                                  <p:stCondLst>
                                    <p:cond delay="72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p:tgtEl>
                                          <p:spTgt spid="17"/>
                                        </p:tgtEl>
                                        <p:attrNameLst>
                                          <p:attrName>ppt_y</p:attrName>
                                        </p:attrNameLst>
                                      </p:cBhvr>
                                      <p:tavLst>
                                        <p:tav tm="0">
                                          <p:val>
                                            <p:strVal val="#ppt_y+0.1"/>
                                          </p:val>
                                        </p:tav>
                                        <p:tav tm="100000">
                                          <p:val>
                                            <p:strVal val="#ppt_y"/>
                                          </p:val>
                                        </p:tav>
                                      </p:tavLst>
                                    </p:anim>
                                    <p:animEffect transition="in" filter="fade">
                                      <p:cBhvr>
                                        <p:cTn id="73" dur="500"/>
                                        <p:tgtEl>
                                          <p:spTgt spid="17"/>
                                        </p:tgtEl>
                                      </p:cBhvr>
                                    </p:animEffect>
                                  </p:childTnLst>
                                </p:cTn>
                              </p:par>
                              <p:par>
                                <p:cTn id="79" presetID="2" presetClass="entr" presetSubtype="4" fill="hold" grpId="0" nodeType="withEffect">
                                  <p:stCondLst>
                                    <p:cond delay="72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0.1"/>
                                          </p:val>
                                        </p:tav>
                                        <p:tav tm="100000">
                                          <p:val>
                                            <p:strVal val="#ppt_y"/>
                                          </p:val>
                                        </p:tav>
                                      </p:tavLst>
                                    </p:anim>
                                    <p:animEffect transition="in" filter="fade">
                                      <p:cBhvr>
                                        <p:cTn id="78" dur="500"/>
                                        <p:tgtEl>
                                          <p:spTgt spid="18"/>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6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par>
                                <p:cTn id="101" presetID="2" presetClass="entr" presetSubtype="4" fill="hold" grpId="0" nodeType="withEffect">
                                  <p:stCondLst>
                                    <p:cond delay="12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1"/>
                                          </p:val>
                                        </p:tav>
                                        <p:tav tm="100000">
                                          <p:val>
                                            <p:strVal val="#ppt_y"/>
                                          </p:val>
                                        </p:tav>
                                      </p:tavLst>
                                    </p:anim>
                                    <p:animEffect transition="in" filter="fade">
                                      <p:cBhvr>
                                        <p:cTn id="100" dur="500"/>
                                        <p:tgtEl>
                                          <p:spTgt spid="22"/>
                                        </p:tgtEl>
                                      </p:cBhvr>
                                    </p:animEffect>
                                  </p:childTnLst>
                                </p:cTn>
                              </p:par>
                              <p:par>
                                <p:cTn id="106" presetID="2" presetClass="entr" presetSubtype="4" fill="hold" grpId="0" nodeType="withEffect">
                                  <p:stCondLst>
                                    <p:cond delay="16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ppt_x</p:attrName>
                                        </p:attrNameLst>
                                      </p:cBhvr>
                                      <p:tavLst>
                                        <p:tav tm="0">
                                          <p:val>
                                            <p:strVal val="#ppt_x"/>
                                          </p:val>
                                        </p:tav>
                                        <p:tav tm="100000">
                                          <p:val>
                                            <p:strVal val="#ppt_x"/>
                                          </p:val>
                                        </p:tav>
                                      </p:tavLst>
                                    </p:anim>
                                    <p:anim calcmode="lin" valueType="num">
                                      <p:cBhvr additive="base">
                                        <p:cTn id="104" dur="500" fill="hold"/>
                                        <p:tgtEl>
                                          <p:spTgt spid="23"/>
                                        </p:tgtEl>
                                        <p:attrNameLst>
                                          <p:attrName>ppt_y</p:attrName>
                                        </p:attrNameLst>
                                      </p:cBhvr>
                                      <p:tavLst>
                                        <p:tav tm="0">
                                          <p:val>
                                            <p:strVal val="#ppt_y+0.1"/>
                                          </p:val>
                                        </p:tav>
                                        <p:tav tm="100000">
                                          <p:val>
                                            <p:strVal val="#ppt_y"/>
                                          </p:val>
                                        </p:tav>
                                      </p:tavLst>
                                    </p:anim>
                                    <p:animEffect transition="in" filter="fade">
                                      <p:cBhvr>
                                        <p:cTn id="105" dur="500"/>
                                        <p:tgtEl>
                                          <p:spTgt spid="23"/>
                                        </p:tgtEl>
                                      </p:cBhvr>
                                    </p:animEffect>
                                  </p:childTnLst>
                                </p:cTn>
                              </p:par>
                              <p:par>
                                <p:cTn id="111" presetID="2" presetClass="entr" presetSubtype="4" fill="hold" grpId="0" nodeType="withEffect">
                                  <p:stCondLst>
                                    <p:cond delay="240"/>
                                  </p:stCondLst>
                                  <p:childTnLst>
                                    <p:set>
                                      <p:cBhvr>
                                        <p:cTn id="107" dur="1" fill="hold">
                                          <p:stCondLst>
                                            <p:cond delay="0"/>
                                          </p:stCondLst>
                                        </p:cTn>
                                        <p:tgtEl>
                                          <p:spTgt spid="24"/>
                                        </p:tgtEl>
                                        <p:attrNameLst>
                                          <p:attrName>style.visibility</p:attrName>
                                        </p:attrNameLst>
                                      </p:cBhvr>
                                      <p:to>
                                        <p:strVal val="visible"/>
                                      </p:to>
                                    </p:set>
                                    <p:anim calcmode="lin" valueType="num">
                                      <p:cBhvr additive="base">
                                        <p:cTn id="108" dur="500" fill="hold"/>
                                        <p:tgtEl>
                                          <p:spTgt spid="24"/>
                                        </p:tgtEl>
                                        <p:attrNameLst>
                                          <p:attrName>ppt_x</p:attrName>
                                        </p:attrNameLst>
                                      </p:cBhvr>
                                      <p:tavLst>
                                        <p:tav tm="0">
                                          <p:val>
                                            <p:strVal val="#ppt_x"/>
                                          </p:val>
                                        </p:tav>
                                        <p:tav tm="100000">
                                          <p:val>
                                            <p:strVal val="#ppt_x"/>
                                          </p:val>
                                        </p:tav>
                                      </p:tavLst>
                                    </p:anim>
                                    <p:anim calcmode="lin" valueType="num">
                                      <p:cBhvr additive="base">
                                        <p:cTn id="109" dur="500" fill="hold"/>
                                        <p:tgtEl>
                                          <p:spTgt spid="24"/>
                                        </p:tgtEl>
                                        <p:attrNameLst>
                                          <p:attrName>ppt_y</p:attrName>
                                        </p:attrNameLst>
                                      </p:cBhvr>
                                      <p:tavLst>
                                        <p:tav tm="0">
                                          <p:val>
                                            <p:strVal val="#ppt_y+0.1"/>
                                          </p:val>
                                        </p:tav>
                                        <p:tav tm="100000">
                                          <p:val>
                                            <p:strVal val="#ppt_y"/>
                                          </p:val>
                                        </p:tav>
                                      </p:tavLst>
                                    </p:anim>
                                    <p:animEffect transition="in" filter="fade">
                                      <p:cBhvr>
                                        <p:cTn id="110" dur="500"/>
                                        <p:tgtEl>
                                          <p:spTgt spid="24"/>
                                        </p:tgtEl>
                                      </p:cBhvr>
                                    </p:animEffect>
                                  </p:childTnLst>
                                </p:cTn>
                              </p:par>
                              <p:par>
                                <p:cTn id="116" presetID="2" presetClass="entr" presetSubtype="4" fill="hold" grpId="0" nodeType="withEffect">
                                  <p:stCondLst>
                                    <p:cond delay="320"/>
                                  </p:stCondLst>
                                  <p:childTnLst>
                                    <p:set>
                                      <p:cBhvr>
                                        <p:cTn id="112" dur="1" fill="hold">
                                          <p:stCondLst>
                                            <p:cond delay="0"/>
                                          </p:stCondLst>
                                        </p:cTn>
                                        <p:tgtEl>
                                          <p:spTgt spid="25"/>
                                        </p:tgtEl>
                                        <p:attrNameLst>
                                          <p:attrName>style.visibility</p:attrName>
                                        </p:attrNameLst>
                                      </p:cBhvr>
                                      <p:to>
                                        <p:strVal val="visible"/>
                                      </p:to>
                                    </p:se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1"/>
                                          </p:val>
                                        </p:tav>
                                        <p:tav tm="100000">
                                          <p:val>
                                            <p:strVal val="#ppt_y"/>
                                          </p:val>
                                        </p:tav>
                                      </p:tavLst>
                                    </p:anim>
                                    <p:animEffect transition="in" filter="fade">
                                      <p:cBhvr>
                                        <p:cTn id="1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Aggregate Orientation</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The single idea behind key-value, document and column stores</a:t>
            </a:r>
          </a:p>
        </p:txBody>
      </p:sp>
      <p:sp>
        <p:nvSpPr>
          <p:cNvPr id="4" name="a1f_lead3"/>
          <p:cNvSpPr txBox="1"/>
          <p:nvPr/>
        </p:nvSpPr>
        <p:spPr>
          <a:xfrm>
            <a:off x="457200" y="1143000"/>
            <a:ext cx="8229600" cy="274320"/>
          </a:xfrm>
          <a:prstGeom prst="rect">
            <a:avLst/>
          </a:prstGeom>
          <a:noFill/>
        </p:spPr>
        <p:txBody>
          <a:bodyPr wrap="square" lIns="0" tIns="0" rIns="0" bIns="0" anchor="ctr">
            <a:spAutoFit/>
          </a:bodyPr>
          <a:lstStyle/>
          <a:p>
            <a:pPr algn="l"/>
            <a:r>
              <a:rPr sz="1150" b="0">
                <a:solidFill>
                  <a:srgbClr val="64748B"/>
                </a:solidFill>
                <a:latin typeface="Calibri"/>
              </a:rPr>
              <a:t>An aggregate is a cluster of data you always read and write together. Pick the right aggregate and one key fetches the whole answer.</a:t>
            </a:r>
          </a:p>
        </p:txBody>
      </p:sp>
      <p:sp>
        <p:nvSpPr>
          <p:cNvPr id="5" name="a1ud60_card4"/>
          <p:cNvSpPr/>
          <p:nvPr/>
        </p:nvSpPr>
        <p:spPr>
          <a:xfrm>
            <a:off x="457200" y="1508760"/>
            <a:ext cx="3931920" cy="2103120"/>
          </a:xfrm>
          <a:prstGeom prst="roundRect">
            <a:avLst>
              <a:gd name="adj" fmla="val 4347"/>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60_hh5"/>
          <p:cNvSpPr txBox="1"/>
          <p:nvPr/>
        </p:nvSpPr>
        <p:spPr>
          <a:xfrm>
            <a:off x="658368" y="1627632"/>
            <a:ext cx="3529584" cy="237744"/>
          </a:xfrm>
          <a:prstGeom prst="rect">
            <a:avLst/>
          </a:prstGeom>
          <a:noFill/>
        </p:spPr>
        <p:txBody>
          <a:bodyPr wrap="square" lIns="0" tIns="0" rIns="0" bIns="0" anchor="ctr">
            <a:spAutoFit/>
          </a:bodyPr>
          <a:lstStyle/>
          <a:p>
            <a:pPr algn="l"/>
            <a:r>
              <a:rPr sz="950" b="1">
                <a:solidFill>
                  <a:srgbClr val="B45309"/>
                </a:solidFill>
                <a:latin typeface="Calibri"/>
              </a:rPr>
              <a:t>RELATIONAL · 4 TABLES, 1 JOIN</a:t>
            </a:r>
          </a:p>
        </p:txBody>
      </p:sp>
      <p:sp>
        <p:nvSpPr>
          <p:cNvPr id="7" name="a1ud120_tb6"/>
          <p:cNvSpPr/>
          <p:nvPr/>
        </p:nvSpPr>
        <p:spPr>
          <a:xfrm>
            <a:off x="658368" y="1929384"/>
            <a:ext cx="1700784" cy="420624"/>
          </a:xfrm>
          <a:prstGeom prst="roundRect">
            <a:avLst>
              <a:gd name="adj" fmla="val 13043"/>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1ud120_tn7"/>
          <p:cNvSpPr txBox="1"/>
          <p:nvPr/>
        </p:nvSpPr>
        <p:spPr>
          <a:xfrm>
            <a:off x="658368" y="1929384"/>
            <a:ext cx="1700784" cy="420624"/>
          </a:xfrm>
          <a:prstGeom prst="rect">
            <a:avLst/>
          </a:prstGeom>
          <a:noFill/>
        </p:spPr>
        <p:txBody>
          <a:bodyPr wrap="square" lIns="0" tIns="0" rIns="0" bIns="0" anchor="ctr">
            <a:spAutoFit/>
          </a:bodyPr>
          <a:lstStyle/>
          <a:p>
            <a:pPr algn="ctr"/>
            <a:r>
              <a:rPr sz="1050" b="1">
                <a:solidFill>
                  <a:srgbClr val="B45309"/>
                </a:solidFill>
                <a:latin typeface="Courier New"/>
              </a:rPr>
              <a:t>customers</a:t>
            </a:r>
          </a:p>
        </p:txBody>
      </p:sp>
      <p:sp>
        <p:nvSpPr>
          <p:cNvPr id="9" name="a1ud200_tb8"/>
          <p:cNvSpPr/>
          <p:nvPr/>
        </p:nvSpPr>
        <p:spPr>
          <a:xfrm>
            <a:off x="2468880" y="1929384"/>
            <a:ext cx="1700784" cy="420624"/>
          </a:xfrm>
          <a:prstGeom prst="roundRect">
            <a:avLst>
              <a:gd name="adj" fmla="val 13043"/>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1ud200_tn9"/>
          <p:cNvSpPr txBox="1"/>
          <p:nvPr/>
        </p:nvSpPr>
        <p:spPr>
          <a:xfrm>
            <a:off x="2468880" y="1929384"/>
            <a:ext cx="1700784" cy="420624"/>
          </a:xfrm>
          <a:prstGeom prst="rect">
            <a:avLst/>
          </a:prstGeom>
          <a:noFill/>
        </p:spPr>
        <p:txBody>
          <a:bodyPr wrap="square" lIns="0" tIns="0" rIns="0" bIns="0" anchor="ctr">
            <a:spAutoFit/>
          </a:bodyPr>
          <a:lstStyle/>
          <a:p>
            <a:pPr algn="ctr"/>
            <a:r>
              <a:rPr sz="1050" b="1">
                <a:solidFill>
                  <a:srgbClr val="B45309"/>
                </a:solidFill>
                <a:latin typeface="Courier New"/>
              </a:rPr>
              <a:t>orders</a:t>
            </a:r>
          </a:p>
        </p:txBody>
      </p:sp>
      <p:sp>
        <p:nvSpPr>
          <p:cNvPr id="11" name="a1ud280_tb10"/>
          <p:cNvSpPr/>
          <p:nvPr/>
        </p:nvSpPr>
        <p:spPr>
          <a:xfrm>
            <a:off x="658368" y="2432304"/>
            <a:ext cx="1700784" cy="420624"/>
          </a:xfrm>
          <a:prstGeom prst="roundRect">
            <a:avLst>
              <a:gd name="adj" fmla="val 13043"/>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d280_tn11"/>
          <p:cNvSpPr txBox="1"/>
          <p:nvPr/>
        </p:nvSpPr>
        <p:spPr>
          <a:xfrm>
            <a:off x="658368" y="2432304"/>
            <a:ext cx="1700784" cy="420624"/>
          </a:xfrm>
          <a:prstGeom prst="rect">
            <a:avLst/>
          </a:prstGeom>
          <a:noFill/>
        </p:spPr>
        <p:txBody>
          <a:bodyPr wrap="square" lIns="0" tIns="0" rIns="0" bIns="0" anchor="ctr">
            <a:spAutoFit/>
          </a:bodyPr>
          <a:lstStyle/>
          <a:p>
            <a:pPr algn="ctr"/>
            <a:r>
              <a:rPr sz="1050" b="1">
                <a:solidFill>
                  <a:srgbClr val="B45309"/>
                </a:solidFill>
                <a:latin typeface="Courier New"/>
              </a:rPr>
              <a:t>order_lines</a:t>
            </a:r>
          </a:p>
        </p:txBody>
      </p:sp>
      <p:sp>
        <p:nvSpPr>
          <p:cNvPr id="13" name="a1ud360_tb12"/>
          <p:cNvSpPr/>
          <p:nvPr/>
        </p:nvSpPr>
        <p:spPr>
          <a:xfrm>
            <a:off x="2468880" y="2432304"/>
            <a:ext cx="1700784" cy="420624"/>
          </a:xfrm>
          <a:prstGeom prst="roundRect">
            <a:avLst>
              <a:gd name="adj" fmla="val 13043"/>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360_tn13"/>
          <p:cNvSpPr txBox="1"/>
          <p:nvPr/>
        </p:nvSpPr>
        <p:spPr>
          <a:xfrm>
            <a:off x="2468880" y="2432304"/>
            <a:ext cx="1700784" cy="420624"/>
          </a:xfrm>
          <a:prstGeom prst="rect">
            <a:avLst/>
          </a:prstGeom>
          <a:noFill/>
        </p:spPr>
        <p:txBody>
          <a:bodyPr wrap="square" lIns="0" tIns="0" rIns="0" bIns="0" anchor="ctr">
            <a:spAutoFit/>
          </a:bodyPr>
          <a:lstStyle/>
          <a:p>
            <a:pPr algn="ctr"/>
            <a:r>
              <a:rPr sz="1050" b="1">
                <a:solidFill>
                  <a:srgbClr val="B45309"/>
                </a:solidFill>
                <a:latin typeface="Courier New"/>
              </a:rPr>
              <a:t>payments</a:t>
            </a:r>
          </a:p>
        </p:txBody>
      </p:sp>
      <p:sp>
        <p:nvSpPr>
          <p:cNvPr id="15" name="a1ud460_cap14"/>
          <p:cNvSpPr txBox="1"/>
          <p:nvPr/>
        </p:nvSpPr>
        <p:spPr>
          <a:xfrm>
            <a:off x="658368" y="2990088"/>
            <a:ext cx="3529584" cy="475488"/>
          </a:xfrm>
          <a:prstGeom prst="rect">
            <a:avLst/>
          </a:prstGeom>
          <a:noFill/>
        </p:spPr>
        <p:txBody>
          <a:bodyPr wrap="square" lIns="0" tIns="0" rIns="0" bIns="0" anchor="t">
            <a:spAutoFit/>
          </a:bodyPr>
          <a:lstStyle/>
          <a:p>
            <a:pPr algn="l"/>
            <a:r>
              <a:rPr sz="1000" b="0">
                <a:solidFill>
                  <a:srgbClr val="334155"/>
                </a:solidFill>
                <a:latin typeface="Calibri"/>
              </a:rPr>
              <a:t>SELECT ... FROM orders JOIN order_lines JOIN customers JOIN payments — four disk locations, one transaction, hard to shard.</a:t>
            </a:r>
          </a:p>
        </p:txBody>
      </p:sp>
      <p:sp>
        <p:nvSpPr>
          <p:cNvPr id="16" name="a2u_card15"/>
          <p:cNvSpPr/>
          <p:nvPr/>
        </p:nvSpPr>
        <p:spPr>
          <a:xfrm>
            <a:off x="4754880" y="1508760"/>
            <a:ext cx="3931920" cy="2103120"/>
          </a:xfrm>
          <a:prstGeom prst="roundRect">
            <a:avLst>
              <a:gd name="adj" fmla="val 4347"/>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hh16"/>
          <p:cNvSpPr txBox="1"/>
          <p:nvPr/>
        </p:nvSpPr>
        <p:spPr>
          <a:xfrm>
            <a:off x="4956048" y="1627632"/>
            <a:ext cx="3529584" cy="237744"/>
          </a:xfrm>
          <a:prstGeom prst="rect">
            <a:avLst/>
          </a:prstGeom>
          <a:noFill/>
        </p:spPr>
        <p:txBody>
          <a:bodyPr wrap="square" lIns="0" tIns="0" rIns="0" bIns="0" anchor="ctr">
            <a:spAutoFit/>
          </a:bodyPr>
          <a:lstStyle/>
          <a:p>
            <a:pPr algn="l"/>
            <a:r>
              <a:rPr sz="950" b="1">
                <a:solidFill>
                  <a:srgbClr val="0F766E"/>
                </a:solidFill>
                <a:latin typeface="Calibri"/>
              </a:rPr>
              <a:t>AGGREGATE · 1 KEY, 1 READ</a:t>
            </a:r>
          </a:p>
        </p:txBody>
      </p:sp>
      <p:sp>
        <p:nvSpPr>
          <p:cNvPr id="18" name="a2ud60_agg17"/>
          <p:cNvSpPr/>
          <p:nvPr/>
        </p:nvSpPr>
        <p:spPr>
          <a:xfrm>
            <a:off x="4956048" y="1911095"/>
            <a:ext cx="3529584" cy="1024128"/>
          </a:xfrm>
          <a:prstGeom prst="roundRect">
            <a:avLst>
              <a:gd name="adj" fmla="val 7142"/>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100_ak18"/>
          <p:cNvSpPr txBox="1"/>
          <p:nvPr/>
        </p:nvSpPr>
        <p:spPr>
          <a:xfrm>
            <a:off x="5102352" y="1984248"/>
            <a:ext cx="3236976" cy="219456"/>
          </a:xfrm>
          <a:prstGeom prst="rect">
            <a:avLst/>
          </a:prstGeom>
          <a:noFill/>
        </p:spPr>
        <p:txBody>
          <a:bodyPr wrap="square" lIns="0" tIns="0" rIns="0" bIns="0" anchor="ctr">
            <a:spAutoFit/>
          </a:bodyPr>
          <a:lstStyle/>
          <a:p>
            <a:pPr algn="l"/>
            <a:r>
              <a:rPr sz="1100" b="1">
                <a:solidFill>
                  <a:srgbClr val="0F766E"/>
                </a:solidFill>
                <a:latin typeface="Courier New"/>
              </a:rPr>
              <a:t>order:1001</a:t>
            </a:r>
          </a:p>
        </p:txBody>
      </p:sp>
      <p:sp>
        <p:nvSpPr>
          <p:cNvPr id="20" name="a2wd140_af19"/>
          <p:cNvSpPr txBox="1"/>
          <p:nvPr/>
        </p:nvSpPr>
        <p:spPr>
          <a:xfrm>
            <a:off x="5230368" y="2221991"/>
            <a:ext cx="3108960" cy="219456"/>
          </a:xfrm>
          <a:prstGeom prst="rect">
            <a:avLst/>
          </a:prstGeom>
          <a:noFill/>
        </p:spPr>
        <p:txBody>
          <a:bodyPr wrap="square" lIns="0" tIns="0" rIns="0" bIns="0" anchor="ctr">
            <a:spAutoFit/>
          </a:bodyPr>
          <a:lstStyle/>
          <a:p>
            <a:pPr algn="l"/>
            <a:r>
              <a:rPr sz="950" b="0">
                <a:solidFill>
                  <a:srgbClr val="334155"/>
                </a:solidFill>
                <a:latin typeface="Courier New"/>
              </a:rPr>
              <a:t>customer {...}</a:t>
            </a:r>
          </a:p>
        </p:txBody>
      </p:sp>
      <p:sp>
        <p:nvSpPr>
          <p:cNvPr id="21" name="a2wd230_af20"/>
          <p:cNvSpPr txBox="1"/>
          <p:nvPr/>
        </p:nvSpPr>
        <p:spPr>
          <a:xfrm>
            <a:off x="5230368" y="2450591"/>
            <a:ext cx="3108960" cy="219456"/>
          </a:xfrm>
          <a:prstGeom prst="rect">
            <a:avLst/>
          </a:prstGeom>
          <a:noFill/>
        </p:spPr>
        <p:txBody>
          <a:bodyPr wrap="square" lIns="0" tIns="0" rIns="0" bIns="0" anchor="ctr">
            <a:spAutoFit/>
          </a:bodyPr>
          <a:lstStyle/>
          <a:p>
            <a:pPr algn="l"/>
            <a:r>
              <a:rPr sz="950" b="0">
                <a:solidFill>
                  <a:srgbClr val="334155"/>
                </a:solidFill>
                <a:latin typeface="Courier New"/>
              </a:rPr>
              <a:t>lines [ {...}, {...} ]</a:t>
            </a:r>
          </a:p>
        </p:txBody>
      </p:sp>
      <p:sp>
        <p:nvSpPr>
          <p:cNvPr id="22" name="a2wd320_af21"/>
          <p:cNvSpPr txBox="1"/>
          <p:nvPr/>
        </p:nvSpPr>
        <p:spPr>
          <a:xfrm>
            <a:off x="5230368" y="2679191"/>
            <a:ext cx="3108960" cy="219456"/>
          </a:xfrm>
          <a:prstGeom prst="rect">
            <a:avLst/>
          </a:prstGeom>
          <a:noFill/>
        </p:spPr>
        <p:txBody>
          <a:bodyPr wrap="square" lIns="0" tIns="0" rIns="0" bIns="0" anchor="ctr">
            <a:spAutoFit/>
          </a:bodyPr>
          <a:lstStyle/>
          <a:p>
            <a:pPr algn="l"/>
            <a:r>
              <a:rPr sz="950" b="0">
                <a:solidFill>
                  <a:srgbClr val="334155"/>
                </a:solidFill>
                <a:latin typeface="Courier New"/>
              </a:rPr>
              <a:t>payment {...}</a:t>
            </a:r>
          </a:p>
        </p:txBody>
      </p:sp>
      <p:sp>
        <p:nvSpPr>
          <p:cNvPr id="23" name="a2ud440_cap22"/>
          <p:cNvSpPr txBox="1"/>
          <p:nvPr/>
        </p:nvSpPr>
        <p:spPr>
          <a:xfrm>
            <a:off x="4956048" y="2990088"/>
            <a:ext cx="3529584" cy="475488"/>
          </a:xfrm>
          <a:prstGeom prst="rect">
            <a:avLst/>
          </a:prstGeom>
          <a:noFill/>
        </p:spPr>
        <p:txBody>
          <a:bodyPr wrap="square" lIns="0" tIns="0" rIns="0" bIns="0" anchor="t">
            <a:spAutoFit/>
          </a:bodyPr>
          <a:lstStyle/>
          <a:p>
            <a:pPr algn="l"/>
            <a:r>
              <a:rPr sz="1000" b="0">
                <a:solidFill>
                  <a:srgbClr val="334155"/>
                </a:solidFill>
                <a:latin typeface="Calibri"/>
              </a:rPr>
              <a:t>GET order:1001 — one key, one node, no join, trivially shardable by key.</a:t>
            </a:r>
          </a:p>
        </p:txBody>
      </p:sp>
      <p:sp>
        <p:nvSpPr>
          <p:cNvPr id="24" name="a3u_nb23"/>
          <p:cNvSpPr/>
          <p:nvPr/>
        </p:nvSpPr>
        <p:spPr>
          <a:xfrm>
            <a:off x="457200" y="3730752"/>
            <a:ext cx="8229600" cy="512064"/>
          </a:xfrm>
          <a:prstGeom prst="roundRect">
            <a:avLst>
              <a:gd name="adj" fmla="val 1428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nacc24"/>
          <p:cNvSpPr/>
          <p:nvPr/>
        </p:nvSpPr>
        <p:spPr>
          <a:xfrm>
            <a:off x="457200" y="3730752"/>
            <a:ext cx="50292" cy="512064"/>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u_nt25"/>
          <p:cNvSpPr txBox="1"/>
          <p:nvPr/>
        </p:nvSpPr>
        <p:spPr>
          <a:xfrm>
            <a:off x="658368" y="3730752"/>
            <a:ext cx="7827264" cy="512064"/>
          </a:xfrm>
          <a:prstGeom prst="rect">
            <a:avLst/>
          </a:prstGeom>
          <a:noFill/>
        </p:spPr>
        <p:txBody>
          <a:bodyPr wrap="square" lIns="0" tIns="0" rIns="0" bIns="0" anchor="ctr">
            <a:spAutoFit/>
          </a:bodyPr>
          <a:lstStyle/>
          <a:p>
            <a:pPr algn="l"/>
            <a:r>
              <a:rPr sz="1050" b="1">
                <a:solidFill>
                  <a:srgbClr val="DC382C"/>
                </a:solidFill>
                <a:latin typeface="Calibri"/>
              </a:rPr>
              <a:t>!  </a:t>
            </a:r>
            <a:r>
              <a:rPr sz="1050" b="0">
                <a:solidFill>
                  <a:srgbClr val="334155"/>
                </a:solidFill>
                <a:latin typeface="Calibri"/>
              </a:rPr>
              <a:t>The trade: aggregates are fast for the access pattern you designed for, and clumsy for everything else. "Show me all line items containing SKU X" now means scanning every order.</a:t>
            </a:r>
          </a:p>
        </p:txBody>
      </p:sp>
      <p:sp>
        <p:nvSpPr>
          <p:cNvPr id="27" name="ft26"/>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28" name="ft27"/>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12" presetID="2" presetClass="entr" presetSubtype="4" fill="hold" grpId="0" nodeType="withEffect">
                                  <p:stCondLst>
                                    <p:cond delay="6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fill="hold"/>
                                        <p:tgtEl>
                                          <p:spTgt spid="5"/>
                                        </p:tgtEl>
                                        <p:attrNameLst>
                                          <p:attrName>ppt_x</p:attrName>
                                        </p:attrNameLst>
                                      </p:cBhvr>
                                      <p:tavLst>
                                        <p:tav tm="0">
                                          <p:val>
                                            <p:strVal val="#ppt_x"/>
                                          </p:val>
                                        </p:tav>
                                        <p:tav tm="100000">
                                          <p:val>
                                            <p:strVal val="#ppt_x"/>
                                          </p:val>
                                        </p:tav>
                                      </p:tavLst>
                                    </p:anim>
                                    <p:anim calcmode="lin" valueType="num">
                                      <p:cBhvr additive="base">
                                        <p:cTn id="10" dur="500" fill="hold"/>
                                        <p:tgtEl>
                                          <p:spTgt spid="5"/>
                                        </p:tgtEl>
                                        <p:attrNameLst>
                                          <p:attrName>ppt_y</p:attrName>
                                        </p:attrNameLst>
                                      </p:cBhvr>
                                      <p:tavLst>
                                        <p:tav tm="0">
                                          <p:val>
                                            <p:strVal val="#ppt_y+0.1"/>
                                          </p:val>
                                        </p:tav>
                                        <p:tav tm="100000">
                                          <p:val>
                                            <p:strVal val="#ppt_y"/>
                                          </p:val>
                                        </p:tav>
                                      </p:tavLst>
                                    </p:anim>
                                    <p:animEffect transition="in" filter="fade">
                                      <p:cBhvr>
                                        <p:cTn id="11" dur="500"/>
                                        <p:tgtEl>
                                          <p:spTgt spid="5"/>
                                        </p:tgtEl>
                                      </p:cBhvr>
                                    </p:animEffect>
                                  </p:childTnLst>
                                </p:cTn>
                              </p:par>
                              <p:par>
                                <p:cTn id="17" presetID="2" presetClass="entr" presetSubtype="4" fill="hold" grpId="0" nodeType="withEffect">
                                  <p:stCondLst>
                                    <p:cond delay="6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ppt_y+0.1"/>
                                          </p:val>
                                        </p:tav>
                                        <p:tav tm="100000">
                                          <p:val>
                                            <p:strVal val="#ppt_y"/>
                                          </p:val>
                                        </p:tav>
                                      </p:tavLst>
                                    </p:anim>
                                    <p:animEffect transition="in" filter="fade">
                                      <p:cBhvr>
                                        <p:cTn id="16" dur="500"/>
                                        <p:tgtEl>
                                          <p:spTgt spid="6"/>
                                        </p:tgtEl>
                                      </p:cBhvr>
                                    </p:animEffect>
                                  </p:childTnLst>
                                </p:cTn>
                              </p:par>
                              <p:par>
                                <p:cTn id="22" presetID="2" presetClass="entr" presetSubtype="4" fill="hold" grpId="0" nodeType="withEffect">
                                  <p:stCondLst>
                                    <p:cond delay="12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ppt_y+0.1"/>
                                          </p:val>
                                        </p:tav>
                                        <p:tav tm="100000">
                                          <p:val>
                                            <p:strVal val="#ppt_y"/>
                                          </p:val>
                                        </p:tav>
                                      </p:tavLst>
                                    </p:anim>
                                    <p:animEffect transition="in" filter="fade">
                                      <p:cBhvr>
                                        <p:cTn id="21" dur="500"/>
                                        <p:tgtEl>
                                          <p:spTgt spid="7"/>
                                        </p:tgtEl>
                                      </p:cBhvr>
                                    </p:animEffect>
                                  </p:childTnLst>
                                </p:cTn>
                              </p:par>
                              <p:par>
                                <p:cTn id="27" presetID="2" presetClass="entr" presetSubtype="4" fill="hold" grpId="0" nodeType="withEffect">
                                  <p:stCondLst>
                                    <p:cond delay="12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ppt_y+0.1"/>
                                          </p:val>
                                        </p:tav>
                                        <p:tav tm="100000">
                                          <p:val>
                                            <p:strVal val="#ppt_y"/>
                                          </p:val>
                                        </p:tav>
                                      </p:tavLst>
                                    </p:anim>
                                    <p:animEffect transition="in" filter="fade">
                                      <p:cBhvr>
                                        <p:cTn id="26" dur="500"/>
                                        <p:tgtEl>
                                          <p:spTgt spid="8"/>
                                        </p:tgtEl>
                                      </p:cBhvr>
                                    </p:animEffect>
                                  </p:childTnLst>
                                </p:cTn>
                              </p:par>
                              <p:par>
                                <p:cTn id="32" presetID="2" presetClass="entr" presetSubtype="4" fill="hold" grpId="0" nodeType="withEffect">
                                  <p:stCondLst>
                                    <p:cond delay="2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ppt_y+0.1"/>
                                          </p:val>
                                        </p:tav>
                                        <p:tav tm="100000">
                                          <p:val>
                                            <p:strVal val="#ppt_y"/>
                                          </p:val>
                                        </p:tav>
                                      </p:tavLst>
                                    </p:anim>
                                    <p:animEffect transition="in" filter="fade">
                                      <p:cBhvr>
                                        <p:cTn id="31" dur="500"/>
                                        <p:tgtEl>
                                          <p:spTgt spid="9"/>
                                        </p:tgtEl>
                                      </p:cBhvr>
                                    </p:animEffect>
                                  </p:childTnLst>
                                </p:cTn>
                              </p:par>
                              <p:par>
                                <p:cTn id="37" presetID="2" presetClass="entr" presetSubtype="4" fill="hold" grpId="0" nodeType="withEffect">
                                  <p:stCondLst>
                                    <p:cond delay="20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ppt_y+0.1"/>
                                          </p:val>
                                        </p:tav>
                                        <p:tav tm="100000">
                                          <p:val>
                                            <p:strVal val="#ppt_y"/>
                                          </p:val>
                                        </p:tav>
                                      </p:tavLst>
                                    </p:anim>
                                    <p:animEffect transition="in" filter="fade">
                                      <p:cBhvr>
                                        <p:cTn id="36" dur="500"/>
                                        <p:tgtEl>
                                          <p:spTgt spid="10"/>
                                        </p:tgtEl>
                                      </p:cBhvr>
                                    </p:animEffect>
                                  </p:childTnLst>
                                </p:cTn>
                              </p:par>
                              <p:par>
                                <p:cTn id="42" presetID="2" presetClass="entr" presetSubtype="4" fill="hold" grpId="0" nodeType="withEffect">
                                  <p:stCondLst>
                                    <p:cond delay="28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ppt_y+0.1"/>
                                          </p:val>
                                        </p:tav>
                                        <p:tav tm="100000">
                                          <p:val>
                                            <p:strVal val="#ppt_y"/>
                                          </p:val>
                                        </p:tav>
                                      </p:tavLst>
                                    </p:anim>
                                    <p:animEffect transition="in" filter="fade">
                                      <p:cBhvr>
                                        <p:cTn id="41" dur="500"/>
                                        <p:tgtEl>
                                          <p:spTgt spid="11"/>
                                        </p:tgtEl>
                                      </p:cBhvr>
                                    </p:animEffect>
                                  </p:childTnLst>
                                </p:cTn>
                              </p:par>
                              <p:par>
                                <p:cTn id="47" presetID="2" presetClass="entr" presetSubtype="4" fill="hold" grpId="0" nodeType="withEffect">
                                  <p:stCondLst>
                                    <p:cond delay="28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ppt_y+0.1"/>
                                          </p:val>
                                        </p:tav>
                                        <p:tav tm="100000">
                                          <p:val>
                                            <p:strVal val="#ppt_y"/>
                                          </p:val>
                                        </p:tav>
                                      </p:tavLst>
                                    </p:anim>
                                    <p:animEffect transition="in" filter="fade">
                                      <p:cBhvr>
                                        <p:cTn id="46" dur="500"/>
                                        <p:tgtEl>
                                          <p:spTgt spid="12"/>
                                        </p:tgtEl>
                                      </p:cBhvr>
                                    </p:animEffect>
                                  </p:childTnLst>
                                </p:cTn>
                              </p:par>
                              <p:par>
                                <p:cTn id="52" presetID="2" presetClass="entr" presetSubtype="4" fill="hold" grpId="0" nodeType="withEffect">
                                  <p:stCondLst>
                                    <p:cond delay="36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ppt_y+0.1"/>
                                          </p:val>
                                        </p:tav>
                                        <p:tav tm="100000">
                                          <p:val>
                                            <p:strVal val="#ppt_y"/>
                                          </p:val>
                                        </p:tav>
                                      </p:tavLst>
                                    </p:anim>
                                    <p:animEffect transition="in" filter="fade">
                                      <p:cBhvr>
                                        <p:cTn id="51" dur="500"/>
                                        <p:tgtEl>
                                          <p:spTgt spid="13"/>
                                        </p:tgtEl>
                                      </p:cBhvr>
                                    </p:animEffect>
                                  </p:childTnLst>
                                </p:cTn>
                              </p:par>
                              <p:par>
                                <p:cTn id="57" presetID="2" presetClass="entr" presetSubtype="4" fill="hold" grpId="0" nodeType="withEffect">
                                  <p:stCondLst>
                                    <p:cond delay="36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ppt_y+0.1"/>
                                          </p:val>
                                        </p:tav>
                                        <p:tav tm="100000">
                                          <p:val>
                                            <p:strVal val="#ppt_y"/>
                                          </p:val>
                                        </p:tav>
                                      </p:tavLst>
                                    </p:anim>
                                    <p:animEffect transition="in" filter="fade">
                                      <p:cBhvr>
                                        <p:cTn id="56" dur="500"/>
                                        <p:tgtEl>
                                          <p:spTgt spid="14"/>
                                        </p:tgtEl>
                                      </p:cBhvr>
                                    </p:animEffect>
                                  </p:childTnLst>
                                </p:cTn>
                              </p:par>
                              <p:par>
                                <p:cTn id="62" presetID="2" presetClass="entr" presetSubtype="4" fill="hold" grpId="0" nodeType="withEffect">
                                  <p:stCondLst>
                                    <p:cond delay="46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ppt_y+0.1"/>
                                          </p:val>
                                        </p:tav>
                                        <p:tav tm="100000">
                                          <p:val>
                                            <p:strVal val="#ppt_y"/>
                                          </p:val>
                                        </p:tav>
                                      </p:tavLst>
                                    </p:anim>
                                    <p:animEffect transition="in" filter="fade">
                                      <p:cBhvr>
                                        <p:cTn id="61"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9" presetID="2" presetClass="entr" presetSubtype="4" fill="hold" grpId="0" nodeType="click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ppt_y+0.1"/>
                                          </p:val>
                                        </p:tav>
                                        <p:tav tm="100000">
                                          <p:val>
                                            <p:strVal val="#ppt_y"/>
                                          </p:val>
                                        </p:tav>
                                      </p:tavLst>
                                    </p:anim>
                                    <p:animEffect transition="in" filter="fade">
                                      <p:cBhvr>
                                        <p:cTn id="68" dur="500"/>
                                        <p:tgtEl>
                                          <p:spTgt spid="16"/>
                                        </p:tgtEl>
                                      </p:cBhvr>
                                    </p:animEffect>
                                  </p:childTnLst>
                                </p:cTn>
                              </p:par>
                              <p:par>
                                <p:cTn id="74" presetID="2" presetClass="entr" presetSubtype="4"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p:tgtEl>
                                          <p:spTgt spid="17"/>
                                        </p:tgtEl>
                                        <p:attrNameLst>
                                          <p:attrName>ppt_y</p:attrName>
                                        </p:attrNameLst>
                                      </p:cBhvr>
                                      <p:tavLst>
                                        <p:tav tm="0">
                                          <p:val>
                                            <p:strVal val="#ppt_y+0.1"/>
                                          </p:val>
                                        </p:tav>
                                        <p:tav tm="100000">
                                          <p:val>
                                            <p:strVal val="#ppt_y"/>
                                          </p:val>
                                        </p:tav>
                                      </p:tavLst>
                                    </p:anim>
                                    <p:animEffect transition="in" filter="fade">
                                      <p:cBhvr>
                                        <p:cTn id="73" dur="500"/>
                                        <p:tgtEl>
                                          <p:spTgt spid="17"/>
                                        </p:tgtEl>
                                      </p:cBhvr>
                                    </p:animEffect>
                                  </p:childTnLst>
                                </p:cTn>
                              </p:par>
                              <p:par>
                                <p:cTn id="79" presetID="2" presetClass="entr" presetSubtype="4" fill="hold" grpId="0" nodeType="withEffect">
                                  <p:stCondLst>
                                    <p:cond delay="6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0.1"/>
                                          </p:val>
                                        </p:tav>
                                        <p:tav tm="100000">
                                          <p:val>
                                            <p:strVal val="#ppt_y"/>
                                          </p:val>
                                        </p:tav>
                                      </p:tavLst>
                                    </p:anim>
                                    <p:animEffect transition="in" filter="fade">
                                      <p:cBhvr>
                                        <p:cTn id="78" dur="500"/>
                                        <p:tgtEl>
                                          <p:spTgt spid="18"/>
                                        </p:tgtEl>
                                      </p:cBhvr>
                                    </p:animEffect>
                                  </p:childTnLst>
                                </p:cTn>
                              </p:par>
                              <p:par>
                                <p:cTn id="84" presetID="2" presetClass="entr" presetSubtype="4" fill="hold" grpId="0" nodeType="withEffect">
                                  <p:stCondLst>
                                    <p:cond delay="10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ppt_y+0.1"/>
                                          </p:val>
                                        </p:tav>
                                        <p:tav tm="100000">
                                          <p:val>
                                            <p:strVal val="#ppt_y"/>
                                          </p:val>
                                        </p:tav>
                                      </p:tavLst>
                                    </p:anim>
                                    <p:animEffect transition="in" filter="fade">
                                      <p:cBhvr>
                                        <p:cTn id="83" dur="500"/>
                                        <p:tgtEl>
                                          <p:spTgt spid="19"/>
                                        </p:tgtEl>
                                      </p:cBhvr>
                                    </p:animEffect>
                                  </p:childTnLst>
                                </p:cTn>
                              </p:par>
                              <p:par>
                                <p:cTn id="87" presetID="22" presetClass="entr" presetSubtype="8" fill="hold" grpId="0" nodeType="withEffect">
                                  <p:stCondLst>
                                    <p:cond delay="140"/>
                                  </p:stCondLst>
                                  <p:childTnLst>
                                    <p:set>
                                      <p:cBhvr>
                                        <p:cTn id="85" dur="1" fill="hold">
                                          <p:stCondLst>
                                            <p:cond delay="0"/>
                                          </p:stCondLst>
                                        </p:cTn>
                                        <p:tgtEl>
                                          <p:spTgt spid="20"/>
                                        </p:tgtEl>
                                        <p:attrNameLst>
                                          <p:attrName>style.visibility</p:attrName>
                                        </p:attrNameLst>
                                      </p:cBhvr>
                                      <p:to>
                                        <p:strVal val="visible"/>
                                      </p:to>
                                    </p:set>
                                    <p:animEffect transition="in" filter="wipe(left)">
                                      <p:cBhvr>
                                        <p:cTn id="86" dur="500"/>
                                        <p:tgtEl>
                                          <p:spTgt spid="20"/>
                                        </p:tgtEl>
                                      </p:cBhvr>
                                    </p:animEffect>
                                  </p:childTnLst>
                                </p:cTn>
                              </p:par>
                              <p:par>
                                <p:cTn id="90" presetID="22" presetClass="entr" presetSubtype="8" fill="hold" grpId="0" nodeType="withEffect">
                                  <p:stCondLst>
                                    <p:cond delay="230"/>
                                  </p:stCondLst>
                                  <p:childTnLst>
                                    <p:set>
                                      <p:cBhvr>
                                        <p:cTn id="88" dur="1" fill="hold">
                                          <p:stCondLst>
                                            <p:cond delay="0"/>
                                          </p:stCondLst>
                                        </p:cTn>
                                        <p:tgtEl>
                                          <p:spTgt spid="21"/>
                                        </p:tgtEl>
                                        <p:attrNameLst>
                                          <p:attrName>style.visibility</p:attrName>
                                        </p:attrNameLst>
                                      </p:cBhvr>
                                      <p:to>
                                        <p:strVal val="visible"/>
                                      </p:to>
                                    </p:set>
                                    <p:animEffect transition="in" filter="wipe(left)">
                                      <p:cBhvr>
                                        <p:cTn id="89" dur="500"/>
                                        <p:tgtEl>
                                          <p:spTgt spid="21"/>
                                        </p:tgtEl>
                                      </p:cBhvr>
                                    </p:animEffect>
                                  </p:childTnLst>
                                </p:cTn>
                              </p:par>
                              <p:par>
                                <p:cTn id="93" presetID="22" presetClass="entr" presetSubtype="8" fill="hold" grpId="0" nodeType="withEffect">
                                  <p:stCondLst>
                                    <p:cond delay="320"/>
                                  </p:stCondLst>
                                  <p:childTnLst>
                                    <p:set>
                                      <p:cBhvr>
                                        <p:cTn id="91" dur="1" fill="hold">
                                          <p:stCondLst>
                                            <p:cond delay="0"/>
                                          </p:stCondLst>
                                        </p:cTn>
                                        <p:tgtEl>
                                          <p:spTgt spid="22"/>
                                        </p:tgtEl>
                                        <p:attrNameLst>
                                          <p:attrName>style.visibility</p:attrName>
                                        </p:attrNameLst>
                                      </p:cBhvr>
                                      <p:to>
                                        <p:strVal val="visible"/>
                                      </p:to>
                                    </p:set>
                                    <p:animEffect transition="in" filter="wipe(left)">
                                      <p:cBhvr>
                                        <p:cTn id="92" dur="500"/>
                                        <p:tgtEl>
                                          <p:spTgt spid="22"/>
                                        </p:tgtEl>
                                      </p:cBhvr>
                                    </p:animEffect>
                                  </p:childTnLst>
                                </p:cTn>
                              </p:par>
                              <p:par>
                                <p:cTn id="98" presetID="2" presetClass="entr" presetSubtype="4" fill="hold" grpId="0" nodeType="withEffect">
                                  <p:stCondLst>
                                    <p:cond delay="440"/>
                                  </p:stCondLst>
                                  <p:childTnLst>
                                    <p:set>
                                      <p:cBhvr>
                                        <p:cTn id="94" dur="1" fill="hold">
                                          <p:stCondLst>
                                            <p:cond delay="0"/>
                                          </p:stCondLst>
                                        </p:cTn>
                                        <p:tgtEl>
                                          <p:spTgt spid="23"/>
                                        </p:tgtEl>
                                        <p:attrNameLst>
                                          <p:attrName>style.visibility</p:attrName>
                                        </p:attrNameLst>
                                      </p:cBhvr>
                                      <p:to>
                                        <p:strVal val="visible"/>
                                      </p:to>
                                    </p:set>
                                    <p:anim calcmode="lin" valueType="num">
                                      <p:cBhvr additive="base">
                                        <p:cTn id="95" dur="500" fill="hold"/>
                                        <p:tgtEl>
                                          <p:spTgt spid="23"/>
                                        </p:tgtEl>
                                        <p:attrNameLst>
                                          <p:attrName>ppt_x</p:attrName>
                                        </p:attrNameLst>
                                      </p:cBhvr>
                                      <p:tavLst>
                                        <p:tav tm="0">
                                          <p:val>
                                            <p:strVal val="#ppt_x"/>
                                          </p:val>
                                        </p:tav>
                                        <p:tav tm="100000">
                                          <p:val>
                                            <p:strVal val="#ppt_x"/>
                                          </p:val>
                                        </p:tav>
                                      </p:tavLst>
                                    </p:anim>
                                    <p:anim calcmode="lin" valueType="num">
                                      <p:cBhvr additive="base">
                                        <p:cTn id="96" dur="500" fill="hold"/>
                                        <p:tgtEl>
                                          <p:spTgt spid="23"/>
                                        </p:tgtEl>
                                        <p:attrNameLst>
                                          <p:attrName>ppt_y</p:attrName>
                                        </p:attrNameLst>
                                      </p:cBhvr>
                                      <p:tavLst>
                                        <p:tav tm="0">
                                          <p:val>
                                            <p:strVal val="#ppt_y+0.1"/>
                                          </p:val>
                                        </p:tav>
                                        <p:tav tm="100000">
                                          <p:val>
                                            <p:strVal val="#ppt_y"/>
                                          </p:val>
                                        </p:tav>
                                      </p:tavLst>
                                    </p:anim>
                                    <p:animEffect transition="in" filter="fade">
                                      <p:cBhvr>
                                        <p:cTn id="97" dur="500"/>
                                        <p:tgtEl>
                                          <p:spTgt spid="23"/>
                                        </p:tgtEl>
                                      </p:cBhvr>
                                    </p:animEffect>
                                  </p:childTnLst>
                                </p:cTn>
                              </p:par>
                            </p:childTnLst>
                          </p:cTn>
                        </p:par>
                      </p:childTnLst>
                    </p:cTn>
                  </p:par>
                  <p:par>
                    <p:cTn id="99" fill="hold">
                      <p:stCondLst>
                        <p:cond delay="indefinite"/>
                      </p:stCondLst>
                      <p:childTnLst>
                        <p:par>
                          <p:cTn id="100" fill="hold">
                            <p:stCondLst>
                              <p:cond delay="0"/>
                            </p:stCondLst>
                            <p:childTnLst>
                              <p:par>
                                <p:cTn id="105" presetID="2" presetClass="entr" presetSubtype="4" fill="hold" grpId="0" nodeType="click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additive="base">
                                        <p:cTn id="102" dur="500" fill="hold"/>
                                        <p:tgtEl>
                                          <p:spTgt spid="24"/>
                                        </p:tgtEl>
                                        <p:attrNameLst>
                                          <p:attrName>ppt_x</p:attrName>
                                        </p:attrNameLst>
                                      </p:cBhvr>
                                      <p:tavLst>
                                        <p:tav tm="0">
                                          <p:val>
                                            <p:strVal val="#ppt_x"/>
                                          </p:val>
                                        </p:tav>
                                        <p:tav tm="100000">
                                          <p:val>
                                            <p:strVal val="#ppt_x"/>
                                          </p:val>
                                        </p:tav>
                                      </p:tavLst>
                                    </p:anim>
                                    <p:anim calcmode="lin" valueType="num">
                                      <p:cBhvr additive="base">
                                        <p:cTn id="103" dur="500" fill="hold"/>
                                        <p:tgtEl>
                                          <p:spTgt spid="24"/>
                                        </p:tgtEl>
                                        <p:attrNameLst>
                                          <p:attrName>ppt_y</p:attrName>
                                        </p:attrNameLst>
                                      </p:cBhvr>
                                      <p:tavLst>
                                        <p:tav tm="0">
                                          <p:val>
                                            <p:strVal val="#ppt_y+0.1"/>
                                          </p:val>
                                        </p:tav>
                                        <p:tav tm="100000">
                                          <p:val>
                                            <p:strVal val="#ppt_y"/>
                                          </p:val>
                                        </p:tav>
                                      </p:tavLst>
                                    </p:anim>
                                    <p:animEffect transition="in" filter="fade">
                                      <p:cBhvr>
                                        <p:cTn id="104" dur="500"/>
                                        <p:tgtEl>
                                          <p:spTgt spid="24"/>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additive="base">
                                        <p:cTn id="107" dur="500" fill="hold"/>
                                        <p:tgtEl>
                                          <p:spTgt spid="25"/>
                                        </p:tgtEl>
                                        <p:attrNameLst>
                                          <p:attrName>ppt_x</p:attrName>
                                        </p:attrNameLst>
                                      </p:cBhvr>
                                      <p:tavLst>
                                        <p:tav tm="0">
                                          <p:val>
                                            <p:strVal val="#ppt_x"/>
                                          </p:val>
                                        </p:tav>
                                        <p:tav tm="100000">
                                          <p:val>
                                            <p:strVal val="#ppt_x"/>
                                          </p:val>
                                        </p:tav>
                                      </p:tavLst>
                                    </p:anim>
                                    <p:anim calcmode="lin" valueType="num">
                                      <p:cBhvr additive="base">
                                        <p:cTn id="108" dur="500" fill="hold"/>
                                        <p:tgtEl>
                                          <p:spTgt spid="25"/>
                                        </p:tgtEl>
                                        <p:attrNameLst>
                                          <p:attrName>ppt_y</p:attrName>
                                        </p:attrNameLst>
                                      </p:cBhvr>
                                      <p:tavLst>
                                        <p:tav tm="0">
                                          <p:val>
                                            <p:strVal val="#ppt_y+0.1"/>
                                          </p:val>
                                        </p:tav>
                                        <p:tav tm="100000">
                                          <p:val>
                                            <p:strVal val="#ppt_y"/>
                                          </p:val>
                                        </p:tav>
                                      </p:tavLst>
                                    </p:anim>
                                    <p:animEffect transition="in" filter="fade">
                                      <p:cBhvr>
                                        <p:cTn id="109" dur="500"/>
                                        <p:tgtEl>
                                          <p:spTgt spid="25"/>
                                        </p:tgtEl>
                                      </p:cBhvr>
                                    </p:animEffect>
                                  </p:childTnLst>
                                </p:cTn>
                              </p:par>
                              <p:par>
                                <p:cTn id="115" presetID="2" presetClass="entr" presetSubtype="4" fill="hold" grpId="0" nodeType="withEffect">
                                  <p:stCondLst>
                                    <p:cond delay="0"/>
                                  </p:stCondLst>
                                  <p:childTnLst>
                                    <p:set>
                                      <p:cBhvr>
                                        <p:cTn id="111" dur="1" fill="hold">
                                          <p:stCondLst>
                                            <p:cond delay="0"/>
                                          </p:stCondLst>
                                        </p:cTn>
                                        <p:tgtEl>
                                          <p:spTgt spid="26"/>
                                        </p:tgtEl>
                                        <p:attrNameLst>
                                          <p:attrName>style.visibility</p:attrName>
                                        </p:attrNameLst>
                                      </p:cBhvr>
                                      <p:to>
                                        <p:strVal val="visible"/>
                                      </p:to>
                                    </p:set>
                                    <p:anim calcmode="lin" valueType="num">
                                      <p:cBhvr additive="base">
                                        <p:cTn id="112" dur="500" fill="hold"/>
                                        <p:tgtEl>
                                          <p:spTgt spid="26"/>
                                        </p:tgtEl>
                                        <p:attrNameLst>
                                          <p:attrName>ppt_x</p:attrName>
                                        </p:attrNameLst>
                                      </p:cBhvr>
                                      <p:tavLst>
                                        <p:tav tm="0">
                                          <p:val>
                                            <p:strVal val="#ppt_x"/>
                                          </p:val>
                                        </p:tav>
                                        <p:tav tm="100000">
                                          <p:val>
                                            <p:strVal val="#ppt_x"/>
                                          </p:val>
                                        </p:tav>
                                      </p:tavLst>
                                    </p:anim>
                                    <p:anim calcmode="lin" valueType="num">
                                      <p:cBhvr additive="base">
                                        <p:cTn id="113" dur="500" fill="hold"/>
                                        <p:tgtEl>
                                          <p:spTgt spid="26"/>
                                        </p:tgtEl>
                                        <p:attrNameLst>
                                          <p:attrName>ppt_y</p:attrName>
                                        </p:attrNameLst>
                                      </p:cBhvr>
                                      <p:tavLst>
                                        <p:tav tm="0">
                                          <p:val>
                                            <p:strVal val="#ppt_y+0.1"/>
                                          </p:val>
                                        </p:tav>
                                        <p:tav tm="100000">
                                          <p:val>
                                            <p:strVal val="#ppt_y"/>
                                          </p:val>
                                        </p:tav>
                                      </p:tavLst>
                                    </p:anim>
                                    <p:animEffect transition="in" filter="fade">
                                      <p:cBhvr>
                                        <p:cTn id="11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"Schemaless" Does Not Mean "No Schema"</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It means the schema moved out of the database and into your application code</a:t>
            </a:r>
          </a:p>
        </p:txBody>
      </p:sp>
      <p:sp>
        <p:nvSpPr>
          <p:cNvPr id="4" name="a1u_card3"/>
          <p:cNvSpPr/>
          <p:nvPr/>
        </p:nvSpPr>
        <p:spPr>
          <a:xfrm>
            <a:off x="457200" y="1170432"/>
            <a:ext cx="3931920" cy="2011680"/>
          </a:xfrm>
          <a:prstGeom prst="roundRect">
            <a:avLst>
              <a:gd name="adj" fmla="val 454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58368" y="1289304"/>
            <a:ext cx="3529584" cy="237744"/>
          </a:xfrm>
          <a:prstGeom prst="rect">
            <a:avLst/>
          </a:prstGeom>
          <a:noFill/>
        </p:spPr>
        <p:txBody>
          <a:bodyPr wrap="square" lIns="0" tIns="0" rIns="0" bIns="0" anchor="ctr">
            <a:spAutoFit/>
          </a:bodyPr>
          <a:lstStyle/>
          <a:p>
            <a:pPr algn="l"/>
            <a:r>
              <a:rPr sz="950" b="1">
                <a:solidFill>
                  <a:srgbClr val="0F766E"/>
                </a:solidFill>
                <a:latin typeface="Calibri"/>
              </a:rPr>
              <a:t>WHAT YOU GAIN</a:t>
            </a:r>
          </a:p>
        </p:txBody>
      </p:sp>
      <p:sp>
        <p:nvSpPr>
          <p:cNvPr id="6" name="a1ud60_dot5"/>
          <p:cNvSpPr/>
          <p:nvPr/>
        </p:nvSpPr>
        <p:spPr>
          <a:xfrm>
            <a:off x="658368" y="1682496"/>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60_b6"/>
          <p:cNvSpPr txBox="1"/>
          <p:nvPr/>
        </p:nvSpPr>
        <p:spPr>
          <a:xfrm>
            <a:off x="877824" y="1581912"/>
            <a:ext cx="3310128" cy="329184"/>
          </a:xfrm>
          <a:prstGeom prst="rect">
            <a:avLst/>
          </a:prstGeom>
          <a:noFill/>
        </p:spPr>
        <p:txBody>
          <a:bodyPr wrap="square" lIns="0" tIns="0" rIns="0" bIns="0" anchor="t">
            <a:spAutoFit/>
          </a:bodyPr>
          <a:lstStyle/>
          <a:p>
            <a:pPr algn="l"/>
            <a:r>
              <a:rPr sz="1050" b="1">
                <a:solidFill>
                  <a:srgbClr val="0F172A"/>
                </a:solidFill>
                <a:latin typeface="Calibri"/>
              </a:rPr>
              <a:t>Add fields freely  </a:t>
            </a:r>
            <a:r>
              <a:rPr sz="1050" b="0">
                <a:solidFill>
                  <a:srgbClr val="334155"/>
                </a:solidFill>
                <a:latin typeface="Calibri"/>
              </a:rPr>
              <a:t>no ALTER TABLE on a billion rows</a:t>
            </a:r>
          </a:p>
        </p:txBody>
      </p:sp>
      <p:sp>
        <p:nvSpPr>
          <p:cNvPr id="8" name="a1ud170_dot7"/>
          <p:cNvSpPr/>
          <p:nvPr/>
        </p:nvSpPr>
        <p:spPr>
          <a:xfrm>
            <a:off x="658368" y="2048255"/>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ud170_b8"/>
          <p:cNvSpPr txBox="1"/>
          <p:nvPr/>
        </p:nvSpPr>
        <p:spPr>
          <a:xfrm>
            <a:off x="877824" y="1947672"/>
            <a:ext cx="3310128" cy="329184"/>
          </a:xfrm>
          <a:prstGeom prst="rect">
            <a:avLst/>
          </a:prstGeom>
          <a:noFill/>
        </p:spPr>
        <p:txBody>
          <a:bodyPr wrap="square" lIns="0" tIns="0" rIns="0" bIns="0" anchor="t">
            <a:spAutoFit/>
          </a:bodyPr>
          <a:lstStyle/>
          <a:p>
            <a:pPr algn="l"/>
            <a:r>
              <a:rPr sz="1050" b="1">
                <a:solidFill>
                  <a:srgbClr val="0F172A"/>
                </a:solidFill>
                <a:latin typeface="Calibri"/>
              </a:rPr>
              <a:t>Heterogeneous records  </a:t>
            </a:r>
            <a:r>
              <a:rPr sz="1050" b="0">
                <a:solidFill>
                  <a:srgbClr val="334155"/>
                </a:solidFill>
                <a:latin typeface="Calibri"/>
              </a:rPr>
              <a:t>different shapes in one collection</a:t>
            </a:r>
          </a:p>
        </p:txBody>
      </p:sp>
      <p:sp>
        <p:nvSpPr>
          <p:cNvPr id="10" name="a1ud280_dot9"/>
          <p:cNvSpPr/>
          <p:nvPr/>
        </p:nvSpPr>
        <p:spPr>
          <a:xfrm>
            <a:off x="658368" y="2414015"/>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280_b10"/>
          <p:cNvSpPr txBox="1"/>
          <p:nvPr/>
        </p:nvSpPr>
        <p:spPr>
          <a:xfrm>
            <a:off x="877824" y="2313432"/>
            <a:ext cx="3310128" cy="329184"/>
          </a:xfrm>
          <a:prstGeom prst="rect">
            <a:avLst/>
          </a:prstGeom>
          <a:noFill/>
        </p:spPr>
        <p:txBody>
          <a:bodyPr wrap="square" lIns="0" tIns="0" rIns="0" bIns="0" anchor="t">
            <a:spAutoFit/>
          </a:bodyPr>
          <a:lstStyle/>
          <a:p>
            <a:pPr algn="l"/>
            <a:r>
              <a:rPr sz="1050" b="1">
                <a:solidFill>
                  <a:srgbClr val="0F172A"/>
                </a:solidFill>
                <a:latin typeface="Calibri"/>
              </a:rPr>
              <a:t>Fast prototyping  </a:t>
            </a:r>
            <a:r>
              <a:rPr sz="1050" b="0">
                <a:solidFill>
                  <a:srgbClr val="334155"/>
                </a:solidFill>
                <a:latin typeface="Calibri"/>
              </a:rPr>
              <a:t>the model moves at sprint speed</a:t>
            </a:r>
          </a:p>
        </p:txBody>
      </p:sp>
      <p:sp>
        <p:nvSpPr>
          <p:cNvPr id="12" name="a1ud390_dot11"/>
          <p:cNvSpPr/>
          <p:nvPr/>
        </p:nvSpPr>
        <p:spPr>
          <a:xfrm>
            <a:off x="658368" y="2779775"/>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390_b12"/>
          <p:cNvSpPr txBox="1"/>
          <p:nvPr/>
        </p:nvSpPr>
        <p:spPr>
          <a:xfrm>
            <a:off x="877824" y="2679191"/>
            <a:ext cx="3310128" cy="329184"/>
          </a:xfrm>
          <a:prstGeom prst="rect">
            <a:avLst/>
          </a:prstGeom>
          <a:noFill/>
        </p:spPr>
        <p:txBody>
          <a:bodyPr wrap="square" lIns="0" tIns="0" rIns="0" bIns="0" anchor="t">
            <a:spAutoFit/>
          </a:bodyPr>
          <a:lstStyle/>
          <a:p>
            <a:pPr algn="l"/>
            <a:r>
              <a:rPr sz="1050" b="1">
                <a:solidFill>
                  <a:srgbClr val="0F172A"/>
                </a:solidFill>
                <a:latin typeface="Calibri"/>
              </a:rPr>
              <a:t>Natural for varied data  </a:t>
            </a:r>
            <a:r>
              <a:rPr sz="1050" b="0">
                <a:solidFill>
                  <a:srgbClr val="334155"/>
                </a:solidFill>
                <a:latin typeface="Calibri"/>
              </a:rPr>
              <a:t>partner feeds, event payloads</a:t>
            </a:r>
          </a:p>
        </p:txBody>
      </p:sp>
      <p:sp>
        <p:nvSpPr>
          <p:cNvPr id="14" name="a2u_card13"/>
          <p:cNvSpPr/>
          <p:nvPr/>
        </p:nvSpPr>
        <p:spPr>
          <a:xfrm>
            <a:off x="4754880" y="1170432"/>
            <a:ext cx="3931920" cy="2011680"/>
          </a:xfrm>
          <a:prstGeom prst="roundRect">
            <a:avLst>
              <a:gd name="adj" fmla="val 454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hh14"/>
          <p:cNvSpPr txBox="1"/>
          <p:nvPr/>
        </p:nvSpPr>
        <p:spPr>
          <a:xfrm>
            <a:off x="4956048" y="1289304"/>
            <a:ext cx="3529584" cy="237744"/>
          </a:xfrm>
          <a:prstGeom prst="rect">
            <a:avLst/>
          </a:prstGeom>
          <a:noFill/>
        </p:spPr>
        <p:txBody>
          <a:bodyPr wrap="square" lIns="0" tIns="0" rIns="0" bIns="0" anchor="ctr">
            <a:spAutoFit/>
          </a:bodyPr>
          <a:lstStyle/>
          <a:p>
            <a:pPr algn="l"/>
            <a:r>
              <a:rPr sz="950" b="1">
                <a:solidFill>
                  <a:srgbClr val="DC382C"/>
                </a:solidFill>
                <a:latin typeface="Calibri"/>
              </a:rPr>
              <a:t>WHAT YOU OWE</a:t>
            </a:r>
          </a:p>
        </p:txBody>
      </p:sp>
      <p:sp>
        <p:nvSpPr>
          <p:cNvPr id="16" name="a2ud60_dot15"/>
          <p:cNvSpPr/>
          <p:nvPr/>
        </p:nvSpPr>
        <p:spPr>
          <a:xfrm>
            <a:off x="4956048" y="1682496"/>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d60_b16"/>
          <p:cNvSpPr txBox="1"/>
          <p:nvPr/>
        </p:nvSpPr>
        <p:spPr>
          <a:xfrm>
            <a:off x="5175504" y="1581912"/>
            <a:ext cx="3310128" cy="329184"/>
          </a:xfrm>
          <a:prstGeom prst="rect">
            <a:avLst/>
          </a:prstGeom>
          <a:noFill/>
        </p:spPr>
        <p:txBody>
          <a:bodyPr wrap="square" lIns="0" tIns="0" rIns="0" bIns="0" anchor="t">
            <a:spAutoFit/>
          </a:bodyPr>
          <a:lstStyle/>
          <a:p>
            <a:pPr algn="l"/>
            <a:r>
              <a:rPr sz="1050" b="1">
                <a:solidFill>
                  <a:srgbClr val="0F172A"/>
                </a:solidFill>
                <a:latin typeface="Calibri"/>
              </a:rPr>
              <a:t>Implicit schema  </a:t>
            </a:r>
            <a:r>
              <a:rPr sz="1050" b="0">
                <a:solidFill>
                  <a:srgbClr val="334155"/>
                </a:solidFill>
                <a:latin typeface="Calibri"/>
              </a:rPr>
              <a:t>the shape still exists - in your code</a:t>
            </a:r>
          </a:p>
        </p:txBody>
      </p:sp>
      <p:sp>
        <p:nvSpPr>
          <p:cNvPr id="18" name="a2ud170_dot17"/>
          <p:cNvSpPr/>
          <p:nvPr/>
        </p:nvSpPr>
        <p:spPr>
          <a:xfrm>
            <a:off x="4956048" y="2048255"/>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170_b18"/>
          <p:cNvSpPr txBox="1"/>
          <p:nvPr/>
        </p:nvSpPr>
        <p:spPr>
          <a:xfrm>
            <a:off x="5175504" y="1947672"/>
            <a:ext cx="3310128" cy="329184"/>
          </a:xfrm>
          <a:prstGeom prst="rect">
            <a:avLst/>
          </a:prstGeom>
          <a:noFill/>
        </p:spPr>
        <p:txBody>
          <a:bodyPr wrap="square" lIns="0" tIns="0" rIns="0" bIns="0" anchor="t">
            <a:spAutoFit/>
          </a:bodyPr>
          <a:lstStyle/>
          <a:p>
            <a:pPr algn="l"/>
            <a:r>
              <a:rPr sz="1050" b="1">
                <a:solidFill>
                  <a:srgbClr val="0F172A"/>
                </a:solidFill>
                <a:latin typeface="Calibri"/>
              </a:rPr>
              <a:t>Validation is yours  </a:t>
            </a:r>
            <a:r>
              <a:rPr sz="1050" b="0">
                <a:solidFill>
                  <a:srgbClr val="334155"/>
                </a:solidFill>
                <a:latin typeface="Calibri"/>
              </a:rPr>
              <a:t>the engine will store nonsense happily</a:t>
            </a:r>
          </a:p>
        </p:txBody>
      </p:sp>
      <p:sp>
        <p:nvSpPr>
          <p:cNvPr id="20" name="a2ud280_dot19"/>
          <p:cNvSpPr/>
          <p:nvPr/>
        </p:nvSpPr>
        <p:spPr>
          <a:xfrm>
            <a:off x="4956048" y="2414015"/>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280_b20"/>
          <p:cNvSpPr txBox="1"/>
          <p:nvPr/>
        </p:nvSpPr>
        <p:spPr>
          <a:xfrm>
            <a:off x="5175504" y="2313432"/>
            <a:ext cx="3310128" cy="329184"/>
          </a:xfrm>
          <a:prstGeom prst="rect">
            <a:avLst/>
          </a:prstGeom>
          <a:noFill/>
        </p:spPr>
        <p:txBody>
          <a:bodyPr wrap="square" lIns="0" tIns="0" rIns="0" bIns="0" anchor="t">
            <a:spAutoFit/>
          </a:bodyPr>
          <a:lstStyle/>
          <a:p>
            <a:pPr algn="l"/>
            <a:r>
              <a:rPr sz="1050" b="1">
                <a:solidFill>
                  <a:srgbClr val="0F172A"/>
                </a:solidFill>
                <a:latin typeface="Calibri"/>
              </a:rPr>
              <a:t>Migrations are yours  </a:t>
            </a:r>
            <a:r>
              <a:rPr sz="1050" b="0">
                <a:solidFill>
                  <a:srgbClr val="334155"/>
                </a:solidFill>
                <a:latin typeface="Calibri"/>
              </a:rPr>
              <a:t>old and new shapes coexist forever</a:t>
            </a:r>
          </a:p>
        </p:txBody>
      </p:sp>
      <p:sp>
        <p:nvSpPr>
          <p:cNvPr id="22" name="a2ud390_dot21"/>
          <p:cNvSpPr/>
          <p:nvPr/>
        </p:nvSpPr>
        <p:spPr>
          <a:xfrm>
            <a:off x="4956048" y="2779775"/>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390_b22"/>
          <p:cNvSpPr txBox="1"/>
          <p:nvPr/>
        </p:nvSpPr>
        <p:spPr>
          <a:xfrm>
            <a:off x="5175504" y="2679191"/>
            <a:ext cx="3310128" cy="329184"/>
          </a:xfrm>
          <a:prstGeom prst="rect">
            <a:avLst/>
          </a:prstGeom>
          <a:noFill/>
        </p:spPr>
        <p:txBody>
          <a:bodyPr wrap="square" lIns="0" tIns="0" rIns="0" bIns="0" anchor="t">
            <a:spAutoFit/>
          </a:bodyPr>
          <a:lstStyle/>
          <a:p>
            <a:pPr algn="l"/>
            <a:r>
              <a:rPr sz="1050" b="1">
                <a:solidFill>
                  <a:srgbClr val="0F172A"/>
                </a:solidFill>
                <a:latin typeface="Calibri"/>
              </a:rPr>
              <a:t>Readers must be defensive  </a:t>
            </a:r>
            <a:r>
              <a:rPr sz="1050" b="0">
                <a:solidFill>
                  <a:srgbClr val="334155"/>
                </a:solidFill>
                <a:latin typeface="Calibri"/>
              </a:rPr>
              <a:t>every field is optional until proven</a:t>
            </a:r>
          </a:p>
        </p:txBody>
      </p:sp>
      <p:sp>
        <p:nvSpPr>
          <p:cNvPr id="24" name="a3f_codebg23"/>
          <p:cNvSpPr/>
          <p:nvPr/>
        </p:nvSpPr>
        <p:spPr>
          <a:xfrm>
            <a:off x="457200" y="3319272"/>
            <a:ext cx="8229600" cy="1078992"/>
          </a:xfrm>
          <a:prstGeom prst="roundRect">
            <a:avLst>
              <a:gd name="adj" fmla="val 677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w_code24"/>
          <p:cNvSpPr txBox="1"/>
          <p:nvPr/>
        </p:nvSpPr>
        <p:spPr>
          <a:xfrm>
            <a:off x="585216" y="3447288"/>
            <a:ext cx="7973568" cy="205740"/>
          </a:xfrm>
          <a:prstGeom prst="rect">
            <a:avLst/>
          </a:prstGeom>
          <a:noFill/>
        </p:spPr>
        <p:txBody>
          <a:bodyPr wrap="none" lIns="0" tIns="0" rIns="0" bIns="0" anchor="ctr">
            <a:spAutoFit/>
          </a:bodyPr>
          <a:lstStyle/>
          <a:p>
            <a:pPr algn="l"/>
            <a:r>
              <a:rPr sz="1050" b="0">
                <a:solidFill>
                  <a:srgbClr val="64748B"/>
                </a:solidFill>
                <a:latin typeface="Courier New"/>
              </a:rPr>
              <a:t># same collection, three shapes, all legal</a:t>
            </a:r>
          </a:p>
        </p:txBody>
      </p:sp>
      <p:sp>
        <p:nvSpPr>
          <p:cNvPr id="26" name="a3wd140_code25"/>
          <p:cNvSpPr txBox="1"/>
          <p:nvPr/>
        </p:nvSpPr>
        <p:spPr>
          <a:xfrm>
            <a:off x="585216" y="3653028"/>
            <a:ext cx="7973568" cy="205740"/>
          </a:xfrm>
          <a:prstGeom prst="rect">
            <a:avLst/>
          </a:prstGeom>
          <a:noFill/>
        </p:spPr>
        <p:txBody>
          <a:bodyPr wrap="none" lIns="0" tIns="0" rIns="0" bIns="0" anchor="ctr">
            <a:spAutoFit/>
          </a:bodyPr>
          <a:lstStyle/>
          <a:p>
            <a:pPr algn="l"/>
            <a:r>
              <a:rPr sz="1050" b="0">
                <a:solidFill>
                  <a:srgbClr val="E2E8F0"/>
                </a:solidFill>
                <a:latin typeface="Courier New"/>
              </a:rPr>
              <a:t>{ "id": 1, "name": "A. Sharma", "tier": "gold" }</a:t>
            </a:r>
          </a:p>
        </p:txBody>
      </p:sp>
      <p:sp>
        <p:nvSpPr>
          <p:cNvPr id="27" name="a3wd280_code26"/>
          <p:cNvSpPr txBox="1"/>
          <p:nvPr/>
        </p:nvSpPr>
        <p:spPr>
          <a:xfrm>
            <a:off x="585216" y="3858768"/>
            <a:ext cx="7973568" cy="205740"/>
          </a:xfrm>
          <a:prstGeom prst="rect">
            <a:avLst/>
          </a:prstGeom>
          <a:noFill/>
        </p:spPr>
        <p:txBody>
          <a:bodyPr wrap="none" lIns="0" tIns="0" rIns="0" bIns="0" anchor="ctr">
            <a:spAutoFit/>
          </a:bodyPr>
          <a:lstStyle/>
          <a:p>
            <a:pPr algn="l"/>
            <a:r>
              <a:rPr sz="1050" b="0">
                <a:solidFill>
                  <a:srgbClr val="E2E8F0"/>
                </a:solidFill>
                <a:latin typeface="Courier New"/>
              </a:rPr>
              <a:t>{ "id": 2, "name": "R. Iyer" }                      # no tier</a:t>
            </a:r>
          </a:p>
        </p:txBody>
      </p:sp>
      <p:sp>
        <p:nvSpPr>
          <p:cNvPr id="28" name="a3wd420_code27"/>
          <p:cNvSpPr txBox="1"/>
          <p:nvPr/>
        </p:nvSpPr>
        <p:spPr>
          <a:xfrm>
            <a:off x="585216" y="4064508"/>
            <a:ext cx="7973568" cy="205740"/>
          </a:xfrm>
          <a:prstGeom prst="rect">
            <a:avLst/>
          </a:prstGeom>
          <a:noFill/>
        </p:spPr>
        <p:txBody>
          <a:bodyPr wrap="none" lIns="0" tIns="0" rIns="0" bIns="0" anchor="ctr">
            <a:spAutoFit/>
          </a:bodyPr>
          <a:lstStyle/>
          <a:p>
            <a:pPr algn="l"/>
            <a:r>
              <a:rPr sz="1050" b="0">
                <a:solidFill>
                  <a:srgbClr val="E2E8F0"/>
                </a:solidFill>
                <a:latin typeface="Courier New"/>
              </a:rPr>
              <a:t>{ "id": 3, "fullName": "K. Nair", "tier": 2 }       # renamed field, and now a number</a:t>
            </a:r>
          </a:p>
        </p:txBody>
      </p:sp>
      <p:sp>
        <p:nvSpPr>
          <p:cNvPr id="29" name="ft2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0" name="ft2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17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7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28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8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39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par>
                                <p:cTn id="54" presetID="2" presetClass="entr" presetSubtype="4" fill="hold" grpId="0" nodeType="withEffect">
                                  <p:stCondLst>
                                    <p:cond delay="39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0.1"/>
                                          </p:val>
                                        </p:tav>
                                        <p:tav tm="100000">
                                          <p:val>
                                            <p:strVal val="#ppt_y"/>
                                          </p:val>
                                        </p:tav>
                                      </p:tavLst>
                                    </p:anim>
                                    <p:animEffect transition="in" filter="fade">
                                      <p:cBhvr>
                                        <p:cTn id="53"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61" presetID="2" presetClass="entr" presetSubtype="4"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6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6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7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17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28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28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par>
                                <p:cTn id="101" presetID="2" presetClass="entr" presetSubtype="4" fill="hold" grpId="0" nodeType="withEffect">
                                  <p:stCondLst>
                                    <p:cond delay="39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1"/>
                                          </p:val>
                                        </p:tav>
                                        <p:tav tm="100000">
                                          <p:val>
                                            <p:strVal val="#ppt_y"/>
                                          </p:val>
                                        </p:tav>
                                      </p:tavLst>
                                    </p:anim>
                                    <p:animEffect transition="in" filter="fade">
                                      <p:cBhvr>
                                        <p:cTn id="100" dur="500"/>
                                        <p:tgtEl>
                                          <p:spTgt spid="22"/>
                                        </p:tgtEl>
                                      </p:cBhvr>
                                    </p:animEffect>
                                  </p:childTnLst>
                                </p:cTn>
                              </p:par>
                              <p:par>
                                <p:cTn id="106" presetID="2" presetClass="entr" presetSubtype="4" fill="hold" grpId="0" nodeType="withEffect">
                                  <p:stCondLst>
                                    <p:cond delay="39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ppt_x</p:attrName>
                                        </p:attrNameLst>
                                      </p:cBhvr>
                                      <p:tavLst>
                                        <p:tav tm="0">
                                          <p:val>
                                            <p:strVal val="#ppt_x"/>
                                          </p:val>
                                        </p:tav>
                                        <p:tav tm="100000">
                                          <p:val>
                                            <p:strVal val="#ppt_x"/>
                                          </p:val>
                                        </p:tav>
                                      </p:tavLst>
                                    </p:anim>
                                    <p:anim calcmode="lin" valueType="num">
                                      <p:cBhvr additive="base">
                                        <p:cTn id="104" dur="500" fill="hold"/>
                                        <p:tgtEl>
                                          <p:spTgt spid="23"/>
                                        </p:tgtEl>
                                        <p:attrNameLst>
                                          <p:attrName>ppt_y</p:attrName>
                                        </p:attrNameLst>
                                      </p:cBhvr>
                                      <p:tavLst>
                                        <p:tav tm="0">
                                          <p:val>
                                            <p:strVal val="#ppt_y+0.1"/>
                                          </p:val>
                                        </p:tav>
                                        <p:tav tm="100000">
                                          <p:val>
                                            <p:strVal val="#ppt_y"/>
                                          </p:val>
                                        </p:tav>
                                      </p:tavLst>
                                    </p:anim>
                                    <p:animEffect transition="in" filter="fade">
                                      <p:cBhvr>
                                        <p:cTn id="105" dur="500"/>
                                        <p:tgtEl>
                                          <p:spTgt spid="23"/>
                                        </p:tgtEl>
                                      </p:cBhvr>
                                    </p:animEffect>
                                  </p:childTnLst>
                                </p:cTn>
                              </p:par>
                            </p:childTnLst>
                          </p:cTn>
                        </p:par>
                      </p:childTnLst>
                    </p:cTn>
                  </p:par>
                  <p:par>
                    <p:cTn id="107" fill="hold">
                      <p:stCondLst>
                        <p:cond delay="indefinite"/>
                      </p:stCondLst>
                      <p:childTnLst>
                        <p:par>
                          <p:cTn id="108" fill="hold">
                            <p:stCondLst>
                              <p:cond delay="0"/>
                            </p:stCondLst>
                            <p:childTnLst>
                              <p:par>
                                <p:cTn id="111" presetID="10" presetClass="entr" presetSubtype="0"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childTnLst>
                                </p:cTn>
                              </p:par>
                              <p:par>
                                <p:cTn id="114" presetID="22" presetClass="entr" presetSubtype="8" fill="hold" grpId="0" nodeType="withEffect">
                                  <p:stCondLst>
                                    <p:cond delay="0"/>
                                  </p:stCondLst>
                                  <p:childTnLst>
                                    <p:set>
                                      <p:cBhvr>
                                        <p:cTn id="112" dur="1" fill="hold">
                                          <p:stCondLst>
                                            <p:cond delay="0"/>
                                          </p:stCondLst>
                                        </p:cTn>
                                        <p:tgtEl>
                                          <p:spTgt spid="25"/>
                                        </p:tgtEl>
                                        <p:attrNameLst>
                                          <p:attrName>style.visibility</p:attrName>
                                        </p:attrNameLst>
                                      </p:cBhvr>
                                      <p:to>
                                        <p:strVal val="visible"/>
                                      </p:to>
                                    </p:set>
                                    <p:animEffect transition="in" filter="wipe(left)">
                                      <p:cBhvr>
                                        <p:cTn id="113" dur="500"/>
                                        <p:tgtEl>
                                          <p:spTgt spid="25"/>
                                        </p:tgtEl>
                                      </p:cBhvr>
                                    </p:animEffect>
                                  </p:childTnLst>
                                </p:cTn>
                              </p:par>
                              <p:par>
                                <p:cTn id="117" presetID="22" presetClass="entr" presetSubtype="8" fill="hold" grpId="0" nodeType="withEffect">
                                  <p:stCondLst>
                                    <p:cond delay="140"/>
                                  </p:stCondLst>
                                  <p:childTnLst>
                                    <p:set>
                                      <p:cBhvr>
                                        <p:cTn id="115" dur="1" fill="hold">
                                          <p:stCondLst>
                                            <p:cond delay="0"/>
                                          </p:stCondLst>
                                        </p:cTn>
                                        <p:tgtEl>
                                          <p:spTgt spid="26"/>
                                        </p:tgtEl>
                                        <p:attrNameLst>
                                          <p:attrName>style.visibility</p:attrName>
                                        </p:attrNameLst>
                                      </p:cBhvr>
                                      <p:to>
                                        <p:strVal val="visible"/>
                                      </p:to>
                                    </p:set>
                                    <p:animEffect transition="in" filter="wipe(left)">
                                      <p:cBhvr>
                                        <p:cTn id="116" dur="500"/>
                                        <p:tgtEl>
                                          <p:spTgt spid="26"/>
                                        </p:tgtEl>
                                      </p:cBhvr>
                                    </p:animEffect>
                                  </p:childTnLst>
                                </p:cTn>
                              </p:par>
                              <p:par>
                                <p:cTn id="120" presetID="22" presetClass="entr" presetSubtype="8" fill="hold" grpId="0" nodeType="withEffect">
                                  <p:stCondLst>
                                    <p:cond delay="280"/>
                                  </p:stCondLst>
                                  <p:childTnLst>
                                    <p:set>
                                      <p:cBhvr>
                                        <p:cTn id="118" dur="1" fill="hold">
                                          <p:stCondLst>
                                            <p:cond delay="0"/>
                                          </p:stCondLst>
                                        </p:cTn>
                                        <p:tgtEl>
                                          <p:spTgt spid="27"/>
                                        </p:tgtEl>
                                        <p:attrNameLst>
                                          <p:attrName>style.visibility</p:attrName>
                                        </p:attrNameLst>
                                      </p:cBhvr>
                                      <p:to>
                                        <p:strVal val="visible"/>
                                      </p:to>
                                    </p:set>
                                    <p:animEffect transition="in" filter="wipe(left)">
                                      <p:cBhvr>
                                        <p:cTn id="119" dur="500"/>
                                        <p:tgtEl>
                                          <p:spTgt spid="27"/>
                                        </p:tgtEl>
                                      </p:cBhvr>
                                    </p:animEffect>
                                  </p:childTnLst>
                                </p:cTn>
                              </p:par>
                              <p:par>
                                <p:cTn id="123" presetID="22" presetClass="entr" presetSubtype="8" fill="hold" grpId="0" nodeType="withEffect">
                                  <p:stCondLst>
                                    <p:cond delay="420"/>
                                  </p:stCondLst>
                                  <p:childTnLst>
                                    <p:set>
                                      <p:cBhvr>
                                        <p:cTn id="121" dur="1" fill="hold">
                                          <p:stCondLst>
                                            <p:cond delay="0"/>
                                          </p:stCondLst>
                                        </p:cTn>
                                        <p:tgtEl>
                                          <p:spTgt spid="28"/>
                                        </p:tgtEl>
                                        <p:attrNameLst>
                                          <p:attrName>style.visibility</p:attrName>
                                        </p:attrNameLst>
                                      </p:cBhvr>
                                      <p:to>
                                        <p:strVal val="visible"/>
                                      </p:to>
                                    </p:set>
                                    <p:animEffect transition="in" filter="wipe(left)">
                                      <p:cBhvr>
                                        <p:cTn id="1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ACID vs BASE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Two different promises about what happens when things go wrong</a:t>
            </a:r>
          </a:p>
        </p:txBody>
      </p:sp>
      <p:sp>
        <p:nvSpPr>
          <p:cNvPr id="4" name="a1u_card3"/>
          <p:cNvSpPr/>
          <p:nvPr/>
        </p:nvSpPr>
        <p:spPr>
          <a:xfrm>
            <a:off x="457200" y="1170432"/>
            <a:ext cx="3931920" cy="2697480"/>
          </a:xfrm>
          <a:prstGeom prst="roundRect">
            <a:avLst>
              <a:gd name="adj" fmla="val 3389"/>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58368" y="1289304"/>
            <a:ext cx="3529584" cy="274320"/>
          </a:xfrm>
          <a:prstGeom prst="rect">
            <a:avLst/>
          </a:prstGeom>
          <a:noFill/>
        </p:spPr>
        <p:txBody>
          <a:bodyPr wrap="square" lIns="0" tIns="0" rIns="0" bIns="0" anchor="ctr">
            <a:spAutoFit/>
          </a:bodyPr>
          <a:lstStyle/>
          <a:p>
            <a:pPr algn="l"/>
            <a:r>
              <a:rPr sz="1800" b="1">
                <a:solidFill>
                  <a:srgbClr val="6D28D9"/>
                </a:solidFill>
                <a:latin typeface="Courier New"/>
              </a:rPr>
              <a:t>ACID</a:t>
            </a:r>
          </a:p>
        </p:txBody>
      </p:sp>
      <p:sp>
        <p:nvSpPr>
          <p:cNvPr id="6" name="a1ud40_hs5"/>
          <p:cNvSpPr txBox="1"/>
          <p:nvPr/>
        </p:nvSpPr>
        <p:spPr>
          <a:xfrm>
            <a:off x="658368" y="1581912"/>
            <a:ext cx="3529584" cy="219456"/>
          </a:xfrm>
          <a:prstGeom prst="rect">
            <a:avLst/>
          </a:prstGeom>
          <a:noFill/>
        </p:spPr>
        <p:txBody>
          <a:bodyPr wrap="square" lIns="0" tIns="0" rIns="0" bIns="0" anchor="ctr">
            <a:spAutoFit/>
          </a:bodyPr>
          <a:lstStyle/>
          <a:p>
            <a:pPr algn="l"/>
            <a:r>
              <a:rPr sz="1000" b="0">
                <a:solidFill>
                  <a:srgbClr val="64748B"/>
                </a:solidFill>
                <a:latin typeface="Calibri"/>
              </a:rPr>
              <a:t>the relational promise</a:t>
            </a:r>
          </a:p>
        </p:txBody>
      </p:sp>
      <p:sp>
        <p:nvSpPr>
          <p:cNvPr id="7" name="a1ud100_kb6"/>
          <p:cNvSpPr/>
          <p:nvPr/>
        </p:nvSpPr>
        <p:spPr>
          <a:xfrm>
            <a:off x="658368" y="1901952"/>
            <a:ext cx="786384" cy="365760"/>
          </a:xfrm>
          <a:prstGeom prst="roundRect">
            <a:avLst>
              <a:gd name="adj" fmla="val 1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1ud100_kl7"/>
          <p:cNvSpPr txBox="1"/>
          <p:nvPr/>
        </p:nvSpPr>
        <p:spPr>
          <a:xfrm>
            <a:off x="658368" y="1901952"/>
            <a:ext cx="786384" cy="365760"/>
          </a:xfrm>
          <a:prstGeom prst="rect">
            <a:avLst/>
          </a:prstGeom>
          <a:noFill/>
        </p:spPr>
        <p:txBody>
          <a:bodyPr wrap="square" lIns="0" tIns="0" rIns="0" bIns="0" anchor="ctr">
            <a:spAutoFit/>
          </a:bodyPr>
          <a:lstStyle/>
          <a:p>
            <a:pPr algn="ctr"/>
            <a:r>
              <a:rPr sz="1400" b="1">
                <a:solidFill>
                  <a:srgbClr val="6D28D9"/>
                </a:solidFill>
                <a:latin typeface="Calibri"/>
              </a:rPr>
              <a:t>A</a:t>
            </a:r>
          </a:p>
        </p:txBody>
      </p:sp>
      <p:sp>
        <p:nvSpPr>
          <p:cNvPr id="9" name="a1ud100_kv8"/>
          <p:cNvSpPr txBox="1"/>
          <p:nvPr/>
        </p:nvSpPr>
        <p:spPr>
          <a:xfrm>
            <a:off x="1554480" y="1874520"/>
            <a:ext cx="2633472" cy="420624"/>
          </a:xfrm>
          <a:prstGeom prst="rect">
            <a:avLst/>
          </a:prstGeom>
          <a:noFill/>
        </p:spPr>
        <p:txBody>
          <a:bodyPr wrap="square" lIns="0" tIns="0" rIns="0" bIns="0" anchor="ctr">
            <a:spAutoFit/>
          </a:bodyPr>
          <a:lstStyle/>
          <a:p>
            <a:pPr algn="l"/>
            <a:r>
              <a:rPr sz="1000" b="1">
                <a:solidFill>
                  <a:srgbClr val="0F172A"/>
                </a:solidFill>
                <a:latin typeface="Calibri"/>
              </a:rPr>
              <a:t>Atomic  </a:t>
            </a:r>
            <a:r>
              <a:rPr sz="1000" b="0">
                <a:solidFill>
                  <a:srgbClr val="334155"/>
                </a:solidFill>
                <a:latin typeface="Calibri"/>
              </a:rPr>
              <a:t>all of the transaction, or none of it</a:t>
            </a:r>
          </a:p>
        </p:txBody>
      </p:sp>
      <p:sp>
        <p:nvSpPr>
          <p:cNvPr id="10" name="a1ud200_kb9"/>
          <p:cNvSpPr/>
          <p:nvPr/>
        </p:nvSpPr>
        <p:spPr>
          <a:xfrm>
            <a:off x="658368" y="2377440"/>
            <a:ext cx="786384" cy="365760"/>
          </a:xfrm>
          <a:prstGeom prst="roundRect">
            <a:avLst>
              <a:gd name="adj" fmla="val 1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200_kl10"/>
          <p:cNvSpPr txBox="1"/>
          <p:nvPr/>
        </p:nvSpPr>
        <p:spPr>
          <a:xfrm>
            <a:off x="658368" y="2377440"/>
            <a:ext cx="786384" cy="365760"/>
          </a:xfrm>
          <a:prstGeom prst="rect">
            <a:avLst/>
          </a:prstGeom>
          <a:noFill/>
        </p:spPr>
        <p:txBody>
          <a:bodyPr wrap="square" lIns="0" tIns="0" rIns="0" bIns="0" anchor="ctr">
            <a:spAutoFit/>
          </a:bodyPr>
          <a:lstStyle/>
          <a:p>
            <a:pPr algn="ctr"/>
            <a:r>
              <a:rPr sz="1400" b="1">
                <a:solidFill>
                  <a:srgbClr val="6D28D9"/>
                </a:solidFill>
                <a:latin typeface="Calibri"/>
              </a:rPr>
              <a:t>C</a:t>
            </a:r>
          </a:p>
        </p:txBody>
      </p:sp>
      <p:sp>
        <p:nvSpPr>
          <p:cNvPr id="12" name="a1ud200_kv11"/>
          <p:cNvSpPr txBox="1"/>
          <p:nvPr/>
        </p:nvSpPr>
        <p:spPr>
          <a:xfrm>
            <a:off x="1554480" y="2350008"/>
            <a:ext cx="2633472" cy="420624"/>
          </a:xfrm>
          <a:prstGeom prst="rect">
            <a:avLst/>
          </a:prstGeom>
          <a:noFill/>
        </p:spPr>
        <p:txBody>
          <a:bodyPr wrap="square" lIns="0" tIns="0" rIns="0" bIns="0" anchor="ctr">
            <a:spAutoFit/>
          </a:bodyPr>
          <a:lstStyle/>
          <a:p>
            <a:pPr algn="l"/>
            <a:r>
              <a:rPr sz="1000" b="1">
                <a:solidFill>
                  <a:srgbClr val="0F172A"/>
                </a:solidFill>
                <a:latin typeface="Calibri"/>
              </a:rPr>
              <a:t>Consistent  </a:t>
            </a:r>
            <a:r>
              <a:rPr sz="1000" b="0">
                <a:solidFill>
                  <a:srgbClr val="334155"/>
                </a:solidFill>
                <a:latin typeface="Calibri"/>
              </a:rPr>
              <a:t>constraints hold before and after</a:t>
            </a:r>
          </a:p>
        </p:txBody>
      </p:sp>
      <p:sp>
        <p:nvSpPr>
          <p:cNvPr id="13" name="a1ud300_kb12"/>
          <p:cNvSpPr/>
          <p:nvPr/>
        </p:nvSpPr>
        <p:spPr>
          <a:xfrm>
            <a:off x="658368" y="2852928"/>
            <a:ext cx="786384" cy="365760"/>
          </a:xfrm>
          <a:prstGeom prst="roundRect">
            <a:avLst>
              <a:gd name="adj" fmla="val 1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300_kl13"/>
          <p:cNvSpPr txBox="1"/>
          <p:nvPr/>
        </p:nvSpPr>
        <p:spPr>
          <a:xfrm>
            <a:off x="658368" y="2852928"/>
            <a:ext cx="786384" cy="365760"/>
          </a:xfrm>
          <a:prstGeom prst="rect">
            <a:avLst/>
          </a:prstGeom>
          <a:noFill/>
        </p:spPr>
        <p:txBody>
          <a:bodyPr wrap="square" lIns="0" tIns="0" rIns="0" bIns="0" anchor="ctr">
            <a:spAutoFit/>
          </a:bodyPr>
          <a:lstStyle/>
          <a:p>
            <a:pPr algn="ctr"/>
            <a:r>
              <a:rPr sz="1400" b="1">
                <a:solidFill>
                  <a:srgbClr val="6D28D9"/>
                </a:solidFill>
                <a:latin typeface="Calibri"/>
              </a:rPr>
              <a:t>I</a:t>
            </a:r>
          </a:p>
        </p:txBody>
      </p:sp>
      <p:sp>
        <p:nvSpPr>
          <p:cNvPr id="15" name="a1ud300_kv14"/>
          <p:cNvSpPr txBox="1"/>
          <p:nvPr/>
        </p:nvSpPr>
        <p:spPr>
          <a:xfrm>
            <a:off x="1554480" y="2825496"/>
            <a:ext cx="2633472" cy="420624"/>
          </a:xfrm>
          <a:prstGeom prst="rect">
            <a:avLst/>
          </a:prstGeom>
          <a:noFill/>
        </p:spPr>
        <p:txBody>
          <a:bodyPr wrap="square" lIns="0" tIns="0" rIns="0" bIns="0" anchor="ctr">
            <a:spAutoFit/>
          </a:bodyPr>
          <a:lstStyle/>
          <a:p>
            <a:pPr algn="l"/>
            <a:r>
              <a:rPr sz="1000" b="1">
                <a:solidFill>
                  <a:srgbClr val="0F172A"/>
                </a:solidFill>
                <a:latin typeface="Calibri"/>
              </a:rPr>
              <a:t>Isolated  </a:t>
            </a:r>
            <a:r>
              <a:rPr sz="1000" b="0">
                <a:solidFill>
                  <a:srgbClr val="334155"/>
                </a:solidFill>
                <a:latin typeface="Calibri"/>
              </a:rPr>
              <a:t>concurrent transactions do not see each other</a:t>
            </a:r>
          </a:p>
        </p:txBody>
      </p:sp>
      <p:sp>
        <p:nvSpPr>
          <p:cNvPr id="16" name="a1ud400_kb15"/>
          <p:cNvSpPr/>
          <p:nvPr/>
        </p:nvSpPr>
        <p:spPr>
          <a:xfrm>
            <a:off x="658368" y="3328416"/>
            <a:ext cx="786384" cy="365760"/>
          </a:xfrm>
          <a:prstGeom prst="roundRect">
            <a:avLst>
              <a:gd name="adj" fmla="val 1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kl16"/>
          <p:cNvSpPr txBox="1"/>
          <p:nvPr/>
        </p:nvSpPr>
        <p:spPr>
          <a:xfrm>
            <a:off x="658368" y="3328416"/>
            <a:ext cx="786384" cy="365760"/>
          </a:xfrm>
          <a:prstGeom prst="rect">
            <a:avLst/>
          </a:prstGeom>
          <a:noFill/>
        </p:spPr>
        <p:txBody>
          <a:bodyPr wrap="square" lIns="0" tIns="0" rIns="0" bIns="0" anchor="ctr">
            <a:spAutoFit/>
          </a:bodyPr>
          <a:lstStyle/>
          <a:p>
            <a:pPr algn="ctr"/>
            <a:r>
              <a:rPr sz="1400" b="1">
                <a:solidFill>
                  <a:srgbClr val="6D28D9"/>
                </a:solidFill>
                <a:latin typeface="Calibri"/>
              </a:rPr>
              <a:t>D</a:t>
            </a:r>
          </a:p>
        </p:txBody>
      </p:sp>
      <p:sp>
        <p:nvSpPr>
          <p:cNvPr id="18" name="a1ud400_kv17"/>
          <p:cNvSpPr txBox="1"/>
          <p:nvPr/>
        </p:nvSpPr>
        <p:spPr>
          <a:xfrm>
            <a:off x="1554480" y="3300984"/>
            <a:ext cx="2633472" cy="420624"/>
          </a:xfrm>
          <a:prstGeom prst="rect">
            <a:avLst/>
          </a:prstGeom>
          <a:noFill/>
        </p:spPr>
        <p:txBody>
          <a:bodyPr wrap="square" lIns="0" tIns="0" rIns="0" bIns="0" anchor="ctr">
            <a:spAutoFit/>
          </a:bodyPr>
          <a:lstStyle/>
          <a:p>
            <a:pPr algn="l"/>
            <a:r>
              <a:rPr sz="1000" b="1">
                <a:solidFill>
                  <a:srgbClr val="0F172A"/>
                </a:solidFill>
                <a:latin typeface="Calibri"/>
              </a:rPr>
              <a:t>Durable  </a:t>
            </a:r>
            <a:r>
              <a:rPr sz="1000" b="0">
                <a:solidFill>
                  <a:srgbClr val="334155"/>
                </a:solidFill>
                <a:latin typeface="Calibri"/>
              </a:rPr>
              <a:t>once committed, it survives a crash</a:t>
            </a:r>
          </a:p>
        </p:txBody>
      </p:sp>
      <p:sp>
        <p:nvSpPr>
          <p:cNvPr id="19" name="a1ud520_cap18"/>
          <p:cNvSpPr txBox="1"/>
          <p:nvPr/>
        </p:nvSpPr>
        <p:spPr>
          <a:xfrm>
            <a:off x="658368" y="3794760"/>
            <a:ext cx="3529584" cy="219456"/>
          </a:xfrm>
          <a:prstGeom prst="rect">
            <a:avLst/>
          </a:prstGeom>
          <a:noFill/>
        </p:spPr>
        <p:txBody>
          <a:bodyPr wrap="square" lIns="0" tIns="0" rIns="0" bIns="0" anchor="ctr">
            <a:spAutoFit/>
          </a:bodyPr>
          <a:lstStyle/>
          <a:p>
            <a:pPr algn="l"/>
            <a:r>
              <a:rPr sz="1000" b="1">
                <a:solidFill>
                  <a:srgbClr val="6D28D9"/>
                </a:solidFill>
                <a:latin typeface="Calibri"/>
              </a:rPr>
              <a:t>Safety first. Refuse the write if unsure.</a:t>
            </a:r>
          </a:p>
        </p:txBody>
      </p:sp>
      <p:sp>
        <p:nvSpPr>
          <p:cNvPr id="20" name="a2u_card19"/>
          <p:cNvSpPr/>
          <p:nvPr/>
        </p:nvSpPr>
        <p:spPr>
          <a:xfrm>
            <a:off x="4754880" y="1170432"/>
            <a:ext cx="3931920" cy="2697480"/>
          </a:xfrm>
          <a:prstGeom prst="roundRect">
            <a:avLst>
              <a:gd name="adj" fmla="val 3389"/>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hh20"/>
          <p:cNvSpPr txBox="1"/>
          <p:nvPr/>
        </p:nvSpPr>
        <p:spPr>
          <a:xfrm>
            <a:off x="4956048" y="1289304"/>
            <a:ext cx="3529584" cy="274320"/>
          </a:xfrm>
          <a:prstGeom prst="rect">
            <a:avLst/>
          </a:prstGeom>
          <a:noFill/>
        </p:spPr>
        <p:txBody>
          <a:bodyPr wrap="square" lIns="0" tIns="0" rIns="0" bIns="0" anchor="ctr">
            <a:spAutoFit/>
          </a:bodyPr>
          <a:lstStyle/>
          <a:p>
            <a:pPr algn="l"/>
            <a:r>
              <a:rPr sz="1800" b="1">
                <a:solidFill>
                  <a:srgbClr val="0F766E"/>
                </a:solidFill>
                <a:latin typeface="Courier New"/>
              </a:rPr>
              <a:t>BASE</a:t>
            </a:r>
          </a:p>
        </p:txBody>
      </p:sp>
      <p:sp>
        <p:nvSpPr>
          <p:cNvPr id="22" name="a2ud40_hs21"/>
          <p:cNvSpPr txBox="1"/>
          <p:nvPr/>
        </p:nvSpPr>
        <p:spPr>
          <a:xfrm>
            <a:off x="4956048" y="1581912"/>
            <a:ext cx="3529584" cy="219456"/>
          </a:xfrm>
          <a:prstGeom prst="rect">
            <a:avLst/>
          </a:prstGeom>
          <a:noFill/>
        </p:spPr>
        <p:txBody>
          <a:bodyPr wrap="square" lIns="0" tIns="0" rIns="0" bIns="0" anchor="ctr">
            <a:spAutoFit/>
          </a:bodyPr>
          <a:lstStyle/>
          <a:p>
            <a:pPr algn="l"/>
            <a:r>
              <a:rPr sz="1000" b="0">
                <a:solidFill>
                  <a:srgbClr val="64748B"/>
                </a:solidFill>
                <a:latin typeface="Calibri"/>
              </a:rPr>
              <a:t>the distributed alternative</a:t>
            </a:r>
          </a:p>
        </p:txBody>
      </p:sp>
      <p:sp>
        <p:nvSpPr>
          <p:cNvPr id="23" name="a2ud100_kb22"/>
          <p:cNvSpPr/>
          <p:nvPr/>
        </p:nvSpPr>
        <p:spPr>
          <a:xfrm>
            <a:off x="4956048" y="1901952"/>
            <a:ext cx="786384" cy="438912"/>
          </a:xfrm>
          <a:prstGeom prst="roundRect">
            <a:avLst>
              <a:gd name="adj" fmla="val 125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100_kl23"/>
          <p:cNvSpPr txBox="1"/>
          <p:nvPr/>
        </p:nvSpPr>
        <p:spPr>
          <a:xfrm>
            <a:off x="4956048" y="1901952"/>
            <a:ext cx="786384" cy="438912"/>
          </a:xfrm>
          <a:prstGeom prst="rect">
            <a:avLst/>
          </a:prstGeom>
          <a:noFill/>
        </p:spPr>
        <p:txBody>
          <a:bodyPr wrap="square" lIns="0" tIns="0" rIns="0" bIns="0" anchor="ctr">
            <a:spAutoFit/>
          </a:bodyPr>
          <a:lstStyle/>
          <a:p>
            <a:pPr algn="ctr"/>
            <a:r>
              <a:rPr sz="1300" b="1">
                <a:solidFill>
                  <a:srgbClr val="0F766E"/>
                </a:solidFill>
                <a:latin typeface="Calibri"/>
              </a:rPr>
              <a:t>BA</a:t>
            </a:r>
          </a:p>
        </p:txBody>
      </p:sp>
      <p:sp>
        <p:nvSpPr>
          <p:cNvPr id="25" name="a2ud100_kv24"/>
          <p:cNvSpPr txBox="1"/>
          <p:nvPr/>
        </p:nvSpPr>
        <p:spPr>
          <a:xfrm>
            <a:off x="5852160" y="1874520"/>
            <a:ext cx="2651760" cy="493776"/>
          </a:xfrm>
          <a:prstGeom prst="rect">
            <a:avLst/>
          </a:prstGeom>
          <a:noFill/>
        </p:spPr>
        <p:txBody>
          <a:bodyPr wrap="square" lIns="0" tIns="0" rIns="0" bIns="0" anchor="ctr">
            <a:spAutoFit/>
          </a:bodyPr>
          <a:lstStyle/>
          <a:p>
            <a:pPr algn="l"/>
            <a:r>
              <a:rPr sz="1050" b="1">
                <a:solidFill>
                  <a:srgbClr val="0F172A"/>
                </a:solidFill>
                <a:latin typeface="Calibri"/>
              </a:rPr>
              <a:t>Basically Available</a:t>
            </a:r>
          </a:p>
          <a:p>
            <a:pPr algn="l"/>
            <a:r>
              <a:rPr sz="1000" b="0">
                <a:solidFill>
                  <a:srgbClr val="334155"/>
                </a:solidFill>
                <a:latin typeface="Calibri"/>
              </a:rPr>
              <a:t>the system answers, even degraded</a:t>
            </a:r>
          </a:p>
        </p:txBody>
      </p:sp>
      <p:sp>
        <p:nvSpPr>
          <p:cNvPr id="26" name="a2ud220_kb25"/>
          <p:cNvSpPr/>
          <p:nvPr/>
        </p:nvSpPr>
        <p:spPr>
          <a:xfrm>
            <a:off x="4956048" y="2505456"/>
            <a:ext cx="786384" cy="438912"/>
          </a:xfrm>
          <a:prstGeom prst="roundRect">
            <a:avLst>
              <a:gd name="adj" fmla="val 125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d220_kl26"/>
          <p:cNvSpPr txBox="1"/>
          <p:nvPr/>
        </p:nvSpPr>
        <p:spPr>
          <a:xfrm>
            <a:off x="4956048" y="2505456"/>
            <a:ext cx="786384" cy="438912"/>
          </a:xfrm>
          <a:prstGeom prst="rect">
            <a:avLst/>
          </a:prstGeom>
          <a:noFill/>
        </p:spPr>
        <p:txBody>
          <a:bodyPr wrap="square" lIns="0" tIns="0" rIns="0" bIns="0" anchor="ctr">
            <a:spAutoFit/>
          </a:bodyPr>
          <a:lstStyle/>
          <a:p>
            <a:pPr algn="ctr"/>
            <a:r>
              <a:rPr sz="1300" b="1">
                <a:solidFill>
                  <a:srgbClr val="0F766E"/>
                </a:solidFill>
                <a:latin typeface="Calibri"/>
              </a:rPr>
              <a:t>S</a:t>
            </a:r>
          </a:p>
        </p:txBody>
      </p:sp>
      <p:sp>
        <p:nvSpPr>
          <p:cNvPr id="28" name="a2ud220_kv27"/>
          <p:cNvSpPr txBox="1"/>
          <p:nvPr/>
        </p:nvSpPr>
        <p:spPr>
          <a:xfrm>
            <a:off x="5852160" y="2478024"/>
            <a:ext cx="2651760" cy="493776"/>
          </a:xfrm>
          <a:prstGeom prst="rect">
            <a:avLst/>
          </a:prstGeom>
          <a:noFill/>
        </p:spPr>
        <p:txBody>
          <a:bodyPr wrap="square" lIns="0" tIns="0" rIns="0" bIns="0" anchor="ctr">
            <a:spAutoFit/>
          </a:bodyPr>
          <a:lstStyle/>
          <a:p>
            <a:pPr algn="l"/>
            <a:r>
              <a:rPr sz="1050" b="1">
                <a:solidFill>
                  <a:srgbClr val="0F172A"/>
                </a:solidFill>
                <a:latin typeface="Calibri"/>
              </a:rPr>
              <a:t>Soft state</a:t>
            </a:r>
          </a:p>
          <a:p>
            <a:pPr algn="l"/>
            <a:r>
              <a:rPr sz="1000" b="0">
                <a:solidFill>
                  <a:srgbClr val="334155"/>
                </a:solidFill>
                <a:latin typeface="Calibri"/>
              </a:rPr>
              <a:t>replicas may disagree for a while</a:t>
            </a:r>
          </a:p>
        </p:txBody>
      </p:sp>
      <p:sp>
        <p:nvSpPr>
          <p:cNvPr id="29" name="a2ud340_kb28"/>
          <p:cNvSpPr/>
          <p:nvPr/>
        </p:nvSpPr>
        <p:spPr>
          <a:xfrm>
            <a:off x="4956048" y="3108960"/>
            <a:ext cx="786384" cy="438912"/>
          </a:xfrm>
          <a:prstGeom prst="roundRect">
            <a:avLst>
              <a:gd name="adj" fmla="val 125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340_kl29"/>
          <p:cNvSpPr txBox="1"/>
          <p:nvPr/>
        </p:nvSpPr>
        <p:spPr>
          <a:xfrm>
            <a:off x="4956048" y="3108960"/>
            <a:ext cx="786384" cy="438912"/>
          </a:xfrm>
          <a:prstGeom prst="rect">
            <a:avLst/>
          </a:prstGeom>
          <a:noFill/>
        </p:spPr>
        <p:txBody>
          <a:bodyPr wrap="square" lIns="0" tIns="0" rIns="0" bIns="0" anchor="ctr">
            <a:spAutoFit/>
          </a:bodyPr>
          <a:lstStyle/>
          <a:p>
            <a:pPr algn="ctr"/>
            <a:r>
              <a:rPr sz="1300" b="1">
                <a:solidFill>
                  <a:srgbClr val="0F766E"/>
                </a:solidFill>
                <a:latin typeface="Calibri"/>
              </a:rPr>
              <a:t>E</a:t>
            </a:r>
          </a:p>
        </p:txBody>
      </p:sp>
      <p:sp>
        <p:nvSpPr>
          <p:cNvPr id="31" name="a2ud340_kv30"/>
          <p:cNvSpPr txBox="1"/>
          <p:nvPr/>
        </p:nvSpPr>
        <p:spPr>
          <a:xfrm>
            <a:off x="5852160" y="3081528"/>
            <a:ext cx="2651760" cy="493776"/>
          </a:xfrm>
          <a:prstGeom prst="rect">
            <a:avLst/>
          </a:prstGeom>
          <a:noFill/>
        </p:spPr>
        <p:txBody>
          <a:bodyPr wrap="square" lIns="0" tIns="0" rIns="0" bIns="0" anchor="ctr">
            <a:spAutoFit/>
          </a:bodyPr>
          <a:lstStyle/>
          <a:p>
            <a:pPr algn="l"/>
            <a:r>
              <a:rPr sz="1050" b="1">
                <a:solidFill>
                  <a:srgbClr val="0F172A"/>
                </a:solidFill>
                <a:latin typeface="Calibri"/>
              </a:rPr>
              <a:t>Eventually consistent</a:t>
            </a:r>
          </a:p>
          <a:p>
            <a:pPr algn="l"/>
            <a:r>
              <a:rPr sz="1000" b="0">
                <a:solidFill>
                  <a:srgbClr val="334155"/>
                </a:solidFill>
                <a:latin typeface="Calibri"/>
              </a:rPr>
              <a:t>given no new writes, they converge</a:t>
            </a:r>
          </a:p>
        </p:txBody>
      </p:sp>
      <p:sp>
        <p:nvSpPr>
          <p:cNvPr id="32" name="a2ud460_cap31"/>
          <p:cNvSpPr txBox="1"/>
          <p:nvPr/>
        </p:nvSpPr>
        <p:spPr>
          <a:xfrm>
            <a:off x="4956048" y="3794760"/>
            <a:ext cx="3529584" cy="219456"/>
          </a:xfrm>
          <a:prstGeom prst="rect">
            <a:avLst/>
          </a:prstGeom>
          <a:noFill/>
        </p:spPr>
        <p:txBody>
          <a:bodyPr wrap="square" lIns="0" tIns="0" rIns="0" bIns="0" anchor="ctr">
            <a:spAutoFit/>
          </a:bodyPr>
          <a:lstStyle/>
          <a:p>
            <a:pPr algn="l"/>
            <a:r>
              <a:rPr sz="1000" b="1">
                <a:solidFill>
                  <a:srgbClr val="0F766E"/>
                </a:solidFill>
                <a:latin typeface="Calibri"/>
              </a:rPr>
              <a:t>Availability first. Accept the write, reconcile later.</a:t>
            </a:r>
          </a:p>
        </p:txBody>
      </p:sp>
      <p:sp>
        <p:nvSpPr>
          <p:cNvPr id="33" name="ft32"/>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4" name="ft33"/>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4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par>
                                <p:cTn id="54" presetID="2" presetClass="entr" presetSubtype="4" fill="hold" grpId="0" nodeType="withEffect">
                                  <p:stCondLst>
                                    <p:cond delay="30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0.1"/>
                                          </p:val>
                                        </p:tav>
                                        <p:tav tm="100000">
                                          <p:val>
                                            <p:strVal val="#ppt_y"/>
                                          </p:val>
                                        </p:tav>
                                      </p:tavLst>
                                    </p:anim>
                                    <p:animEffect transition="in" filter="fade">
                                      <p:cBhvr>
                                        <p:cTn id="53" dur="500"/>
                                        <p:tgtEl>
                                          <p:spTgt spid="13"/>
                                        </p:tgtEl>
                                      </p:cBhvr>
                                    </p:animEffect>
                                  </p:childTnLst>
                                </p:cTn>
                              </p:par>
                              <p:par>
                                <p:cTn id="59" presetID="2" presetClass="entr" presetSubtype="4" fill="hold" grpId="0" nodeType="withEffect">
                                  <p:stCondLst>
                                    <p:cond delay="30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0.1"/>
                                          </p:val>
                                        </p:tav>
                                        <p:tav tm="100000">
                                          <p:val>
                                            <p:strVal val="#ppt_y"/>
                                          </p:val>
                                        </p:tav>
                                      </p:tavLst>
                                    </p:anim>
                                    <p:animEffect transition="in" filter="fade">
                                      <p:cBhvr>
                                        <p:cTn id="58" dur="500"/>
                                        <p:tgtEl>
                                          <p:spTgt spid="14"/>
                                        </p:tgtEl>
                                      </p:cBhvr>
                                    </p:animEffect>
                                  </p:childTnLst>
                                </p:cTn>
                              </p:par>
                              <p:par>
                                <p:cTn id="64" presetID="2" presetClass="entr" presetSubtype="4" fill="hold" grpId="0" nodeType="withEffect">
                                  <p:stCondLst>
                                    <p:cond delay="30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0.1"/>
                                          </p:val>
                                        </p:tav>
                                        <p:tav tm="100000">
                                          <p:val>
                                            <p:strVal val="#ppt_y"/>
                                          </p:val>
                                        </p:tav>
                                      </p:tavLst>
                                    </p:anim>
                                    <p:animEffect transition="in" filter="fade">
                                      <p:cBhvr>
                                        <p:cTn id="63" dur="500"/>
                                        <p:tgtEl>
                                          <p:spTgt spid="15"/>
                                        </p:tgtEl>
                                      </p:cBhvr>
                                    </p:animEffect>
                                  </p:childTnLst>
                                </p:cTn>
                              </p:par>
                              <p:par>
                                <p:cTn id="69" presetID="2" presetClass="entr" presetSubtype="4" fill="hold" grpId="0" nodeType="withEffect">
                                  <p:stCondLst>
                                    <p:cond delay="40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ppt_y+0.1"/>
                                          </p:val>
                                        </p:tav>
                                        <p:tav tm="100000">
                                          <p:val>
                                            <p:strVal val="#ppt_y"/>
                                          </p:val>
                                        </p:tav>
                                      </p:tavLst>
                                    </p:anim>
                                    <p:animEffect transition="in" filter="fade">
                                      <p:cBhvr>
                                        <p:cTn id="68" dur="500"/>
                                        <p:tgtEl>
                                          <p:spTgt spid="16"/>
                                        </p:tgtEl>
                                      </p:cBhvr>
                                    </p:animEffect>
                                  </p:childTnLst>
                                </p:cTn>
                              </p:par>
                              <p:par>
                                <p:cTn id="74" presetID="2" presetClass="entr" presetSubtype="4" fill="hold" grpId="0" nodeType="withEffect">
                                  <p:stCondLst>
                                    <p:cond delay="40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p:tgtEl>
                                          <p:spTgt spid="17"/>
                                        </p:tgtEl>
                                        <p:attrNameLst>
                                          <p:attrName>ppt_y</p:attrName>
                                        </p:attrNameLst>
                                      </p:cBhvr>
                                      <p:tavLst>
                                        <p:tav tm="0">
                                          <p:val>
                                            <p:strVal val="#ppt_y+0.1"/>
                                          </p:val>
                                        </p:tav>
                                        <p:tav tm="100000">
                                          <p:val>
                                            <p:strVal val="#ppt_y"/>
                                          </p:val>
                                        </p:tav>
                                      </p:tavLst>
                                    </p:anim>
                                    <p:animEffect transition="in" filter="fade">
                                      <p:cBhvr>
                                        <p:cTn id="73" dur="500"/>
                                        <p:tgtEl>
                                          <p:spTgt spid="17"/>
                                        </p:tgtEl>
                                      </p:cBhvr>
                                    </p:animEffect>
                                  </p:childTnLst>
                                </p:cTn>
                              </p:par>
                              <p:par>
                                <p:cTn id="79" presetID="2" presetClass="entr" presetSubtype="4" fill="hold" grpId="0" nodeType="withEffect">
                                  <p:stCondLst>
                                    <p:cond delay="40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0.1"/>
                                          </p:val>
                                        </p:tav>
                                        <p:tav tm="100000">
                                          <p:val>
                                            <p:strVal val="#ppt_y"/>
                                          </p:val>
                                        </p:tav>
                                      </p:tavLst>
                                    </p:anim>
                                    <p:animEffect transition="in" filter="fade">
                                      <p:cBhvr>
                                        <p:cTn id="78" dur="500"/>
                                        <p:tgtEl>
                                          <p:spTgt spid="18"/>
                                        </p:tgtEl>
                                      </p:cBhvr>
                                    </p:animEffect>
                                  </p:childTnLst>
                                </p:cTn>
                              </p:par>
                              <p:par>
                                <p:cTn id="84" presetID="2" presetClass="entr" presetSubtype="4" fill="hold" grpId="0" nodeType="withEffect">
                                  <p:stCondLst>
                                    <p:cond delay="52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ppt_y+0.1"/>
                                          </p:val>
                                        </p:tav>
                                        <p:tav tm="100000">
                                          <p:val>
                                            <p:strVal val="#ppt_y"/>
                                          </p:val>
                                        </p:tav>
                                      </p:tavLst>
                                    </p:anim>
                                    <p:animEffect transition="in" filter="fade">
                                      <p:cBhvr>
                                        <p:cTn id="83" dur="500"/>
                                        <p:tgtEl>
                                          <p:spTgt spid="19"/>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par>
                                <p:cTn id="101" presetID="2" presetClass="entr" presetSubtype="4" fill="hold" grpId="0" nodeType="withEffect">
                                  <p:stCondLst>
                                    <p:cond delay="4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1"/>
                                          </p:val>
                                        </p:tav>
                                        <p:tav tm="100000">
                                          <p:val>
                                            <p:strVal val="#ppt_y"/>
                                          </p:val>
                                        </p:tav>
                                      </p:tavLst>
                                    </p:anim>
                                    <p:animEffect transition="in" filter="fade">
                                      <p:cBhvr>
                                        <p:cTn id="100" dur="500"/>
                                        <p:tgtEl>
                                          <p:spTgt spid="22"/>
                                        </p:tgtEl>
                                      </p:cBhvr>
                                    </p:animEffect>
                                  </p:childTnLst>
                                </p:cTn>
                              </p:par>
                              <p:par>
                                <p:cTn id="106" presetID="2" presetClass="entr" presetSubtype="4" fill="hold" grpId="0" nodeType="withEffect">
                                  <p:stCondLst>
                                    <p:cond delay="10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ppt_x</p:attrName>
                                        </p:attrNameLst>
                                      </p:cBhvr>
                                      <p:tavLst>
                                        <p:tav tm="0">
                                          <p:val>
                                            <p:strVal val="#ppt_x"/>
                                          </p:val>
                                        </p:tav>
                                        <p:tav tm="100000">
                                          <p:val>
                                            <p:strVal val="#ppt_x"/>
                                          </p:val>
                                        </p:tav>
                                      </p:tavLst>
                                    </p:anim>
                                    <p:anim calcmode="lin" valueType="num">
                                      <p:cBhvr additive="base">
                                        <p:cTn id="104" dur="500" fill="hold"/>
                                        <p:tgtEl>
                                          <p:spTgt spid="23"/>
                                        </p:tgtEl>
                                        <p:attrNameLst>
                                          <p:attrName>ppt_y</p:attrName>
                                        </p:attrNameLst>
                                      </p:cBhvr>
                                      <p:tavLst>
                                        <p:tav tm="0">
                                          <p:val>
                                            <p:strVal val="#ppt_y+0.1"/>
                                          </p:val>
                                        </p:tav>
                                        <p:tav tm="100000">
                                          <p:val>
                                            <p:strVal val="#ppt_y"/>
                                          </p:val>
                                        </p:tav>
                                      </p:tavLst>
                                    </p:anim>
                                    <p:animEffect transition="in" filter="fade">
                                      <p:cBhvr>
                                        <p:cTn id="105" dur="500"/>
                                        <p:tgtEl>
                                          <p:spTgt spid="23"/>
                                        </p:tgtEl>
                                      </p:cBhvr>
                                    </p:animEffect>
                                  </p:childTnLst>
                                </p:cTn>
                              </p:par>
                              <p:par>
                                <p:cTn id="111" presetID="2" presetClass="entr" presetSubtype="4" fill="hold" grpId="0" nodeType="withEffect">
                                  <p:stCondLst>
                                    <p:cond delay="100"/>
                                  </p:stCondLst>
                                  <p:childTnLst>
                                    <p:set>
                                      <p:cBhvr>
                                        <p:cTn id="107" dur="1" fill="hold">
                                          <p:stCondLst>
                                            <p:cond delay="0"/>
                                          </p:stCondLst>
                                        </p:cTn>
                                        <p:tgtEl>
                                          <p:spTgt spid="24"/>
                                        </p:tgtEl>
                                        <p:attrNameLst>
                                          <p:attrName>style.visibility</p:attrName>
                                        </p:attrNameLst>
                                      </p:cBhvr>
                                      <p:to>
                                        <p:strVal val="visible"/>
                                      </p:to>
                                    </p:set>
                                    <p:anim calcmode="lin" valueType="num">
                                      <p:cBhvr additive="base">
                                        <p:cTn id="108" dur="500" fill="hold"/>
                                        <p:tgtEl>
                                          <p:spTgt spid="24"/>
                                        </p:tgtEl>
                                        <p:attrNameLst>
                                          <p:attrName>ppt_x</p:attrName>
                                        </p:attrNameLst>
                                      </p:cBhvr>
                                      <p:tavLst>
                                        <p:tav tm="0">
                                          <p:val>
                                            <p:strVal val="#ppt_x"/>
                                          </p:val>
                                        </p:tav>
                                        <p:tav tm="100000">
                                          <p:val>
                                            <p:strVal val="#ppt_x"/>
                                          </p:val>
                                        </p:tav>
                                      </p:tavLst>
                                    </p:anim>
                                    <p:anim calcmode="lin" valueType="num">
                                      <p:cBhvr additive="base">
                                        <p:cTn id="109" dur="500" fill="hold"/>
                                        <p:tgtEl>
                                          <p:spTgt spid="24"/>
                                        </p:tgtEl>
                                        <p:attrNameLst>
                                          <p:attrName>ppt_y</p:attrName>
                                        </p:attrNameLst>
                                      </p:cBhvr>
                                      <p:tavLst>
                                        <p:tav tm="0">
                                          <p:val>
                                            <p:strVal val="#ppt_y+0.1"/>
                                          </p:val>
                                        </p:tav>
                                        <p:tav tm="100000">
                                          <p:val>
                                            <p:strVal val="#ppt_y"/>
                                          </p:val>
                                        </p:tav>
                                      </p:tavLst>
                                    </p:anim>
                                    <p:animEffect transition="in" filter="fade">
                                      <p:cBhvr>
                                        <p:cTn id="110" dur="500"/>
                                        <p:tgtEl>
                                          <p:spTgt spid="24"/>
                                        </p:tgtEl>
                                      </p:cBhvr>
                                    </p:animEffect>
                                  </p:childTnLst>
                                </p:cTn>
                              </p:par>
                              <p:par>
                                <p:cTn id="116" presetID="2" presetClass="entr" presetSubtype="4" fill="hold" grpId="0" nodeType="withEffect">
                                  <p:stCondLst>
                                    <p:cond delay="100"/>
                                  </p:stCondLst>
                                  <p:childTnLst>
                                    <p:set>
                                      <p:cBhvr>
                                        <p:cTn id="112" dur="1" fill="hold">
                                          <p:stCondLst>
                                            <p:cond delay="0"/>
                                          </p:stCondLst>
                                        </p:cTn>
                                        <p:tgtEl>
                                          <p:spTgt spid="25"/>
                                        </p:tgtEl>
                                        <p:attrNameLst>
                                          <p:attrName>style.visibility</p:attrName>
                                        </p:attrNameLst>
                                      </p:cBhvr>
                                      <p:to>
                                        <p:strVal val="visible"/>
                                      </p:to>
                                    </p:se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1"/>
                                          </p:val>
                                        </p:tav>
                                        <p:tav tm="100000">
                                          <p:val>
                                            <p:strVal val="#ppt_y"/>
                                          </p:val>
                                        </p:tav>
                                      </p:tavLst>
                                    </p:anim>
                                    <p:animEffect transition="in" filter="fade">
                                      <p:cBhvr>
                                        <p:cTn id="115" dur="500"/>
                                        <p:tgtEl>
                                          <p:spTgt spid="25"/>
                                        </p:tgtEl>
                                      </p:cBhvr>
                                    </p:animEffect>
                                  </p:childTnLst>
                                </p:cTn>
                              </p:par>
                              <p:par>
                                <p:cTn id="121" presetID="2" presetClass="entr" presetSubtype="4" fill="hold" grpId="0" nodeType="withEffect">
                                  <p:stCondLst>
                                    <p:cond delay="220"/>
                                  </p:stCondLst>
                                  <p:childTnLst>
                                    <p:set>
                                      <p:cBhvr>
                                        <p:cTn id="117" dur="1" fill="hold">
                                          <p:stCondLst>
                                            <p:cond delay="0"/>
                                          </p:stCondLst>
                                        </p:cTn>
                                        <p:tgtEl>
                                          <p:spTgt spid="26"/>
                                        </p:tgtEl>
                                        <p:attrNameLst>
                                          <p:attrName>style.visibility</p:attrName>
                                        </p:attrNameLst>
                                      </p:cBhvr>
                                      <p:to>
                                        <p:strVal val="visible"/>
                                      </p:to>
                                    </p:set>
                                    <p:anim calcmode="lin" valueType="num">
                                      <p:cBhvr additive="base">
                                        <p:cTn id="118" dur="500" fill="hold"/>
                                        <p:tgtEl>
                                          <p:spTgt spid="26"/>
                                        </p:tgtEl>
                                        <p:attrNameLst>
                                          <p:attrName>ppt_x</p:attrName>
                                        </p:attrNameLst>
                                      </p:cBhvr>
                                      <p:tavLst>
                                        <p:tav tm="0">
                                          <p:val>
                                            <p:strVal val="#ppt_x"/>
                                          </p:val>
                                        </p:tav>
                                        <p:tav tm="100000">
                                          <p:val>
                                            <p:strVal val="#ppt_x"/>
                                          </p:val>
                                        </p:tav>
                                      </p:tavLst>
                                    </p:anim>
                                    <p:anim calcmode="lin" valueType="num">
                                      <p:cBhvr additive="base">
                                        <p:cTn id="119" dur="500" fill="hold"/>
                                        <p:tgtEl>
                                          <p:spTgt spid="26"/>
                                        </p:tgtEl>
                                        <p:attrNameLst>
                                          <p:attrName>ppt_y</p:attrName>
                                        </p:attrNameLst>
                                      </p:cBhvr>
                                      <p:tavLst>
                                        <p:tav tm="0">
                                          <p:val>
                                            <p:strVal val="#ppt_y+0.1"/>
                                          </p:val>
                                        </p:tav>
                                        <p:tav tm="100000">
                                          <p:val>
                                            <p:strVal val="#ppt_y"/>
                                          </p:val>
                                        </p:tav>
                                      </p:tavLst>
                                    </p:anim>
                                    <p:animEffect transition="in" filter="fade">
                                      <p:cBhvr>
                                        <p:cTn id="120" dur="500"/>
                                        <p:tgtEl>
                                          <p:spTgt spid="26"/>
                                        </p:tgtEl>
                                      </p:cBhvr>
                                    </p:animEffect>
                                  </p:childTnLst>
                                </p:cTn>
                              </p:par>
                              <p:par>
                                <p:cTn id="126" presetID="2" presetClass="entr" presetSubtype="4" fill="hold" grpId="0" nodeType="withEffect">
                                  <p:stCondLst>
                                    <p:cond delay="220"/>
                                  </p:stCondLst>
                                  <p:childTnLst>
                                    <p:set>
                                      <p:cBhvr>
                                        <p:cTn id="122" dur="1" fill="hold">
                                          <p:stCondLst>
                                            <p:cond delay="0"/>
                                          </p:stCondLst>
                                        </p:cTn>
                                        <p:tgtEl>
                                          <p:spTgt spid="27"/>
                                        </p:tgtEl>
                                        <p:attrNameLst>
                                          <p:attrName>style.visibility</p:attrName>
                                        </p:attrNameLst>
                                      </p:cBhvr>
                                      <p:to>
                                        <p:strVal val="visible"/>
                                      </p:to>
                                    </p:set>
                                    <p:anim calcmode="lin" valueType="num">
                                      <p:cBhvr additive="base">
                                        <p:cTn id="123" dur="500" fill="hold"/>
                                        <p:tgtEl>
                                          <p:spTgt spid="27"/>
                                        </p:tgtEl>
                                        <p:attrNameLst>
                                          <p:attrName>ppt_x</p:attrName>
                                        </p:attrNameLst>
                                      </p:cBhvr>
                                      <p:tavLst>
                                        <p:tav tm="0">
                                          <p:val>
                                            <p:strVal val="#ppt_x"/>
                                          </p:val>
                                        </p:tav>
                                        <p:tav tm="100000">
                                          <p:val>
                                            <p:strVal val="#ppt_x"/>
                                          </p:val>
                                        </p:tav>
                                      </p:tavLst>
                                    </p:anim>
                                    <p:anim calcmode="lin" valueType="num">
                                      <p:cBhvr additive="base">
                                        <p:cTn id="124" dur="500" fill="hold"/>
                                        <p:tgtEl>
                                          <p:spTgt spid="27"/>
                                        </p:tgtEl>
                                        <p:attrNameLst>
                                          <p:attrName>ppt_y</p:attrName>
                                        </p:attrNameLst>
                                      </p:cBhvr>
                                      <p:tavLst>
                                        <p:tav tm="0">
                                          <p:val>
                                            <p:strVal val="#ppt_y+0.1"/>
                                          </p:val>
                                        </p:tav>
                                        <p:tav tm="100000">
                                          <p:val>
                                            <p:strVal val="#ppt_y"/>
                                          </p:val>
                                        </p:tav>
                                      </p:tavLst>
                                    </p:anim>
                                    <p:animEffect transition="in" filter="fade">
                                      <p:cBhvr>
                                        <p:cTn id="125" dur="500"/>
                                        <p:tgtEl>
                                          <p:spTgt spid="27"/>
                                        </p:tgtEl>
                                      </p:cBhvr>
                                    </p:animEffect>
                                  </p:childTnLst>
                                </p:cTn>
                              </p:par>
                              <p:par>
                                <p:cTn id="131" presetID="2" presetClass="entr" presetSubtype="4" fill="hold" grpId="0" nodeType="withEffect">
                                  <p:stCondLst>
                                    <p:cond delay="220"/>
                                  </p:stCondLst>
                                  <p:childTnLst>
                                    <p:set>
                                      <p:cBhvr>
                                        <p:cTn id="127" dur="1" fill="hold">
                                          <p:stCondLst>
                                            <p:cond delay="0"/>
                                          </p:stCondLst>
                                        </p:cTn>
                                        <p:tgtEl>
                                          <p:spTgt spid="28"/>
                                        </p:tgtEl>
                                        <p:attrNameLst>
                                          <p:attrName>style.visibility</p:attrName>
                                        </p:attrNameLst>
                                      </p:cBhvr>
                                      <p:to>
                                        <p:strVal val="visible"/>
                                      </p:to>
                                    </p:se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1"/>
                                          </p:val>
                                        </p:tav>
                                        <p:tav tm="100000">
                                          <p:val>
                                            <p:strVal val="#ppt_y"/>
                                          </p:val>
                                        </p:tav>
                                      </p:tavLst>
                                    </p:anim>
                                    <p:animEffect transition="in" filter="fade">
                                      <p:cBhvr>
                                        <p:cTn id="130" dur="500"/>
                                        <p:tgtEl>
                                          <p:spTgt spid="28"/>
                                        </p:tgtEl>
                                      </p:cBhvr>
                                    </p:animEffect>
                                  </p:childTnLst>
                                </p:cTn>
                              </p:par>
                              <p:par>
                                <p:cTn id="136" presetID="2" presetClass="entr" presetSubtype="4" fill="hold" grpId="0" nodeType="withEffect">
                                  <p:stCondLst>
                                    <p:cond delay="340"/>
                                  </p:stCondLst>
                                  <p:childTnLst>
                                    <p:set>
                                      <p:cBhvr>
                                        <p:cTn id="132" dur="1" fill="hold">
                                          <p:stCondLst>
                                            <p:cond delay="0"/>
                                          </p:stCondLst>
                                        </p:cTn>
                                        <p:tgtEl>
                                          <p:spTgt spid="29"/>
                                        </p:tgtEl>
                                        <p:attrNameLst>
                                          <p:attrName>style.visibility</p:attrName>
                                        </p:attrNameLst>
                                      </p:cBhvr>
                                      <p:to>
                                        <p:strVal val="visible"/>
                                      </p:to>
                                    </p:set>
                                    <p:anim calcmode="lin" valueType="num">
                                      <p:cBhvr additive="base">
                                        <p:cTn id="133" dur="500" fill="hold"/>
                                        <p:tgtEl>
                                          <p:spTgt spid="29"/>
                                        </p:tgtEl>
                                        <p:attrNameLst>
                                          <p:attrName>ppt_x</p:attrName>
                                        </p:attrNameLst>
                                      </p:cBhvr>
                                      <p:tavLst>
                                        <p:tav tm="0">
                                          <p:val>
                                            <p:strVal val="#ppt_x"/>
                                          </p:val>
                                        </p:tav>
                                        <p:tav tm="100000">
                                          <p:val>
                                            <p:strVal val="#ppt_x"/>
                                          </p:val>
                                        </p:tav>
                                      </p:tavLst>
                                    </p:anim>
                                    <p:anim calcmode="lin" valueType="num">
                                      <p:cBhvr additive="base">
                                        <p:cTn id="134" dur="500" fill="hold"/>
                                        <p:tgtEl>
                                          <p:spTgt spid="29"/>
                                        </p:tgtEl>
                                        <p:attrNameLst>
                                          <p:attrName>ppt_y</p:attrName>
                                        </p:attrNameLst>
                                      </p:cBhvr>
                                      <p:tavLst>
                                        <p:tav tm="0">
                                          <p:val>
                                            <p:strVal val="#ppt_y+0.1"/>
                                          </p:val>
                                        </p:tav>
                                        <p:tav tm="100000">
                                          <p:val>
                                            <p:strVal val="#ppt_y"/>
                                          </p:val>
                                        </p:tav>
                                      </p:tavLst>
                                    </p:anim>
                                    <p:animEffect transition="in" filter="fade">
                                      <p:cBhvr>
                                        <p:cTn id="135" dur="500"/>
                                        <p:tgtEl>
                                          <p:spTgt spid="29"/>
                                        </p:tgtEl>
                                      </p:cBhvr>
                                    </p:animEffect>
                                  </p:childTnLst>
                                </p:cTn>
                              </p:par>
                              <p:par>
                                <p:cTn id="141" presetID="2" presetClass="entr" presetSubtype="4" fill="hold" grpId="0" nodeType="withEffect">
                                  <p:stCondLst>
                                    <p:cond delay="340"/>
                                  </p:stCondLst>
                                  <p:childTnLst>
                                    <p:set>
                                      <p:cBhvr>
                                        <p:cTn id="137" dur="1" fill="hold">
                                          <p:stCondLst>
                                            <p:cond delay="0"/>
                                          </p:stCondLst>
                                        </p:cTn>
                                        <p:tgtEl>
                                          <p:spTgt spid="30"/>
                                        </p:tgtEl>
                                        <p:attrNameLst>
                                          <p:attrName>style.visibility</p:attrName>
                                        </p:attrNameLst>
                                      </p:cBhvr>
                                      <p:to>
                                        <p:strVal val="visible"/>
                                      </p:to>
                                    </p:set>
                                    <p:anim calcmode="lin" valueType="num">
                                      <p:cBhvr additive="base">
                                        <p:cTn id="138" dur="500" fill="hold"/>
                                        <p:tgtEl>
                                          <p:spTgt spid="30"/>
                                        </p:tgtEl>
                                        <p:attrNameLst>
                                          <p:attrName>ppt_x</p:attrName>
                                        </p:attrNameLst>
                                      </p:cBhvr>
                                      <p:tavLst>
                                        <p:tav tm="0">
                                          <p:val>
                                            <p:strVal val="#ppt_x"/>
                                          </p:val>
                                        </p:tav>
                                        <p:tav tm="100000">
                                          <p:val>
                                            <p:strVal val="#ppt_x"/>
                                          </p:val>
                                        </p:tav>
                                      </p:tavLst>
                                    </p:anim>
                                    <p:anim calcmode="lin" valueType="num">
                                      <p:cBhvr additive="base">
                                        <p:cTn id="139" dur="500" fill="hold"/>
                                        <p:tgtEl>
                                          <p:spTgt spid="30"/>
                                        </p:tgtEl>
                                        <p:attrNameLst>
                                          <p:attrName>ppt_y</p:attrName>
                                        </p:attrNameLst>
                                      </p:cBhvr>
                                      <p:tavLst>
                                        <p:tav tm="0">
                                          <p:val>
                                            <p:strVal val="#ppt_y+0.1"/>
                                          </p:val>
                                        </p:tav>
                                        <p:tav tm="100000">
                                          <p:val>
                                            <p:strVal val="#ppt_y"/>
                                          </p:val>
                                        </p:tav>
                                      </p:tavLst>
                                    </p:anim>
                                    <p:animEffect transition="in" filter="fade">
                                      <p:cBhvr>
                                        <p:cTn id="140" dur="500"/>
                                        <p:tgtEl>
                                          <p:spTgt spid="30"/>
                                        </p:tgtEl>
                                      </p:cBhvr>
                                    </p:animEffect>
                                  </p:childTnLst>
                                </p:cTn>
                              </p:par>
                              <p:par>
                                <p:cTn id="146" presetID="2" presetClass="entr" presetSubtype="4" fill="hold" grpId="0" nodeType="withEffect">
                                  <p:stCondLst>
                                    <p:cond delay="340"/>
                                  </p:stCondLst>
                                  <p:childTnLst>
                                    <p:set>
                                      <p:cBhvr>
                                        <p:cTn id="142" dur="1" fill="hold">
                                          <p:stCondLst>
                                            <p:cond delay="0"/>
                                          </p:stCondLst>
                                        </p:cTn>
                                        <p:tgtEl>
                                          <p:spTgt spid="31"/>
                                        </p:tgtEl>
                                        <p:attrNameLst>
                                          <p:attrName>style.visibility</p:attrName>
                                        </p:attrNameLst>
                                      </p:cBhvr>
                                      <p:to>
                                        <p:strVal val="visible"/>
                                      </p:to>
                                    </p:se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1"/>
                                          </p:val>
                                        </p:tav>
                                        <p:tav tm="100000">
                                          <p:val>
                                            <p:strVal val="#ppt_y"/>
                                          </p:val>
                                        </p:tav>
                                      </p:tavLst>
                                    </p:anim>
                                    <p:animEffect transition="in" filter="fade">
                                      <p:cBhvr>
                                        <p:cTn id="145" dur="500"/>
                                        <p:tgtEl>
                                          <p:spTgt spid="31"/>
                                        </p:tgtEl>
                                      </p:cBhvr>
                                    </p:animEffect>
                                  </p:childTnLst>
                                </p:cTn>
                              </p:par>
                              <p:par>
                                <p:cTn id="151" presetID="2" presetClass="entr" presetSubtype="4" fill="hold" grpId="0" nodeType="withEffect">
                                  <p:stCondLst>
                                    <p:cond delay="460"/>
                                  </p:stCondLst>
                                  <p:childTnLst>
                                    <p:set>
                                      <p:cBhvr>
                                        <p:cTn id="147" dur="1" fill="hold">
                                          <p:stCondLst>
                                            <p:cond delay="0"/>
                                          </p:stCondLst>
                                        </p:cTn>
                                        <p:tgtEl>
                                          <p:spTgt spid="32"/>
                                        </p:tgtEl>
                                        <p:attrNameLst>
                                          <p:attrName>style.visibility</p:attrName>
                                        </p:attrNameLst>
                                      </p:cBhvr>
                                      <p:to>
                                        <p:strVal val="visible"/>
                                      </p:to>
                                    </p:set>
                                    <p:anim calcmode="lin" valueType="num">
                                      <p:cBhvr additive="base">
                                        <p:cTn id="148" dur="500" fill="hold"/>
                                        <p:tgtEl>
                                          <p:spTgt spid="32"/>
                                        </p:tgtEl>
                                        <p:attrNameLst>
                                          <p:attrName>ppt_x</p:attrName>
                                        </p:attrNameLst>
                                      </p:cBhvr>
                                      <p:tavLst>
                                        <p:tav tm="0">
                                          <p:val>
                                            <p:strVal val="#ppt_x"/>
                                          </p:val>
                                        </p:tav>
                                        <p:tav tm="100000">
                                          <p:val>
                                            <p:strVal val="#ppt_x"/>
                                          </p:val>
                                        </p:tav>
                                      </p:tavLst>
                                    </p:anim>
                                    <p:anim calcmode="lin" valueType="num">
                                      <p:cBhvr additive="base">
                                        <p:cTn id="149" dur="500" fill="hold"/>
                                        <p:tgtEl>
                                          <p:spTgt spid="32"/>
                                        </p:tgtEl>
                                        <p:attrNameLst>
                                          <p:attrName>ppt_y</p:attrName>
                                        </p:attrNameLst>
                                      </p:cBhvr>
                                      <p:tavLst>
                                        <p:tav tm="0">
                                          <p:val>
                                            <p:strVal val="#ppt_y+0.1"/>
                                          </p:val>
                                        </p:tav>
                                        <p:tav tm="100000">
                                          <p:val>
                                            <p:strVal val="#ppt_y"/>
                                          </p:val>
                                        </p:tav>
                                      </p:tavLst>
                                    </p:anim>
                                    <p:animEffect transition="in" filter="fade">
                                      <p:cBhvr>
                                        <p:cTn id="1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The CAP Theorem</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When the network splits, you must choose: stay consistent, or stay available</a:t>
            </a:r>
          </a:p>
        </p:txBody>
      </p:sp>
      <p:sp>
        <p:nvSpPr>
          <p:cNvPr id="4" name="a1f_tri3"/>
          <p:cNvSpPr/>
          <p:nvPr/>
        </p:nvSpPr>
        <p:spPr>
          <a:xfrm>
            <a:off x="914399" y="1261872"/>
            <a:ext cx="2834640" cy="2606040"/>
          </a:xfrm>
          <a:prstGeom prst="triangle">
            <a:avLst/>
          </a:prstGeom>
          <a:no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d150_cn4"/>
          <p:cNvSpPr/>
          <p:nvPr/>
        </p:nvSpPr>
        <p:spPr>
          <a:xfrm>
            <a:off x="2039112" y="1289304"/>
            <a:ext cx="585216" cy="58521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150_cl5"/>
          <p:cNvSpPr txBox="1"/>
          <p:nvPr/>
        </p:nvSpPr>
        <p:spPr>
          <a:xfrm>
            <a:off x="2039112" y="1289304"/>
            <a:ext cx="585216" cy="585216"/>
          </a:xfrm>
          <a:prstGeom prst="rect">
            <a:avLst/>
          </a:prstGeom>
          <a:noFill/>
        </p:spPr>
        <p:txBody>
          <a:bodyPr wrap="square" lIns="0" tIns="0" rIns="0" bIns="0" anchor="ctr">
            <a:spAutoFit/>
          </a:bodyPr>
          <a:lstStyle/>
          <a:p>
            <a:pPr algn="ctr"/>
            <a:r>
              <a:rPr sz="2000" b="1">
                <a:solidFill>
                  <a:srgbClr val="FFFFFF"/>
                </a:solidFill>
                <a:latin typeface="Calibri"/>
              </a:rPr>
              <a:t>C</a:t>
            </a:r>
          </a:p>
        </p:txBody>
      </p:sp>
      <p:sp>
        <p:nvSpPr>
          <p:cNvPr id="7" name="a1ud300_cn6"/>
          <p:cNvSpPr/>
          <p:nvPr/>
        </p:nvSpPr>
        <p:spPr>
          <a:xfrm>
            <a:off x="713231" y="3346704"/>
            <a:ext cx="585216" cy="58521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1ud300_cl7"/>
          <p:cNvSpPr txBox="1"/>
          <p:nvPr/>
        </p:nvSpPr>
        <p:spPr>
          <a:xfrm>
            <a:off x="713231" y="3346704"/>
            <a:ext cx="585216" cy="585216"/>
          </a:xfrm>
          <a:prstGeom prst="rect">
            <a:avLst/>
          </a:prstGeom>
          <a:noFill/>
        </p:spPr>
        <p:txBody>
          <a:bodyPr wrap="square" lIns="0" tIns="0" rIns="0" bIns="0" anchor="ctr">
            <a:spAutoFit/>
          </a:bodyPr>
          <a:lstStyle/>
          <a:p>
            <a:pPr algn="ctr"/>
            <a:r>
              <a:rPr sz="2000" b="1">
                <a:solidFill>
                  <a:srgbClr val="FFFFFF"/>
                </a:solidFill>
                <a:latin typeface="Calibri"/>
              </a:rPr>
              <a:t>A</a:t>
            </a:r>
          </a:p>
        </p:txBody>
      </p:sp>
      <p:sp>
        <p:nvSpPr>
          <p:cNvPr id="9" name="a1ud450_cn8"/>
          <p:cNvSpPr/>
          <p:nvPr/>
        </p:nvSpPr>
        <p:spPr>
          <a:xfrm>
            <a:off x="3364992" y="3346704"/>
            <a:ext cx="585216" cy="58521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1ud450_cl9"/>
          <p:cNvSpPr txBox="1"/>
          <p:nvPr/>
        </p:nvSpPr>
        <p:spPr>
          <a:xfrm>
            <a:off x="3364992" y="3346704"/>
            <a:ext cx="585216" cy="585216"/>
          </a:xfrm>
          <a:prstGeom prst="rect">
            <a:avLst/>
          </a:prstGeom>
          <a:noFill/>
        </p:spPr>
        <p:txBody>
          <a:bodyPr wrap="square" lIns="0" tIns="0" rIns="0" bIns="0" anchor="ctr">
            <a:spAutoFit/>
          </a:bodyPr>
          <a:lstStyle/>
          <a:p>
            <a:pPr algn="ctr"/>
            <a:r>
              <a:rPr sz="2000" b="1">
                <a:solidFill>
                  <a:srgbClr val="FFFFFF"/>
                </a:solidFill>
                <a:latin typeface="Calibri"/>
              </a:rPr>
              <a:t>P</a:t>
            </a:r>
          </a:p>
        </p:txBody>
      </p:sp>
      <p:sp>
        <p:nvSpPr>
          <p:cNvPr id="11" name="a1fd650_cap10"/>
          <p:cNvSpPr txBox="1"/>
          <p:nvPr/>
        </p:nvSpPr>
        <p:spPr>
          <a:xfrm>
            <a:off x="457200" y="3941064"/>
            <a:ext cx="3794760" cy="237744"/>
          </a:xfrm>
          <a:prstGeom prst="rect">
            <a:avLst/>
          </a:prstGeom>
          <a:noFill/>
        </p:spPr>
        <p:txBody>
          <a:bodyPr wrap="square" lIns="0" tIns="0" rIns="0" bIns="0" anchor="ctr">
            <a:spAutoFit/>
          </a:bodyPr>
          <a:lstStyle/>
          <a:p>
            <a:pPr algn="ctr"/>
            <a:r>
              <a:rPr sz="1050" b="1">
                <a:solidFill>
                  <a:srgbClr val="64748B"/>
                </a:solidFill>
                <a:latin typeface="Calibri"/>
              </a:rPr>
              <a:t>Pick any two - P is not optional on a network</a:t>
            </a:r>
          </a:p>
        </p:txBody>
      </p:sp>
      <p:sp>
        <p:nvSpPr>
          <p:cNvPr id="12" name="a2u_card11"/>
          <p:cNvSpPr/>
          <p:nvPr/>
        </p:nvSpPr>
        <p:spPr>
          <a:xfrm>
            <a:off x="4572000" y="1216152"/>
            <a:ext cx="4114800" cy="2651760"/>
          </a:xfrm>
          <a:prstGeom prst="roundRect">
            <a:avLst>
              <a:gd name="adj" fmla="val 3448"/>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2u_hh12"/>
          <p:cNvSpPr txBox="1"/>
          <p:nvPr/>
        </p:nvSpPr>
        <p:spPr>
          <a:xfrm>
            <a:off x="4773168" y="1344168"/>
            <a:ext cx="3712463" cy="237744"/>
          </a:xfrm>
          <a:prstGeom prst="rect">
            <a:avLst/>
          </a:prstGeom>
          <a:noFill/>
        </p:spPr>
        <p:txBody>
          <a:bodyPr wrap="square" lIns="0" tIns="0" rIns="0" bIns="0" anchor="ctr">
            <a:spAutoFit/>
          </a:bodyPr>
          <a:lstStyle/>
          <a:p>
            <a:pPr algn="l"/>
            <a:r>
              <a:rPr sz="950" b="1">
                <a:solidFill>
                  <a:srgbClr val="6D28D9"/>
                </a:solidFill>
                <a:latin typeface="Calibri"/>
              </a:rPr>
              <a:t>SO THE REAL CHOICE IS CP OR AP</a:t>
            </a:r>
          </a:p>
        </p:txBody>
      </p:sp>
      <p:sp>
        <p:nvSpPr>
          <p:cNvPr id="14" name="a2u_tg13"/>
          <p:cNvSpPr/>
          <p:nvPr/>
        </p:nvSpPr>
        <p:spPr>
          <a:xfrm>
            <a:off x="4773168" y="1655064"/>
            <a:ext cx="658368" cy="384048"/>
          </a:xfrm>
          <a:prstGeom prst="roundRect">
            <a:avLst>
              <a:gd name="adj" fmla="val 14285"/>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tgl14"/>
          <p:cNvSpPr txBox="1"/>
          <p:nvPr/>
        </p:nvSpPr>
        <p:spPr>
          <a:xfrm>
            <a:off x="4773168" y="1655064"/>
            <a:ext cx="658368" cy="384048"/>
          </a:xfrm>
          <a:prstGeom prst="rect">
            <a:avLst/>
          </a:prstGeom>
          <a:noFill/>
        </p:spPr>
        <p:txBody>
          <a:bodyPr wrap="square" lIns="0" tIns="0" rIns="0" bIns="0" anchor="ctr">
            <a:spAutoFit/>
          </a:bodyPr>
          <a:lstStyle/>
          <a:p>
            <a:pPr algn="ctr"/>
            <a:r>
              <a:rPr sz="1300" b="1">
                <a:solidFill>
                  <a:srgbClr val="FFFFFF"/>
                </a:solidFill>
                <a:latin typeface="Courier New"/>
              </a:rPr>
              <a:t>CP</a:t>
            </a:r>
          </a:p>
        </p:txBody>
      </p:sp>
      <p:sp>
        <p:nvSpPr>
          <p:cNvPr id="16" name="a2u_td15"/>
          <p:cNvSpPr txBox="1"/>
          <p:nvPr/>
        </p:nvSpPr>
        <p:spPr>
          <a:xfrm>
            <a:off x="5559552" y="1618488"/>
            <a:ext cx="2944368" cy="475488"/>
          </a:xfrm>
          <a:prstGeom prst="rect">
            <a:avLst/>
          </a:prstGeom>
          <a:noFill/>
        </p:spPr>
        <p:txBody>
          <a:bodyPr wrap="square" lIns="0" tIns="0" rIns="0" bIns="0" anchor="t">
            <a:spAutoFit/>
          </a:bodyPr>
          <a:lstStyle/>
          <a:p>
            <a:pPr algn="l"/>
            <a:r>
              <a:rPr sz="1050" b="0">
                <a:solidFill>
                  <a:srgbClr val="334155"/>
                </a:solidFill>
                <a:latin typeface="Calibri"/>
              </a:rPr>
              <a:t>Refuse the request rather than answer with stale data.</a:t>
            </a:r>
          </a:p>
        </p:txBody>
      </p:sp>
      <p:sp>
        <p:nvSpPr>
          <p:cNvPr id="17" name="a2ud60_te16"/>
          <p:cNvSpPr txBox="1"/>
          <p:nvPr/>
        </p:nvSpPr>
        <p:spPr>
          <a:xfrm>
            <a:off x="5559552" y="2039112"/>
            <a:ext cx="2944368" cy="237744"/>
          </a:xfrm>
          <a:prstGeom prst="rect">
            <a:avLst/>
          </a:prstGeom>
          <a:noFill/>
        </p:spPr>
        <p:txBody>
          <a:bodyPr wrap="square" lIns="0" tIns="0" rIns="0" bIns="0" anchor="ctr">
            <a:spAutoFit/>
          </a:bodyPr>
          <a:lstStyle/>
          <a:p>
            <a:pPr algn="l"/>
            <a:r>
              <a:rPr sz="850" b="0">
                <a:solidFill>
                  <a:srgbClr val="8B5CF6"/>
                </a:solidFill>
                <a:latin typeface="Courier New"/>
              </a:rPr>
              <a:t>HBase · MongoDB (majority) · Redis Cluster · etcd · ZooKeeper</a:t>
            </a:r>
          </a:p>
        </p:txBody>
      </p:sp>
      <p:sp>
        <p:nvSpPr>
          <p:cNvPr id="18" name="a2ud120_tg17"/>
          <p:cNvSpPr/>
          <p:nvPr/>
        </p:nvSpPr>
        <p:spPr>
          <a:xfrm>
            <a:off x="4773168" y="2404872"/>
            <a:ext cx="658368" cy="384048"/>
          </a:xfrm>
          <a:prstGeom prst="roundRect">
            <a:avLst>
              <a:gd name="adj" fmla="val 14285"/>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120_tgl18"/>
          <p:cNvSpPr txBox="1"/>
          <p:nvPr/>
        </p:nvSpPr>
        <p:spPr>
          <a:xfrm>
            <a:off x="4773168" y="2404872"/>
            <a:ext cx="658368" cy="384048"/>
          </a:xfrm>
          <a:prstGeom prst="rect">
            <a:avLst/>
          </a:prstGeom>
          <a:noFill/>
        </p:spPr>
        <p:txBody>
          <a:bodyPr wrap="square" lIns="0" tIns="0" rIns="0" bIns="0" anchor="ctr">
            <a:spAutoFit/>
          </a:bodyPr>
          <a:lstStyle/>
          <a:p>
            <a:pPr algn="ctr"/>
            <a:r>
              <a:rPr sz="1300" b="1">
                <a:solidFill>
                  <a:srgbClr val="FFFFFF"/>
                </a:solidFill>
                <a:latin typeface="Courier New"/>
              </a:rPr>
              <a:t>AP</a:t>
            </a:r>
          </a:p>
        </p:txBody>
      </p:sp>
      <p:sp>
        <p:nvSpPr>
          <p:cNvPr id="20" name="a2ud120_td19"/>
          <p:cNvSpPr txBox="1"/>
          <p:nvPr/>
        </p:nvSpPr>
        <p:spPr>
          <a:xfrm>
            <a:off x="5559552" y="2368296"/>
            <a:ext cx="2944368" cy="475488"/>
          </a:xfrm>
          <a:prstGeom prst="rect">
            <a:avLst/>
          </a:prstGeom>
          <a:noFill/>
        </p:spPr>
        <p:txBody>
          <a:bodyPr wrap="square" lIns="0" tIns="0" rIns="0" bIns="0" anchor="t">
            <a:spAutoFit/>
          </a:bodyPr>
          <a:lstStyle/>
          <a:p>
            <a:pPr algn="l"/>
            <a:r>
              <a:rPr sz="1050" b="0">
                <a:solidFill>
                  <a:srgbClr val="334155"/>
                </a:solidFill>
                <a:latin typeface="Calibri"/>
              </a:rPr>
              <a:t>Answer from whatever node you reached; reconcile afterwards.</a:t>
            </a:r>
          </a:p>
        </p:txBody>
      </p:sp>
      <p:sp>
        <p:nvSpPr>
          <p:cNvPr id="21" name="a2ud180_te20"/>
          <p:cNvSpPr txBox="1"/>
          <p:nvPr/>
        </p:nvSpPr>
        <p:spPr>
          <a:xfrm>
            <a:off x="5559552" y="2788920"/>
            <a:ext cx="2944368" cy="237744"/>
          </a:xfrm>
          <a:prstGeom prst="rect">
            <a:avLst/>
          </a:prstGeom>
          <a:noFill/>
        </p:spPr>
        <p:txBody>
          <a:bodyPr wrap="square" lIns="0" tIns="0" rIns="0" bIns="0" anchor="ctr">
            <a:spAutoFit/>
          </a:bodyPr>
          <a:lstStyle/>
          <a:p>
            <a:pPr algn="l"/>
            <a:r>
              <a:rPr sz="850" b="0">
                <a:solidFill>
                  <a:srgbClr val="0F766E"/>
                </a:solidFill>
                <a:latin typeface="Courier New"/>
              </a:rPr>
              <a:t>Cassandra · DynamoDB · Riak · CouchDB</a:t>
            </a:r>
          </a:p>
        </p:txBody>
      </p:sp>
      <p:sp>
        <p:nvSpPr>
          <p:cNvPr id="22" name="a2ud240_tg21"/>
          <p:cNvSpPr/>
          <p:nvPr/>
        </p:nvSpPr>
        <p:spPr>
          <a:xfrm>
            <a:off x="4773168" y="3154680"/>
            <a:ext cx="658368" cy="384048"/>
          </a:xfrm>
          <a:prstGeom prst="roundRect">
            <a:avLst>
              <a:gd name="adj" fmla="val 14285"/>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240_tgl22"/>
          <p:cNvSpPr txBox="1"/>
          <p:nvPr/>
        </p:nvSpPr>
        <p:spPr>
          <a:xfrm>
            <a:off x="4773168" y="3154680"/>
            <a:ext cx="658368" cy="384048"/>
          </a:xfrm>
          <a:prstGeom prst="rect">
            <a:avLst/>
          </a:prstGeom>
          <a:noFill/>
        </p:spPr>
        <p:txBody>
          <a:bodyPr wrap="square" lIns="0" tIns="0" rIns="0" bIns="0" anchor="ctr">
            <a:spAutoFit/>
          </a:bodyPr>
          <a:lstStyle/>
          <a:p>
            <a:pPr algn="ctr"/>
            <a:r>
              <a:rPr sz="1300" b="1">
                <a:solidFill>
                  <a:srgbClr val="FFFFFF"/>
                </a:solidFill>
                <a:latin typeface="Courier New"/>
              </a:rPr>
              <a:t>CA</a:t>
            </a:r>
          </a:p>
        </p:txBody>
      </p:sp>
      <p:sp>
        <p:nvSpPr>
          <p:cNvPr id="24" name="a2ud240_td23"/>
          <p:cNvSpPr txBox="1"/>
          <p:nvPr/>
        </p:nvSpPr>
        <p:spPr>
          <a:xfrm>
            <a:off x="5559552" y="3118104"/>
            <a:ext cx="2944368" cy="475488"/>
          </a:xfrm>
          <a:prstGeom prst="rect">
            <a:avLst/>
          </a:prstGeom>
          <a:noFill/>
        </p:spPr>
        <p:txBody>
          <a:bodyPr wrap="square" lIns="0" tIns="0" rIns="0" bIns="0" anchor="t">
            <a:spAutoFit/>
          </a:bodyPr>
          <a:lstStyle/>
          <a:p>
            <a:pPr algn="l"/>
            <a:r>
              <a:rPr sz="1050" b="0">
                <a:solidFill>
                  <a:srgbClr val="334155"/>
                </a:solidFill>
                <a:latin typeface="Calibri"/>
              </a:rPr>
              <a:t>Only on a single node - the moment you have a network, P is forced on you.</a:t>
            </a:r>
          </a:p>
        </p:txBody>
      </p:sp>
      <p:sp>
        <p:nvSpPr>
          <p:cNvPr id="25" name="a2ud300_te24"/>
          <p:cNvSpPr txBox="1"/>
          <p:nvPr/>
        </p:nvSpPr>
        <p:spPr>
          <a:xfrm>
            <a:off x="5559552" y="3538728"/>
            <a:ext cx="2944368" cy="237744"/>
          </a:xfrm>
          <a:prstGeom prst="rect">
            <a:avLst/>
          </a:prstGeom>
          <a:noFill/>
        </p:spPr>
        <p:txBody>
          <a:bodyPr wrap="square" lIns="0" tIns="0" rIns="0" bIns="0" anchor="ctr">
            <a:spAutoFit/>
          </a:bodyPr>
          <a:lstStyle/>
          <a:p>
            <a:pPr algn="l"/>
            <a:r>
              <a:rPr sz="850" b="0">
                <a:solidFill>
                  <a:srgbClr val="64748B"/>
                </a:solidFill>
                <a:latin typeface="Courier New"/>
              </a:rPr>
              <a:t>A standalone PostgreSQL instance</a:t>
            </a:r>
          </a:p>
        </p:txBody>
      </p:sp>
      <p:sp>
        <p:nvSpPr>
          <p:cNvPr id="26" name="a3u_nb25"/>
          <p:cNvSpPr/>
          <p:nvPr/>
        </p:nvSpPr>
        <p:spPr>
          <a:xfrm>
            <a:off x="457200" y="4251960"/>
            <a:ext cx="8229600" cy="438912"/>
          </a:xfrm>
          <a:prstGeom prst="roundRect">
            <a:avLst>
              <a:gd name="adj" fmla="val 1666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_nacc26"/>
          <p:cNvSpPr/>
          <p:nvPr/>
        </p:nvSpPr>
        <p:spPr>
          <a:xfrm>
            <a:off x="457200" y="4251960"/>
            <a:ext cx="50292" cy="43891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nt27"/>
          <p:cNvSpPr txBox="1"/>
          <p:nvPr/>
        </p:nvSpPr>
        <p:spPr>
          <a:xfrm>
            <a:off x="658368" y="4251960"/>
            <a:ext cx="7827264" cy="438912"/>
          </a:xfrm>
          <a:prstGeom prst="rect">
            <a:avLst/>
          </a:prstGeom>
          <a:noFill/>
        </p:spPr>
        <p:txBody>
          <a:bodyPr wrap="square" lIns="0" tIns="0" rIns="0" bIns="0" anchor="ctr">
            <a:spAutoFit/>
          </a:bodyPr>
          <a:lstStyle/>
          <a:p>
            <a:pPr algn="l"/>
            <a:r>
              <a:rPr sz="1000" b="1">
                <a:solidFill>
                  <a:srgbClr val="B45309"/>
                </a:solidFill>
                <a:latin typeface="Calibri"/>
              </a:rPr>
              <a:t>+  </a:t>
            </a:r>
            <a:r>
              <a:rPr sz="1000" b="0">
                <a:solidFill>
                  <a:srgbClr val="334155"/>
                </a:solidFill>
                <a:latin typeface="Calibri"/>
              </a:rPr>
              <a:t>PACELC extends it: if Partitioned choose A or C, Else (normal operation) choose Latency or Consistency. That second half is where most production tuning actually happens.</a:t>
            </a:r>
          </a:p>
        </p:txBody>
      </p:sp>
      <p:sp>
        <p:nvSpPr>
          <p:cNvPr id="29" name="ft2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30" name="ft2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12" presetID="2" presetClass="entr" presetSubtype="4" fill="hold" grpId="0" nodeType="withEffect">
                                  <p:stCondLst>
                                    <p:cond delay="15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fill="hold"/>
                                        <p:tgtEl>
                                          <p:spTgt spid="5"/>
                                        </p:tgtEl>
                                        <p:attrNameLst>
                                          <p:attrName>ppt_x</p:attrName>
                                        </p:attrNameLst>
                                      </p:cBhvr>
                                      <p:tavLst>
                                        <p:tav tm="0">
                                          <p:val>
                                            <p:strVal val="#ppt_x"/>
                                          </p:val>
                                        </p:tav>
                                        <p:tav tm="100000">
                                          <p:val>
                                            <p:strVal val="#ppt_x"/>
                                          </p:val>
                                        </p:tav>
                                      </p:tavLst>
                                    </p:anim>
                                    <p:anim calcmode="lin" valueType="num">
                                      <p:cBhvr additive="base">
                                        <p:cTn id="10" dur="500" fill="hold"/>
                                        <p:tgtEl>
                                          <p:spTgt spid="5"/>
                                        </p:tgtEl>
                                        <p:attrNameLst>
                                          <p:attrName>ppt_y</p:attrName>
                                        </p:attrNameLst>
                                      </p:cBhvr>
                                      <p:tavLst>
                                        <p:tav tm="0">
                                          <p:val>
                                            <p:strVal val="#ppt_y+0.1"/>
                                          </p:val>
                                        </p:tav>
                                        <p:tav tm="100000">
                                          <p:val>
                                            <p:strVal val="#ppt_y"/>
                                          </p:val>
                                        </p:tav>
                                      </p:tavLst>
                                    </p:anim>
                                    <p:animEffect transition="in" filter="fade">
                                      <p:cBhvr>
                                        <p:cTn id="11" dur="500"/>
                                        <p:tgtEl>
                                          <p:spTgt spid="5"/>
                                        </p:tgtEl>
                                      </p:cBhvr>
                                    </p:animEffect>
                                  </p:childTnLst>
                                </p:cTn>
                              </p:par>
                              <p:par>
                                <p:cTn id="17" presetID="2" presetClass="entr" presetSubtype="4"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ppt_y+0.1"/>
                                          </p:val>
                                        </p:tav>
                                        <p:tav tm="100000">
                                          <p:val>
                                            <p:strVal val="#ppt_y"/>
                                          </p:val>
                                        </p:tav>
                                      </p:tavLst>
                                    </p:anim>
                                    <p:animEffect transition="in" filter="fade">
                                      <p:cBhvr>
                                        <p:cTn id="16" dur="500"/>
                                        <p:tgtEl>
                                          <p:spTgt spid="6"/>
                                        </p:tgtEl>
                                      </p:cBhvr>
                                    </p:animEffect>
                                  </p:childTnLst>
                                </p:cTn>
                              </p:par>
                              <p:par>
                                <p:cTn id="22"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ppt_y+0.1"/>
                                          </p:val>
                                        </p:tav>
                                        <p:tav tm="100000">
                                          <p:val>
                                            <p:strVal val="#ppt_y"/>
                                          </p:val>
                                        </p:tav>
                                      </p:tavLst>
                                    </p:anim>
                                    <p:animEffect transition="in" filter="fade">
                                      <p:cBhvr>
                                        <p:cTn id="21" dur="500"/>
                                        <p:tgtEl>
                                          <p:spTgt spid="7"/>
                                        </p:tgtEl>
                                      </p:cBhvr>
                                    </p:animEffect>
                                  </p:childTnLst>
                                </p:cTn>
                              </p:par>
                              <p:par>
                                <p:cTn id="27" presetID="2" presetClass="entr" presetSubtype="4"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ppt_y+0.1"/>
                                          </p:val>
                                        </p:tav>
                                        <p:tav tm="100000">
                                          <p:val>
                                            <p:strVal val="#ppt_y"/>
                                          </p:val>
                                        </p:tav>
                                      </p:tavLst>
                                    </p:anim>
                                    <p:animEffect transition="in" filter="fade">
                                      <p:cBhvr>
                                        <p:cTn id="26" dur="500"/>
                                        <p:tgtEl>
                                          <p:spTgt spid="8"/>
                                        </p:tgtEl>
                                      </p:cBhvr>
                                    </p:animEffect>
                                  </p:childTnLst>
                                </p:cTn>
                              </p:par>
                              <p:par>
                                <p:cTn id="32" presetID="2" presetClass="entr" presetSubtype="4" fill="hold" grpId="0" nodeType="withEffect">
                                  <p:stCondLst>
                                    <p:cond delay="45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ppt_y+0.1"/>
                                          </p:val>
                                        </p:tav>
                                        <p:tav tm="100000">
                                          <p:val>
                                            <p:strVal val="#ppt_y"/>
                                          </p:val>
                                        </p:tav>
                                      </p:tavLst>
                                    </p:anim>
                                    <p:animEffect transition="in" filter="fade">
                                      <p:cBhvr>
                                        <p:cTn id="31" dur="500"/>
                                        <p:tgtEl>
                                          <p:spTgt spid="9"/>
                                        </p:tgtEl>
                                      </p:cBhvr>
                                    </p:animEffect>
                                  </p:childTnLst>
                                </p:cTn>
                              </p:par>
                              <p:par>
                                <p:cTn id="37" presetID="2" presetClass="entr" presetSubtype="4" fill="hold" grpId="0" nodeType="withEffect">
                                  <p:stCondLst>
                                    <p:cond delay="4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ppt_y+0.1"/>
                                          </p:val>
                                        </p:tav>
                                        <p:tav tm="100000">
                                          <p:val>
                                            <p:strVal val="#ppt_y"/>
                                          </p:val>
                                        </p:tav>
                                      </p:tavLst>
                                    </p:anim>
                                    <p:animEffect transition="in" filter="fade">
                                      <p:cBhvr>
                                        <p:cTn id="36" dur="500"/>
                                        <p:tgtEl>
                                          <p:spTgt spid="10"/>
                                        </p:tgtEl>
                                      </p:cBhvr>
                                    </p:animEffect>
                                  </p:childTnLst>
                                </p:cTn>
                              </p:par>
                              <p:par>
                                <p:cTn id="40" presetID="10" presetClass="entr" presetSubtype="0" fill="hold" grpId="0" nodeType="withEffect">
                                  <p:stCondLst>
                                    <p:cond delay="65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7" presetID="2" presetClass="entr" presetSubtype="4"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ppt_y+0.1"/>
                                          </p:val>
                                        </p:tav>
                                        <p:tav tm="100000">
                                          <p:val>
                                            <p:strVal val="#ppt_y"/>
                                          </p:val>
                                        </p:tav>
                                      </p:tavLst>
                                    </p:anim>
                                    <p:animEffect transition="in" filter="fade">
                                      <p:cBhvr>
                                        <p:cTn id="46" dur="500"/>
                                        <p:tgtEl>
                                          <p:spTgt spid="12"/>
                                        </p:tgtEl>
                                      </p:cBhvr>
                                    </p:animEffect>
                                  </p:childTnLst>
                                </p:cTn>
                              </p:par>
                              <p:par>
                                <p:cTn id="52"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ppt_y+0.1"/>
                                          </p:val>
                                        </p:tav>
                                        <p:tav tm="100000">
                                          <p:val>
                                            <p:strVal val="#ppt_y"/>
                                          </p:val>
                                        </p:tav>
                                      </p:tavLst>
                                    </p:anim>
                                    <p:animEffect transition="in" filter="fade">
                                      <p:cBhvr>
                                        <p:cTn id="51" dur="500"/>
                                        <p:tgtEl>
                                          <p:spTgt spid="13"/>
                                        </p:tgtEl>
                                      </p:cBhvr>
                                    </p:animEffect>
                                  </p:childTnLst>
                                </p:cTn>
                              </p:par>
                              <p:par>
                                <p:cTn id="57" presetID="2" presetClass="entr" presetSubtype="4"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ppt_y+0.1"/>
                                          </p:val>
                                        </p:tav>
                                        <p:tav tm="100000">
                                          <p:val>
                                            <p:strVal val="#ppt_y"/>
                                          </p:val>
                                        </p:tav>
                                      </p:tavLst>
                                    </p:anim>
                                    <p:animEffect transition="in" filter="fade">
                                      <p:cBhvr>
                                        <p:cTn id="56" dur="500"/>
                                        <p:tgtEl>
                                          <p:spTgt spid="14"/>
                                        </p:tgtEl>
                                      </p:cBhvr>
                                    </p:animEffect>
                                  </p:childTnLst>
                                </p:cTn>
                              </p:par>
                              <p:par>
                                <p:cTn id="62" presetID="2" presetClass="entr" presetSubtype="4"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ppt_y+0.1"/>
                                          </p:val>
                                        </p:tav>
                                        <p:tav tm="100000">
                                          <p:val>
                                            <p:strVal val="#ppt_y"/>
                                          </p:val>
                                        </p:tav>
                                      </p:tavLst>
                                    </p:anim>
                                    <p:animEffect transition="in" filter="fade">
                                      <p:cBhvr>
                                        <p:cTn id="61" dur="500"/>
                                        <p:tgtEl>
                                          <p:spTgt spid="15"/>
                                        </p:tgtEl>
                                      </p:cBhvr>
                                    </p:animEffect>
                                  </p:childTnLst>
                                </p:cTn>
                              </p:par>
                              <p:par>
                                <p:cTn id="67" presetID="2" presetClass="entr" presetSubtype="4"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ppt_x"/>
                                          </p:val>
                                        </p:tav>
                                        <p:tav tm="100000">
                                          <p:val>
                                            <p:strVal val="#ppt_x"/>
                                          </p:val>
                                        </p:tav>
                                      </p:tavLst>
                                    </p:anim>
                                    <p:anim calcmode="lin" valueType="num">
                                      <p:cBhvr additive="base">
                                        <p:cTn id="65" dur="500" fill="hold"/>
                                        <p:tgtEl>
                                          <p:spTgt spid="16"/>
                                        </p:tgtEl>
                                        <p:attrNameLst>
                                          <p:attrName>ppt_y</p:attrName>
                                        </p:attrNameLst>
                                      </p:cBhvr>
                                      <p:tavLst>
                                        <p:tav tm="0">
                                          <p:val>
                                            <p:strVal val="#ppt_y+0.1"/>
                                          </p:val>
                                        </p:tav>
                                        <p:tav tm="100000">
                                          <p:val>
                                            <p:strVal val="#ppt_y"/>
                                          </p:val>
                                        </p:tav>
                                      </p:tavLst>
                                    </p:anim>
                                    <p:animEffect transition="in" filter="fade">
                                      <p:cBhvr>
                                        <p:cTn id="66" dur="500"/>
                                        <p:tgtEl>
                                          <p:spTgt spid="16"/>
                                        </p:tgtEl>
                                      </p:cBhvr>
                                    </p:animEffect>
                                  </p:childTnLst>
                                </p:cTn>
                              </p:par>
                              <p:par>
                                <p:cTn id="72" presetID="2" presetClass="entr" presetSubtype="4" fill="hold" grpId="0" nodeType="withEffect">
                                  <p:stCondLst>
                                    <p:cond delay="6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ppt_x"/>
                                          </p:val>
                                        </p:tav>
                                        <p:tav tm="100000">
                                          <p:val>
                                            <p:strVal val="#ppt_x"/>
                                          </p:val>
                                        </p:tav>
                                      </p:tavLst>
                                    </p:anim>
                                    <p:anim calcmode="lin" valueType="num">
                                      <p:cBhvr additive="base">
                                        <p:cTn id="70" dur="500" fill="hold"/>
                                        <p:tgtEl>
                                          <p:spTgt spid="17"/>
                                        </p:tgtEl>
                                        <p:attrNameLst>
                                          <p:attrName>ppt_y</p:attrName>
                                        </p:attrNameLst>
                                      </p:cBhvr>
                                      <p:tavLst>
                                        <p:tav tm="0">
                                          <p:val>
                                            <p:strVal val="#ppt_y+0.1"/>
                                          </p:val>
                                        </p:tav>
                                        <p:tav tm="100000">
                                          <p:val>
                                            <p:strVal val="#ppt_y"/>
                                          </p:val>
                                        </p:tav>
                                      </p:tavLst>
                                    </p:anim>
                                    <p:animEffect transition="in" filter="fade">
                                      <p:cBhvr>
                                        <p:cTn id="71" dur="500"/>
                                        <p:tgtEl>
                                          <p:spTgt spid="17"/>
                                        </p:tgtEl>
                                      </p:cBhvr>
                                    </p:animEffect>
                                  </p:childTnLst>
                                </p:cTn>
                              </p:par>
                              <p:par>
                                <p:cTn id="77" presetID="2" presetClass="entr" presetSubtype="4" fill="hold" grpId="0" nodeType="withEffect">
                                  <p:stCondLst>
                                    <p:cond delay="12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500" fill="hold"/>
                                        <p:tgtEl>
                                          <p:spTgt spid="18"/>
                                        </p:tgtEl>
                                        <p:attrNameLst>
                                          <p:attrName>ppt_x</p:attrName>
                                        </p:attrNameLst>
                                      </p:cBhvr>
                                      <p:tavLst>
                                        <p:tav tm="0">
                                          <p:val>
                                            <p:strVal val="#ppt_x"/>
                                          </p:val>
                                        </p:tav>
                                        <p:tav tm="100000">
                                          <p:val>
                                            <p:strVal val="#ppt_x"/>
                                          </p:val>
                                        </p:tav>
                                      </p:tavLst>
                                    </p:anim>
                                    <p:anim calcmode="lin" valueType="num">
                                      <p:cBhvr additive="base">
                                        <p:cTn id="75" dur="500" fill="hold"/>
                                        <p:tgtEl>
                                          <p:spTgt spid="18"/>
                                        </p:tgtEl>
                                        <p:attrNameLst>
                                          <p:attrName>ppt_y</p:attrName>
                                        </p:attrNameLst>
                                      </p:cBhvr>
                                      <p:tavLst>
                                        <p:tav tm="0">
                                          <p:val>
                                            <p:strVal val="#ppt_y+0.1"/>
                                          </p:val>
                                        </p:tav>
                                        <p:tav tm="100000">
                                          <p:val>
                                            <p:strVal val="#ppt_y"/>
                                          </p:val>
                                        </p:tav>
                                      </p:tavLst>
                                    </p:anim>
                                    <p:animEffect transition="in" filter="fade">
                                      <p:cBhvr>
                                        <p:cTn id="76" dur="500"/>
                                        <p:tgtEl>
                                          <p:spTgt spid="18"/>
                                        </p:tgtEl>
                                      </p:cBhvr>
                                    </p:animEffect>
                                  </p:childTnLst>
                                </p:cTn>
                              </p:par>
                              <p:par>
                                <p:cTn id="82" presetID="2" presetClass="entr" presetSubtype="4" fill="hold" grpId="0" nodeType="withEffect">
                                  <p:stCondLst>
                                    <p:cond delay="12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ppt_y+0.1"/>
                                          </p:val>
                                        </p:tav>
                                        <p:tav tm="100000">
                                          <p:val>
                                            <p:strVal val="#ppt_y"/>
                                          </p:val>
                                        </p:tav>
                                      </p:tavLst>
                                    </p:anim>
                                    <p:animEffect transition="in" filter="fade">
                                      <p:cBhvr>
                                        <p:cTn id="81" dur="500"/>
                                        <p:tgtEl>
                                          <p:spTgt spid="19"/>
                                        </p:tgtEl>
                                      </p:cBhvr>
                                    </p:animEffect>
                                  </p:childTnLst>
                                </p:cTn>
                              </p:par>
                              <p:par>
                                <p:cTn id="87" presetID="2" presetClass="entr" presetSubtype="4" fill="hold" grpId="0" nodeType="withEffect">
                                  <p:stCondLst>
                                    <p:cond delay="12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500" fill="hold"/>
                                        <p:tgtEl>
                                          <p:spTgt spid="20"/>
                                        </p:tgtEl>
                                        <p:attrNameLst>
                                          <p:attrName>ppt_x</p:attrName>
                                        </p:attrNameLst>
                                      </p:cBhvr>
                                      <p:tavLst>
                                        <p:tav tm="0">
                                          <p:val>
                                            <p:strVal val="#ppt_x"/>
                                          </p:val>
                                        </p:tav>
                                        <p:tav tm="100000">
                                          <p:val>
                                            <p:strVal val="#ppt_x"/>
                                          </p:val>
                                        </p:tav>
                                      </p:tavLst>
                                    </p:anim>
                                    <p:anim calcmode="lin" valueType="num">
                                      <p:cBhvr additive="base">
                                        <p:cTn id="85" dur="500" fill="hold"/>
                                        <p:tgtEl>
                                          <p:spTgt spid="20"/>
                                        </p:tgtEl>
                                        <p:attrNameLst>
                                          <p:attrName>ppt_y</p:attrName>
                                        </p:attrNameLst>
                                      </p:cBhvr>
                                      <p:tavLst>
                                        <p:tav tm="0">
                                          <p:val>
                                            <p:strVal val="#ppt_y+0.1"/>
                                          </p:val>
                                        </p:tav>
                                        <p:tav tm="100000">
                                          <p:val>
                                            <p:strVal val="#ppt_y"/>
                                          </p:val>
                                        </p:tav>
                                      </p:tavLst>
                                    </p:anim>
                                    <p:animEffect transition="in" filter="fade">
                                      <p:cBhvr>
                                        <p:cTn id="86" dur="500"/>
                                        <p:tgtEl>
                                          <p:spTgt spid="20"/>
                                        </p:tgtEl>
                                      </p:cBhvr>
                                    </p:animEffect>
                                  </p:childTnLst>
                                </p:cTn>
                              </p:par>
                              <p:par>
                                <p:cTn id="92" presetID="2" presetClass="entr" presetSubtype="4" fill="hold" grpId="0" nodeType="withEffect">
                                  <p:stCondLst>
                                    <p:cond delay="180"/>
                                  </p:stCondLst>
                                  <p:childTnLst>
                                    <p:set>
                                      <p:cBhvr>
                                        <p:cTn id="88" dur="1" fill="hold">
                                          <p:stCondLst>
                                            <p:cond delay="0"/>
                                          </p:stCondLst>
                                        </p:cTn>
                                        <p:tgtEl>
                                          <p:spTgt spid="21"/>
                                        </p:tgtEl>
                                        <p:attrNameLst>
                                          <p:attrName>style.visibility</p:attrName>
                                        </p:attrNameLst>
                                      </p:cBhvr>
                                      <p:to>
                                        <p:strVal val="visible"/>
                                      </p:to>
                                    </p:set>
                                    <p:anim calcmode="lin" valueType="num">
                                      <p:cBhvr additive="base">
                                        <p:cTn id="89" dur="500" fill="hold"/>
                                        <p:tgtEl>
                                          <p:spTgt spid="21"/>
                                        </p:tgtEl>
                                        <p:attrNameLst>
                                          <p:attrName>ppt_x</p:attrName>
                                        </p:attrNameLst>
                                      </p:cBhvr>
                                      <p:tavLst>
                                        <p:tav tm="0">
                                          <p:val>
                                            <p:strVal val="#ppt_x"/>
                                          </p:val>
                                        </p:tav>
                                        <p:tav tm="100000">
                                          <p:val>
                                            <p:strVal val="#ppt_x"/>
                                          </p:val>
                                        </p:tav>
                                      </p:tavLst>
                                    </p:anim>
                                    <p:anim calcmode="lin" valueType="num">
                                      <p:cBhvr additive="base">
                                        <p:cTn id="90" dur="500" fill="hold"/>
                                        <p:tgtEl>
                                          <p:spTgt spid="21"/>
                                        </p:tgtEl>
                                        <p:attrNameLst>
                                          <p:attrName>ppt_y</p:attrName>
                                        </p:attrNameLst>
                                      </p:cBhvr>
                                      <p:tavLst>
                                        <p:tav tm="0">
                                          <p:val>
                                            <p:strVal val="#ppt_y+0.1"/>
                                          </p:val>
                                        </p:tav>
                                        <p:tav tm="100000">
                                          <p:val>
                                            <p:strVal val="#ppt_y"/>
                                          </p:val>
                                        </p:tav>
                                      </p:tavLst>
                                    </p:anim>
                                    <p:animEffect transition="in" filter="fade">
                                      <p:cBhvr>
                                        <p:cTn id="91" dur="500"/>
                                        <p:tgtEl>
                                          <p:spTgt spid="21"/>
                                        </p:tgtEl>
                                      </p:cBhvr>
                                    </p:animEffect>
                                  </p:childTnLst>
                                </p:cTn>
                              </p:par>
                              <p:par>
                                <p:cTn id="97" presetID="2" presetClass="entr" presetSubtype="4" fill="hold" grpId="0" nodeType="withEffect">
                                  <p:stCondLst>
                                    <p:cond delay="240"/>
                                  </p:stCondLst>
                                  <p:childTnLst>
                                    <p:set>
                                      <p:cBhvr>
                                        <p:cTn id="93" dur="1" fill="hold">
                                          <p:stCondLst>
                                            <p:cond delay="0"/>
                                          </p:stCondLst>
                                        </p:cTn>
                                        <p:tgtEl>
                                          <p:spTgt spid="22"/>
                                        </p:tgtEl>
                                        <p:attrNameLst>
                                          <p:attrName>style.visibility</p:attrName>
                                        </p:attrNameLst>
                                      </p:cBhvr>
                                      <p:to>
                                        <p:strVal val="visible"/>
                                      </p:to>
                                    </p:set>
                                    <p:anim calcmode="lin" valueType="num">
                                      <p:cBhvr additive="base">
                                        <p:cTn id="94" dur="500" fill="hold"/>
                                        <p:tgtEl>
                                          <p:spTgt spid="22"/>
                                        </p:tgtEl>
                                        <p:attrNameLst>
                                          <p:attrName>ppt_x</p:attrName>
                                        </p:attrNameLst>
                                      </p:cBhvr>
                                      <p:tavLst>
                                        <p:tav tm="0">
                                          <p:val>
                                            <p:strVal val="#ppt_x"/>
                                          </p:val>
                                        </p:tav>
                                        <p:tav tm="100000">
                                          <p:val>
                                            <p:strVal val="#ppt_x"/>
                                          </p:val>
                                        </p:tav>
                                      </p:tavLst>
                                    </p:anim>
                                    <p:anim calcmode="lin" valueType="num">
                                      <p:cBhvr additive="base">
                                        <p:cTn id="95" dur="500" fill="hold"/>
                                        <p:tgtEl>
                                          <p:spTgt spid="22"/>
                                        </p:tgtEl>
                                        <p:attrNameLst>
                                          <p:attrName>ppt_y</p:attrName>
                                        </p:attrNameLst>
                                      </p:cBhvr>
                                      <p:tavLst>
                                        <p:tav tm="0">
                                          <p:val>
                                            <p:strVal val="#ppt_y+0.1"/>
                                          </p:val>
                                        </p:tav>
                                        <p:tav tm="100000">
                                          <p:val>
                                            <p:strVal val="#ppt_y"/>
                                          </p:val>
                                        </p:tav>
                                      </p:tavLst>
                                    </p:anim>
                                    <p:animEffect transition="in" filter="fade">
                                      <p:cBhvr>
                                        <p:cTn id="96" dur="500"/>
                                        <p:tgtEl>
                                          <p:spTgt spid="22"/>
                                        </p:tgtEl>
                                      </p:cBhvr>
                                    </p:animEffect>
                                  </p:childTnLst>
                                </p:cTn>
                              </p:par>
                              <p:par>
                                <p:cTn id="102" presetID="2" presetClass="entr" presetSubtype="4" fill="hold" grpId="0" nodeType="withEffect">
                                  <p:stCondLst>
                                    <p:cond delay="24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500" fill="hold"/>
                                        <p:tgtEl>
                                          <p:spTgt spid="23"/>
                                        </p:tgtEl>
                                        <p:attrNameLst>
                                          <p:attrName>ppt_x</p:attrName>
                                        </p:attrNameLst>
                                      </p:cBhvr>
                                      <p:tavLst>
                                        <p:tav tm="0">
                                          <p:val>
                                            <p:strVal val="#ppt_x"/>
                                          </p:val>
                                        </p:tav>
                                        <p:tav tm="100000">
                                          <p:val>
                                            <p:strVal val="#ppt_x"/>
                                          </p:val>
                                        </p:tav>
                                      </p:tavLst>
                                    </p:anim>
                                    <p:anim calcmode="lin" valueType="num">
                                      <p:cBhvr additive="base">
                                        <p:cTn id="100" dur="500" fill="hold"/>
                                        <p:tgtEl>
                                          <p:spTgt spid="23"/>
                                        </p:tgtEl>
                                        <p:attrNameLst>
                                          <p:attrName>ppt_y</p:attrName>
                                        </p:attrNameLst>
                                      </p:cBhvr>
                                      <p:tavLst>
                                        <p:tav tm="0">
                                          <p:val>
                                            <p:strVal val="#ppt_y+0.1"/>
                                          </p:val>
                                        </p:tav>
                                        <p:tav tm="100000">
                                          <p:val>
                                            <p:strVal val="#ppt_y"/>
                                          </p:val>
                                        </p:tav>
                                      </p:tavLst>
                                    </p:anim>
                                    <p:animEffect transition="in" filter="fade">
                                      <p:cBhvr>
                                        <p:cTn id="101" dur="500"/>
                                        <p:tgtEl>
                                          <p:spTgt spid="23"/>
                                        </p:tgtEl>
                                      </p:cBhvr>
                                    </p:animEffect>
                                  </p:childTnLst>
                                </p:cTn>
                              </p:par>
                              <p:par>
                                <p:cTn id="107" presetID="2" presetClass="entr" presetSubtype="4" fill="hold" grpId="0" nodeType="withEffect">
                                  <p:stCondLst>
                                    <p:cond delay="240"/>
                                  </p:stCondLst>
                                  <p:childTnLst>
                                    <p:set>
                                      <p:cBhvr>
                                        <p:cTn id="103" dur="1" fill="hold">
                                          <p:stCondLst>
                                            <p:cond delay="0"/>
                                          </p:stCondLst>
                                        </p:cTn>
                                        <p:tgtEl>
                                          <p:spTgt spid="24"/>
                                        </p:tgtEl>
                                        <p:attrNameLst>
                                          <p:attrName>style.visibility</p:attrName>
                                        </p:attrNameLst>
                                      </p:cBhvr>
                                      <p:to>
                                        <p:strVal val="visible"/>
                                      </p:to>
                                    </p:set>
                                    <p:anim calcmode="lin" valueType="num">
                                      <p:cBhvr additive="base">
                                        <p:cTn id="104" dur="500" fill="hold"/>
                                        <p:tgtEl>
                                          <p:spTgt spid="24"/>
                                        </p:tgtEl>
                                        <p:attrNameLst>
                                          <p:attrName>ppt_x</p:attrName>
                                        </p:attrNameLst>
                                      </p:cBhvr>
                                      <p:tavLst>
                                        <p:tav tm="0">
                                          <p:val>
                                            <p:strVal val="#ppt_x"/>
                                          </p:val>
                                        </p:tav>
                                        <p:tav tm="100000">
                                          <p:val>
                                            <p:strVal val="#ppt_x"/>
                                          </p:val>
                                        </p:tav>
                                      </p:tavLst>
                                    </p:anim>
                                    <p:anim calcmode="lin" valueType="num">
                                      <p:cBhvr additive="base">
                                        <p:cTn id="105" dur="500" fill="hold"/>
                                        <p:tgtEl>
                                          <p:spTgt spid="24"/>
                                        </p:tgtEl>
                                        <p:attrNameLst>
                                          <p:attrName>ppt_y</p:attrName>
                                        </p:attrNameLst>
                                      </p:cBhvr>
                                      <p:tavLst>
                                        <p:tav tm="0">
                                          <p:val>
                                            <p:strVal val="#ppt_y+0.1"/>
                                          </p:val>
                                        </p:tav>
                                        <p:tav tm="100000">
                                          <p:val>
                                            <p:strVal val="#ppt_y"/>
                                          </p:val>
                                        </p:tav>
                                      </p:tavLst>
                                    </p:anim>
                                    <p:animEffect transition="in" filter="fade">
                                      <p:cBhvr>
                                        <p:cTn id="106" dur="500"/>
                                        <p:tgtEl>
                                          <p:spTgt spid="24"/>
                                        </p:tgtEl>
                                      </p:cBhvr>
                                    </p:animEffect>
                                  </p:childTnLst>
                                </p:cTn>
                              </p:par>
                              <p:par>
                                <p:cTn id="112" presetID="2" presetClass="entr" presetSubtype="4" fill="hold" grpId="0" nodeType="withEffect">
                                  <p:stCondLst>
                                    <p:cond delay="300"/>
                                  </p:stCondLst>
                                  <p:childTnLst>
                                    <p:set>
                                      <p:cBhvr>
                                        <p:cTn id="108" dur="1" fill="hold">
                                          <p:stCondLst>
                                            <p:cond delay="0"/>
                                          </p:stCondLst>
                                        </p:cTn>
                                        <p:tgtEl>
                                          <p:spTgt spid="25"/>
                                        </p:tgtEl>
                                        <p:attrNameLst>
                                          <p:attrName>style.visibility</p:attrName>
                                        </p:attrNameLst>
                                      </p:cBhvr>
                                      <p:to>
                                        <p:strVal val="visible"/>
                                      </p:to>
                                    </p:set>
                                    <p:anim calcmode="lin" valueType="num">
                                      <p:cBhvr additive="base">
                                        <p:cTn id="109" dur="500" fill="hold"/>
                                        <p:tgtEl>
                                          <p:spTgt spid="25"/>
                                        </p:tgtEl>
                                        <p:attrNameLst>
                                          <p:attrName>ppt_x</p:attrName>
                                        </p:attrNameLst>
                                      </p:cBhvr>
                                      <p:tavLst>
                                        <p:tav tm="0">
                                          <p:val>
                                            <p:strVal val="#ppt_x"/>
                                          </p:val>
                                        </p:tav>
                                        <p:tav tm="100000">
                                          <p:val>
                                            <p:strVal val="#ppt_x"/>
                                          </p:val>
                                        </p:tav>
                                      </p:tavLst>
                                    </p:anim>
                                    <p:anim calcmode="lin" valueType="num">
                                      <p:cBhvr additive="base">
                                        <p:cTn id="110" dur="500" fill="hold"/>
                                        <p:tgtEl>
                                          <p:spTgt spid="25"/>
                                        </p:tgtEl>
                                        <p:attrNameLst>
                                          <p:attrName>ppt_y</p:attrName>
                                        </p:attrNameLst>
                                      </p:cBhvr>
                                      <p:tavLst>
                                        <p:tav tm="0">
                                          <p:val>
                                            <p:strVal val="#ppt_y+0.1"/>
                                          </p:val>
                                        </p:tav>
                                        <p:tav tm="100000">
                                          <p:val>
                                            <p:strVal val="#ppt_y"/>
                                          </p:val>
                                        </p:tav>
                                      </p:tavLst>
                                    </p:anim>
                                    <p:animEffect transition="in" filter="fade">
                                      <p:cBhvr>
                                        <p:cTn id="111" dur="500"/>
                                        <p:tgtEl>
                                          <p:spTgt spid="25"/>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26"/>
                                        </p:tgtEl>
                                        <p:attrNameLst>
                                          <p:attrName>style.visibility</p:attrName>
                                        </p:attrNameLst>
                                      </p:cBhvr>
                                      <p:to>
                                        <p:strVal val="visible"/>
                                      </p:to>
                                    </p:set>
                                    <p:anim calcmode="lin" valueType="num">
                                      <p:cBhvr additive="base">
                                        <p:cTn id="116" dur="500" fill="hold"/>
                                        <p:tgtEl>
                                          <p:spTgt spid="26"/>
                                        </p:tgtEl>
                                        <p:attrNameLst>
                                          <p:attrName>ppt_x</p:attrName>
                                        </p:attrNameLst>
                                      </p:cBhvr>
                                      <p:tavLst>
                                        <p:tav tm="0">
                                          <p:val>
                                            <p:strVal val="#ppt_x"/>
                                          </p:val>
                                        </p:tav>
                                        <p:tav tm="100000">
                                          <p:val>
                                            <p:strVal val="#ppt_x"/>
                                          </p:val>
                                        </p:tav>
                                      </p:tavLst>
                                    </p:anim>
                                    <p:anim calcmode="lin" valueType="num">
                                      <p:cBhvr additive="base">
                                        <p:cTn id="117" dur="500" fill="hold"/>
                                        <p:tgtEl>
                                          <p:spTgt spid="26"/>
                                        </p:tgtEl>
                                        <p:attrNameLst>
                                          <p:attrName>ppt_y</p:attrName>
                                        </p:attrNameLst>
                                      </p:cBhvr>
                                      <p:tavLst>
                                        <p:tav tm="0">
                                          <p:val>
                                            <p:strVal val="#ppt_y+0.1"/>
                                          </p:val>
                                        </p:tav>
                                        <p:tav tm="100000">
                                          <p:val>
                                            <p:strVal val="#ppt_y"/>
                                          </p:val>
                                        </p:tav>
                                      </p:tavLst>
                                    </p:anim>
                                    <p:animEffect transition="in" filter="fade">
                                      <p:cBhvr>
                                        <p:cTn id="118" dur="500"/>
                                        <p:tgtEl>
                                          <p:spTgt spid="26"/>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anim calcmode="lin" valueType="num">
                                      <p:cBhvr additive="base">
                                        <p:cTn id="121" dur="500" fill="hold"/>
                                        <p:tgtEl>
                                          <p:spTgt spid="27"/>
                                        </p:tgtEl>
                                        <p:attrNameLst>
                                          <p:attrName>ppt_x</p:attrName>
                                        </p:attrNameLst>
                                      </p:cBhvr>
                                      <p:tavLst>
                                        <p:tav tm="0">
                                          <p:val>
                                            <p:strVal val="#ppt_x"/>
                                          </p:val>
                                        </p:tav>
                                        <p:tav tm="100000">
                                          <p:val>
                                            <p:strVal val="#ppt_x"/>
                                          </p:val>
                                        </p:tav>
                                      </p:tavLst>
                                    </p:anim>
                                    <p:anim calcmode="lin" valueType="num">
                                      <p:cBhvr additive="base">
                                        <p:cTn id="122" dur="500" fill="hold"/>
                                        <p:tgtEl>
                                          <p:spTgt spid="27"/>
                                        </p:tgtEl>
                                        <p:attrNameLst>
                                          <p:attrName>ppt_y</p:attrName>
                                        </p:attrNameLst>
                                      </p:cBhvr>
                                      <p:tavLst>
                                        <p:tav tm="0">
                                          <p:val>
                                            <p:strVal val="#ppt_y+0.1"/>
                                          </p:val>
                                        </p:tav>
                                        <p:tav tm="100000">
                                          <p:val>
                                            <p:strVal val="#ppt_y"/>
                                          </p:val>
                                        </p:tav>
                                      </p:tavLst>
                                    </p:anim>
                                    <p:animEffect transition="in" filter="fade">
                                      <p:cBhvr>
                                        <p:cTn id="123" dur="500"/>
                                        <p:tgtEl>
                                          <p:spTgt spid="27"/>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28"/>
                                        </p:tgtEl>
                                        <p:attrNameLst>
                                          <p:attrName>style.visibility</p:attrName>
                                        </p:attrNameLst>
                                      </p:cBhvr>
                                      <p:to>
                                        <p:strVal val="visible"/>
                                      </p:to>
                                    </p:set>
                                    <p:anim calcmode="lin" valueType="num">
                                      <p:cBhvr additive="base">
                                        <p:cTn id="126" dur="500" fill="hold"/>
                                        <p:tgtEl>
                                          <p:spTgt spid="28"/>
                                        </p:tgtEl>
                                        <p:attrNameLst>
                                          <p:attrName>ppt_x</p:attrName>
                                        </p:attrNameLst>
                                      </p:cBhvr>
                                      <p:tavLst>
                                        <p:tav tm="0">
                                          <p:val>
                                            <p:strVal val="#ppt_x"/>
                                          </p:val>
                                        </p:tav>
                                        <p:tav tm="100000">
                                          <p:val>
                                            <p:strVal val="#ppt_x"/>
                                          </p:val>
                                        </p:tav>
                                      </p:tavLst>
                                    </p:anim>
                                    <p:anim calcmode="lin" valueType="num">
                                      <p:cBhvr additive="base">
                                        <p:cTn id="127" dur="500" fill="hold"/>
                                        <p:tgtEl>
                                          <p:spTgt spid="28"/>
                                        </p:tgtEl>
                                        <p:attrNameLst>
                                          <p:attrName>ppt_y</p:attrName>
                                        </p:attrNameLst>
                                      </p:cBhvr>
                                      <p:tavLst>
                                        <p:tav tm="0">
                                          <p:val>
                                            <p:strVal val="#ppt_y+0.1"/>
                                          </p:val>
                                        </p:tav>
                                        <p:tav tm="100000">
                                          <p:val>
                                            <p:strVal val="#ppt_y"/>
                                          </p:val>
                                        </p:tav>
                                      </p:tavLst>
                                    </p:anim>
                                    <p:animEffect transition="in" filter="fade">
                                      <p:cBhvr>
                                        <p:cTn id="12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A78BFA"/>
                </a:solidFill>
                <a:latin typeface="Calibri"/>
              </a:rPr>
              <a:t>04</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The Four Types</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Key-value, document, column-family and graph - and the products in each</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KEY-VALUE</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DOCUMENT</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COLUMN-FAMILY</a:t>
            </a:r>
          </a:p>
        </p:txBody>
      </p:sp>
      <p:sp>
        <p:nvSpPr>
          <p:cNvPr id="8" name="a0ud1050_pill7"/>
          <p:cNvSpPr/>
          <p:nvPr/>
        </p:nvSpPr>
        <p:spPr>
          <a:xfrm>
            <a:off x="5532120" y="2752344"/>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BD5E1"/>
                </a:solidFill>
                <a:latin typeface="Courier New"/>
              </a:rPr>
              <a:t>GRAPH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ppt_y+0.1"/>
                                          </p:val>
                                        </p:tav>
                                        <p:tav tm="100000">
                                          <p:val>
                                            <p:strVal val="#ppt_y"/>
                                          </p:val>
                                        </p:tav>
                                      </p:tavLst>
                                    </p:anim>
                                    <p:animEffect transition="in" filter="fade">
                                      <p:cBhvr>
                                        <p:cTn id="11" dur="500"/>
                                        <p:tgtEl>
                                          <p:spTgt spid="3"/>
                                        </p:tgtEl>
                                      </p:cBhvr>
                                    </p:animEffect>
                                  </p:childTnLst>
                                </p:cTn>
                              </p:par>
                              <p:par>
                                <p:cTn id="15" presetID="10" presetClass="entr" presetSubtype="0" fill="hold" grpId="0" nodeType="withEffect">
                                  <p:stCondLst>
                                    <p:cond delay="4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20" presetID="2" presetClass="entr" presetSubtype="4"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ppt_y+0.1"/>
                                          </p:val>
                                        </p:tav>
                                        <p:tav tm="100000">
                                          <p:val>
                                            <p:strVal val="#ppt_y"/>
                                          </p:val>
                                        </p:tav>
                                      </p:tavLst>
                                    </p:anim>
                                    <p:animEffect transition="in" filter="fade">
                                      <p:cBhvr>
                                        <p:cTn id="19" dur="500"/>
                                        <p:tgtEl>
                                          <p:spTgt spid="5"/>
                                        </p:tgtEl>
                                      </p:cBhvr>
                                    </p:animEffect>
                                  </p:childTnLst>
                                </p:cTn>
                              </p:par>
                              <p:par>
                                <p:cTn id="25" presetID="2" presetClass="entr" presetSubtype="4" fill="hold" grpId="0" nodeType="withEffect">
                                  <p:stCondLst>
                                    <p:cond delay="7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ppt_y+0.1"/>
                                          </p:val>
                                        </p:tav>
                                        <p:tav tm="100000">
                                          <p:val>
                                            <p:strVal val="#ppt_y"/>
                                          </p:val>
                                        </p:tav>
                                      </p:tavLst>
                                    </p:anim>
                                    <p:animEffect transition="in" filter="fade">
                                      <p:cBhvr>
                                        <p:cTn id="24" dur="500"/>
                                        <p:tgtEl>
                                          <p:spTgt spid="6"/>
                                        </p:tgtEl>
                                      </p:cBhvr>
                                    </p:animEffect>
                                  </p:childTnLst>
                                </p:cTn>
                              </p:par>
                              <p:par>
                                <p:cTn id="30" presetID="2" presetClass="entr" presetSubtype="4" fill="hold" grpId="0" nodeType="withEffect">
                                  <p:stCondLst>
                                    <p:cond delay="9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ppt_y+0.1"/>
                                          </p:val>
                                        </p:tav>
                                        <p:tav tm="100000">
                                          <p:val>
                                            <p:strVal val="#ppt_y"/>
                                          </p:val>
                                        </p:tav>
                                      </p:tavLst>
                                    </p:anim>
                                    <p:animEffect transition="in" filter="fade">
                                      <p:cBhvr>
                                        <p:cTn id="29" dur="500"/>
                                        <p:tgtEl>
                                          <p:spTgt spid="7"/>
                                        </p:tgtEl>
                                      </p:cBhvr>
                                    </p:animEffect>
                                  </p:childTnLst>
                                </p:cTn>
                              </p:par>
                              <p:par>
                                <p:cTn id="35" presetID="2" presetClass="entr" presetSubtype="4" fill="hold" grpId="0" nodeType="withEffect">
                                  <p:stCondLst>
                                    <p:cond delay="10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ppt_y+0.1"/>
                                          </p:val>
                                        </p:tav>
                                        <p:tav tm="100000">
                                          <p:val>
                                            <p:strVal val="#ppt_y"/>
                                          </p:val>
                                        </p:tav>
                                      </p:tavLst>
                                    </p:anim>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The Four Data Models at a Glance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Three of them are aggregate-oriented. The fourth is the odd one out</a:t>
            </a:r>
          </a:p>
        </p:txBody>
      </p:sp>
      <p:sp>
        <p:nvSpPr>
          <p:cNvPr id="4" name="a1u_card3"/>
          <p:cNvSpPr/>
          <p:nvPr/>
        </p:nvSpPr>
        <p:spPr>
          <a:xfrm>
            <a:off x="457200" y="1170432"/>
            <a:ext cx="1906524" cy="2240280"/>
          </a:xfrm>
          <a:prstGeom prst="roundRect">
            <a:avLst>
              <a:gd name="adj" fmla="val 47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170432"/>
            <a:ext cx="1906524" cy="5029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60_ic5"/>
          <p:cNvSpPr/>
          <p:nvPr/>
        </p:nvSpPr>
        <p:spPr>
          <a:xfrm>
            <a:off x="621792" y="1371600"/>
            <a:ext cx="384048" cy="384048"/>
          </a:xfrm>
          <a:prstGeom prst="roundRect">
            <a:avLst>
              <a:gd name="adj" fmla="val 23809"/>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60_ict6"/>
          <p:cNvSpPr txBox="1"/>
          <p:nvPr/>
        </p:nvSpPr>
        <p:spPr>
          <a:xfrm>
            <a:off x="621792"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KV</a:t>
            </a:r>
          </a:p>
        </p:txBody>
      </p:sp>
      <p:sp>
        <p:nvSpPr>
          <p:cNvPr id="8" name="a1ud90_ct7"/>
          <p:cNvSpPr txBox="1"/>
          <p:nvPr/>
        </p:nvSpPr>
        <p:spPr>
          <a:xfrm>
            <a:off x="621792"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Key-Value</a:t>
            </a:r>
          </a:p>
        </p:txBody>
      </p:sp>
      <p:sp>
        <p:nvSpPr>
          <p:cNvPr id="9" name="a1ud120_cs8"/>
          <p:cNvSpPr txBox="1"/>
          <p:nvPr/>
        </p:nvSpPr>
        <p:spPr>
          <a:xfrm>
            <a:off x="621792" y="2121408"/>
            <a:ext cx="1577340" cy="237744"/>
          </a:xfrm>
          <a:prstGeom prst="rect">
            <a:avLst/>
          </a:prstGeom>
          <a:noFill/>
        </p:spPr>
        <p:txBody>
          <a:bodyPr wrap="square" lIns="0" tIns="0" rIns="0" bIns="0" anchor="ctr">
            <a:spAutoFit/>
          </a:bodyPr>
          <a:lstStyle/>
          <a:p>
            <a:pPr algn="l"/>
            <a:r>
              <a:rPr sz="1000" b="1">
                <a:solidFill>
                  <a:srgbClr val="DC382C"/>
                </a:solidFill>
                <a:latin typeface="Courier New"/>
              </a:rPr>
              <a:t>AGGREGATE</a:t>
            </a:r>
          </a:p>
        </p:txBody>
      </p:sp>
      <p:sp>
        <p:nvSpPr>
          <p:cNvPr id="10" name="a1ud150_cb9"/>
          <p:cNvSpPr txBox="1"/>
          <p:nvPr/>
        </p:nvSpPr>
        <p:spPr>
          <a:xfrm>
            <a:off x="621792" y="2377439"/>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Opaque blob behind one key</a:t>
            </a:r>
          </a:p>
        </p:txBody>
      </p:sp>
      <p:sp>
        <p:nvSpPr>
          <p:cNvPr id="11" name="a1ud220_cb10"/>
          <p:cNvSpPr txBox="1"/>
          <p:nvPr/>
        </p:nvSpPr>
        <p:spPr>
          <a:xfrm>
            <a:off x="621792" y="2761487"/>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Fastest, simplest</a:t>
            </a:r>
          </a:p>
        </p:txBody>
      </p:sp>
      <p:sp>
        <p:nvSpPr>
          <p:cNvPr id="12" name="a1ud290_cb11"/>
          <p:cNvSpPr txBox="1"/>
          <p:nvPr/>
        </p:nvSpPr>
        <p:spPr>
          <a:xfrm>
            <a:off x="621792" y="3145535"/>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Redis · DynamoDB · Memcached</a:t>
            </a:r>
          </a:p>
        </p:txBody>
      </p:sp>
      <p:sp>
        <p:nvSpPr>
          <p:cNvPr id="13" name="a2u_card12"/>
          <p:cNvSpPr/>
          <p:nvPr/>
        </p:nvSpPr>
        <p:spPr>
          <a:xfrm>
            <a:off x="2564892" y="1170432"/>
            <a:ext cx="1906524" cy="2240280"/>
          </a:xfrm>
          <a:prstGeom prst="roundRect">
            <a:avLst>
              <a:gd name="adj" fmla="val 47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_acc13"/>
          <p:cNvSpPr/>
          <p:nvPr/>
        </p:nvSpPr>
        <p:spPr>
          <a:xfrm>
            <a:off x="2564892" y="1170432"/>
            <a:ext cx="1906524"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d60_ic14"/>
          <p:cNvSpPr/>
          <p:nvPr/>
        </p:nvSpPr>
        <p:spPr>
          <a:xfrm>
            <a:off x="2729484" y="1371600"/>
            <a:ext cx="384048" cy="384048"/>
          </a:xfrm>
          <a:prstGeom prst="roundRect">
            <a:avLst>
              <a:gd name="adj" fmla="val 23809"/>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d60_ict15"/>
          <p:cNvSpPr txBox="1"/>
          <p:nvPr/>
        </p:nvSpPr>
        <p:spPr>
          <a:xfrm>
            <a:off x="2729484"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DOC</a:t>
            </a:r>
          </a:p>
        </p:txBody>
      </p:sp>
      <p:sp>
        <p:nvSpPr>
          <p:cNvPr id="17" name="a2ud90_ct16"/>
          <p:cNvSpPr txBox="1"/>
          <p:nvPr/>
        </p:nvSpPr>
        <p:spPr>
          <a:xfrm>
            <a:off x="2729484"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Document</a:t>
            </a:r>
          </a:p>
        </p:txBody>
      </p:sp>
      <p:sp>
        <p:nvSpPr>
          <p:cNvPr id="18" name="a2ud120_cs17"/>
          <p:cNvSpPr txBox="1"/>
          <p:nvPr/>
        </p:nvSpPr>
        <p:spPr>
          <a:xfrm>
            <a:off x="2729484" y="2121408"/>
            <a:ext cx="1577340" cy="237744"/>
          </a:xfrm>
          <a:prstGeom prst="rect">
            <a:avLst/>
          </a:prstGeom>
          <a:noFill/>
        </p:spPr>
        <p:txBody>
          <a:bodyPr wrap="square" lIns="0" tIns="0" rIns="0" bIns="0" anchor="ctr">
            <a:spAutoFit/>
          </a:bodyPr>
          <a:lstStyle/>
          <a:p>
            <a:pPr algn="l"/>
            <a:r>
              <a:rPr sz="1000" b="1">
                <a:solidFill>
                  <a:srgbClr val="0F766E"/>
                </a:solidFill>
                <a:latin typeface="Courier New"/>
              </a:rPr>
              <a:t>AGGREGATE</a:t>
            </a:r>
          </a:p>
        </p:txBody>
      </p:sp>
      <p:sp>
        <p:nvSpPr>
          <p:cNvPr id="19" name="a2ud150_cb18"/>
          <p:cNvSpPr txBox="1"/>
          <p:nvPr/>
        </p:nvSpPr>
        <p:spPr>
          <a:xfrm>
            <a:off x="2729484" y="2377439"/>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JSON you can query inside</a:t>
            </a:r>
          </a:p>
        </p:txBody>
      </p:sp>
      <p:sp>
        <p:nvSpPr>
          <p:cNvPr id="20" name="a2ud220_cb19"/>
          <p:cNvSpPr txBox="1"/>
          <p:nvPr/>
        </p:nvSpPr>
        <p:spPr>
          <a:xfrm>
            <a:off x="2729484" y="2761487"/>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Flexible, indexable</a:t>
            </a:r>
          </a:p>
        </p:txBody>
      </p:sp>
      <p:sp>
        <p:nvSpPr>
          <p:cNvPr id="21" name="a2ud290_cb20"/>
          <p:cNvSpPr txBox="1"/>
          <p:nvPr/>
        </p:nvSpPr>
        <p:spPr>
          <a:xfrm>
            <a:off x="2729484" y="3145535"/>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MongoDB · Couchbase · Firestore</a:t>
            </a:r>
          </a:p>
        </p:txBody>
      </p:sp>
      <p:sp>
        <p:nvSpPr>
          <p:cNvPr id="22" name="a3u_card21"/>
          <p:cNvSpPr/>
          <p:nvPr/>
        </p:nvSpPr>
        <p:spPr>
          <a:xfrm>
            <a:off x="4672584" y="1170432"/>
            <a:ext cx="1906524" cy="2240280"/>
          </a:xfrm>
          <a:prstGeom prst="roundRect">
            <a:avLst>
              <a:gd name="adj" fmla="val 47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_acc22"/>
          <p:cNvSpPr/>
          <p:nvPr/>
        </p:nvSpPr>
        <p:spPr>
          <a:xfrm>
            <a:off x="4672584" y="1170432"/>
            <a:ext cx="1906524"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d60_ic23"/>
          <p:cNvSpPr/>
          <p:nvPr/>
        </p:nvSpPr>
        <p:spPr>
          <a:xfrm>
            <a:off x="4837176" y="1371600"/>
            <a:ext cx="384048" cy="384048"/>
          </a:xfrm>
          <a:prstGeom prst="roundRect">
            <a:avLst>
              <a:gd name="adj" fmla="val 23809"/>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d60_ict24"/>
          <p:cNvSpPr txBox="1"/>
          <p:nvPr/>
        </p:nvSpPr>
        <p:spPr>
          <a:xfrm>
            <a:off x="4837176"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CF</a:t>
            </a:r>
          </a:p>
        </p:txBody>
      </p:sp>
      <p:sp>
        <p:nvSpPr>
          <p:cNvPr id="26" name="a3ud90_ct25"/>
          <p:cNvSpPr txBox="1"/>
          <p:nvPr/>
        </p:nvSpPr>
        <p:spPr>
          <a:xfrm>
            <a:off x="4837176"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Column-Family</a:t>
            </a:r>
          </a:p>
        </p:txBody>
      </p:sp>
      <p:sp>
        <p:nvSpPr>
          <p:cNvPr id="27" name="a3ud120_cs26"/>
          <p:cNvSpPr txBox="1"/>
          <p:nvPr/>
        </p:nvSpPr>
        <p:spPr>
          <a:xfrm>
            <a:off x="4837176" y="2121408"/>
            <a:ext cx="1577340" cy="237744"/>
          </a:xfrm>
          <a:prstGeom prst="rect">
            <a:avLst/>
          </a:prstGeom>
          <a:noFill/>
        </p:spPr>
        <p:txBody>
          <a:bodyPr wrap="square" lIns="0" tIns="0" rIns="0" bIns="0" anchor="ctr">
            <a:spAutoFit/>
          </a:bodyPr>
          <a:lstStyle/>
          <a:p>
            <a:pPr algn="l"/>
            <a:r>
              <a:rPr sz="1000" b="1">
                <a:solidFill>
                  <a:srgbClr val="B45309"/>
                </a:solidFill>
                <a:latin typeface="Courier New"/>
              </a:rPr>
              <a:t>AGGREGATE</a:t>
            </a:r>
          </a:p>
        </p:txBody>
      </p:sp>
      <p:sp>
        <p:nvSpPr>
          <p:cNvPr id="28" name="a3ud150_cb27"/>
          <p:cNvSpPr txBox="1"/>
          <p:nvPr/>
        </p:nvSpPr>
        <p:spPr>
          <a:xfrm>
            <a:off x="4837176" y="2377439"/>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Rows of grouped columns</a:t>
            </a:r>
          </a:p>
        </p:txBody>
      </p:sp>
      <p:sp>
        <p:nvSpPr>
          <p:cNvPr id="29" name="a3ud220_cb28"/>
          <p:cNvSpPr txBox="1"/>
          <p:nvPr/>
        </p:nvSpPr>
        <p:spPr>
          <a:xfrm>
            <a:off x="4837176" y="2761487"/>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Huge, write-heavy tables</a:t>
            </a:r>
          </a:p>
        </p:txBody>
      </p:sp>
      <p:sp>
        <p:nvSpPr>
          <p:cNvPr id="30" name="a3ud290_cb29"/>
          <p:cNvSpPr txBox="1"/>
          <p:nvPr/>
        </p:nvSpPr>
        <p:spPr>
          <a:xfrm>
            <a:off x="4837176" y="3145535"/>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Cassandra · HBase · ScyllaDB</a:t>
            </a:r>
          </a:p>
        </p:txBody>
      </p:sp>
      <p:sp>
        <p:nvSpPr>
          <p:cNvPr id="31" name="a4u_card30"/>
          <p:cNvSpPr/>
          <p:nvPr/>
        </p:nvSpPr>
        <p:spPr>
          <a:xfrm>
            <a:off x="6780276" y="1170432"/>
            <a:ext cx="1906524" cy="2240280"/>
          </a:xfrm>
          <a:prstGeom prst="roundRect">
            <a:avLst>
              <a:gd name="adj" fmla="val 47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4u_acc31"/>
          <p:cNvSpPr/>
          <p:nvPr/>
        </p:nvSpPr>
        <p:spPr>
          <a:xfrm>
            <a:off x="6780276" y="1170432"/>
            <a:ext cx="1906524" cy="502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d60_ic32"/>
          <p:cNvSpPr/>
          <p:nvPr/>
        </p:nvSpPr>
        <p:spPr>
          <a:xfrm>
            <a:off x="6944868" y="1371600"/>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d60_ict33"/>
          <p:cNvSpPr txBox="1"/>
          <p:nvPr/>
        </p:nvSpPr>
        <p:spPr>
          <a:xfrm>
            <a:off x="6944868"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GR</a:t>
            </a:r>
          </a:p>
        </p:txBody>
      </p:sp>
      <p:sp>
        <p:nvSpPr>
          <p:cNvPr id="35" name="a4ud90_ct34"/>
          <p:cNvSpPr txBox="1"/>
          <p:nvPr/>
        </p:nvSpPr>
        <p:spPr>
          <a:xfrm>
            <a:off x="6944868"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Graph</a:t>
            </a:r>
          </a:p>
        </p:txBody>
      </p:sp>
      <p:sp>
        <p:nvSpPr>
          <p:cNvPr id="36" name="a4ud120_cs35"/>
          <p:cNvSpPr txBox="1"/>
          <p:nvPr/>
        </p:nvSpPr>
        <p:spPr>
          <a:xfrm>
            <a:off x="6944868" y="2121408"/>
            <a:ext cx="1577340" cy="237744"/>
          </a:xfrm>
          <a:prstGeom prst="rect">
            <a:avLst/>
          </a:prstGeom>
          <a:noFill/>
        </p:spPr>
        <p:txBody>
          <a:bodyPr wrap="square" lIns="0" tIns="0" rIns="0" bIns="0" anchor="ctr">
            <a:spAutoFit/>
          </a:bodyPr>
          <a:lstStyle/>
          <a:p>
            <a:pPr algn="l"/>
            <a:r>
              <a:rPr sz="1000" b="1">
                <a:solidFill>
                  <a:srgbClr val="8B5CF6"/>
                </a:solidFill>
                <a:latin typeface="Courier New"/>
              </a:rPr>
              <a:t>RELATIONSHIPS</a:t>
            </a:r>
          </a:p>
        </p:txBody>
      </p:sp>
      <p:sp>
        <p:nvSpPr>
          <p:cNvPr id="37" name="a4ud150_cb36"/>
          <p:cNvSpPr txBox="1"/>
          <p:nvPr/>
        </p:nvSpPr>
        <p:spPr>
          <a:xfrm>
            <a:off x="6944868" y="2377439"/>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Nodes and edges as first class</a:t>
            </a:r>
          </a:p>
        </p:txBody>
      </p:sp>
      <p:sp>
        <p:nvSpPr>
          <p:cNvPr id="38" name="a4ud220_cb37"/>
          <p:cNvSpPr txBox="1"/>
          <p:nvPr/>
        </p:nvSpPr>
        <p:spPr>
          <a:xfrm>
            <a:off x="6944868" y="2761487"/>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Traversals, not scans</a:t>
            </a:r>
          </a:p>
        </p:txBody>
      </p:sp>
      <p:sp>
        <p:nvSpPr>
          <p:cNvPr id="39" name="a4ud290_cb38"/>
          <p:cNvSpPr txBox="1"/>
          <p:nvPr/>
        </p:nvSpPr>
        <p:spPr>
          <a:xfrm>
            <a:off x="6944868" y="3145535"/>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Neo4j · JanusGraph · Neptune</a:t>
            </a:r>
          </a:p>
        </p:txBody>
      </p:sp>
      <p:sp>
        <p:nvSpPr>
          <p:cNvPr id="40" name="a5u_nb39"/>
          <p:cNvSpPr/>
          <p:nvPr/>
        </p:nvSpPr>
        <p:spPr>
          <a:xfrm>
            <a:off x="457200" y="3547872"/>
            <a:ext cx="8229600" cy="475488"/>
          </a:xfrm>
          <a:prstGeom prst="roundRect">
            <a:avLst>
              <a:gd name="adj" fmla="val 15384"/>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5u_nacc40"/>
          <p:cNvSpPr/>
          <p:nvPr/>
        </p:nvSpPr>
        <p:spPr>
          <a:xfrm>
            <a:off x="457200" y="3547872"/>
            <a:ext cx="50292" cy="47548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5u_nt41"/>
          <p:cNvSpPr txBox="1"/>
          <p:nvPr/>
        </p:nvSpPr>
        <p:spPr>
          <a:xfrm>
            <a:off x="658368" y="3547872"/>
            <a:ext cx="7827264" cy="475488"/>
          </a:xfrm>
          <a:prstGeom prst="rect">
            <a:avLst/>
          </a:prstGeom>
          <a:noFill/>
        </p:spPr>
        <p:txBody>
          <a:bodyPr wrap="square" lIns="0" tIns="0" rIns="0" bIns="0" anchor="ctr">
            <a:spAutoFit/>
          </a:bodyPr>
          <a:lstStyle/>
          <a:p>
            <a:pPr algn="l"/>
            <a:r>
              <a:rPr sz="1050" b="1">
                <a:solidFill>
                  <a:srgbClr val="8B5CF6"/>
                </a:solidFill>
                <a:latin typeface="Calibri"/>
              </a:rPr>
              <a:t>i  </a:t>
            </a:r>
            <a:r>
              <a:rPr sz="1050" b="0">
                <a:solidFill>
                  <a:srgbClr val="334155"/>
                </a:solidFill>
                <a:latin typeface="Calibri"/>
              </a:rPr>
              <a:t>Graph databases sit apart: the other three make relationships hard on purpose so they can shard. A graph database makes relationships the point, and is therefore harder to shard.</a:t>
            </a:r>
          </a:p>
        </p:txBody>
      </p:sp>
      <p:sp>
        <p:nvSpPr>
          <p:cNvPr id="43" name="ft42"/>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29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6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9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2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15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22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29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ppt_x</p:attrName>
                                        </p:attrNameLst>
                                      </p:cBhvr>
                                      <p:tavLst>
                                        <p:tav tm="0">
                                          <p:val>
                                            <p:strVal val="#ppt_x"/>
                                          </p:val>
                                        </p:tav>
                                        <p:tav tm="100000">
                                          <p:val>
                                            <p:strVal val="#ppt_x"/>
                                          </p:val>
                                        </p:tav>
                                      </p:tavLst>
                                    </p:anim>
                                    <p:anim calcmode="lin" valueType="num">
                                      <p:cBhvr additive="base">
                                        <p:cTn id="101" dur="500" fill="hold"/>
                                        <p:tgtEl>
                                          <p:spTgt spid="22"/>
                                        </p:tgtEl>
                                        <p:attrNameLst>
                                          <p:attrName>ppt_y</p:attrName>
                                        </p:attrNameLst>
                                      </p:cBhvr>
                                      <p:tavLst>
                                        <p:tav tm="0">
                                          <p:val>
                                            <p:strVal val="#ppt_y+0.1"/>
                                          </p:val>
                                        </p:tav>
                                        <p:tav tm="100000">
                                          <p:val>
                                            <p:strVal val="#ppt_y"/>
                                          </p:val>
                                        </p:tav>
                                      </p:tavLst>
                                    </p:anim>
                                    <p:animEffect transition="in" filter="fade">
                                      <p:cBhvr>
                                        <p:cTn id="102" dur="500"/>
                                        <p:tgtEl>
                                          <p:spTgt spid="22"/>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ppt_x</p:attrName>
                                        </p:attrNameLst>
                                      </p:cBhvr>
                                      <p:tavLst>
                                        <p:tav tm="0">
                                          <p:val>
                                            <p:strVal val="#ppt_x"/>
                                          </p:val>
                                        </p:tav>
                                        <p:tav tm="100000">
                                          <p:val>
                                            <p:strVal val="#ppt_x"/>
                                          </p:val>
                                        </p:tav>
                                      </p:tavLst>
                                    </p:anim>
                                    <p:anim calcmode="lin" valueType="num">
                                      <p:cBhvr additive="base">
                                        <p:cTn id="106" dur="500" fill="hold"/>
                                        <p:tgtEl>
                                          <p:spTgt spid="23"/>
                                        </p:tgtEl>
                                        <p:attrNameLst>
                                          <p:attrName>ppt_y</p:attrName>
                                        </p:attrNameLst>
                                      </p:cBhvr>
                                      <p:tavLst>
                                        <p:tav tm="0">
                                          <p:val>
                                            <p:strVal val="#ppt_y+0.1"/>
                                          </p:val>
                                        </p:tav>
                                        <p:tav tm="100000">
                                          <p:val>
                                            <p:strVal val="#ppt_y"/>
                                          </p:val>
                                        </p:tav>
                                      </p:tavLst>
                                    </p:anim>
                                    <p:animEffect transition="in" filter="fade">
                                      <p:cBhvr>
                                        <p:cTn id="107" dur="500"/>
                                        <p:tgtEl>
                                          <p:spTgt spid="23"/>
                                        </p:tgtEl>
                                      </p:cBhvr>
                                    </p:animEffect>
                                  </p:childTnLst>
                                </p:cTn>
                              </p:par>
                              <p:par>
                                <p:cTn id="113" presetID="2" presetClass="entr" presetSubtype="4" fill="hold" grpId="0" nodeType="withEffect">
                                  <p:stCondLst>
                                    <p:cond delay="6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p:tgtEl>
                                          <p:spTgt spid="24"/>
                                        </p:tgtEl>
                                        <p:attrNameLst>
                                          <p:attrName>ppt_y</p:attrName>
                                        </p:attrNameLst>
                                      </p:cBhvr>
                                      <p:tavLst>
                                        <p:tav tm="0">
                                          <p:val>
                                            <p:strVal val="#ppt_y+0.1"/>
                                          </p:val>
                                        </p:tav>
                                        <p:tav tm="100000">
                                          <p:val>
                                            <p:strVal val="#ppt_y"/>
                                          </p:val>
                                        </p:tav>
                                      </p:tavLst>
                                    </p:anim>
                                    <p:animEffect transition="in" filter="fade">
                                      <p:cBhvr>
                                        <p:cTn id="112" dur="500"/>
                                        <p:tgtEl>
                                          <p:spTgt spid="24"/>
                                        </p:tgtEl>
                                      </p:cBhvr>
                                    </p:animEffect>
                                  </p:childTnLst>
                                </p:cTn>
                              </p:par>
                              <p:par>
                                <p:cTn id="118" presetID="2" presetClass="entr" presetSubtype="4" fill="hold" grpId="0" nodeType="withEffect">
                                  <p:stCondLst>
                                    <p:cond delay="6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ppt_x</p:attrName>
                                        </p:attrNameLst>
                                      </p:cBhvr>
                                      <p:tavLst>
                                        <p:tav tm="0">
                                          <p:val>
                                            <p:strVal val="#ppt_x"/>
                                          </p:val>
                                        </p:tav>
                                        <p:tav tm="100000">
                                          <p:val>
                                            <p:strVal val="#ppt_x"/>
                                          </p:val>
                                        </p:tav>
                                      </p:tavLst>
                                    </p:anim>
                                    <p:anim calcmode="lin" valueType="num">
                                      <p:cBhvr additive="base">
                                        <p:cTn id="116" dur="500" fill="hold"/>
                                        <p:tgtEl>
                                          <p:spTgt spid="25"/>
                                        </p:tgtEl>
                                        <p:attrNameLst>
                                          <p:attrName>ppt_y</p:attrName>
                                        </p:attrNameLst>
                                      </p:cBhvr>
                                      <p:tavLst>
                                        <p:tav tm="0">
                                          <p:val>
                                            <p:strVal val="#ppt_y+0.1"/>
                                          </p:val>
                                        </p:tav>
                                        <p:tav tm="100000">
                                          <p:val>
                                            <p:strVal val="#ppt_y"/>
                                          </p:val>
                                        </p:tav>
                                      </p:tavLst>
                                    </p:anim>
                                    <p:animEffect transition="in" filter="fade">
                                      <p:cBhvr>
                                        <p:cTn id="117" dur="500"/>
                                        <p:tgtEl>
                                          <p:spTgt spid="25"/>
                                        </p:tgtEl>
                                      </p:cBhvr>
                                    </p:animEffect>
                                  </p:childTnLst>
                                </p:cTn>
                              </p:par>
                              <p:par>
                                <p:cTn id="123" presetID="2" presetClass="entr" presetSubtype="4" fill="hold" grpId="0" nodeType="withEffect">
                                  <p:stCondLst>
                                    <p:cond delay="9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ppt_x</p:attrName>
                                        </p:attrNameLst>
                                      </p:cBhvr>
                                      <p:tavLst>
                                        <p:tav tm="0">
                                          <p:val>
                                            <p:strVal val="#ppt_x"/>
                                          </p:val>
                                        </p:tav>
                                        <p:tav tm="100000">
                                          <p:val>
                                            <p:strVal val="#ppt_x"/>
                                          </p:val>
                                        </p:tav>
                                      </p:tavLst>
                                    </p:anim>
                                    <p:anim calcmode="lin" valueType="num">
                                      <p:cBhvr additive="base">
                                        <p:cTn id="121" dur="500" fill="hold"/>
                                        <p:tgtEl>
                                          <p:spTgt spid="26"/>
                                        </p:tgtEl>
                                        <p:attrNameLst>
                                          <p:attrName>ppt_y</p:attrName>
                                        </p:attrNameLst>
                                      </p:cBhvr>
                                      <p:tavLst>
                                        <p:tav tm="0">
                                          <p:val>
                                            <p:strVal val="#ppt_y+0.1"/>
                                          </p:val>
                                        </p:tav>
                                        <p:tav tm="100000">
                                          <p:val>
                                            <p:strVal val="#ppt_y"/>
                                          </p:val>
                                        </p:tav>
                                      </p:tavLst>
                                    </p:anim>
                                    <p:animEffect transition="in" filter="fade">
                                      <p:cBhvr>
                                        <p:cTn id="122" dur="500"/>
                                        <p:tgtEl>
                                          <p:spTgt spid="26"/>
                                        </p:tgtEl>
                                      </p:cBhvr>
                                    </p:animEffect>
                                  </p:childTnLst>
                                </p:cTn>
                              </p:par>
                              <p:par>
                                <p:cTn id="128" presetID="2" presetClass="entr" presetSubtype="4" fill="hold" grpId="0" nodeType="withEffect">
                                  <p:stCondLst>
                                    <p:cond delay="1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ppt_x</p:attrName>
                                        </p:attrNameLst>
                                      </p:cBhvr>
                                      <p:tavLst>
                                        <p:tav tm="0">
                                          <p:val>
                                            <p:strVal val="#ppt_x"/>
                                          </p:val>
                                        </p:tav>
                                        <p:tav tm="100000">
                                          <p:val>
                                            <p:strVal val="#ppt_x"/>
                                          </p:val>
                                        </p:tav>
                                      </p:tavLst>
                                    </p:anim>
                                    <p:anim calcmode="lin" valueType="num">
                                      <p:cBhvr additive="base">
                                        <p:cTn id="126" dur="500" fill="hold"/>
                                        <p:tgtEl>
                                          <p:spTgt spid="27"/>
                                        </p:tgtEl>
                                        <p:attrNameLst>
                                          <p:attrName>ppt_y</p:attrName>
                                        </p:attrNameLst>
                                      </p:cBhvr>
                                      <p:tavLst>
                                        <p:tav tm="0">
                                          <p:val>
                                            <p:strVal val="#ppt_y+0.1"/>
                                          </p:val>
                                        </p:tav>
                                        <p:tav tm="100000">
                                          <p:val>
                                            <p:strVal val="#ppt_y"/>
                                          </p:val>
                                        </p:tav>
                                      </p:tavLst>
                                    </p:anim>
                                    <p:animEffect transition="in" filter="fade">
                                      <p:cBhvr>
                                        <p:cTn id="127" dur="500"/>
                                        <p:tgtEl>
                                          <p:spTgt spid="27"/>
                                        </p:tgtEl>
                                      </p:cBhvr>
                                    </p:animEffect>
                                  </p:childTnLst>
                                </p:cTn>
                              </p:par>
                              <p:par>
                                <p:cTn id="133" presetID="2" presetClass="entr" presetSubtype="4" fill="hold" grpId="0" nodeType="withEffect">
                                  <p:stCondLst>
                                    <p:cond delay="150"/>
                                  </p:stCondLst>
                                  <p:childTnLst>
                                    <p:set>
                                      <p:cBhvr>
                                        <p:cTn id="129" dur="1" fill="hold">
                                          <p:stCondLst>
                                            <p:cond delay="0"/>
                                          </p:stCondLst>
                                        </p:cTn>
                                        <p:tgtEl>
                                          <p:spTgt spid="28"/>
                                        </p:tgtEl>
                                        <p:attrNameLst>
                                          <p:attrName>style.visibility</p:attrName>
                                        </p:attrNameLst>
                                      </p:cBhvr>
                                      <p:to>
                                        <p:strVal val="visible"/>
                                      </p:to>
                                    </p:set>
                                    <p:anim calcmode="lin" valueType="num">
                                      <p:cBhvr additive="base">
                                        <p:cTn id="130" dur="500" fill="hold"/>
                                        <p:tgtEl>
                                          <p:spTgt spid="28"/>
                                        </p:tgtEl>
                                        <p:attrNameLst>
                                          <p:attrName>ppt_x</p:attrName>
                                        </p:attrNameLst>
                                      </p:cBhvr>
                                      <p:tavLst>
                                        <p:tav tm="0">
                                          <p:val>
                                            <p:strVal val="#ppt_x"/>
                                          </p:val>
                                        </p:tav>
                                        <p:tav tm="100000">
                                          <p:val>
                                            <p:strVal val="#ppt_x"/>
                                          </p:val>
                                        </p:tav>
                                      </p:tavLst>
                                    </p:anim>
                                    <p:anim calcmode="lin" valueType="num">
                                      <p:cBhvr additive="base">
                                        <p:cTn id="131" dur="500" fill="hold"/>
                                        <p:tgtEl>
                                          <p:spTgt spid="28"/>
                                        </p:tgtEl>
                                        <p:attrNameLst>
                                          <p:attrName>ppt_y</p:attrName>
                                        </p:attrNameLst>
                                      </p:cBhvr>
                                      <p:tavLst>
                                        <p:tav tm="0">
                                          <p:val>
                                            <p:strVal val="#ppt_y+0.1"/>
                                          </p:val>
                                        </p:tav>
                                        <p:tav tm="100000">
                                          <p:val>
                                            <p:strVal val="#ppt_y"/>
                                          </p:val>
                                        </p:tav>
                                      </p:tavLst>
                                    </p:anim>
                                    <p:animEffect transition="in" filter="fade">
                                      <p:cBhvr>
                                        <p:cTn id="132" dur="500"/>
                                        <p:tgtEl>
                                          <p:spTgt spid="28"/>
                                        </p:tgtEl>
                                      </p:cBhvr>
                                    </p:animEffect>
                                  </p:childTnLst>
                                </p:cTn>
                              </p:par>
                              <p:par>
                                <p:cTn id="138" presetID="2" presetClass="entr" presetSubtype="4" fill="hold" grpId="0" nodeType="withEffect">
                                  <p:stCondLst>
                                    <p:cond delay="220"/>
                                  </p:stCondLst>
                                  <p:childTnLst>
                                    <p:set>
                                      <p:cBhvr>
                                        <p:cTn id="134" dur="1" fill="hold">
                                          <p:stCondLst>
                                            <p:cond delay="0"/>
                                          </p:stCondLst>
                                        </p:cTn>
                                        <p:tgtEl>
                                          <p:spTgt spid="29"/>
                                        </p:tgtEl>
                                        <p:attrNameLst>
                                          <p:attrName>style.visibility</p:attrName>
                                        </p:attrNameLst>
                                      </p:cBhvr>
                                      <p:to>
                                        <p:strVal val="visible"/>
                                      </p:to>
                                    </p:set>
                                    <p:anim calcmode="lin" valueType="num">
                                      <p:cBhvr additive="base">
                                        <p:cTn id="135" dur="500" fill="hold"/>
                                        <p:tgtEl>
                                          <p:spTgt spid="29"/>
                                        </p:tgtEl>
                                        <p:attrNameLst>
                                          <p:attrName>ppt_x</p:attrName>
                                        </p:attrNameLst>
                                      </p:cBhvr>
                                      <p:tavLst>
                                        <p:tav tm="0">
                                          <p:val>
                                            <p:strVal val="#ppt_x"/>
                                          </p:val>
                                        </p:tav>
                                        <p:tav tm="100000">
                                          <p:val>
                                            <p:strVal val="#ppt_x"/>
                                          </p:val>
                                        </p:tav>
                                      </p:tavLst>
                                    </p:anim>
                                    <p:anim calcmode="lin" valueType="num">
                                      <p:cBhvr additive="base">
                                        <p:cTn id="136" dur="500" fill="hold"/>
                                        <p:tgtEl>
                                          <p:spTgt spid="29"/>
                                        </p:tgtEl>
                                        <p:attrNameLst>
                                          <p:attrName>ppt_y</p:attrName>
                                        </p:attrNameLst>
                                      </p:cBhvr>
                                      <p:tavLst>
                                        <p:tav tm="0">
                                          <p:val>
                                            <p:strVal val="#ppt_y+0.1"/>
                                          </p:val>
                                        </p:tav>
                                        <p:tav tm="100000">
                                          <p:val>
                                            <p:strVal val="#ppt_y"/>
                                          </p:val>
                                        </p:tav>
                                      </p:tavLst>
                                    </p:anim>
                                    <p:animEffect transition="in" filter="fade">
                                      <p:cBhvr>
                                        <p:cTn id="137" dur="500"/>
                                        <p:tgtEl>
                                          <p:spTgt spid="29"/>
                                        </p:tgtEl>
                                      </p:cBhvr>
                                    </p:animEffect>
                                  </p:childTnLst>
                                </p:cTn>
                              </p:par>
                              <p:par>
                                <p:cTn id="143" presetID="2" presetClass="entr" presetSubtype="4" fill="hold" grpId="0" nodeType="withEffect">
                                  <p:stCondLst>
                                    <p:cond delay="290"/>
                                  </p:stCondLst>
                                  <p:childTnLst>
                                    <p:set>
                                      <p:cBhvr>
                                        <p:cTn id="139" dur="1" fill="hold">
                                          <p:stCondLst>
                                            <p:cond delay="0"/>
                                          </p:stCondLst>
                                        </p:cTn>
                                        <p:tgtEl>
                                          <p:spTgt spid="30"/>
                                        </p:tgtEl>
                                        <p:attrNameLst>
                                          <p:attrName>style.visibility</p:attrName>
                                        </p:attrNameLst>
                                      </p:cBhvr>
                                      <p:to>
                                        <p:strVal val="visible"/>
                                      </p:to>
                                    </p:set>
                                    <p:anim calcmode="lin" valueType="num">
                                      <p:cBhvr additive="base">
                                        <p:cTn id="140" dur="500" fill="hold"/>
                                        <p:tgtEl>
                                          <p:spTgt spid="30"/>
                                        </p:tgtEl>
                                        <p:attrNameLst>
                                          <p:attrName>ppt_x</p:attrName>
                                        </p:attrNameLst>
                                      </p:cBhvr>
                                      <p:tavLst>
                                        <p:tav tm="0">
                                          <p:val>
                                            <p:strVal val="#ppt_x"/>
                                          </p:val>
                                        </p:tav>
                                        <p:tav tm="100000">
                                          <p:val>
                                            <p:strVal val="#ppt_x"/>
                                          </p:val>
                                        </p:tav>
                                      </p:tavLst>
                                    </p:anim>
                                    <p:anim calcmode="lin" valueType="num">
                                      <p:cBhvr additive="base">
                                        <p:cTn id="141" dur="500" fill="hold"/>
                                        <p:tgtEl>
                                          <p:spTgt spid="30"/>
                                        </p:tgtEl>
                                        <p:attrNameLst>
                                          <p:attrName>ppt_y</p:attrName>
                                        </p:attrNameLst>
                                      </p:cBhvr>
                                      <p:tavLst>
                                        <p:tav tm="0">
                                          <p:val>
                                            <p:strVal val="#ppt_y+0.1"/>
                                          </p:val>
                                        </p:tav>
                                        <p:tav tm="100000">
                                          <p:val>
                                            <p:strVal val="#ppt_y"/>
                                          </p:val>
                                        </p:tav>
                                      </p:tavLst>
                                    </p:anim>
                                    <p:animEffect transition="in" filter="fade">
                                      <p:cBhvr>
                                        <p:cTn id="142"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50" presetID="2" presetClass="entr" presetSubtype="4" fill="hold" grpId="0" nodeType="clickEffect">
                                  <p:stCondLst>
                                    <p:cond delay="0"/>
                                  </p:stCondLst>
                                  <p:childTnLst>
                                    <p:set>
                                      <p:cBhvr>
                                        <p:cTn id="146" dur="1" fill="hold">
                                          <p:stCondLst>
                                            <p:cond delay="0"/>
                                          </p:stCondLst>
                                        </p:cTn>
                                        <p:tgtEl>
                                          <p:spTgt spid="31"/>
                                        </p:tgtEl>
                                        <p:attrNameLst>
                                          <p:attrName>style.visibility</p:attrName>
                                        </p:attrNameLst>
                                      </p:cBhvr>
                                      <p:to>
                                        <p:strVal val="visible"/>
                                      </p:to>
                                    </p:set>
                                    <p:anim calcmode="lin" valueType="num">
                                      <p:cBhvr additive="base">
                                        <p:cTn id="147" dur="500" fill="hold"/>
                                        <p:tgtEl>
                                          <p:spTgt spid="31"/>
                                        </p:tgtEl>
                                        <p:attrNameLst>
                                          <p:attrName>ppt_x</p:attrName>
                                        </p:attrNameLst>
                                      </p:cBhvr>
                                      <p:tavLst>
                                        <p:tav tm="0">
                                          <p:val>
                                            <p:strVal val="#ppt_x"/>
                                          </p:val>
                                        </p:tav>
                                        <p:tav tm="100000">
                                          <p:val>
                                            <p:strVal val="#ppt_x"/>
                                          </p:val>
                                        </p:tav>
                                      </p:tavLst>
                                    </p:anim>
                                    <p:anim calcmode="lin" valueType="num">
                                      <p:cBhvr additive="base">
                                        <p:cTn id="148" dur="500" fill="hold"/>
                                        <p:tgtEl>
                                          <p:spTgt spid="31"/>
                                        </p:tgtEl>
                                        <p:attrNameLst>
                                          <p:attrName>ppt_y</p:attrName>
                                        </p:attrNameLst>
                                      </p:cBhvr>
                                      <p:tavLst>
                                        <p:tav tm="0">
                                          <p:val>
                                            <p:strVal val="#ppt_y+0.1"/>
                                          </p:val>
                                        </p:tav>
                                        <p:tav tm="100000">
                                          <p:val>
                                            <p:strVal val="#ppt_y"/>
                                          </p:val>
                                        </p:tav>
                                      </p:tavLst>
                                    </p:anim>
                                    <p:animEffect transition="in" filter="fade">
                                      <p:cBhvr>
                                        <p:cTn id="149" dur="500"/>
                                        <p:tgtEl>
                                          <p:spTgt spid="31"/>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ppt_x"/>
                                          </p:val>
                                        </p:tav>
                                        <p:tav tm="100000">
                                          <p:val>
                                            <p:strVal val="#ppt_x"/>
                                          </p:val>
                                        </p:tav>
                                      </p:tavLst>
                                    </p:anim>
                                    <p:anim calcmode="lin" valueType="num">
                                      <p:cBhvr additive="base">
                                        <p:cTn id="153" dur="500" fill="hold"/>
                                        <p:tgtEl>
                                          <p:spTgt spid="32"/>
                                        </p:tgtEl>
                                        <p:attrNameLst>
                                          <p:attrName>ppt_y</p:attrName>
                                        </p:attrNameLst>
                                      </p:cBhvr>
                                      <p:tavLst>
                                        <p:tav tm="0">
                                          <p:val>
                                            <p:strVal val="#ppt_y+0.1"/>
                                          </p:val>
                                        </p:tav>
                                        <p:tav tm="100000">
                                          <p:val>
                                            <p:strVal val="#ppt_y"/>
                                          </p:val>
                                        </p:tav>
                                      </p:tavLst>
                                    </p:anim>
                                    <p:animEffect transition="in" filter="fade">
                                      <p:cBhvr>
                                        <p:cTn id="154" dur="500"/>
                                        <p:tgtEl>
                                          <p:spTgt spid="32"/>
                                        </p:tgtEl>
                                      </p:cBhvr>
                                    </p:animEffect>
                                  </p:childTnLst>
                                </p:cTn>
                              </p:par>
                              <p:par>
                                <p:cTn id="160" presetID="2" presetClass="entr" presetSubtype="4" fill="hold" grpId="0" nodeType="withEffect">
                                  <p:stCondLst>
                                    <p:cond delay="60"/>
                                  </p:stCondLst>
                                  <p:childTnLst>
                                    <p:set>
                                      <p:cBhvr>
                                        <p:cTn id="156" dur="1" fill="hold">
                                          <p:stCondLst>
                                            <p:cond delay="0"/>
                                          </p:stCondLst>
                                        </p:cTn>
                                        <p:tgtEl>
                                          <p:spTgt spid="33"/>
                                        </p:tgtEl>
                                        <p:attrNameLst>
                                          <p:attrName>style.visibility</p:attrName>
                                        </p:attrNameLst>
                                      </p:cBhvr>
                                      <p:to>
                                        <p:strVal val="visible"/>
                                      </p:to>
                                    </p:set>
                                    <p:anim calcmode="lin" valueType="num">
                                      <p:cBhvr additive="base">
                                        <p:cTn id="157" dur="500" fill="hold"/>
                                        <p:tgtEl>
                                          <p:spTgt spid="33"/>
                                        </p:tgtEl>
                                        <p:attrNameLst>
                                          <p:attrName>ppt_x</p:attrName>
                                        </p:attrNameLst>
                                      </p:cBhvr>
                                      <p:tavLst>
                                        <p:tav tm="0">
                                          <p:val>
                                            <p:strVal val="#ppt_x"/>
                                          </p:val>
                                        </p:tav>
                                        <p:tav tm="100000">
                                          <p:val>
                                            <p:strVal val="#ppt_x"/>
                                          </p:val>
                                        </p:tav>
                                      </p:tavLst>
                                    </p:anim>
                                    <p:anim calcmode="lin" valueType="num">
                                      <p:cBhvr additive="base">
                                        <p:cTn id="158" dur="500" fill="hold"/>
                                        <p:tgtEl>
                                          <p:spTgt spid="33"/>
                                        </p:tgtEl>
                                        <p:attrNameLst>
                                          <p:attrName>ppt_y</p:attrName>
                                        </p:attrNameLst>
                                      </p:cBhvr>
                                      <p:tavLst>
                                        <p:tav tm="0">
                                          <p:val>
                                            <p:strVal val="#ppt_y+0.1"/>
                                          </p:val>
                                        </p:tav>
                                        <p:tav tm="100000">
                                          <p:val>
                                            <p:strVal val="#ppt_y"/>
                                          </p:val>
                                        </p:tav>
                                      </p:tavLst>
                                    </p:anim>
                                    <p:animEffect transition="in" filter="fade">
                                      <p:cBhvr>
                                        <p:cTn id="159" dur="500"/>
                                        <p:tgtEl>
                                          <p:spTgt spid="33"/>
                                        </p:tgtEl>
                                      </p:cBhvr>
                                    </p:animEffect>
                                  </p:childTnLst>
                                </p:cTn>
                              </p:par>
                              <p:par>
                                <p:cTn id="165" presetID="2" presetClass="entr" presetSubtype="4" fill="hold" grpId="0" nodeType="withEffect">
                                  <p:stCondLst>
                                    <p:cond delay="60"/>
                                  </p:stCondLst>
                                  <p:childTnLst>
                                    <p:set>
                                      <p:cBhvr>
                                        <p:cTn id="161" dur="1" fill="hold">
                                          <p:stCondLst>
                                            <p:cond delay="0"/>
                                          </p:stCondLst>
                                        </p:cTn>
                                        <p:tgtEl>
                                          <p:spTgt spid="34"/>
                                        </p:tgtEl>
                                        <p:attrNameLst>
                                          <p:attrName>style.visibility</p:attrName>
                                        </p:attrNameLst>
                                      </p:cBhvr>
                                      <p:to>
                                        <p:strVal val="visible"/>
                                      </p:to>
                                    </p:set>
                                    <p:anim calcmode="lin" valueType="num">
                                      <p:cBhvr additive="base">
                                        <p:cTn id="162" dur="500" fill="hold"/>
                                        <p:tgtEl>
                                          <p:spTgt spid="34"/>
                                        </p:tgtEl>
                                        <p:attrNameLst>
                                          <p:attrName>ppt_x</p:attrName>
                                        </p:attrNameLst>
                                      </p:cBhvr>
                                      <p:tavLst>
                                        <p:tav tm="0">
                                          <p:val>
                                            <p:strVal val="#ppt_x"/>
                                          </p:val>
                                        </p:tav>
                                        <p:tav tm="100000">
                                          <p:val>
                                            <p:strVal val="#ppt_x"/>
                                          </p:val>
                                        </p:tav>
                                      </p:tavLst>
                                    </p:anim>
                                    <p:anim calcmode="lin" valueType="num">
                                      <p:cBhvr additive="base">
                                        <p:cTn id="163" dur="500" fill="hold"/>
                                        <p:tgtEl>
                                          <p:spTgt spid="34"/>
                                        </p:tgtEl>
                                        <p:attrNameLst>
                                          <p:attrName>ppt_y</p:attrName>
                                        </p:attrNameLst>
                                      </p:cBhvr>
                                      <p:tavLst>
                                        <p:tav tm="0">
                                          <p:val>
                                            <p:strVal val="#ppt_y+0.1"/>
                                          </p:val>
                                        </p:tav>
                                        <p:tav tm="100000">
                                          <p:val>
                                            <p:strVal val="#ppt_y"/>
                                          </p:val>
                                        </p:tav>
                                      </p:tavLst>
                                    </p:anim>
                                    <p:animEffect transition="in" filter="fade">
                                      <p:cBhvr>
                                        <p:cTn id="164" dur="500"/>
                                        <p:tgtEl>
                                          <p:spTgt spid="34"/>
                                        </p:tgtEl>
                                      </p:cBhvr>
                                    </p:animEffect>
                                  </p:childTnLst>
                                </p:cTn>
                              </p:par>
                              <p:par>
                                <p:cTn id="170" presetID="2" presetClass="entr" presetSubtype="4" fill="hold" grpId="0" nodeType="withEffect">
                                  <p:stCondLst>
                                    <p:cond delay="90"/>
                                  </p:stCondLst>
                                  <p:childTnLst>
                                    <p:set>
                                      <p:cBhvr>
                                        <p:cTn id="166" dur="1" fill="hold">
                                          <p:stCondLst>
                                            <p:cond delay="0"/>
                                          </p:stCondLst>
                                        </p:cTn>
                                        <p:tgtEl>
                                          <p:spTgt spid="35"/>
                                        </p:tgtEl>
                                        <p:attrNameLst>
                                          <p:attrName>style.visibility</p:attrName>
                                        </p:attrNameLst>
                                      </p:cBhvr>
                                      <p:to>
                                        <p:strVal val="visible"/>
                                      </p:to>
                                    </p:set>
                                    <p:anim calcmode="lin" valueType="num">
                                      <p:cBhvr additive="base">
                                        <p:cTn id="167" dur="500" fill="hold"/>
                                        <p:tgtEl>
                                          <p:spTgt spid="35"/>
                                        </p:tgtEl>
                                        <p:attrNameLst>
                                          <p:attrName>ppt_x</p:attrName>
                                        </p:attrNameLst>
                                      </p:cBhvr>
                                      <p:tavLst>
                                        <p:tav tm="0">
                                          <p:val>
                                            <p:strVal val="#ppt_x"/>
                                          </p:val>
                                        </p:tav>
                                        <p:tav tm="100000">
                                          <p:val>
                                            <p:strVal val="#ppt_x"/>
                                          </p:val>
                                        </p:tav>
                                      </p:tavLst>
                                    </p:anim>
                                    <p:anim calcmode="lin" valueType="num">
                                      <p:cBhvr additive="base">
                                        <p:cTn id="168" dur="500" fill="hold"/>
                                        <p:tgtEl>
                                          <p:spTgt spid="35"/>
                                        </p:tgtEl>
                                        <p:attrNameLst>
                                          <p:attrName>ppt_y</p:attrName>
                                        </p:attrNameLst>
                                      </p:cBhvr>
                                      <p:tavLst>
                                        <p:tav tm="0">
                                          <p:val>
                                            <p:strVal val="#ppt_y+0.1"/>
                                          </p:val>
                                        </p:tav>
                                        <p:tav tm="100000">
                                          <p:val>
                                            <p:strVal val="#ppt_y"/>
                                          </p:val>
                                        </p:tav>
                                      </p:tavLst>
                                    </p:anim>
                                    <p:animEffect transition="in" filter="fade">
                                      <p:cBhvr>
                                        <p:cTn id="169" dur="500"/>
                                        <p:tgtEl>
                                          <p:spTgt spid="35"/>
                                        </p:tgtEl>
                                      </p:cBhvr>
                                    </p:animEffect>
                                  </p:childTnLst>
                                </p:cTn>
                              </p:par>
                              <p:par>
                                <p:cTn id="175" presetID="2" presetClass="entr" presetSubtype="4" fill="hold" grpId="0" nodeType="withEffect">
                                  <p:stCondLst>
                                    <p:cond delay="120"/>
                                  </p:stCondLst>
                                  <p:childTnLst>
                                    <p:set>
                                      <p:cBhvr>
                                        <p:cTn id="171" dur="1" fill="hold">
                                          <p:stCondLst>
                                            <p:cond delay="0"/>
                                          </p:stCondLst>
                                        </p:cTn>
                                        <p:tgtEl>
                                          <p:spTgt spid="36"/>
                                        </p:tgtEl>
                                        <p:attrNameLst>
                                          <p:attrName>style.visibility</p:attrName>
                                        </p:attrNameLst>
                                      </p:cBhvr>
                                      <p:to>
                                        <p:strVal val="visible"/>
                                      </p:to>
                                    </p:set>
                                    <p:anim calcmode="lin" valueType="num">
                                      <p:cBhvr additive="base">
                                        <p:cTn id="172" dur="500" fill="hold"/>
                                        <p:tgtEl>
                                          <p:spTgt spid="36"/>
                                        </p:tgtEl>
                                        <p:attrNameLst>
                                          <p:attrName>ppt_x</p:attrName>
                                        </p:attrNameLst>
                                      </p:cBhvr>
                                      <p:tavLst>
                                        <p:tav tm="0">
                                          <p:val>
                                            <p:strVal val="#ppt_x"/>
                                          </p:val>
                                        </p:tav>
                                        <p:tav tm="100000">
                                          <p:val>
                                            <p:strVal val="#ppt_x"/>
                                          </p:val>
                                        </p:tav>
                                      </p:tavLst>
                                    </p:anim>
                                    <p:anim calcmode="lin" valueType="num">
                                      <p:cBhvr additive="base">
                                        <p:cTn id="173" dur="500" fill="hold"/>
                                        <p:tgtEl>
                                          <p:spTgt spid="36"/>
                                        </p:tgtEl>
                                        <p:attrNameLst>
                                          <p:attrName>ppt_y</p:attrName>
                                        </p:attrNameLst>
                                      </p:cBhvr>
                                      <p:tavLst>
                                        <p:tav tm="0">
                                          <p:val>
                                            <p:strVal val="#ppt_y+0.1"/>
                                          </p:val>
                                        </p:tav>
                                        <p:tav tm="100000">
                                          <p:val>
                                            <p:strVal val="#ppt_y"/>
                                          </p:val>
                                        </p:tav>
                                      </p:tavLst>
                                    </p:anim>
                                    <p:animEffect transition="in" filter="fade">
                                      <p:cBhvr>
                                        <p:cTn id="174" dur="500"/>
                                        <p:tgtEl>
                                          <p:spTgt spid="36"/>
                                        </p:tgtEl>
                                      </p:cBhvr>
                                    </p:animEffect>
                                  </p:childTnLst>
                                </p:cTn>
                              </p:par>
                              <p:par>
                                <p:cTn id="180" presetID="2" presetClass="entr" presetSubtype="4" fill="hold" grpId="0" nodeType="withEffect">
                                  <p:stCondLst>
                                    <p:cond delay="150"/>
                                  </p:stCondLst>
                                  <p:childTnLst>
                                    <p:set>
                                      <p:cBhvr>
                                        <p:cTn id="176" dur="1" fill="hold">
                                          <p:stCondLst>
                                            <p:cond delay="0"/>
                                          </p:stCondLst>
                                        </p:cTn>
                                        <p:tgtEl>
                                          <p:spTgt spid="37"/>
                                        </p:tgtEl>
                                        <p:attrNameLst>
                                          <p:attrName>style.visibility</p:attrName>
                                        </p:attrNameLst>
                                      </p:cBhvr>
                                      <p:to>
                                        <p:strVal val="visible"/>
                                      </p:to>
                                    </p:set>
                                    <p:anim calcmode="lin" valueType="num">
                                      <p:cBhvr additive="base">
                                        <p:cTn id="177" dur="500" fill="hold"/>
                                        <p:tgtEl>
                                          <p:spTgt spid="37"/>
                                        </p:tgtEl>
                                        <p:attrNameLst>
                                          <p:attrName>ppt_x</p:attrName>
                                        </p:attrNameLst>
                                      </p:cBhvr>
                                      <p:tavLst>
                                        <p:tav tm="0">
                                          <p:val>
                                            <p:strVal val="#ppt_x"/>
                                          </p:val>
                                        </p:tav>
                                        <p:tav tm="100000">
                                          <p:val>
                                            <p:strVal val="#ppt_x"/>
                                          </p:val>
                                        </p:tav>
                                      </p:tavLst>
                                    </p:anim>
                                    <p:anim calcmode="lin" valueType="num">
                                      <p:cBhvr additive="base">
                                        <p:cTn id="178" dur="500" fill="hold"/>
                                        <p:tgtEl>
                                          <p:spTgt spid="37"/>
                                        </p:tgtEl>
                                        <p:attrNameLst>
                                          <p:attrName>ppt_y</p:attrName>
                                        </p:attrNameLst>
                                      </p:cBhvr>
                                      <p:tavLst>
                                        <p:tav tm="0">
                                          <p:val>
                                            <p:strVal val="#ppt_y+0.1"/>
                                          </p:val>
                                        </p:tav>
                                        <p:tav tm="100000">
                                          <p:val>
                                            <p:strVal val="#ppt_y"/>
                                          </p:val>
                                        </p:tav>
                                      </p:tavLst>
                                    </p:anim>
                                    <p:animEffect transition="in" filter="fade">
                                      <p:cBhvr>
                                        <p:cTn id="179" dur="500"/>
                                        <p:tgtEl>
                                          <p:spTgt spid="37"/>
                                        </p:tgtEl>
                                      </p:cBhvr>
                                    </p:animEffect>
                                  </p:childTnLst>
                                </p:cTn>
                              </p:par>
                              <p:par>
                                <p:cTn id="185" presetID="2" presetClass="entr" presetSubtype="4" fill="hold" grpId="0" nodeType="withEffect">
                                  <p:stCondLst>
                                    <p:cond delay="220"/>
                                  </p:stCondLst>
                                  <p:childTnLst>
                                    <p:set>
                                      <p:cBhvr>
                                        <p:cTn id="181" dur="1" fill="hold">
                                          <p:stCondLst>
                                            <p:cond delay="0"/>
                                          </p:stCondLst>
                                        </p:cTn>
                                        <p:tgtEl>
                                          <p:spTgt spid="38"/>
                                        </p:tgtEl>
                                        <p:attrNameLst>
                                          <p:attrName>style.visibility</p:attrName>
                                        </p:attrNameLst>
                                      </p:cBhvr>
                                      <p:to>
                                        <p:strVal val="visible"/>
                                      </p:to>
                                    </p:set>
                                    <p:anim calcmode="lin" valueType="num">
                                      <p:cBhvr additive="base">
                                        <p:cTn id="182" dur="500" fill="hold"/>
                                        <p:tgtEl>
                                          <p:spTgt spid="38"/>
                                        </p:tgtEl>
                                        <p:attrNameLst>
                                          <p:attrName>ppt_x</p:attrName>
                                        </p:attrNameLst>
                                      </p:cBhvr>
                                      <p:tavLst>
                                        <p:tav tm="0">
                                          <p:val>
                                            <p:strVal val="#ppt_x"/>
                                          </p:val>
                                        </p:tav>
                                        <p:tav tm="100000">
                                          <p:val>
                                            <p:strVal val="#ppt_x"/>
                                          </p:val>
                                        </p:tav>
                                      </p:tavLst>
                                    </p:anim>
                                    <p:anim calcmode="lin" valueType="num">
                                      <p:cBhvr additive="base">
                                        <p:cTn id="183" dur="500" fill="hold"/>
                                        <p:tgtEl>
                                          <p:spTgt spid="38"/>
                                        </p:tgtEl>
                                        <p:attrNameLst>
                                          <p:attrName>ppt_y</p:attrName>
                                        </p:attrNameLst>
                                      </p:cBhvr>
                                      <p:tavLst>
                                        <p:tav tm="0">
                                          <p:val>
                                            <p:strVal val="#ppt_y+0.1"/>
                                          </p:val>
                                        </p:tav>
                                        <p:tav tm="100000">
                                          <p:val>
                                            <p:strVal val="#ppt_y"/>
                                          </p:val>
                                        </p:tav>
                                      </p:tavLst>
                                    </p:anim>
                                    <p:animEffect transition="in" filter="fade">
                                      <p:cBhvr>
                                        <p:cTn id="184" dur="500"/>
                                        <p:tgtEl>
                                          <p:spTgt spid="38"/>
                                        </p:tgtEl>
                                      </p:cBhvr>
                                    </p:animEffect>
                                  </p:childTnLst>
                                </p:cTn>
                              </p:par>
                              <p:par>
                                <p:cTn id="190" presetID="2" presetClass="entr" presetSubtype="4" fill="hold" grpId="0" nodeType="withEffect">
                                  <p:stCondLst>
                                    <p:cond delay="290"/>
                                  </p:stCondLst>
                                  <p:childTnLst>
                                    <p:set>
                                      <p:cBhvr>
                                        <p:cTn id="186" dur="1" fill="hold">
                                          <p:stCondLst>
                                            <p:cond delay="0"/>
                                          </p:stCondLst>
                                        </p:cTn>
                                        <p:tgtEl>
                                          <p:spTgt spid="39"/>
                                        </p:tgtEl>
                                        <p:attrNameLst>
                                          <p:attrName>style.visibility</p:attrName>
                                        </p:attrNameLst>
                                      </p:cBhvr>
                                      <p:to>
                                        <p:strVal val="visible"/>
                                      </p:to>
                                    </p:set>
                                    <p:anim calcmode="lin" valueType="num">
                                      <p:cBhvr additive="base">
                                        <p:cTn id="187" dur="500" fill="hold"/>
                                        <p:tgtEl>
                                          <p:spTgt spid="39"/>
                                        </p:tgtEl>
                                        <p:attrNameLst>
                                          <p:attrName>ppt_x</p:attrName>
                                        </p:attrNameLst>
                                      </p:cBhvr>
                                      <p:tavLst>
                                        <p:tav tm="0">
                                          <p:val>
                                            <p:strVal val="#ppt_x"/>
                                          </p:val>
                                        </p:tav>
                                        <p:tav tm="100000">
                                          <p:val>
                                            <p:strVal val="#ppt_x"/>
                                          </p:val>
                                        </p:tav>
                                      </p:tavLst>
                                    </p:anim>
                                    <p:anim calcmode="lin" valueType="num">
                                      <p:cBhvr additive="base">
                                        <p:cTn id="188" dur="500" fill="hold"/>
                                        <p:tgtEl>
                                          <p:spTgt spid="39"/>
                                        </p:tgtEl>
                                        <p:attrNameLst>
                                          <p:attrName>ppt_y</p:attrName>
                                        </p:attrNameLst>
                                      </p:cBhvr>
                                      <p:tavLst>
                                        <p:tav tm="0">
                                          <p:val>
                                            <p:strVal val="#ppt_y+0.1"/>
                                          </p:val>
                                        </p:tav>
                                        <p:tav tm="100000">
                                          <p:val>
                                            <p:strVal val="#ppt_y"/>
                                          </p:val>
                                        </p:tav>
                                      </p:tavLst>
                                    </p:anim>
                                    <p:animEffect transition="in" filter="fade">
                                      <p:cBhvr>
                                        <p:cTn id="189" dur="500"/>
                                        <p:tgtEl>
                                          <p:spTgt spid="39"/>
                                        </p:tgtEl>
                                      </p:cBhvr>
                                    </p:animEffect>
                                  </p:childTnLst>
                                </p:cTn>
                              </p:par>
                            </p:childTnLst>
                          </p:cTn>
                        </p:par>
                      </p:childTnLst>
                    </p:cTn>
                  </p:par>
                  <p:par>
                    <p:cTn id="191" fill="hold">
                      <p:stCondLst>
                        <p:cond delay="indefinite"/>
                      </p:stCondLst>
                      <p:childTnLst>
                        <p:par>
                          <p:cTn id="192" fill="hold">
                            <p:stCondLst>
                              <p:cond delay="0"/>
                            </p:stCondLst>
                            <p:childTnLst>
                              <p:par>
                                <p:cTn id="197" presetID="2" presetClass="entr" presetSubtype="4" fill="hold" grpId="0" nodeType="clickEffect">
                                  <p:stCondLst>
                                    <p:cond delay="0"/>
                                  </p:stCondLst>
                                  <p:childTnLst>
                                    <p:set>
                                      <p:cBhvr>
                                        <p:cTn id="193" dur="1" fill="hold">
                                          <p:stCondLst>
                                            <p:cond delay="0"/>
                                          </p:stCondLst>
                                        </p:cTn>
                                        <p:tgtEl>
                                          <p:spTgt spid="40"/>
                                        </p:tgtEl>
                                        <p:attrNameLst>
                                          <p:attrName>style.visibility</p:attrName>
                                        </p:attrNameLst>
                                      </p:cBhvr>
                                      <p:to>
                                        <p:strVal val="visible"/>
                                      </p:to>
                                    </p:set>
                                    <p:anim calcmode="lin" valueType="num">
                                      <p:cBhvr additive="base">
                                        <p:cTn id="194" dur="500" fill="hold"/>
                                        <p:tgtEl>
                                          <p:spTgt spid="40"/>
                                        </p:tgtEl>
                                        <p:attrNameLst>
                                          <p:attrName>ppt_x</p:attrName>
                                        </p:attrNameLst>
                                      </p:cBhvr>
                                      <p:tavLst>
                                        <p:tav tm="0">
                                          <p:val>
                                            <p:strVal val="#ppt_x"/>
                                          </p:val>
                                        </p:tav>
                                        <p:tav tm="100000">
                                          <p:val>
                                            <p:strVal val="#ppt_x"/>
                                          </p:val>
                                        </p:tav>
                                      </p:tavLst>
                                    </p:anim>
                                    <p:anim calcmode="lin" valueType="num">
                                      <p:cBhvr additive="base">
                                        <p:cTn id="195" dur="500" fill="hold"/>
                                        <p:tgtEl>
                                          <p:spTgt spid="40"/>
                                        </p:tgtEl>
                                        <p:attrNameLst>
                                          <p:attrName>ppt_y</p:attrName>
                                        </p:attrNameLst>
                                      </p:cBhvr>
                                      <p:tavLst>
                                        <p:tav tm="0">
                                          <p:val>
                                            <p:strVal val="#ppt_y+0.1"/>
                                          </p:val>
                                        </p:tav>
                                        <p:tav tm="100000">
                                          <p:val>
                                            <p:strVal val="#ppt_y"/>
                                          </p:val>
                                        </p:tav>
                                      </p:tavLst>
                                    </p:anim>
                                    <p:animEffect transition="in" filter="fade">
                                      <p:cBhvr>
                                        <p:cTn id="196" dur="500"/>
                                        <p:tgtEl>
                                          <p:spTgt spid="40"/>
                                        </p:tgtEl>
                                      </p:cBhvr>
                                    </p:animEffect>
                                  </p:childTnLst>
                                </p:cTn>
                              </p:par>
                              <p:par>
                                <p:cTn id="202" presetID="2" presetClass="entr" presetSubtype="4" fill="hold" grpId="0" nodeType="withEffect">
                                  <p:stCondLst>
                                    <p:cond delay="0"/>
                                  </p:stCondLst>
                                  <p:childTnLst>
                                    <p:set>
                                      <p:cBhvr>
                                        <p:cTn id="198" dur="1" fill="hold">
                                          <p:stCondLst>
                                            <p:cond delay="0"/>
                                          </p:stCondLst>
                                        </p:cTn>
                                        <p:tgtEl>
                                          <p:spTgt spid="41"/>
                                        </p:tgtEl>
                                        <p:attrNameLst>
                                          <p:attrName>style.visibility</p:attrName>
                                        </p:attrNameLst>
                                      </p:cBhvr>
                                      <p:to>
                                        <p:strVal val="visible"/>
                                      </p:to>
                                    </p:set>
                                    <p:anim calcmode="lin" valueType="num">
                                      <p:cBhvr additive="base">
                                        <p:cTn id="199" dur="500" fill="hold"/>
                                        <p:tgtEl>
                                          <p:spTgt spid="41"/>
                                        </p:tgtEl>
                                        <p:attrNameLst>
                                          <p:attrName>ppt_x</p:attrName>
                                        </p:attrNameLst>
                                      </p:cBhvr>
                                      <p:tavLst>
                                        <p:tav tm="0">
                                          <p:val>
                                            <p:strVal val="#ppt_x"/>
                                          </p:val>
                                        </p:tav>
                                        <p:tav tm="100000">
                                          <p:val>
                                            <p:strVal val="#ppt_x"/>
                                          </p:val>
                                        </p:tav>
                                      </p:tavLst>
                                    </p:anim>
                                    <p:anim calcmode="lin" valueType="num">
                                      <p:cBhvr additive="base">
                                        <p:cTn id="200" dur="500" fill="hold"/>
                                        <p:tgtEl>
                                          <p:spTgt spid="41"/>
                                        </p:tgtEl>
                                        <p:attrNameLst>
                                          <p:attrName>ppt_y</p:attrName>
                                        </p:attrNameLst>
                                      </p:cBhvr>
                                      <p:tavLst>
                                        <p:tav tm="0">
                                          <p:val>
                                            <p:strVal val="#ppt_y+0.1"/>
                                          </p:val>
                                        </p:tav>
                                        <p:tav tm="100000">
                                          <p:val>
                                            <p:strVal val="#ppt_y"/>
                                          </p:val>
                                        </p:tav>
                                      </p:tavLst>
                                    </p:anim>
                                    <p:animEffect transition="in" filter="fade">
                                      <p:cBhvr>
                                        <p:cTn id="201" dur="500"/>
                                        <p:tgtEl>
                                          <p:spTgt spid="41"/>
                                        </p:tgtEl>
                                      </p:cBhvr>
                                    </p:animEffect>
                                  </p:childTnLst>
                                </p:cTn>
                              </p:par>
                              <p:par>
                                <p:cTn id="207" presetID="2" presetClass="entr" presetSubtype="4" fill="hold" grpId="0" nodeType="withEffect">
                                  <p:stCondLst>
                                    <p:cond delay="0"/>
                                  </p:stCondLst>
                                  <p:childTnLst>
                                    <p:set>
                                      <p:cBhvr>
                                        <p:cTn id="203" dur="1" fill="hold">
                                          <p:stCondLst>
                                            <p:cond delay="0"/>
                                          </p:stCondLst>
                                        </p:cTn>
                                        <p:tgtEl>
                                          <p:spTgt spid="42"/>
                                        </p:tgtEl>
                                        <p:attrNameLst>
                                          <p:attrName>style.visibility</p:attrName>
                                        </p:attrNameLst>
                                      </p:cBhvr>
                                      <p:to>
                                        <p:strVal val="visible"/>
                                      </p:to>
                                    </p:set>
                                    <p:anim calcmode="lin" valueType="num">
                                      <p:cBhvr additive="base">
                                        <p:cTn id="204" dur="500" fill="hold"/>
                                        <p:tgtEl>
                                          <p:spTgt spid="42"/>
                                        </p:tgtEl>
                                        <p:attrNameLst>
                                          <p:attrName>ppt_x</p:attrName>
                                        </p:attrNameLst>
                                      </p:cBhvr>
                                      <p:tavLst>
                                        <p:tav tm="0">
                                          <p:val>
                                            <p:strVal val="#ppt_x"/>
                                          </p:val>
                                        </p:tav>
                                        <p:tav tm="100000">
                                          <p:val>
                                            <p:strVal val="#ppt_x"/>
                                          </p:val>
                                        </p:tav>
                                      </p:tavLst>
                                    </p:anim>
                                    <p:anim calcmode="lin" valueType="num">
                                      <p:cBhvr additive="base">
                                        <p:cTn id="205" dur="500" fill="hold"/>
                                        <p:tgtEl>
                                          <p:spTgt spid="42"/>
                                        </p:tgtEl>
                                        <p:attrNameLst>
                                          <p:attrName>ppt_y</p:attrName>
                                        </p:attrNameLst>
                                      </p:cBhvr>
                                      <p:tavLst>
                                        <p:tav tm="0">
                                          <p:val>
                                            <p:strVal val="#ppt_y+0.1"/>
                                          </p:val>
                                        </p:tav>
                                        <p:tav tm="100000">
                                          <p:val>
                                            <p:strVal val="#ppt_y"/>
                                          </p:val>
                                        </p:tav>
                                      </p:tavLst>
                                    </p:anim>
                                    <p:animEffect transition="in" filter="fade">
                                      <p:cBhvr>
                                        <p:cTn id="20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Type 1 · Key-Value Stores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A dictionary the size of your cluster</a:t>
            </a:r>
          </a:p>
        </p:txBody>
      </p:sp>
      <p:sp>
        <p:nvSpPr>
          <p:cNvPr id="4" name="a1u_card3"/>
          <p:cNvSpPr/>
          <p:nvPr/>
        </p:nvSpPr>
        <p:spPr>
          <a:xfrm>
            <a:off x="457200" y="1170432"/>
            <a:ext cx="3749039" cy="1874519"/>
          </a:xfrm>
          <a:prstGeom prst="roundRect">
            <a:avLst>
              <a:gd name="adj" fmla="val 4878"/>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58368" y="1289304"/>
            <a:ext cx="3346704" cy="237744"/>
          </a:xfrm>
          <a:prstGeom prst="rect">
            <a:avLst/>
          </a:prstGeom>
          <a:noFill/>
        </p:spPr>
        <p:txBody>
          <a:bodyPr wrap="square" lIns="0" tIns="0" rIns="0" bIns="0" anchor="ctr">
            <a:spAutoFit/>
          </a:bodyPr>
          <a:lstStyle/>
          <a:p>
            <a:pPr algn="l"/>
            <a:r>
              <a:rPr sz="950" b="1">
                <a:solidFill>
                  <a:srgbClr val="DC382C"/>
                </a:solidFill>
                <a:latin typeface="Calibri"/>
              </a:rPr>
              <a:t>THE MODEL</a:t>
            </a:r>
          </a:p>
        </p:txBody>
      </p:sp>
      <p:sp>
        <p:nvSpPr>
          <p:cNvPr id="6" name="a1w_kb5"/>
          <p:cNvSpPr/>
          <p:nvPr/>
        </p:nvSpPr>
        <p:spPr>
          <a:xfrm>
            <a:off x="658368" y="1600200"/>
            <a:ext cx="1463040" cy="347472"/>
          </a:xfrm>
          <a:prstGeom prst="roundRect">
            <a:avLst>
              <a:gd name="adj" fmla="val 13157"/>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w_kt6"/>
          <p:cNvSpPr txBox="1"/>
          <p:nvPr/>
        </p:nvSpPr>
        <p:spPr>
          <a:xfrm>
            <a:off x="731520" y="1600200"/>
            <a:ext cx="1389888" cy="347472"/>
          </a:xfrm>
          <a:prstGeom prst="rect">
            <a:avLst/>
          </a:prstGeom>
          <a:noFill/>
        </p:spPr>
        <p:txBody>
          <a:bodyPr wrap="square" lIns="0" tIns="0" rIns="0" bIns="0" anchor="ctr">
            <a:spAutoFit/>
          </a:bodyPr>
          <a:lstStyle/>
          <a:p>
            <a:pPr algn="l"/>
            <a:r>
              <a:rPr sz="950" b="1">
                <a:solidFill>
                  <a:srgbClr val="991B1B"/>
                </a:solidFill>
                <a:latin typeface="Courier New"/>
              </a:rPr>
              <a:t>session:8f3a</a:t>
            </a:r>
          </a:p>
        </p:txBody>
      </p:sp>
      <p:sp>
        <p:nvSpPr>
          <p:cNvPr id="8" name="a1wd60_vb7"/>
          <p:cNvSpPr/>
          <p:nvPr/>
        </p:nvSpPr>
        <p:spPr>
          <a:xfrm>
            <a:off x="2194560" y="1600200"/>
            <a:ext cx="1810512" cy="347472"/>
          </a:xfrm>
          <a:prstGeom prst="roundRect">
            <a:avLst>
              <a:gd name="adj" fmla="val 13157"/>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wd60_vt8"/>
          <p:cNvSpPr txBox="1"/>
          <p:nvPr/>
        </p:nvSpPr>
        <p:spPr>
          <a:xfrm>
            <a:off x="2286000" y="1600200"/>
            <a:ext cx="1700784" cy="347472"/>
          </a:xfrm>
          <a:prstGeom prst="rect">
            <a:avLst/>
          </a:prstGeom>
          <a:noFill/>
        </p:spPr>
        <p:txBody>
          <a:bodyPr wrap="square" lIns="0" tIns="0" rIns="0" bIns="0" anchor="ctr">
            <a:spAutoFit/>
          </a:bodyPr>
          <a:lstStyle/>
          <a:p>
            <a:pPr algn="l"/>
            <a:r>
              <a:rPr sz="900" b="0">
                <a:solidFill>
                  <a:srgbClr val="334155"/>
                </a:solidFill>
                <a:latin typeface="Courier New"/>
              </a:rPr>
              <a:t>{user:9003, exp:1800}</a:t>
            </a:r>
          </a:p>
        </p:txBody>
      </p:sp>
      <p:sp>
        <p:nvSpPr>
          <p:cNvPr id="10" name="a1wd120_kb9"/>
          <p:cNvSpPr/>
          <p:nvPr/>
        </p:nvSpPr>
        <p:spPr>
          <a:xfrm>
            <a:off x="658368" y="2039112"/>
            <a:ext cx="1463040" cy="347472"/>
          </a:xfrm>
          <a:prstGeom prst="roundRect">
            <a:avLst>
              <a:gd name="adj" fmla="val 13157"/>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wd120_kt10"/>
          <p:cNvSpPr txBox="1"/>
          <p:nvPr/>
        </p:nvSpPr>
        <p:spPr>
          <a:xfrm>
            <a:off x="731520" y="2039112"/>
            <a:ext cx="1389888" cy="347472"/>
          </a:xfrm>
          <a:prstGeom prst="rect">
            <a:avLst/>
          </a:prstGeom>
          <a:noFill/>
        </p:spPr>
        <p:txBody>
          <a:bodyPr wrap="square" lIns="0" tIns="0" rIns="0" bIns="0" anchor="ctr">
            <a:spAutoFit/>
          </a:bodyPr>
          <a:lstStyle/>
          <a:p>
            <a:pPr algn="l"/>
            <a:r>
              <a:rPr sz="950" b="1">
                <a:solidFill>
                  <a:srgbClr val="991B1B"/>
                </a:solidFill>
                <a:latin typeface="Courier New"/>
              </a:rPr>
              <a:t>balance:9003</a:t>
            </a:r>
          </a:p>
        </p:txBody>
      </p:sp>
      <p:sp>
        <p:nvSpPr>
          <p:cNvPr id="12" name="a1wd180_vb11"/>
          <p:cNvSpPr/>
          <p:nvPr/>
        </p:nvSpPr>
        <p:spPr>
          <a:xfrm>
            <a:off x="2194560" y="2039112"/>
            <a:ext cx="1810512" cy="347472"/>
          </a:xfrm>
          <a:prstGeom prst="roundRect">
            <a:avLst>
              <a:gd name="adj" fmla="val 13157"/>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d180_vt12"/>
          <p:cNvSpPr txBox="1"/>
          <p:nvPr/>
        </p:nvSpPr>
        <p:spPr>
          <a:xfrm>
            <a:off x="2286000" y="2039112"/>
            <a:ext cx="1700784" cy="347472"/>
          </a:xfrm>
          <a:prstGeom prst="rect">
            <a:avLst/>
          </a:prstGeom>
          <a:noFill/>
        </p:spPr>
        <p:txBody>
          <a:bodyPr wrap="square" lIns="0" tIns="0" rIns="0" bIns="0" anchor="ctr">
            <a:spAutoFit/>
          </a:bodyPr>
          <a:lstStyle/>
          <a:p>
            <a:pPr algn="l"/>
            <a:r>
              <a:rPr sz="900" b="0">
                <a:solidFill>
                  <a:srgbClr val="334155"/>
                </a:solidFill>
                <a:latin typeface="Courier New"/>
              </a:rPr>
              <a:t>341244.80</a:t>
            </a:r>
          </a:p>
        </p:txBody>
      </p:sp>
      <p:sp>
        <p:nvSpPr>
          <p:cNvPr id="14" name="a1wd240_kb13"/>
          <p:cNvSpPr/>
          <p:nvPr/>
        </p:nvSpPr>
        <p:spPr>
          <a:xfrm>
            <a:off x="658368" y="2478024"/>
            <a:ext cx="1463040" cy="347472"/>
          </a:xfrm>
          <a:prstGeom prst="roundRect">
            <a:avLst>
              <a:gd name="adj" fmla="val 13157"/>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240_kt14"/>
          <p:cNvSpPr txBox="1"/>
          <p:nvPr/>
        </p:nvSpPr>
        <p:spPr>
          <a:xfrm>
            <a:off x="731520" y="2478024"/>
            <a:ext cx="1389888" cy="347472"/>
          </a:xfrm>
          <a:prstGeom prst="rect">
            <a:avLst/>
          </a:prstGeom>
          <a:noFill/>
        </p:spPr>
        <p:txBody>
          <a:bodyPr wrap="square" lIns="0" tIns="0" rIns="0" bIns="0" anchor="ctr">
            <a:spAutoFit/>
          </a:bodyPr>
          <a:lstStyle/>
          <a:p>
            <a:pPr algn="l"/>
            <a:r>
              <a:rPr sz="950" b="1">
                <a:solidFill>
                  <a:srgbClr val="991B1B"/>
                </a:solidFill>
                <a:latin typeface="Courier New"/>
              </a:rPr>
              <a:t>cart:u9003</a:t>
            </a:r>
          </a:p>
        </p:txBody>
      </p:sp>
      <p:sp>
        <p:nvSpPr>
          <p:cNvPr id="16" name="a1wd300_vb15"/>
          <p:cNvSpPr/>
          <p:nvPr/>
        </p:nvSpPr>
        <p:spPr>
          <a:xfrm>
            <a:off x="2194560" y="2478024"/>
            <a:ext cx="1810512" cy="347472"/>
          </a:xfrm>
          <a:prstGeom prst="roundRect">
            <a:avLst>
              <a:gd name="adj" fmla="val 13157"/>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300_vt16"/>
          <p:cNvSpPr txBox="1"/>
          <p:nvPr/>
        </p:nvSpPr>
        <p:spPr>
          <a:xfrm>
            <a:off x="2286000" y="2478024"/>
            <a:ext cx="1700784" cy="347472"/>
          </a:xfrm>
          <a:prstGeom prst="rect">
            <a:avLst/>
          </a:prstGeom>
          <a:noFill/>
        </p:spPr>
        <p:txBody>
          <a:bodyPr wrap="square" lIns="0" tIns="0" rIns="0" bIns="0" anchor="ctr">
            <a:spAutoFit/>
          </a:bodyPr>
          <a:lstStyle/>
          <a:p>
            <a:pPr algn="l"/>
            <a:r>
              <a:rPr sz="900" b="0">
                <a:solidFill>
                  <a:srgbClr val="334155"/>
                </a:solidFill>
                <a:latin typeface="Courier New"/>
              </a:rPr>
              <a:t>[sku1, sku2, sku3]</a:t>
            </a:r>
          </a:p>
        </p:txBody>
      </p:sp>
      <p:sp>
        <p:nvSpPr>
          <p:cNvPr id="18" name="a1fd500_cap17"/>
          <p:cNvSpPr txBox="1"/>
          <p:nvPr/>
        </p:nvSpPr>
        <p:spPr>
          <a:xfrm>
            <a:off x="658368" y="2935224"/>
            <a:ext cx="3346704" cy="237744"/>
          </a:xfrm>
          <a:prstGeom prst="rect">
            <a:avLst/>
          </a:prstGeom>
          <a:noFill/>
        </p:spPr>
        <p:txBody>
          <a:bodyPr wrap="square" lIns="0" tIns="0" rIns="0" bIns="0" anchor="ctr">
            <a:spAutoFit/>
          </a:bodyPr>
          <a:lstStyle/>
          <a:p>
            <a:pPr algn="l"/>
            <a:r>
              <a:rPr sz="950" b="0">
                <a:solidFill>
                  <a:srgbClr val="64748B"/>
                </a:solidFill>
                <a:latin typeface="Calibri"/>
              </a:rPr>
              <a:t>The value is opaque - the database does not look inside it.</a:t>
            </a:r>
          </a:p>
        </p:txBody>
      </p:sp>
      <p:sp>
        <p:nvSpPr>
          <p:cNvPr id="19" name="a2u_card18"/>
          <p:cNvSpPr/>
          <p:nvPr/>
        </p:nvSpPr>
        <p:spPr>
          <a:xfrm>
            <a:off x="4572000" y="1170432"/>
            <a:ext cx="2011680" cy="1874519"/>
          </a:xfrm>
          <a:prstGeom prst="roundRect">
            <a:avLst>
              <a:gd name="adj" fmla="val 4878"/>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hh19"/>
          <p:cNvSpPr txBox="1"/>
          <p:nvPr/>
        </p:nvSpPr>
        <p:spPr>
          <a:xfrm>
            <a:off x="4754880" y="1289304"/>
            <a:ext cx="1700784" cy="237744"/>
          </a:xfrm>
          <a:prstGeom prst="rect">
            <a:avLst/>
          </a:prstGeom>
          <a:noFill/>
        </p:spPr>
        <p:txBody>
          <a:bodyPr wrap="square" lIns="0" tIns="0" rIns="0" bIns="0" anchor="ctr">
            <a:spAutoFit/>
          </a:bodyPr>
          <a:lstStyle/>
          <a:p>
            <a:pPr algn="l"/>
            <a:r>
              <a:rPr sz="950" b="1">
                <a:solidFill>
                  <a:srgbClr val="0F766E"/>
                </a:solidFill>
                <a:latin typeface="Calibri"/>
              </a:rPr>
              <a:t>GOOD AT</a:t>
            </a:r>
          </a:p>
        </p:txBody>
      </p:sp>
      <p:sp>
        <p:nvSpPr>
          <p:cNvPr id="21" name="a2ud60_dot20"/>
          <p:cNvSpPr/>
          <p:nvPr/>
        </p:nvSpPr>
        <p:spPr>
          <a:xfrm>
            <a:off x="4754880" y="1664208"/>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60_b21"/>
          <p:cNvSpPr txBox="1"/>
          <p:nvPr/>
        </p:nvSpPr>
        <p:spPr>
          <a:xfrm>
            <a:off x="4974336" y="1563624"/>
            <a:ext cx="1481328" cy="292608"/>
          </a:xfrm>
          <a:prstGeom prst="rect">
            <a:avLst/>
          </a:prstGeom>
          <a:noFill/>
        </p:spPr>
        <p:txBody>
          <a:bodyPr wrap="square" lIns="0" tIns="0" rIns="0" bIns="0" anchor="t">
            <a:spAutoFit/>
          </a:bodyPr>
          <a:lstStyle/>
          <a:p>
            <a:pPr algn="l"/>
            <a:r>
              <a:rPr sz="1000" b="0">
                <a:solidFill>
                  <a:srgbClr val="334155"/>
                </a:solidFill>
                <a:latin typeface="Calibri"/>
              </a:rPr>
              <a:t>Sub-millisecond reads</a:t>
            </a:r>
          </a:p>
        </p:txBody>
      </p:sp>
      <p:sp>
        <p:nvSpPr>
          <p:cNvPr id="23" name="a2ud150_dot22"/>
          <p:cNvSpPr/>
          <p:nvPr/>
        </p:nvSpPr>
        <p:spPr>
          <a:xfrm>
            <a:off x="4754880" y="1993391"/>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150_b23"/>
          <p:cNvSpPr txBox="1"/>
          <p:nvPr/>
        </p:nvSpPr>
        <p:spPr>
          <a:xfrm>
            <a:off x="4974336" y="1892807"/>
            <a:ext cx="1481328" cy="292608"/>
          </a:xfrm>
          <a:prstGeom prst="rect">
            <a:avLst/>
          </a:prstGeom>
          <a:noFill/>
        </p:spPr>
        <p:txBody>
          <a:bodyPr wrap="square" lIns="0" tIns="0" rIns="0" bIns="0" anchor="t">
            <a:spAutoFit/>
          </a:bodyPr>
          <a:lstStyle/>
          <a:p>
            <a:pPr algn="l"/>
            <a:r>
              <a:rPr sz="1000" b="0">
                <a:solidFill>
                  <a:srgbClr val="334155"/>
                </a:solidFill>
                <a:latin typeface="Calibri"/>
              </a:rPr>
              <a:t>Caching</a:t>
            </a:r>
          </a:p>
        </p:txBody>
      </p:sp>
      <p:sp>
        <p:nvSpPr>
          <p:cNvPr id="25" name="a2ud240_dot24"/>
          <p:cNvSpPr/>
          <p:nvPr/>
        </p:nvSpPr>
        <p:spPr>
          <a:xfrm>
            <a:off x="4754880" y="2322575"/>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240_b25"/>
          <p:cNvSpPr txBox="1"/>
          <p:nvPr/>
        </p:nvSpPr>
        <p:spPr>
          <a:xfrm>
            <a:off x="4974336" y="2221991"/>
            <a:ext cx="1481328" cy="292608"/>
          </a:xfrm>
          <a:prstGeom prst="rect">
            <a:avLst/>
          </a:prstGeom>
          <a:noFill/>
        </p:spPr>
        <p:txBody>
          <a:bodyPr wrap="square" lIns="0" tIns="0" rIns="0" bIns="0" anchor="t">
            <a:spAutoFit/>
          </a:bodyPr>
          <a:lstStyle/>
          <a:p>
            <a:pPr algn="l"/>
            <a:r>
              <a:rPr sz="1000" b="0">
                <a:solidFill>
                  <a:srgbClr val="334155"/>
                </a:solidFill>
                <a:latin typeface="Calibri"/>
              </a:rPr>
              <a:t>Sessions</a:t>
            </a:r>
          </a:p>
        </p:txBody>
      </p:sp>
      <p:sp>
        <p:nvSpPr>
          <p:cNvPr id="27" name="a2ud330_dot26"/>
          <p:cNvSpPr/>
          <p:nvPr/>
        </p:nvSpPr>
        <p:spPr>
          <a:xfrm>
            <a:off x="4754880" y="2651759"/>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330_b27"/>
          <p:cNvSpPr txBox="1"/>
          <p:nvPr/>
        </p:nvSpPr>
        <p:spPr>
          <a:xfrm>
            <a:off x="4974336" y="2551175"/>
            <a:ext cx="1481328" cy="292608"/>
          </a:xfrm>
          <a:prstGeom prst="rect">
            <a:avLst/>
          </a:prstGeom>
          <a:noFill/>
        </p:spPr>
        <p:txBody>
          <a:bodyPr wrap="square" lIns="0" tIns="0" rIns="0" bIns="0" anchor="t">
            <a:spAutoFit/>
          </a:bodyPr>
          <a:lstStyle/>
          <a:p>
            <a:pPr algn="l"/>
            <a:r>
              <a:rPr sz="1000" b="0">
                <a:solidFill>
                  <a:srgbClr val="334155"/>
                </a:solidFill>
                <a:latin typeface="Calibri"/>
              </a:rPr>
              <a:t>Counters and locks</a:t>
            </a:r>
          </a:p>
        </p:txBody>
      </p:sp>
      <p:sp>
        <p:nvSpPr>
          <p:cNvPr id="29" name="a3u_card28"/>
          <p:cNvSpPr/>
          <p:nvPr/>
        </p:nvSpPr>
        <p:spPr>
          <a:xfrm>
            <a:off x="6766560" y="1170432"/>
            <a:ext cx="1920240" cy="1874519"/>
          </a:xfrm>
          <a:prstGeom prst="roundRect">
            <a:avLst>
              <a:gd name="adj" fmla="val 4878"/>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hh29"/>
          <p:cNvSpPr txBox="1"/>
          <p:nvPr/>
        </p:nvSpPr>
        <p:spPr>
          <a:xfrm>
            <a:off x="6949440" y="1289304"/>
            <a:ext cx="1609344" cy="237744"/>
          </a:xfrm>
          <a:prstGeom prst="rect">
            <a:avLst/>
          </a:prstGeom>
          <a:noFill/>
        </p:spPr>
        <p:txBody>
          <a:bodyPr wrap="square" lIns="0" tIns="0" rIns="0" bIns="0" anchor="ctr">
            <a:spAutoFit/>
          </a:bodyPr>
          <a:lstStyle/>
          <a:p>
            <a:pPr algn="l"/>
            <a:r>
              <a:rPr sz="950" b="1">
                <a:solidFill>
                  <a:srgbClr val="DC382C"/>
                </a:solidFill>
                <a:latin typeface="Calibri"/>
              </a:rPr>
              <a:t>BAD AT</a:t>
            </a:r>
          </a:p>
        </p:txBody>
      </p:sp>
      <p:sp>
        <p:nvSpPr>
          <p:cNvPr id="31" name="a3ud60_dot30"/>
          <p:cNvSpPr/>
          <p:nvPr/>
        </p:nvSpPr>
        <p:spPr>
          <a:xfrm>
            <a:off x="6949440" y="1664208"/>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d60_b31"/>
          <p:cNvSpPr txBox="1"/>
          <p:nvPr/>
        </p:nvSpPr>
        <p:spPr>
          <a:xfrm>
            <a:off x="7168896" y="1563624"/>
            <a:ext cx="1389888" cy="292608"/>
          </a:xfrm>
          <a:prstGeom prst="rect">
            <a:avLst/>
          </a:prstGeom>
          <a:noFill/>
        </p:spPr>
        <p:txBody>
          <a:bodyPr wrap="square" lIns="0" tIns="0" rIns="0" bIns="0" anchor="t">
            <a:spAutoFit/>
          </a:bodyPr>
          <a:lstStyle/>
          <a:p>
            <a:pPr algn="l"/>
            <a:r>
              <a:rPr sz="1000" b="0">
                <a:solidFill>
                  <a:srgbClr val="334155"/>
                </a:solidFill>
                <a:latin typeface="Calibri"/>
              </a:rPr>
              <a:t>Querying by value</a:t>
            </a:r>
          </a:p>
        </p:txBody>
      </p:sp>
      <p:sp>
        <p:nvSpPr>
          <p:cNvPr id="33" name="a3ud150_dot32"/>
          <p:cNvSpPr/>
          <p:nvPr/>
        </p:nvSpPr>
        <p:spPr>
          <a:xfrm>
            <a:off x="6949440" y="1993391"/>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d150_b33"/>
          <p:cNvSpPr txBox="1"/>
          <p:nvPr/>
        </p:nvSpPr>
        <p:spPr>
          <a:xfrm>
            <a:off x="7168896" y="1892807"/>
            <a:ext cx="1389888" cy="292608"/>
          </a:xfrm>
          <a:prstGeom prst="rect">
            <a:avLst/>
          </a:prstGeom>
          <a:noFill/>
        </p:spPr>
        <p:txBody>
          <a:bodyPr wrap="square" lIns="0" tIns="0" rIns="0" bIns="0" anchor="t">
            <a:spAutoFit/>
          </a:bodyPr>
          <a:lstStyle/>
          <a:p>
            <a:pPr algn="l"/>
            <a:r>
              <a:rPr sz="1000" b="0">
                <a:solidFill>
                  <a:srgbClr val="334155"/>
                </a:solidFill>
                <a:latin typeface="Calibri"/>
              </a:rPr>
              <a:t>Ad-hoc reporting</a:t>
            </a:r>
          </a:p>
        </p:txBody>
      </p:sp>
      <p:sp>
        <p:nvSpPr>
          <p:cNvPr id="35" name="a3ud240_dot34"/>
          <p:cNvSpPr/>
          <p:nvPr/>
        </p:nvSpPr>
        <p:spPr>
          <a:xfrm>
            <a:off x="6949440" y="2322575"/>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d240_b35"/>
          <p:cNvSpPr txBox="1"/>
          <p:nvPr/>
        </p:nvSpPr>
        <p:spPr>
          <a:xfrm>
            <a:off x="7168896" y="2221991"/>
            <a:ext cx="1389888" cy="292608"/>
          </a:xfrm>
          <a:prstGeom prst="rect">
            <a:avLst/>
          </a:prstGeom>
          <a:noFill/>
        </p:spPr>
        <p:txBody>
          <a:bodyPr wrap="square" lIns="0" tIns="0" rIns="0" bIns="0" anchor="t">
            <a:spAutoFit/>
          </a:bodyPr>
          <a:lstStyle/>
          <a:p>
            <a:pPr algn="l"/>
            <a:r>
              <a:rPr sz="1000" b="0">
                <a:solidFill>
                  <a:srgbClr val="334155"/>
                </a:solidFill>
                <a:latin typeface="Calibri"/>
              </a:rPr>
              <a:t>Relationships</a:t>
            </a:r>
          </a:p>
        </p:txBody>
      </p:sp>
      <p:sp>
        <p:nvSpPr>
          <p:cNvPr id="37" name="a3ud330_dot36"/>
          <p:cNvSpPr/>
          <p:nvPr/>
        </p:nvSpPr>
        <p:spPr>
          <a:xfrm>
            <a:off x="6949440" y="2651759"/>
            <a:ext cx="82296" cy="82296"/>
          </a:xfrm>
          <a:prstGeom prst="ellipse">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d330_b37"/>
          <p:cNvSpPr txBox="1"/>
          <p:nvPr/>
        </p:nvSpPr>
        <p:spPr>
          <a:xfrm>
            <a:off x="7168896" y="2551175"/>
            <a:ext cx="1389888" cy="292608"/>
          </a:xfrm>
          <a:prstGeom prst="rect">
            <a:avLst/>
          </a:prstGeom>
          <a:noFill/>
        </p:spPr>
        <p:txBody>
          <a:bodyPr wrap="square" lIns="0" tIns="0" rIns="0" bIns="0" anchor="t">
            <a:spAutoFit/>
          </a:bodyPr>
          <a:lstStyle/>
          <a:p>
            <a:pPr algn="l"/>
            <a:r>
              <a:rPr sz="1000" b="0">
                <a:solidFill>
                  <a:srgbClr val="334155"/>
                </a:solidFill>
                <a:latin typeface="Calibri"/>
              </a:rPr>
              <a:t>Partial updates</a:t>
            </a:r>
          </a:p>
        </p:txBody>
      </p:sp>
      <p:sp>
        <p:nvSpPr>
          <p:cNvPr id="39" name="a4f_th38"/>
          <p:cNvSpPr/>
          <p:nvPr/>
        </p:nvSpPr>
        <p:spPr>
          <a:xfrm>
            <a:off x="457200" y="3209544"/>
            <a:ext cx="1920240" cy="30175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f_tht39"/>
          <p:cNvSpPr txBox="1"/>
          <p:nvPr/>
        </p:nvSpPr>
        <p:spPr>
          <a:xfrm>
            <a:off x="530352" y="3209544"/>
            <a:ext cx="1810512" cy="301752"/>
          </a:xfrm>
          <a:prstGeom prst="rect">
            <a:avLst/>
          </a:prstGeom>
          <a:noFill/>
        </p:spPr>
        <p:txBody>
          <a:bodyPr wrap="square" lIns="0" tIns="0" rIns="0" bIns="0" anchor="ctr">
            <a:spAutoFit/>
          </a:bodyPr>
          <a:lstStyle/>
          <a:p>
            <a:pPr algn="l"/>
            <a:r>
              <a:rPr sz="1000" b="1">
                <a:solidFill>
                  <a:srgbClr val="FFFFFF"/>
                </a:solidFill>
                <a:latin typeface="Calibri"/>
              </a:rPr>
              <a:t>Product</a:t>
            </a:r>
          </a:p>
        </p:txBody>
      </p:sp>
      <p:sp>
        <p:nvSpPr>
          <p:cNvPr id="41" name="a4wd130_td40"/>
          <p:cNvSpPr/>
          <p:nvPr/>
        </p:nvSpPr>
        <p:spPr>
          <a:xfrm>
            <a:off x="457200" y="3511296"/>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wd130_tdt41"/>
          <p:cNvSpPr txBox="1"/>
          <p:nvPr/>
        </p:nvSpPr>
        <p:spPr>
          <a:xfrm>
            <a:off x="530352" y="3511296"/>
            <a:ext cx="1810512" cy="301752"/>
          </a:xfrm>
          <a:prstGeom prst="rect">
            <a:avLst/>
          </a:prstGeom>
          <a:noFill/>
        </p:spPr>
        <p:txBody>
          <a:bodyPr wrap="square" lIns="0" tIns="0" rIns="0" bIns="0" anchor="ctr">
            <a:spAutoFit/>
          </a:bodyPr>
          <a:lstStyle/>
          <a:p>
            <a:pPr algn="l"/>
            <a:r>
              <a:rPr sz="1000" b="0">
                <a:solidFill>
                  <a:srgbClr val="334155"/>
                </a:solidFill>
                <a:latin typeface="Calibri"/>
              </a:rPr>
              <a:t>Redis</a:t>
            </a:r>
          </a:p>
        </p:txBody>
      </p:sp>
      <p:sp>
        <p:nvSpPr>
          <p:cNvPr id="43" name="a4wd260_td42"/>
          <p:cNvSpPr/>
          <p:nvPr/>
        </p:nvSpPr>
        <p:spPr>
          <a:xfrm>
            <a:off x="457200" y="3813048"/>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4wd260_tdt43"/>
          <p:cNvSpPr txBox="1"/>
          <p:nvPr/>
        </p:nvSpPr>
        <p:spPr>
          <a:xfrm>
            <a:off x="530352" y="3813048"/>
            <a:ext cx="1810512" cy="301752"/>
          </a:xfrm>
          <a:prstGeom prst="rect">
            <a:avLst/>
          </a:prstGeom>
          <a:noFill/>
        </p:spPr>
        <p:txBody>
          <a:bodyPr wrap="square" lIns="0" tIns="0" rIns="0" bIns="0" anchor="ctr">
            <a:spAutoFit/>
          </a:bodyPr>
          <a:lstStyle/>
          <a:p>
            <a:pPr algn="l"/>
            <a:r>
              <a:rPr sz="1000" b="0">
                <a:solidFill>
                  <a:srgbClr val="334155"/>
                </a:solidFill>
                <a:latin typeface="Calibri"/>
              </a:rPr>
              <a:t>Amazon DynamoDB</a:t>
            </a:r>
          </a:p>
        </p:txBody>
      </p:sp>
      <p:sp>
        <p:nvSpPr>
          <p:cNvPr id="45" name="a4wd390_td44"/>
          <p:cNvSpPr/>
          <p:nvPr/>
        </p:nvSpPr>
        <p:spPr>
          <a:xfrm>
            <a:off x="457200" y="4114800"/>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4wd390_tdt45"/>
          <p:cNvSpPr txBox="1"/>
          <p:nvPr/>
        </p:nvSpPr>
        <p:spPr>
          <a:xfrm>
            <a:off x="530352" y="4114800"/>
            <a:ext cx="1810512" cy="301752"/>
          </a:xfrm>
          <a:prstGeom prst="rect">
            <a:avLst/>
          </a:prstGeom>
          <a:noFill/>
        </p:spPr>
        <p:txBody>
          <a:bodyPr wrap="square" lIns="0" tIns="0" rIns="0" bIns="0" anchor="ctr">
            <a:spAutoFit/>
          </a:bodyPr>
          <a:lstStyle/>
          <a:p>
            <a:pPr algn="l"/>
            <a:r>
              <a:rPr sz="1000" b="0">
                <a:solidFill>
                  <a:srgbClr val="334155"/>
                </a:solidFill>
                <a:latin typeface="Calibri"/>
              </a:rPr>
              <a:t>Memcached</a:t>
            </a:r>
          </a:p>
        </p:txBody>
      </p:sp>
      <p:sp>
        <p:nvSpPr>
          <p:cNvPr id="47" name="a4wd520_td46"/>
          <p:cNvSpPr/>
          <p:nvPr/>
        </p:nvSpPr>
        <p:spPr>
          <a:xfrm>
            <a:off x="457200" y="4416552"/>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4wd520_tdt47"/>
          <p:cNvSpPr txBox="1"/>
          <p:nvPr/>
        </p:nvSpPr>
        <p:spPr>
          <a:xfrm>
            <a:off x="530352" y="4416552"/>
            <a:ext cx="1810512" cy="301752"/>
          </a:xfrm>
          <a:prstGeom prst="rect">
            <a:avLst/>
          </a:prstGeom>
          <a:noFill/>
        </p:spPr>
        <p:txBody>
          <a:bodyPr wrap="square" lIns="0" tIns="0" rIns="0" bIns="0" anchor="ctr">
            <a:spAutoFit/>
          </a:bodyPr>
          <a:lstStyle/>
          <a:p>
            <a:pPr algn="l"/>
            <a:r>
              <a:rPr sz="1000" b="0">
                <a:solidFill>
                  <a:srgbClr val="334155"/>
                </a:solidFill>
                <a:latin typeface="Calibri"/>
              </a:rPr>
              <a:t>etcd / Consul</a:t>
            </a:r>
          </a:p>
        </p:txBody>
      </p:sp>
      <p:sp>
        <p:nvSpPr>
          <p:cNvPr id="49" name="a4f_th48"/>
          <p:cNvSpPr/>
          <p:nvPr/>
        </p:nvSpPr>
        <p:spPr>
          <a:xfrm>
            <a:off x="2377440" y="3209544"/>
            <a:ext cx="1737360" cy="30175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f_tht49"/>
          <p:cNvSpPr txBox="1"/>
          <p:nvPr/>
        </p:nvSpPr>
        <p:spPr>
          <a:xfrm>
            <a:off x="2450592" y="3209544"/>
            <a:ext cx="1627631" cy="301752"/>
          </a:xfrm>
          <a:prstGeom prst="rect">
            <a:avLst/>
          </a:prstGeom>
          <a:noFill/>
        </p:spPr>
        <p:txBody>
          <a:bodyPr wrap="square" lIns="0" tIns="0" rIns="0" bIns="0" anchor="ctr">
            <a:spAutoFit/>
          </a:bodyPr>
          <a:lstStyle/>
          <a:p>
            <a:pPr algn="l"/>
            <a:r>
              <a:rPr sz="1000" b="1">
                <a:solidFill>
                  <a:srgbClr val="FFFFFF"/>
                </a:solidFill>
                <a:latin typeface="Calibri"/>
              </a:rPr>
              <a:t>Origin</a:t>
            </a:r>
          </a:p>
        </p:txBody>
      </p:sp>
      <p:sp>
        <p:nvSpPr>
          <p:cNvPr id="51" name="a4wd130_td50"/>
          <p:cNvSpPr/>
          <p:nvPr/>
        </p:nvSpPr>
        <p:spPr>
          <a:xfrm>
            <a:off x="2377440" y="3511296"/>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4wd130_tdt51"/>
          <p:cNvSpPr txBox="1"/>
          <p:nvPr/>
        </p:nvSpPr>
        <p:spPr>
          <a:xfrm>
            <a:off x="2450592" y="3511296"/>
            <a:ext cx="1627631" cy="301752"/>
          </a:xfrm>
          <a:prstGeom prst="rect">
            <a:avLst/>
          </a:prstGeom>
          <a:noFill/>
        </p:spPr>
        <p:txBody>
          <a:bodyPr wrap="square" lIns="0" tIns="0" rIns="0" bIns="0" anchor="ctr">
            <a:spAutoFit/>
          </a:bodyPr>
          <a:lstStyle/>
          <a:p>
            <a:pPr algn="l"/>
            <a:r>
              <a:rPr sz="1000" b="0">
                <a:solidFill>
                  <a:srgbClr val="334155"/>
                </a:solidFill>
                <a:latin typeface="Calibri"/>
              </a:rPr>
              <a:t>2009 · open source</a:t>
            </a:r>
          </a:p>
        </p:txBody>
      </p:sp>
      <p:sp>
        <p:nvSpPr>
          <p:cNvPr id="53" name="a4wd260_td52"/>
          <p:cNvSpPr/>
          <p:nvPr/>
        </p:nvSpPr>
        <p:spPr>
          <a:xfrm>
            <a:off x="2377440" y="3813048"/>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4wd260_tdt53"/>
          <p:cNvSpPr txBox="1"/>
          <p:nvPr/>
        </p:nvSpPr>
        <p:spPr>
          <a:xfrm>
            <a:off x="2450592" y="3813048"/>
            <a:ext cx="1627631" cy="301752"/>
          </a:xfrm>
          <a:prstGeom prst="rect">
            <a:avLst/>
          </a:prstGeom>
          <a:noFill/>
        </p:spPr>
        <p:txBody>
          <a:bodyPr wrap="square" lIns="0" tIns="0" rIns="0" bIns="0" anchor="ctr">
            <a:spAutoFit/>
          </a:bodyPr>
          <a:lstStyle/>
          <a:p>
            <a:pPr algn="l"/>
            <a:r>
              <a:rPr sz="1000" b="0">
                <a:solidFill>
                  <a:srgbClr val="334155"/>
                </a:solidFill>
                <a:latin typeface="Calibri"/>
              </a:rPr>
              <a:t>2012 · AWS managed</a:t>
            </a:r>
          </a:p>
        </p:txBody>
      </p:sp>
      <p:sp>
        <p:nvSpPr>
          <p:cNvPr id="55" name="a4wd390_td54"/>
          <p:cNvSpPr/>
          <p:nvPr/>
        </p:nvSpPr>
        <p:spPr>
          <a:xfrm>
            <a:off x="2377440" y="4114800"/>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4wd390_tdt55"/>
          <p:cNvSpPr txBox="1"/>
          <p:nvPr/>
        </p:nvSpPr>
        <p:spPr>
          <a:xfrm>
            <a:off x="2450592" y="4114800"/>
            <a:ext cx="1627631" cy="301752"/>
          </a:xfrm>
          <a:prstGeom prst="rect">
            <a:avLst/>
          </a:prstGeom>
          <a:noFill/>
        </p:spPr>
        <p:txBody>
          <a:bodyPr wrap="square" lIns="0" tIns="0" rIns="0" bIns="0" anchor="ctr">
            <a:spAutoFit/>
          </a:bodyPr>
          <a:lstStyle/>
          <a:p>
            <a:pPr algn="l"/>
            <a:r>
              <a:rPr sz="1000" b="0">
                <a:solidFill>
                  <a:srgbClr val="334155"/>
                </a:solidFill>
                <a:latin typeface="Calibri"/>
              </a:rPr>
              <a:t>2003 · open source</a:t>
            </a:r>
          </a:p>
        </p:txBody>
      </p:sp>
      <p:sp>
        <p:nvSpPr>
          <p:cNvPr id="57" name="a4wd520_td56"/>
          <p:cNvSpPr/>
          <p:nvPr/>
        </p:nvSpPr>
        <p:spPr>
          <a:xfrm>
            <a:off x="2377440" y="4416552"/>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4wd520_tdt57"/>
          <p:cNvSpPr txBox="1"/>
          <p:nvPr/>
        </p:nvSpPr>
        <p:spPr>
          <a:xfrm>
            <a:off x="2450592" y="4416552"/>
            <a:ext cx="1627631" cy="301752"/>
          </a:xfrm>
          <a:prstGeom prst="rect">
            <a:avLst/>
          </a:prstGeom>
          <a:noFill/>
        </p:spPr>
        <p:txBody>
          <a:bodyPr wrap="square" lIns="0" tIns="0" rIns="0" bIns="0" anchor="ctr">
            <a:spAutoFit/>
          </a:bodyPr>
          <a:lstStyle/>
          <a:p>
            <a:pPr algn="l"/>
            <a:r>
              <a:rPr sz="1000" b="0">
                <a:solidFill>
                  <a:srgbClr val="334155"/>
                </a:solidFill>
                <a:latin typeface="Calibri"/>
              </a:rPr>
              <a:t>2013 · open source</a:t>
            </a:r>
          </a:p>
        </p:txBody>
      </p:sp>
      <p:sp>
        <p:nvSpPr>
          <p:cNvPr id="59" name="a4f_th58"/>
          <p:cNvSpPr/>
          <p:nvPr/>
        </p:nvSpPr>
        <p:spPr>
          <a:xfrm>
            <a:off x="4114800" y="3209544"/>
            <a:ext cx="4572000" cy="30175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4f_tht59"/>
          <p:cNvSpPr txBox="1"/>
          <p:nvPr/>
        </p:nvSpPr>
        <p:spPr>
          <a:xfrm>
            <a:off x="4187952" y="3209544"/>
            <a:ext cx="4462272" cy="301752"/>
          </a:xfrm>
          <a:prstGeom prst="rect">
            <a:avLst/>
          </a:prstGeom>
          <a:noFill/>
        </p:spPr>
        <p:txBody>
          <a:bodyPr wrap="square" lIns="0" tIns="0" rIns="0" bIns="0" anchor="ctr">
            <a:spAutoFit/>
          </a:bodyPr>
          <a:lstStyle/>
          <a:p>
            <a:pPr algn="l"/>
            <a:r>
              <a:rPr sz="1000" b="1">
                <a:solidFill>
                  <a:srgbClr val="FFFFFF"/>
                </a:solidFill>
                <a:latin typeface="Calibri"/>
              </a:rPr>
              <a:t>Notable for</a:t>
            </a:r>
          </a:p>
        </p:txBody>
      </p:sp>
      <p:sp>
        <p:nvSpPr>
          <p:cNvPr id="61" name="a4wd130_td60"/>
          <p:cNvSpPr/>
          <p:nvPr/>
        </p:nvSpPr>
        <p:spPr>
          <a:xfrm>
            <a:off x="4114800" y="3511296"/>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4wd130_tdt61"/>
          <p:cNvSpPr txBox="1"/>
          <p:nvPr/>
        </p:nvSpPr>
        <p:spPr>
          <a:xfrm>
            <a:off x="4187952" y="3511296"/>
            <a:ext cx="4462272" cy="301752"/>
          </a:xfrm>
          <a:prstGeom prst="rect">
            <a:avLst/>
          </a:prstGeom>
          <a:noFill/>
        </p:spPr>
        <p:txBody>
          <a:bodyPr wrap="square" lIns="0" tIns="0" rIns="0" bIns="0" anchor="ctr">
            <a:spAutoFit/>
          </a:bodyPr>
          <a:lstStyle/>
          <a:p>
            <a:pPr algn="l"/>
            <a:r>
              <a:rPr sz="1000" b="0">
                <a:solidFill>
                  <a:srgbClr val="334155"/>
                </a:solidFill>
                <a:latin typeface="Calibri"/>
              </a:rPr>
              <a:t>In-memory, rich data types, the subject of decks 2-4</a:t>
            </a:r>
          </a:p>
        </p:txBody>
      </p:sp>
      <p:sp>
        <p:nvSpPr>
          <p:cNvPr id="63" name="a4wd260_td62"/>
          <p:cNvSpPr/>
          <p:nvPr/>
        </p:nvSpPr>
        <p:spPr>
          <a:xfrm>
            <a:off x="4114800" y="3813048"/>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4wd260_tdt63"/>
          <p:cNvSpPr txBox="1"/>
          <p:nvPr/>
        </p:nvSpPr>
        <p:spPr>
          <a:xfrm>
            <a:off x="4187952" y="3813048"/>
            <a:ext cx="4462272" cy="301752"/>
          </a:xfrm>
          <a:prstGeom prst="rect">
            <a:avLst/>
          </a:prstGeom>
          <a:noFill/>
        </p:spPr>
        <p:txBody>
          <a:bodyPr wrap="square" lIns="0" tIns="0" rIns="0" bIns="0" anchor="ctr">
            <a:spAutoFit/>
          </a:bodyPr>
          <a:lstStyle/>
          <a:p>
            <a:pPr algn="l"/>
            <a:r>
              <a:rPr sz="1000" b="0">
                <a:solidFill>
                  <a:srgbClr val="334155"/>
                </a:solidFill>
                <a:latin typeface="Calibri"/>
              </a:rPr>
              <a:t>Serverless, single-digit ms at any scale</a:t>
            </a:r>
          </a:p>
        </p:txBody>
      </p:sp>
      <p:sp>
        <p:nvSpPr>
          <p:cNvPr id="65" name="a4wd390_td64"/>
          <p:cNvSpPr/>
          <p:nvPr/>
        </p:nvSpPr>
        <p:spPr>
          <a:xfrm>
            <a:off x="4114800" y="4114800"/>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4wd390_tdt65"/>
          <p:cNvSpPr txBox="1"/>
          <p:nvPr/>
        </p:nvSpPr>
        <p:spPr>
          <a:xfrm>
            <a:off x="4187952" y="4114800"/>
            <a:ext cx="4462272" cy="301752"/>
          </a:xfrm>
          <a:prstGeom prst="rect">
            <a:avLst/>
          </a:prstGeom>
          <a:noFill/>
        </p:spPr>
        <p:txBody>
          <a:bodyPr wrap="square" lIns="0" tIns="0" rIns="0" bIns="0" anchor="ctr">
            <a:spAutoFit/>
          </a:bodyPr>
          <a:lstStyle/>
          <a:p>
            <a:pPr algn="l"/>
            <a:r>
              <a:rPr sz="1000" b="0">
                <a:solidFill>
                  <a:srgbClr val="334155"/>
                </a:solidFill>
                <a:latin typeface="Calibri"/>
              </a:rPr>
              <a:t>Pure cache, no persistence, no data types</a:t>
            </a:r>
          </a:p>
        </p:txBody>
      </p:sp>
      <p:sp>
        <p:nvSpPr>
          <p:cNvPr id="67" name="a4wd520_td66"/>
          <p:cNvSpPr/>
          <p:nvPr/>
        </p:nvSpPr>
        <p:spPr>
          <a:xfrm>
            <a:off x="4114800" y="4416552"/>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4wd520_tdt67"/>
          <p:cNvSpPr txBox="1"/>
          <p:nvPr/>
        </p:nvSpPr>
        <p:spPr>
          <a:xfrm>
            <a:off x="4187952" y="4416552"/>
            <a:ext cx="4462272" cy="301752"/>
          </a:xfrm>
          <a:prstGeom prst="rect">
            <a:avLst/>
          </a:prstGeom>
          <a:noFill/>
        </p:spPr>
        <p:txBody>
          <a:bodyPr wrap="square" lIns="0" tIns="0" rIns="0" bIns="0" anchor="ctr">
            <a:spAutoFit/>
          </a:bodyPr>
          <a:lstStyle/>
          <a:p>
            <a:pPr algn="l"/>
            <a:r>
              <a:rPr sz="1000" b="0">
                <a:solidFill>
                  <a:srgbClr val="334155"/>
                </a:solidFill>
                <a:latin typeface="Calibri"/>
              </a:rPr>
              <a:t>Small, strongly consistent config and discovery</a:t>
            </a:r>
          </a:p>
        </p:txBody>
      </p:sp>
      <p:sp>
        <p:nvSpPr>
          <p:cNvPr id="69" name="ft6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70" name="ft6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7"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20"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3" presetID="22" presetClass="entr" presetSubtype="8" fill="hold" grpId="0" nodeType="withEffect">
                                  <p:stCondLst>
                                    <p:cond delay="6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6" presetID="22" presetClass="entr" presetSubtype="8" fill="hold" grpId="0" nodeType="withEffect">
                                  <p:stCondLst>
                                    <p:cond delay="6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9" presetID="22" presetClass="entr" presetSubtype="8" fill="hold" grpId="0" nodeType="withEffect">
                                  <p:stCondLst>
                                    <p:cond delay="12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32" presetID="22" presetClass="entr" presetSubtype="8" fill="hold" grpId="0" nodeType="withEffect">
                                  <p:stCondLst>
                                    <p:cond delay="12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5" presetID="22" presetClass="entr" presetSubtype="8" fill="hold" grpId="0" nodeType="withEffect">
                                  <p:stCondLst>
                                    <p:cond delay="18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8" presetID="22" presetClass="entr" presetSubtype="8" fill="hold" grpId="0" nodeType="withEffect">
                                  <p:stCondLst>
                                    <p:cond delay="18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41" presetID="22" presetClass="entr" presetSubtype="8" fill="hold" grpId="0" nodeType="withEffect">
                                  <p:stCondLst>
                                    <p:cond delay="24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par>
                                <p:cTn id="44" presetID="22" presetClass="entr" presetSubtype="8" fill="hold" grpId="0" nodeType="withEffect">
                                  <p:stCondLst>
                                    <p:cond delay="24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7" presetID="22" presetClass="entr" presetSubtype="8" fill="hold" grpId="0" nodeType="withEffect">
                                  <p:stCondLst>
                                    <p:cond delay="30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par>
                                <p:cTn id="50" presetID="22" presetClass="entr" presetSubtype="8" fill="hold" grpId="0" nodeType="withEffect">
                                  <p:stCondLst>
                                    <p:cond delay="30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3" presetID="10" presetClass="entr" presetSubtype="0" fill="hold" grpId="0" nodeType="withEffect">
                                  <p:stCondLst>
                                    <p:cond delay="5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60" presetID="2" presetClass="entr" presetSubtype="4"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1"/>
                                          </p:val>
                                        </p:tav>
                                        <p:tav tm="100000">
                                          <p:val>
                                            <p:strVal val="#ppt_y"/>
                                          </p:val>
                                        </p:tav>
                                      </p:tavLst>
                                    </p:anim>
                                    <p:animEffect transition="in" filter="fade">
                                      <p:cBhvr>
                                        <p:cTn id="59" dur="500"/>
                                        <p:tgtEl>
                                          <p:spTgt spid="19"/>
                                        </p:tgtEl>
                                      </p:cBhvr>
                                    </p:animEffect>
                                  </p:childTnLst>
                                </p:cTn>
                              </p:par>
                              <p:par>
                                <p:cTn id="65" presetID="2" presetClass="entr" presetSubtype="4"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1"/>
                                          </p:val>
                                        </p:tav>
                                        <p:tav tm="100000">
                                          <p:val>
                                            <p:strVal val="#ppt_y"/>
                                          </p:val>
                                        </p:tav>
                                      </p:tavLst>
                                    </p:anim>
                                    <p:animEffect transition="in" filter="fade">
                                      <p:cBhvr>
                                        <p:cTn id="64" dur="500"/>
                                        <p:tgtEl>
                                          <p:spTgt spid="20"/>
                                        </p:tgtEl>
                                      </p:cBhvr>
                                    </p:animEffect>
                                  </p:childTnLst>
                                </p:cTn>
                              </p:par>
                              <p:par>
                                <p:cTn id="70" presetID="2" presetClass="entr" presetSubtype="4" fill="hold" grpId="0" nodeType="withEffect">
                                  <p:stCondLst>
                                    <p:cond delay="6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par>
                                <p:cTn id="75" presetID="2" presetClass="entr" presetSubtype="4" fill="hold" grpId="0" nodeType="withEffect">
                                  <p:stCondLst>
                                    <p:cond delay="6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1"/>
                                          </p:val>
                                        </p:tav>
                                        <p:tav tm="100000">
                                          <p:val>
                                            <p:strVal val="#ppt_y"/>
                                          </p:val>
                                        </p:tav>
                                      </p:tavLst>
                                    </p:anim>
                                    <p:animEffect transition="in" filter="fade">
                                      <p:cBhvr>
                                        <p:cTn id="74" dur="500"/>
                                        <p:tgtEl>
                                          <p:spTgt spid="22"/>
                                        </p:tgtEl>
                                      </p:cBhvr>
                                    </p:animEffect>
                                  </p:childTnLst>
                                </p:cTn>
                              </p:par>
                              <p:par>
                                <p:cTn id="80" presetID="2" presetClass="entr" presetSubtype="4" fill="hold" grpId="0" nodeType="withEffect">
                                  <p:stCondLst>
                                    <p:cond delay="15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1"/>
                                          </p:val>
                                        </p:tav>
                                        <p:tav tm="100000">
                                          <p:val>
                                            <p:strVal val="#ppt_y"/>
                                          </p:val>
                                        </p:tav>
                                      </p:tavLst>
                                    </p:anim>
                                    <p:animEffect transition="in" filter="fade">
                                      <p:cBhvr>
                                        <p:cTn id="79" dur="500"/>
                                        <p:tgtEl>
                                          <p:spTgt spid="23"/>
                                        </p:tgtEl>
                                      </p:cBhvr>
                                    </p:animEffect>
                                  </p:childTnLst>
                                </p:cTn>
                              </p:par>
                              <p:par>
                                <p:cTn id="85" presetID="2" presetClass="entr" presetSubtype="4" fill="hold" grpId="0" nodeType="withEffect">
                                  <p:stCondLst>
                                    <p:cond delay="15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1"/>
                                          </p:val>
                                        </p:tav>
                                        <p:tav tm="100000">
                                          <p:val>
                                            <p:strVal val="#ppt_y"/>
                                          </p:val>
                                        </p:tav>
                                      </p:tavLst>
                                    </p:anim>
                                    <p:animEffect transition="in" filter="fade">
                                      <p:cBhvr>
                                        <p:cTn id="84" dur="500"/>
                                        <p:tgtEl>
                                          <p:spTgt spid="24"/>
                                        </p:tgtEl>
                                      </p:cBhvr>
                                    </p:animEffect>
                                  </p:childTnLst>
                                </p:cTn>
                              </p:par>
                              <p:par>
                                <p:cTn id="90" presetID="2" presetClass="entr" presetSubtype="4" fill="hold" grpId="0" nodeType="withEffect">
                                  <p:stCondLst>
                                    <p:cond delay="24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ppt_y+0.1"/>
                                          </p:val>
                                        </p:tav>
                                        <p:tav tm="100000">
                                          <p:val>
                                            <p:strVal val="#ppt_y"/>
                                          </p:val>
                                        </p:tav>
                                      </p:tavLst>
                                    </p:anim>
                                    <p:animEffect transition="in" filter="fade">
                                      <p:cBhvr>
                                        <p:cTn id="89" dur="500"/>
                                        <p:tgtEl>
                                          <p:spTgt spid="25"/>
                                        </p:tgtEl>
                                      </p:cBhvr>
                                    </p:animEffect>
                                  </p:childTnLst>
                                </p:cTn>
                              </p:par>
                              <p:par>
                                <p:cTn id="95" presetID="2" presetClass="entr" presetSubtype="4" fill="hold" grpId="0" nodeType="withEffect">
                                  <p:stCondLst>
                                    <p:cond delay="24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500" fill="hold"/>
                                        <p:tgtEl>
                                          <p:spTgt spid="26"/>
                                        </p:tgtEl>
                                        <p:attrNameLst>
                                          <p:attrName>ppt_x</p:attrName>
                                        </p:attrNameLst>
                                      </p:cBhvr>
                                      <p:tavLst>
                                        <p:tav tm="0">
                                          <p:val>
                                            <p:strVal val="#ppt_x"/>
                                          </p:val>
                                        </p:tav>
                                        <p:tav tm="100000">
                                          <p:val>
                                            <p:strVal val="#ppt_x"/>
                                          </p:val>
                                        </p:tav>
                                      </p:tavLst>
                                    </p:anim>
                                    <p:anim calcmode="lin" valueType="num">
                                      <p:cBhvr additive="base">
                                        <p:cTn id="93" dur="500" fill="hold"/>
                                        <p:tgtEl>
                                          <p:spTgt spid="26"/>
                                        </p:tgtEl>
                                        <p:attrNameLst>
                                          <p:attrName>ppt_y</p:attrName>
                                        </p:attrNameLst>
                                      </p:cBhvr>
                                      <p:tavLst>
                                        <p:tav tm="0">
                                          <p:val>
                                            <p:strVal val="#ppt_y+0.1"/>
                                          </p:val>
                                        </p:tav>
                                        <p:tav tm="100000">
                                          <p:val>
                                            <p:strVal val="#ppt_y"/>
                                          </p:val>
                                        </p:tav>
                                      </p:tavLst>
                                    </p:anim>
                                    <p:animEffect transition="in" filter="fade">
                                      <p:cBhvr>
                                        <p:cTn id="94" dur="500"/>
                                        <p:tgtEl>
                                          <p:spTgt spid="26"/>
                                        </p:tgtEl>
                                      </p:cBhvr>
                                    </p:animEffect>
                                  </p:childTnLst>
                                </p:cTn>
                              </p:par>
                              <p:par>
                                <p:cTn id="100" presetID="2" presetClass="entr" presetSubtype="4" fill="hold" grpId="0" nodeType="withEffect">
                                  <p:stCondLst>
                                    <p:cond delay="33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ppt_y+0.1"/>
                                          </p:val>
                                        </p:tav>
                                        <p:tav tm="100000">
                                          <p:val>
                                            <p:strVal val="#ppt_y"/>
                                          </p:val>
                                        </p:tav>
                                      </p:tavLst>
                                    </p:anim>
                                    <p:animEffect transition="in" filter="fade">
                                      <p:cBhvr>
                                        <p:cTn id="99" dur="500"/>
                                        <p:tgtEl>
                                          <p:spTgt spid="27"/>
                                        </p:tgtEl>
                                      </p:cBhvr>
                                    </p:animEffect>
                                  </p:childTnLst>
                                </p:cTn>
                              </p:par>
                              <p:par>
                                <p:cTn id="105" presetID="2" presetClass="entr" presetSubtype="4" fill="hold" grpId="0" nodeType="withEffect">
                                  <p:stCondLst>
                                    <p:cond delay="33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1"/>
                                          </p:val>
                                        </p:tav>
                                        <p:tav tm="100000">
                                          <p:val>
                                            <p:strVal val="#ppt_y"/>
                                          </p:val>
                                        </p:tav>
                                      </p:tavLst>
                                    </p:anim>
                                    <p:animEffect transition="in" filter="fade">
                                      <p:cBhvr>
                                        <p:cTn id="104" dur="500"/>
                                        <p:tgtEl>
                                          <p:spTgt spid="28"/>
                                        </p:tgtEl>
                                      </p:cBhvr>
                                    </p:animEffect>
                                  </p:childTnLst>
                                </p:cTn>
                              </p:par>
                            </p:childTnLst>
                          </p:cTn>
                        </p:par>
                      </p:childTnLst>
                    </p:cTn>
                  </p:par>
                  <p:par>
                    <p:cTn id="106" fill="hold">
                      <p:stCondLst>
                        <p:cond delay="indefinite"/>
                      </p:stCondLst>
                      <p:childTnLst>
                        <p:par>
                          <p:cTn id="107" fill="hold">
                            <p:stCondLst>
                              <p:cond delay="0"/>
                            </p:stCondLst>
                            <p:childTnLst>
                              <p:par>
                                <p:cTn id="112" presetID="2" presetClass="entr" presetSubtype="4" fill="hold" grpId="0" nodeType="clickEffect">
                                  <p:stCondLst>
                                    <p:cond delay="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00" fill="hold"/>
                                        <p:tgtEl>
                                          <p:spTgt spid="29"/>
                                        </p:tgtEl>
                                        <p:attrNameLst>
                                          <p:attrName>ppt_x</p:attrName>
                                        </p:attrNameLst>
                                      </p:cBhvr>
                                      <p:tavLst>
                                        <p:tav tm="0">
                                          <p:val>
                                            <p:strVal val="#ppt_x"/>
                                          </p:val>
                                        </p:tav>
                                        <p:tav tm="100000">
                                          <p:val>
                                            <p:strVal val="#ppt_x"/>
                                          </p:val>
                                        </p:tav>
                                      </p:tavLst>
                                    </p:anim>
                                    <p:anim calcmode="lin" valueType="num">
                                      <p:cBhvr additive="base">
                                        <p:cTn id="110" dur="500" fill="hold"/>
                                        <p:tgtEl>
                                          <p:spTgt spid="29"/>
                                        </p:tgtEl>
                                        <p:attrNameLst>
                                          <p:attrName>ppt_y</p:attrName>
                                        </p:attrNameLst>
                                      </p:cBhvr>
                                      <p:tavLst>
                                        <p:tav tm="0">
                                          <p:val>
                                            <p:strVal val="#ppt_y+0.1"/>
                                          </p:val>
                                        </p:tav>
                                        <p:tav tm="100000">
                                          <p:val>
                                            <p:strVal val="#ppt_y"/>
                                          </p:val>
                                        </p:tav>
                                      </p:tavLst>
                                    </p:anim>
                                    <p:animEffect transition="in" filter="fade">
                                      <p:cBhvr>
                                        <p:cTn id="111" dur="500"/>
                                        <p:tgtEl>
                                          <p:spTgt spid="29"/>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30"/>
                                        </p:tgtEl>
                                        <p:attrNameLst>
                                          <p:attrName>style.visibility</p:attrName>
                                        </p:attrNameLst>
                                      </p:cBhvr>
                                      <p:to>
                                        <p:strVal val="visible"/>
                                      </p:to>
                                    </p:set>
                                    <p:anim calcmode="lin" valueType="num">
                                      <p:cBhvr additive="base">
                                        <p:cTn id="114" dur="500" fill="hold"/>
                                        <p:tgtEl>
                                          <p:spTgt spid="30"/>
                                        </p:tgtEl>
                                        <p:attrNameLst>
                                          <p:attrName>ppt_x</p:attrName>
                                        </p:attrNameLst>
                                      </p:cBhvr>
                                      <p:tavLst>
                                        <p:tav tm="0">
                                          <p:val>
                                            <p:strVal val="#ppt_x"/>
                                          </p:val>
                                        </p:tav>
                                        <p:tav tm="100000">
                                          <p:val>
                                            <p:strVal val="#ppt_x"/>
                                          </p:val>
                                        </p:tav>
                                      </p:tavLst>
                                    </p:anim>
                                    <p:anim calcmode="lin" valueType="num">
                                      <p:cBhvr additive="base">
                                        <p:cTn id="115" dur="500" fill="hold"/>
                                        <p:tgtEl>
                                          <p:spTgt spid="30"/>
                                        </p:tgtEl>
                                        <p:attrNameLst>
                                          <p:attrName>ppt_y</p:attrName>
                                        </p:attrNameLst>
                                      </p:cBhvr>
                                      <p:tavLst>
                                        <p:tav tm="0">
                                          <p:val>
                                            <p:strVal val="#ppt_y+0.1"/>
                                          </p:val>
                                        </p:tav>
                                        <p:tav tm="100000">
                                          <p:val>
                                            <p:strVal val="#ppt_y"/>
                                          </p:val>
                                        </p:tav>
                                      </p:tavLst>
                                    </p:anim>
                                    <p:animEffect transition="in" filter="fade">
                                      <p:cBhvr>
                                        <p:cTn id="116" dur="500"/>
                                        <p:tgtEl>
                                          <p:spTgt spid="30"/>
                                        </p:tgtEl>
                                      </p:cBhvr>
                                    </p:animEffect>
                                  </p:childTnLst>
                                </p:cTn>
                              </p:par>
                              <p:par>
                                <p:cTn id="122" presetID="2" presetClass="entr" presetSubtype="4" fill="hold" grpId="0" nodeType="withEffect">
                                  <p:stCondLst>
                                    <p:cond delay="6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00" fill="hold"/>
                                        <p:tgtEl>
                                          <p:spTgt spid="31"/>
                                        </p:tgtEl>
                                        <p:attrNameLst>
                                          <p:attrName>ppt_x</p:attrName>
                                        </p:attrNameLst>
                                      </p:cBhvr>
                                      <p:tavLst>
                                        <p:tav tm="0">
                                          <p:val>
                                            <p:strVal val="#ppt_x"/>
                                          </p:val>
                                        </p:tav>
                                        <p:tav tm="100000">
                                          <p:val>
                                            <p:strVal val="#ppt_x"/>
                                          </p:val>
                                        </p:tav>
                                      </p:tavLst>
                                    </p:anim>
                                    <p:anim calcmode="lin" valueType="num">
                                      <p:cBhvr additive="base">
                                        <p:cTn id="120" dur="500" fill="hold"/>
                                        <p:tgtEl>
                                          <p:spTgt spid="31"/>
                                        </p:tgtEl>
                                        <p:attrNameLst>
                                          <p:attrName>ppt_y</p:attrName>
                                        </p:attrNameLst>
                                      </p:cBhvr>
                                      <p:tavLst>
                                        <p:tav tm="0">
                                          <p:val>
                                            <p:strVal val="#ppt_y+0.1"/>
                                          </p:val>
                                        </p:tav>
                                        <p:tav tm="100000">
                                          <p:val>
                                            <p:strVal val="#ppt_y"/>
                                          </p:val>
                                        </p:tav>
                                      </p:tavLst>
                                    </p:anim>
                                    <p:animEffect transition="in" filter="fade">
                                      <p:cBhvr>
                                        <p:cTn id="121" dur="500"/>
                                        <p:tgtEl>
                                          <p:spTgt spid="31"/>
                                        </p:tgtEl>
                                      </p:cBhvr>
                                    </p:animEffect>
                                  </p:childTnLst>
                                </p:cTn>
                              </p:par>
                              <p:par>
                                <p:cTn id="127" presetID="2" presetClass="entr" presetSubtype="4" fill="hold" grpId="0" nodeType="withEffect">
                                  <p:stCondLst>
                                    <p:cond delay="60"/>
                                  </p:stCondLst>
                                  <p:childTnLst>
                                    <p:set>
                                      <p:cBhvr>
                                        <p:cTn id="123" dur="1" fill="hold">
                                          <p:stCondLst>
                                            <p:cond delay="0"/>
                                          </p:stCondLst>
                                        </p:cTn>
                                        <p:tgtEl>
                                          <p:spTgt spid="32"/>
                                        </p:tgtEl>
                                        <p:attrNameLst>
                                          <p:attrName>style.visibility</p:attrName>
                                        </p:attrNameLst>
                                      </p:cBhvr>
                                      <p:to>
                                        <p:strVal val="visible"/>
                                      </p:to>
                                    </p:set>
                                    <p:anim calcmode="lin" valueType="num">
                                      <p:cBhvr additive="base">
                                        <p:cTn id="124" dur="500" fill="hold"/>
                                        <p:tgtEl>
                                          <p:spTgt spid="32"/>
                                        </p:tgtEl>
                                        <p:attrNameLst>
                                          <p:attrName>ppt_x</p:attrName>
                                        </p:attrNameLst>
                                      </p:cBhvr>
                                      <p:tavLst>
                                        <p:tav tm="0">
                                          <p:val>
                                            <p:strVal val="#ppt_x"/>
                                          </p:val>
                                        </p:tav>
                                        <p:tav tm="100000">
                                          <p:val>
                                            <p:strVal val="#ppt_x"/>
                                          </p:val>
                                        </p:tav>
                                      </p:tavLst>
                                    </p:anim>
                                    <p:anim calcmode="lin" valueType="num">
                                      <p:cBhvr additive="base">
                                        <p:cTn id="125" dur="500" fill="hold"/>
                                        <p:tgtEl>
                                          <p:spTgt spid="32"/>
                                        </p:tgtEl>
                                        <p:attrNameLst>
                                          <p:attrName>ppt_y</p:attrName>
                                        </p:attrNameLst>
                                      </p:cBhvr>
                                      <p:tavLst>
                                        <p:tav tm="0">
                                          <p:val>
                                            <p:strVal val="#ppt_y+0.1"/>
                                          </p:val>
                                        </p:tav>
                                        <p:tav tm="100000">
                                          <p:val>
                                            <p:strVal val="#ppt_y"/>
                                          </p:val>
                                        </p:tav>
                                      </p:tavLst>
                                    </p:anim>
                                    <p:animEffect transition="in" filter="fade">
                                      <p:cBhvr>
                                        <p:cTn id="126" dur="500"/>
                                        <p:tgtEl>
                                          <p:spTgt spid="32"/>
                                        </p:tgtEl>
                                      </p:cBhvr>
                                    </p:animEffect>
                                  </p:childTnLst>
                                </p:cTn>
                              </p:par>
                              <p:par>
                                <p:cTn id="132" presetID="2" presetClass="entr" presetSubtype="4" fill="hold" grpId="0" nodeType="withEffect">
                                  <p:stCondLst>
                                    <p:cond delay="150"/>
                                  </p:stCondLst>
                                  <p:childTnLst>
                                    <p:set>
                                      <p:cBhvr>
                                        <p:cTn id="128" dur="1" fill="hold">
                                          <p:stCondLst>
                                            <p:cond delay="0"/>
                                          </p:stCondLst>
                                        </p:cTn>
                                        <p:tgtEl>
                                          <p:spTgt spid="33"/>
                                        </p:tgtEl>
                                        <p:attrNameLst>
                                          <p:attrName>style.visibility</p:attrName>
                                        </p:attrNameLst>
                                      </p:cBhvr>
                                      <p:to>
                                        <p:strVal val="visible"/>
                                      </p:to>
                                    </p:set>
                                    <p:anim calcmode="lin" valueType="num">
                                      <p:cBhvr additive="base">
                                        <p:cTn id="129" dur="500" fill="hold"/>
                                        <p:tgtEl>
                                          <p:spTgt spid="33"/>
                                        </p:tgtEl>
                                        <p:attrNameLst>
                                          <p:attrName>ppt_x</p:attrName>
                                        </p:attrNameLst>
                                      </p:cBhvr>
                                      <p:tavLst>
                                        <p:tav tm="0">
                                          <p:val>
                                            <p:strVal val="#ppt_x"/>
                                          </p:val>
                                        </p:tav>
                                        <p:tav tm="100000">
                                          <p:val>
                                            <p:strVal val="#ppt_x"/>
                                          </p:val>
                                        </p:tav>
                                      </p:tavLst>
                                    </p:anim>
                                    <p:anim calcmode="lin" valueType="num">
                                      <p:cBhvr additive="base">
                                        <p:cTn id="130" dur="500" fill="hold"/>
                                        <p:tgtEl>
                                          <p:spTgt spid="33"/>
                                        </p:tgtEl>
                                        <p:attrNameLst>
                                          <p:attrName>ppt_y</p:attrName>
                                        </p:attrNameLst>
                                      </p:cBhvr>
                                      <p:tavLst>
                                        <p:tav tm="0">
                                          <p:val>
                                            <p:strVal val="#ppt_y+0.1"/>
                                          </p:val>
                                        </p:tav>
                                        <p:tav tm="100000">
                                          <p:val>
                                            <p:strVal val="#ppt_y"/>
                                          </p:val>
                                        </p:tav>
                                      </p:tavLst>
                                    </p:anim>
                                    <p:animEffect transition="in" filter="fade">
                                      <p:cBhvr>
                                        <p:cTn id="131" dur="500"/>
                                        <p:tgtEl>
                                          <p:spTgt spid="33"/>
                                        </p:tgtEl>
                                      </p:cBhvr>
                                    </p:animEffect>
                                  </p:childTnLst>
                                </p:cTn>
                              </p:par>
                              <p:par>
                                <p:cTn id="137" presetID="2" presetClass="entr" presetSubtype="4" fill="hold" grpId="0" nodeType="withEffect">
                                  <p:stCondLst>
                                    <p:cond delay="150"/>
                                  </p:stCondLst>
                                  <p:childTnLst>
                                    <p:set>
                                      <p:cBhvr>
                                        <p:cTn id="133" dur="1" fill="hold">
                                          <p:stCondLst>
                                            <p:cond delay="0"/>
                                          </p:stCondLst>
                                        </p:cTn>
                                        <p:tgtEl>
                                          <p:spTgt spid="34"/>
                                        </p:tgtEl>
                                        <p:attrNameLst>
                                          <p:attrName>style.visibility</p:attrName>
                                        </p:attrNameLst>
                                      </p:cBhvr>
                                      <p:to>
                                        <p:strVal val="visible"/>
                                      </p:to>
                                    </p:set>
                                    <p:anim calcmode="lin" valueType="num">
                                      <p:cBhvr additive="base">
                                        <p:cTn id="134" dur="500" fill="hold"/>
                                        <p:tgtEl>
                                          <p:spTgt spid="34"/>
                                        </p:tgtEl>
                                        <p:attrNameLst>
                                          <p:attrName>ppt_x</p:attrName>
                                        </p:attrNameLst>
                                      </p:cBhvr>
                                      <p:tavLst>
                                        <p:tav tm="0">
                                          <p:val>
                                            <p:strVal val="#ppt_x"/>
                                          </p:val>
                                        </p:tav>
                                        <p:tav tm="100000">
                                          <p:val>
                                            <p:strVal val="#ppt_x"/>
                                          </p:val>
                                        </p:tav>
                                      </p:tavLst>
                                    </p:anim>
                                    <p:anim calcmode="lin" valueType="num">
                                      <p:cBhvr additive="base">
                                        <p:cTn id="135" dur="500" fill="hold"/>
                                        <p:tgtEl>
                                          <p:spTgt spid="34"/>
                                        </p:tgtEl>
                                        <p:attrNameLst>
                                          <p:attrName>ppt_y</p:attrName>
                                        </p:attrNameLst>
                                      </p:cBhvr>
                                      <p:tavLst>
                                        <p:tav tm="0">
                                          <p:val>
                                            <p:strVal val="#ppt_y+0.1"/>
                                          </p:val>
                                        </p:tav>
                                        <p:tav tm="100000">
                                          <p:val>
                                            <p:strVal val="#ppt_y"/>
                                          </p:val>
                                        </p:tav>
                                      </p:tavLst>
                                    </p:anim>
                                    <p:animEffect transition="in" filter="fade">
                                      <p:cBhvr>
                                        <p:cTn id="136" dur="500"/>
                                        <p:tgtEl>
                                          <p:spTgt spid="34"/>
                                        </p:tgtEl>
                                      </p:cBhvr>
                                    </p:animEffect>
                                  </p:childTnLst>
                                </p:cTn>
                              </p:par>
                              <p:par>
                                <p:cTn id="142" presetID="2" presetClass="entr" presetSubtype="4" fill="hold" grpId="0" nodeType="withEffect">
                                  <p:stCondLst>
                                    <p:cond delay="24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500" fill="hold"/>
                                        <p:tgtEl>
                                          <p:spTgt spid="35"/>
                                        </p:tgtEl>
                                        <p:attrNameLst>
                                          <p:attrName>ppt_x</p:attrName>
                                        </p:attrNameLst>
                                      </p:cBhvr>
                                      <p:tavLst>
                                        <p:tav tm="0">
                                          <p:val>
                                            <p:strVal val="#ppt_x"/>
                                          </p:val>
                                        </p:tav>
                                        <p:tav tm="100000">
                                          <p:val>
                                            <p:strVal val="#ppt_x"/>
                                          </p:val>
                                        </p:tav>
                                      </p:tavLst>
                                    </p:anim>
                                    <p:anim calcmode="lin" valueType="num">
                                      <p:cBhvr additive="base">
                                        <p:cTn id="140" dur="500" fill="hold"/>
                                        <p:tgtEl>
                                          <p:spTgt spid="35"/>
                                        </p:tgtEl>
                                        <p:attrNameLst>
                                          <p:attrName>ppt_y</p:attrName>
                                        </p:attrNameLst>
                                      </p:cBhvr>
                                      <p:tavLst>
                                        <p:tav tm="0">
                                          <p:val>
                                            <p:strVal val="#ppt_y+0.1"/>
                                          </p:val>
                                        </p:tav>
                                        <p:tav tm="100000">
                                          <p:val>
                                            <p:strVal val="#ppt_y"/>
                                          </p:val>
                                        </p:tav>
                                      </p:tavLst>
                                    </p:anim>
                                    <p:animEffect transition="in" filter="fade">
                                      <p:cBhvr>
                                        <p:cTn id="141" dur="500"/>
                                        <p:tgtEl>
                                          <p:spTgt spid="35"/>
                                        </p:tgtEl>
                                      </p:cBhvr>
                                    </p:animEffect>
                                  </p:childTnLst>
                                </p:cTn>
                              </p:par>
                              <p:par>
                                <p:cTn id="147" presetID="2" presetClass="entr" presetSubtype="4" fill="hold" grpId="0" nodeType="withEffect">
                                  <p:stCondLst>
                                    <p:cond delay="240"/>
                                  </p:stCondLst>
                                  <p:childTnLst>
                                    <p:set>
                                      <p:cBhvr>
                                        <p:cTn id="143" dur="1" fill="hold">
                                          <p:stCondLst>
                                            <p:cond delay="0"/>
                                          </p:stCondLst>
                                        </p:cTn>
                                        <p:tgtEl>
                                          <p:spTgt spid="36"/>
                                        </p:tgtEl>
                                        <p:attrNameLst>
                                          <p:attrName>style.visibility</p:attrName>
                                        </p:attrNameLst>
                                      </p:cBhvr>
                                      <p:to>
                                        <p:strVal val="visible"/>
                                      </p:to>
                                    </p:set>
                                    <p:anim calcmode="lin" valueType="num">
                                      <p:cBhvr additive="base">
                                        <p:cTn id="144" dur="500" fill="hold"/>
                                        <p:tgtEl>
                                          <p:spTgt spid="36"/>
                                        </p:tgtEl>
                                        <p:attrNameLst>
                                          <p:attrName>ppt_x</p:attrName>
                                        </p:attrNameLst>
                                      </p:cBhvr>
                                      <p:tavLst>
                                        <p:tav tm="0">
                                          <p:val>
                                            <p:strVal val="#ppt_x"/>
                                          </p:val>
                                        </p:tav>
                                        <p:tav tm="100000">
                                          <p:val>
                                            <p:strVal val="#ppt_x"/>
                                          </p:val>
                                        </p:tav>
                                      </p:tavLst>
                                    </p:anim>
                                    <p:anim calcmode="lin" valueType="num">
                                      <p:cBhvr additive="base">
                                        <p:cTn id="145" dur="500" fill="hold"/>
                                        <p:tgtEl>
                                          <p:spTgt spid="36"/>
                                        </p:tgtEl>
                                        <p:attrNameLst>
                                          <p:attrName>ppt_y</p:attrName>
                                        </p:attrNameLst>
                                      </p:cBhvr>
                                      <p:tavLst>
                                        <p:tav tm="0">
                                          <p:val>
                                            <p:strVal val="#ppt_y+0.1"/>
                                          </p:val>
                                        </p:tav>
                                        <p:tav tm="100000">
                                          <p:val>
                                            <p:strVal val="#ppt_y"/>
                                          </p:val>
                                        </p:tav>
                                      </p:tavLst>
                                    </p:anim>
                                    <p:animEffect transition="in" filter="fade">
                                      <p:cBhvr>
                                        <p:cTn id="146" dur="500"/>
                                        <p:tgtEl>
                                          <p:spTgt spid="36"/>
                                        </p:tgtEl>
                                      </p:cBhvr>
                                    </p:animEffect>
                                  </p:childTnLst>
                                </p:cTn>
                              </p:par>
                              <p:par>
                                <p:cTn id="152" presetID="2" presetClass="entr" presetSubtype="4" fill="hold" grpId="0" nodeType="withEffect">
                                  <p:stCondLst>
                                    <p:cond delay="330"/>
                                  </p:stCondLst>
                                  <p:childTnLst>
                                    <p:set>
                                      <p:cBhvr>
                                        <p:cTn id="148" dur="1" fill="hold">
                                          <p:stCondLst>
                                            <p:cond delay="0"/>
                                          </p:stCondLst>
                                        </p:cTn>
                                        <p:tgtEl>
                                          <p:spTgt spid="37"/>
                                        </p:tgtEl>
                                        <p:attrNameLst>
                                          <p:attrName>style.visibility</p:attrName>
                                        </p:attrNameLst>
                                      </p:cBhvr>
                                      <p:to>
                                        <p:strVal val="visible"/>
                                      </p:to>
                                    </p:set>
                                    <p:anim calcmode="lin" valueType="num">
                                      <p:cBhvr additive="base">
                                        <p:cTn id="149" dur="500" fill="hold"/>
                                        <p:tgtEl>
                                          <p:spTgt spid="37"/>
                                        </p:tgtEl>
                                        <p:attrNameLst>
                                          <p:attrName>ppt_x</p:attrName>
                                        </p:attrNameLst>
                                      </p:cBhvr>
                                      <p:tavLst>
                                        <p:tav tm="0">
                                          <p:val>
                                            <p:strVal val="#ppt_x"/>
                                          </p:val>
                                        </p:tav>
                                        <p:tav tm="100000">
                                          <p:val>
                                            <p:strVal val="#ppt_x"/>
                                          </p:val>
                                        </p:tav>
                                      </p:tavLst>
                                    </p:anim>
                                    <p:anim calcmode="lin" valueType="num">
                                      <p:cBhvr additive="base">
                                        <p:cTn id="150" dur="500" fill="hold"/>
                                        <p:tgtEl>
                                          <p:spTgt spid="37"/>
                                        </p:tgtEl>
                                        <p:attrNameLst>
                                          <p:attrName>ppt_y</p:attrName>
                                        </p:attrNameLst>
                                      </p:cBhvr>
                                      <p:tavLst>
                                        <p:tav tm="0">
                                          <p:val>
                                            <p:strVal val="#ppt_y+0.1"/>
                                          </p:val>
                                        </p:tav>
                                        <p:tav tm="100000">
                                          <p:val>
                                            <p:strVal val="#ppt_y"/>
                                          </p:val>
                                        </p:tav>
                                      </p:tavLst>
                                    </p:anim>
                                    <p:animEffect transition="in" filter="fade">
                                      <p:cBhvr>
                                        <p:cTn id="151" dur="500"/>
                                        <p:tgtEl>
                                          <p:spTgt spid="37"/>
                                        </p:tgtEl>
                                      </p:cBhvr>
                                    </p:animEffect>
                                  </p:childTnLst>
                                </p:cTn>
                              </p:par>
                              <p:par>
                                <p:cTn id="157" presetID="2" presetClass="entr" presetSubtype="4" fill="hold" grpId="0" nodeType="withEffect">
                                  <p:stCondLst>
                                    <p:cond delay="330"/>
                                  </p:stCondLst>
                                  <p:childTnLst>
                                    <p:set>
                                      <p:cBhvr>
                                        <p:cTn id="153" dur="1" fill="hold">
                                          <p:stCondLst>
                                            <p:cond delay="0"/>
                                          </p:stCondLst>
                                        </p:cTn>
                                        <p:tgtEl>
                                          <p:spTgt spid="38"/>
                                        </p:tgtEl>
                                        <p:attrNameLst>
                                          <p:attrName>style.visibility</p:attrName>
                                        </p:attrNameLst>
                                      </p:cBhvr>
                                      <p:to>
                                        <p:strVal val="visible"/>
                                      </p:to>
                                    </p:set>
                                    <p:anim calcmode="lin" valueType="num">
                                      <p:cBhvr additive="base">
                                        <p:cTn id="154" dur="500" fill="hold"/>
                                        <p:tgtEl>
                                          <p:spTgt spid="38"/>
                                        </p:tgtEl>
                                        <p:attrNameLst>
                                          <p:attrName>ppt_x</p:attrName>
                                        </p:attrNameLst>
                                      </p:cBhvr>
                                      <p:tavLst>
                                        <p:tav tm="0">
                                          <p:val>
                                            <p:strVal val="#ppt_x"/>
                                          </p:val>
                                        </p:tav>
                                        <p:tav tm="100000">
                                          <p:val>
                                            <p:strVal val="#ppt_x"/>
                                          </p:val>
                                        </p:tav>
                                      </p:tavLst>
                                    </p:anim>
                                    <p:anim calcmode="lin" valueType="num">
                                      <p:cBhvr additive="base">
                                        <p:cTn id="155" dur="500" fill="hold"/>
                                        <p:tgtEl>
                                          <p:spTgt spid="38"/>
                                        </p:tgtEl>
                                        <p:attrNameLst>
                                          <p:attrName>ppt_y</p:attrName>
                                        </p:attrNameLst>
                                      </p:cBhvr>
                                      <p:tavLst>
                                        <p:tav tm="0">
                                          <p:val>
                                            <p:strVal val="#ppt_y+0.1"/>
                                          </p:val>
                                        </p:tav>
                                        <p:tav tm="100000">
                                          <p:val>
                                            <p:strVal val="#ppt_y"/>
                                          </p:val>
                                        </p:tav>
                                      </p:tavLst>
                                    </p:anim>
                                    <p:animEffect transition="in" filter="fade">
                                      <p:cBhvr>
                                        <p:cTn id="156" dur="500"/>
                                        <p:tgtEl>
                                          <p:spTgt spid="38"/>
                                        </p:tgtEl>
                                      </p:cBhvr>
                                    </p:animEffect>
                                  </p:childTnLst>
                                </p:cTn>
                              </p:par>
                            </p:childTnLst>
                          </p:cTn>
                        </p:par>
                      </p:childTnLst>
                    </p:cTn>
                  </p:par>
                  <p:par>
                    <p:cTn id="158" fill="hold">
                      <p:stCondLst>
                        <p:cond delay="indefinite"/>
                      </p:stCondLst>
                      <p:childTnLst>
                        <p:par>
                          <p:cTn id="159" fill="hold">
                            <p:stCondLst>
                              <p:cond delay="0"/>
                            </p:stCondLst>
                            <p:childTnLst>
                              <p:par>
                                <p:cTn id="162" presetID="10" presetClass="entr" presetSubtype="0" fill="hold" grpId="0" nodeType="clickEffect">
                                  <p:stCondLst>
                                    <p:cond delay="0"/>
                                  </p:stCondLst>
                                  <p:childTnLst>
                                    <p:set>
                                      <p:cBhvr>
                                        <p:cTn id="160" dur="1" fill="hold">
                                          <p:stCondLst>
                                            <p:cond delay="0"/>
                                          </p:stCondLst>
                                        </p:cTn>
                                        <p:tgtEl>
                                          <p:spTgt spid="39"/>
                                        </p:tgtEl>
                                        <p:attrNameLst>
                                          <p:attrName>style.visibility</p:attrName>
                                        </p:attrNameLst>
                                      </p:cBhvr>
                                      <p:to>
                                        <p:strVal val="visible"/>
                                      </p:to>
                                    </p:set>
                                    <p:animEffect transition="in" filter="fade">
                                      <p:cBhvr>
                                        <p:cTn id="161" dur="500"/>
                                        <p:tgtEl>
                                          <p:spTgt spid="39"/>
                                        </p:tgtEl>
                                      </p:cBhvr>
                                    </p:animEffect>
                                  </p:childTnLst>
                                </p:cTn>
                              </p:par>
                              <p:par>
                                <p:cTn id="165" presetID="10" presetClass="entr" presetSubtype="0" fill="hold" grpId="0" nodeType="withEffect">
                                  <p:stCondLst>
                                    <p:cond delay="0"/>
                                  </p:stCondLst>
                                  <p:childTnLst>
                                    <p:set>
                                      <p:cBhvr>
                                        <p:cTn id="163" dur="1" fill="hold">
                                          <p:stCondLst>
                                            <p:cond delay="0"/>
                                          </p:stCondLst>
                                        </p:cTn>
                                        <p:tgtEl>
                                          <p:spTgt spid="40"/>
                                        </p:tgtEl>
                                        <p:attrNameLst>
                                          <p:attrName>style.visibility</p:attrName>
                                        </p:attrNameLst>
                                      </p:cBhvr>
                                      <p:to>
                                        <p:strVal val="visible"/>
                                      </p:to>
                                    </p:set>
                                    <p:animEffect transition="in" filter="fade">
                                      <p:cBhvr>
                                        <p:cTn id="164" dur="500"/>
                                        <p:tgtEl>
                                          <p:spTgt spid="40"/>
                                        </p:tgtEl>
                                      </p:cBhvr>
                                    </p:animEffect>
                                  </p:childTnLst>
                                </p:cTn>
                              </p:par>
                              <p:par>
                                <p:cTn id="168" presetID="10" presetClass="entr" presetSubtype="0" fill="hold" grpId="0" nodeType="withEffect">
                                  <p:stCondLst>
                                    <p:cond delay="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7" dur="500"/>
                                        <p:tgtEl>
                                          <p:spTgt spid="49"/>
                                        </p:tgtEl>
                                      </p:cBhvr>
                                    </p:animEffect>
                                  </p:childTnLst>
                                </p:cTn>
                              </p:par>
                              <p:par>
                                <p:cTn id="171" presetID="10" presetClass="entr" presetSubtype="0" fill="hold" grpId="0" nodeType="withEffect">
                                  <p:stCondLst>
                                    <p:cond delay="0"/>
                                  </p:stCondLst>
                                  <p:childTnLst>
                                    <p:set>
                                      <p:cBhvr>
                                        <p:cTn id="169" dur="1" fill="hold">
                                          <p:stCondLst>
                                            <p:cond delay="0"/>
                                          </p:stCondLst>
                                        </p:cTn>
                                        <p:tgtEl>
                                          <p:spTgt spid="50"/>
                                        </p:tgtEl>
                                        <p:attrNameLst>
                                          <p:attrName>style.visibility</p:attrName>
                                        </p:attrNameLst>
                                      </p:cBhvr>
                                      <p:to>
                                        <p:strVal val="visible"/>
                                      </p:to>
                                    </p:set>
                                    <p:animEffect transition="in" filter="fade">
                                      <p:cBhvr>
                                        <p:cTn id="170" dur="500"/>
                                        <p:tgtEl>
                                          <p:spTgt spid="50"/>
                                        </p:tgtEl>
                                      </p:cBhvr>
                                    </p:animEffect>
                                  </p:childTnLst>
                                </p:cTn>
                              </p:par>
                              <p:par>
                                <p:cTn id="174" presetID="10" presetClass="entr" presetSubtype="0" fill="hold" grpId="0" nodeType="with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500"/>
                                        <p:tgtEl>
                                          <p:spTgt spid="59"/>
                                        </p:tgtEl>
                                      </p:cBhvr>
                                    </p:animEffect>
                                  </p:childTnLst>
                                </p:cTn>
                              </p:par>
                              <p:par>
                                <p:cTn id="177" presetID="10" presetClass="entr" presetSubtype="0" fill="hold" grpId="0" nodeType="with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fade">
                                      <p:cBhvr>
                                        <p:cTn id="176" dur="500"/>
                                        <p:tgtEl>
                                          <p:spTgt spid="60"/>
                                        </p:tgtEl>
                                      </p:cBhvr>
                                    </p:animEffect>
                                  </p:childTnLst>
                                </p:cTn>
                              </p:par>
                              <p:par>
                                <p:cTn id="180" presetID="22" presetClass="entr" presetSubtype="8" fill="hold" grpId="0" nodeType="withEffect">
                                  <p:stCondLst>
                                    <p:cond delay="130"/>
                                  </p:stCondLst>
                                  <p:childTnLst>
                                    <p:set>
                                      <p:cBhvr>
                                        <p:cTn id="178" dur="1" fill="hold">
                                          <p:stCondLst>
                                            <p:cond delay="0"/>
                                          </p:stCondLst>
                                        </p:cTn>
                                        <p:tgtEl>
                                          <p:spTgt spid="41"/>
                                        </p:tgtEl>
                                        <p:attrNameLst>
                                          <p:attrName>style.visibility</p:attrName>
                                        </p:attrNameLst>
                                      </p:cBhvr>
                                      <p:to>
                                        <p:strVal val="visible"/>
                                      </p:to>
                                    </p:set>
                                    <p:animEffect transition="in" filter="wipe(left)">
                                      <p:cBhvr>
                                        <p:cTn id="179" dur="500"/>
                                        <p:tgtEl>
                                          <p:spTgt spid="41"/>
                                        </p:tgtEl>
                                      </p:cBhvr>
                                    </p:animEffect>
                                  </p:childTnLst>
                                </p:cTn>
                              </p:par>
                              <p:par>
                                <p:cTn id="183" presetID="22" presetClass="entr" presetSubtype="8" fill="hold" grpId="0" nodeType="withEffect">
                                  <p:stCondLst>
                                    <p:cond delay="130"/>
                                  </p:stCondLst>
                                  <p:childTnLst>
                                    <p:set>
                                      <p:cBhvr>
                                        <p:cTn id="181" dur="1" fill="hold">
                                          <p:stCondLst>
                                            <p:cond delay="0"/>
                                          </p:stCondLst>
                                        </p:cTn>
                                        <p:tgtEl>
                                          <p:spTgt spid="42"/>
                                        </p:tgtEl>
                                        <p:attrNameLst>
                                          <p:attrName>style.visibility</p:attrName>
                                        </p:attrNameLst>
                                      </p:cBhvr>
                                      <p:to>
                                        <p:strVal val="visible"/>
                                      </p:to>
                                    </p:set>
                                    <p:animEffect transition="in" filter="wipe(left)">
                                      <p:cBhvr>
                                        <p:cTn id="182" dur="500"/>
                                        <p:tgtEl>
                                          <p:spTgt spid="42"/>
                                        </p:tgtEl>
                                      </p:cBhvr>
                                    </p:animEffect>
                                  </p:childTnLst>
                                </p:cTn>
                              </p:par>
                              <p:par>
                                <p:cTn id="186" presetID="22" presetClass="entr" presetSubtype="8" fill="hold" grpId="0" nodeType="withEffect">
                                  <p:stCondLst>
                                    <p:cond delay="130"/>
                                  </p:stCondLst>
                                  <p:childTnLst>
                                    <p:set>
                                      <p:cBhvr>
                                        <p:cTn id="184" dur="1" fill="hold">
                                          <p:stCondLst>
                                            <p:cond delay="0"/>
                                          </p:stCondLst>
                                        </p:cTn>
                                        <p:tgtEl>
                                          <p:spTgt spid="51"/>
                                        </p:tgtEl>
                                        <p:attrNameLst>
                                          <p:attrName>style.visibility</p:attrName>
                                        </p:attrNameLst>
                                      </p:cBhvr>
                                      <p:to>
                                        <p:strVal val="visible"/>
                                      </p:to>
                                    </p:set>
                                    <p:animEffect transition="in" filter="wipe(left)">
                                      <p:cBhvr>
                                        <p:cTn id="185" dur="500"/>
                                        <p:tgtEl>
                                          <p:spTgt spid="51"/>
                                        </p:tgtEl>
                                      </p:cBhvr>
                                    </p:animEffect>
                                  </p:childTnLst>
                                </p:cTn>
                              </p:par>
                              <p:par>
                                <p:cTn id="189" presetID="22" presetClass="entr" presetSubtype="8" fill="hold" grpId="0" nodeType="withEffect">
                                  <p:stCondLst>
                                    <p:cond delay="130"/>
                                  </p:stCondLst>
                                  <p:childTnLst>
                                    <p:set>
                                      <p:cBhvr>
                                        <p:cTn id="187" dur="1" fill="hold">
                                          <p:stCondLst>
                                            <p:cond delay="0"/>
                                          </p:stCondLst>
                                        </p:cTn>
                                        <p:tgtEl>
                                          <p:spTgt spid="52"/>
                                        </p:tgtEl>
                                        <p:attrNameLst>
                                          <p:attrName>style.visibility</p:attrName>
                                        </p:attrNameLst>
                                      </p:cBhvr>
                                      <p:to>
                                        <p:strVal val="visible"/>
                                      </p:to>
                                    </p:set>
                                    <p:animEffect transition="in" filter="wipe(left)">
                                      <p:cBhvr>
                                        <p:cTn id="188" dur="500"/>
                                        <p:tgtEl>
                                          <p:spTgt spid="52"/>
                                        </p:tgtEl>
                                      </p:cBhvr>
                                    </p:animEffect>
                                  </p:childTnLst>
                                </p:cTn>
                              </p:par>
                              <p:par>
                                <p:cTn id="192" presetID="22" presetClass="entr" presetSubtype="8" fill="hold" grpId="0" nodeType="withEffect">
                                  <p:stCondLst>
                                    <p:cond delay="130"/>
                                  </p:stCondLst>
                                  <p:childTnLst>
                                    <p:set>
                                      <p:cBhvr>
                                        <p:cTn id="190" dur="1" fill="hold">
                                          <p:stCondLst>
                                            <p:cond delay="0"/>
                                          </p:stCondLst>
                                        </p:cTn>
                                        <p:tgtEl>
                                          <p:spTgt spid="61"/>
                                        </p:tgtEl>
                                        <p:attrNameLst>
                                          <p:attrName>style.visibility</p:attrName>
                                        </p:attrNameLst>
                                      </p:cBhvr>
                                      <p:to>
                                        <p:strVal val="visible"/>
                                      </p:to>
                                    </p:set>
                                    <p:animEffect transition="in" filter="wipe(left)">
                                      <p:cBhvr>
                                        <p:cTn id="191" dur="500"/>
                                        <p:tgtEl>
                                          <p:spTgt spid="61"/>
                                        </p:tgtEl>
                                      </p:cBhvr>
                                    </p:animEffect>
                                  </p:childTnLst>
                                </p:cTn>
                              </p:par>
                              <p:par>
                                <p:cTn id="195" presetID="22" presetClass="entr" presetSubtype="8" fill="hold" grpId="0" nodeType="withEffect">
                                  <p:stCondLst>
                                    <p:cond delay="130"/>
                                  </p:stCondLst>
                                  <p:childTnLst>
                                    <p:set>
                                      <p:cBhvr>
                                        <p:cTn id="193" dur="1" fill="hold">
                                          <p:stCondLst>
                                            <p:cond delay="0"/>
                                          </p:stCondLst>
                                        </p:cTn>
                                        <p:tgtEl>
                                          <p:spTgt spid="62"/>
                                        </p:tgtEl>
                                        <p:attrNameLst>
                                          <p:attrName>style.visibility</p:attrName>
                                        </p:attrNameLst>
                                      </p:cBhvr>
                                      <p:to>
                                        <p:strVal val="visible"/>
                                      </p:to>
                                    </p:set>
                                    <p:animEffect transition="in" filter="wipe(left)">
                                      <p:cBhvr>
                                        <p:cTn id="194" dur="500"/>
                                        <p:tgtEl>
                                          <p:spTgt spid="62"/>
                                        </p:tgtEl>
                                      </p:cBhvr>
                                    </p:animEffect>
                                  </p:childTnLst>
                                </p:cTn>
                              </p:par>
                              <p:par>
                                <p:cTn id="198" presetID="22" presetClass="entr" presetSubtype="8" fill="hold" grpId="0" nodeType="withEffect">
                                  <p:stCondLst>
                                    <p:cond delay="260"/>
                                  </p:stCondLst>
                                  <p:childTnLst>
                                    <p:set>
                                      <p:cBhvr>
                                        <p:cTn id="196" dur="1" fill="hold">
                                          <p:stCondLst>
                                            <p:cond delay="0"/>
                                          </p:stCondLst>
                                        </p:cTn>
                                        <p:tgtEl>
                                          <p:spTgt spid="43"/>
                                        </p:tgtEl>
                                        <p:attrNameLst>
                                          <p:attrName>style.visibility</p:attrName>
                                        </p:attrNameLst>
                                      </p:cBhvr>
                                      <p:to>
                                        <p:strVal val="visible"/>
                                      </p:to>
                                    </p:set>
                                    <p:animEffect transition="in" filter="wipe(left)">
                                      <p:cBhvr>
                                        <p:cTn id="197" dur="500"/>
                                        <p:tgtEl>
                                          <p:spTgt spid="43"/>
                                        </p:tgtEl>
                                      </p:cBhvr>
                                    </p:animEffect>
                                  </p:childTnLst>
                                </p:cTn>
                              </p:par>
                              <p:par>
                                <p:cTn id="201" presetID="22" presetClass="entr" presetSubtype="8" fill="hold" grpId="0" nodeType="withEffect">
                                  <p:stCondLst>
                                    <p:cond delay="260"/>
                                  </p:stCondLst>
                                  <p:childTnLst>
                                    <p:set>
                                      <p:cBhvr>
                                        <p:cTn id="199" dur="1" fill="hold">
                                          <p:stCondLst>
                                            <p:cond delay="0"/>
                                          </p:stCondLst>
                                        </p:cTn>
                                        <p:tgtEl>
                                          <p:spTgt spid="44"/>
                                        </p:tgtEl>
                                        <p:attrNameLst>
                                          <p:attrName>style.visibility</p:attrName>
                                        </p:attrNameLst>
                                      </p:cBhvr>
                                      <p:to>
                                        <p:strVal val="visible"/>
                                      </p:to>
                                    </p:set>
                                    <p:animEffect transition="in" filter="wipe(left)">
                                      <p:cBhvr>
                                        <p:cTn id="200" dur="500"/>
                                        <p:tgtEl>
                                          <p:spTgt spid="44"/>
                                        </p:tgtEl>
                                      </p:cBhvr>
                                    </p:animEffect>
                                  </p:childTnLst>
                                </p:cTn>
                              </p:par>
                              <p:par>
                                <p:cTn id="204" presetID="22" presetClass="entr" presetSubtype="8" fill="hold" grpId="0" nodeType="withEffect">
                                  <p:stCondLst>
                                    <p:cond delay="260"/>
                                  </p:stCondLst>
                                  <p:childTnLst>
                                    <p:set>
                                      <p:cBhvr>
                                        <p:cTn id="202" dur="1" fill="hold">
                                          <p:stCondLst>
                                            <p:cond delay="0"/>
                                          </p:stCondLst>
                                        </p:cTn>
                                        <p:tgtEl>
                                          <p:spTgt spid="53"/>
                                        </p:tgtEl>
                                        <p:attrNameLst>
                                          <p:attrName>style.visibility</p:attrName>
                                        </p:attrNameLst>
                                      </p:cBhvr>
                                      <p:to>
                                        <p:strVal val="visible"/>
                                      </p:to>
                                    </p:set>
                                    <p:animEffect transition="in" filter="wipe(left)">
                                      <p:cBhvr>
                                        <p:cTn id="203" dur="500"/>
                                        <p:tgtEl>
                                          <p:spTgt spid="53"/>
                                        </p:tgtEl>
                                      </p:cBhvr>
                                    </p:animEffect>
                                  </p:childTnLst>
                                </p:cTn>
                              </p:par>
                              <p:par>
                                <p:cTn id="207" presetID="22" presetClass="entr" presetSubtype="8" fill="hold" grpId="0" nodeType="withEffect">
                                  <p:stCondLst>
                                    <p:cond delay="260"/>
                                  </p:stCondLst>
                                  <p:childTnLst>
                                    <p:set>
                                      <p:cBhvr>
                                        <p:cTn id="205" dur="1" fill="hold">
                                          <p:stCondLst>
                                            <p:cond delay="0"/>
                                          </p:stCondLst>
                                        </p:cTn>
                                        <p:tgtEl>
                                          <p:spTgt spid="54"/>
                                        </p:tgtEl>
                                        <p:attrNameLst>
                                          <p:attrName>style.visibility</p:attrName>
                                        </p:attrNameLst>
                                      </p:cBhvr>
                                      <p:to>
                                        <p:strVal val="visible"/>
                                      </p:to>
                                    </p:set>
                                    <p:animEffect transition="in" filter="wipe(left)">
                                      <p:cBhvr>
                                        <p:cTn id="206" dur="500"/>
                                        <p:tgtEl>
                                          <p:spTgt spid="54"/>
                                        </p:tgtEl>
                                      </p:cBhvr>
                                    </p:animEffect>
                                  </p:childTnLst>
                                </p:cTn>
                              </p:par>
                              <p:par>
                                <p:cTn id="210" presetID="22" presetClass="entr" presetSubtype="8" fill="hold" grpId="0" nodeType="withEffect">
                                  <p:stCondLst>
                                    <p:cond delay="260"/>
                                  </p:stCondLst>
                                  <p:childTnLst>
                                    <p:set>
                                      <p:cBhvr>
                                        <p:cTn id="208" dur="1" fill="hold">
                                          <p:stCondLst>
                                            <p:cond delay="0"/>
                                          </p:stCondLst>
                                        </p:cTn>
                                        <p:tgtEl>
                                          <p:spTgt spid="63"/>
                                        </p:tgtEl>
                                        <p:attrNameLst>
                                          <p:attrName>style.visibility</p:attrName>
                                        </p:attrNameLst>
                                      </p:cBhvr>
                                      <p:to>
                                        <p:strVal val="visible"/>
                                      </p:to>
                                    </p:set>
                                    <p:animEffect transition="in" filter="wipe(left)">
                                      <p:cBhvr>
                                        <p:cTn id="209" dur="500"/>
                                        <p:tgtEl>
                                          <p:spTgt spid="63"/>
                                        </p:tgtEl>
                                      </p:cBhvr>
                                    </p:animEffect>
                                  </p:childTnLst>
                                </p:cTn>
                              </p:par>
                              <p:par>
                                <p:cTn id="213" presetID="22" presetClass="entr" presetSubtype="8" fill="hold" grpId="0" nodeType="withEffect">
                                  <p:stCondLst>
                                    <p:cond delay="260"/>
                                  </p:stCondLst>
                                  <p:childTnLst>
                                    <p:set>
                                      <p:cBhvr>
                                        <p:cTn id="211" dur="1" fill="hold">
                                          <p:stCondLst>
                                            <p:cond delay="0"/>
                                          </p:stCondLst>
                                        </p:cTn>
                                        <p:tgtEl>
                                          <p:spTgt spid="64"/>
                                        </p:tgtEl>
                                        <p:attrNameLst>
                                          <p:attrName>style.visibility</p:attrName>
                                        </p:attrNameLst>
                                      </p:cBhvr>
                                      <p:to>
                                        <p:strVal val="visible"/>
                                      </p:to>
                                    </p:set>
                                    <p:animEffect transition="in" filter="wipe(left)">
                                      <p:cBhvr>
                                        <p:cTn id="212" dur="500"/>
                                        <p:tgtEl>
                                          <p:spTgt spid="64"/>
                                        </p:tgtEl>
                                      </p:cBhvr>
                                    </p:animEffect>
                                  </p:childTnLst>
                                </p:cTn>
                              </p:par>
                              <p:par>
                                <p:cTn id="216" presetID="22" presetClass="entr" presetSubtype="8" fill="hold" grpId="0" nodeType="withEffect">
                                  <p:stCondLst>
                                    <p:cond delay="390"/>
                                  </p:stCondLst>
                                  <p:childTnLst>
                                    <p:set>
                                      <p:cBhvr>
                                        <p:cTn id="214" dur="1" fill="hold">
                                          <p:stCondLst>
                                            <p:cond delay="0"/>
                                          </p:stCondLst>
                                        </p:cTn>
                                        <p:tgtEl>
                                          <p:spTgt spid="45"/>
                                        </p:tgtEl>
                                        <p:attrNameLst>
                                          <p:attrName>style.visibility</p:attrName>
                                        </p:attrNameLst>
                                      </p:cBhvr>
                                      <p:to>
                                        <p:strVal val="visible"/>
                                      </p:to>
                                    </p:set>
                                    <p:animEffect transition="in" filter="wipe(left)">
                                      <p:cBhvr>
                                        <p:cTn id="215" dur="500"/>
                                        <p:tgtEl>
                                          <p:spTgt spid="45"/>
                                        </p:tgtEl>
                                      </p:cBhvr>
                                    </p:animEffect>
                                  </p:childTnLst>
                                </p:cTn>
                              </p:par>
                              <p:par>
                                <p:cTn id="219" presetID="22" presetClass="entr" presetSubtype="8" fill="hold" grpId="0" nodeType="withEffect">
                                  <p:stCondLst>
                                    <p:cond delay="390"/>
                                  </p:stCondLst>
                                  <p:childTnLst>
                                    <p:set>
                                      <p:cBhvr>
                                        <p:cTn id="217" dur="1" fill="hold">
                                          <p:stCondLst>
                                            <p:cond delay="0"/>
                                          </p:stCondLst>
                                        </p:cTn>
                                        <p:tgtEl>
                                          <p:spTgt spid="46"/>
                                        </p:tgtEl>
                                        <p:attrNameLst>
                                          <p:attrName>style.visibility</p:attrName>
                                        </p:attrNameLst>
                                      </p:cBhvr>
                                      <p:to>
                                        <p:strVal val="visible"/>
                                      </p:to>
                                    </p:set>
                                    <p:animEffect transition="in" filter="wipe(left)">
                                      <p:cBhvr>
                                        <p:cTn id="218" dur="500"/>
                                        <p:tgtEl>
                                          <p:spTgt spid="46"/>
                                        </p:tgtEl>
                                      </p:cBhvr>
                                    </p:animEffect>
                                  </p:childTnLst>
                                </p:cTn>
                              </p:par>
                              <p:par>
                                <p:cTn id="222" presetID="22" presetClass="entr" presetSubtype="8" fill="hold" grpId="0" nodeType="withEffect">
                                  <p:stCondLst>
                                    <p:cond delay="390"/>
                                  </p:stCondLst>
                                  <p:childTnLst>
                                    <p:set>
                                      <p:cBhvr>
                                        <p:cTn id="220" dur="1" fill="hold">
                                          <p:stCondLst>
                                            <p:cond delay="0"/>
                                          </p:stCondLst>
                                        </p:cTn>
                                        <p:tgtEl>
                                          <p:spTgt spid="55"/>
                                        </p:tgtEl>
                                        <p:attrNameLst>
                                          <p:attrName>style.visibility</p:attrName>
                                        </p:attrNameLst>
                                      </p:cBhvr>
                                      <p:to>
                                        <p:strVal val="visible"/>
                                      </p:to>
                                    </p:set>
                                    <p:animEffect transition="in" filter="wipe(left)">
                                      <p:cBhvr>
                                        <p:cTn id="221" dur="500"/>
                                        <p:tgtEl>
                                          <p:spTgt spid="55"/>
                                        </p:tgtEl>
                                      </p:cBhvr>
                                    </p:animEffect>
                                  </p:childTnLst>
                                </p:cTn>
                              </p:par>
                              <p:par>
                                <p:cTn id="225" presetID="22" presetClass="entr" presetSubtype="8" fill="hold" grpId="0" nodeType="withEffect">
                                  <p:stCondLst>
                                    <p:cond delay="390"/>
                                  </p:stCondLst>
                                  <p:childTnLst>
                                    <p:set>
                                      <p:cBhvr>
                                        <p:cTn id="223" dur="1" fill="hold">
                                          <p:stCondLst>
                                            <p:cond delay="0"/>
                                          </p:stCondLst>
                                        </p:cTn>
                                        <p:tgtEl>
                                          <p:spTgt spid="56"/>
                                        </p:tgtEl>
                                        <p:attrNameLst>
                                          <p:attrName>style.visibility</p:attrName>
                                        </p:attrNameLst>
                                      </p:cBhvr>
                                      <p:to>
                                        <p:strVal val="visible"/>
                                      </p:to>
                                    </p:set>
                                    <p:animEffect transition="in" filter="wipe(left)">
                                      <p:cBhvr>
                                        <p:cTn id="224" dur="500"/>
                                        <p:tgtEl>
                                          <p:spTgt spid="56"/>
                                        </p:tgtEl>
                                      </p:cBhvr>
                                    </p:animEffect>
                                  </p:childTnLst>
                                </p:cTn>
                              </p:par>
                              <p:par>
                                <p:cTn id="228" presetID="22" presetClass="entr" presetSubtype="8" fill="hold" grpId="0" nodeType="withEffect">
                                  <p:stCondLst>
                                    <p:cond delay="390"/>
                                  </p:stCondLst>
                                  <p:childTnLst>
                                    <p:set>
                                      <p:cBhvr>
                                        <p:cTn id="226" dur="1" fill="hold">
                                          <p:stCondLst>
                                            <p:cond delay="0"/>
                                          </p:stCondLst>
                                        </p:cTn>
                                        <p:tgtEl>
                                          <p:spTgt spid="65"/>
                                        </p:tgtEl>
                                        <p:attrNameLst>
                                          <p:attrName>style.visibility</p:attrName>
                                        </p:attrNameLst>
                                      </p:cBhvr>
                                      <p:to>
                                        <p:strVal val="visible"/>
                                      </p:to>
                                    </p:set>
                                    <p:animEffect transition="in" filter="wipe(left)">
                                      <p:cBhvr>
                                        <p:cTn id="227" dur="500"/>
                                        <p:tgtEl>
                                          <p:spTgt spid="65"/>
                                        </p:tgtEl>
                                      </p:cBhvr>
                                    </p:animEffect>
                                  </p:childTnLst>
                                </p:cTn>
                              </p:par>
                              <p:par>
                                <p:cTn id="231" presetID="22" presetClass="entr" presetSubtype="8" fill="hold" grpId="0" nodeType="withEffect">
                                  <p:stCondLst>
                                    <p:cond delay="390"/>
                                  </p:stCondLst>
                                  <p:childTnLst>
                                    <p:set>
                                      <p:cBhvr>
                                        <p:cTn id="229" dur="1" fill="hold">
                                          <p:stCondLst>
                                            <p:cond delay="0"/>
                                          </p:stCondLst>
                                        </p:cTn>
                                        <p:tgtEl>
                                          <p:spTgt spid="66"/>
                                        </p:tgtEl>
                                        <p:attrNameLst>
                                          <p:attrName>style.visibility</p:attrName>
                                        </p:attrNameLst>
                                      </p:cBhvr>
                                      <p:to>
                                        <p:strVal val="visible"/>
                                      </p:to>
                                    </p:set>
                                    <p:animEffect transition="in" filter="wipe(left)">
                                      <p:cBhvr>
                                        <p:cTn id="230" dur="500"/>
                                        <p:tgtEl>
                                          <p:spTgt spid="66"/>
                                        </p:tgtEl>
                                      </p:cBhvr>
                                    </p:animEffect>
                                  </p:childTnLst>
                                </p:cTn>
                              </p:par>
                              <p:par>
                                <p:cTn id="234" presetID="22" presetClass="entr" presetSubtype="8" fill="hold" grpId="0" nodeType="withEffect">
                                  <p:stCondLst>
                                    <p:cond delay="520"/>
                                  </p:stCondLst>
                                  <p:childTnLst>
                                    <p:set>
                                      <p:cBhvr>
                                        <p:cTn id="232" dur="1" fill="hold">
                                          <p:stCondLst>
                                            <p:cond delay="0"/>
                                          </p:stCondLst>
                                        </p:cTn>
                                        <p:tgtEl>
                                          <p:spTgt spid="47"/>
                                        </p:tgtEl>
                                        <p:attrNameLst>
                                          <p:attrName>style.visibility</p:attrName>
                                        </p:attrNameLst>
                                      </p:cBhvr>
                                      <p:to>
                                        <p:strVal val="visible"/>
                                      </p:to>
                                    </p:set>
                                    <p:animEffect transition="in" filter="wipe(left)">
                                      <p:cBhvr>
                                        <p:cTn id="233" dur="500"/>
                                        <p:tgtEl>
                                          <p:spTgt spid="47"/>
                                        </p:tgtEl>
                                      </p:cBhvr>
                                    </p:animEffect>
                                  </p:childTnLst>
                                </p:cTn>
                              </p:par>
                              <p:par>
                                <p:cTn id="237" presetID="22" presetClass="entr" presetSubtype="8" fill="hold" grpId="0" nodeType="withEffect">
                                  <p:stCondLst>
                                    <p:cond delay="520"/>
                                  </p:stCondLst>
                                  <p:childTnLst>
                                    <p:set>
                                      <p:cBhvr>
                                        <p:cTn id="235" dur="1" fill="hold">
                                          <p:stCondLst>
                                            <p:cond delay="0"/>
                                          </p:stCondLst>
                                        </p:cTn>
                                        <p:tgtEl>
                                          <p:spTgt spid="48"/>
                                        </p:tgtEl>
                                        <p:attrNameLst>
                                          <p:attrName>style.visibility</p:attrName>
                                        </p:attrNameLst>
                                      </p:cBhvr>
                                      <p:to>
                                        <p:strVal val="visible"/>
                                      </p:to>
                                    </p:set>
                                    <p:animEffect transition="in" filter="wipe(left)">
                                      <p:cBhvr>
                                        <p:cTn id="236" dur="500"/>
                                        <p:tgtEl>
                                          <p:spTgt spid="48"/>
                                        </p:tgtEl>
                                      </p:cBhvr>
                                    </p:animEffect>
                                  </p:childTnLst>
                                </p:cTn>
                              </p:par>
                              <p:par>
                                <p:cTn id="240" presetID="22" presetClass="entr" presetSubtype="8" fill="hold" grpId="0" nodeType="withEffect">
                                  <p:stCondLst>
                                    <p:cond delay="520"/>
                                  </p:stCondLst>
                                  <p:childTnLst>
                                    <p:set>
                                      <p:cBhvr>
                                        <p:cTn id="238" dur="1" fill="hold">
                                          <p:stCondLst>
                                            <p:cond delay="0"/>
                                          </p:stCondLst>
                                        </p:cTn>
                                        <p:tgtEl>
                                          <p:spTgt spid="57"/>
                                        </p:tgtEl>
                                        <p:attrNameLst>
                                          <p:attrName>style.visibility</p:attrName>
                                        </p:attrNameLst>
                                      </p:cBhvr>
                                      <p:to>
                                        <p:strVal val="visible"/>
                                      </p:to>
                                    </p:set>
                                    <p:animEffect transition="in" filter="wipe(left)">
                                      <p:cBhvr>
                                        <p:cTn id="239" dur="500"/>
                                        <p:tgtEl>
                                          <p:spTgt spid="57"/>
                                        </p:tgtEl>
                                      </p:cBhvr>
                                    </p:animEffect>
                                  </p:childTnLst>
                                </p:cTn>
                              </p:par>
                              <p:par>
                                <p:cTn id="243" presetID="22" presetClass="entr" presetSubtype="8" fill="hold" grpId="0" nodeType="withEffect">
                                  <p:stCondLst>
                                    <p:cond delay="520"/>
                                  </p:stCondLst>
                                  <p:childTnLst>
                                    <p:set>
                                      <p:cBhvr>
                                        <p:cTn id="241" dur="1" fill="hold">
                                          <p:stCondLst>
                                            <p:cond delay="0"/>
                                          </p:stCondLst>
                                        </p:cTn>
                                        <p:tgtEl>
                                          <p:spTgt spid="58"/>
                                        </p:tgtEl>
                                        <p:attrNameLst>
                                          <p:attrName>style.visibility</p:attrName>
                                        </p:attrNameLst>
                                      </p:cBhvr>
                                      <p:to>
                                        <p:strVal val="visible"/>
                                      </p:to>
                                    </p:set>
                                    <p:animEffect transition="in" filter="wipe(left)">
                                      <p:cBhvr>
                                        <p:cTn id="242" dur="500"/>
                                        <p:tgtEl>
                                          <p:spTgt spid="58"/>
                                        </p:tgtEl>
                                      </p:cBhvr>
                                    </p:animEffect>
                                  </p:childTnLst>
                                </p:cTn>
                              </p:par>
                              <p:par>
                                <p:cTn id="246" presetID="22" presetClass="entr" presetSubtype="8" fill="hold" grpId="0" nodeType="withEffect">
                                  <p:stCondLst>
                                    <p:cond delay="520"/>
                                  </p:stCondLst>
                                  <p:childTnLst>
                                    <p:set>
                                      <p:cBhvr>
                                        <p:cTn id="244" dur="1" fill="hold">
                                          <p:stCondLst>
                                            <p:cond delay="0"/>
                                          </p:stCondLst>
                                        </p:cTn>
                                        <p:tgtEl>
                                          <p:spTgt spid="67"/>
                                        </p:tgtEl>
                                        <p:attrNameLst>
                                          <p:attrName>style.visibility</p:attrName>
                                        </p:attrNameLst>
                                      </p:cBhvr>
                                      <p:to>
                                        <p:strVal val="visible"/>
                                      </p:to>
                                    </p:set>
                                    <p:animEffect transition="in" filter="wipe(left)">
                                      <p:cBhvr>
                                        <p:cTn id="245" dur="500"/>
                                        <p:tgtEl>
                                          <p:spTgt spid="67"/>
                                        </p:tgtEl>
                                      </p:cBhvr>
                                    </p:animEffect>
                                  </p:childTnLst>
                                </p:cTn>
                              </p:par>
                              <p:par>
                                <p:cTn id="249" presetID="22" presetClass="entr" presetSubtype="8" fill="hold" grpId="0" nodeType="withEffect">
                                  <p:stCondLst>
                                    <p:cond delay="520"/>
                                  </p:stCondLst>
                                  <p:childTnLst>
                                    <p:set>
                                      <p:cBhvr>
                                        <p:cTn id="247" dur="1" fill="hold">
                                          <p:stCondLst>
                                            <p:cond delay="0"/>
                                          </p:stCondLst>
                                        </p:cTn>
                                        <p:tgtEl>
                                          <p:spTgt spid="68"/>
                                        </p:tgtEl>
                                        <p:attrNameLst>
                                          <p:attrName>style.visibility</p:attrName>
                                        </p:attrNameLst>
                                      </p:cBhvr>
                                      <p:to>
                                        <p:strVal val="visible"/>
                                      </p:to>
                                    </p:set>
                                    <p:animEffect transition="in" filter="wipe(left)">
                                      <p:cBhvr>
                                        <p:cTn id="248"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Type 2 · Document Stores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Like key-value, except the database can see inside the value</a:t>
            </a:r>
          </a:p>
        </p:txBody>
      </p:sp>
      <p:sp>
        <p:nvSpPr>
          <p:cNvPr id="4" name="a1f_codebg3"/>
          <p:cNvSpPr/>
          <p:nvPr/>
        </p:nvSpPr>
        <p:spPr>
          <a:xfrm>
            <a:off x="457200" y="1170432"/>
            <a:ext cx="3749039" cy="2249424"/>
          </a:xfrm>
          <a:prstGeom prst="roundRect">
            <a:avLst>
              <a:gd name="adj" fmla="val 325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f_codeh4"/>
          <p:cNvSpPr txBox="1"/>
          <p:nvPr/>
        </p:nvSpPr>
        <p:spPr>
          <a:xfrm>
            <a:off x="621792" y="1225296"/>
            <a:ext cx="3419856" cy="219456"/>
          </a:xfrm>
          <a:prstGeom prst="rect">
            <a:avLst/>
          </a:prstGeom>
          <a:noFill/>
        </p:spPr>
        <p:txBody>
          <a:bodyPr wrap="square" lIns="0" tIns="0" rIns="0" bIns="0" anchor="ctr">
            <a:spAutoFit/>
          </a:bodyPr>
          <a:lstStyle/>
          <a:p>
            <a:pPr algn="l"/>
            <a:r>
              <a:rPr sz="950" b="1">
                <a:solidFill>
                  <a:srgbClr val="64748B"/>
                </a:solidFill>
                <a:latin typeface="Courier New"/>
              </a:rPr>
              <a:t>accounts collection</a:t>
            </a:r>
          </a:p>
        </p:txBody>
      </p:sp>
      <p:sp>
        <p:nvSpPr>
          <p:cNvPr id="6" name="a1w_code5"/>
          <p:cNvSpPr txBox="1"/>
          <p:nvPr/>
        </p:nvSpPr>
        <p:spPr>
          <a:xfrm>
            <a:off x="621792" y="1609344"/>
            <a:ext cx="3419856" cy="205740"/>
          </a:xfrm>
          <a:prstGeom prst="rect">
            <a:avLst/>
          </a:prstGeom>
          <a:noFill/>
        </p:spPr>
        <p:txBody>
          <a:bodyPr wrap="none" lIns="0" tIns="0" rIns="0" bIns="0" anchor="ctr">
            <a:spAutoFit/>
          </a:bodyPr>
          <a:lstStyle/>
          <a:p>
            <a:pPr algn="l"/>
            <a:r>
              <a:rPr sz="1000" b="1">
                <a:solidFill>
                  <a:srgbClr val="C4B5FD"/>
                </a:solidFill>
                <a:latin typeface="Courier New"/>
              </a:rPr>
              <a:t>{</a:t>
            </a:r>
          </a:p>
        </p:txBody>
      </p:sp>
      <p:sp>
        <p:nvSpPr>
          <p:cNvPr id="7" name="a1wd90_code6"/>
          <p:cNvSpPr txBox="1"/>
          <p:nvPr/>
        </p:nvSpPr>
        <p:spPr>
          <a:xfrm>
            <a:off x="621792" y="1815084"/>
            <a:ext cx="3419856" cy="205740"/>
          </a:xfrm>
          <a:prstGeom prst="rect">
            <a:avLst/>
          </a:prstGeom>
          <a:noFill/>
        </p:spPr>
        <p:txBody>
          <a:bodyPr wrap="none" lIns="0" tIns="0" rIns="0" bIns="0" anchor="ctr">
            <a:spAutoFit/>
          </a:bodyPr>
          <a:lstStyle/>
          <a:p>
            <a:pPr algn="l"/>
            <a:r>
              <a:rPr sz="1000" b="0">
                <a:solidFill>
                  <a:srgbClr val="E2E8F0"/>
                </a:solidFill>
                <a:latin typeface="Courier New"/>
              </a:rPr>
              <a:t>  "_id": "ACC-9003",</a:t>
            </a:r>
          </a:p>
        </p:txBody>
      </p:sp>
      <p:sp>
        <p:nvSpPr>
          <p:cNvPr id="8" name="a1wd180_code7"/>
          <p:cNvSpPr txBox="1"/>
          <p:nvPr/>
        </p:nvSpPr>
        <p:spPr>
          <a:xfrm>
            <a:off x="621792" y="2020824"/>
            <a:ext cx="3419856" cy="205740"/>
          </a:xfrm>
          <a:prstGeom prst="rect">
            <a:avLst/>
          </a:prstGeom>
          <a:noFill/>
        </p:spPr>
        <p:txBody>
          <a:bodyPr wrap="none" lIns="0" tIns="0" rIns="0" bIns="0" anchor="ctr">
            <a:spAutoFit/>
          </a:bodyPr>
          <a:lstStyle/>
          <a:p>
            <a:pPr algn="l"/>
            <a:r>
              <a:rPr sz="1000" b="0">
                <a:solidFill>
                  <a:srgbClr val="E2E8F0"/>
                </a:solidFill>
                <a:latin typeface="Courier New"/>
              </a:rPr>
              <a:t>  "holder": "A. Sharma",</a:t>
            </a:r>
          </a:p>
        </p:txBody>
      </p:sp>
      <p:sp>
        <p:nvSpPr>
          <p:cNvPr id="9" name="a1wd270_code8"/>
          <p:cNvSpPr txBox="1"/>
          <p:nvPr/>
        </p:nvSpPr>
        <p:spPr>
          <a:xfrm>
            <a:off x="621792" y="2226564"/>
            <a:ext cx="3419856" cy="205740"/>
          </a:xfrm>
          <a:prstGeom prst="rect">
            <a:avLst/>
          </a:prstGeom>
          <a:noFill/>
        </p:spPr>
        <p:txBody>
          <a:bodyPr wrap="none" lIns="0" tIns="0" rIns="0" bIns="0" anchor="ctr">
            <a:spAutoFit/>
          </a:bodyPr>
          <a:lstStyle/>
          <a:p>
            <a:pPr algn="l"/>
            <a:r>
              <a:rPr sz="1000" b="0">
                <a:solidFill>
                  <a:srgbClr val="E2E8F0"/>
                </a:solidFill>
                <a:latin typeface="Courier New"/>
              </a:rPr>
              <a:t>  "kyc": { "status": "verified",</a:t>
            </a:r>
          </a:p>
        </p:txBody>
      </p:sp>
      <p:sp>
        <p:nvSpPr>
          <p:cNvPr id="10" name="a1wd360_code9"/>
          <p:cNvSpPr txBox="1"/>
          <p:nvPr/>
        </p:nvSpPr>
        <p:spPr>
          <a:xfrm>
            <a:off x="621792" y="2432304"/>
            <a:ext cx="3419856" cy="205740"/>
          </a:xfrm>
          <a:prstGeom prst="rect">
            <a:avLst/>
          </a:prstGeom>
          <a:noFill/>
        </p:spPr>
        <p:txBody>
          <a:bodyPr wrap="none" lIns="0" tIns="0" rIns="0" bIns="0" anchor="ctr">
            <a:spAutoFit/>
          </a:bodyPr>
          <a:lstStyle/>
          <a:p>
            <a:pPr algn="l"/>
            <a:r>
              <a:rPr sz="1000" b="0">
                <a:solidFill>
                  <a:srgbClr val="E2E8F0"/>
                </a:solidFill>
                <a:latin typeface="Courier New"/>
              </a:rPr>
              <a:t>           "date": "2024-06-01" },</a:t>
            </a:r>
          </a:p>
        </p:txBody>
      </p:sp>
      <p:sp>
        <p:nvSpPr>
          <p:cNvPr id="11" name="a1wd450_code10"/>
          <p:cNvSpPr txBox="1"/>
          <p:nvPr/>
        </p:nvSpPr>
        <p:spPr>
          <a:xfrm>
            <a:off x="621792" y="2638044"/>
            <a:ext cx="3419856" cy="205740"/>
          </a:xfrm>
          <a:prstGeom prst="rect">
            <a:avLst/>
          </a:prstGeom>
          <a:noFill/>
        </p:spPr>
        <p:txBody>
          <a:bodyPr wrap="none" lIns="0" tIns="0" rIns="0" bIns="0" anchor="ctr">
            <a:spAutoFit/>
          </a:bodyPr>
          <a:lstStyle/>
          <a:p>
            <a:pPr algn="l"/>
            <a:r>
              <a:rPr sz="1000" b="0">
                <a:solidFill>
                  <a:srgbClr val="E2E8F0"/>
                </a:solidFill>
                <a:latin typeface="Courier New"/>
              </a:rPr>
              <a:t>  "cards": [ "4213...", "5588..." ],</a:t>
            </a:r>
          </a:p>
        </p:txBody>
      </p:sp>
      <p:sp>
        <p:nvSpPr>
          <p:cNvPr id="12" name="a1wd540_code11"/>
          <p:cNvSpPr txBox="1"/>
          <p:nvPr/>
        </p:nvSpPr>
        <p:spPr>
          <a:xfrm>
            <a:off x="621792" y="2843784"/>
            <a:ext cx="3419856" cy="205740"/>
          </a:xfrm>
          <a:prstGeom prst="rect">
            <a:avLst/>
          </a:prstGeom>
          <a:noFill/>
        </p:spPr>
        <p:txBody>
          <a:bodyPr wrap="none" lIns="0" tIns="0" rIns="0" bIns="0" anchor="ctr">
            <a:spAutoFit/>
          </a:bodyPr>
          <a:lstStyle/>
          <a:p>
            <a:pPr algn="l"/>
            <a:r>
              <a:rPr sz="1000" b="0">
                <a:solidFill>
                  <a:srgbClr val="E2E8F0"/>
                </a:solidFill>
                <a:latin typeface="Courier New"/>
              </a:rPr>
              <a:t>  "tier": "gold"</a:t>
            </a:r>
          </a:p>
        </p:txBody>
      </p:sp>
      <p:sp>
        <p:nvSpPr>
          <p:cNvPr id="13" name="a1wd630_code12"/>
          <p:cNvSpPr txBox="1"/>
          <p:nvPr/>
        </p:nvSpPr>
        <p:spPr>
          <a:xfrm>
            <a:off x="621792" y="3049524"/>
            <a:ext cx="3419856" cy="205740"/>
          </a:xfrm>
          <a:prstGeom prst="rect">
            <a:avLst/>
          </a:prstGeom>
          <a:noFill/>
        </p:spPr>
        <p:txBody>
          <a:bodyPr wrap="none" lIns="0" tIns="0" rIns="0" bIns="0" anchor="ctr">
            <a:spAutoFit/>
          </a:bodyPr>
          <a:lstStyle/>
          <a:p>
            <a:pPr algn="l"/>
            <a:r>
              <a:rPr sz="1000" b="1">
                <a:solidFill>
                  <a:srgbClr val="C4B5FD"/>
                </a:solidFill>
                <a:latin typeface="Courier New"/>
              </a:rPr>
              <a:t>}</a:t>
            </a:r>
          </a:p>
        </p:txBody>
      </p:sp>
      <p:sp>
        <p:nvSpPr>
          <p:cNvPr id="14" name="a2u_card13"/>
          <p:cNvSpPr/>
          <p:nvPr/>
        </p:nvSpPr>
        <p:spPr>
          <a:xfrm>
            <a:off x="4572000" y="1170432"/>
            <a:ext cx="4114800" cy="2148840"/>
          </a:xfrm>
          <a:prstGeom prst="roundRect">
            <a:avLst>
              <a:gd name="adj" fmla="val 42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hh14"/>
          <p:cNvSpPr txBox="1"/>
          <p:nvPr/>
        </p:nvSpPr>
        <p:spPr>
          <a:xfrm>
            <a:off x="4773168" y="1289304"/>
            <a:ext cx="3712463" cy="237744"/>
          </a:xfrm>
          <a:prstGeom prst="rect">
            <a:avLst/>
          </a:prstGeom>
          <a:noFill/>
        </p:spPr>
        <p:txBody>
          <a:bodyPr wrap="square" lIns="0" tIns="0" rIns="0" bIns="0" anchor="ctr">
            <a:spAutoFit/>
          </a:bodyPr>
          <a:lstStyle/>
          <a:p>
            <a:pPr algn="l"/>
            <a:r>
              <a:rPr sz="950" b="1">
                <a:solidFill>
                  <a:srgbClr val="0F766E"/>
                </a:solidFill>
                <a:latin typeface="Calibri"/>
              </a:rPr>
              <a:t>WHAT THAT BUYS YOU</a:t>
            </a:r>
          </a:p>
        </p:txBody>
      </p:sp>
      <p:sp>
        <p:nvSpPr>
          <p:cNvPr id="16" name="a2ud60_dot15"/>
          <p:cNvSpPr/>
          <p:nvPr/>
        </p:nvSpPr>
        <p:spPr>
          <a:xfrm>
            <a:off x="4773168" y="1682496"/>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d60_b16"/>
          <p:cNvSpPr txBox="1"/>
          <p:nvPr/>
        </p:nvSpPr>
        <p:spPr>
          <a:xfrm>
            <a:off x="4992624" y="1581912"/>
            <a:ext cx="3493007" cy="365760"/>
          </a:xfrm>
          <a:prstGeom prst="rect">
            <a:avLst/>
          </a:prstGeom>
          <a:noFill/>
        </p:spPr>
        <p:txBody>
          <a:bodyPr wrap="square" lIns="0" tIns="0" rIns="0" bIns="0" anchor="t">
            <a:spAutoFit/>
          </a:bodyPr>
          <a:lstStyle/>
          <a:p>
            <a:pPr algn="l"/>
            <a:r>
              <a:rPr sz="1050" b="1">
                <a:solidFill>
                  <a:srgbClr val="0F172A"/>
                </a:solidFill>
                <a:latin typeface="Calibri"/>
              </a:rPr>
              <a:t>Query by any field  </a:t>
            </a:r>
            <a:r>
              <a:rPr sz="1050" b="0">
                <a:solidFill>
                  <a:srgbClr val="334155"/>
                </a:solidFill>
                <a:latin typeface="Calibri"/>
              </a:rPr>
              <a:t>db.accounts.find({tier: "gold"})</a:t>
            </a:r>
          </a:p>
        </p:txBody>
      </p:sp>
      <p:sp>
        <p:nvSpPr>
          <p:cNvPr id="18" name="a2ud170_dot17"/>
          <p:cNvSpPr/>
          <p:nvPr/>
        </p:nvSpPr>
        <p:spPr>
          <a:xfrm>
            <a:off x="4773168" y="2084831"/>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170_b18"/>
          <p:cNvSpPr txBox="1"/>
          <p:nvPr/>
        </p:nvSpPr>
        <p:spPr>
          <a:xfrm>
            <a:off x="4992624" y="1984248"/>
            <a:ext cx="3493007" cy="365760"/>
          </a:xfrm>
          <a:prstGeom prst="rect">
            <a:avLst/>
          </a:prstGeom>
          <a:noFill/>
        </p:spPr>
        <p:txBody>
          <a:bodyPr wrap="square" lIns="0" tIns="0" rIns="0" bIns="0" anchor="t">
            <a:spAutoFit/>
          </a:bodyPr>
          <a:lstStyle/>
          <a:p>
            <a:pPr algn="l"/>
            <a:r>
              <a:rPr sz="1050" b="1">
                <a:solidFill>
                  <a:srgbClr val="0F172A"/>
                </a:solidFill>
                <a:latin typeface="Calibri"/>
              </a:rPr>
              <a:t>Secondary indexes  </a:t>
            </a:r>
            <a:r>
              <a:rPr sz="1050" b="0">
                <a:solidFill>
                  <a:srgbClr val="334155"/>
                </a:solidFill>
                <a:latin typeface="Calibri"/>
              </a:rPr>
              <a:t>on nested fields too, not only the key</a:t>
            </a:r>
          </a:p>
        </p:txBody>
      </p:sp>
      <p:sp>
        <p:nvSpPr>
          <p:cNvPr id="20" name="a2ud280_dot19"/>
          <p:cNvSpPr/>
          <p:nvPr/>
        </p:nvSpPr>
        <p:spPr>
          <a:xfrm>
            <a:off x="4773168" y="2487168"/>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280_b20"/>
          <p:cNvSpPr txBox="1"/>
          <p:nvPr/>
        </p:nvSpPr>
        <p:spPr>
          <a:xfrm>
            <a:off x="4992624" y="2386584"/>
            <a:ext cx="3493007" cy="365760"/>
          </a:xfrm>
          <a:prstGeom prst="rect">
            <a:avLst/>
          </a:prstGeom>
          <a:noFill/>
        </p:spPr>
        <p:txBody>
          <a:bodyPr wrap="square" lIns="0" tIns="0" rIns="0" bIns="0" anchor="t">
            <a:spAutoFit/>
          </a:bodyPr>
          <a:lstStyle/>
          <a:p>
            <a:pPr algn="l"/>
            <a:r>
              <a:rPr sz="1050" b="1">
                <a:solidFill>
                  <a:srgbClr val="0F172A"/>
                </a:solidFill>
                <a:latin typeface="Calibri"/>
              </a:rPr>
              <a:t>Partial updates  </a:t>
            </a:r>
            <a:r>
              <a:rPr sz="1050" b="0">
                <a:solidFill>
                  <a:srgbClr val="334155"/>
                </a:solidFill>
                <a:latin typeface="Calibri"/>
              </a:rPr>
              <a:t>change one field without rewriting the document</a:t>
            </a:r>
          </a:p>
        </p:txBody>
      </p:sp>
      <p:sp>
        <p:nvSpPr>
          <p:cNvPr id="22" name="a2ud390_dot21"/>
          <p:cNvSpPr/>
          <p:nvPr/>
        </p:nvSpPr>
        <p:spPr>
          <a:xfrm>
            <a:off x="4773168" y="2889503"/>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390_b22"/>
          <p:cNvSpPr txBox="1"/>
          <p:nvPr/>
        </p:nvSpPr>
        <p:spPr>
          <a:xfrm>
            <a:off x="4992624" y="2788920"/>
            <a:ext cx="3493007" cy="365760"/>
          </a:xfrm>
          <a:prstGeom prst="rect">
            <a:avLst/>
          </a:prstGeom>
          <a:noFill/>
        </p:spPr>
        <p:txBody>
          <a:bodyPr wrap="square" lIns="0" tIns="0" rIns="0" bIns="0" anchor="t">
            <a:spAutoFit/>
          </a:bodyPr>
          <a:lstStyle/>
          <a:p>
            <a:pPr algn="l"/>
            <a:r>
              <a:rPr sz="1050" b="1">
                <a:solidFill>
                  <a:srgbClr val="0F172A"/>
                </a:solidFill>
                <a:latin typeface="Calibri"/>
              </a:rPr>
              <a:t>Aggregation pipelines  </a:t>
            </a:r>
            <a:r>
              <a:rPr sz="1050" b="0">
                <a:solidFill>
                  <a:srgbClr val="334155"/>
                </a:solidFill>
                <a:latin typeface="Calibri"/>
              </a:rPr>
              <a:t>group, filter and reshape server-side</a:t>
            </a:r>
          </a:p>
        </p:txBody>
      </p:sp>
      <p:sp>
        <p:nvSpPr>
          <p:cNvPr id="24" name="a3f_th23"/>
          <p:cNvSpPr/>
          <p:nvPr/>
        </p:nvSpPr>
        <p:spPr>
          <a:xfrm>
            <a:off x="457200" y="3502152"/>
            <a:ext cx="1920240" cy="3017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f_tht24"/>
          <p:cNvSpPr txBox="1"/>
          <p:nvPr/>
        </p:nvSpPr>
        <p:spPr>
          <a:xfrm>
            <a:off x="530352" y="3502152"/>
            <a:ext cx="1810512" cy="301752"/>
          </a:xfrm>
          <a:prstGeom prst="rect">
            <a:avLst/>
          </a:prstGeom>
          <a:noFill/>
        </p:spPr>
        <p:txBody>
          <a:bodyPr wrap="square" lIns="0" tIns="0" rIns="0" bIns="0" anchor="ctr">
            <a:spAutoFit/>
          </a:bodyPr>
          <a:lstStyle/>
          <a:p>
            <a:pPr algn="l"/>
            <a:r>
              <a:rPr sz="1000" b="1">
                <a:solidFill>
                  <a:srgbClr val="FFFFFF"/>
                </a:solidFill>
                <a:latin typeface="Calibri"/>
              </a:rPr>
              <a:t>Product</a:t>
            </a:r>
          </a:p>
        </p:txBody>
      </p:sp>
      <p:sp>
        <p:nvSpPr>
          <p:cNvPr id="26" name="a3wd130_td25"/>
          <p:cNvSpPr/>
          <p:nvPr/>
        </p:nvSpPr>
        <p:spPr>
          <a:xfrm>
            <a:off x="457200" y="3803904"/>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wd130_tdt26"/>
          <p:cNvSpPr txBox="1"/>
          <p:nvPr/>
        </p:nvSpPr>
        <p:spPr>
          <a:xfrm>
            <a:off x="530352" y="3803904"/>
            <a:ext cx="1810512" cy="301752"/>
          </a:xfrm>
          <a:prstGeom prst="rect">
            <a:avLst/>
          </a:prstGeom>
          <a:noFill/>
        </p:spPr>
        <p:txBody>
          <a:bodyPr wrap="square" lIns="0" tIns="0" rIns="0" bIns="0" anchor="ctr">
            <a:spAutoFit/>
          </a:bodyPr>
          <a:lstStyle/>
          <a:p>
            <a:pPr algn="l"/>
            <a:r>
              <a:rPr sz="1000" b="0">
                <a:solidFill>
                  <a:srgbClr val="334155"/>
                </a:solidFill>
                <a:latin typeface="Calibri"/>
              </a:rPr>
              <a:t>MongoDB</a:t>
            </a:r>
          </a:p>
        </p:txBody>
      </p:sp>
      <p:sp>
        <p:nvSpPr>
          <p:cNvPr id="28" name="a3wd260_td27"/>
          <p:cNvSpPr/>
          <p:nvPr/>
        </p:nvSpPr>
        <p:spPr>
          <a:xfrm>
            <a:off x="457200" y="4105656"/>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wd260_tdt28"/>
          <p:cNvSpPr txBox="1"/>
          <p:nvPr/>
        </p:nvSpPr>
        <p:spPr>
          <a:xfrm>
            <a:off x="530352" y="4105656"/>
            <a:ext cx="1810512" cy="301752"/>
          </a:xfrm>
          <a:prstGeom prst="rect">
            <a:avLst/>
          </a:prstGeom>
          <a:noFill/>
        </p:spPr>
        <p:txBody>
          <a:bodyPr wrap="square" lIns="0" tIns="0" rIns="0" bIns="0" anchor="ctr">
            <a:spAutoFit/>
          </a:bodyPr>
          <a:lstStyle/>
          <a:p>
            <a:pPr algn="l"/>
            <a:r>
              <a:rPr sz="1000" b="0">
                <a:solidFill>
                  <a:srgbClr val="334155"/>
                </a:solidFill>
                <a:latin typeface="Calibri"/>
              </a:rPr>
              <a:t>Couchbase</a:t>
            </a:r>
          </a:p>
        </p:txBody>
      </p:sp>
      <p:sp>
        <p:nvSpPr>
          <p:cNvPr id="30" name="a3wd390_td29"/>
          <p:cNvSpPr/>
          <p:nvPr/>
        </p:nvSpPr>
        <p:spPr>
          <a:xfrm>
            <a:off x="457200" y="4407408"/>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wd390_tdt30"/>
          <p:cNvSpPr txBox="1"/>
          <p:nvPr/>
        </p:nvSpPr>
        <p:spPr>
          <a:xfrm>
            <a:off x="530352" y="4407408"/>
            <a:ext cx="1810512" cy="301752"/>
          </a:xfrm>
          <a:prstGeom prst="rect">
            <a:avLst/>
          </a:prstGeom>
          <a:noFill/>
        </p:spPr>
        <p:txBody>
          <a:bodyPr wrap="square" lIns="0" tIns="0" rIns="0" bIns="0" anchor="ctr">
            <a:spAutoFit/>
          </a:bodyPr>
          <a:lstStyle/>
          <a:p>
            <a:pPr algn="l"/>
            <a:r>
              <a:rPr sz="1000" b="0">
                <a:solidFill>
                  <a:srgbClr val="334155"/>
                </a:solidFill>
                <a:latin typeface="Calibri"/>
              </a:rPr>
              <a:t>Amazon DocumentDB</a:t>
            </a:r>
          </a:p>
        </p:txBody>
      </p:sp>
      <p:sp>
        <p:nvSpPr>
          <p:cNvPr id="32" name="a3wd520_td31"/>
          <p:cNvSpPr/>
          <p:nvPr/>
        </p:nvSpPr>
        <p:spPr>
          <a:xfrm>
            <a:off x="457200" y="4709160"/>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wd520_tdt32"/>
          <p:cNvSpPr txBox="1"/>
          <p:nvPr/>
        </p:nvSpPr>
        <p:spPr>
          <a:xfrm>
            <a:off x="530352" y="4709160"/>
            <a:ext cx="1810512" cy="301752"/>
          </a:xfrm>
          <a:prstGeom prst="rect">
            <a:avLst/>
          </a:prstGeom>
          <a:noFill/>
        </p:spPr>
        <p:txBody>
          <a:bodyPr wrap="square" lIns="0" tIns="0" rIns="0" bIns="0" anchor="ctr">
            <a:spAutoFit/>
          </a:bodyPr>
          <a:lstStyle/>
          <a:p>
            <a:pPr algn="l"/>
            <a:r>
              <a:rPr sz="1000" b="0">
                <a:solidFill>
                  <a:srgbClr val="334155"/>
                </a:solidFill>
                <a:latin typeface="Calibri"/>
              </a:rPr>
              <a:t>Firestore / CosmosDB</a:t>
            </a:r>
          </a:p>
        </p:txBody>
      </p:sp>
      <p:sp>
        <p:nvSpPr>
          <p:cNvPr id="34" name="a3f_th33"/>
          <p:cNvSpPr/>
          <p:nvPr/>
        </p:nvSpPr>
        <p:spPr>
          <a:xfrm>
            <a:off x="2377440" y="3502152"/>
            <a:ext cx="1737360" cy="3017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f_tht34"/>
          <p:cNvSpPr txBox="1"/>
          <p:nvPr/>
        </p:nvSpPr>
        <p:spPr>
          <a:xfrm>
            <a:off x="2450592" y="3502152"/>
            <a:ext cx="1627631" cy="301752"/>
          </a:xfrm>
          <a:prstGeom prst="rect">
            <a:avLst/>
          </a:prstGeom>
          <a:noFill/>
        </p:spPr>
        <p:txBody>
          <a:bodyPr wrap="square" lIns="0" tIns="0" rIns="0" bIns="0" anchor="ctr">
            <a:spAutoFit/>
          </a:bodyPr>
          <a:lstStyle/>
          <a:p>
            <a:pPr algn="l"/>
            <a:r>
              <a:rPr sz="1000" b="1">
                <a:solidFill>
                  <a:srgbClr val="FFFFFF"/>
                </a:solidFill>
                <a:latin typeface="Calibri"/>
              </a:rPr>
              <a:t>Origin</a:t>
            </a:r>
          </a:p>
        </p:txBody>
      </p:sp>
      <p:sp>
        <p:nvSpPr>
          <p:cNvPr id="36" name="a3wd130_td35"/>
          <p:cNvSpPr/>
          <p:nvPr/>
        </p:nvSpPr>
        <p:spPr>
          <a:xfrm>
            <a:off x="2377440" y="3803904"/>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wd130_tdt36"/>
          <p:cNvSpPr txBox="1"/>
          <p:nvPr/>
        </p:nvSpPr>
        <p:spPr>
          <a:xfrm>
            <a:off x="2450592" y="3803904"/>
            <a:ext cx="1627631" cy="301752"/>
          </a:xfrm>
          <a:prstGeom prst="rect">
            <a:avLst/>
          </a:prstGeom>
          <a:noFill/>
        </p:spPr>
        <p:txBody>
          <a:bodyPr wrap="square" lIns="0" tIns="0" rIns="0" bIns="0" anchor="ctr">
            <a:spAutoFit/>
          </a:bodyPr>
          <a:lstStyle/>
          <a:p>
            <a:pPr algn="l"/>
            <a:r>
              <a:rPr sz="1000" b="0">
                <a:solidFill>
                  <a:srgbClr val="334155"/>
                </a:solidFill>
                <a:latin typeface="Calibri"/>
              </a:rPr>
              <a:t>2009 · open source</a:t>
            </a:r>
          </a:p>
        </p:txBody>
      </p:sp>
      <p:sp>
        <p:nvSpPr>
          <p:cNvPr id="38" name="a3wd260_td37"/>
          <p:cNvSpPr/>
          <p:nvPr/>
        </p:nvSpPr>
        <p:spPr>
          <a:xfrm>
            <a:off x="2377440" y="4105656"/>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wd260_tdt38"/>
          <p:cNvSpPr txBox="1"/>
          <p:nvPr/>
        </p:nvSpPr>
        <p:spPr>
          <a:xfrm>
            <a:off x="2450592" y="4105656"/>
            <a:ext cx="1627631" cy="301752"/>
          </a:xfrm>
          <a:prstGeom prst="rect">
            <a:avLst/>
          </a:prstGeom>
          <a:noFill/>
        </p:spPr>
        <p:txBody>
          <a:bodyPr wrap="square" lIns="0" tIns="0" rIns="0" bIns="0" anchor="ctr">
            <a:spAutoFit/>
          </a:bodyPr>
          <a:lstStyle/>
          <a:p>
            <a:pPr algn="l"/>
            <a:r>
              <a:rPr sz="1000" b="0">
                <a:solidFill>
                  <a:srgbClr val="334155"/>
                </a:solidFill>
                <a:latin typeface="Calibri"/>
              </a:rPr>
              <a:t>2011 · open source</a:t>
            </a:r>
          </a:p>
        </p:txBody>
      </p:sp>
      <p:sp>
        <p:nvSpPr>
          <p:cNvPr id="40" name="a3wd390_td39"/>
          <p:cNvSpPr/>
          <p:nvPr/>
        </p:nvSpPr>
        <p:spPr>
          <a:xfrm>
            <a:off x="2377440" y="4407408"/>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wd390_tdt40"/>
          <p:cNvSpPr txBox="1"/>
          <p:nvPr/>
        </p:nvSpPr>
        <p:spPr>
          <a:xfrm>
            <a:off x="2450592" y="4407408"/>
            <a:ext cx="1627631" cy="301752"/>
          </a:xfrm>
          <a:prstGeom prst="rect">
            <a:avLst/>
          </a:prstGeom>
          <a:noFill/>
        </p:spPr>
        <p:txBody>
          <a:bodyPr wrap="square" lIns="0" tIns="0" rIns="0" bIns="0" anchor="ctr">
            <a:spAutoFit/>
          </a:bodyPr>
          <a:lstStyle/>
          <a:p>
            <a:pPr algn="l"/>
            <a:r>
              <a:rPr sz="1000" b="0">
                <a:solidFill>
                  <a:srgbClr val="334155"/>
                </a:solidFill>
                <a:latin typeface="Calibri"/>
              </a:rPr>
              <a:t>2019 · AWS managed</a:t>
            </a:r>
          </a:p>
        </p:txBody>
      </p:sp>
      <p:sp>
        <p:nvSpPr>
          <p:cNvPr id="42" name="a3wd520_td41"/>
          <p:cNvSpPr/>
          <p:nvPr/>
        </p:nvSpPr>
        <p:spPr>
          <a:xfrm>
            <a:off x="2377440" y="4709160"/>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wd520_tdt42"/>
          <p:cNvSpPr txBox="1"/>
          <p:nvPr/>
        </p:nvSpPr>
        <p:spPr>
          <a:xfrm>
            <a:off x="2450592" y="4709160"/>
            <a:ext cx="1627631" cy="301752"/>
          </a:xfrm>
          <a:prstGeom prst="rect">
            <a:avLst/>
          </a:prstGeom>
          <a:noFill/>
        </p:spPr>
        <p:txBody>
          <a:bodyPr wrap="square" lIns="0" tIns="0" rIns="0" bIns="0" anchor="ctr">
            <a:spAutoFit/>
          </a:bodyPr>
          <a:lstStyle/>
          <a:p>
            <a:pPr algn="l"/>
            <a:r>
              <a:rPr sz="1000" b="0">
                <a:solidFill>
                  <a:srgbClr val="334155"/>
                </a:solidFill>
                <a:latin typeface="Calibri"/>
              </a:rPr>
              <a:t>cloud native</a:t>
            </a:r>
          </a:p>
        </p:txBody>
      </p:sp>
      <p:sp>
        <p:nvSpPr>
          <p:cNvPr id="44" name="a3f_th43"/>
          <p:cNvSpPr/>
          <p:nvPr/>
        </p:nvSpPr>
        <p:spPr>
          <a:xfrm>
            <a:off x="4114800" y="3502152"/>
            <a:ext cx="4572000" cy="3017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f_tht44"/>
          <p:cNvSpPr txBox="1"/>
          <p:nvPr/>
        </p:nvSpPr>
        <p:spPr>
          <a:xfrm>
            <a:off x="4187952" y="3502152"/>
            <a:ext cx="4462272" cy="301752"/>
          </a:xfrm>
          <a:prstGeom prst="rect">
            <a:avLst/>
          </a:prstGeom>
          <a:noFill/>
        </p:spPr>
        <p:txBody>
          <a:bodyPr wrap="square" lIns="0" tIns="0" rIns="0" bIns="0" anchor="ctr">
            <a:spAutoFit/>
          </a:bodyPr>
          <a:lstStyle/>
          <a:p>
            <a:pPr algn="l"/>
            <a:r>
              <a:rPr sz="1000" b="1">
                <a:solidFill>
                  <a:srgbClr val="FFFFFF"/>
                </a:solidFill>
                <a:latin typeface="Calibri"/>
              </a:rPr>
              <a:t>Notable for</a:t>
            </a:r>
          </a:p>
        </p:txBody>
      </p:sp>
      <p:sp>
        <p:nvSpPr>
          <p:cNvPr id="46" name="a3wd130_td45"/>
          <p:cNvSpPr/>
          <p:nvPr/>
        </p:nvSpPr>
        <p:spPr>
          <a:xfrm>
            <a:off x="4114800" y="3803904"/>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wd130_tdt46"/>
          <p:cNvSpPr txBox="1"/>
          <p:nvPr/>
        </p:nvSpPr>
        <p:spPr>
          <a:xfrm>
            <a:off x="4187952" y="3803904"/>
            <a:ext cx="4462272" cy="301752"/>
          </a:xfrm>
          <a:prstGeom prst="rect">
            <a:avLst/>
          </a:prstGeom>
          <a:noFill/>
        </p:spPr>
        <p:txBody>
          <a:bodyPr wrap="square" lIns="0" tIns="0" rIns="0" bIns="0" anchor="ctr">
            <a:spAutoFit/>
          </a:bodyPr>
          <a:lstStyle/>
          <a:p>
            <a:pPr algn="l"/>
            <a:r>
              <a:rPr sz="1000" b="0">
                <a:solidFill>
                  <a:srgbClr val="334155"/>
                </a:solidFill>
                <a:latin typeface="Calibri"/>
              </a:rPr>
              <a:t>The default document store; ACID transactions since 4.0</a:t>
            </a:r>
          </a:p>
        </p:txBody>
      </p:sp>
      <p:sp>
        <p:nvSpPr>
          <p:cNvPr id="48" name="a3wd260_td47"/>
          <p:cNvSpPr/>
          <p:nvPr/>
        </p:nvSpPr>
        <p:spPr>
          <a:xfrm>
            <a:off x="4114800" y="4105656"/>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3wd260_tdt48"/>
          <p:cNvSpPr txBox="1"/>
          <p:nvPr/>
        </p:nvSpPr>
        <p:spPr>
          <a:xfrm>
            <a:off x="4187952" y="4105656"/>
            <a:ext cx="4462272" cy="301752"/>
          </a:xfrm>
          <a:prstGeom prst="rect">
            <a:avLst/>
          </a:prstGeom>
          <a:noFill/>
        </p:spPr>
        <p:txBody>
          <a:bodyPr wrap="square" lIns="0" tIns="0" rIns="0" bIns="0" anchor="ctr">
            <a:spAutoFit/>
          </a:bodyPr>
          <a:lstStyle/>
          <a:p>
            <a:pPr algn="l"/>
            <a:r>
              <a:rPr sz="1000" b="0">
                <a:solidFill>
                  <a:srgbClr val="334155"/>
                </a:solidFill>
                <a:latin typeface="Calibri"/>
              </a:rPr>
              <a:t>Memory-first, N1QL gives you SQL over JSON</a:t>
            </a:r>
          </a:p>
        </p:txBody>
      </p:sp>
      <p:sp>
        <p:nvSpPr>
          <p:cNvPr id="50" name="a3wd390_td49"/>
          <p:cNvSpPr/>
          <p:nvPr/>
        </p:nvSpPr>
        <p:spPr>
          <a:xfrm>
            <a:off x="4114800" y="4407408"/>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wd390_tdt50"/>
          <p:cNvSpPr txBox="1"/>
          <p:nvPr/>
        </p:nvSpPr>
        <p:spPr>
          <a:xfrm>
            <a:off x="4187952" y="4407408"/>
            <a:ext cx="4462272" cy="301752"/>
          </a:xfrm>
          <a:prstGeom prst="rect">
            <a:avLst/>
          </a:prstGeom>
          <a:noFill/>
        </p:spPr>
        <p:txBody>
          <a:bodyPr wrap="square" lIns="0" tIns="0" rIns="0" bIns="0" anchor="ctr">
            <a:spAutoFit/>
          </a:bodyPr>
          <a:lstStyle/>
          <a:p>
            <a:pPr algn="l"/>
            <a:r>
              <a:rPr sz="1000" b="0">
                <a:solidFill>
                  <a:srgbClr val="334155"/>
                </a:solidFill>
                <a:latin typeface="Calibri"/>
              </a:rPr>
              <a:t>Mongo-compatible API on AWS storage</a:t>
            </a:r>
          </a:p>
        </p:txBody>
      </p:sp>
      <p:sp>
        <p:nvSpPr>
          <p:cNvPr id="52" name="a3wd520_td51"/>
          <p:cNvSpPr/>
          <p:nvPr/>
        </p:nvSpPr>
        <p:spPr>
          <a:xfrm>
            <a:off x="4114800" y="4709160"/>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3wd520_tdt52"/>
          <p:cNvSpPr txBox="1"/>
          <p:nvPr/>
        </p:nvSpPr>
        <p:spPr>
          <a:xfrm>
            <a:off x="4187952" y="4709160"/>
            <a:ext cx="4462272" cy="301752"/>
          </a:xfrm>
          <a:prstGeom prst="rect">
            <a:avLst/>
          </a:prstGeom>
          <a:noFill/>
        </p:spPr>
        <p:txBody>
          <a:bodyPr wrap="square" lIns="0" tIns="0" rIns="0" bIns="0" anchor="ctr">
            <a:spAutoFit/>
          </a:bodyPr>
          <a:lstStyle/>
          <a:p>
            <a:pPr algn="l"/>
            <a:r>
              <a:rPr sz="1000" b="0">
                <a:solidFill>
                  <a:srgbClr val="334155"/>
                </a:solidFill>
                <a:latin typeface="Calibri"/>
              </a:rPr>
              <a:t>Mobile sync and multi-model, fully managed</a:t>
            </a:r>
          </a:p>
        </p:txBody>
      </p:sp>
      <p:sp>
        <p:nvSpPr>
          <p:cNvPr id="54" name="ft53"/>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55" name="ft54"/>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6" presetID="22" presetClass="entr" presetSubtype="8" fill="hold" grpId="0" nodeType="withEffect">
                                  <p:stCondLst>
                                    <p:cond delay="9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9" presetID="22" presetClass="entr" presetSubtype="8" fill="hold" grpId="0" nodeType="withEffect">
                                  <p:stCondLst>
                                    <p:cond delay="18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22" presetID="22" presetClass="entr" presetSubtype="8" fill="hold" grpId="0" nodeType="withEffect">
                                  <p:stCondLst>
                                    <p:cond delay="27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par>
                                <p:cTn id="25" presetID="22" presetClass="entr" presetSubtype="8" fill="hold" grpId="0" nodeType="withEffect">
                                  <p:stCondLst>
                                    <p:cond delay="36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8" presetID="22" presetClass="entr" presetSubtype="8" fill="hold" grpId="0" nodeType="withEffect">
                                  <p:stCondLst>
                                    <p:cond delay="45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par>
                                <p:cTn id="31" presetID="22" presetClass="entr" presetSubtype="8" fill="hold" grpId="0" nodeType="withEffect">
                                  <p:stCondLst>
                                    <p:cond delay="54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par>
                                <p:cTn id="34" presetID="22" presetClass="entr" presetSubtype="8" fill="hold" grpId="0" nodeType="withEffect">
                                  <p:stCondLst>
                                    <p:cond delay="63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41" presetID="2" presetClass="entr" presetSubtype="4"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ppt_y+0.1"/>
                                          </p:val>
                                        </p:tav>
                                        <p:tav tm="100000">
                                          <p:val>
                                            <p:strVal val="#ppt_y"/>
                                          </p:val>
                                        </p:tav>
                                      </p:tavLst>
                                    </p:anim>
                                    <p:animEffect transition="in" filter="fade">
                                      <p:cBhvr>
                                        <p:cTn id="40" dur="500"/>
                                        <p:tgtEl>
                                          <p:spTgt spid="14"/>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ppt_y+0.1"/>
                                          </p:val>
                                        </p:tav>
                                        <p:tav tm="100000">
                                          <p:val>
                                            <p:strVal val="#ppt_y"/>
                                          </p:val>
                                        </p:tav>
                                      </p:tavLst>
                                    </p:anim>
                                    <p:animEffect transition="in" filter="fade">
                                      <p:cBhvr>
                                        <p:cTn id="45" dur="500"/>
                                        <p:tgtEl>
                                          <p:spTgt spid="15"/>
                                        </p:tgtEl>
                                      </p:cBhvr>
                                    </p:animEffect>
                                  </p:childTnLst>
                                </p:cTn>
                              </p:par>
                              <p:par>
                                <p:cTn id="51" presetID="2" presetClass="entr" presetSubtype="4" fill="hold" grpId="0" nodeType="withEffect">
                                  <p:stCondLst>
                                    <p:cond delay="6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00" fill="hold"/>
                                        <p:tgtEl>
                                          <p:spTgt spid="16"/>
                                        </p:tgtEl>
                                        <p:attrNameLst>
                                          <p:attrName>ppt_x</p:attrName>
                                        </p:attrNameLst>
                                      </p:cBhvr>
                                      <p:tavLst>
                                        <p:tav tm="0">
                                          <p:val>
                                            <p:strVal val="#ppt_x"/>
                                          </p:val>
                                        </p:tav>
                                        <p:tav tm="100000">
                                          <p:val>
                                            <p:strVal val="#ppt_x"/>
                                          </p:val>
                                        </p:tav>
                                      </p:tavLst>
                                    </p:anim>
                                    <p:anim calcmode="lin" valueType="num">
                                      <p:cBhvr additive="base">
                                        <p:cTn id="49" dur="500" fill="hold"/>
                                        <p:tgtEl>
                                          <p:spTgt spid="16"/>
                                        </p:tgtEl>
                                        <p:attrNameLst>
                                          <p:attrName>ppt_y</p:attrName>
                                        </p:attrNameLst>
                                      </p:cBhvr>
                                      <p:tavLst>
                                        <p:tav tm="0">
                                          <p:val>
                                            <p:strVal val="#ppt_y+0.1"/>
                                          </p:val>
                                        </p:tav>
                                        <p:tav tm="100000">
                                          <p:val>
                                            <p:strVal val="#ppt_y"/>
                                          </p:val>
                                        </p:tav>
                                      </p:tavLst>
                                    </p:anim>
                                    <p:animEffect transition="in" filter="fade">
                                      <p:cBhvr>
                                        <p:cTn id="50" dur="500"/>
                                        <p:tgtEl>
                                          <p:spTgt spid="16"/>
                                        </p:tgtEl>
                                      </p:cBhvr>
                                    </p:animEffect>
                                  </p:childTnLst>
                                </p:cTn>
                              </p:par>
                              <p:par>
                                <p:cTn id="56" presetID="2" presetClass="entr" presetSubtype="4" fill="hold" grpId="0" nodeType="withEffect">
                                  <p:stCondLst>
                                    <p:cond delay="6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ppt_x"/>
                                          </p:val>
                                        </p:tav>
                                        <p:tav tm="100000">
                                          <p:val>
                                            <p:strVal val="#ppt_x"/>
                                          </p:val>
                                        </p:tav>
                                      </p:tavLst>
                                    </p:anim>
                                    <p:anim calcmode="lin" valueType="num">
                                      <p:cBhvr additive="base">
                                        <p:cTn id="54" dur="500" fill="hold"/>
                                        <p:tgtEl>
                                          <p:spTgt spid="17"/>
                                        </p:tgtEl>
                                        <p:attrNameLst>
                                          <p:attrName>ppt_y</p:attrName>
                                        </p:attrNameLst>
                                      </p:cBhvr>
                                      <p:tavLst>
                                        <p:tav tm="0">
                                          <p:val>
                                            <p:strVal val="#ppt_y+0.1"/>
                                          </p:val>
                                        </p:tav>
                                        <p:tav tm="100000">
                                          <p:val>
                                            <p:strVal val="#ppt_y"/>
                                          </p:val>
                                        </p:tav>
                                      </p:tavLst>
                                    </p:anim>
                                    <p:animEffect transition="in" filter="fade">
                                      <p:cBhvr>
                                        <p:cTn id="55" dur="500"/>
                                        <p:tgtEl>
                                          <p:spTgt spid="17"/>
                                        </p:tgtEl>
                                      </p:cBhvr>
                                    </p:animEffect>
                                  </p:childTnLst>
                                </p:cTn>
                              </p:par>
                              <p:par>
                                <p:cTn id="61" presetID="2" presetClass="entr" presetSubtype="4" fill="hold" grpId="0" nodeType="withEffect">
                                  <p:stCondLst>
                                    <p:cond delay="17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ppt_y+0.1"/>
                                          </p:val>
                                        </p:tav>
                                        <p:tav tm="100000">
                                          <p:val>
                                            <p:strVal val="#ppt_y"/>
                                          </p:val>
                                        </p:tav>
                                      </p:tavLst>
                                    </p:anim>
                                    <p:animEffect transition="in" filter="fade">
                                      <p:cBhvr>
                                        <p:cTn id="60" dur="500"/>
                                        <p:tgtEl>
                                          <p:spTgt spid="18"/>
                                        </p:tgtEl>
                                      </p:cBhvr>
                                    </p:animEffect>
                                  </p:childTnLst>
                                </p:cTn>
                              </p:par>
                              <p:par>
                                <p:cTn id="66" presetID="2" presetClass="entr" presetSubtype="4" fill="hold" grpId="0" nodeType="withEffect">
                                  <p:stCondLst>
                                    <p:cond delay="17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ppt_y+0.1"/>
                                          </p:val>
                                        </p:tav>
                                        <p:tav tm="100000">
                                          <p:val>
                                            <p:strVal val="#ppt_y"/>
                                          </p:val>
                                        </p:tav>
                                      </p:tavLst>
                                    </p:anim>
                                    <p:animEffect transition="in" filter="fade">
                                      <p:cBhvr>
                                        <p:cTn id="65" dur="500"/>
                                        <p:tgtEl>
                                          <p:spTgt spid="19"/>
                                        </p:tgtEl>
                                      </p:cBhvr>
                                    </p:animEffect>
                                  </p:childTnLst>
                                </p:cTn>
                              </p:par>
                              <p:par>
                                <p:cTn id="71" presetID="2" presetClass="entr" presetSubtype="4" fill="hold" grpId="0" nodeType="withEffect">
                                  <p:stCondLst>
                                    <p:cond delay="28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00" fill="hold"/>
                                        <p:tgtEl>
                                          <p:spTgt spid="20"/>
                                        </p:tgtEl>
                                        <p:attrNameLst>
                                          <p:attrName>ppt_x</p:attrName>
                                        </p:attrNameLst>
                                      </p:cBhvr>
                                      <p:tavLst>
                                        <p:tav tm="0">
                                          <p:val>
                                            <p:strVal val="#ppt_x"/>
                                          </p:val>
                                        </p:tav>
                                        <p:tav tm="100000">
                                          <p:val>
                                            <p:strVal val="#ppt_x"/>
                                          </p:val>
                                        </p:tav>
                                      </p:tavLst>
                                    </p:anim>
                                    <p:anim calcmode="lin" valueType="num">
                                      <p:cBhvr additive="base">
                                        <p:cTn id="69" dur="500" fill="hold"/>
                                        <p:tgtEl>
                                          <p:spTgt spid="20"/>
                                        </p:tgtEl>
                                        <p:attrNameLst>
                                          <p:attrName>ppt_y</p:attrName>
                                        </p:attrNameLst>
                                      </p:cBhvr>
                                      <p:tavLst>
                                        <p:tav tm="0">
                                          <p:val>
                                            <p:strVal val="#ppt_y+0.1"/>
                                          </p:val>
                                        </p:tav>
                                        <p:tav tm="100000">
                                          <p:val>
                                            <p:strVal val="#ppt_y"/>
                                          </p:val>
                                        </p:tav>
                                      </p:tavLst>
                                    </p:anim>
                                    <p:animEffect transition="in" filter="fade">
                                      <p:cBhvr>
                                        <p:cTn id="70" dur="500"/>
                                        <p:tgtEl>
                                          <p:spTgt spid="20"/>
                                        </p:tgtEl>
                                      </p:cBhvr>
                                    </p:animEffect>
                                  </p:childTnLst>
                                </p:cTn>
                              </p:par>
                              <p:par>
                                <p:cTn id="76" presetID="2" presetClass="entr" presetSubtype="4" fill="hold" grpId="0" nodeType="withEffect">
                                  <p:stCondLst>
                                    <p:cond delay="28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ppt_y+0.1"/>
                                          </p:val>
                                        </p:tav>
                                        <p:tav tm="100000">
                                          <p:val>
                                            <p:strVal val="#ppt_y"/>
                                          </p:val>
                                        </p:tav>
                                      </p:tavLst>
                                    </p:anim>
                                    <p:animEffect transition="in" filter="fade">
                                      <p:cBhvr>
                                        <p:cTn id="75" dur="500"/>
                                        <p:tgtEl>
                                          <p:spTgt spid="21"/>
                                        </p:tgtEl>
                                      </p:cBhvr>
                                    </p:animEffect>
                                  </p:childTnLst>
                                </p:cTn>
                              </p:par>
                              <p:par>
                                <p:cTn id="81" presetID="2" presetClass="entr" presetSubtype="4" fill="hold" grpId="0" nodeType="withEffect">
                                  <p:stCondLst>
                                    <p:cond delay="39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p:tgtEl>
                                          <p:spTgt spid="22"/>
                                        </p:tgtEl>
                                        <p:attrNameLst>
                                          <p:attrName>ppt_x</p:attrName>
                                        </p:attrNameLst>
                                      </p:cBhvr>
                                      <p:tavLst>
                                        <p:tav tm="0">
                                          <p:val>
                                            <p:strVal val="#ppt_x"/>
                                          </p:val>
                                        </p:tav>
                                        <p:tav tm="100000">
                                          <p:val>
                                            <p:strVal val="#ppt_x"/>
                                          </p:val>
                                        </p:tav>
                                      </p:tavLst>
                                    </p:anim>
                                    <p:anim calcmode="lin" valueType="num">
                                      <p:cBhvr additive="base">
                                        <p:cTn id="79" dur="500" fill="hold"/>
                                        <p:tgtEl>
                                          <p:spTgt spid="22"/>
                                        </p:tgtEl>
                                        <p:attrNameLst>
                                          <p:attrName>ppt_y</p:attrName>
                                        </p:attrNameLst>
                                      </p:cBhvr>
                                      <p:tavLst>
                                        <p:tav tm="0">
                                          <p:val>
                                            <p:strVal val="#ppt_y+0.1"/>
                                          </p:val>
                                        </p:tav>
                                        <p:tav tm="100000">
                                          <p:val>
                                            <p:strVal val="#ppt_y"/>
                                          </p:val>
                                        </p:tav>
                                      </p:tavLst>
                                    </p:anim>
                                    <p:animEffect transition="in" filter="fade">
                                      <p:cBhvr>
                                        <p:cTn id="80" dur="500"/>
                                        <p:tgtEl>
                                          <p:spTgt spid="22"/>
                                        </p:tgtEl>
                                      </p:cBhvr>
                                    </p:animEffect>
                                  </p:childTnLst>
                                </p:cTn>
                              </p:par>
                              <p:par>
                                <p:cTn id="86" presetID="2" presetClass="entr" presetSubtype="4" fill="hold" grpId="0" nodeType="withEffect">
                                  <p:stCondLst>
                                    <p:cond delay="39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500" fill="hold"/>
                                        <p:tgtEl>
                                          <p:spTgt spid="23"/>
                                        </p:tgtEl>
                                        <p:attrNameLst>
                                          <p:attrName>ppt_x</p:attrName>
                                        </p:attrNameLst>
                                      </p:cBhvr>
                                      <p:tavLst>
                                        <p:tav tm="0">
                                          <p:val>
                                            <p:strVal val="#ppt_x"/>
                                          </p:val>
                                        </p:tav>
                                        <p:tav tm="100000">
                                          <p:val>
                                            <p:strVal val="#ppt_x"/>
                                          </p:val>
                                        </p:tav>
                                      </p:tavLst>
                                    </p:anim>
                                    <p:anim calcmode="lin" valueType="num">
                                      <p:cBhvr additive="base">
                                        <p:cTn id="84" dur="500" fill="hold"/>
                                        <p:tgtEl>
                                          <p:spTgt spid="23"/>
                                        </p:tgtEl>
                                        <p:attrNameLst>
                                          <p:attrName>ppt_y</p:attrName>
                                        </p:attrNameLst>
                                      </p:cBhvr>
                                      <p:tavLst>
                                        <p:tav tm="0">
                                          <p:val>
                                            <p:strVal val="#ppt_y+0.1"/>
                                          </p:val>
                                        </p:tav>
                                        <p:tav tm="100000">
                                          <p:val>
                                            <p:strVal val="#ppt_y"/>
                                          </p:val>
                                        </p:tav>
                                      </p:tavLst>
                                    </p:anim>
                                    <p:animEffect transition="in" filter="fade">
                                      <p:cBhvr>
                                        <p:cTn id="85" dur="500"/>
                                        <p:tgtEl>
                                          <p:spTgt spid="23"/>
                                        </p:tgtEl>
                                      </p:cBhvr>
                                    </p:animEffect>
                                  </p:childTnLst>
                                </p:cTn>
                              </p:par>
                            </p:childTnLst>
                          </p:cTn>
                        </p:par>
                      </p:childTnLst>
                    </p:cTn>
                  </p:par>
                  <p:par>
                    <p:cTn id="87" fill="hold">
                      <p:stCondLst>
                        <p:cond delay="indefinite"/>
                      </p:stCondLst>
                      <p:childTnLst>
                        <p:par>
                          <p:cTn id="88" fill="hold">
                            <p:stCondLst>
                              <p:cond delay="0"/>
                            </p:stCondLst>
                            <p:childTnLst>
                              <p:par>
                                <p:cTn id="91" presetID="10" presetClass="entr" presetSubtype="0" fill="hold" grpId="0" nodeType="click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00"/>
                                        <p:tgtEl>
                                          <p:spTgt spid="24"/>
                                        </p:tgtEl>
                                      </p:cBhvr>
                                    </p:animEffect>
                                  </p:childTnLst>
                                </p:cTn>
                              </p:par>
                              <p:par>
                                <p:cTn id="94" presetID="10"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fade">
                                      <p:cBhvr>
                                        <p:cTn id="93" dur="500"/>
                                        <p:tgtEl>
                                          <p:spTgt spid="25"/>
                                        </p:tgtEl>
                                      </p:cBhvr>
                                    </p:animEffect>
                                  </p:childTnLst>
                                </p:cTn>
                              </p:par>
                              <p:par>
                                <p:cTn id="97"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500"/>
                                        <p:tgtEl>
                                          <p:spTgt spid="44"/>
                                        </p:tgtEl>
                                      </p:cBhvr>
                                    </p:animEffect>
                                  </p:childTnLst>
                                </p:cTn>
                              </p:par>
                              <p:par>
                                <p:cTn id="106" presetID="10" presetClass="entr" presetSubtype="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500"/>
                                        <p:tgtEl>
                                          <p:spTgt spid="45"/>
                                        </p:tgtEl>
                                      </p:cBhvr>
                                    </p:animEffect>
                                  </p:childTnLst>
                                </p:cTn>
                              </p:par>
                              <p:par>
                                <p:cTn id="109" presetID="22" presetClass="entr" presetSubtype="8" fill="hold" grpId="0" nodeType="withEffect">
                                  <p:stCondLst>
                                    <p:cond delay="130"/>
                                  </p:stCondLst>
                                  <p:childTnLst>
                                    <p:set>
                                      <p:cBhvr>
                                        <p:cTn id="107" dur="1" fill="hold">
                                          <p:stCondLst>
                                            <p:cond delay="0"/>
                                          </p:stCondLst>
                                        </p:cTn>
                                        <p:tgtEl>
                                          <p:spTgt spid="26"/>
                                        </p:tgtEl>
                                        <p:attrNameLst>
                                          <p:attrName>style.visibility</p:attrName>
                                        </p:attrNameLst>
                                      </p:cBhvr>
                                      <p:to>
                                        <p:strVal val="visible"/>
                                      </p:to>
                                    </p:set>
                                    <p:animEffect transition="in" filter="wipe(left)">
                                      <p:cBhvr>
                                        <p:cTn id="108" dur="500"/>
                                        <p:tgtEl>
                                          <p:spTgt spid="26"/>
                                        </p:tgtEl>
                                      </p:cBhvr>
                                    </p:animEffect>
                                  </p:childTnLst>
                                </p:cTn>
                              </p:par>
                              <p:par>
                                <p:cTn id="112" presetID="22" presetClass="entr" presetSubtype="8" fill="hold" grpId="0" nodeType="withEffect">
                                  <p:stCondLst>
                                    <p:cond delay="130"/>
                                  </p:stCondLst>
                                  <p:childTnLst>
                                    <p:set>
                                      <p:cBhvr>
                                        <p:cTn id="110" dur="1" fill="hold">
                                          <p:stCondLst>
                                            <p:cond delay="0"/>
                                          </p:stCondLst>
                                        </p:cTn>
                                        <p:tgtEl>
                                          <p:spTgt spid="27"/>
                                        </p:tgtEl>
                                        <p:attrNameLst>
                                          <p:attrName>style.visibility</p:attrName>
                                        </p:attrNameLst>
                                      </p:cBhvr>
                                      <p:to>
                                        <p:strVal val="visible"/>
                                      </p:to>
                                    </p:set>
                                    <p:animEffect transition="in" filter="wipe(left)">
                                      <p:cBhvr>
                                        <p:cTn id="111" dur="500"/>
                                        <p:tgtEl>
                                          <p:spTgt spid="27"/>
                                        </p:tgtEl>
                                      </p:cBhvr>
                                    </p:animEffect>
                                  </p:childTnLst>
                                </p:cTn>
                              </p:par>
                              <p:par>
                                <p:cTn id="115" presetID="22" presetClass="entr" presetSubtype="8" fill="hold" grpId="0" nodeType="withEffect">
                                  <p:stCondLst>
                                    <p:cond delay="130"/>
                                  </p:stCondLst>
                                  <p:childTnLst>
                                    <p:set>
                                      <p:cBhvr>
                                        <p:cTn id="113" dur="1" fill="hold">
                                          <p:stCondLst>
                                            <p:cond delay="0"/>
                                          </p:stCondLst>
                                        </p:cTn>
                                        <p:tgtEl>
                                          <p:spTgt spid="36"/>
                                        </p:tgtEl>
                                        <p:attrNameLst>
                                          <p:attrName>style.visibility</p:attrName>
                                        </p:attrNameLst>
                                      </p:cBhvr>
                                      <p:to>
                                        <p:strVal val="visible"/>
                                      </p:to>
                                    </p:set>
                                    <p:animEffect transition="in" filter="wipe(left)">
                                      <p:cBhvr>
                                        <p:cTn id="114" dur="500"/>
                                        <p:tgtEl>
                                          <p:spTgt spid="36"/>
                                        </p:tgtEl>
                                      </p:cBhvr>
                                    </p:animEffect>
                                  </p:childTnLst>
                                </p:cTn>
                              </p:par>
                              <p:par>
                                <p:cTn id="118" presetID="22" presetClass="entr" presetSubtype="8" fill="hold" grpId="0" nodeType="withEffect">
                                  <p:stCondLst>
                                    <p:cond delay="130"/>
                                  </p:stCondLst>
                                  <p:childTnLst>
                                    <p:set>
                                      <p:cBhvr>
                                        <p:cTn id="116" dur="1" fill="hold">
                                          <p:stCondLst>
                                            <p:cond delay="0"/>
                                          </p:stCondLst>
                                        </p:cTn>
                                        <p:tgtEl>
                                          <p:spTgt spid="37"/>
                                        </p:tgtEl>
                                        <p:attrNameLst>
                                          <p:attrName>style.visibility</p:attrName>
                                        </p:attrNameLst>
                                      </p:cBhvr>
                                      <p:to>
                                        <p:strVal val="visible"/>
                                      </p:to>
                                    </p:set>
                                    <p:animEffect transition="in" filter="wipe(left)">
                                      <p:cBhvr>
                                        <p:cTn id="117" dur="500"/>
                                        <p:tgtEl>
                                          <p:spTgt spid="37"/>
                                        </p:tgtEl>
                                      </p:cBhvr>
                                    </p:animEffect>
                                  </p:childTnLst>
                                </p:cTn>
                              </p:par>
                              <p:par>
                                <p:cTn id="121" presetID="22" presetClass="entr" presetSubtype="8" fill="hold" grpId="0" nodeType="withEffect">
                                  <p:stCondLst>
                                    <p:cond delay="130"/>
                                  </p:stCondLst>
                                  <p:childTnLst>
                                    <p:set>
                                      <p:cBhvr>
                                        <p:cTn id="119" dur="1" fill="hold">
                                          <p:stCondLst>
                                            <p:cond delay="0"/>
                                          </p:stCondLst>
                                        </p:cTn>
                                        <p:tgtEl>
                                          <p:spTgt spid="46"/>
                                        </p:tgtEl>
                                        <p:attrNameLst>
                                          <p:attrName>style.visibility</p:attrName>
                                        </p:attrNameLst>
                                      </p:cBhvr>
                                      <p:to>
                                        <p:strVal val="visible"/>
                                      </p:to>
                                    </p:set>
                                    <p:animEffect transition="in" filter="wipe(left)">
                                      <p:cBhvr>
                                        <p:cTn id="120" dur="500"/>
                                        <p:tgtEl>
                                          <p:spTgt spid="46"/>
                                        </p:tgtEl>
                                      </p:cBhvr>
                                    </p:animEffect>
                                  </p:childTnLst>
                                </p:cTn>
                              </p:par>
                              <p:par>
                                <p:cTn id="124" presetID="22" presetClass="entr" presetSubtype="8" fill="hold" grpId="0" nodeType="withEffect">
                                  <p:stCondLst>
                                    <p:cond delay="130"/>
                                  </p:stCondLst>
                                  <p:childTnLst>
                                    <p:set>
                                      <p:cBhvr>
                                        <p:cTn id="122" dur="1" fill="hold">
                                          <p:stCondLst>
                                            <p:cond delay="0"/>
                                          </p:stCondLst>
                                        </p:cTn>
                                        <p:tgtEl>
                                          <p:spTgt spid="47"/>
                                        </p:tgtEl>
                                        <p:attrNameLst>
                                          <p:attrName>style.visibility</p:attrName>
                                        </p:attrNameLst>
                                      </p:cBhvr>
                                      <p:to>
                                        <p:strVal val="visible"/>
                                      </p:to>
                                    </p:set>
                                    <p:animEffect transition="in" filter="wipe(left)">
                                      <p:cBhvr>
                                        <p:cTn id="123" dur="500"/>
                                        <p:tgtEl>
                                          <p:spTgt spid="47"/>
                                        </p:tgtEl>
                                      </p:cBhvr>
                                    </p:animEffect>
                                  </p:childTnLst>
                                </p:cTn>
                              </p:par>
                              <p:par>
                                <p:cTn id="127" presetID="22" presetClass="entr" presetSubtype="8" fill="hold" grpId="0" nodeType="withEffect">
                                  <p:stCondLst>
                                    <p:cond delay="260"/>
                                  </p:stCondLst>
                                  <p:childTnLst>
                                    <p:set>
                                      <p:cBhvr>
                                        <p:cTn id="125" dur="1" fill="hold">
                                          <p:stCondLst>
                                            <p:cond delay="0"/>
                                          </p:stCondLst>
                                        </p:cTn>
                                        <p:tgtEl>
                                          <p:spTgt spid="28"/>
                                        </p:tgtEl>
                                        <p:attrNameLst>
                                          <p:attrName>style.visibility</p:attrName>
                                        </p:attrNameLst>
                                      </p:cBhvr>
                                      <p:to>
                                        <p:strVal val="visible"/>
                                      </p:to>
                                    </p:set>
                                    <p:animEffect transition="in" filter="wipe(left)">
                                      <p:cBhvr>
                                        <p:cTn id="126" dur="500"/>
                                        <p:tgtEl>
                                          <p:spTgt spid="28"/>
                                        </p:tgtEl>
                                      </p:cBhvr>
                                    </p:animEffect>
                                  </p:childTnLst>
                                </p:cTn>
                              </p:par>
                              <p:par>
                                <p:cTn id="130" presetID="22" presetClass="entr" presetSubtype="8" fill="hold" grpId="0" nodeType="withEffect">
                                  <p:stCondLst>
                                    <p:cond delay="260"/>
                                  </p:stCondLst>
                                  <p:childTnLst>
                                    <p:set>
                                      <p:cBhvr>
                                        <p:cTn id="128" dur="1" fill="hold">
                                          <p:stCondLst>
                                            <p:cond delay="0"/>
                                          </p:stCondLst>
                                        </p:cTn>
                                        <p:tgtEl>
                                          <p:spTgt spid="29"/>
                                        </p:tgtEl>
                                        <p:attrNameLst>
                                          <p:attrName>style.visibility</p:attrName>
                                        </p:attrNameLst>
                                      </p:cBhvr>
                                      <p:to>
                                        <p:strVal val="visible"/>
                                      </p:to>
                                    </p:set>
                                    <p:animEffect transition="in" filter="wipe(left)">
                                      <p:cBhvr>
                                        <p:cTn id="129" dur="500"/>
                                        <p:tgtEl>
                                          <p:spTgt spid="29"/>
                                        </p:tgtEl>
                                      </p:cBhvr>
                                    </p:animEffect>
                                  </p:childTnLst>
                                </p:cTn>
                              </p:par>
                              <p:par>
                                <p:cTn id="133" presetID="22" presetClass="entr" presetSubtype="8" fill="hold" grpId="0" nodeType="withEffect">
                                  <p:stCondLst>
                                    <p:cond delay="260"/>
                                  </p:stCondLst>
                                  <p:childTnLst>
                                    <p:set>
                                      <p:cBhvr>
                                        <p:cTn id="131" dur="1" fill="hold">
                                          <p:stCondLst>
                                            <p:cond delay="0"/>
                                          </p:stCondLst>
                                        </p:cTn>
                                        <p:tgtEl>
                                          <p:spTgt spid="38"/>
                                        </p:tgtEl>
                                        <p:attrNameLst>
                                          <p:attrName>style.visibility</p:attrName>
                                        </p:attrNameLst>
                                      </p:cBhvr>
                                      <p:to>
                                        <p:strVal val="visible"/>
                                      </p:to>
                                    </p:set>
                                    <p:animEffect transition="in" filter="wipe(left)">
                                      <p:cBhvr>
                                        <p:cTn id="132" dur="500"/>
                                        <p:tgtEl>
                                          <p:spTgt spid="38"/>
                                        </p:tgtEl>
                                      </p:cBhvr>
                                    </p:animEffect>
                                  </p:childTnLst>
                                </p:cTn>
                              </p:par>
                              <p:par>
                                <p:cTn id="136" presetID="22" presetClass="entr" presetSubtype="8" fill="hold" grpId="0" nodeType="withEffect">
                                  <p:stCondLst>
                                    <p:cond delay="260"/>
                                  </p:stCondLst>
                                  <p:childTnLst>
                                    <p:set>
                                      <p:cBhvr>
                                        <p:cTn id="134" dur="1" fill="hold">
                                          <p:stCondLst>
                                            <p:cond delay="0"/>
                                          </p:stCondLst>
                                        </p:cTn>
                                        <p:tgtEl>
                                          <p:spTgt spid="39"/>
                                        </p:tgtEl>
                                        <p:attrNameLst>
                                          <p:attrName>style.visibility</p:attrName>
                                        </p:attrNameLst>
                                      </p:cBhvr>
                                      <p:to>
                                        <p:strVal val="visible"/>
                                      </p:to>
                                    </p:set>
                                    <p:animEffect transition="in" filter="wipe(left)">
                                      <p:cBhvr>
                                        <p:cTn id="135" dur="500"/>
                                        <p:tgtEl>
                                          <p:spTgt spid="39"/>
                                        </p:tgtEl>
                                      </p:cBhvr>
                                    </p:animEffect>
                                  </p:childTnLst>
                                </p:cTn>
                              </p:par>
                              <p:par>
                                <p:cTn id="139" presetID="22" presetClass="entr" presetSubtype="8" fill="hold" grpId="0" nodeType="withEffect">
                                  <p:stCondLst>
                                    <p:cond delay="260"/>
                                  </p:stCondLst>
                                  <p:childTnLst>
                                    <p:set>
                                      <p:cBhvr>
                                        <p:cTn id="137" dur="1" fill="hold">
                                          <p:stCondLst>
                                            <p:cond delay="0"/>
                                          </p:stCondLst>
                                        </p:cTn>
                                        <p:tgtEl>
                                          <p:spTgt spid="48"/>
                                        </p:tgtEl>
                                        <p:attrNameLst>
                                          <p:attrName>style.visibility</p:attrName>
                                        </p:attrNameLst>
                                      </p:cBhvr>
                                      <p:to>
                                        <p:strVal val="visible"/>
                                      </p:to>
                                    </p:set>
                                    <p:animEffect transition="in" filter="wipe(left)">
                                      <p:cBhvr>
                                        <p:cTn id="138" dur="500"/>
                                        <p:tgtEl>
                                          <p:spTgt spid="48"/>
                                        </p:tgtEl>
                                      </p:cBhvr>
                                    </p:animEffect>
                                  </p:childTnLst>
                                </p:cTn>
                              </p:par>
                              <p:par>
                                <p:cTn id="142" presetID="22" presetClass="entr" presetSubtype="8" fill="hold" grpId="0" nodeType="withEffect">
                                  <p:stCondLst>
                                    <p:cond delay="260"/>
                                  </p:stCondLst>
                                  <p:childTnLst>
                                    <p:set>
                                      <p:cBhvr>
                                        <p:cTn id="140" dur="1" fill="hold">
                                          <p:stCondLst>
                                            <p:cond delay="0"/>
                                          </p:stCondLst>
                                        </p:cTn>
                                        <p:tgtEl>
                                          <p:spTgt spid="49"/>
                                        </p:tgtEl>
                                        <p:attrNameLst>
                                          <p:attrName>style.visibility</p:attrName>
                                        </p:attrNameLst>
                                      </p:cBhvr>
                                      <p:to>
                                        <p:strVal val="visible"/>
                                      </p:to>
                                    </p:set>
                                    <p:animEffect transition="in" filter="wipe(left)">
                                      <p:cBhvr>
                                        <p:cTn id="141" dur="500"/>
                                        <p:tgtEl>
                                          <p:spTgt spid="49"/>
                                        </p:tgtEl>
                                      </p:cBhvr>
                                    </p:animEffect>
                                  </p:childTnLst>
                                </p:cTn>
                              </p:par>
                              <p:par>
                                <p:cTn id="145" presetID="22" presetClass="entr" presetSubtype="8" fill="hold" grpId="0" nodeType="withEffect">
                                  <p:stCondLst>
                                    <p:cond delay="390"/>
                                  </p:stCondLst>
                                  <p:childTnLst>
                                    <p:set>
                                      <p:cBhvr>
                                        <p:cTn id="143" dur="1" fill="hold">
                                          <p:stCondLst>
                                            <p:cond delay="0"/>
                                          </p:stCondLst>
                                        </p:cTn>
                                        <p:tgtEl>
                                          <p:spTgt spid="30"/>
                                        </p:tgtEl>
                                        <p:attrNameLst>
                                          <p:attrName>style.visibility</p:attrName>
                                        </p:attrNameLst>
                                      </p:cBhvr>
                                      <p:to>
                                        <p:strVal val="visible"/>
                                      </p:to>
                                    </p:set>
                                    <p:animEffect transition="in" filter="wipe(left)">
                                      <p:cBhvr>
                                        <p:cTn id="144" dur="500"/>
                                        <p:tgtEl>
                                          <p:spTgt spid="30"/>
                                        </p:tgtEl>
                                      </p:cBhvr>
                                    </p:animEffect>
                                  </p:childTnLst>
                                </p:cTn>
                              </p:par>
                              <p:par>
                                <p:cTn id="148" presetID="22" presetClass="entr" presetSubtype="8" fill="hold" grpId="0" nodeType="withEffect">
                                  <p:stCondLst>
                                    <p:cond delay="390"/>
                                  </p:stCondLst>
                                  <p:childTnLst>
                                    <p:set>
                                      <p:cBhvr>
                                        <p:cTn id="146" dur="1" fill="hold">
                                          <p:stCondLst>
                                            <p:cond delay="0"/>
                                          </p:stCondLst>
                                        </p:cTn>
                                        <p:tgtEl>
                                          <p:spTgt spid="31"/>
                                        </p:tgtEl>
                                        <p:attrNameLst>
                                          <p:attrName>style.visibility</p:attrName>
                                        </p:attrNameLst>
                                      </p:cBhvr>
                                      <p:to>
                                        <p:strVal val="visible"/>
                                      </p:to>
                                    </p:set>
                                    <p:animEffect transition="in" filter="wipe(left)">
                                      <p:cBhvr>
                                        <p:cTn id="147" dur="500"/>
                                        <p:tgtEl>
                                          <p:spTgt spid="31"/>
                                        </p:tgtEl>
                                      </p:cBhvr>
                                    </p:animEffect>
                                  </p:childTnLst>
                                </p:cTn>
                              </p:par>
                              <p:par>
                                <p:cTn id="151" presetID="22" presetClass="entr" presetSubtype="8" fill="hold" grpId="0" nodeType="withEffect">
                                  <p:stCondLst>
                                    <p:cond delay="390"/>
                                  </p:stCondLst>
                                  <p:childTnLst>
                                    <p:set>
                                      <p:cBhvr>
                                        <p:cTn id="149" dur="1" fill="hold">
                                          <p:stCondLst>
                                            <p:cond delay="0"/>
                                          </p:stCondLst>
                                        </p:cTn>
                                        <p:tgtEl>
                                          <p:spTgt spid="40"/>
                                        </p:tgtEl>
                                        <p:attrNameLst>
                                          <p:attrName>style.visibility</p:attrName>
                                        </p:attrNameLst>
                                      </p:cBhvr>
                                      <p:to>
                                        <p:strVal val="visible"/>
                                      </p:to>
                                    </p:set>
                                    <p:animEffect transition="in" filter="wipe(left)">
                                      <p:cBhvr>
                                        <p:cTn id="150" dur="500"/>
                                        <p:tgtEl>
                                          <p:spTgt spid="40"/>
                                        </p:tgtEl>
                                      </p:cBhvr>
                                    </p:animEffect>
                                  </p:childTnLst>
                                </p:cTn>
                              </p:par>
                              <p:par>
                                <p:cTn id="154" presetID="22" presetClass="entr" presetSubtype="8" fill="hold" grpId="0" nodeType="withEffect">
                                  <p:stCondLst>
                                    <p:cond delay="390"/>
                                  </p:stCondLst>
                                  <p:childTnLst>
                                    <p:set>
                                      <p:cBhvr>
                                        <p:cTn id="152" dur="1" fill="hold">
                                          <p:stCondLst>
                                            <p:cond delay="0"/>
                                          </p:stCondLst>
                                        </p:cTn>
                                        <p:tgtEl>
                                          <p:spTgt spid="41"/>
                                        </p:tgtEl>
                                        <p:attrNameLst>
                                          <p:attrName>style.visibility</p:attrName>
                                        </p:attrNameLst>
                                      </p:cBhvr>
                                      <p:to>
                                        <p:strVal val="visible"/>
                                      </p:to>
                                    </p:set>
                                    <p:animEffect transition="in" filter="wipe(left)">
                                      <p:cBhvr>
                                        <p:cTn id="153" dur="500"/>
                                        <p:tgtEl>
                                          <p:spTgt spid="41"/>
                                        </p:tgtEl>
                                      </p:cBhvr>
                                    </p:animEffect>
                                  </p:childTnLst>
                                </p:cTn>
                              </p:par>
                              <p:par>
                                <p:cTn id="157" presetID="22" presetClass="entr" presetSubtype="8" fill="hold" grpId="0" nodeType="withEffect">
                                  <p:stCondLst>
                                    <p:cond delay="390"/>
                                  </p:stCondLst>
                                  <p:childTnLst>
                                    <p:set>
                                      <p:cBhvr>
                                        <p:cTn id="155" dur="1" fill="hold">
                                          <p:stCondLst>
                                            <p:cond delay="0"/>
                                          </p:stCondLst>
                                        </p:cTn>
                                        <p:tgtEl>
                                          <p:spTgt spid="50"/>
                                        </p:tgtEl>
                                        <p:attrNameLst>
                                          <p:attrName>style.visibility</p:attrName>
                                        </p:attrNameLst>
                                      </p:cBhvr>
                                      <p:to>
                                        <p:strVal val="visible"/>
                                      </p:to>
                                    </p:set>
                                    <p:animEffect transition="in" filter="wipe(left)">
                                      <p:cBhvr>
                                        <p:cTn id="156" dur="500"/>
                                        <p:tgtEl>
                                          <p:spTgt spid="50"/>
                                        </p:tgtEl>
                                      </p:cBhvr>
                                    </p:animEffect>
                                  </p:childTnLst>
                                </p:cTn>
                              </p:par>
                              <p:par>
                                <p:cTn id="160" presetID="22" presetClass="entr" presetSubtype="8" fill="hold" grpId="0" nodeType="withEffect">
                                  <p:stCondLst>
                                    <p:cond delay="390"/>
                                  </p:stCondLst>
                                  <p:childTnLst>
                                    <p:set>
                                      <p:cBhvr>
                                        <p:cTn id="158" dur="1" fill="hold">
                                          <p:stCondLst>
                                            <p:cond delay="0"/>
                                          </p:stCondLst>
                                        </p:cTn>
                                        <p:tgtEl>
                                          <p:spTgt spid="51"/>
                                        </p:tgtEl>
                                        <p:attrNameLst>
                                          <p:attrName>style.visibility</p:attrName>
                                        </p:attrNameLst>
                                      </p:cBhvr>
                                      <p:to>
                                        <p:strVal val="visible"/>
                                      </p:to>
                                    </p:set>
                                    <p:animEffect transition="in" filter="wipe(left)">
                                      <p:cBhvr>
                                        <p:cTn id="159" dur="500"/>
                                        <p:tgtEl>
                                          <p:spTgt spid="51"/>
                                        </p:tgtEl>
                                      </p:cBhvr>
                                    </p:animEffect>
                                  </p:childTnLst>
                                </p:cTn>
                              </p:par>
                              <p:par>
                                <p:cTn id="163" presetID="22" presetClass="entr" presetSubtype="8" fill="hold" grpId="0" nodeType="withEffect">
                                  <p:stCondLst>
                                    <p:cond delay="520"/>
                                  </p:stCondLst>
                                  <p:childTnLst>
                                    <p:set>
                                      <p:cBhvr>
                                        <p:cTn id="161" dur="1" fill="hold">
                                          <p:stCondLst>
                                            <p:cond delay="0"/>
                                          </p:stCondLst>
                                        </p:cTn>
                                        <p:tgtEl>
                                          <p:spTgt spid="32"/>
                                        </p:tgtEl>
                                        <p:attrNameLst>
                                          <p:attrName>style.visibility</p:attrName>
                                        </p:attrNameLst>
                                      </p:cBhvr>
                                      <p:to>
                                        <p:strVal val="visible"/>
                                      </p:to>
                                    </p:set>
                                    <p:animEffect transition="in" filter="wipe(left)">
                                      <p:cBhvr>
                                        <p:cTn id="162" dur="500"/>
                                        <p:tgtEl>
                                          <p:spTgt spid="32"/>
                                        </p:tgtEl>
                                      </p:cBhvr>
                                    </p:animEffect>
                                  </p:childTnLst>
                                </p:cTn>
                              </p:par>
                              <p:par>
                                <p:cTn id="166" presetID="22" presetClass="entr" presetSubtype="8" fill="hold" grpId="0" nodeType="withEffect">
                                  <p:stCondLst>
                                    <p:cond delay="520"/>
                                  </p:stCondLst>
                                  <p:childTnLst>
                                    <p:set>
                                      <p:cBhvr>
                                        <p:cTn id="164" dur="1" fill="hold">
                                          <p:stCondLst>
                                            <p:cond delay="0"/>
                                          </p:stCondLst>
                                        </p:cTn>
                                        <p:tgtEl>
                                          <p:spTgt spid="33"/>
                                        </p:tgtEl>
                                        <p:attrNameLst>
                                          <p:attrName>style.visibility</p:attrName>
                                        </p:attrNameLst>
                                      </p:cBhvr>
                                      <p:to>
                                        <p:strVal val="visible"/>
                                      </p:to>
                                    </p:set>
                                    <p:animEffect transition="in" filter="wipe(left)">
                                      <p:cBhvr>
                                        <p:cTn id="165" dur="500"/>
                                        <p:tgtEl>
                                          <p:spTgt spid="33"/>
                                        </p:tgtEl>
                                      </p:cBhvr>
                                    </p:animEffect>
                                  </p:childTnLst>
                                </p:cTn>
                              </p:par>
                              <p:par>
                                <p:cTn id="169" presetID="22" presetClass="entr" presetSubtype="8" fill="hold" grpId="0" nodeType="withEffect">
                                  <p:stCondLst>
                                    <p:cond delay="520"/>
                                  </p:stCondLst>
                                  <p:childTnLst>
                                    <p:set>
                                      <p:cBhvr>
                                        <p:cTn id="167" dur="1" fill="hold">
                                          <p:stCondLst>
                                            <p:cond delay="0"/>
                                          </p:stCondLst>
                                        </p:cTn>
                                        <p:tgtEl>
                                          <p:spTgt spid="42"/>
                                        </p:tgtEl>
                                        <p:attrNameLst>
                                          <p:attrName>style.visibility</p:attrName>
                                        </p:attrNameLst>
                                      </p:cBhvr>
                                      <p:to>
                                        <p:strVal val="visible"/>
                                      </p:to>
                                    </p:set>
                                    <p:animEffect transition="in" filter="wipe(left)">
                                      <p:cBhvr>
                                        <p:cTn id="168" dur="500"/>
                                        <p:tgtEl>
                                          <p:spTgt spid="42"/>
                                        </p:tgtEl>
                                      </p:cBhvr>
                                    </p:animEffect>
                                  </p:childTnLst>
                                </p:cTn>
                              </p:par>
                              <p:par>
                                <p:cTn id="172" presetID="22" presetClass="entr" presetSubtype="8" fill="hold" grpId="0" nodeType="withEffect">
                                  <p:stCondLst>
                                    <p:cond delay="520"/>
                                  </p:stCondLst>
                                  <p:childTnLst>
                                    <p:set>
                                      <p:cBhvr>
                                        <p:cTn id="170" dur="1" fill="hold">
                                          <p:stCondLst>
                                            <p:cond delay="0"/>
                                          </p:stCondLst>
                                        </p:cTn>
                                        <p:tgtEl>
                                          <p:spTgt spid="43"/>
                                        </p:tgtEl>
                                        <p:attrNameLst>
                                          <p:attrName>style.visibility</p:attrName>
                                        </p:attrNameLst>
                                      </p:cBhvr>
                                      <p:to>
                                        <p:strVal val="visible"/>
                                      </p:to>
                                    </p:set>
                                    <p:animEffect transition="in" filter="wipe(left)">
                                      <p:cBhvr>
                                        <p:cTn id="171" dur="500"/>
                                        <p:tgtEl>
                                          <p:spTgt spid="43"/>
                                        </p:tgtEl>
                                      </p:cBhvr>
                                    </p:animEffect>
                                  </p:childTnLst>
                                </p:cTn>
                              </p:par>
                              <p:par>
                                <p:cTn id="175" presetID="22" presetClass="entr" presetSubtype="8" fill="hold" grpId="0" nodeType="withEffect">
                                  <p:stCondLst>
                                    <p:cond delay="520"/>
                                  </p:stCondLst>
                                  <p:childTnLst>
                                    <p:set>
                                      <p:cBhvr>
                                        <p:cTn id="173" dur="1" fill="hold">
                                          <p:stCondLst>
                                            <p:cond delay="0"/>
                                          </p:stCondLst>
                                        </p:cTn>
                                        <p:tgtEl>
                                          <p:spTgt spid="52"/>
                                        </p:tgtEl>
                                        <p:attrNameLst>
                                          <p:attrName>style.visibility</p:attrName>
                                        </p:attrNameLst>
                                      </p:cBhvr>
                                      <p:to>
                                        <p:strVal val="visible"/>
                                      </p:to>
                                    </p:set>
                                    <p:animEffect transition="in" filter="wipe(left)">
                                      <p:cBhvr>
                                        <p:cTn id="174" dur="500"/>
                                        <p:tgtEl>
                                          <p:spTgt spid="52"/>
                                        </p:tgtEl>
                                      </p:cBhvr>
                                    </p:animEffect>
                                  </p:childTnLst>
                                </p:cTn>
                              </p:par>
                              <p:par>
                                <p:cTn id="178" presetID="22" presetClass="entr" presetSubtype="8" fill="hold" grpId="0" nodeType="withEffect">
                                  <p:stCondLst>
                                    <p:cond delay="520"/>
                                  </p:stCondLst>
                                  <p:childTnLst>
                                    <p:set>
                                      <p:cBhvr>
                                        <p:cTn id="176" dur="1" fill="hold">
                                          <p:stCondLst>
                                            <p:cond delay="0"/>
                                          </p:stCondLst>
                                        </p:cTn>
                                        <p:tgtEl>
                                          <p:spTgt spid="53"/>
                                        </p:tgtEl>
                                        <p:attrNameLst>
                                          <p:attrName>style.visibility</p:attrName>
                                        </p:attrNameLst>
                                      </p:cBhvr>
                                      <p:to>
                                        <p:strVal val="visible"/>
                                      </p:to>
                                    </p:set>
                                    <p:animEffect transition="in" filter="wipe(left)">
                                      <p:cBhvr>
                                        <p:cTn id="17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Type 3 · Column-Family Stores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A row key, then columns grouped into families - and rows need not share columns</a:t>
            </a:r>
          </a:p>
        </p:txBody>
      </p:sp>
      <p:sp>
        <p:nvSpPr>
          <p:cNvPr id="4" name="a1u_card3"/>
          <p:cNvSpPr/>
          <p:nvPr/>
        </p:nvSpPr>
        <p:spPr>
          <a:xfrm>
            <a:off x="457200" y="1170432"/>
            <a:ext cx="5120640" cy="2103120"/>
          </a:xfrm>
          <a:prstGeom prst="roundRect">
            <a:avLst>
              <a:gd name="adj" fmla="val 4347"/>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hh4"/>
          <p:cNvSpPr txBox="1"/>
          <p:nvPr/>
        </p:nvSpPr>
        <p:spPr>
          <a:xfrm>
            <a:off x="658368" y="1289304"/>
            <a:ext cx="4718304" cy="237744"/>
          </a:xfrm>
          <a:prstGeom prst="rect">
            <a:avLst/>
          </a:prstGeom>
          <a:noFill/>
        </p:spPr>
        <p:txBody>
          <a:bodyPr wrap="square" lIns="0" tIns="0" rIns="0" bIns="0" anchor="ctr">
            <a:spAutoFit/>
          </a:bodyPr>
          <a:lstStyle/>
          <a:p>
            <a:pPr algn="l"/>
            <a:r>
              <a:rPr sz="950" b="1">
                <a:solidFill>
                  <a:srgbClr val="B45309"/>
                </a:solidFill>
                <a:latin typeface="Calibri"/>
              </a:rPr>
              <a:t>ROW KEY → COLUMN FAMILIES</a:t>
            </a:r>
          </a:p>
        </p:txBody>
      </p:sp>
      <p:sp>
        <p:nvSpPr>
          <p:cNvPr id="6" name="a1ud100_fam5"/>
          <p:cNvSpPr/>
          <p:nvPr/>
        </p:nvSpPr>
        <p:spPr>
          <a:xfrm>
            <a:off x="658368" y="1600200"/>
            <a:ext cx="2779776" cy="274320"/>
          </a:xfrm>
          <a:prstGeom prst="roundRect">
            <a:avLst>
              <a:gd name="adj" fmla="val 13333"/>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100_famt6"/>
          <p:cNvSpPr txBox="1"/>
          <p:nvPr/>
        </p:nvSpPr>
        <p:spPr>
          <a:xfrm>
            <a:off x="658368" y="1600200"/>
            <a:ext cx="2779776" cy="274320"/>
          </a:xfrm>
          <a:prstGeom prst="rect">
            <a:avLst/>
          </a:prstGeom>
          <a:noFill/>
        </p:spPr>
        <p:txBody>
          <a:bodyPr wrap="square" lIns="0" tIns="0" rIns="0" bIns="0" anchor="ctr">
            <a:spAutoFit/>
          </a:bodyPr>
          <a:lstStyle/>
          <a:p>
            <a:pPr algn="ctr"/>
            <a:r>
              <a:rPr sz="950" b="1">
                <a:solidFill>
                  <a:srgbClr val="FFFFFF"/>
                </a:solidFill>
                <a:latin typeface="Courier New"/>
              </a:rPr>
              <a:t>profile</a:t>
            </a:r>
          </a:p>
        </p:txBody>
      </p:sp>
      <p:sp>
        <p:nvSpPr>
          <p:cNvPr id="8" name="a1wd160_cl7"/>
          <p:cNvSpPr/>
          <p:nvPr/>
        </p:nvSpPr>
        <p:spPr>
          <a:xfrm>
            <a:off x="658368"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wd160_clt8"/>
          <p:cNvSpPr txBox="1"/>
          <p:nvPr/>
        </p:nvSpPr>
        <p:spPr>
          <a:xfrm>
            <a:off x="658368"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name</a:t>
            </a:r>
          </a:p>
        </p:txBody>
      </p:sp>
      <p:sp>
        <p:nvSpPr>
          <p:cNvPr id="10" name="a1wd220_cl9"/>
          <p:cNvSpPr/>
          <p:nvPr/>
        </p:nvSpPr>
        <p:spPr>
          <a:xfrm>
            <a:off x="1554480"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wd220_clt10"/>
          <p:cNvSpPr txBox="1"/>
          <p:nvPr/>
        </p:nvSpPr>
        <p:spPr>
          <a:xfrm>
            <a:off x="1554480"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email</a:t>
            </a:r>
          </a:p>
        </p:txBody>
      </p:sp>
      <p:sp>
        <p:nvSpPr>
          <p:cNvPr id="12" name="a1wd280_cl11"/>
          <p:cNvSpPr/>
          <p:nvPr/>
        </p:nvSpPr>
        <p:spPr>
          <a:xfrm>
            <a:off x="2450591"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d280_clt12"/>
          <p:cNvSpPr txBox="1"/>
          <p:nvPr/>
        </p:nvSpPr>
        <p:spPr>
          <a:xfrm>
            <a:off x="2450591"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tier</a:t>
            </a:r>
          </a:p>
        </p:txBody>
      </p:sp>
      <p:sp>
        <p:nvSpPr>
          <p:cNvPr id="14" name="a1ud300_fam13"/>
          <p:cNvSpPr/>
          <p:nvPr/>
        </p:nvSpPr>
        <p:spPr>
          <a:xfrm>
            <a:off x="3547872" y="1600200"/>
            <a:ext cx="3675887" cy="274320"/>
          </a:xfrm>
          <a:prstGeom prst="roundRect">
            <a:avLst>
              <a:gd name="adj" fmla="val 13333"/>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300_famt14"/>
          <p:cNvSpPr txBox="1"/>
          <p:nvPr/>
        </p:nvSpPr>
        <p:spPr>
          <a:xfrm>
            <a:off x="3547872" y="1600200"/>
            <a:ext cx="3675887" cy="274320"/>
          </a:xfrm>
          <a:prstGeom prst="rect">
            <a:avLst/>
          </a:prstGeom>
          <a:noFill/>
        </p:spPr>
        <p:txBody>
          <a:bodyPr wrap="square" lIns="0" tIns="0" rIns="0" bIns="0" anchor="ctr">
            <a:spAutoFit/>
          </a:bodyPr>
          <a:lstStyle/>
          <a:p>
            <a:pPr algn="ctr"/>
            <a:r>
              <a:rPr sz="950" b="1">
                <a:solidFill>
                  <a:srgbClr val="FFFFFF"/>
                </a:solidFill>
                <a:latin typeface="Courier New"/>
              </a:rPr>
              <a:t>activity</a:t>
            </a:r>
          </a:p>
        </p:txBody>
      </p:sp>
      <p:sp>
        <p:nvSpPr>
          <p:cNvPr id="16" name="a1wd360_cl15"/>
          <p:cNvSpPr/>
          <p:nvPr/>
        </p:nvSpPr>
        <p:spPr>
          <a:xfrm>
            <a:off x="3547872"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360_clt16"/>
          <p:cNvSpPr txBox="1"/>
          <p:nvPr/>
        </p:nvSpPr>
        <p:spPr>
          <a:xfrm>
            <a:off x="3547872"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last_login</a:t>
            </a:r>
          </a:p>
        </p:txBody>
      </p:sp>
      <p:sp>
        <p:nvSpPr>
          <p:cNvPr id="18" name="a1wd420_cl17"/>
          <p:cNvSpPr/>
          <p:nvPr/>
        </p:nvSpPr>
        <p:spPr>
          <a:xfrm>
            <a:off x="4443983"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420_clt18"/>
          <p:cNvSpPr txBox="1"/>
          <p:nvPr/>
        </p:nvSpPr>
        <p:spPr>
          <a:xfrm>
            <a:off x="4443983"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channel</a:t>
            </a:r>
          </a:p>
        </p:txBody>
      </p:sp>
      <p:sp>
        <p:nvSpPr>
          <p:cNvPr id="20" name="a1wd480_cl19"/>
          <p:cNvSpPr/>
          <p:nvPr/>
        </p:nvSpPr>
        <p:spPr>
          <a:xfrm>
            <a:off x="5340096"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480_clt20"/>
          <p:cNvSpPr txBox="1"/>
          <p:nvPr/>
        </p:nvSpPr>
        <p:spPr>
          <a:xfrm>
            <a:off x="5340096"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device</a:t>
            </a:r>
          </a:p>
        </p:txBody>
      </p:sp>
      <p:sp>
        <p:nvSpPr>
          <p:cNvPr id="22" name="a1wd540_cl21"/>
          <p:cNvSpPr/>
          <p:nvPr/>
        </p:nvSpPr>
        <p:spPr>
          <a:xfrm>
            <a:off x="6236208" y="1911095"/>
            <a:ext cx="859536" cy="274320"/>
          </a:xfrm>
          <a:prstGeom prst="roundRect">
            <a:avLst>
              <a:gd name="adj" fmla="val 10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540_clt22"/>
          <p:cNvSpPr txBox="1"/>
          <p:nvPr/>
        </p:nvSpPr>
        <p:spPr>
          <a:xfrm>
            <a:off x="6236208" y="1911095"/>
            <a:ext cx="859536" cy="274320"/>
          </a:xfrm>
          <a:prstGeom prst="rect">
            <a:avLst/>
          </a:prstGeom>
          <a:noFill/>
        </p:spPr>
        <p:txBody>
          <a:bodyPr wrap="square" lIns="0" tIns="0" rIns="0" bIns="0" anchor="ctr">
            <a:spAutoFit/>
          </a:bodyPr>
          <a:lstStyle/>
          <a:p>
            <a:pPr algn="ctr"/>
            <a:r>
              <a:rPr sz="800" b="0">
                <a:solidFill>
                  <a:srgbClr val="334155"/>
                </a:solidFill>
                <a:latin typeface="Courier New"/>
              </a:rPr>
              <a:t>geo</a:t>
            </a:r>
          </a:p>
        </p:txBody>
      </p:sp>
      <p:sp>
        <p:nvSpPr>
          <p:cNvPr id="24" name="a1fd520_rk23"/>
          <p:cNvSpPr txBox="1"/>
          <p:nvPr/>
        </p:nvSpPr>
        <p:spPr>
          <a:xfrm>
            <a:off x="658368" y="2295144"/>
            <a:ext cx="4718304" cy="237744"/>
          </a:xfrm>
          <a:prstGeom prst="rect">
            <a:avLst/>
          </a:prstGeom>
          <a:noFill/>
        </p:spPr>
        <p:txBody>
          <a:bodyPr wrap="square" lIns="0" tIns="0" rIns="0" bIns="0" anchor="ctr">
            <a:spAutoFit/>
          </a:bodyPr>
          <a:lstStyle/>
          <a:p>
            <a:pPr algn="l"/>
            <a:r>
              <a:rPr sz="1050" b="1">
                <a:solidFill>
                  <a:srgbClr val="B45309"/>
                </a:solidFill>
                <a:latin typeface="Courier New"/>
              </a:rPr>
              <a:t>cust:9003</a:t>
            </a:r>
          </a:p>
        </p:txBody>
      </p:sp>
      <p:sp>
        <p:nvSpPr>
          <p:cNvPr id="25" name="a1fd580_cap24"/>
          <p:cNvSpPr txBox="1"/>
          <p:nvPr/>
        </p:nvSpPr>
        <p:spPr>
          <a:xfrm>
            <a:off x="658368" y="2551176"/>
            <a:ext cx="4718304" cy="566928"/>
          </a:xfrm>
          <a:prstGeom prst="rect">
            <a:avLst/>
          </a:prstGeom>
          <a:noFill/>
        </p:spPr>
        <p:txBody>
          <a:bodyPr wrap="square" lIns="0" tIns="0" rIns="0" bIns="0" anchor="t">
            <a:spAutoFit/>
          </a:bodyPr>
          <a:lstStyle/>
          <a:p>
            <a:pPr algn="l"/>
            <a:r>
              <a:rPr sz="1000" b="0">
                <a:solidFill>
                  <a:srgbClr val="334155"/>
                </a:solidFill>
                <a:latin typeface="Calibri"/>
              </a:rPr>
              <a:t>The next row may have completely different columns in the same family. Nothing is stored for a column a row does not have - so a sparse table costs nothing.</a:t>
            </a:r>
          </a:p>
        </p:txBody>
      </p:sp>
      <p:sp>
        <p:nvSpPr>
          <p:cNvPr id="26" name="a2u_card25"/>
          <p:cNvSpPr/>
          <p:nvPr/>
        </p:nvSpPr>
        <p:spPr>
          <a:xfrm>
            <a:off x="5760720" y="1170432"/>
            <a:ext cx="2926080" cy="2103120"/>
          </a:xfrm>
          <a:prstGeom prst="roundRect">
            <a:avLst>
              <a:gd name="adj" fmla="val 4347"/>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hh26"/>
          <p:cNvSpPr txBox="1"/>
          <p:nvPr/>
        </p:nvSpPr>
        <p:spPr>
          <a:xfrm>
            <a:off x="5961888" y="1289304"/>
            <a:ext cx="2523744" cy="237744"/>
          </a:xfrm>
          <a:prstGeom prst="rect">
            <a:avLst/>
          </a:prstGeom>
          <a:noFill/>
        </p:spPr>
        <p:txBody>
          <a:bodyPr wrap="square" lIns="0" tIns="0" rIns="0" bIns="0" anchor="ctr">
            <a:spAutoFit/>
          </a:bodyPr>
          <a:lstStyle/>
          <a:p>
            <a:pPr algn="l"/>
            <a:r>
              <a:rPr sz="950" b="1">
                <a:solidFill>
                  <a:srgbClr val="B45309"/>
                </a:solidFill>
                <a:latin typeface="Calibri"/>
              </a:rPr>
              <a:t>BUILT FOR</a:t>
            </a:r>
          </a:p>
        </p:txBody>
      </p:sp>
      <p:sp>
        <p:nvSpPr>
          <p:cNvPr id="28" name="a2ud60_dot27"/>
          <p:cNvSpPr/>
          <p:nvPr/>
        </p:nvSpPr>
        <p:spPr>
          <a:xfrm>
            <a:off x="5961888" y="1664208"/>
            <a:ext cx="82296" cy="822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60_b28"/>
          <p:cNvSpPr txBox="1"/>
          <p:nvPr/>
        </p:nvSpPr>
        <p:spPr>
          <a:xfrm>
            <a:off x="6181344" y="1563624"/>
            <a:ext cx="2304287" cy="292608"/>
          </a:xfrm>
          <a:prstGeom prst="rect">
            <a:avLst/>
          </a:prstGeom>
          <a:noFill/>
        </p:spPr>
        <p:txBody>
          <a:bodyPr wrap="square" lIns="0" tIns="0" rIns="0" bIns="0" anchor="t">
            <a:spAutoFit/>
          </a:bodyPr>
          <a:lstStyle/>
          <a:p>
            <a:pPr algn="l"/>
            <a:r>
              <a:rPr sz="1000" b="0">
                <a:solidFill>
                  <a:srgbClr val="334155"/>
                </a:solidFill>
                <a:latin typeface="Calibri"/>
              </a:rPr>
              <a:t>Very high write throughput</a:t>
            </a:r>
          </a:p>
        </p:txBody>
      </p:sp>
      <p:sp>
        <p:nvSpPr>
          <p:cNvPr id="30" name="a2ud160_dot29"/>
          <p:cNvSpPr/>
          <p:nvPr/>
        </p:nvSpPr>
        <p:spPr>
          <a:xfrm>
            <a:off x="5961888" y="1993391"/>
            <a:ext cx="82296" cy="822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d160_b30"/>
          <p:cNvSpPr txBox="1"/>
          <p:nvPr/>
        </p:nvSpPr>
        <p:spPr>
          <a:xfrm>
            <a:off x="6181344" y="1892807"/>
            <a:ext cx="2304287" cy="292608"/>
          </a:xfrm>
          <a:prstGeom prst="rect">
            <a:avLst/>
          </a:prstGeom>
          <a:noFill/>
        </p:spPr>
        <p:txBody>
          <a:bodyPr wrap="square" lIns="0" tIns="0" rIns="0" bIns="0" anchor="t">
            <a:spAutoFit/>
          </a:bodyPr>
          <a:lstStyle/>
          <a:p>
            <a:pPr algn="l"/>
            <a:r>
              <a:rPr sz="1000" b="0">
                <a:solidFill>
                  <a:srgbClr val="334155"/>
                </a:solidFill>
                <a:latin typeface="Calibri"/>
              </a:rPr>
              <a:t>Time-series and event logs</a:t>
            </a:r>
          </a:p>
        </p:txBody>
      </p:sp>
      <p:sp>
        <p:nvSpPr>
          <p:cNvPr id="32" name="a2ud260_dot31"/>
          <p:cNvSpPr/>
          <p:nvPr/>
        </p:nvSpPr>
        <p:spPr>
          <a:xfrm>
            <a:off x="5961888" y="2322575"/>
            <a:ext cx="82296" cy="822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260_b32"/>
          <p:cNvSpPr txBox="1"/>
          <p:nvPr/>
        </p:nvSpPr>
        <p:spPr>
          <a:xfrm>
            <a:off x="6181344" y="2221991"/>
            <a:ext cx="2304287" cy="292608"/>
          </a:xfrm>
          <a:prstGeom prst="rect">
            <a:avLst/>
          </a:prstGeom>
          <a:noFill/>
        </p:spPr>
        <p:txBody>
          <a:bodyPr wrap="square" lIns="0" tIns="0" rIns="0" bIns="0" anchor="t">
            <a:spAutoFit/>
          </a:bodyPr>
          <a:lstStyle/>
          <a:p>
            <a:pPr algn="l"/>
            <a:r>
              <a:rPr sz="1000" b="0">
                <a:solidFill>
                  <a:srgbClr val="334155"/>
                </a:solidFill>
                <a:latin typeface="Calibri"/>
              </a:rPr>
              <a:t>Tables with billions of rows</a:t>
            </a:r>
          </a:p>
        </p:txBody>
      </p:sp>
      <p:sp>
        <p:nvSpPr>
          <p:cNvPr id="34" name="a2ud360_dot33"/>
          <p:cNvSpPr/>
          <p:nvPr/>
        </p:nvSpPr>
        <p:spPr>
          <a:xfrm>
            <a:off x="5961888" y="2651759"/>
            <a:ext cx="82296" cy="822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360_b34"/>
          <p:cNvSpPr txBox="1"/>
          <p:nvPr/>
        </p:nvSpPr>
        <p:spPr>
          <a:xfrm>
            <a:off x="6181344" y="2551175"/>
            <a:ext cx="2304287" cy="292608"/>
          </a:xfrm>
          <a:prstGeom prst="rect">
            <a:avLst/>
          </a:prstGeom>
          <a:noFill/>
        </p:spPr>
        <p:txBody>
          <a:bodyPr wrap="square" lIns="0" tIns="0" rIns="0" bIns="0" anchor="t">
            <a:spAutoFit/>
          </a:bodyPr>
          <a:lstStyle/>
          <a:p>
            <a:pPr algn="l"/>
            <a:r>
              <a:rPr sz="1000" b="0">
                <a:solidFill>
                  <a:srgbClr val="334155"/>
                </a:solidFill>
                <a:latin typeface="Calibri"/>
              </a:rPr>
              <a:t>Linear scale-out, no master</a:t>
            </a:r>
          </a:p>
        </p:txBody>
      </p:sp>
      <p:sp>
        <p:nvSpPr>
          <p:cNvPr id="36" name="a2ud460_dot35"/>
          <p:cNvSpPr/>
          <p:nvPr/>
        </p:nvSpPr>
        <p:spPr>
          <a:xfrm>
            <a:off x="5961888" y="2980943"/>
            <a:ext cx="82296" cy="822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460_b36"/>
          <p:cNvSpPr txBox="1"/>
          <p:nvPr/>
        </p:nvSpPr>
        <p:spPr>
          <a:xfrm>
            <a:off x="6181344" y="2880359"/>
            <a:ext cx="2304287" cy="292608"/>
          </a:xfrm>
          <a:prstGeom prst="rect">
            <a:avLst/>
          </a:prstGeom>
          <a:noFill/>
        </p:spPr>
        <p:txBody>
          <a:bodyPr wrap="square" lIns="0" tIns="0" rIns="0" bIns="0" anchor="t">
            <a:spAutoFit/>
          </a:bodyPr>
          <a:lstStyle/>
          <a:p>
            <a:pPr algn="l"/>
            <a:r>
              <a:rPr sz="1000" b="0">
                <a:solidFill>
                  <a:srgbClr val="334155"/>
                </a:solidFill>
                <a:latin typeface="Calibri"/>
              </a:rPr>
              <a:t>Multi-datacentre replication</a:t>
            </a:r>
          </a:p>
        </p:txBody>
      </p:sp>
      <p:sp>
        <p:nvSpPr>
          <p:cNvPr id="38" name="a3f_th37"/>
          <p:cNvSpPr/>
          <p:nvPr/>
        </p:nvSpPr>
        <p:spPr>
          <a:xfrm>
            <a:off x="457200" y="3456432"/>
            <a:ext cx="1920240" cy="3017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f_tht38"/>
          <p:cNvSpPr txBox="1"/>
          <p:nvPr/>
        </p:nvSpPr>
        <p:spPr>
          <a:xfrm>
            <a:off x="530352" y="3456432"/>
            <a:ext cx="1810512" cy="301752"/>
          </a:xfrm>
          <a:prstGeom prst="rect">
            <a:avLst/>
          </a:prstGeom>
          <a:noFill/>
        </p:spPr>
        <p:txBody>
          <a:bodyPr wrap="square" lIns="0" tIns="0" rIns="0" bIns="0" anchor="ctr">
            <a:spAutoFit/>
          </a:bodyPr>
          <a:lstStyle/>
          <a:p>
            <a:pPr algn="l"/>
            <a:r>
              <a:rPr sz="1000" b="1">
                <a:solidFill>
                  <a:srgbClr val="FFFFFF"/>
                </a:solidFill>
                <a:latin typeface="Calibri"/>
              </a:rPr>
              <a:t>Product</a:t>
            </a:r>
          </a:p>
        </p:txBody>
      </p:sp>
      <p:sp>
        <p:nvSpPr>
          <p:cNvPr id="40" name="a3wd130_td39"/>
          <p:cNvSpPr/>
          <p:nvPr/>
        </p:nvSpPr>
        <p:spPr>
          <a:xfrm>
            <a:off x="457200" y="3758183"/>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wd130_tdt40"/>
          <p:cNvSpPr txBox="1"/>
          <p:nvPr/>
        </p:nvSpPr>
        <p:spPr>
          <a:xfrm>
            <a:off x="530352" y="3758183"/>
            <a:ext cx="1810512" cy="301752"/>
          </a:xfrm>
          <a:prstGeom prst="rect">
            <a:avLst/>
          </a:prstGeom>
          <a:noFill/>
        </p:spPr>
        <p:txBody>
          <a:bodyPr wrap="square" lIns="0" tIns="0" rIns="0" bIns="0" anchor="ctr">
            <a:spAutoFit/>
          </a:bodyPr>
          <a:lstStyle/>
          <a:p>
            <a:pPr algn="l"/>
            <a:r>
              <a:rPr sz="1000" b="0">
                <a:solidFill>
                  <a:srgbClr val="334155"/>
                </a:solidFill>
                <a:latin typeface="Calibri"/>
              </a:rPr>
              <a:t>Apache Cassandra</a:t>
            </a:r>
          </a:p>
        </p:txBody>
      </p:sp>
      <p:sp>
        <p:nvSpPr>
          <p:cNvPr id="42" name="a3wd260_td41"/>
          <p:cNvSpPr/>
          <p:nvPr/>
        </p:nvSpPr>
        <p:spPr>
          <a:xfrm>
            <a:off x="457200" y="4059935"/>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wd260_tdt42"/>
          <p:cNvSpPr txBox="1"/>
          <p:nvPr/>
        </p:nvSpPr>
        <p:spPr>
          <a:xfrm>
            <a:off x="530352" y="4059935"/>
            <a:ext cx="1810512" cy="301752"/>
          </a:xfrm>
          <a:prstGeom prst="rect">
            <a:avLst/>
          </a:prstGeom>
          <a:noFill/>
        </p:spPr>
        <p:txBody>
          <a:bodyPr wrap="square" lIns="0" tIns="0" rIns="0" bIns="0" anchor="ctr">
            <a:spAutoFit/>
          </a:bodyPr>
          <a:lstStyle/>
          <a:p>
            <a:pPr algn="l"/>
            <a:r>
              <a:rPr sz="1000" b="0">
                <a:solidFill>
                  <a:srgbClr val="334155"/>
                </a:solidFill>
                <a:latin typeface="Calibri"/>
              </a:rPr>
              <a:t>Apache HBase</a:t>
            </a:r>
          </a:p>
        </p:txBody>
      </p:sp>
      <p:sp>
        <p:nvSpPr>
          <p:cNvPr id="44" name="a3wd390_td43"/>
          <p:cNvSpPr/>
          <p:nvPr/>
        </p:nvSpPr>
        <p:spPr>
          <a:xfrm>
            <a:off x="457200" y="4361688"/>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wd390_tdt44"/>
          <p:cNvSpPr txBox="1"/>
          <p:nvPr/>
        </p:nvSpPr>
        <p:spPr>
          <a:xfrm>
            <a:off x="530352" y="4361688"/>
            <a:ext cx="1810512" cy="301752"/>
          </a:xfrm>
          <a:prstGeom prst="rect">
            <a:avLst/>
          </a:prstGeom>
          <a:noFill/>
        </p:spPr>
        <p:txBody>
          <a:bodyPr wrap="square" lIns="0" tIns="0" rIns="0" bIns="0" anchor="ctr">
            <a:spAutoFit/>
          </a:bodyPr>
          <a:lstStyle/>
          <a:p>
            <a:pPr algn="l"/>
            <a:r>
              <a:rPr sz="1000" b="0">
                <a:solidFill>
                  <a:srgbClr val="334155"/>
                </a:solidFill>
                <a:latin typeface="Calibri"/>
              </a:rPr>
              <a:t>ScyllaDB</a:t>
            </a:r>
          </a:p>
        </p:txBody>
      </p:sp>
      <p:sp>
        <p:nvSpPr>
          <p:cNvPr id="46" name="a3f_th45"/>
          <p:cNvSpPr/>
          <p:nvPr/>
        </p:nvSpPr>
        <p:spPr>
          <a:xfrm>
            <a:off x="2377440" y="3456432"/>
            <a:ext cx="1737360" cy="3017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f_tht46"/>
          <p:cNvSpPr txBox="1"/>
          <p:nvPr/>
        </p:nvSpPr>
        <p:spPr>
          <a:xfrm>
            <a:off x="2450592" y="3456432"/>
            <a:ext cx="1627631" cy="301752"/>
          </a:xfrm>
          <a:prstGeom prst="rect">
            <a:avLst/>
          </a:prstGeom>
          <a:noFill/>
        </p:spPr>
        <p:txBody>
          <a:bodyPr wrap="square" lIns="0" tIns="0" rIns="0" bIns="0" anchor="ctr">
            <a:spAutoFit/>
          </a:bodyPr>
          <a:lstStyle/>
          <a:p>
            <a:pPr algn="l"/>
            <a:r>
              <a:rPr sz="1000" b="1">
                <a:solidFill>
                  <a:srgbClr val="FFFFFF"/>
                </a:solidFill>
                <a:latin typeface="Calibri"/>
              </a:rPr>
              <a:t>Origin</a:t>
            </a:r>
          </a:p>
        </p:txBody>
      </p:sp>
      <p:sp>
        <p:nvSpPr>
          <p:cNvPr id="48" name="a3wd130_td47"/>
          <p:cNvSpPr/>
          <p:nvPr/>
        </p:nvSpPr>
        <p:spPr>
          <a:xfrm>
            <a:off x="2377440" y="3758183"/>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3wd130_tdt48"/>
          <p:cNvSpPr txBox="1"/>
          <p:nvPr/>
        </p:nvSpPr>
        <p:spPr>
          <a:xfrm>
            <a:off x="2450592" y="3758183"/>
            <a:ext cx="1627631" cy="301752"/>
          </a:xfrm>
          <a:prstGeom prst="rect">
            <a:avLst/>
          </a:prstGeom>
          <a:noFill/>
        </p:spPr>
        <p:txBody>
          <a:bodyPr wrap="square" lIns="0" tIns="0" rIns="0" bIns="0" anchor="ctr">
            <a:spAutoFit/>
          </a:bodyPr>
          <a:lstStyle/>
          <a:p>
            <a:pPr algn="l"/>
            <a:r>
              <a:rPr sz="1000" b="0">
                <a:solidFill>
                  <a:srgbClr val="334155"/>
                </a:solidFill>
                <a:latin typeface="Calibri"/>
              </a:rPr>
              <a:t>2008 · Facebook</a:t>
            </a:r>
          </a:p>
        </p:txBody>
      </p:sp>
      <p:sp>
        <p:nvSpPr>
          <p:cNvPr id="50" name="a3wd260_td49"/>
          <p:cNvSpPr/>
          <p:nvPr/>
        </p:nvSpPr>
        <p:spPr>
          <a:xfrm>
            <a:off x="2377440" y="4059935"/>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wd260_tdt50"/>
          <p:cNvSpPr txBox="1"/>
          <p:nvPr/>
        </p:nvSpPr>
        <p:spPr>
          <a:xfrm>
            <a:off x="2450592" y="4059935"/>
            <a:ext cx="1627631" cy="301752"/>
          </a:xfrm>
          <a:prstGeom prst="rect">
            <a:avLst/>
          </a:prstGeom>
          <a:noFill/>
        </p:spPr>
        <p:txBody>
          <a:bodyPr wrap="square" lIns="0" tIns="0" rIns="0" bIns="0" anchor="ctr">
            <a:spAutoFit/>
          </a:bodyPr>
          <a:lstStyle/>
          <a:p>
            <a:pPr algn="l"/>
            <a:r>
              <a:rPr sz="1000" b="0">
                <a:solidFill>
                  <a:srgbClr val="334155"/>
                </a:solidFill>
                <a:latin typeface="Calibri"/>
              </a:rPr>
              <a:t>2008 · open source</a:t>
            </a:r>
          </a:p>
        </p:txBody>
      </p:sp>
      <p:sp>
        <p:nvSpPr>
          <p:cNvPr id="52" name="a3wd390_td51"/>
          <p:cNvSpPr/>
          <p:nvPr/>
        </p:nvSpPr>
        <p:spPr>
          <a:xfrm>
            <a:off x="2377440" y="4361688"/>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3wd390_tdt52"/>
          <p:cNvSpPr txBox="1"/>
          <p:nvPr/>
        </p:nvSpPr>
        <p:spPr>
          <a:xfrm>
            <a:off x="2450592" y="4361688"/>
            <a:ext cx="1627631" cy="301752"/>
          </a:xfrm>
          <a:prstGeom prst="rect">
            <a:avLst/>
          </a:prstGeom>
          <a:noFill/>
        </p:spPr>
        <p:txBody>
          <a:bodyPr wrap="square" lIns="0" tIns="0" rIns="0" bIns="0" anchor="ctr">
            <a:spAutoFit/>
          </a:bodyPr>
          <a:lstStyle/>
          <a:p>
            <a:pPr algn="l"/>
            <a:r>
              <a:rPr sz="1000" b="0">
                <a:solidFill>
                  <a:srgbClr val="334155"/>
                </a:solidFill>
                <a:latin typeface="Calibri"/>
              </a:rPr>
              <a:t>2015 · open source</a:t>
            </a:r>
          </a:p>
        </p:txBody>
      </p:sp>
      <p:sp>
        <p:nvSpPr>
          <p:cNvPr id="54" name="a3f_th53"/>
          <p:cNvSpPr/>
          <p:nvPr/>
        </p:nvSpPr>
        <p:spPr>
          <a:xfrm>
            <a:off x="4114800" y="3456432"/>
            <a:ext cx="4572000" cy="3017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3f_tht54"/>
          <p:cNvSpPr txBox="1"/>
          <p:nvPr/>
        </p:nvSpPr>
        <p:spPr>
          <a:xfrm>
            <a:off x="4187952" y="3456432"/>
            <a:ext cx="4462272" cy="301752"/>
          </a:xfrm>
          <a:prstGeom prst="rect">
            <a:avLst/>
          </a:prstGeom>
          <a:noFill/>
        </p:spPr>
        <p:txBody>
          <a:bodyPr wrap="square" lIns="0" tIns="0" rIns="0" bIns="0" anchor="ctr">
            <a:spAutoFit/>
          </a:bodyPr>
          <a:lstStyle/>
          <a:p>
            <a:pPr algn="l"/>
            <a:r>
              <a:rPr sz="1000" b="1">
                <a:solidFill>
                  <a:srgbClr val="FFFFFF"/>
                </a:solidFill>
                <a:latin typeface="Calibri"/>
              </a:rPr>
              <a:t>Notable for</a:t>
            </a:r>
          </a:p>
        </p:txBody>
      </p:sp>
      <p:sp>
        <p:nvSpPr>
          <p:cNvPr id="56" name="a3wd130_td55"/>
          <p:cNvSpPr/>
          <p:nvPr/>
        </p:nvSpPr>
        <p:spPr>
          <a:xfrm>
            <a:off x="4114800" y="3758183"/>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3wd130_tdt56"/>
          <p:cNvSpPr txBox="1"/>
          <p:nvPr/>
        </p:nvSpPr>
        <p:spPr>
          <a:xfrm>
            <a:off x="4187952" y="3758183"/>
            <a:ext cx="4462272" cy="301752"/>
          </a:xfrm>
          <a:prstGeom prst="rect">
            <a:avLst/>
          </a:prstGeom>
          <a:noFill/>
        </p:spPr>
        <p:txBody>
          <a:bodyPr wrap="square" lIns="0" tIns="0" rIns="0" bIns="0" anchor="ctr">
            <a:spAutoFit/>
          </a:bodyPr>
          <a:lstStyle/>
          <a:p>
            <a:pPr algn="l"/>
            <a:r>
              <a:rPr sz="1000" b="0">
                <a:solidFill>
                  <a:srgbClr val="334155"/>
                </a:solidFill>
                <a:latin typeface="Calibri"/>
              </a:rPr>
              <a:t>BigTable model + Dynamo distribution; CQL looks like SQL</a:t>
            </a:r>
          </a:p>
        </p:txBody>
      </p:sp>
      <p:sp>
        <p:nvSpPr>
          <p:cNvPr id="58" name="a3wd260_td57"/>
          <p:cNvSpPr/>
          <p:nvPr/>
        </p:nvSpPr>
        <p:spPr>
          <a:xfrm>
            <a:off x="4114800" y="4059935"/>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3wd260_tdt58"/>
          <p:cNvSpPr txBox="1"/>
          <p:nvPr/>
        </p:nvSpPr>
        <p:spPr>
          <a:xfrm>
            <a:off x="4187952" y="4059935"/>
            <a:ext cx="4462272" cy="301752"/>
          </a:xfrm>
          <a:prstGeom prst="rect">
            <a:avLst/>
          </a:prstGeom>
          <a:noFill/>
        </p:spPr>
        <p:txBody>
          <a:bodyPr wrap="square" lIns="0" tIns="0" rIns="0" bIns="0" anchor="ctr">
            <a:spAutoFit/>
          </a:bodyPr>
          <a:lstStyle/>
          <a:p>
            <a:pPr algn="l"/>
            <a:r>
              <a:rPr sz="1000" b="0">
                <a:solidFill>
                  <a:srgbClr val="334155"/>
                </a:solidFill>
                <a:latin typeface="Calibri"/>
              </a:rPr>
              <a:t>The direct BigTable clone, runs on HDFS</a:t>
            </a:r>
          </a:p>
        </p:txBody>
      </p:sp>
      <p:sp>
        <p:nvSpPr>
          <p:cNvPr id="60" name="a3wd390_td59"/>
          <p:cNvSpPr/>
          <p:nvPr/>
        </p:nvSpPr>
        <p:spPr>
          <a:xfrm>
            <a:off x="4114800" y="4361688"/>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3wd390_tdt60"/>
          <p:cNvSpPr txBox="1"/>
          <p:nvPr/>
        </p:nvSpPr>
        <p:spPr>
          <a:xfrm>
            <a:off x="4187952" y="4361688"/>
            <a:ext cx="4462272" cy="301752"/>
          </a:xfrm>
          <a:prstGeom prst="rect">
            <a:avLst/>
          </a:prstGeom>
          <a:noFill/>
        </p:spPr>
        <p:txBody>
          <a:bodyPr wrap="square" lIns="0" tIns="0" rIns="0" bIns="0" anchor="ctr">
            <a:spAutoFit/>
          </a:bodyPr>
          <a:lstStyle/>
          <a:p>
            <a:pPr algn="l"/>
            <a:r>
              <a:rPr sz="1000" b="0">
                <a:solidFill>
                  <a:srgbClr val="334155"/>
                </a:solidFill>
                <a:latin typeface="Calibri"/>
              </a:rPr>
              <a:t>Cassandra-compatible, rewritten in C++ for latency</a:t>
            </a:r>
          </a:p>
        </p:txBody>
      </p:sp>
      <p:sp>
        <p:nvSpPr>
          <p:cNvPr id="62" name="ft61"/>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63" name="ft62"/>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7" presetID="22" presetClass="entr" presetSubtype="8" fill="hold" grpId="0" nodeType="withEffect">
                                  <p:stCondLst>
                                    <p:cond delay="16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par>
                                <p:cTn id="30" presetID="22" presetClass="entr" presetSubtype="8" fill="hold" grpId="0" nodeType="withEffect">
                                  <p:stCondLst>
                                    <p:cond delay="16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3" presetID="22" presetClass="entr" presetSubtype="8"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par>
                                <p:cTn id="36" presetID="22" presetClass="entr" presetSubtype="8" fill="hold" grpId="0" nodeType="withEffect">
                                  <p:stCondLst>
                                    <p:cond delay="22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par>
                                <p:cTn id="39" presetID="22" presetClass="entr" presetSubtype="8" fill="hold" grpId="0" nodeType="withEffect">
                                  <p:stCondLst>
                                    <p:cond delay="28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par>
                                <p:cTn id="42" presetID="22" presetClass="entr" presetSubtype="8" fill="hold" grpId="0" nodeType="withEffect">
                                  <p:stCondLst>
                                    <p:cond delay="28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7" presetID="2" presetClass="entr" presetSubtype="4" fill="hold" grpId="0" nodeType="withEffect">
                                  <p:stCondLst>
                                    <p:cond delay="3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ppt_y+0.1"/>
                                          </p:val>
                                        </p:tav>
                                        <p:tav tm="100000">
                                          <p:val>
                                            <p:strVal val="#ppt_y"/>
                                          </p:val>
                                        </p:tav>
                                      </p:tavLst>
                                    </p:anim>
                                    <p:animEffect transition="in" filter="fade">
                                      <p:cBhvr>
                                        <p:cTn id="46" dur="500"/>
                                        <p:tgtEl>
                                          <p:spTgt spid="14"/>
                                        </p:tgtEl>
                                      </p:cBhvr>
                                    </p:animEffect>
                                  </p:childTnLst>
                                </p:cTn>
                              </p:par>
                              <p:par>
                                <p:cTn id="52" presetID="2" presetClass="entr" presetSubtype="4" fill="hold" grpId="0" nodeType="withEffect">
                                  <p:stCondLst>
                                    <p:cond delay="30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ppt_y+0.1"/>
                                          </p:val>
                                        </p:tav>
                                        <p:tav tm="100000">
                                          <p:val>
                                            <p:strVal val="#ppt_y"/>
                                          </p:val>
                                        </p:tav>
                                      </p:tavLst>
                                    </p:anim>
                                    <p:animEffect transition="in" filter="fade">
                                      <p:cBhvr>
                                        <p:cTn id="51" dur="500"/>
                                        <p:tgtEl>
                                          <p:spTgt spid="15"/>
                                        </p:tgtEl>
                                      </p:cBhvr>
                                    </p:animEffect>
                                  </p:childTnLst>
                                </p:cTn>
                              </p:par>
                              <p:par>
                                <p:cTn id="55" presetID="22" presetClass="entr" presetSubtype="8" fill="hold" grpId="0" nodeType="withEffect">
                                  <p:stCondLst>
                                    <p:cond delay="36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par>
                                <p:cTn id="58" presetID="22" presetClass="entr" presetSubtype="8" fill="hold" grpId="0" nodeType="withEffect">
                                  <p:stCondLst>
                                    <p:cond delay="36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par>
                                <p:cTn id="61" presetID="22" presetClass="entr" presetSubtype="8" fill="hold" grpId="0" nodeType="withEffect">
                                  <p:stCondLst>
                                    <p:cond delay="420"/>
                                  </p:stCondLst>
                                  <p:childTnLst>
                                    <p:set>
                                      <p:cBhvr>
                                        <p:cTn id="59" dur="1" fill="hold">
                                          <p:stCondLst>
                                            <p:cond delay="0"/>
                                          </p:stCondLst>
                                        </p:cTn>
                                        <p:tgtEl>
                                          <p:spTgt spid="18"/>
                                        </p:tgtEl>
                                        <p:attrNameLst>
                                          <p:attrName>style.visibility</p:attrName>
                                        </p:attrNameLst>
                                      </p:cBhvr>
                                      <p:to>
                                        <p:strVal val="visible"/>
                                      </p:to>
                                    </p:set>
                                    <p:animEffect transition="in" filter="wipe(left)">
                                      <p:cBhvr>
                                        <p:cTn id="60" dur="500"/>
                                        <p:tgtEl>
                                          <p:spTgt spid="18"/>
                                        </p:tgtEl>
                                      </p:cBhvr>
                                    </p:animEffect>
                                  </p:childTnLst>
                                </p:cTn>
                              </p:par>
                              <p:par>
                                <p:cTn id="64" presetID="22" presetClass="entr" presetSubtype="8" fill="hold" grpId="0" nodeType="withEffect">
                                  <p:stCondLst>
                                    <p:cond delay="42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par>
                                <p:cTn id="67" presetID="22" presetClass="entr" presetSubtype="8" fill="hold" grpId="0" nodeType="withEffect">
                                  <p:stCondLst>
                                    <p:cond delay="480"/>
                                  </p:stCondLst>
                                  <p:childTnLst>
                                    <p:set>
                                      <p:cBhvr>
                                        <p:cTn id="65" dur="1" fill="hold">
                                          <p:stCondLst>
                                            <p:cond delay="0"/>
                                          </p:stCondLst>
                                        </p:cTn>
                                        <p:tgtEl>
                                          <p:spTgt spid="20"/>
                                        </p:tgtEl>
                                        <p:attrNameLst>
                                          <p:attrName>style.visibility</p:attrName>
                                        </p:attrNameLst>
                                      </p:cBhvr>
                                      <p:to>
                                        <p:strVal val="visible"/>
                                      </p:to>
                                    </p:set>
                                    <p:animEffect transition="in" filter="wipe(left)">
                                      <p:cBhvr>
                                        <p:cTn id="66" dur="500"/>
                                        <p:tgtEl>
                                          <p:spTgt spid="20"/>
                                        </p:tgtEl>
                                      </p:cBhvr>
                                    </p:animEffect>
                                  </p:childTnLst>
                                </p:cTn>
                              </p:par>
                              <p:par>
                                <p:cTn id="70" presetID="22" presetClass="entr" presetSubtype="8" fill="hold" grpId="0" nodeType="withEffect">
                                  <p:stCondLst>
                                    <p:cond delay="480"/>
                                  </p:stCondLst>
                                  <p:childTnLst>
                                    <p:set>
                                      <p:cBhvr>
                                        <p:cTn id="68" dur="1" fill="hold">
                                          <p:stCondLst>
                                            <p:cond delay="0"/>
                                          </p:stCondLst>
                                        </p:cTn>
                                        <p:tgtEl>
                                          <p:spTgt spid="21"/>
                                        </p:tgtEl>
                                        <p:attrNameLst>
                                          <p:attrName>style.visibility</p:attrName>
                                        </p:attrNameLst>
                                      </p:cBhvr>
                                      <p:to>
                                        <p:strVal val="visible"/>
                                      </p:to>
                                    </p:set>
                                    <p:animEffect transition="in" filter="wipe(left)">
                                      <p:cBhvr>
                                        <p:cTn id="69" dur="500"/>
                                        <p:tgtEl>
                                          <p:spTgt spid="21"/>
                                        </p:tgtEl>
                                      </p:cBhvr>
                                    </p:animEffect>
                                  </p:childTnLst>
                                </p:cTn>
                              </p:par>
                              <p:par>
                                <p:cTn id="73" presetID="10" presetClass="entr" presetSubtype="0" fill="hold" grpId="0" nodeType="withEffect">
                                  <p:stCondLst>
                                    <p:cond delay="52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6" presetID="22" presetClass="entr" presetSubtype="8" fill="hold" grpId="0" nodeType="withEffect">
                                  <p:stCondLst>
                                    <p:cond delay="54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500"/>
                                        <p:tgtEl>
                                          <p:spTgt spid="22"/>
                                        </p:tgtEl>
                                      </p:cBhvr>
                                    </p:animEffect>
                                  </p:childTnLst>
                                </p:cTn>
                              </p:par>
                              <p:par>
                                <p:cTn id="79" presetID="22" presetClass="entr" presetSubtype="8" fill="hold" grpId="0" nodeType="withEffect">
                                  <p:stCondLst>
                                    <p:cond delay="54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8" dur="500"/>
                                        <p:tgtEl>
                                          <p:spTgt spid="23"/>
                                        </p:tgtEl>
                                      </p:cBhvr>
                                    </p:animEffect>
                                  </p:childTnLst>
                                </p:cTn>
                              </p:par>
                              <p:par>
                                <p:cTn id="82" presetID="10" presetClass="entr" presetSubtype="0" fill="hold" grpId="0" nodeType="withEffect">
                                  <p:stCondLst>
                                    <p:cond delay="58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childTnLst>
                          </p:cTn>
                        </p:par>
                      </p:childTnLst>
                    </p:cTn>
                  </p:par>
                  <p:par>
                    <p:cTn id="83" fill="hold">
                      <p:stCondLst>
                        <p:cond delay="indefinite"/>
                      </p:stCondLst>
                      <p:childTnLst>
                        <p:par>
                          <p:cTn id="84" fill="hold">
                            <p:stCondLst>
                              <p:cond delay="0"/>
                            </p:stCondLst>
                            <p:childTnLst>
                              <p:par>
                                <p:cTn id="89" presetID="2" presetClass="entr" presetSubtype="4"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 calcmode="lin" valueType="num">
                                      <p:cBhvr additive="base">
                                        <p:cTn id="86" dur="500" fill="hold"/>
                                        <p:tgtEl>
                                          <p:spTgt spid="26"/>
                                        </p:tgtEl>
                                        <p:attrNameLst>
                                          <p:attrName>ppt_x</p:attrName>
                                        </p:attrNameLst>
                                      </p:cBhvr>
                                      <p:tavLst>
                                        <p:tav tm="0">
                                          <p:val>
                                            <p:strVal val="#ppt_x"/>
                                          </p:val>
                                        </p:tav>
                                        <p:tav tm="100000">
                                          <p:val>
                                            <p:strVal val="#ppt_x"/>
                                          </p:val>
                                        </p:tav>
                                      </p:tavLst>
                                    </p:anim>
                                    <p:anim calcmode="lin" valueType="num">
                                      <p:cBhvr additive="base">
                                        <p:cTn id="87" dur="500" fill="hold"/>
                                        <p:tgtEl>
                                          <p:spTgt spid="26"/>
                                        </p:tgtEl>
                                        <p:attrNameLst>
                                          <p:attrName>ppt_y</p:attrName>
                                        </p:attrNameLst>
                                      </p:cBhvr>
                                      <p:tavLst>
                                        <p:tav tm="0">
                                          <p:val>
                                            <p:strVal val="#ppt_y+0.1"/>
                                          </p:val>
                                        </p:tav>
                                        <p:tav tm="100000">
                                          <p:val>
                                            <p:strVal val="#ppt_y"/>
                                          </p:val>
                                        </p:tav>
                                      </p:tavLst>
                                    </p:anim>
                                    <p:animEffect transition="in" filter="fade">
                                      <p:cBhvr>
                                        <p:cTn id="88" dur="500"/>
                                        <p:tgtEl>
                                          <p:spTgt spid="26"/>
                                        </p:tgtEl>
                                      </p:cBhvr>
                                    </p:animEffect>
                                  </p:childTnLst>
                                </p:cTn>
                              </p:par>
                              <p:par>
                                <p:cTn id="94" presetID="2" presetClass="entr" presetSubtype="4"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500" fill="hold"/>
                                        <p:tgtEl>
                                          <p:spTgt spid="27"/>
                                        </p:tgtEl>
                                        <p:attrNameLst>
                                          <p:attrName>ppt_x</p:attrName>
                                        </p:attrNameLst>
                                      </p:cBhvr>
                                      <p:tavLst>
                                        <p:tav tm="0">
                                          <p:val>
                                            <p:strVal val="#ppt_x"/>
                                          </p:val>
                                        </p:tav>
                                        <p:tav tm="100000">
                                          <p:val>
                                            <p:strVal val="#ppt_x"/>
                                          </p:val>
                                        </p:tav>
                                      </p:tavLst>
                                    </p:anim>
                                    <p:anim calcmode="lin" valueType="num">
                                      <p:cBhvr additive="base">
                                        <p:cTn id="92" dur="500" fill="hold"/>
                                        <p:tgtEl>
                                          <p:spTgt spid="27"/>
                                        </p:tgtEl>
                                        <p:attrNameLst>
                                          <p:attrName>ppt_y</p:attrName>
                                        </p:attrNameLst>
                                      </p:cBhvr>
                                      <p:tavLst>
                                        <p:tav tm="0">
                                          <p:val>
                                            <p:strVal val="#ppt_y+0.1"/>
                                          </p:val>
                                        </p:tav>
                                        <p:tav tm="100000">
                                          <p:val>
                                            <p:strVal val="#ppt_y"/>
                                          </p:val>
                                        </p:tav>
                                      </p:tavLst>
                                    </p:anim>
                                    <p:animEffect transition="in" filter="fade">
                                      <p:cBhvr>
                                        <p:cTn id="93" dur="500"/>
                                        <p:tgtEl>
                                          <p:spTgt spid="27"/>
                                        </p:tgtEl>
                                      </p:cBhvr>
                                    </p:animEffect>
                                  </p:childTnLst>
                                </p:cTn>
                              </p:par>
                              <p:par>
                                <p:cTn id="99" presetID="2" presetClass="entr" presetSubtype="4" fill="hold" grpId="0" nodeType="withEffect">
                                  <p:stCondLst>
                                    <p:cond delay="60"/>
                                  </p:stCondLst>
                                  <p:childTnLst>
                                    <p:set>
                                      <p:cBhvr>
                                        <p:cTn id="95" dur="1" fill="hold">
                                          <p:stCondLst>
                                            <p:cond delay="0"/>
                                          </p:stCondLst>
                                        </p:cTn>
                                        <p:tgtEl>
                                          <p:spTgt spid="28"/>
                                        </p:tgtEl>
                                        <p:attrNameLst>
                                          <p:attrName>style.visibility</p:attrName>
                                        </p:attrNameLst>
                                      </p:cBhvr>
                                      <p:to>
                                        <p:strVal val="visible"/>
                                      </p:to>
                                    </p:set>
                                    <p:anim calcmode="lin" valueType="num">
                                      <p:cBhvr additive="base">
                                        <p:cTn id="96" dur="500" fill="hold"/>
                                        <p:tgtEl>
                                          <p:spTgt spid="28"/>
                                        </p:tgtEl>
                                        <p:attrNameLst>
                                          <p:attrName>ppt_x</p:attrName>
                                        </p:attrNameLst>
                                      </p:cBhvr>
                                      <p:tavLst>
                                        <p:tav tm="0">
                                          <p:val>
                                            <p:strVal val="#ppt_x"/>
                                          </p:val>
                                        </p:tav>
                                        <p:tav tm="100000">
                                          <p:val>
                                            <p:strVal val="#ppt_x"/>
                                          </p:val>
                                        </p:tav>
                                      </p:tavLst>
                                    </p:anim>
                                    <p:anim calcmode="lin" valueType="num">
                                      <p:cBhvr additive="base">
                                        <p:cTn id="97" dur="500" fill="hold"/>
                                        <p:tgtEl>
                                          <p:spTgt spid="28"/>
                                        </p:tgtEl>
                                        <p:attrNameLst>
                                          <p:attrName>ppt_y</p:attrName>
                                        </p:attrNameLst>
                                      </p:cBhvr>
                                      <p:tavLst>
                                        <p:tav tm="0">
                                          <p:val>
                                            <p:strVal val="#ppt_y+0.1"/>
                                          </p:val>
                                        </p:tav>
                                        <p:tav tm="100000">
                                          <p:val>
                                            <p:strVal val="#ppt_y"/>
                                          </p:val>
                                        </p:tav>
                                      </p:tavLst>
                                    </p:anim>
                                    <p:animEffect transition="in" filter="fade">
                                      <p:cBhvr>
                                        <p:cTn id="98" dur="500"/>
                                        <p:tgtEl>
                                          <p:spTgt spid="28"/>
                                        </p:tgtEl>
                                      </p:cBhvr>
                                    </p:animEffect>
                                  </p:childTnLst>
                                </p:cTn>
                              </p:par>
                              <p:par>
                                <p:cTn id="104" presetID="2" presetClass="entr" presetSubtype="4" fill="hold" grpId="0" nodeType="withEffect">
                                  <p:stCondLst>
                                    <p:cond delay="6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ppt_x"/>
                                          </p:val>
                                        </p:tav>
                                        <p:tav tm="100000">
                                          <p:val>
                                            <p:strVal val="#ppt_x"/>
                                          </p:val>
                                        </p:tav>
                                      </p:tavLst>
                                    </p:anim>
                                    <p:anim calcmode="lin" valueType="num">
                                      <p:cBhvr additive="base">
                                        <p:cTn id="102" dur="500" fill="hold"/>
                                        <p:tgtEl>
                                          <p:spTgt spid="29"/>
                                        </p:tgtEl>
                                        <p:attrNameLst>
                                          <p:attrName>ppt_y</p:attrName>
                                        </p:attrNameLst>
                                      </p:cBhvr>
                                      <p:tavLst>
                                        <p:tav tm="0">
                                          <p:val>
                                            <p:strVal val="#ppt_y+0.1"/>
                                          </p:val>
                                        </p:tav>
                                        <p:tav tm="100000">
                                          <p:val>
                                            <p:strVal val="#ppt_y"/>
                                          </p:val>
                                        </p:tav>
                                      </p:tavLst>
                                    </p:anim>
                                    <p:animEffect transition="in" filter="fade">
                                      <p:cBhvr>
                                        <p:cTn id="103" dur="500"/>
                                        <p:tgtEl>
                                          <p:spTgt spid="29"/>
                                        </p:tgtEl>
                                      </p:cBhvr>
                                    </p:animEffect>
                                  </p:childTnLst>
                                </p:cTn>
                              </p:par>
                              <p:par>
                                <p:cTn id="109" presetID="2" presetClass="entr" presetSubtype="4" fill="hold" grpId="0" nodeType="withEffect">
                                  <p:stCondLst>
                                    <p:cond delay="160"/>
                                  </p:stCondLst>
                                  <p:childTnLst>
                                    <p:set>
                                      <p:cBhvr>
                                        <p:cTn id="105" dur="1" fill="hold">
                                          <p:stCondLst>
                                            <p:cond delay="0"/>
                                          </p:stCondLst>
                                        </p:cTn>
                                        <p:tgtEl>
                                          <p:spTgt spid="30"/>
                                        </p:tgtEl>
                                        <p:attrNameLst>
                                          <p:attrName>style.visibility</p:attrName>
                                        </p:attrNameLst>
                                      </p:cBhvr>
                                      <p:to>
                                        <p:strVal val="visible"/>
                                      </p:to>
                                    </p:set>
                                    <p:anim calcmode="lin" valueType="num">
                                      <p:cBhvr additive="base">
                                        <p:cTn id="106" dur="500" fill="hold"/>
                                        <p:tgtEl>
                                          <p:spTgt spid="30"/>
                                        </p:tgtEl>
                                        <p:attrNameLst>
                                          <p:attrName>ppt_x</p:attrName>
                                        </p:attrNameLst>
                                      </p:cBhvr>
                                      <p:tavLst>
                                        <p:tav tm="0">
                                          <p:val>
                                            <p:strVal val="#ppt_x"/>
                                          </p:val>
                                        </p:tav>
                                        <p:tav tm="100000">
                                          <p:val>
                                            <p:strVal val="#ppt_x"/>
                                          </p:val>
                                        </p:tav>
                                      </p:tavLst>
                                    </p:anim>
                                    <p:anim calcmode="lin" valueType="num">
                                      <p:cBhvr additive="base">
                                        <p:cTn id="107" dur="500" fill="hold"/>
                                        <p:tgtEl>
                                          <p:spTgt spid="30"/>
                                        </p:tgtEl>
                                        <p:attrNameLst>
                                          <p:attrName>ppt_y</p:attrName>
                                        </p:attrNameLst>
                                      </p:cBhvr>
                                      <p:tavLst>
                                        <p:tav tm="0">
                                          <p:val>
                                            <p:strVal val="#ppt_y+0.1"/>
                                          </p:val>
                                        </p:tav>
                                        <p:tav tm="100000">
                                          <p:val>
                                            <p:strVal val="#ppt_y"/>
                                          </p:val>
                                        </p:tav>
                                      </p:tavLst>
                                    </p:anim>
                                    <p:animEffect transition="in" filter="fade">
                                      <p:cBhvr>
                                        <p:cTn id="108" dur="500"/>
                                        <p:tgtEl>
                                          <p:spTgt spid="30"/>
                                        </p:tgtEl>
                                      </p:cBhvr>
                                    </p:animEffect>
                                  </p:childTnLst>
                                </p:cTn>
                              </p:par>
                              <p:par>
                                <p:cTn id="114" presetID="2" presetClass="entr" presetSubtype="4" fill="hold" grpId="0" nodeType="withEffect">
                                  <p:stCondLst>
                                    <p:cond delay="160"/>
                                  </p:stCondLst>
                                  <p:childTnLst>
                                    <p:set>
                                      <p:cBhvr>
                                        <p:cTn id="110" dur="1" fill="hold">
                                          <p:stCondLst>
                                            <p:cond delay="0"/>
                                          </p:stCondLst>
                                        </p:cTn>
                                        <p:tgtEl>
                                          <p:spTgt spid="31"/>
                                        </p:tgtEl>
                                        <p:attrNameLst>
                                          <p:attrName>style.visibility</p:attrName>
                                        </p:attrNameLst>
                                      </p:cBhvr>
                                      <p:to>
                                        <p:strVal val="visible"/>
                                      </p:to>
                                    </p:set>
                                    <p:anim calcmode="lin" valueType="num">
                                      <p:cBhvr additive="base">
                                        <p:cTn id="111" dur="500" fill="hold"/>
                                        <p:tgtEl>
                                          <p:spTgt spid="31"/>
                                        </p:tgtEl>
                                        <p:attrNameLst>
                                          <p:attrName>ppt_x</p:attrName>
                                        </p:attrNameLst>
                                      </p:cBhvr>
                                      <p:tavLst>
                                        <p:tav tm="0">
                                          <p:val>
                                            <p:strVal val="#ppt_x"/>
                                          </p:val>
                                        </p:tav>
                                        <p:tav tm="100000">
                                          <p:val>
                                            <p:strVal val="#ppt_x"/>
                                          </p:val>
                                        </p:tav>
                                      </p:tavLst>
                                    </p:anim>
                                    <p:anim calcmode="lin" valueType="num">
                                      <p:cBhvr additive="base">
                                        <p:cTn id="112" dur="500" fill="hold"/>
                                        <p:tgtEl>
                                          <p:spTgt spid="31"/>
                                        </p:tgtEl>
                                        <p:attrNameLst>
                                          <p:attrName>ppt_y</p:attrName>
                                        </p:attrNameLst>
                                      </p:cBhvr>
                                      <p:tavLst>
                                        <p:tav tm="0">
                                          <p:val>
                                            <p:strVal val="#ppt_y+0.1"/>
                                          </p:val>
                                        </p:tav>
                                        <p:tav tm="100000">
                                          <p:val>
                                            <p:strVal val="#ppt_y"/>
                                          </p:val>
                                        </p:tav>
                                      </p:tavLst>
                                    </p:anim>
                                    <p:animEffect transition="in" filter="fade">
                                      <p:cBhvr>
                                        <p:cTn id="113" dur="500"/>
                                        <p:tgtEl>
                                          <p:spTgt spid="31"/>
                                        </p:tgtEl>
                                      </p:cBhvr>
                                    </p:animEffect>
                                  </p:childTnLst>
                                </p:cTn>
                              </p:par>
                              <p:par>
                                <p:cTn id="119" presetID="2" presetClass="entr" presetSubtype="4" fill="hold" grpId="0" nodeType="withEffect">
                                  <p:stCondLst>
                                    <p:cond delay="260"/>
                                  </p:stCondLst>
                                  <p:childTnLst>
                                    <p:set>
                                      <p:cBhvr>
                                        <p:cTn id="115" dur="1" fill="hold">
                                          <p:stCondLst>
                                            <p:cond delay="0"/>
                                          </p:stCondLst>
                                        </p:cTn>
                                        <p:tgtEl>
                                          <p:spTgt spid="32"/>
                                        </p:tgtEl>
                                        <p:attrNameLst>
                                          <p:attrName>style.visibility</p:attrName>
                                        </p:attrNameLst>
                                      </p:cBhvr>
                                      <p:to>
                                        <p:strVal val="visible"/>
                                      </p:to>
                                    </p:set>
                                    <p:anim calcmode="lin" valueType="num">
                                      <p:cBhvr additive="base">
                                        <p:cTn id="116" dur="500" fill="hold"/>
                                        <p:tgtEl>
                                          <p:spTgt spid="32"/>
                                        </p:tgtEl>
                                        <p:attrNameLst>
                                          <p:attrName>ppt_x</p:attrName>
                                        </p:attrNameLst>
                                      </p:cBhvr>
                                      <p:tavLst>
                                        <p:tav tm="0">
                                          <p:val>
                                            <p:strVal val="#ppt_x"/>
                                          </p:val>
                                        </p:tav>
                                        <p:tav tm="100000">
                                          <p:val>
                                            <p:strVal val="#ppt_x"/>
                                          </p:val>
                                        </p:tav>
                                      </p:tavLst>
                                    </p:anim>
                                    <p:anim calcmode="lin" valueType="num">
                                      <p:cBhvr additive="base">
                                        <p:cTn id="117" dur="500" fill="hold"/>
                                        <p:tgtEl>
                                          <p:spTgt spid="32"/>
                                        </p:tgtEl>
                                        <p:attrNameLst>
                                          <p:attrName>ppt_y</p:attrName>
                                        </p:attrNameLst>
                                      </p:cBhvr>
                                      <p:tavLst>
                                        <p:tav tm="0">
                                          <p:val>
                                            <p:strVal val="#ppt_y+0.1"/>
                                          </p:val>
                                        </p:tav>
                                        <p:tav tm="100000">
                                          <p:val>
                                            <p:strVal val="#ppt_y"/>
                                          </p:val>
                                        </p:tav>
                                      </p:tavLst>
                                    </p:anim>
                                    <p:animEffect transition="in" filter="fade">
                                      <p:cBhvr>
                                        <p:cTn id="118" dur="500"/>
                                        <p:tgtEl>
                                          <p:spTgt spid="32"/>
                                        </p:tgtEl>
                                      </p:cBhvr>
                                    </p:animEffect>
                                  </p:childTnLst>
                                </p:cTn>
                              </p:par>
                              <p:par>
                                <p:cTn id="124" presetID="2" presetClass="entr" presetSubtype="4" fill="hold" grpId="0" nodeType="withEffect">
                                  <p:stCondLst>
                                    <p:cond delay="260"/>
                                  </p:stCondLst>
                                  <p:childTnLst>
                                    <p:set>
                                      <p:cBhvr>
                                        <p:cTn id="120" dur="1" fill="hold">
                                          <p:stCondLst>
                                            <p:cond delay="0"/>
                                          </p:stCondLst>
                                        </p:cTn>
                                        <p:tgtEl>
                                          <p:spTgt spid="33"/>
                                        </p:tgtEl>
                                        <p:attrNameLst>
                                          <p:attrName>style.visibility</p:attrName>
                                        </p:attrNameLst>
                                      </p:cBhvr>
                                      <p:to>
                                        <p:strVal val="visible"/>
                                      </p:to>
                                    </p:set>
                                    <p:anim calcmode="lin" valueType="num">
                                      <p:cBhvr additive="base">
                                        <p:cTn id="121" dur="500" fill="hold"/>
                                        <p:tgtEl>
                                          <p:spTgt spid="33"/>
                                        </p:tgtEl>
                                        <p:attrNameLst>
                                          <p:attrName>ppt_x</p:attrName>
                                        </p:attrNameLst>
                                      </p:cBhvr>
                                      <p:tavLst>
                                        <p:tav tm="0">
                                          <p:val>
                                            <p:strVal val="#ppt_x"/>
                                          </p:val>
                                        </p:tav>
                                        <p:tav tm="100000">
                                          <p:val>
                                            <p:strVal val="#ppt_x"/>
                                          </p:val>
                                        </p:tav>
                                      </p:tavLst>
                                    </p:anim>
                                    <p:anim calcmode="lin" valueType="num">
                                      <p:cBhvr additive="base">
                                        <p:cTn id="122" dur="500" fill="hold"/>
                                        <p:tgtEl>
                                          <p:spTgt spid="33"/>
                                        </p:tgtEl>
                                        <p:attrNameLst>
                                          <p:attrName>ppt_y</p:attrName>
                                        </p:attrNameLst>
                                      </p:cBhvr>
                                      <p:tavLst>
                                        <p:tav tm="0">
                                          <p:val>
                                            <p:strVal val="#ppt_y+0.1"/>
                                          </p:val>
                                        </p:tav>
                                        <p:tav tm="100000">
                                          <p:val>
                                            <p:strVal val="#ppt_y"/>
                                          </p:val>
                                        </p:tav>
                                      </p:tavLst>
                                    </p:anim>
                                    <p:animEffect transition="in" filter="fade">
                                      <p:cBhvr>
                                        <p:cTn id="123" dur="500"/>
                                        <p:tgtEl>
                                          <p:spTgt spid="33"/>
                                        </p:tgtEl>
                                      </p:cBhvr>
                                    </p:animEffect>
                                  </p:childTnLst>
                                </p:cTn>
                              </p:par>
                              <p:par>
                                <p:cTn id="129" presetID="2" presetClass="entr" presetSubtype="4" fill="hold" grpId="0" nodeType="withEffect">
                                  <p:stCondLst>
                                    <p:cond delay="360"/>
                                  </p:stCondLst>
                                  <p:childTnLst>
                                    <p:set>
                                      <p:cBhvr>
                                        <p:cTn id="125" dur="1" fill="hold">
                                          <p:stCondLst>
                                            <p:cond delay="0"/>
                                          </p:stCondLst>
                                        </p:cTn>
                                        <p:tgtEl>
                                          <p:spTgt spid="34"/>
                                        </p:tgtEl>
                                        <p:attrNameLst>
                                          <p:attrName>style.visibility</p:attrName>
                                        </p:attrNameLst>
                                      </p:cBhvr>
                                      <p:to>
                                        <p:strVal val="visible"/>
                                      </p:to>
                                    </p:set>
                                    <p:anim calcmode="lin" valueType="num">
                                      <p:cBhvr additive="base">
                                        <p:cTn id="126" dur="500" fill="hold"/>
                                        <p:tgtEl>
                                          <p:spTgt spid="34"/>
                                        </p:tgtEl>
                                        <p:attrNameLst>
                                          <p:attrName>ppt_x</p:attrName>
                                        </p:attrNameLst>
                                      </p:cBhvr>
                                      <p:tavLst>
                                        <p:tav tm="0">
                                          <p:val>
                                            <p:strVal val="#ppt_x"/>
                                          </p:val>
                                        </p:tav>
                                        <p:tav tm="100000">
                                          <p:val>
                                            <p:strVal val="#ppt_x"/>
                                          </p:val>
                                        </p:tav>
                                      </p:tavLst>
                                    </p:anim>
                                    <p:anim calcmode="lin" valueType="num">
                                      <p:cBhvr additive="base">
                                        <p:cTn id="127" dur="500" fill="hold"/>
                                        <p:tgtEl>
                                          <p:spTgt spid="34"/>
                                        </p:tgtEl>
                                        <p:attrNameLst>
                                          <p:attrName>ppt_y</p:attrName>
                                        </p:attrNameLst>
                                      </p:cBhvr>
                                      <p:tavLst>
                                        <p:tav tm="0">
                                          <p:val>
                                            <p:strVal val="#ppt_y+0.1"/>
                                          </p:val>
                                        </p:tav>
                                        <p:tav tm="100000">
                                          <p:val>
                                            <p:strVal val="#ppt_y"/>
                                          </p:val>
                                        </p:tav>
                                      </p:tavLst>
                                    </p:anim>
                                    <p:animEffect transition="in" filter="fade">
                                      <p:cBhvr>
                                        <p:cTn id="128" dur="500"/>
                                        <p:tgtEl>
                                          <p:spTgt spid="34"/>
                                        </p:tgtEl>
                                      </p:cBhvr>
                                    </p:animEffect>
                                  </p:childTnLst>
                                </p:cTn>
                              </p:par>
                              <p:par>
                                <p:cTn id="134" presetID="2" presetClass="entr" presetSubtype="4" fill="hold" grpId="0" nodeType="withEffect">
                                  <p:stCondLst>
                                    <p:cond delay="360"/>
                                  </p:stCondLst>
                                  <p:childTnLst>
                                    <p:set>
                                      <p:cBhvr>
                                        <p:cTn id="130" dur="1" fill="hold">
                                          <p:stCondLst>
                                            <p:cond delay="0"/>
                                          </p:stCondLst>
                                        </p:cTn>
                                        <p:tgtEl>
                                          <p:spTgt spid="35"/>
                                        </p:tgtEl>
                                        <p:attrNameLst>
                                          <p:attrName>style.visibility</p:attrName>
                                        </p:attrNameLst>
                                      </p:cBhvr>
                                      <p:to>
                                        <p:strVal val="visible"/>
                                      </p:to>
                                    </p:set>
                                    <p:anim calcmode="lin" valueType="num">
                                      <p:cBhvr additive="base">
                                        <p:cTn id="131" dur="500" fill="hold"/>
                                        <p:tgtEl>
                                          <p:spTgt spid="35"/>
                                        </p:tgtEl>
                                        <p:attrNameLst>
                                          <p:attrName>ppt_x</p:attrName>
                                        </p:attrNameLst>
                                      </p:cBhvr>
                                      <p:tavLst>
                                        <p:tav tm="0">
                                          <p:val>
                                            <p:strVal val="#ppt_x"/>
                                          </p:val>
                                        </p:tav>
                                        <p:tav tm="100000">
                                          <p:val>
                                            <p:strVal val="#ppt_x"/>
                                          </p:val>
                                        </p:tav>
                                      </p:tavLst>
                                    </p:anim>
                                    <p:anim calcmode="lin" valueType="num">
                                      <p:cBhvr additive="base">
                                        <p:cTn id="132" dur="500" fill="hold"/>
                                        <p:tgtEl>
                                          <p:spTgt spid="35"/>
                                        </p:tgtEl>
                                        <p:attrNameLst>
                                          <p:attrName>ppt_y</p:attrName>
                                        </p:attrNameLst>
                                      </p:cBhvr>
                                      <p:tavLst>
                                        <p:tav tm="0">
                                          <p:val>
                                            <p:strVal val="#ppt_y+0.1"/>
                                          </p:val>
                                        </p:tav>
                                        <p:tav tm="100000">
                                          <p:val>
                                            <p:strVal val="#ppt_y"/>
                                          </p:val>
                                        </p:tav>
                                      </p:tavLst>
                                    </p:anim>
                                    <p:animEffect transition="in" filter="fade">
                                      <p:cBhvr>
                                        <p:cTn id="133" dur="500"/>
                                        <p:tgtEl>
                                          <p:spTgt spid="35"/>
                                        </p:tgtEl>
                                      </p:cBhvr>
                                    </p:animEffect>
                                  </p:childTnLst>
                                </p:cTn>
                              </p:par>
                              <p:par>
                                <p:cTn id="139" presetID="2" presetClass="entr" presetSubtype="4" fill="hold" grpId="0" nodeType="withEffect">
                                  <p:stCondLst>
                                    <p:cond delay="460"/>
                                  </p:stCondLst>
                                  <p:childTnLst>
                                    <p:set>
                                      <p:cBhvr>
                                        <p:cTn id="135" dur="1" fill="hold">
                                          <p:stCondLst>
                                            <p:cond delay="0"/>
                                          </p:stCondLst>
                                        </p:cTn>
                                        <p:tgtEl>
                                          <p:spTgt spid="36"/>
                                        </p:tgtEl>
                                        <p:attrNameLst>
                                          <p:attrName>style.visibility</p:attrName>
                                        </p:attrNameLst>
                                      </p:cBhvr>
                                      <p:to>
                                        <p:strVal val="visible"/>
                                      </p:to>
                                    </p:set>
                                    <p:anim calcmode="lin" valueType="num">
                                      <p:cBhvr additive="base">
                                        <p:cTn id="136" dur="500" fill="hold"/>
                                        <p:tgtEl>
                                          <p:spTgt spid="36"/>
                                        </p:tgtEl>
                                        <p:attrNameLst>
                                          <p:attrName>ppt_x</p:attrName>
                                        </p:attrNameLst>
                                      </p:cBhvr>
                                      <p:tavLst>
                                        <p:tav tm="0">
                                          <p:val>
                                            <p:strVal val="#ppt_x"/>
                                          </p:val>
                                        </p:tav>
                                        <p:tav tm="100000">
                                          <p:val>
                                            <p:strVal val="#ppt_x"/>
                                          </p:val>
                                        </p:tav>
                                      </p:tavLst>
                                    </p:anim>
                                    <p:anim calcmode="lin" valueType="num">
                                      <p:cBhvr additive="base">
                                        <p:cTn id="137" dur="500" fill="hold"/>
                                        <p:tgtEl>
                                          <p:spTgt spid="36"/>
                                        </p:tgtEl>
                                        <p:attrNameLst>
                                          <p:attrName>ppt_y</p:attrName>
                                        </p:attrNameLst>
                                      </p:cBhvr>
                                      <p:tavLst>
                                        <p:tav tm="0">
                                          <p:val>
                                            <p:strVal val="#ppt_y+0.1"/>
                                          </p:val>
                                        </p:tav>
                                        <p:tav tm="100000">
                                          <p:val>
                                            <p:strVal val="#ppt_y"/>
                                          </p:val>
                                        </p:tav>
                                      </p:tavLst>
                                    </p:anim>
                                    <p:animEffect transition="in" filter="fade">
                                      <p:cBhvr>
                                        <p:cTn id="138" dur="500"/>
                                        <p:tgtEl>
                                          <p:spTgt spid="36"/>
                                        </p:tgtEl>
                                      </p:cBhvr>
                                    </p:animEffect>
                                  </p:childTnLst>
                                </p:cTn>
                              </p:par>
                              <p:par>
                                <p:cTn id="144" presetID="2" presetClass="entr" presetSubtype="4" fill="hold" grpId="0" nodeType="withEffect">
                                  <p:stCondLst>
                                    <p:cond delay="460"/>
                                  </p:stCondLst>
                                  <p:childTnLst>
                                    <p:set>
                                      <p:cBhvr>
                                        <p:cTn id="140" dur="1" fill="hold">
                                          <p:stCondLst>
                                            <p:cond delay="0"/>
                                          </p:stCondLst>
                                        </p:cTn>
                                        <p:tgtEl>
                                          <p:spTgt spid="37"/>
                                        </p:tgtEl>
                                        <p:attrNameLst>
                                          <p:attrName>style.visibility</p:attrName>
                                        </p:attrNameLst>
                                      </p:cBhvr>
                                      <p:to>
                                        <p:strVal val="visible"/>
                                      </p:to>
                                    </p:set>
                                    <p:anim calcmode="lin" valueType="num">
                                      <p:cBhvr additive="base">
                                        <p:cTn id="141" dur="500" fill="hold"/>
                                        <p:tgtEl>
                                          <p:spTgt spid="37"/>
                                        </p:tgtEl>
                                        <p:attrNameLst>
                                          <p:attrName>ppt_x</p:attrName>
                                        </p:attrNameLst>
                                      </p:cBhvr>
                                      <p:tavLst>
                                        <p:tav tm="0">
                                          <p:val>
                                            <p:strVal val="#ppt_x"/>
                                          </p:val>
                                        </p:tav>
                                        <p:tav tm="100000">
                                          <p:val>
                                            <p:strVal val="#ppt_x"/>
                                          </p:val>
                                        </p:tav>
                                      </p:tavLst>
                                    </p:anim>
                                    <p:anim calcmode="lin" valueType="num">
                                      <p:cBhvr additive="base">
                                        <p:cTn id="142" dur="500" fill="hold"/>
                                        <p:tgtEl>
                                          <p:spTgt spid="37"/>
                                        </p:tgtEl>
                                        <p:attrNameLst>
                                          <p:attrName>ppt_y</p:attrName>
                                        </p:attrNameLst>
                                      </p:cBhvr>
                                      <p:tavLst>
                                        <p:tav tm="0">
                                          <p:val>
                                            <p:strVal val="#ppt_y+0.1"/>
                                          </p:val>
                                        </p:tav>
                                        <p:tav tm="100000">
                                          <p:val>
                                            <p:strVal val="#ppt_y"/>
                                          </p:val>
                                        </p:tav>
                                      </p:tavLst>
                                    </p:anim>
                                    <p:animEffect transition="in" filter="fade">
                                      <p:cBhvr>
                                        <p:cTn id="143" dur="500"/>
                                        <p:tgtEl>
                                          <p:spTgt spid="37"/>
                                        </p:tgtEl>
                                      </p:cBhvr>
                                    </p:animEffect>
                                  </p:childTnLst>
                                </p:cTn>
                              </p:par>
                            </p:childTnLst>
                          </p:cTn>
                        </p:par>
                      </p:childTnLst>
                    </p:cTn>
                  </p:par>
                  <p:par>
                    <p:cTn id="145" fill="hold">
                      <p:stCondLst>
                        <p:cond delay="indefinite"/>
                      </p:stCondLst>
                      <p:childTnLst>
                        <p:par>
                          <p:cTn id="146" fill="hold">
                            <p:stCondLst>
                              <p:cond delay="0"/>
                            </p:stCondLst>
                            <p:childTnLst>
                              <p:par>
                                <p:cTn id="149" presetID="10" presetClass="entr" presetSubtype="0" fill="hold" grpId="0" nodeType="click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500"/>
                                        <p:tgtEl>
                                          <p:spTgt spid="38"/>
                                        </p:tgtEl>
                                      </p:cBhvr>
                                    </p:animEffect>
                                  </p:childTnLst>
                                </p:cTn>
                              </p:par>
                              <p:par>
                                <p:cTn id="152" presetID="10" presetClass="entr" presetSubtype="0" fill="hold" grpId="0" nodeType="with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500"/>
                                        <p:tgtEl>
                                          <p:spTgt spid="39"/>
                                        </p:tgtEl>
                                      </p:cBhvr>
                                    </p:animEffect>
                                  </p:childTnLst>
                                </p:cTn>
                              </p:par>
                              <p:par>
                                <p:cTn id="155" presetID="10" presetClass="entr" presetSubtype="0" fill="hold" grpId="0" nodeType="withEffect">
                                  <p:stCondLst>
                                    <p:cond delay="0"/>
                                  </p:stCondLst>
                                  <p:childTnLst>
                                    <p:set>
                                      <p:cBhvr>
                                        <p:cTn id="153" dur="1" fill="hold">
                                          <p:stCondLst>
                                            <p:cond delay="0"/>
                                          </p:stCondLst>
                                        </p:cTn>
                                        <p:tgtEl>
                                          <p:spTgt spid="46"/>
                                        </p:tgtEl>
                                        <p:attrNameLst>
                                          <p:attrName>style.visibility</p:attrName>
                                        </p:attrNameLst>
                                      </p:cBhvr>
                                      <p:to>
                                        <p:strVal val="visible"/>
                                      </p:to>
                                    </p:set>
                                    <p:animEffect transition="in" filter="fade">
                                      <p:cBhvr>
                                        <p:cTn id="154" dur="500"/>
                                        <p:tgtEl>
                                          <p:spTgt spid="46"/>
                                        </p:tgtEl>
                                      </p:cBhvr>
                                    </p:animEffect>
                                  </p:childTnLst>
                                </p:cTn>
                              </p:par>
                              <p:par>
                                <p:cTn id="158" presetID="10" presetClass="entr" presetSubtype="0" fill="hold" grpId="0" nodeType="withEffect">
                                  <p:stCondLst>
                                    <p:cond delay="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7" dur="500"/>
                                        <p:tgtEl>
                                          <p:spTgt spid="47"/>
                                        </p:tgtEl>
                                      </p:cBhvr>
                                    </p:animEffect>
                                  </p:childTnLst>
                                </p:cTn>
                              </p:par>
                              <p:par>
                                <p:cTn id="161" presetID="10" presetClass="entr" presetSubtype="0" fill="hold" grpId="0" nodeType="with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500"/>
                                        <p:tgtEl>
                                          <p:spTgt spid="54"/>
                                        </p:tgtEl>
                                      </p:cBhvr>
                                    </p:animEffect>
                                  </p:childTnLst>
                                </p:cTn>
                              </p:par>
                              <p:par>
                                <p:cTn id="164" presetID="10" presetClass="entr" presetSubtype="0" fill="hold" grpId="0" nodeType="withEffect">
                                  <p:stCondLst>
                                    <p:cond delay="0"/>
                                  </p:stCondLst>
                                  <p:childTnLst>
                                    <p:set>
                                      <p:cBhvr>
                                        <p:cTn id="162" dur="1" fill="hold">
                                          <p:stCondLst>
                                            <p:cond delay="0"/>
                                          </p:stCondLst>
                                        </p:cTn>
                                        <p:tgtEl>
                                          <p:spTgt spid="55"/>
                                        </p:tgtEl>
                                        <p:attrNameLst>
                                          <p:attrName>style.visibility</p:attrName>
                                        </p:attrNameLst>
                                      </p:cBhvr>
                                      <p:to>
                                        <p:strVal val="visible"/>
                                      </p:to>
                                    </p:set>
                                    <p:animEffect transition="in" filter="fade">
                                      <p:cBhvr>
                                        <p:cTn id="163" dur="500"/>
                                        <p:tgtEl>
                                          <p:spTgt spid="55"/>
                                        </p:tgtEl>
                                      </p:cBhvr>
                                    </p:animEffect>
                                  </p:childTnLst>
                                </p:cTn>
                              </p:par>
                              <p:par>
                                <p:cTn id="167" presetID="22" presetClass="entr" presetSubtype="8" fill="hold" grpId="0" nodeType="withEffect">
                                  <p:stCondLst>
                                    <p:cond delay="130"/>
                                  </p:stCondLst>
                                  <p:childTnLst>
                                    <p:set>
                                      <p:cBhvr>
                                        <p:cTn id="165" dur="1" fill="hold">
                                          <p:stCondLst>
                                            <p:cond delay="0"/>
                                          </p:stCondLst>
                                        </p:cTn>
                                        <p:tgtEl>
                                          <p:spTgt spid="40"/>
                                        </p:tgtEl>
                                        <p:attrNameLst>
                                          <p:attrName>style.visibility</p:attrName>
                                        </p:attrNameLst>
                                      </p:cBhvr>
                                      <p:to>
                                        <p:strVal val="visible"/>
                                      </p:to>
                                    </p:set>
                                    <p:animEffect transition="in" filter="wipe(left)">
                                      <p:cBhvr>
                                        <p:cTn id="166" dur="500"/>
                                        <p:tgtEl>
                                          <p:spTgt spid="40"/>
                                        </p:tgtEl>
                                      </p:cBhvr>
                                    </p:animEffect>
                                  </p:childTnLst>
                                </p:cTn>
                              </p:par>
                              <p:par>
                                <p:cTn id="170" presetID="22" presetClass="entr" presetSubtype="8" fill="hold" grpId="0" nodeType="withEffect">
                                  <p:stCondLst>
                                    <p:cond delay="130"/>
                                  </p:stCondLst>
                                  <p:childTnLst>
                                    <p:set>
                                      <p:cBhvr>
                                        <p:cTn id="168" dur="1" fill="hold">
                                          <p:stCondLst>
                                            <p:cond delay="0"/>
                                          </p:stCondLst>
                                        </p:cTn>
                                        <p:tgtEl>
                                          <p:spTgt spid="41"/>
                                        </p:tgtEl>
                                        <p:attrNameLst>
                                          <p:attrName>style.visibility</p:attrName>
                                        </p:attrNameLst>
                                      </p:cBhvr>
                                      <p:to>
                                        <p:strVal val="visible"/>
                                      </p:to>
                                    </p:set>
                                    <p:animEffect transition="in" filter="wipe(left)">
                                      <p:cBhvr>
                                        <p:cTn id="169" dur="500"/>
                                        <p:tgtEl>
                                          <p:spTgt spid="41"/>
                                        </p:tgtEl>
                                      </p:cBhvr>
                                    </p:animEffect>
                                  </p:childTnLst>
                                </p:cTn>
                              </p:par>
                              <p:par>
                                <p:cTn id="173" presetID="22" presetClass="entr" presetSubtype="8" fill="hold" grpId="0" nodeType="withEffect">
                                  <p:stCondLst>
                                    <p:cond delay="130"/>
                                  </p:stCondLst>
                                  <p:childTnLst>
                                    <p:set>
                                      <p:cBhvr>
                                        <p:cTn id="171" dur="1" fill="hold">
                                          <p:stCondLst>
                                            <p:cond delay="0"/>
                                          </p:stCondLst>
                                        </p:cTn>
                                        <p:tgtEl>
                                          <p:spTgt spid="48"/>
                                        </p:tgtEl>
                                        <p:attrNameLst>
                                          <p:attrName>style.visibility</p:attrName>
                                        </p:attrNameLst>
                                      </p:cBhvr>
                                      <p:to>
                                        <p:strVal val="visible"/>
                                      </p:to>
                                    </p:set>
                                    <p:animEffect transition="in" filter="wipe(left)">
                                      <p:cBhvr>
                                        <p:cTn id="172" dur="500"/>
                                        <p:tgtEl>
                                          <p:spTgt spid="48"/>
                                        </p:tgtEl>
                                      </p:cBhvr>
                                    </p:animEffect>
                                  </p:childTnLst>
                                </p:cTn>
                              </p:par>
                              <p:par>
                                <p:cTn id="176" presetID="22" presetClass="entr" presetSubtype="8" fill="hold" grpId="0" nodeType="withEffect">
                                  <p:stCondLst>
                                    <p:cond delay="130"/>
                                  </p:stCondLst>
                                  <p:childTnLst>
                                    <p:set>
                                      <p:cBhvr>
                                        <p:cTn id="174" dur="1" fill="hold">
                                          <p:stCondLst>
                                            <p:cond delay="0"/>
                                          </p:stCondLst>
                                        </p:cTn>
                                        <p:tgtEl>
                                          <p:spTgt spid="49"/>
                                        </p:tgtEl>
                                        <p:attrNameLst>
                                          <p:attrName>style.visibility</p:attrName>
                                        </p:attrNameLst>
                                      </p:cBhvr>
                                      <p:to>
                                        <p:strVal val="visible"/>
                                      </p:to>
                                    </p:set>
                                    <p:animEffect transition="in" filter="wipe(left)">
                                      <p:cBhvr>
                                        <p:cTn id="175" dur="500"/>
                                        <p:tgtEl>
                                          <p:spTgt spid="49"/>
                                        </p:tgtEl>
                                      </p:cBhvr>
                                    </p:animEffect>
                                  </p:childTnLst>
                                </p:cTn>
                              </p:par>
                              <p:par>
                                <p:cTn id="179" presetID="22" presetClass="entr" presetSubtype="8" fill="hold" grpId="0" nodeType="withEffect">
                                  <p:stCondLst>
                                    <p:cond delay="130"/>
                                  </p:stCondLst>
                                  <p:childTnLst>
                                    <p:set>
                                      <p:cBhvr>
                                        <p:cTn id="177" dur="1" fill="hold">
                                          <p:stCondLst>
                                            <p:cond delay="0"/>
                                          </p:stCondLst>
                                        </p:cTn>
                                        <p:tgtEl>
                                          <p:spTgt spid="56"/>
                                        </p:tgtEl>
                                        <p:attrNameLst>
                                          <p:attrName>style.visibility</p:attrName>
                                        </p:attrNameLst>
                                      </p:cBhvr>
                                      <p:to>
                                        <p:strVal val="visible"/>
                                      </p:to>
                                    </p:set>
                                    <p:animEffect transition="in" filter="wipe(left)">
                                      <p:cBhvr>
                                        <p:cTn id="178" dur="500"/>
                                        <p:tgtEl>
                                          <p:spTgt spid="56"/>
                                        </p:tgtEl>
                                      </p:cBhvr>
                                    </p:animEffect>
                                  </p:childTnLst>
                                </p:cTn>
                              </p:par>
                              <p:par>
                                <p:cTn id="182" presetID="22" presetClass="entr" presetSubtype="8" fill="hold" grpId="0" nodeType="withEffect">
                                  <p:stCondLst>
                                    <p:cond delay="130"/>
                                  </p:stCondLst>
                                  <p:childTnLst>
                                    <p:set>
                                      <p:cBhvr>
                                        <p:cTn id="180" dur="1" fill="hold">
                                          <p:stCondLst>
                                            <p:cond delay="0"/>
                                          </p:stCondLst>
                                        </p:cTn>
                                        <p:tgtEl>
                                          <p:spTgt spid="57"/>
                                        </p:tgtEl>
                                        <p:attrNameLst>
                                          <p:attrName>style.visibility</p:attrName>
                                        </p:attrNameLst>
                                      </p:cBhvr>
                                      <p:to>
                                        <p:strVal val="visible"/>
                                      </p:to>
                                    </p:set>
                                    <p:animEffect transition="in" filter="wipe(left)">
                                      <p:cBhvr>
                                        <p:cTn id="181" dur="500"/>
                                        <p:tgtEl>
                                          <p:spTgt spid="57"/>
                                        </p:tgtEl>
                                      </p:cBhvr>
                                    </p:animEffect>
                                  </p:childTnLst>
                                </p:cTn>
                              </p:par>
                              <p:par>
                                <p:cTn id="185" presetID="22" presetClass="entr" presetSubtype="8" fill="hold" grpId="0" nodeType="withEffect">
                                  <p:stCondLst>
                                    <p:cond delay="260"/>
                                  </p:stCondLst>
                                  <p:childTnLst>
                                    <p:set>
                                      <p:cBhvr>
                                        <p:cTn id="183" dur="1" fill="hold">
                                          <p:stCondLst>
                                            <p:cond delay="0"/>
                                          </p:stCondLst>
                                        </p:cTn>
                                        <p:tgtEl>
                                          <p:spTgt spid="42"/>
                                        </p:tgtEl>
                                        <p:attrNameLst>
                                          <p:attrName>style.visibility</p:attrName>
                                        </p:attrNameLst>
                                      </p:cBhvr>
                                      <p:to>
                                        <p:strVal val="visible"/>
                                      </p:to>
                                    </p:set>
                                    <p:animEffect transition="in" filter="wipe(left)">
                                      <p:cBhvr>
                                        <p:cTn id="184" dur="500"/>
                                        <p:tgtEl>
                                          <p:spTgt spid="42"/>
                                        </p:tgtEl>
                                      </p:cBhvr>
                                    </p:animEffect>
                                  </p:childTnLst>
                                </p:cTn>
                              </p:par>
                              <p:par>
                                <p:cTn id="188" presetID="22" presetClass="entr" presetSubtype="8" fill="hold" grpId="0" nodeType="withEffect">
                                  <p:stCondLst>
                                    <p:cond delay="260"/>
                                  </p:stCondLst>
                                  <p:childTnLst>
                                    <p:set>
                                      <p:cBhvr>
                                        <p:cTn id="186" dur="1" fill="hold">
                                          <p:stCondLst>
                                            <p:cond delay="0"/>
                                          </p:stCondLst>
                                        </p:cTn>
                                        <p:tgtEl>
                                          <p:spTgt spid="43"/>
                                        </p:tgtEl>
                                        <p:attrNameLst>
                                          <p:attrName>style.visibility</p:attrName>
                                        </p:attrNameLst>
                                      </p:cBhvr>
                                      <p:to>
                                        <p:strVal val="visible"/>
                                      </p:to>
                                    </p:set>
                                    <p:animEffect transition="in" filter="wipe(left)">
                                      <p:cBhvr>
                                        <p:cTn id="187" dur="500"/>
                                        <p:tgtEl>
                                          <p:spTgt spid="43"/>
                                        </p:tgtEl>
                                      </p:cBhvr>
                                    </p:animEffect>
                                  </p:childTnLst>
                                </p:cTn>
                              </p:par>
                              <p:par>
                                <p:cTn id="191" presetID="22" presetClass="entr" presetSubtype="8" fill="hold" grpId="0" nodeType="withEffect">
                                  <p:stCondLst>
                                    <p:cond delay="260"/>
                                  </p:stCondLst>
                                  <p:childTnLst>
                                    <p:set>
                                      <p:cBhvr>
                                        <p:cTn id="189" dur="1" fill="hold">
                                          <p:stCondLst>
                                            <p:cond delay="0"/>
                                          </p:stCondLst>
                                        </p:cTn>
                                        <p:tgtEl>
                                          <p:spTgt spid="50"/>
                                        </p:tgtEl>
                                        <p:attrNameLst>
                                          <p:attrName>style.visibility</p:attrName>
                                        </p:attrNameLst>
                                      </p:cBhvr>
                                      <p:to>
                                        <p:strVal val="visible"/>
                                      </p:to>
                                    </p:set>
                                    <p:animEffect transition="in" filter="wipe(left)">
                                      <p:cBhvr>
                                        <p:cTn id="190" dur="500"/>
                                        <p:tgtEl>
                                          <p:spTgt spid="50"/>
                                        </p:tgtEl>
                                      </p:cBhvr>
                                    </p:animEffect>
                                  </p:childTnLst>
                                </p:cTn>
                              </p:par>
                              <p:par>
                                <p:cTn id="194" presetID="22" presetClass="entr" presetSubtype="8" fill="hold" grpId="0" nodeType="withEffect">
                                  <p:stCondLst>
                                    <p:cond delay="260"/>
                                  </p:stCondLst>
                                  <p:childTnLst>
                                    <p:set>
                                      <p:cBhvr>
                                        <p:cTn id="192" dur="1" fill="hold">
                                          <p:stCondLst>
                                            <p:cond delay="0"/>
                                          </p:stCondLst>
                                        </p:cTn>
                                        <p:tgtEl>
                                          <p:spTgt spid="51"/>
                                        </p:tgtEl>
                                        <p:attrNameLst>
                                          <p:attrName>style.visibility</p:attrName>
                                        </p:attrNameLst>
                                      </p:cBhvr>
                                      <p:to>
                                        <p:strVal val="visible"/>
                                      </p:to>
                                    </p:set>
                                    <p:animEffect transition="in" filter="wipe(left)">
                                      <p:cBhvr>
                                        <p:cTn id="193" dur="500"/>
                                        <p:tgtEl>
                                          <p:spTgt spid="51"/>
                                        </p:tgtEl>
                                      </p:cBhvr>
                                    </p:animEffect>
                                  </p:childTnLst>
                                </p:cTn>
                              </p:par>
                              <p:par>
                                <p:cTn id="197" presetID="22" presetClass="entr" presetSubtype="8" fill="hold" grpId="0" nodeType="withEffect">
                                  <p:stCondLst>
                                    <p:cond delay="260"/>
                                  </p:stCondLst>
                                  <p:childTnLst>
                                    <p:set>
                                      <p:cBhvr>
                                        <p:cTn id="195" dur="1" fill="hold">
                                          <p:stCondLst>
                                            <p:cond delay="0"/>
                                          </p:stCondLst>
                                        </p:cTn>
                                        <p:tgtEl>
                                          <p:spTgt spid="58"/>
                                        </p:tgtEl>
                                        <p:attrNameLst>
                                          <p:attrName>style.visibility</p:attrName>
                                        </p:attrNameLst>
                                      </p:cBhvr>
                                      <p:to>
                                        <p:strVal val="visible"/>
                                      </p:to>
                                    </p:set>
                                    <p:animEffect transition="in" filter="wipe(left)">
                                      <p:cBhvr>
                                        <p:cTn id="196" dur="500"/>
                                        <p:tgtEl>
                                          <p:spTgt spid="58"/>
                                        </p:tgtEl>
                                      </p:cBhvr>
                                    </p:animEffect>
                                  </p:childTnLst>
                                </p:cTn>
                              </p:par>
                              <p:par>
                                <p:cTn id="200" presetID="22" presetClass="entr" presetSubtype="8" fill="hold" grpId="0" nodeType="withEffect">
                                  <p:stCondLst>
                                    <p:cond delay="260"/>
                                  </p:stCondLst>
                                  <p:childTnLst>
                                    <p:set>
                                      <p:cBhvr>
                                        <p:cTn id="198" dur="1" fill="hold">
                                          <p:stCondLst>
                                            <p:cond delay="0"/>
                                          </p:stCondLst>
                                        </p:cTn>
                                        <p:tgtEl>
                                          <p:spTgt spid="59"/>
                                        </p:tgtEl>
                                        <p:attrNameLst>
                                          <p:attrName>style.visibility</p:attrName>
                                        </p:attrNameLst>
                                      </p:cBhvr>
                                      <p:to>
                                        <p:strVal val="visible"/>
                                      </p:to>
                                    </p:set>
                                    <p:animEffect transition="in" filter="wipe(left)">
                                      <p:cBhvr>
                                        <p:cTn id="199" dur="500"/>
                                        <p:tgtEl>
                                          <p:spTgt spid="59"/>
                                        </p:tgtEl>
                                      </p:cBhvr>
                                    </p:animEffect>
                                  </p:childTnLst>
                                </p:cTn>
                              </p:par>
                              <p:par>
                                <p:cTn id="203" presetID="22" presetClass="entr" presetSubtype="8" fill="hold" grpId="0" nodeType="withEffect">
                                  <p:stCondLst>
                                    <p:cond delay="390"/>
                                  </p:stCondLst>
                                  <p:childTnLst>
                                    <p:set>
                                      <p:cBhvr>
                                        <p:cTn id="201" dur="1" fill="hold">
                                          <p:stCondLst>
                                            <p:cond delay="0"/>
                                          </p:stCondLst>
                                        </p:cTn>
                                        <p:tgtEl>
                                          <p:spTgt spid="44"/>
                                        </p:tgtEl>
                                        <p:attrNameLst>
                                          <p:attrName>style.visibility</p:attrName>
                                        </p:attrNameLst>
                                      </p:cBhvr>
                                      <p:to>
                                        <p:strVal val="visible"/>
                                      </p:to>
                                    </p:set>
                                    <p:animEffect transition="in" filter="wipe(left)">
                                      <p:cBhvr>
                                        <p:cTn id="202" dur="500"/>
                                        <p:tgtEl>
                                          <p:spTgt spid="44"/>
                                        </p:tgtEl>
                                      </p:cBhvr>
                                    </p:animEffect>
                                  </p:childTnLst>
                                </p:cTn>
                              </p:par>
                              <p:par>
                                <p:cTn id="206" presetID="22" presetClass="entr" presetSubtype="8" fill="hold" grpId="0" nodeType="withEffect">
                                  <p:stCondLst>
                                    <p:cond delay="390"/>
                                  </p:stCondLst>
                                  <p:childTnLst>
                                    <p:set>
                                      <p:cBhvr>
                                        <p:cTn id="204" dur="1" fill="hold">
                                          <p:stCondLst>
                                            <p:cond delay="0"/>
                                          </p:stCondLst>
                                        </p:cTn>
                                        <p:tgtEl>
                                          <p:spTgt spid="45"/>
                                        </p:tgtEl>
                                        <p:attrNameLst>
                                          <p:attrName>style.visibility</p:attrName>
                                        </p:attrNameLst>
                                      </p:cBhvr>
                                      <p:to>
                                        <p:strVal val="visible"/>
                                      </p:to>
                                    </p:set>
                                    <p:animEffect transition="in" filter="wipe(left)">
                                      <p:cBhvr>
                                        <p:cTn id="205" dur="500"/>
                                        <p:tgtEl>
                                          <p:spTgt spid="45"/>
                                        </p:tgtEl>
                                      </p:cBhvr>
                                    </p:animEffect>
                                  </p:childTnLst>
                                </p:cTn>
                              </p:par>
                              <p:par>
                                <p:cTn id="209" presetID="22" presetClass="entr" presetSubtype="8" fill="hold" grpId="0" nodeType="withEffect">
                                  <p:stCondLst>
                                    <p:cond delay="390"/>
                                  </p:stCondLst>
                                  <p:childTnLst>
                                    <p:set>
                                      <p:cBhvr>
                                        <p:cTn id="207" dur="1" fill="hold">
                                          <p:stCondLst>
                                            <p:cond delay="0"/>
                                          </p:stCondLst>
                                        </p:cTn>
                                        <p:tgtEl>
                                          <p:spTgt spid="52"/>
                                        </p:tgtEl>
                                        <p:attrNameLst>
                                          <p:attrName>style.visibility</p:attrName>
                                        </p:attrNameLst>
                                      </p:cBhvr>
                                      <p:to>
                                        <p:strVal val="visible"/>
                                      </p:to>
                                    </p:set>
                                    <p:animEffect transition="in" filter="wipe(left)">
                                      <p:cBhvr>
                                        <p:cTn id="208" dur="500"/>
                                        <p:tgtEl>
                                          <p:spTgt spid="52"/>
                                        </p:tgtEl>
                                      </p:cBhvr>
                                    </p:animEffect>
                                  </p:childTnLst>
                                </p:cTn>
                              </p:par>
                              <p:par>
                                <p:cTn id="212" presetID="22" presetClass="entr" presetSubtype="8" fill="hold" grpId="0" nodeType="withEffect">
                                  <p:stCondLst>
                                    <p:cond delay="390"/>
                                  </p:stCondLst>
                                  <p:childTnLst>
                                    <p:set>
                                      <p:cBhvr>
                                        <p:cTn id="210" dur="1" fill="hold">
                                          <p:stCondLst>
                                            <p:cond delay="0"/>
                                          </p:stCondLst>
                                        </p:cTn>
                                        <p:tgtEl>
                                          <p:spTgt spid="53"/>
                                        </p:tgtEl>
                                        <p:attrNameLst>
                                          <p:attrName>style.visibility</p:attrName>
                                        </p:attrNameLst>
                                      </p:cBhvr>
                                      <p:to>
                                        <p:strVal val="visible"/>
                                      </p:to>
                                    </p:set>
                                    <p:animEffect transition="in" filter="wipe(left)">
                                      <p:cBhvr>
                                        <p:cTn id="211" dur="500"/>
                                        <p:tgtEl>
                                          <p:spTgt spid="53"/>
                                        </p:tgtEl>
                                      </p:cBhvr>
                                    </p:animEffect>
                                  </p:childTnLst>
                                </p:cTn>
                              </p:par>
                              <p:par>
                                <p:cTn id="215" presetID="22" presetClass="entr" presetSubtype="8" fill="hold" grpId="0" nodeType="withEffect">
                                  <p:stCondLst>
                                    <p:cond delay="390"/>
                                  </p:stCondLst>
                                  <p:childTnLst>
                                    <p:set>
                                      <p:cBhvr>
                                        <p:cTn id="213" dur="1" fill="hold">
                                          <p:stCondLst>
                                            <p:cond delay="0"/>
                                          </p:stCondLst>
                                        </p:cTn>
                                        <p:tgtEl>
                                          <p:spTgt spid="60"/>
                                        </p:tgtEl>
                                        <p:attrNameLst>
                                          <p:attrName>style.visibility</p:attrName>
                                        </p:attrNameLst>
                                      </p:cBhvr>
                                      <p:to>
                                        <p:strVal val="visible"/>
                                      </p:to>
                                    </p:set>
                                    <p:animEffect transition="in" filter="wipe(left)">
                                      <p:cBhvr>
                                        <p:cTn id="214" dur="500"/>
                                        <p:tgtEl>
                                          <p:spTgt spid="60"/>
                                        </p:tgtEl>
                                      </p:cBhvr>
                                    </p:animEffect>
                                  </p:childTnLst>
                                </p:cTn>
                              </p:par>
                              <p:par>
                                <p:cTn id="218" presetID="22" presetClass="entr" presetSubtype="8" fill="hold" grpId="0" nodeType="withEffect">
                                  <p:stCondLst>
                                    <p:cond delay="390"/>
                                  </p:stCondLst>
                                  <p:childTnLst>
                                    <p:set>
                                      <p:cBhvr>
                                        <p:cTn id="216" dur="1" fill="hold">
                                          <p:stCondLst>
                                            <p:cond delay="0"/>
                                          </p:stCondLst>
                                        </p:cTn>
                                        <p:tgtEl>
                                          <p:spTgt spid="61"/>
                                        </p:tgtEl>
                                        <p:attrNameLst>
                                          <p:attrName>style.visibility</p:attrName>
                                        </p:attrNameLst>
                                      </p:cBhvr>
                                      <p:to>
                                        <p:strVal val="visible"/>
                                      </p:to>
                                    </p:set>
                                    <p:animEffect transition="in" filter="wipe(left)">
                                      <p:cBhvr>
                                        <p:cTn id="21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Type 4 · Graph Databases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When the relationships are the data you actually want to query</a:t>
            </a:r>
          </a:p>
        </p:txBody>
      </p:sp>
      <p:sp>
        <p:nvSpPr>
          <p:cNvPr id="4" name="a1u_card3"/>
          <p:cNvSpPr/>
          <p:nvPr/>
        </p:nvSpPr>
        <p:spPr>
          <a:xfrm>
            <a:off x="457200" y="1170432"/>
            <a:ext cx="4206240" cy="2148840"/>
          </a:xfrm>
          <a:prstGeom prst="roundRect">
            <a:avLst>
              <a:gd name="adj" fmla="val 42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 name="a1wd600_e4"/>
          <p:cNvCxnSpPr/>
          <p:nvPr/>
        </p:nvCxnSpPr>
        <p:spPr>
          <a:xfrm flipV="1">
            <a:off x="1517904" y="1819655"/>
            <a:ext cx="1463040" cy="137161"/>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a1fd650_el5"/>
          <p:cNvSpPr txBox="1"/>
          <p:nvPr/>
        </p:nvSpPr>
        <p:spPr>
          <a:xfrm>
            <a:off x="1865376" y="1787651"/>
            <a:ext cx="768096" cy="201168"/>
          </a:xfrm>
          <a:prstGeom prst="rect">
            <a:avLst/>
          </a:prstGeom>
          <a:noFill/>
        </p:spPr>
        <p:txBody>
          <a:bodyPr wrap="square" lIns="0" tIns="0" rIns="0" bIns="0" anchor="ctr">
            <a:spAutoFit/>
          </a:bodyPr>
          <a:lstStyle/>
          <a:p>
            <a:pPr algn="ctr"/>
            <a:r>
              <a:rPr sz="750" b="1">
                <a:solidFill>
                  <a:srgbClr val="64748B"/>
                </a:solidFill>
                <a:latin typeface="Calibri"/>
              </a:rPr>
              <a:t>OWNS</a:t>
            </a:r>
          </a:p>
        </p:txBody>
      </p:sp>
      <p:cxnSp>
        <p:nvCxnSpPr>
          <p:cNvPr id="7" name="a1wd690_e6"/>
          <p:cNvCxnSpPr/>
          <p:nvPr/>
        </p:nvCxnSpPr>
        <p:spPr>
          <a:xfrm>
            <a:off x="1517904" y="1956816"/>
            <a:ext cx="1142999" cy="502920"/>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a1fd740_el7"/>
          <p:cNvSpPr txBox="1"/>
          <p:nvPr/>
        </p:nvSpPr>
        <p:spPr>
          <a:xfrm>
            <a:off x="1705356" y="2107692"/>
            <a:ext cx="768096" cy="201168"/>
          </a:xfrm>
          <a:prstGeom prst="rect">
            <a:avLst/>
          </a:prstGeom>
          <a:noFill/>
        </p:spPr>
        <p:txBody>
          <a:bodyPr wrap="square" lIns="0" tIns="0" rIns="0" bIns="0" anchor="ctr">
            <a:spAutoFit/>
          </a:bodyPr>
          <a:lstStyle/>
          <a:p>
            <a:pPr algn="ctr"/>
            <a:r>
              <a:rPr sz="750" b="1">
                <a:solidFill>
                  <a:srgbClr val="64748B"/>
                </a:solidFill>
                <a:latin typeface="Calibri"/>
              </a:rPr>
              <a:t>USES</a:t>
            </a:r>
          </a:p>
        </p:txBody>
      </p:sp>
      <p:cxnSp>
        <p:nvCxnSpPr>
          <p:cNvPr id="9" name="a1wd780_e8"/>
          <p:cNvCxnSpPr/>
          <p:nvPr/>
        </p:nvCxnSpPr>
        <p:spPr>
          <a:xfrm flipV="1">
            <a:off x="1792224" y="2459736"/>
            <a:ext cx="868679" cy="594360"/>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10" name="a1fd830_el9"/>
          <p:cNvSpPr txBox="1"/>
          <p:nvPr/>
        </p:nvSpPr>
        <p:spPr>
          <a:xfrm>
            <a:off x="1842515" y="2656332"/>
            <a:ext cx="768096" cy="201168"/>
          </a:xfrm>
          <a:prstGeom prst="rect">
            <a:avLst/>
          </a:prstGeom>
          <a:noFill/>
        </p:spPr>
        <p:txBody>
          <a:bodyPr wrap="square" lIns="0" tIns="0" rIns="0" bIns="0" anchor="ctr">
            <a:spAutoFit/>
          </a:bodyPr>
          <a:lstStyle/>
          <a:p>
            <a:pPr algn="ctr"/>
            <a:r>
              <a:rPr sz="750" b="1">
                <a:solidFill>
                  <a:srgbClr val="64748B"/>
                </a:solidFill>
                <a:latin typeface="Calibri"/>
              </a:rPr>
              <a:t>USES</a:t>
            </a:r>
          </a:p>
        </p:txBody>
      </p:sp>
      <p:cxnSp>
        <p:nvCxnSpPr>
          <p:cNvPr id="11" name="a1wd870_e10"/>
          <p:cNvCxnSpPr/>
          <p:nvPr/>
        </p:nvCxnSpPr>
        <p:spPr>
          <a:xfrm flipV="1">
            <a:off x="1792224" y="2688336"/>
            <a:ext cx="1920240" cy="365760"/>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a1fd920_el11"/>
          <p:cNvSpPr txBox="1"/>
          <p:nvPr/>
        </p:nvSpPr>
        <p:spPr>
          <a:xfrm>
            <a:off x="2368296" y="2770632"/>
            <a:ext cx="768096" cy="201168"/>
          </a:xfrm>
          <a:prstGeom prst="rect">
            <a:avLst/>
          </a:prstGeom>
          <a:noFill/>
        </p:spPr>
        <p:txBody>
          <a:bodyPr wrap="square" lIns="0" tIns="0" rIns="0" bIns="0" anchor="ctr">
            <a:spAutoFit/>
          </a:bodyPr>
          <a:lstStyle/>
          <a:p>
            <a:pPr algn="ctr"/>
            <a:r>
              <a:rPr sz="750" b="1">
                <a:solidFill>
                  <a:srgbClr val="64748B"/>
                </a:solidFill>
                <a:latin typeface="Calibri"/>
              </a:rPr>
              <a:t>OWNS</a:t>
            </a:r>
          </a:p>
        </p:txBody>
      </p:sp>
      <p:cxnSp>
        <p:nvCxnSpPr>
          <p:cNvPr id="13" name="a1wd960_e12"/>
          <p:cNvCxnSpPr/>
          <p:nvPr/>
        </p:nvCxnSpPr>
        <p:spPr>
          <a:xfrm>
            <a:off x="2980944" y="1819655"/>
            <a:ext cx="731520" cy="868681"/>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a1fd1010_el13"/>
          <p:cNvSpPr txBox="1"/>
          <p:nvPr/>
        </p:nvSpPr>
        <p:spPr>
          <a:xfrm>
            <a:off x="2962656" y="2153412"/>
            <a:ext cx="768096" cy="201168"/>
          </a:xfrm>
          <a:prstGeom prst="rect">
            <a:avLst/>
          </a:prstGeom>
          <a:noFill/>
        </p:spPr>
        <p:txBody>
          <a:bodyPr wrap="square" lIns="0" tIns="0" rIns="0" bIns="0" anchor="ctr">
            <a:spAutoFit/>
          </a:bodyPr>
          <a:lstStyle/>
          <a:p>
            <a:pPr algn="ctr"/>
            <a:r>
              <a:rPr sz="750" b="1">
                <a:solidFill>
                  <a:srgbClr val="64748B"/>
                </a:solidFill>
                <a:latin typeface="Calibri"/>
              </a:rPr>
              <a:t>TRANSFER</a:t>
            </a:r>
          </a:p>
        </p:txBody>
      </p:sp>
      <p:sp>
        <p:nvSpPr>
          <p:cNvPr id="15" name="a1u_gn14"/>
          <p:cNvSpPr/>
          <p:nvPr/>
        </p:nvSpPr>
        <p:spPr>
          <a:xfrm>
            <a:off x="1188720" y="1627632"/>
            <a:ext cx="658368" cy="65836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40_gl15"/>
          <p:cNvSpPr txBox="1"/>
          <p:nvPr/>
        </p:nvSpPr>
        <p:spPr>
          <a:xfrm>
            <a:off x="1005840" y="2304288"/>
            <a:ext cx="1024128" cy="219456"/>
          </a:xfrm>
          <a:prstGeom prst="rect">
            <a:avLst/>
          </a:prstGeom>
          <a:noFill/>
        </p:spPr>
        <p:txBody>
          <a:bodyPr wrap="square" lIns="0" tIns="0" rIns="0" bIns="0" anchor="ctr">
            <a:spAutoFit/>
          </a:bodyPr>
          <a:lstStyle/>
          <a:p>
            <a:pPr algn="ctr"/>
            <a:r>
              <a:rPr sz="850" b="1">
                <a:solidFill>
                  <a:srgbClr val="334155"/>
                </a:solidFill>
                <a:latin typeface="Calibri"/>
              </a:rPr>
              <a:t>A. Sharma</a:t>
            </a:r>
          </a:p>
        </p:txBody>
      </p:sp>
      <p:sp>
        <p:nvSpPr>
          <p:cNvPr id="17" name="a1ud120_gn16"/>
          <p:cNvSpPr/>
          <p:nvPr/>
        </p:nvSpPr>
        <p:spPr>
          <a:xfrm>
            <a:off x="2651760" y="1490472"/>
            <a:ext cx="658368" cy="65836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60_gl17"/>
          <p:cNvSpPr txBox="1"/>
          <p:nvPr/>
        </p:nvSpPr>
        <p:spPr>
          <a:xfrm>
            <a:off x="2468879" y="2167128"/>
            <a:ext cx="1024128" cy="219456"/>
          </a:xfrm>
          <a:prstGeom prst="rect">
            <a:avLst/>
          </a:prstGeom>
          <a:noFill/>
        </p:spPr>
        <p:txBody>
          <a:bodyPr wrap="square" lIns="0" tIns="0" rIns="0" bIns="0" anchor="ctr">
            <a:spAutoFit/>
          </a:bodyPr>
          <a:lstStyle/>
          <a:p>
            <a:pPr algn="ctr"/>
            <a:r>
              <a:rPr sz="850" b="1">
                <a:solidFill>
                  <a:srgbClr val="334155"/>
                </a:solidFill>
                <a:latin typeface="Calibri"/>
              </a:rPr>
              <a:t>Acct 9003</a:t>
            </a:r>
          </a:p>
        </p:txBody>
      </p:sp>
      <p:sp>
        <p:nvSpPr>
          <p:cNvPr id="19" name="a1ud240_gn18"/>
          <p:cNvSpPr/>
          <p:nvPr/>
        </p:nvSpPr>
        <p:spPr>
          <a:xfrm>
            <a:off x="3383280" y="2359152"/>
            <a:ext cx="658368" cy="65836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280_gl19"/>
          <p:cNvSpPr txBox="1"/>
          <p:nvPr/>
        </p:nvSpPr>
        <p:spPr>
          <a:xfrm>
            <a:off x="3200400" y="3035808"/>
            <a:ext cx="1024128" cy="219456"/>
          </a:xfrm>
          <a:prstGeom prst="rect">
            <a:avLst/>
          </a:prstGeom>
          <a:noFill/>
        </p:spPr>
        <p:txBody>
          <a:bodyPr wrap="square" lIns="0" tIns="0" rIns="0" bIns="0" anchor="ctr">
            <a:spAutoFit/>
          </a:bodyPr>
          <a:lstStyle/>
          <a:p>
            <a:pPr algn="ctr"/>
            <a:r>
              <a:rPr sz="850" b="1">
                <a:solidFill>
                  <a:srgbClr val="334155"/>
                </a:solidFill>
                <a:latin typeface="Calibri"/>
              </a:rPr>
              <a:t>Acct 7711</a:t>
            </a:r>
          </a:p>
        </p:txBody>
      </p:sp>
      <p:sp>
        <p:nvSpPr>
          <p:cNvPr id="21" name="a1ud360_gn20"/>
          <p:cNvSpPr/>
          <p:nvPr/>
        </p:nvSpPr>
        <p:spPr>
          <a:xfrm>
            <a:off x="1463040" y="2724912"/>
            <a:ext cx="658368" cy="65836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400_gl21"/>
          <p:cNvSpPr txBox="1"/>
          <p:nvPr/>
        </p:nvSpPr>
        <p:spPr>
          <a:xfrm>
            <a:off x="1280160" y="3401568"/>
            <a:ext cx="1024128" cy="219456"/>
          </a:xfrm>
          <a:prstGeom prst="rect">
            <a:avLst/>
          </a:prstGeom>
          <a:noFill/>
        </p:spPr>
        <p:txBody>
          <a:bodyPr wrap="square" lIns="0" tIns="0" rIns="0" bIns="0" anchor="ctr">
            <a:spAutoFit/>
          </a:bodyPr>
          <a:lstStyle/>
          <a:p>
            <a:pPr algn="ctr"/>
            <a:r>
              <a:rPr sz="850" b="1">
                <a:solidFill>
                  <a:srgbClr val="334155"/>
                </a:solidFill>
                <a:latin typeface="Calibri"/>
              </a:rPr>
              <a:t>M. Rao</a:t>
            </a:r>
          </a:p>
        </p:txBody>
      </p:sp>
      <p:sp>
        <p:nvSpPr>
          <p:cNvPr id="23" name="a1ud480_gn22"/>
          <p:cNvSpPr/>
          <p:nvPr/>
        </p:nvSpPr>
        <p:spPr>
          <a:xfrm>
            <a:off x="2331720" y="2130552"/>
            <a:ext cx="658368" cy="65836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520_gl23"/>
          <p:cNvSpPr txBox="1"/>
          <p:nvPr/>
        </p:nvSpPr>
        <p:spPr>
          <a:xfrm>
            <a:off x="2148839" y="2807208"/>
            <a:ext cx="1024128" cy="219456"/>
          </a:xfrm>
          <a:prstGeom prst="rect">
            <a:avLst/>
          </a:prstGeom>
          <a:noFill/>
        </p:spPr>
        <p:txBody>
          <a:bodyPr wrap="square" lIns="0" tIns="0" rIns="0" bIns="0" anchor="ctr">
            <a:spAutoFit/>
          </a:bodyPr>
          <a:lstStyle/>
          <a:p>
            <a:pPr algn="ctr"/>
            <a:r>
              <a:rPr sz="850" b="1">
                <a:solidFill>
                  <a:srgbClr val="334155"/>
                </a:solidFill>
                <a:latin typeface="Calibri"/>
              </a:rPr>
              <a:t>Device X</a:t>
            </a:r>
          </a:p>
        </p:txBody>
      </p:sp>
      <p:sp>
        <p:nvSpPr>
          <p:cNvPr id="25" name="a1fd620_cap24"/>
          <p:cNvSpPr txBox="1"/>
          <p:nvPr/>
        </p:nvSpPr>
        <p:spPr>
          <a:xfrm>
            <a:off x="658368" y="3017520"/>
            <a:ext cx="3803904" cy="237744"/>
          </a:xfrm>
          <a:prstGeom prst="rect">
            <a:avLst/>
          </a:prstGeom>
          <a:noFill/>
        </p:spPr>
        <p:txBody>
          <a:bodyPr wrap="square" lIns="0" tIns="0" rIns="0" bIns="0" anchor="ctr">
            <a:spAutoFit/>
          </a:bodyPr>
          <a:lstStyle/>
          <a:p>
            <a:pPr algn="l"/>
            <a:r>
              <a:rPr sz="950" b="0">
                <a:solidFill>
                  <a:srgbClr val="64748B"/>
                </a:solidFill>
                <a:latin typeface="Calibri"/>
              </a:rPr>
              <a:t>Nodes = accounts, people, devices   ·   Edges = OWNS, USES, TRANSFERS</a:t>
            </a:r>
          </a:p>
        </p:txBody>
      </p:sp>
      <p:sp>
        <p:nvSpPr>
          <p:cNvPr id="26" name="a2u_card25"/>
          <p:cNvSpPr/>
          <p:nvPr/>
        </p:nvSpPr>
        <p:spPr>
          <a:xfrm>
            <a:off x="4846320" y="1170432"/>
            <a:ext cx="3840480" cy="2148840"/>
          </a:xfrm>
          <a:prstGeom prst="roundRect">
            <a:avLst>
              <a:gd name="adj" fmla="val 42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hh26"/>
          <p:cNvSpPr txBox="1"/>
          <p:nvPr/>
        </p:nvSpPr>
        <p:spPr>
          <a:xfrm>
            <a:off x="5047488" y="1289304"/>
            <a:ext cx="3438144" cy="237744"/>
          </a:xfrm>
          <a:prstGeom prst="rect">
            <a:avLst/>
          </a:prstGeom>
          <a:noFill/>
        </p:spPr>
        <p:txBody>
          <a:bodyPr wrap="square" lIns="0" tIns="0" rIns="0" bIns="0" anchor="ctr">
            <a:spAutoFit/>
          </a:bodyPr>
          <a:lstStyle/>
          <a:p>
            <a:pPr algn="l"/>
            <a:r>
              <a:rPr sz="950" b="1">
                <a:solidFill>
                  <a:srgbClr val="6D28D9"/>
                </a:solidFill>
                <a:latin typeface="Calibri"/>
              </a:rPr>
              <a:t>THE QUERY THAT JUSTIFIES IT</a:t>
            </a:r>
          </a:p>
        </p:txBody>
      </p:sp>
      <p:sp>
        <p:nvSpPr>
          <p:cNvPr id="28" name="a2fd60_codebg27"/>
          <p:cNvSpPr/>
          <p:nvPr/>
        </p:nvSpPr>
        <p:spPr>
          <a:xfrm>
            <a:off x="5047488" y="1563624"/>
            <a:ext cx="3438144" cy="1060704"/>
          </a:xfrm>
          <a:prstGeom prst="roundRect">
            <a:avLst>
              <a:gd name="adj" fmla="val 6896"/>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wd60_code28"/>
          <p:cNvSpPr txBox="1"/>
          <p:nvPr/>
        </p:nvSpPr>
        <p:spPr>
          <a:xfrm>
            <a:off x="5157216" y="1673352"/>
            <a:ext cx="3218687" cy="210312"/>
          </a:xfrm>
          <a:prstGeom prst="rect">
            <a:avLst/>
          </a:prstGeom>
          <a:noFill/>
        </p:spPr>
        <p:txBody>
          <a:bodyPr wrap="none" lIns="0" tIns="0" rIns="0" bIns="0" anchor="ctr">
            <a:spAutoFit/>
          </a:bodyPr>
          <a:lstStyle/>
          <a:p>
            <a:pPr algn="l"/>
            <a:r>
              <a:rPr sz="1000" b="1">
                <a:solidFill>
                  <a:srgbClr val="C4B5FD"/>
                </a:solidFill>
                <a:latin typeface="Courier New"/>
              </a:rPr>
              <a:t>MATCH (a:Account {id: 9003})</a:t>
            </a:r>
          </a:p>
        </p:txBody>
      </p:sp>
      <p:sp>
        <p:nvSpPr>
          <p:cNvPr id="30" name="a2wd180_code29"/>
          <p:cNvSpPr txBox="1"/>
          <p:nvPr/>
        </p:nvSpPr>
        <p:spPr>
          <a:xfrm>
            <a:off x="5157216" y="1883664"/>
            <a:ext cx="3218687" cy="210312"/>
          </a:xfrm>
          <a:prstGeom prst="rect">
            <a:avLst/>
          </a:prstGeom>
          <a:noFill/>
        </p:spPr>
        <p:txBody>
          <a:bodyPr wrap="none" lIns="0" tIns="0" rIns="0" bIns="0" anchor="ctr">
            <a:spAutoFit/>
          </a:bodyPr>
          <a:lstStyle/>
          <a:p>
            <a:pPr algn="l"/>
            <a:r>
              <a:rPr sz="1000" b="0">
                <a:solidFill>
                  <a:srgbClr val="E2E8F0"/>
                </a:solidFill>
                <a:latin typeface="Courier New"/>
              </a:rPr>
              <a:t>      -[:TRANSFER*1..4]-&gt;(b:Account)</a:t>
            </a:r>
          </a:p>
        </p:txBody>
      </p:sp>
      <p:sp>
        <p:nvSpPr>
          <p:cNvPr id="31" name="a2wd300_code30"/>
          <p:cNvSpPr txBox="1"/>
          <p:nvPr/>
        </p:nvSpPr>
        <p:spPr>
          <a:xfrm>
            <a:off x="5157216" y="2093976"/>
            <a:ext cx="3218687" cy="210312"/>
          </a:xfrm>
          <a:prstGeom prst="rect">
            <a:avLst/>
          </a:prstGeom>
          <a:noFill/>
        </p:spPr>
        <p:txBody>
          <a:bodyPr wrap="none" lIns="0" tIns="0" rIns="0" bIns="0" anchor="ctr">
            <a:spAutoFit/>
          </a:bodyPr>
          <a:lstStyle/>
          <a:p>
            <a:pPr algn="l"/>
            <a:r>
              <a:rPr sz="1000" b="1">
                <a:solidFill>
                  <a:srgbClr val="C4B5FD"/>
                </a:solidFill>
                <a:latin typeface="Courier New"/>
              </a:rPr>
              <a:t>WHERE b.flagged = true</a:t>
            </a:r>
          </a:p>
        </p:txBody>
      </p:sp>
      <p:sp>
        <p:nvSpPr>
          <p:cNvPr id="32" name="a2wd420_code31"/>
          <p:cNvSpPr txBox="1"/>
          <p:nvPr/>
        </p:nvSpPr>
        <p:spPr>
          <a:xfrm>
            <a:off x="5157216" y="2304288"/>
            <a:ext cx="3218687" cy="210312"/>
          </a:xfrm>
          <a:prstGeom prst="rect">
            <a:avLst/>
          </a:prstGeom>
          <a:noFill/>
        </p:spPr>
        <p:txBody>
          <a:bodyPr wrap="none" lIns="0" tIns="0" rIns="0" bIns="0" anchor="ctr">
            <a:spAutoFit/>
          </a:bodyPr>
          <a:lstStyle/>
          <a:p>
            <a:pPr algn="l"/>
            <a:r>
              <a:rPr sz="1000" b="1">
                <a:solidFill>
                  <a:srgbClr val="C4B5FD"/>
                </a:solidFill>
                <a:latin typeface="Courier New"/>
              </a:rPr>
              <a:t>RETURN b</a:t>
            </a:r>
          </a:p>
        </p:txBody>
      </p:sp>
      <p:sp>
        <p:nvSpPr>
          <p:cNvPr id="33" name="a2fd520_cap32"/>
          <p:cNvSpPr txBox="1"/>
          <p:nvPr/>
        </p:nvSpPr>
        <p:spPr>
          <a:xfrm>
            <a:off x="5047488" y="2724912"/>
            <a:ext cx="3438144" cy="493776"/>
          </a:xfrm>
          <a:prstGeom prst="rect">
            <a:avLst/>
          </a:prstGeom>
          <a:noFill/>
        </p:spPr>
        <p:txBody>
          <a:bodyPr wrap="square" lIns="0" tIns="0" rIns="0" bIns="0" anchor="t">
            <a:spAutoFit/>
          </a:bodyPr>
          <a:lstStyle/>
          <a:p>
            <a:pPr algn="l"/>
            <a:r>
              <a:rPr sz="1000" b="0">
                <a:solidFill>
                  <a:srgbClr val="334155"/>
                </a:solidFill>
                <a:latin typeface="Calibri"/>
              </a:rPr>
              <a:t>Four hops of money movement. In SQL this is four self-joins whose cost explodes; in a graph database it is a pointer walk.</a:t>
            </a:r>
          </a:p>
        </p:txBody>
      </p:sp>
      <p:sp>
        <p:nvSpPr>
          <p:cNvPr id="34" name="a3f_th33"/>
          <p:cNvSpPr/>
          <p:nvPr/>
        </p:nvSpPr>
        <p:spPr>
          <a:xfrm>
            <a:off x="457200" y="3483864"/>
            <a:ext cx="1920240" cy="30175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f_tht34"/>
          <p:cNvSpPr txBox="1"/>
          <p:nvPr/>
        </p:nvSpPr>
        <p:spPr>
          <a:xfrm>
            <a:off x="530352" y="3483864"/>
            <a:ext cx="1810512" cy="301752"/>
          </a:xfrm>
          <a:prstGeom prst="rect">
            <a:avLst/>
          </a:prstGeom>
          <a:noFill/>
        </p:spPr>
        <p:txBody>
          <a:bodyPr wrap="square" lIns="0" tIns="0" rIns="0" bIns="0" anchor="ctr">
            <a:spAutoFit/>
          </a:bodyPr>
          <a:lstStyle/>
          <a:p>
            <a:pPr algn="l"/>
            <a:r>
              <a:rPr sz="1000" b="1">
                <a:solidFill>
                  <a:srgbClr val="FFFFFF"/>
                </a:solidFill>
                <a:latin typeface="Calibri"/>
              </a:rPr>
              <a:t>Product</a:t>
            </a:r>
          </a:p>
        </p:txBody>
      </p:sp>
      <p:sp>
        <p:nvSpPr>
          <p:cNvPr id="36" name="a3wd130_td35"/>
          <p:cNvSpPr/>
          <p:nvPr/>
        </p:nvSpPr>
        <p:spPr>
          <a:xfrm>
            <a:off x="457200" y="3785615"/>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wd130_tdt36"/>
          <p:cNvSpPr txBox="1"/>
          <p:nvPr/>
        </p:nvSpPr>
        <p:spPr>
          <a:xfrm>
            <a:off x="530352" y="3785615"/>
            <a:ext cx="1810512" cy="301752"/>
          </a:xfrm>
          <a:prstGeom prst="rect">
            <a:avLst/>
          </a:prstGeom>
          <a:noFill/>
        </p:spPr>
        <p:txBody>
          <a:bodyPr wrap="square" lIns="0" tIns="0" rIns="0" bIns="0" anchor="ctr">
            <a:spAutoFit/>
          </a:bodyPr>
          <a:lstStyle/>
          <a:p>
            <a:pPr algn="l"/>
            <a:r>
              <a:rPr sz="1000" b="0">
                <a:solidFill>
                  <a:srgbClr val="334155"/>
                </a:solidFill>
                <a:latin typeface="Calibri"/>
              </a:rPr>
              <a:t>Neo4j</a:t>
            </a:r>
          </a:p>
        </p:txBody>
      </p:sp>
      <p:sp>
        <p:nvSpPr>
          <p:cNvPr id="38" name="a3wd260_td37"/>
          <p:cNvSpPr/>
          <p:nvPr/>
        </p:nvSpPr>
        <p:spPr>
          <a:xfrm>
            <a:off x="457200" y="4087368"/>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wd260_tdt38"/>
          <p:cNvSpPr txBox="1"/>
          <p:nvPr/>
        </p:nvSpPr>
        <p:spPr>
          <a:xfrm>
            <a:off x="530352" y="4087368"/>
            <a:ext cx="1810512" cy="301752"/>
          </a:xfrm>
          <a:prstGeom prst="rect">
            <a:avLst/>
          </a:prstGeom>
          <a:noFill/>
        </p:spPr>
        <p:txBody>
          <a:bodyPr wrap="square" lIns="0" tIns="0" rIns="0" bIns="0" anchor="ctr">
            <a:spAutoFit/>
          </a:bodyPr>
          <a:lstStyle/>
          <a:p>
            <a:pPr algn="l"/>
            <a:r>
              <a:rPr sz="1000" b="0">
                <a:solidFill>
                  <a:srgbClr val="334155"/>
                </a:solidFill>
                <a:latin typeface="Calibri"/>
              </a:rPr>
              <a:t>Amazon Neptune</a:t>
            </a:r>
          </a:p>
        </p:txBody>
      </p:sp>
      <p:sp>
        <p:nvSpPr>
          <p:cNvPr id="40" name="a3wd390_td39"/>
          <p:cNvSpPr/>
          <p:nvPr/>
        </p:nvSpPr>
        <p:spPr>
          <a:xfrm>
            <a:off x="457200" y="4389120"/>
            <a:ext cx="192024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wd390_tdt40"/>
          <p:cNvSpPr txBox="1"/>
          <p:nvPr/>
        </p:nvSpPr>
        <p:spPr>
          <a:xfrm>
            <a:off x="530352" y="4389120"/>
            <a:ext cx="1810512" cy="301752"/>
          </a:xfrm>
          <a:prstGeom prst="rect">
            <a:avLst/>
          </a:prstGeom>
          <a:noFill/>
        </p:spPr>
        <p:txBody>
          <a:bodyPr wrap="square" lIns="0" tIns="0" rIns="0" bIns="0" anchor="ctr">
            <a:spAutoFit/>
          </a:bodyPr>
          <a:lstStyle/>
          <a:p>
            <a:pPr algn="l"/>
            <a:r>
              <a:rPr sz="1000" b="0">
                <a:solidFill>
                  <a:srgbClr val="334155"/>
                </a:solidFill>
                <a:latin typeface="Calibri"/>
              </a:rPr>
              <a:t>JanusGraph / TigerGraph</a:t>
            </a:r>
          </a:p>
        </p:txBody>
      </p:sp>
      <p:sp>
        <p:nvSpPr>
          <p:cNvPr id="42" name="a3f_th41"/>
          <p:cNvSpPr/>
          <p:nvPr/>
        </p:nvSpPr>
        <p:spPr>
          <a:xfrm>
            <a:off x="2377440" y="3483864"/>
            <a:ext cx="1737360" cy="30175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f_tht42"/>
          <p:cNvSpPr txBox="1"/>
          <p:nvPr/>
        </p:nvSpPr>
        <p:spPr>
          <a:xfrm>
            <a:off x="2450592" y="3483864"/>
            <a:ext cx="1627631" cy="301752"/>
          </a:xfrm>
          <a:prstGeom prst="rect">
            <a:avLst/>
          </a:prstGeom>
          <a:noFill/>
        </p:spPr>
        <p:txBody>
          <a:bodyPr wrap="square" lIns="0" tIns="0" rIns="0" bIns="0" anchor="ctr">
            <a:spAutoFit/>
          </a:bodyPr>
          <a:lstStyle/>
          <a:p>
            <a:pPr algn="l"/>
            <a:r>
              <a:rPr sz="1000" b="1">
                <a:solidFill>
                  <a:srgbClr val="FFFFFF"/>
                </a:solidFill>
                <a:latin typeface="Calibri"/>
              </a:rPr>
              <a:t>Query language</a:t>
            </a:r>
          </a:p>
        </p:txBody>
      </p:sp>
      <p:sp>
        <p:nvSpPr>
          <p:cNvPr id="44" name="a3wd130_td43"/>
          <p:cNvSpPr/>
          <p:nvPr/>
        </p:nvSpPr>
        <p:spPr>
          <a:xfrm>
            <a:off x="2377440" y="3785615"/>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wd130_tdt44"/>
          <p:cNvSpPr txBox="1"/>
          <p:nvPr/>
        </p:nvSpPr>
        <p:spPr>
          <a:xfrm>
            <a:off x="2450592" y="3785615"/>
            <a:ext cx="1627631" cy="301752"/>
          </a:xfrm>
          <a:prstGeom prst="rect">
            <a:avLst/>
          </a:prstGeom>
          <a:noFill/>
        </p:spPr>
        <p:txBody>
          <a:bodyPr wrap="square" lIns="0" tIns="0" rIns="0" bIns="0" anchor="ctr">
            <a:spAutoFit/>
          </a:bodyPr>
          <a:lstStyle/>
          <a:p>
            <a:pPr algn="l"/>
            <a:r>
              <a:rPr sz="1000" b="0">
                <a:solidFill>
                  <a:srgbClr val="334155"/>
                </a:solidFill>
                <a:latin typeface="Calibri"/>
              </a:rPr>
              <a:t>Cypher</a:t>
            </a:r>
          </a:p>
        </p:txBody>
      </p:sp>
      <p:sp>
        <p:nvSpPr>
          <p:cNvPr id="46" name="a3wd260_td45"/>
          <p:cNvSpPr/>
          <p:nvPr/>
        </p:nvSpPr>
        <p:spPr>
          <a:xfrm>
            <a:off x="2377440" y="4087368"/>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wd260_tdt46"/>
          <p:cNvSpPr txBox="1"/>
          <p:nvPr/>
        </p:nvSpPr>
        <p:spPr>
          <a:xfrm>
            <a:off x="2450592" y="4087368"/>
            <a:ext cx="1627631" cy="301752"/>
          </a:xfrm>
          <a:prstGeom prst="rect">
            <a:avLst/>
          </a:prstGeom>
          <a:noFill/>
        </p:spPr>
        <p:txBody>
          <a:bodyPr wrap="square" lIns="0" tIns="0" rIns="0" bIns="0" anchor="ctr">
            <a:spAutoFit/>
          </a:bodyPr>
          <a:lstStyle/>
          <a:p>
            <a:pPr algn="l"/>
            <a:r>
              <a:rPr sz="1000" b="0">
                <a:solidFill>
                  <a:srgbClr val="334155"/>
                </a:solidFill>
                <a:latin typeface="Calibri"/>
              </a:rPr>
              <a:t>Gremlin / SPARQL</a:t>
            </a:r>
          </a:p>
        </p:txBody>
      </p:sp>
      <p:sp>
        <p:nvSpPr>
          <p:cNvPr id="48" name="a3wd390_td47"/>
          <p:cNvSpPr/>
          <p:nvPr/>
        </p:nvSpPr>
        <p:spPr>
          <a:xfrm>
            <a:off x="2377440" y="4389120"/>
            <a:ext cx="173736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3wd390_tdt48"/>
          <p:cNvSpPr txBox="1"/>
          <p:nvPr/>
        </p:nvSpPr>
        <p:spPr>
          <a:xfrm>
            <a:off x="2450592" y="4389120"/>
            <a:ext cx="1627631" cy="301752"/>
          </a:xfrm>
          <a:prstGeom prst="rect">
            <a:avLst/>
          </a:prstGeom>
          <a:noFill/>
        </p:spPr>
        <p:txBody>
          <a:bodyPr wrap="square" lIns="0" tIns="0" rIns="0" bIns="0" anchor="ctr">
            <a:spAutoFit/>
          </a:bodyPr>
          <a:lstStyle/>
          <a:p>
            <a:pPr algn="l"/>
            <a:r>
              <a:rPr sz="1000" b="0">
                <a:solidFill>
                  <a:srgbClr val="334155"/>
                </a:solidFill>
                <a:latin typeface="Calibri"/>
              </a:rPr>
              <a:t>Gremlin / GSQL</a:t>
            </a:r>
          </a:p>
        </p:txBody>
      </p:sp>
      <p:sp>
        <p:nvSpPr>
          <p:cNvPr id="50" name="a3f_th49"/>
          <p:cNvSpPr/>
          <p:nvPr/>
        </p:nvSpPr>
        <p:spPr>
          <a:xfrm>
            <a:off x="4114800" y="3483864"/>
            <a:ext cx="4572000" cy="30175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f_tht50"/>
          <p:cNvSpPr txBox="1"/>
          <p:nvPr/>
        </p:nvSpPr>
        <p:spPr>
          <a:xfrm>
            <a:off x="4187952" y="3483864"/>
            <a:ext cx="4462272" cy="301752"/>
          </a:xfrm>
          <a:prstGeom prst="rect">
            <a:avLst/>
          </a:prstGeom>
          <a:noFill/>
        </p:spPr>
        <p:txBody>
          <a:bodyPr wrap="square" lIns="0" tIns="0" rIns="0" bIns="0" anchor="ctr">
            <a:spAutoFit/>
          </a:bodyPr>
          <a:lstStyle/>
          <a:p>
            <a:pPr algn="l"/>
            <a:r>
              <a:rPr sz="1000" b="1">
                <a:solidFill>
                  <a:srgbClr val="FFFFFF"/>
                </a:solidFill>
                <a:latin typeface="Calibri"/>
              </a:rPr>
              <a:t>Notable for</a:t>
            </a:r>
          </a:p>
        </p:txBody>
      </p:sp>
      <p:sp>
        <p:nvSpPr>
          <p:cNvPr id="52" name="a3wd130_td51"/>
          <p:cNvSpPr/>
          <p:nvPr/>
        </p:nvSpPr>
        <p:spPr>
          <a:xfrm>
            <a:off x="4114800" y="3785615"/>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3wd130_tdt52"/>
          <p:cNvSpPr txBox="1"/>
          <p:nvPr/>
        </p:nvSpPr>
        <p:spPr>
          <a:xfrm>
            <a:off x="4187952" y="3785615"/>
            <a:ext cx="4462272" cy="301752"/>
          </a:xfrm>
          <a:prstGeom prst="rect">
            <a:avLst/>
          </a:prstGeom>
          <a:noFill/>
        </p:spPr>
        <p:txBody>
          <a:bodyPr wrap="square" lIns="0" tIns="0" rIns="0" bIns="0" anchor="ctr">
            <a:spAutoFit/>
          </a:bodyPr>
          <a:lstStyle/>
          <a:p>
            <a:pPr algn="l"/>
            <a:r>
              <a:rPr sz="1000" b="0">
                <a:solidFill>
                  <a:srgbClr val="334155"/>
                </a:solidFill>
                <a:latin typeface="Calibri"/>
              </a:rPr>
              <a:t>The reference graph database; fraud rings, KYC networks</a:t>
            </a:r>
          </a:p>
        </p:txBody>
      </p:sp>
      <p:sp>
        <p:nvSpPr>
          <p:cNvPr id="54" name="a3wd260_td53"/>
          <p:cNvSpPr/>
          <p:nvPr/>
        </p:nvSpPr>
        <p:spPr>
          <a:xfrm>
            <a:off x="4114800" y="4087368"/>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3wd260_tdt54"/>
          <p:cNvSpPr txBox="1"/>
          <p:nvPr/>
        </p:nvSpPr>
        <p:spPr>
          <a:xfrm>
            <a:off x="4187952" y="4087368"/>
            <a:ext cx="4462272" cy="301752"/>
          </a:xfrm>
          <a:prstGeom prst="rect">
            <a:avLst/>
          </a:prstGeom>
          <a:noFill/>
        </p:spPr>
        <p:txBody>
          <a:bodyPr wrap="square" lIns="0" tIns="0" rIns="0" bIns="0" anchor="ctr">
            <a:spAutoFit/>
          </a:bodyPr>
          <a:lstStyle/>
          <a:p>
            <a:pPr algn="l"/>
            <a:r>
              <a:rPr sz="1000" b="0">
                <a:solidFill>
                  <a:srgbClr val="334155"/>
                </a:solidFill>
                <a:latin typeface="Calibri"/>
              </a:rPr>
              <a:t>Managed; property graph and RDF in one service</a:t>
            </a:r>
          </a:p>
        </p:txBody>
      </p:sp>
      <p:sp>
        <p:nvSpPr>
          <p:cNvPr id="56" name="a3wd390_td55"/>
          <p:cNvSpPr/>
          <p:nvPr/>
        </p:nvSpPr>
        <p:spPr>
          <a:xfrm>
            <a:off x="4114800" y="4389120"/>
            <a:ext cx="4572000" cy="3017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3wd390_tdt56"/>
          <p:cNvSpPr txBox="1"/>
          <p:nvPr/>
        </p:nvSpPr>
        <p:spPr>
          <a:xfrm>
            <a:off x="4187952" y="4389120"/>
            <a:ext cx="4462272" cy="301752"/>
          </a:xfrm>
          <a:prstGeom prst="rect">
            <a:avLst/>
          </a:prstGeom>
          <a:noFill/>
        </p:spPr>
        <p:txBody>
          <a:bodyPr wrap="square" lIns="0" tIns="0" rIns="0" bIns="0" anchor="ctr">
            <a:spAutoFit/>
          </a:bodyPr>
          <a:lstStyle/>
          <a:p>
            <a:pPr algn="l"/>
            <a:r>
              <a:rPr sz="1000" b="0">
                <a:solidFill>
                  <a:srgbClr val="334155"/>
                </a:solidFill>
                <a:latin typeface="Calibri"/>
              </a:rPr>
              <a:t>Distributed graphs over Cassandra or HBase</a:t>
            </a:r>
          </a:p>
        </p:txBody>
      </p:sp>
      <p:sp>
        <p:nvSpPr>
          <p:cNvPr id="58" name="ft5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59" name="ft5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ppt_y+0.1"/>
                                          </p:val>
                                        </p:tav>
                                        <p:tav tm="100000">
                                          <p:val>
                                            <p:strVal val="#ppt_y"/>
                                          </p:val>
                                        </p:tav>
                                      </p:tavLst>
                                    </p:anim>
                                    <p:animEffect transition="in" filter="fade">
                                      <p:cBhvr>
                                        <p:cTn id="13" dur="500"/>
                                        <p:tgtEl>
                                          <p:spTgt spid="15"/>
                                        </p:tgtEl>
                                      </p:cBhvr>
                                    </p:animEffect>
                                  </p:childTnLst>
                                </p:cTn>
                              </p:par>
                              <p:par>
                                <p:cTn id="19" presetID="2" presetClass="entr" presetSubtype="4" fill="hold" grpId="0" nodeType="withEffect">
                                  <p:stCondLst>
                                    <p:cond delay="4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ppt_y+0.1"/>
                                          </p:val>
                                        </p:tav>
                                        <p:tav tm="100000">
                                          <p:val>
                                            <p:strVal val="#ppt_y"/>
                                          </p:val>
                                        </p:tav>
                                      </p:tavLst>
                                    </p:anim>
                                    <p:animEffect transition="in" filter="fade">
                                      <p:cBhvr>
                                        <p:cTn id="18" dur="500"/>
                                        <p:tgtEl>
                                          <p:spTgt spid="16"/>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ppt_y+0.1"/>
                                          </p:val>
                                        </p:tav>
                                        <p:tav tm="100000">
                                          <p:val>
                                            <p:strVal val="#ppt_y"/>
                                          </p:val>
                                        </p:tav>
                                      </p:tavLst>
                                    </p:anim>
                                    <p:animEffect transition="in" filter="fade">
                                      <p:cBhvr>
                                        <p:cTn id="23" dur="500"/>
                                        <p:tgtEl>
                                          <p:spTgt spid="17"/>
                                        </p:tgtEl>
                                      </p:cBhvr>
                                    </p:animEffect>
                                  </p:childTnLst>
                                </p:cTn>
                              </p:par>
                              <p:par>
                                <p:cTn id="29" presetID="2" presetClass="entr" presetSubtype="4" fill="hold" grpId="0" nodeType="withEffect">
                                  <p:stCondLst>
                                    <p:cond delay="16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500" fill="hold"/>
                                        <p:tgtEl>
                                          <p:spTgt spid="18"/>
                                        </p:tgtEl>
                                        <p:attrNameLst>
                                          <p:attrName>ppt_x</p:attrName>
                                        </p:attrNameLst>
                                      </p:cBhvr>
                                      <p:tavLst>
                                        <p:tav tm="0">
                                          <p:val>
                                            <p:strVal val="#ppt_x"/>
                                          </p:val>
                                        </p:tav>
                                        <p:tav tm="100000">
                                          <p:val>
                                            <p:strVal val="#ppt_x"/>
                                          </p:val>
                                        </p:tav>
                                      </p:tavLst>
                                    </p:anim>
                                    <p:anim calcmode="lin" valueType="num">
                                      <p:cBhvr additive="base">
                                        <p:cTn id="27" dur="500" fill="hold"/>
                                        <p:tgtEl>
                                          <p:spTgt spid="18"/>
                                        </p:tgtEl>
                                        <p:attrNameLst>
                                          <p:attrName>ppt_y</p:attrName>
                                        </p:attrNameLst>
                                      </p:cBhvr>
                                      <p:tavLst>
                                        <p:tav tm="0">
                                          <p:val>
                                            <p:strVal val="#ppt_y+0.1"/>
                                          </p:val>
                                        </p:tav>
                                        <p:tav tm="100000">
                                          <p:val>
                                            <p:strVal val="#ppt_y"/>
                                          </p:val>
                                        </p:tav>
                                      </p:tavLst>
                                    </p:anim>
                                    <p:animEffect transition="in" filter="fade">
                                      <p:cBhvr>
                                        <p:cTn id="28" dur="500"/>
                                        <p:tgtEl>
                                          <p:spTgt spid="18"/>
                                        </p:tgtEl>
                                      </p:cBhvr>
                                    </p:animEffect>
                                  </p:childTnLst>
                                </p:cTn>
                              </p:par>
                              <p:par>
                                <p:cTn id="34" presetID="2" presetClass="entr" presetSubtype="4" fill="hold" grpId="0" nodeType="withEffect">
                                  <p:stCondLst>
                                    <p:cond delay="24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ppt_y+0.1"/>
                                          </p:val>
                                        </p:tav>
                                        <p:tav tm="100000">
                                          <p:val>
                                            <p:strVal val="#ppt_y"/>
                                          </p:val>
                                        </p:tav>
                                      </p:tavLst>
                                    </p:anim>
                                    <p:animEffect transition="in" filter="fade">
                                      <p:cBhvr>
                                        <p:cTn id="33" dur="500"/>
                                        <p:tgtEl>
                                          <p:spTgt spid="19"/>
                                        </p:tgtEl>
                                      </p:cBhvr>
                                    </p:animEffect>
                                  </p:childTnLst>
                                </p:cTn>
                              </p:par>
                              <p:par>
                                <p:cTn id="39" presetID="2" presetClass="entr" presetSubtype="4" fill="hold" grpId="0" nodeType="withEffect">
                                  <p:stCondLst>
                                    <p:cond delay="28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fill="hold"/>
                                        <p:tgtEl>
                                          <p:spTgt spid="20"/>
                                        </p:tgtEl>
                                        <p:attrNameLst>
                                          <p:attrName>ppt_x</p:attrName>
                                        </p:attrNameLst>
                                      </p:cBhvr>
                                      <p:tavLst>
                                        <p:tav tm="0">
                                          <p:val>
                                            <p:strVal val="#ppt_x"/>
                                          </p:val>
                                        </p:tav>
                                        <p:tav tm="100000">
                                          <p:val>
                                            <p:strVal val="#ppt_x"/>
                                          </p:val>
                                        </p:tav>
                                      </p:tavLst>
                                    </p:anim>
                                    <p:anim calcmode="lin" valueType="num">
                                      <p:cBhvr additive="base">
                                        <p:cTn id="37" dur="500" fill="hold"/>
                                        <p:tgtEl>
                                          <p:spTgt spid="20"/>
                                        </p:tgtEl>
                                        <p:attrNameLst>
                                          <p:attrName>ppt_y</p:attrName>
                                        </p:attrNameLst>
                                      </p:cBhvr>
                                      <p:tavLst>
                                        <p:tav tm="0">
                                          <p:val>
                                            <p:strVal val="#ppt_y+0.1"/>
                                          </p:val>
                                        </p:tav>
                                        <p:tav tm="100000">
                                          <p:val>
                                            <p:strVal val="#ppt_y"/>
                                          </p:val>
                                        </p:tav>
                                      </p:tavLst>
                                    </p:anim>
                                    <p:animEffect transition="in" filter="fade">
                                      <p:cBhvr>
                                        <p:cTn id="38" dur="500"/>
                                        <p:tgtEl>
                                          <p:spTgt spid="20"/>
                                        </p:tgtEl>
                                      </p:cBhvr>
                                    </p:animEffect>
                                  </p:childTnLst>
                                </p:cTn>
                              </p:par>
                              <p:par>
                                <p:cTn id="44" presetID="2" presetClass="entr" presetSubtype="4" fill="hold" grpId="0" nodeType="withEffect">
                                  <p:stCondLst>
                                    <p:cond delay="36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ppt_y+0.1"/>
                                          </p:val>
                                        </p:tav>
                                        <p:tav tm="100000">
                                          <p:val>
                                            <p:strVal val="#ppt_y"/>
                                          </p:val>
                                        </p:tav>
                                      </p:tavLst>
                                    </p:anim>
                                    <p:animEffect transition="in" filter="fade">
                                      <p:cBhvr>
                                        <p:cTn id="43" dur="500"/>
                                        <p:tgtEl>
                                          <p:spTgt spid="21"/>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22"/>
                                        </p:tgtEl>
                                        <p:attrNameLst>
                                          <p:attrName>style.visibility</p:attrName>
                                        </p:attrNameLst>
                                      </p:cBhvr>
                                      <p:to>
                                        <p:strVal val="visible"/>
                                      </p:to>
                                    </p:set>
                                    <p:anim calcmode="lin" valueType="num">
                                      <p:cBhvr additive="base">
                                        <p:cTn id="46" dur="500" fill="hold"/>
                                        <p:tgtEl>
                                          <p:spTgt spid="22"/>
                                        </p:tgtEl>
                                        <p:attrNameLst>
                                          <p:attrName>ppt_x</p:attrName>
                                        </p:attrNameLst>
                                      </p:cBhvr>
                                      <p:tavLst>
                                        <p:tav tm="0">
                                          <p:val>
                                            <p:strVal val="#ppt_x"/>
                                          </p:val>
                                        </p:tav>
                                        <p:tav tm="100000">
                                          <p:val>
                                            <p:strVal val="#ppt_x"/>
                                          </p:val>
                                        </p:tav>
                                      </p:tavLst>
                                    </p:anim>
                                    <p:anim calcmode="lin" valueType="num">
                                      <p:cBhvr additive="base">
                                        <p:cTn id="47" dur="500" fill="hold"/>
                                        <p:tgtEl>
                                          <p:spTgt spid="22"/>
                                        </p:tgtEl>
                                        <p:attrNameLst>
                                          <p:attrName>ppt_y</p:attrName>
                                        </p:attrNameLst>
                                      </p:cBhvr>
                                      <p:tavLst>
                                        <p:tav tm="0">
                                          <p:val>
                                            <p:strVal val="#ppt_y+0.1"/>
                                          </p:val>
                                        </p:tav>
                                        <p:tav tm="100000">
                                          <p:val>
                                            <p:strVal val="#ppt_y"/>
                                          </p:val>
                                        </p:tav>
                                      </p:tavLst>
                                    </p:anim>
                                    <p:animEffect transition="in" filter="fade">
                                      <p:cBhvr>
                                        <p:cTn id="48" dur="500"/>
                                        <p:tgtEl>
                                          <p:spTgt spid="22"/>
                                        </p:tgtEl>
                                      </p:cBhvr>
                                    </p:animEffect>
                                  </p:childTnLst>
                                </p:cTn>
                              </p:par>
                              <p:par>
                                <p:cTn id="54" presetID="2" presetClass="entr" presetSubtype="4" fill="hold" grpId="0" nodeType="withEffect">
                                  <p:stCondLst>
                                    <p:cond delay="48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ppt_y+0.1"/>
                                          </p:val>
                                        </p:tav>
                                        <p:tav tm="100000">
                                          <p:val>
                                            <p:strVal val="#ppt_y"/>
                                          </p:val>
                                        </p:tav>
                                      </p:tavLst>
                                    </p:anim>
                                    <p:animEffect transition="in" filter="fade">
                                      <p:cBhvr>
                                        <p:cTn id="53" dur="500"/>
                                        <p:tgtEl>
                                          <p:spTgt spid="23"/>
                                        </p:tgtEl>
                                      </p:cBhvr>
                                    </p:animEffect>
                                  </p:childTnLst>
                                </p:cTn>
                              </p:par>
                              <p:par>
                                <p:cTn id="59" presetID="2" presetClass="entr" presetSubtype="4" fill="hold" grpId="0" nodeType="withEffect">
                                  <p:stCondLst>
                                    <p:cond delay="52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ppt_y+0.1"/>
                                          </p:val>
                                        </p:tav>
                                        <p:tav tm="100000">
                                          <p:val>
                                            <p:strVal val="#ppt_y"/>
                                          </p:val>
                                        </p:tav>
                                      </p:tavLst>
                                    </p:anim>
                                    <p:animEffect transition="in" filter="fade">
                                      <p:cBhvr>
                                        <p:cTn id="58" dur="500"/>
                                        <p:tgtEl>
                                          <p:spTgt spid="24"/>
                                        </p:tgtEl>
                                      </p:cBhvr>
                                    </p:animEffect>
                                  </p:childTnLst>
                                </p:cTn>
                              </p:par>
                              <p:par>
                                <p:cTn id="62" presetID="22" presetClass="entr" presetSubtype="8" fill="hold" grpId="0" nodeType="withEffect">
                                  <p:stCondLst>
                                    <p:cond delay="600"/>
                                  </p:stCondLst>
                                  <p:childTnLst>
                                    <p:set>
                                      <p:cBhvr>
                                        <p:cTn id="60" dur="1" fill="hold">
                                          <p:stCondLst>
                                            <p:cond delay="0"/>
                                          </p:stCondLst>
                                        </p:cTn>
                                        <p:tgtEl>
                                          <p:spTgt spid="5"/>
                                        </p:tgtEl>
                                        <p:attrNameLst>
                                          <p:attrName>style.visibility</p:attrName>
                                        </p:attrNameLst>
                                      </p:cBhvr>
                                      <p:to>
                                        <p:strVal val="visible"/>
                                      </p:to>
                                    </p:set>
                                    <p:animEffect transition="in" filter="wipe(left)">
                                      <p:cBhvr>
                                        <p:cTn id="61" dur="500"/>
                                        <p:tgtEl>
                                          <p:spTgt spid="5"/>
                                        </p:tgtEl>
                                      </p:cBhvr>
                                    </p:animEffect>
                                  </p:childTnLst>
                                </p:cTn>
                              </p:par>
                              <p:par>
                                <p:cTn id="65" presetID="10" presetClass="entr" presetSubtype="0" fill="hold" grpId="0" nodeType="withEffect">
                                  <p:stCondLst>
                                    <p:cond delay="62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8" presetID="10" presetClass="entr" presetSubtype="0" fill="hold" grpId="0" nodeType="withEffect">
                                  <p:stCondLst>
                                    <p:cond delay="650"/>
                                  </p:stCondLst>
                                  <p:childTnLst>
                                    <p:set>
                                      <p:cBhvr>
                                        <p:cTn id="66" dur="1" fill="hold">
                                          <p:stCondLst>
                                            <p:cond delay="0"/>
                                          </p:stCondLst>
                                        </p:cTn>
                                        <p:tgtEl>
                                          <p:spTgt spid="6"/>
                                        </p:tgtEl>
                                        <p:attrNameLst>
                                          <p:attrName>style.visibility</p:attrName>
                                        </p:attrNameLst>
                                      </p:cBhvr>
                                      <p:to>
                                        <p:strVal val="visible"/>
                                      </p:to>
                                    </p:set>
                                    <p:animEffect transition="in" filter="fade">
                                      <p:cBhvr>
                                        <p:cTn id="67" dur="500"/>
                                        <p:tgtEl>
                                          <p:spTgt spid="6"/>
                                        </p:tgtEl>
                                      </p:cBhvr>
                                    </p:animEffect>
                                  </p:childTnLst>
                                </p:cTn>
                              </p:par>
                              <p:par>
                                <p:cTn id="71" presetID="22" presetClass="entr" presetSubtype="8" fill="hold" grpId="0" nodeType="withEffect">
                                  <p:stCondLst>
                                    <p:cond delay="690"/>
                                  </p:stCondLst>
                                  <p:childTnLst>
                                    <p:set>
                                      <p:cBhvr>
                                        <p:cTn id="69" dur="1" fill="hold">
                                          <p:stCondLst>
                                            <p:cond delay="0"/>
                                          </p:stCondLst>
                                        </p:cTn>
                                        <p:tgtEl>
                                          <p:spTgt spid="7"/>
                                        </p:tgtEl>
                                        <p:attrNameLst>
                                          <p:attrName>style.visibility</p:attrName>
                                        </p:attrNameLst>
                                      </p:cBhvr>
                                      <p:to>
                                        <p:strVal val="visible"/>
                                      </p:to>
                                    </p:set>
                                    <p:animEffect transition="in" filter="wipe(left)">
                                      <p:cBhvr>
                                        <p:cTn id="70" dur="500"/>
                                        <p:tgtEl>
                                          <p:spTgt spid="7"/>
                                        </p:tgtEl>
                                      </p:cBhvr>
                                    </p:animEffect>
                                  </p:childTnLst>
                                </p:cTn>
                              </p:par>
                              <p:par>
                                <p:cTn id="74" presetID="10" presetClass="entr" presetSubtype="0" fill="hold" grpId="0" nodeType="withEffect">
                                  <p:stCondLst>
                                    <p:cond delay="740"/>
                                  </p:stCondLst>
                                  <p:childTnLst>
                                    <p:set>
                                      <p:cBhvr>
                                        <p:cTn id="72" dur="1" fill="hold">
                                          <p:stCondLst>
                                            <p:cond delay="0"/>
                                          </p:stCondLst>
                                        </p:cTn>
                                        <p:tgtEl>
                                          <p:spTgt spid="8"/>
                                        </p:tgtEl>
                                        <p:attrNameLst>
                                          <p:attrName>style.visibility</p:attrName>
                                        </p:attrNameLst>
                                      </p:cBhvr>
                                      <p:to>
                                        <p:strVal val="visible"/>
                                      </p:to>
                                    </p:set>
                                    <p:animEffect transition="in" filter="fade">
                                      <p:cBhvr>
                                        <p:cTn id="73" dur="500"/>
                                        <p:tgtEl>
                                          <p:spTgt spid="8"/>
                                        </p:tgtEl>
                                      </p:cBhvr>
                                    </p:animEffect>
                                  </p:childTnLst>
                                </p:cTn>
                              </p:par>
                              <p:par>
                                <p:cTn id="77" presetID="22" presetClass="entr" presetSubtype="8" fill="hold" grpId="0" nodeType="withEffect">
                                  <p:stCondLst>
                                    <p:cond delay="780"/>
                                  </p:stCondLst>
                                  <p:childTnLst>
                                    <p:set>
                                      <p:cBhvr>
                                        <p:cTn id="75" dur="1" fill="hold">
                                          <p:stCondLst>
                                            <p:cond delay="0"/>
                                          </p:stCondLst>
                                        </p:cTn>
                                        <p:tgtEl>
                                          <p:spTgt spid="9"/>
                                        </p:tgtEl>
                                        <p:attrNameLst>
                                          <p:attrName>style.visibility</p:attrName>
                                        </p:attrNameLst>
                                      </p:cBhvr>
                                      <p:to>
                                        <p:strVal val="visible"/>
                                      </p:to>
                                    </p:set>
                                    <p:animEffect transition="in" filter="wipe(left)">
                                      <p:cBhvr>
                                        <p:cTn id="76" dur="500"/>
                                        <p:tgtEl>
                                          <p:spTgt spid="9"/>
                                        </p:tgtEl>
                                      </p:cBhvr>
                                    </p:animEffect>
                                  </p:childTnLst>
                                </p:cTn>
                              </p:par>
                              <p:par>
                                <p:cTn id="80" presetID="10" presetClass="entr" presetSubtype="0" fill="hold" grpId="0" nodeType="withEffect">
                                  <p:stCondLst>
                                    <p:cond delay="83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500"/>
                                        <p:tgtEl>
                                          <p:spTgt spid="10"/>
                                        </p:tgtEl>
                                      </p:cBhvr>
                                    </p:animEffect>
                                  </p:childTnLst>
                                </p:cTn>
                              </p:par>
                              <p:par>
                                <p:cTn id="83" presetID="22" presetClass="entr" presetSubtype="8" fill="hold" grpId="0" nodeType="withEffect">
                                  <p:stCondLst>
                                    <p:cond delay="870"/>
                                  </p:stCondLst>
                                  <p:childTnLst>
                                    <p:set>
                                      <p:cBhvr>
                                        <p:cTn id="81" dur="1" fill="hold">
                                          <p:stCondLst>
                                            <p:cond delay="0"/>
                                          </p:stCondLst>
                                        </p:cTn>
                                        <p:tgtEl>
                                          <p:spTgt spid="11"/>
                                        </p:tgtEl>
                                        <p:attrNameLst>
                                          <p:attrName>style.visibility</p:attrName>
                                        </p:attrNameLst>
                                      </p:cBhvr>
                                      <p:to>
                                        <p:strVal val="visible"/>
                                      </p:to>
                                    </p:set>
                                    <p:animEffect transition="in" filter="wipe(left)">
                                      <p:cBhvr>
                                        <p:cTn id="82" dur="500"/>
                                        <p:tgtEl>
                                          <p:spTgt spid="11"/>
                                        </p:tgtEl>
                                      </p:cBhvr>
                                    </p:animEffect>
                                  </p:childTnLst>
                                </p:cTn>
                              </p:par>
                              <p:par>
                                <p:cTn id="86" presetID="10" presetClass="entr" presetSubtype="0" fill="hold" grpId="0" nodeType="withEffect">
                                  <p:stCondLst>
                                    <p:cond delay="920"/>
                                  </p:stCondLst>
                                  <p:childTnLst>
                                    <p:set>
                                      <p:cBhvr>
                                        <p:cTn id="84" dur="1" fill="hold">
                                          <p:stCondLst>
                                            <p:cond delay="0"/>
                                          </p:stCondLst>
                                        </p:cTn>
                                        <p:tgtEl>
                                          <p:spTgt spid="12"/>
                                        </p:tgtEl>
                                        <p:attrNameLst>
                                          <p:attrName>style.visibility</p:attrName>
                                        </p:attrNameLst>
                                      </p:cBhvr>
                                      <p:to>
                                        <p:strVal val="visible"/>
                                      </p:to>
                                    </p:set>
                                    <p:animEffect transition="in" filter="fade">
                                      <p:cBhvr>
                                        <p:cTn id="85" dur="500"/>
                                        <p:tgtEl>
                                          <p:spTgt spid="12"/>
                                        </p:tgtEl>
                                      </p:cBhvr>
                                    </p:animEffect>
                                  </p:childTnLst>
                                </p:cTn>
                              </p:par>
                              <p:par>
                                <p:cTn id="89" presetID="22" presetClass="entr" presetSubtype="8" fill="hold" grpId="0" nodeType="withEffect">
                                  <p:stCondLst>
                                    <p:cond delay="960"/>
                                  </p:stCondLst>
                                  <p:childTnLst>
                                    <p:set>
                                      <p:cBhvr>
                                        <p:cTn id="87" dur="1" fill="hold">
                                          <p:stCondLst>
                                            <p:cond delay="0"/>
                                          </p:stCondLst>
                                        </p:cTn>
                                        <p:tgtEl>
                                          <p:spTgt spid="13"/>
                                        </p:tgtEl>
                                        <p:attrNameLst>
                                          <p:attrName>style.visibility</p:attrName>
                                        </p:attrNameLst>
                                      </p:cBhvr>
                                      <p:to>
                                        <p:strVal val="visible"/>
                                      </p:to>
                                    </p:set>
                                    <p:animEffect transition="in" filter="wipe(left)">
                                      <p:cBhvr>
                                        <p:cTn id="88" dur="500"/>
                                        <p:tgtEl>
                                          <p:spTgt spid="13"/>
                                        </p:tgtEl>
                                      </p:cBhvr>
                                    </p:animEffect>
                                  </p:childTnLst>
                                </p:cTn>
                              </p:par>
                              <p:par>
                                <p:cTn id="92" presetID="10" presetClass="entr" presetSubtype="0" fill="hold" grpId="0" nodeType="withEffect">
                                  <p:stCondLst>
                                    <p:cond delay="1010"/>
                                  </p:stCondLst>
                                  <p:childTnLst>
                                    <p:set>
                                      <p:cBhvr>
                                        <p:cTn id="90" dur="1" fill="hold">
                                          <p:stCondLst>
                                            <p:cond delay="0"/>
                                          </p:stCondLst>
                                        </p:cTn>
                                        <p:tgtEl>
                                          <p:spTgt spid="14"/>
                                        </p:tgtEl>
                                        <p:attrNameLst>
                                          <p:attrName>style.visibility</p:attrName>
                                        </p:attrNameLst>
                                      </p:cBhvr>
                                      <p:to>
                                        <p:strVal val="visible"/>
                                      </p:to>
                                    </p:set>
                                    <p:animEffect transition="in" filter="fade">
                                      <p:cBhvr>
                                        <p:cTn id="91" dur="500"/>
                                        <p:tgtEl>
                                          <p:spTgt spid="14"/>
                                        </p:tgtEl>
                                      </p:cBhvr>
                                    </p:animEffect>
                                  </p:childTnLst>
                                </p:cTn>
                              </p:par>
                            </p:childTnLst>
                          </p:cTn>
                        </p:par>
                      </p:childTnLst>
                    </p:cTn>
                  </p:par>
                  <p:par>
                    <p:cTn id="93" fill="hold">
                      <p:stCondLst>
                        <p:cond delay="indefinite"/>
                      </p:stCondLst>
                      <p:childTnLst>
                        <p:par>
                          <p:cTn id="94" fill="hold">
                            <p:stCondLst>
                              <p:cond delay="0"/>
                            </p:stCondLst>
                            <p:childTnLst>
                              <p:par>
                                <p:cTn id="99" presetID="2" presetClass="entr" presetSubtype="4" fill="hold" grpId="0" nodeType="click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500" fill="hold"/>
                                        <p:tgtEl>
                                          <p:spTgt spid="26"/>
                                        </p:tgtEl>
                                        <p:attrNameLst>
                                          <p:attrName>ppt_x</p:attrName>
                                        </p:attrNameLst>
                                      </p:cBhvr>
                                      <p:tavLst>
                                        <p:tav tm="0">
                                          <p:val>
                                            <p:strVal val="#ppt_x"/>
                                          </p:val>
                                        </p:tav>
                                        <p:tav tm="100000">
                                          <p:val>
                                            <p:strVal val="#ppt_x"/>
                                          </p:val>
                                        </p:tav>
                                      </p:tavLst>
                                    </p:anim>
                                    <p:anim calcmode="lin" valueType="num">
                                      <p:cBhvr additive="base">
                                        <p:cTn id="97" dur="500" fill="hold"/>
                                        <p:tgtEl>
                                          <p:spTgt spid="26"/>
                                        </p:tgtEl>
                                        <p:attrNameLst>
                                          <p:attrName>ppt_y</p:attrName>
                                        </p:attrNameLst>
                                      </p:cBhvr>
                                      <p:tavLst>
                                        <p:tav tm="0">
                                          <p:val>
                                            <p:strVal val="#ppt_y+0.1"/>
                                          </p:val>
                                        </p:tav>
                                        <p:tav tm="100000">
                                          <p:val>
                                            <p:strVal val="#ppt_y"/>
                                          </p:val>
                                        </p:tav>
                                      </p:tavLst>
                                    </p:anim>
                                    <p:animEffect transition="in" filter="fade">
                                      <p:cBhvr>
                                        <p:cTn id="98" dur="500"/>
                                        <p:tgtEl>
                                          <p:spTgt spid="26"/>
                                        </p:tgtEl>
                                      </p:cBhvr>
                                    </p:animEffect>
                                  </p:childTnLst>
                                </p:cTn>
                              </p:par>
                              <p:par>
                                <p:cTn id="104" presetID="2" presetClass="entr" presetSubtype="4"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 calcmode="lin" valueType="num">
                                      <p:cBhvr additive="base">
                                        <p:cTn id="101" dur="500" fill="hold"/>
                                        <p:tgtEl>
                                          <p:spTgt spid="27"/>
                                        </p:tgtEl>
                                        <p:attrNameLst>
                                          <p:attrName>ppt_x</p:attrName>
                                        </p:attrNameLst>
                                      </p:cBhvr>
                                      <p:tavLst>
                                        <p:tav tm="0">
                                          <p:val>
                                            <p:strVal val="#ppt_x"/>
                                          </p:val>
                                        </p:tav>
                                        <p:tav tm="100000">
                                          <p:val>
                                            <p:strVal val="#ppt_x"/>
                                          </p:val>
                                        </p:tav>
                                      </p:tavLst>
                                    </p:anim>
                                    <p:anim calcmode="lin" valueType="num">
                                      <p:cBhvr additive="base">
                                        <p:cTn id="102" dur="500" fill="hold"/>
                                        <p:tgtEl>
                                          <p:spTgt spid="27"/>
                                        </p:tgtEl>
                                        <p:attrNameLst>
                                          <p:attrName>ppt_y</p:attrName>
                                        </p:attrNameLst>
                                      </p:cBhvr>
                                      <p:tavLst>
                                        <p:tav tm="0">
                                          <p:val>
                                            <p:strVal val="#ppt_y+0.1"/>
                                          </p:val>
                                        </p:tav>
                                        <p:tav tm="100000">
                                          <p:val>
                                            <p:strVal val="#ppt_y"/>
                                          </p:val>
                                        </p:tav>
                                      </p:tavLst>
                                    </p:anim>
                                    <p:animEffect transition="in" filter="fade">
                                      <p:cBhvr>
                                        <p:cTn id="103" dur="500"/>
                                        <p:tgtEl>
                                          <p:spTgt spid="27"/>
                                        </p:tgtEl>
                                      </p:cBhvr>
                                    </p:animEffect>
                                  </p:childTnLst>
                                </p:cTn>
                              </p:par>
                              <p:par>
                                <p:cTn id="107" presetID="10" presetClass="entr" presetSubtype="0" fill="hold" grpId="0" nodeType="withEffect">
                                  <p:stCondLst>
                                    <p:cond delay="6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00"/>
                                        <p:tgtEl>
                                          <p:spTgt spid="28"/>
                                        </p:tgtEl>
                                      </p:cBhvr>
                                    </p:animEffect>
                                  </p:childTnLst>
                                </p:cTn>
                              </p:par>
                              <p:par>
                                <p:cTn id="110" presetID="22" presetClass="entr" presetSubtype="8" fill="hold" grpId="0" nodeType="withEffect">
                                  <p:stCondLst>
                                    <p:cond delay="60"/>
                                  </p:stCondLst>
                                  <p:childTnLst>
                                    <p:set>
                                      <p:cBhvr>
                                        <p:cTn id="108" dur="1" fill="hold">
                                          <p:stCondLst>
                                            <p:cond delay="0"/>
                                          </p:stCondLst>
                                        </p:cTn>
                                        <p:tgtEl>
                                          <p:spTgt spid="29"/>
                                        </p:tgtEl>
                                        <p:attrNameLst>
                                          <p:attrName>style.visibility</p:attrName>
                                        </p:attrNameLst>
                                      </p:cBhvr>
                                      <p:to>
                                        <p:strVal val="visible"/>
                                      </p:to>
                                    </p:set>
                                    <p:animEffect transition="in" filter="wipe(left)">
                                      <p:cBhvr>
                                        <p:cTn id="109" dur="500"/>
                                        <p:tgtEl>
                                          <p:spTgt spid="29"/>
                                        </p:tgtEl>
                                      </p:cBhvr>
                                    </p:animEffect>
                                  </p:childTnLst>
                                </p:cTn>
                              </p:par>
                              <p:par>
                                <p:cTn id="113" presetID="22" presetClass="entr" presetSubtype="8" fill="hold" grpId="0" nodeType="withEffect">
                                  <p:stCondLst>
                                    <p:cond delay="180"/>
                                  </p:stCondLst>
                                  <p:childTnLst>
                                    <p:set>
                                      <p:cBhvr>
                                        <p:cTn id="111" dur="1" fill="hold">
                                          <p:stCondLst>
                                            <p:cond delay="0"/>
                                          </p:stCondLst>
                                        </p:cTn>
                                        <p:tgtEl>
                                          <p:spTgt spid="30"/>
                                        </p:tgtEl>
                                        <p:attrNameLst>
                                          <p:attrName>style.visibility</p:attrName>
                                        </p:attrNameLst>
                                      </p:cBhvr>
                                      <p:to>
                                        <p:strVal val="visible"/>
                                      </p:to>
                                    </p:set>
                                    <p:animEffect transition="in" filter="wipe(left)">
                                      <p:cBhvr>
                                        <p:cTn id="112" dur="500"/>
                                        <p:tgtEl>
                                          <p:spTgt spid="30"/>
                                        </p:tgtEl>
                                      </p:cBhvr>
                                    </p:animEffect>
                                  </p:childTnLst>
                                </p:cTn>
                              </p:par>
                              <p:par>
                                <p:cTn id="116" presetID="22" presetClass="entr" presetSubtype="8" fill="hold" grpId="0" nodeType="withEffect">
                                  <p:stCondLst>
                                    <p:cond delay="300"/>
                                  </p:stCondLst>
                                  <p:childTnLst>
                                    <p:set>
                                      <p:cBhvr>
                                        <p:cTn id="114" dur="1" fill="hold">
                                          <p:stCondLst>
                                            <p:cond delay="0"/>
                                          </p:stCondLst>
                                        </p:cTn>
                                        <p:tgtEl>
                                          <p:spTgt spid="31"/>
                                        </p:tgtEl>
                                        <p:attrNameLst>
                                          <p:attrName>style.visibility</p:attrName>
                                        </p:attrNameLst>
                                      </p:cBhvr>
                                      <p:to>
                                        <p:strVal val="visible"/>
                                      </p:to>
                                    </p:set>
                                    <p:animEffect transition="in" filter="wipe(left)">
                                      <p:cBhvr>
                                        <p:cTn id="115" dur="500"/>
                                        <p:tgtEl>
                                          <p:spTgt spid="31"/>
                                        </p:tgtEl>
                                      </p:cBhvr>
                                    </p:animEffect>
                                  </p:childTnLst>
                                </p:cTn>
                              </p:par>
                              <p:par>
                                <p:cTn id="119" presetID="22" presetClass="entr" presetSubtype="8" fill="hold" grpId="0" nodeType="withEffect">
                                  <p:stCondLst>
                                    <p:cond delay="420"/>
                                  </p:stCondLst>
                                  <p:childTnLst>
                                    <p:set>
                                      <p:cBhvr>
                                        <p:cTn id="117" dur="1" fill="hold">
                                          <p:stCondLst>
                                            <p:cond delay="0"/>
                                          </p:stCondLst>
                                        </p:cTn>
                                        <p:tgtEl>
                                          <p:spTgt spid="32"/>
                                        </p:tgtEl>
                                        <p:attrNameLst>
                                          <p:attrName>style.visibility</p:attrName>
                                        </p:attrNameLst>
                                      </p:cBhvr>
                                      <p:to>
                                        <p:strVal val="visible"/>
                                      </p:to>
                                    </p:set>
                                    <p:animEffect transition="in" filter="wipe(left)">
                                      <p:cBhvr>
                                        <p:cTn id="118" dur="500"/>
                                        <p:tgtEl>
                                          <p:spTgt spid="32"/>
                                        </p:tgtEl>
                                      </p:cBhvr>
                                    </p:animEffect>
                                  </p:childTnLst>
                                </p:cTn>
                              </p:par>
                              <p:par>
                                <p:cTn id="122" presetID="10" presetClass="entr" presetSubtype="0" fill="hold" grpId="0" nodeType="withEffect">
                                  <p:stCondLst>
                                    <p:cond delay="520"/>
                                  </p:stCondLst>
                                  <p:childTnLst>
                                    <p:set>
                                      <p:cBhvr>
                                        <p:cTn id="120" dur="1" fill="hold">
                                          <p:stCondLst>
                                            <p:cond delay="0"/>
                                          </p:stCondLst>
                                        </p:cTn>
                                        <p:tgtEl>
                                          <p:spTgt spid="33"/>
                                        </p:tgtEl>
                                        <p:attrNameLst>
                                          <p:attrName>style.visibility</p:attrName>
                                        </p:attrNameLst>
                                      </p:cBhvr>
                                      <p:to>
                                        <p:strVal val="visible"/>
                                      </p:to>
                                    </p:set>
                                    <p:animEffect transition="in" filter="fade">
                                      <p:cBhvr>
                                        <p:cTn id="121" dur="5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127" presetID="10" presetClass="entr" presetSubtype="0" fill="hold" grpId="0" nodeType="click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500"/>
                                        <p:tgtEl>
                                          <p:spTgt spid="34"/>
                                        </p:tgtEl>
                                      </p:cBhvr>
                                    </p:animEffect>
                                  </p:childTnLst>
                                </p:cTn>
                              </p:par>
                              <p:par>
                                <p:cTn id="130" presetID="10" presetClass="entr" presetSubtype="0" fill="hold" grpId="0" nodeType="withEffect">
                                  <p:stCondLst>
                                    <p:cond delay="0"/>
                                  </p:stCondLst>
                                  <p:childTnLst>
                                    <p:set>
                                      <p:cBhvr>
                                        <p:cTn id="128" dur="1" fill="hold">
                                          <p:stCondLst>
                                            <p:cond delay="0"/>
                                          </p:stCondLst>
                                        </p:cTn>
                                        <p:tgtEl>
                                          <p:spTgt spid="35"/>
                                        </p:tgtEl>
                                        <p:attrNameLst>
                                          <p:attrName>style.visibility</p:attrName>
                                        </p:attrNameLst>
                                      </p:cBhvr>
                                      <p:to>
                                        <p:strVal val="visible"/>
                                      </p:to>
                                    </p:set>
                                    <p:animEffect transition="in" filter="fade">
                                      <p:cBhvr>
                                        <p:cTn id="129" dur="500"/>
                                        <p:tgtEl>
                                          <p:spTgt spid="35"/>
                                        </p:tgtEl>
                                      </p:cBhvr>
                                    </p:animEffect>
                                  </p:childTnLst>
                                </p:cTn>
                              </p:par>
                              <p:par>
                                <p:cTn id="133" presetID="10" presetClass="entr" presetSubtype="0" fill="hold" grpId="0" nodeType="with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fade">
                                      <p:cBhvr>
                                        <p:cTn id="132" dur="500"/>
                                        <p:tgtEl>
                                          <p:spTgt spid="42"/>
                                        </p:tgtEl>
                                      </p:cBhvr>
                                    </p:animEffect>
                                  </p:childTnLst>
                                </p:cTn>
                              </p:par>
                              <p:par>
                                <p:cTn id="136" presetID="10"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500"/>
                                        <p:tgtEl>
                                          <p:spTgt spid="43"/>
                                        </p:tgtEl>
                                      </p:cBhvr>
                                    </p:animEffect>
                                  </p:childTnLst>
                                </p:cTn>
                              </p:par>
                              <p:par>
                                <p:cTn id="139" presetID="10" presetClass="entr" presetSubtype="0"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Effect transition="in" filter="fade">
                                      <p:cBhvr>
                                        <p:cTn id="138" dur="500"/>
                                        <p:tgtEl>
                                          <p:spTgt spid="50"/>
                                        </p:tgtEl>
                                      </p:cBhvr>
                                    </p:animEffect>
                                  </p:childTnLst>
                                </p:cTn>
                              </p:par>
                              <p:par>
                                <p:cTn id="142" presetID="10" presetClass="entr" presetSubtype="0" fill="hold" grpId="0" nodeType="withEffect">
                                  <p:stCondLst>
                                    <p:cond delay="0"/>
                                  </p:stCondLst>
                                  <p:childTnLst>
                                    <p:set>
                                      <p:cBhvr>
                                        <p:cTn id="140" dur="1" fill="hold">
                                          <p:stCondLst>
                                            <p:cond delay="0"/>
                                          </p:stCondLst>
                                        </p:cTn>
                                        <p:tgtEl>
                                          <p:spTgt spid="51"/>
                                        </p:tgtEl>
                                        <p:attrNameLst>
                                          <p:attrName>style.visibility</p:attrName>
                                        </p:attrNameLst>
                                      </p:cBhvr>
                                      <p:to>
                                        <p:strVal val="visible"/>
                                      </p:to>
                                    </p:set>
                                    <p:animEffect transition="in" filter="fade">
                                      <p:cBhvr>
                                        <p:cTn id="141" dur="500"/>
                                        <p:tgtEl>
                                          <p:spTgt spid="51"/>
                                        </p:tgtEl>
                                      </p:cBhvr>
                                    </p:animEffect>
                                  </p:childTnLst>
                                </p:cTn>
                              </p:par>
                              <p:par>
                                <p:cTn id="145" presetID="22" presetClass="entr" presetSubtype="8" fill="hold" grpId="0" nodeType="withEffect">
                                  <p:stCondLst>
                                    <p:cond delay="130"/>
                                  </p:stCondLst>
                                  <p:childTnLst>
                                    <p:set>
                                      <p:cBhvr>
                                        <p:cTn id="143" dur="1" fill="hold">
                                          <p:stCondLst>
                                            <p:cond delay="0"/>
                                          </p:stCondLst>
                                        </p:cTn>
                                        <p:tgtEl>
                                          <p:spTgt spid="36"/>
                                        </p:tgtEl>
                                        <p:attrNameLst>
                                          <p:attrName>style.visibility</p:attrName>
                                        </p:attrNameLst>
                                      </p:cBhvr>
                                      <p:to>
                                        <p:strVal val="visible"/>
                                      </p:to>
                                    </p:set>
                                    <p:animEffect transition="in" filter="wipe(left)">
                                      <p:cBhvr>
                                        <p:cTn id="144" dur="500"/>
                                        <p:tgtEl>
                                          <p:spTgt spid="36"/>
                                        </p:tgtEl>
                                      </p:cBhvr>
                                    </p:animEffect>
                                  </p:childTnLst>
                                </p:cTn>
                              </p:par>
                              <p:par>
                                <p:cTn id="148" presetID="22" presetClass="entr" presetSubtype="8" fill="hold" grpId="0" nodeType="withEffect">
                                  <p:stCondLst>
                                    <p:cond delay="130"/>
                                  </p:stCondLst>
                                  <p:childTnLst>
                                    <p:set>
                                      <p:cBhvr>
                                        <p:cTn id="146" dur="1" fill="hold">
                                          <p:stCondLst>
                                            <p:cond delay="0"/>
                                          </p:stCondLst>
                                        </p:cTn>
                                        <p:tgtEl>
                                          <p:spTgt spid="37"/>
                                        </p:tgtEl>
                                        <p:attrNameLst>
                                          <p:attrName>style.visibility</p:attrName>
                                        </p:attrNameLst>
                                      </p:cBhvr>
                                      <p:to>
                                        <p:strVal val="visible"/>
                                      </p:to>
                                    </p:set>
                                    <p:animEffect transition="in" filter="wipe(left)">
                                      <p:cBhvr>
                                        <p:cTn id="147" dur="500"/>
                                        <p:tgtEl>
                                          <p:spTgt spid="37"/>
                                        </p:tgtEl>
                                      </p:cBhvr>
                                    </p:animEffect>
                                  </p:childTnLst>
                                </p:cTn>
                              </p:par>
                              <p:par>
                                <p:cTn id="151" presetID="22" presetClass="entr" presetSubtype="8" fill="hold" grpId="0" nodeType="withEffect">
                                  <p:stCondLst>
                                    <p:cond delay="130"/>
                                  </p:stCondLst>
                                  <p:childTnLst>
                                    <p:set>
                                      <p:cBhvr>
                                        <p:cTn id="149" dur="1" fill="hold">
                                          <p:stCondLst>
                                            <p:cond delay="0"/>
                                          </p:stCondLst>
                                        </p:cTn>
                                        <p:tgtEl>
                                          <p:spTgt spid="44"/>
                                        </p:tgtEl>
                                        <p:attrNameLst>
                                          <p:attrName>style.visibility</p:attrName>
                                        </p:attrNameLst>
                                      </p:cBhvr>
                                      <p:to>
                                        <p:strVal val="visible"/>
                                      </p:to>
                                    </p:set>
                                    <p:animEffect transition="in" filter="wipe(left)">
                                      <p:cBhvr>
                                        <p:cTn id="150" dur="500"/>
                                        <p:tgtEl>
                                          <p:spTgt spid="44"/>
                                        </p:tgtEl>
                                      </p:cBhvr>
                                    </p:animEffect>
                                  </p:childTnLst>
                                </p:cTn>
                              </p:par>
                              <p:par>
                                <p:cTn id="154" presetID="22" presetClass="entr" presetSubtype="8" fill="hold" grpId="0" nodeType="withEffect">
                                  <p:stCondLst>
                                    <p:cond delay="130"/>
                                  </p:stCondLst>
                                  <p:childTnLst>
                                    <p:set>
                                      <p:cBhvr>
                                        <p:cTn id="152" dur="1" fill="hold">
                                          <p:stCondLst>
                                            <p:cond delay="0"/>
                                          </p:stCondLst>
                                        </p:cTn>
                                        <p:tgtEl>
                                          <p:spTgt spid="45"/>
                                        </p:tgtEl>
                                        <p:attrNameLst>
                                          <p:attrName>style.visibility</p:attrName>
                                        </p:attrNameLst>
                                      </p:cBhvr>
                                      <p:to>
                                        <p:strVal val="visible"/>
                                      </p:to>
                                    </p:set>
                                    <p:animEffect transition="in" filter="wipe(left)">
                                      <p:cBhvr>
                                        <p:cTn id="153" dur="500"/>
                                        <p:tgtEl>
                                          <p:spTgt spid="45"/>
                                        </p:tgtEl>
                                      </p:cBhvr>
                                    </p:animEffect>
                                  </p:childTnLst>
                                </p:cTn>
                              </p:par>
                              <p:par>
                                <p:cTn id="157" presetID="22" presetClass="entr" presetSubtype="8" fill="hold" grpId="0" nodeType="withEffect">
                                  <p:stCondLst>
                                    <p:cond delay="130"/>
                                  </p:stCondLst>
                                  <p:childTnLst>
                                    <p:set>
                                      <p:cBhvr>
                                        <p:cTn id="155" dur="1" fill="hold">
                                          <p:stCondLst>
                                            <p:cond delay="0"/>
                                          </p:stCondLst>
                                        </p:cTn>
                                        <p:tgtEl>
                                          <p:spTgt spid="52"/>
                                        </p:tgtEl>
                                        <p:attrNameLst>
                                          <p:attrName>style.visibility</p:attrName>
                                        </p:attrNameLst>
                                      </p:cBhvr>
                                      <p:to>
                                        <p:strVal val="visible"/>
                                      </p:to>
                                    </p:set>
                                    <p:animEffect transition="in" filter="wipe(left)">
                                      <p:cBhvr>
                                        <p:cTn id="156" dur="500"/>
                                        <p:tgtEl>
                                          <p:spTgt spid="52"/>
                                        </p:tgtEl>
                                      </p:cBhvr>
                                    </p:animEffect>
                                  </p:childTnLst>
                                </p:cTn>
                              </p:par>
                              <p:par>
                                <p:cTn id="160" presetID="22" presetClass="entr" presetSubtype="8" fill="hold" grpId="0" nodeType="withEffect">
                                  <p:stCondLst>
                                    <p:cond delay="130"/>
                                  </p:stCondLst>
                                  <p:childTnLst>
                                    <p:set>
                                      <p:cBhvr>
                                        <p:cTn id="158" dur="1" fill="hold">
                                          <p:stCondLst>
                                            <p:cond delay="0"/>
                                          </p:stCondLst>
                                        </p:cTn>
                                        <p:tgtEl>
                                          <p:spTgt spid="53"/>
                                        </p:tgtEl>
                                        <p:attrNameLst>
                                          <p:attrName>style.visibility</p:attrName>
                                        </p:attrNameLst>
                                      </p:cBhvr>
                                      <p:to>
                                        <p:strVal val="visible"/>
                                      </p:to>
                                    </p:set>
                                    <p:animEffect transition="in" filter="wipe(left)">
                                      <p:cBhvr>
                                        <p:cTn id="159" dur="500"/>
                                        <p:tgtEl>
                                          <p:spTgt spid="53"/>
                                        </p:tgtEl>
                                      </p:cBhvr>
                                    </p:animEffect>
                                  </p:childTnLst>
                                </p:cTn>
                              </p:par>
                              <p:par>
                                <p:cTn id="163" presetID="22" presetClass="entr" presetSubtype="8" fill="hold" grpId="0" nodeType="withEffect">
                                  <p:stCondLst>
                                    <p:cond delay="260"/>
                                  </p:stCondLst>
                                  <p:childTnLst>
                                    <p:set>
                                      <p:cBhvr>
                                        <p:cTn id="161" dur="1" fill="hold">
                                          <p:stCondLst>
                                            <p:cond delay="0"/>
                                          </p:stCondLst>
                                        </p:cTn>
                                        <p:tgtEl>
                                          <p:spTgt spid="38"/>
                                        </p:tgtEl>
                                        <p:attrNameLst>
                                          <p:attrName>style.visibility</p:attrName>
                                        </p:attrNameLst>
                                      </p:cBhvr>
                                      <p:to>
                                        <p:strVal val="visible"/>
                                      </p:to>
                                    </p:set>
                                    <p:animEffect transition="in" filter="wipe(left)">
                                      <p:cBhvr>
                                        <p:cTn id="162" dur="500"/>
                                        <p:tgtEl>
                                          <p:spTgt spid="38"/>
                                        </p:tgtEl>
                                      </p:cBhvr>
                                    </p:animEffect>
                                  </p:childTnLst>
                                </p:cTn>
                              </p:par>
                              <p:par>
                                <p:cTn id="166" presetID="22" presetClass="entr" presetSubtype="8" fill="hold" grpId="0" nodeType="withEffect">
                                  <p:stCondLst>
                                    <p:cond delay="260"/>
                                  </p:stCondLst>
                                  <p:childTnLst>
                                    <p:set>
                                      <p:cBhvr>
                                        <p:cTn id="164" dur="1" fill="hold">
                                          <p:stCondLst>
                                            <p:cond delay="0"/>
                                          </p:stCondLst>
                                        </p:cTn>
                                        <p:tgtEl>
                                          <p:spTgt spid="39"/>
                                        </p:tgtEl>
                                        <p:attrNameLst>
                                          <p:attrName>style.visibility</p:attrName>
                                        </p:attrNameLst>
                                      </p:cBhvr>
                                      <p:to>
                                        <p:strVal val="visible"/>
                                      </p:to>
                                    </p:set>
                                    <p:animEffect transition="in" filter="wipe(left)">
                                      <p:cBhvr>
                                        <p:cTn id="165" dur="500"/>
                                        <p:tgtEl>
                                          <p:spTgt spid="39"/>
                                        </p:tgtEl>
                                      </p:cBhvr>
                                    </p:animEffect>
                                  </p:childTnLst>
                                </p:cTn>
                              </p:par>
                              <p:par>
                                <p:cTn id="169" presetID="22" presetClass="entr" presetSubtype="8" fill="hold" grpId="0" nodeType="withEffect">
                                  <p:stCondLst>
                                    <p:cond delay="260"/>
                                  </p:stCondLst>
                                  <p:childTnLst>
                                    <p:set>
                                      <p:cBhvr>
                                        <p:cTn id="167" dur="1" fill="hold">
                                          <p:stCondLst>
                                            <p:cond delay="0"/>
                                          </p:stCondLst>
                                        </p:cTn>
                                        <p:tgtEl>
                                          <p:spTgt spid="46"/>
                                        </p:tgtEl>
                                        <p:attrNameLst>
                                          <p:attrName>style.visibility</p:attrName>
                                        </p:attrNameLst>
                                      </p:cBhvr>
                                      <p:to>
                                        <p:strVal val="visible"/>
                                      </p:to>
                                    </p:set>
                                    <p:animEffect transition="in" filter="wipe(left)">
                                      <p:cBhvr>
                                        <p:cTn id="168" dur="500"/>
                                        <p:tgtEl>
                                          <p:spTgt spid="46"/>
                                        </p:tgtEl>
                                      </p:cBhvr>
                                    </p:animEffect>
                                  </p:childTnLst>
                                </p:cTn>
                              </p:par>
                              <p:par>
                                <p:cTn id="172" presetID="22" presetClass="entr" presetSubtype="8" fill="hold" grpId="0" nodeType="withEffect">
                                  <p:stCondLst>
                                    <p:cond delay="260"/>
                                  </p:stCondLst>
                                  <p:childTnLst>
                                    <p:set>
                                      <p:cBhvr>
                                        <p:cTn id="170" dur="1" fill="hold">
                                          <p:stCondLst>
                                            <p:cond delay="0"/>
                                          </p:stCondLst>
                                        </p:cTn>
                                        <p:tgtEl>
                                          <p:spTgt spid="47"/>
                                        </p:tgtEl>
                                        <p:attrNameLst>
                                          <p:attrName>style.visibility</p:attrName>
                                        </p:attrNameLst>
                                      </p:cBhvr>
                                      <p:to>
                                        <p:strVal val="visible"/>
                                      </p:to>
                                    </p:set>
                                    <p:animEffect transition="in" filter="wipe(left)">
                                      <p:cBhvr>
                                        <p:cTn id="171" dur="500"/>
                                        <p:tgtEl>
                                          <p:spTgt spid="47"/>
                                        </p:tgtEl>
                                      </p:cBhvr>
                                    </p:animEffect>
                                  </p:childTnLst>
                                </p:cTn>
                              </p:par>
                              <p:par>
                                <p:cTn id="175" presetID="22" presetClass="entr" presetSubtype="8" fill="hold" grpId="0" nodeType="withEffect">
                                  <p:stCondLst>
                                    <p:cond delay="260"/>
                                  </p:stCondLst>
                                  <p:childTnLst>
                                    <p:set>
                                      <p:cBhvr>
                                        <p:cTn id="173" dur="1" fill="hold">
                                          <p:stCondLst>
                                            <p:cond delay="0"/>
                                          </p:stCondLst>
                                        </p:cTn>
                                        <p:tgtEl>
                                          <p:spTgt spid="54"/>
                                        </p:tgtEl>
                                        <p:attrNameLst>
                                          <p:attrName>style.visibility</p:attrName>
                                        </p:attrNameLst>
                                      </p:cBhvr>
                                      <p:to>
                                        <p:strVal val="visible"/>
                                      </p:to>
                                    </p:set>
                                    <p:animEffect transition="in" filter="wipe(left)">
                                      <p:cBhvr>
                                        <p:cTn id="174" dur="500"/>
                                        <p:tgtEl>
                                          <p:spTgt spid="54"/>
                                        </p:tgtEl>
                                      </p:cBhvr>
                                    </p:animEffect>
                                  </p:childTnLst>
                                </p:cTn>
                              </p:par>
                              <p:par>
                                <p:cTn id="178" presetID="22" presetClass="entr" presetSubtype="8" fill="hold" grpId="0" nodeType="withEffect">
                                  <p:stCondLst>
                                    <p:cond delay="260"/>
                                  </p:stCondLst>
                                  <p:childTnLst>
                                    <p:set>
                                      <p:cBhvr>
                                        <p:cTn id="176" dur="1" fill="hold">
                                          <p:stCondLst>
                                            <p:cond delay="0"/>
                                          </p:stCondLst>
                                        </p:cTn>
                                        <p:tgtEl>
                                          <p:spTgt spid="55"/>
                                        </p:tgtEl>
                                        <p:attrNameLst>
                                          <p:attrName>style.visibility</p:attrName>
                                        </p:attrNameLst>
                                      </p:cBhvr>
                                      <p:to>
                                        <p:strVal val="visible"/>
                                      </p:to>
                                    </p:set>
                                    <p:animEffect transition="in" filter="wipe(left)">
                                      <p:cBhvr>
                                        <p:cTn id="177" dur="500"/>
                                        <p:tgtEl>
                                          <p:spTgt spid="55"/>
                                        </p:tgtEl>
                                      </p:cBhvr>
                                    </p:animEffect>
                                  </p:childTnLst>
                                </p:cTn>
                              </p:par>
                              <p:par>
                                <p:cTn id="181" presetID="22" presetClass="entr" presetSubtype="8" fill="hold" grpId="0" nodeType="withEffect">
                                  <p:stCondLst>
                                    <p:cond delay="390"/>
                                  </p:stCondLst>
                                  <p:childTnLst>
                                    <p:set>
                                      <p:cBhvr>
                                        <p:cTn id="179" dur="1" fill="hold">
                                          <p:stCondLst>
                                            <p:cond delay="0"/>
                                          </p:stCondLst>
                                        </p:cTn>
                                        <p:tgtEl>
                                          <p:spTgt spid="40"/>
                                        </p:tgtEl>
                                        <p:attrNameLst>
                                          <p:attrName>style.visibility</p:attrName>
                                        </p:attrNameLst>
                                      </p:cBhvr>
                                      <p:to>
                                        <p:strVal val="visible"/>
                                      </p:to>
                                    </p:set>
                                    <p:animEffect transition="in" filter="wipe(left)">
                                      <p:cBhvr>
                                        <p:cTn id="180" dur="500"/>
                                        <p:tgtEl>
                                          <p:spTgt spid="40"/>
                                        </p:tgtEl>
                                      </p:cBhvr>
                                    </p:animEffect>
                                  </p:childTnLst>
                                </p:cTn>
                              </p:par>
                              <p:par>
                                <p:cTn id="184" presetID="22" presetClass="entr" presetSubtype="8" fill="hold" grpId="0" nodeType="withEffect">
                                  <p:stCondLst>
                                    <p:cond delay="390"/>
                                  </p:stCondLst>
                                  <p:childTnLst>
                                    <p:set>
                                      <p:cBhvr>
                                        <p:cTn id="182" dur="1" fill="hold">
                                          <p:stCondLst>
                                            <p:cond delay="0"/>
                                          </p:stCondLst>
                                        </p:cTn>
                                        <p:tgtEl>
                                          <p:spTgt spid="41"/>
                                        </p:tgtEl>
                                        <p:attrNameLst>
                                          <p:attrName>style.visibility</p:attrName>
                                        </p:attrNameLst>
                                      </p:cBhvr>
                                      <p:to>
                                        <p:strVal val="visible"/>
                                      </p:to>
                                    </p:set>
                                    <p:animEffect transition="in" filter="wipe(left)">
                                      <p:cBhvr>
                                        <p:cTn id="183" dur="500"/>
                                        <p:tgtEl>
                                          <p:spTgt spid="41"/>
                                        </p:tgtEl>
                                      </p:cBhvr>
                                    </p:animEffect>
                                  </p:childTnLst>
                                </p:cTn>
                              </p:par>
                              <p:par>
                                <p:cTn id="187" presetID="22" presetClass="entr" presetSubtype="8" fill="hold" grpId="0" nodeType="withEffect">
                                  <p:stCondLst>
                                    <p:cond delay="390"/>
                                  </p:stCondLst>
                                  <p:childTnLst>
                                    <p:set>
                                      <p:cBhvr>
                                        <p:cTn id="185" dur="1" fill="hold">
                                          <p:stCondLst>
                                            <p:cond delay="0"/>
                                          </p:stCondLst>
                                        </p:cTn>
                                        <p:tgtEl>
                                          <p:spTgt spid="48"/>
                                        </p:tgtEl>
                                        <p:attrNameLst>
                                          <p:attrName>style.visibility</p:attrName>
                                        </p:attrNameLst>
                                      </p:cBhvr>
                                      <p:to>
                                        <p:strVal val="visible"/>
                                      </p:to>
                                    </p:set>
                                    <p:animEffect transition="in" filter="wipe(left)">
                                      <p:cBhvr>
                                        <p:cTn id="186" dur="500"/>
                                        <p:tgtEl>
                                          <p:spTgt spid="48"/>
                                        </p:tgtEl>
                                      </p:cBhvr>
                                    </p:animEffect>
                                  </p:childTnLst>
                                </p:cTn>
                              </p:par>
                              <p:par>
                                <p:cTn id="190" presetID="22" presetClass="entr" presetSubtype="8" fill="hold" grpId="0" nodeType="withEffect">
                                  <p:stCondLst>
                                    <p:cond delay="390"/>
                                  </p:stCondLst>
                                  <p:childTnLst>
                                    <p:set>
                                      <p:cBhvr>
                                        <p:cTn id="188" dur="1" fill="hold">
                                          <p:stCondLst>
                                            <p:cond delay="0"/>
                                          </p:stCondLst>
                                        </p:cTn>
                                        <p:tgtEl>
                                          <p:spTgt spid="49"/>
                                        </p:tgtEl>
                                        <p:attrNameLst>
                                          <p:attrName>style.visibility</p:attrName>
                                        </p:attrNameLst>
                                      </p:cBhvr>
                                      <p:to>
                                        <p:strVal val="visible"/>
                                      </p:to>
                                    </p:set>
                                    <p:animEffect transition="in" filter="wipe(left)">
                                      <p:cBhvr>
                                        <p:cTn id="189" dur="500"/>
                                        <p:tgtEl>
                                          <p:spTgt spid="49"/>
                                        </p:tgtEl>
                                      </p:cBhvr>
                                    </p:animEffect>
                                  </p:childTnLst>
                                </p:cTn>
                              </p:par>
                              <p:par>
                                <p:cTn id="193" presetID="22" presetClass="entr" presetSubtype="8" fill="hold" grpId="0" nodeType="withEffect">
                                  <p:stCondLst>
                                    <p:cond delay="390"/>
                                  </p:stCondLst>
                                  <p:childTnLst>
                                    <p:set>
                                      <p:cBhvr>
                                        <p:cTn id="191" dur="1" fill="hold">
                                          <p:stCondLst>
                                            <p:cond delay="0"/>
                                          </p:stCondLst>
                                        </p:cTn>
                                        <p:tgtEl>
                                          <p:spTgt spid="56"/>
                                        </p:tgtEl>
                                        <p:attrNameLst>
                                          <p:attrName>style.visibility</p:attrName>
                                        </p:attrNameLst>
                                      </p:cBhvr>
                                      <p:to>
                                        <p:strVal val="visible"/>
                                      </p:to>
                                    </p:set>
                                    <p:animEffect transition="in" filter="wipe(left)">
                                      <p:cBhvr>
                                        <p:cTn id="192" dur="500"/>
                                        <p:tgtEl>
                                          <p:spTgt spid="56"/>
                                        </p:tgtEl>
                                      </p:cBhvr>
                                    </p:animEffect>
                                  </p:childTnLst>
                                </p:cTn>
                              </p:par>
                              <p:par>
                                <p:cTn id="196" presetID="22" presetClass="entr" presetSubtype="8" fill="hold" grpId="0" nodeType="withEffect">
                                  <p:stCondLst>
                                    <p:cond delay="390"/>
                                  </p:stCondLst>
                                  <p:childTnLst>
                                    <p:set>
                                      <p:cBhvr>
                                        <p:cTn id="194" dur="1" fill="hold">
                                          <p:stCondLst>
                                            <p:cond delay="0"/>
                                          </p:stCondLst>
                                        </p:cTn>
                                        <p:tgtEl>
                                          <p:spTgt spid="57"/>
                                        </p:tgtEl>
                                        <p:attrNameLst>
                                          <p:attrName>style.visibility</p:attrName>
                                        </p:attrNameLst>
                                      </p:cBhvr>
                                      <p:to>
                                        <p:strVal val="visible"/>
                                      </p:to>
                                    </p:set>
                                    <p:animEffect transition="in" filter="wipe(left)">
                                      <p:cBhvr>
                                        <p:cTn id="19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Beyond the Four · Specialised Engines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The taxonomy is from 2012. These categories grew up afterwards and you will meet them</a:t>
            </a:r>
          </a:p>
        </p:txBody>
      </p:sp>
      <p:sp>
        <p:nvSpPr>
          <p:cNvPr id="4" name="a1u_card3"/>
          <p:cNvSpPr/>
          <p:nvPr/>
        </p:nvSpPr>
        <p:spPr>
          <a:xfrm>
            <a:off x="457200" y="1170432"/>
            <a:ext cx="1906524" cy="1645920"/>
          </a:xfrm>
          <a:prstGeom prst="roundRect">
            <a:avLst>
              <a:gd name="adj" fmla="val 55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170432"/>
            <a:ext cx="1906524"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60_ic5"/>
          <p:cNvSpPr/>
          <p:nvPr/>
        </p:nvSpPr>
        <p:spPr>
          <a:xfrm>
            <a:off x="621792" y="1371600"/>
            <a:ext cx="384048" cy="384048"/>
          </a:xfrm>
          <a:prstGeom prst="roundRect">
            <a:avLst>
              <a:gd name="adj" fmla="val 23809"/>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60_ict6"/>
          <p:cNvSpPr txBox="1"/>
          <p:nvPr/>
        </p:nvSpPr>
        <p:spPr>
          <a:xfrm>
            <a:off x="621792"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TS</a:t>
            </a:r>
          </a:p>
        </p:txBody>
      </p:sp>
      <p:sp>
        <p:nvSpPr>
          <p:cNvPr id="8" name="a1ud90_ct7"/>
          <p:cNvSpPr txBox="1"/>
          <p:nvPr/>
        </p:nvSpPr>
        <p:spPr>
          <a:xfrm>
            <a:off x="621792"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Time-Series</a:t>
            </a:r>
          </a:p>
        </p:txBody>
      </p:sp>
      <p:sp>
        <p:nvSpPr>
          <p:cNvPr id="9" name="a1ud120_cs8"/>
          <p:cNvSpPr txBox="1"/>
          <p:nvPr/>
        </p:nvSpPr>
        <p:spPr>
          <a:xfrm>
            <a:off x="621792" y="2121408"/>
            <a:ext cx="1577340" cy="237744"/>
          </a:xfrm>
          <a:prstGeom prst="rect">
            <a:avLst/>
          </a:prstGeom>
          <a:noFill/>
        </p:spPr>
        <p:txBody>
          <a:bodyPr wrap="square" lIns="0" tIns="0" rIns="0" bIns="0" anchor="ctr">
            <a:spAutoFit/>
          </a:bodyPr>
          <a:lstStyle/>
          <a:p>
            <a:pPr algn="l"/>
            <a:r>
              <a:rPr sz="1000" b="1">
                <a:solidFill>
                  <a:srgbClr val="0F766E"/>
                </a:solidFill>
                <a:latin typeface="Courier New"/>
              </a:rPr>
              <a:t>METRICS</a:t>
            </a:r>
          </a:p>
        </p:txBody>
      </p:sp>
      <p:sp>
        <p:nvSpPr>
          <p:cNvPr id="10" name="a1ud150_cb9"/>
          <p:cNvSpPr txBox="1"/>
          <p:nvPr/>
        </p:nvSpPr>
        <p:spPr>
          <a:xfrm>
            <a:off x="621792" y="2377439"/>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Timestamped points, heavy compression, automatic roll-ups</a:t>
            </a:r>
          </a:p>
        </p:txBody>
      </p:sp>
      <p:sp>
        <p:nvSpPr>
          <p:cNvPr id="11" name="a1ud220_cb10"/>
          <p:cNvSpPr txBox="1"/>
          <p:nvPr/>
        </p:nvSpPr>
        <p:spPr>
          <a:xfrm>
            <a:off x="621792" y="2761487"/>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InfluxDB · TimescaleDB · Prometheus</a:t>
            </a:r>
          </a:p>
        </p:txBody>
      </p:sp>
      <p:sp>
        <p:nvSpPr>
          <p:cNvPr id="12" name="a2u_card11"/>
          <p:cNvSpPr/>
          <p:nvPr/>
        </p:nvSpPr>
        <p:spPr>
          <a:xfrm>
            <a:off x="2564892" y="1170432"/>
            <a:ext cx="1906524" cy="1645920"/>
          </a:xfrm>
          <a:prstGeom prst="roundRect">
            <a:avLst>
              <a:gd name="adj" fmla="val 55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2u_acc12"/>
          <p:cNvSpPr/>
          <p:nvPr/>
        </p:nvSpPr>
        <p:spPr>
          <a:xfrm>
            <a:off x="2564892" y="1170432"/>
            <a:ext cx="1906524"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d60_ic13"/>
          <p:cNvSpPr/>
          <p:nvPr/>
        </p:nvSpPr>
        <p:spPr>
          <a:xfrm>
            <a:off x="2729484" y="1371600"/>
            <a:ext cx="384048" cy="384048"/>
          </a:xfrm>
          <a:prstGeom prst="roundRect">
            <a:avLst>
              <a:gd name="adj" fmla="val 23809"/>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d60_ict14"/>
          <p:cNvSpPr txBox="1"/>
          <p:nvPr/>
        </p:nvSpPr>
        <p:spPr>
          <a:xfrm>
            <a:off x="2729484"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TXT</a:t>
            </a:r>
          </a:p>
        </p:txBody>
      </p:sp>
      <p:sp>
        <p:nvSpPr>
          <p:cNvPr id="16" name="a2ud90_ct15"/>
          <p:cNvSpPr txBox="1"/>
          <p:nvPr/>
        </p:nvSpPr>
        <p:spPr>
          <a:xfrm>
            <a:off x="2729484"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Search</a:t>
            </a:r>
          </a:p>
        </p:txBody>
      </p:sp>
      <p:sp>
        <p:nvSpPr>
          <p:cNvPr id="17" name="a2ud120_cs16"/>
          <p:cNvSpPr txBox="1"/>
          <p:nvPr/>
        </p:nvSpPr>
        <p:spPr>
          <a:xfrm>
            <a:off x="2729484" y="2121408"/>
            <a:ext cx="1577340" cy="237744"/>
          </a:xfrm>
          <a:prstGeom prst="rect">
            <a:avLst/>
          </a:prstGeom>
          <a:noFill/>
        </p:spPr>
        <p:txBody>
          <a:bodyPr wrap="square" lIns="0" tIns="0" rIns="0" bIns="0" anchor="ctr">
            <a:spAutoFit/>
          </a:bodyPr>
          <a:lstStyle/>
          <a:p>
            <a:pPr algn="l"/>
            <a:r>
              <a:rPr sz="1000" b="1">
                <a:solidFill>
                  <a:srgbClr val="B45309"/>
                </a:solidFill>
                <a:latin typeface="Courier New"/>
              </a:rPr>
              <a:t>FULL TEXT</a:t>
            </a:r>
          </a:p>
        </p:txBody>
      </p:sp>
      <p:sp>
        <p:nvSpPr>
          <p:cNvPr id="18" name="a2ud150_cb17"/>
          <p:cNvSpPr txBox="1"/>
          <p:nvPr/>
        </p:nvSpPr>
        <p:spPr>
          <a:xfrm>
            <a:off x="2729484" y="2377439"/>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Inverted indexes, ranking, fuzzy and faceted queries</a:t>
            </a:r>
          </a:p>
        </p:txBody>
      </p:sp>
      <p:sp>
        <p:nvSpPr>
          <p:cNvPr id="19" name="a2ud220_cb18"/>
          <p:cNvSpPr txBox="1"/>
          <p:nvPr/>
        </p:nvSpPr>
        <p:spPr>
          <a:xfrm>
            <a:off x="2729484" y="2761487"/>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Elasticsearch · OpenSearch · Solr</a:t>
            </a:r>
          </a:p>
        </p:txBody>
      </p:sp>
      <p:sp>
        <p:nvSpPr>
          <p:cNvPr id="20" name="a3u_card19"/>
          <p:cNvSpPr/>
          <p:nvPr/>
        </p:nvSpPr>
        <p:spPr>
          <a:xfrm>
            <a:off x="4672584" y="1170432"/>
            <a:ext cx="1906524" cy="1645920"/>
          </a:xfrm>
          <a:prstGeom prst="roundRect">
            <a:avLst>
              <a:gd name="adj" fmla="val 55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acc20"/>
          <p:cNvSpPr/>
          <p:nvPr/>
        </p:nvSpPr>
        <p:spPr>
          <a:xfrm>
            <a:off x="4672584" y="1170432"/>
            <a:ext cx="1906524" cy="502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d60_ic21"/>
          <p:cNvSpPr/>
          <p:nvPr/>
        </p:nvSpPr>
        <p:spPr>
          <a:xfrm>
            <a:off x="4837176" y="1371600"/>
            <a:ext cx="384048" cy="384048"/>
          </a:xfrm>
          <a:prstGeom prst="roundRect">
            <a:avLst>
              <a:gd name="adj" fmla="val 23809"/>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d60_ict22"/>
          <p:cNvSpPr txBox="1"/>
          <p:nvPr/>
        </p:nvSpPr>
        <p:spPr>
          <a:xfrm>
            <a:off x="4837176"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VEC</a:t>
            </a:r>
          </a:p>
        </p:txBody>
      </p:sp>
      <p:sp>
        <p:nvSpPr>
          <p:cNvPr id="24" name="a3ud90_ct23"/>
          <p:cNvSpPr txBox="1"/>
          <p:nvPr/>
        </p:nvSpPr>
        <p:spPr>
          <a:xfrm>
            <a:off x="4837176"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Vector</a:t>
            </a:r>
          </a:p>
        </p:txBody>
      </p:sp>
      <p:sp>
        <p:nvSpPr>
          <p:cNvPr id="25" name="a3ud120_cs24"/>
          <p:cNvSpPr txBox="1"/>
          <p:nvPr/>
        </p:nvSpPr>
        <p:spPr>
          <a:xfrm>
            <a:off x="4837176" y="2121408"/>
            <a:ext cx="1577340" cy="237744"/>
          </a:xfrm>
          <a:prstGeom prst="rect">
            <a:avLst/>
          </a:prstGeom>
          <a:noFill/>
        </p:spPr>
        <p:txBody>
          <a:bodyPr wrap="square" lIns="0" tIns="0" rIns="0" bIns="0" anchor="ctr">
            <a:spAutoFit/>
          </a:bodyPr>
          <a:lstStyle/>
          <a:p>
            <a:pPr algn="l"/>
            <a:r>
              <a:rPr sz="1000" b="1">
                <a:solidFill>
                  <a:srgbClr val="8B5CF6"/>
                </a:solidFill>
                <a:latin typeface="Courier New"/>
              </a:rPr>
              <a:t>EMBEDDINGS</a:t>
            </a:r>
          </a:p>
        </p:txBody>
      </p:sp>
      <p:sp>
        <p:nvSpPr>
          <p:cNvPr id="26" name="a3ud150_cb25"/>
          <p:cNvSpPr txBox="1"/>
          <p:nvPr/>
        </p:nvSpPr>
        <p:spPr>
          <a:xfrm>
            <a:off x="4837176" y="2377439"/>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Nearest-neighbour search over embeddings for AI workloads</a:t>
            </a:r>
          </a:p>
        </p:txBody>
      </p:sp>
      <p:sp>
        <p:nvSpPr>
          <p:cNvPr id="27" name="a3ud220_cb26"/>
          <p:cNvSpPr txBox="1"/>
          <p:nvPr/>
        </p:nvSpPr>
        <p:spPr>
          <a:xfrm>
            <a:off x="4837176" y="2761487"/>
            <a:ext cx="1577340" cy="475488"/>
          </a:xfrm>
          <a:prstGeom prst="rect">
            <a:avLst/>
          </a:prstGeom>
          <a:noFill/>
        </p:spPr>
        <p:txBody>
          <a:bodyPr wrap="square" lIns="0" tIns="0" rIns="0" bIns="0" anchor="t">
            <a:spAutoFit/>
          </a:bodyPr>
          <a:lstStyle/>
          <a:p>
            <a:pPr algn="l"/>
            <a:r>
              <a:rPr sz="1050" b="1">
                <a:solidFill>
                  <a:srgbClr val="8B5CF6"/>
                </a:solidFill>
                <a:latin typeface="Calibri"/>
              </a:rPr>
              <a:t>· </a:t>
            </a:r>
            <a:r>
              <a:rPr sz="1050" b="0">
                <a:solidFill>
                  <a:srgbClr val="334155"/>
                </a:solidFill>
                <a:latin typeface="Calibri"/>
              </a:rPr>
              <a:t>Pinecone · Milvus · pgvector · Redis</a:t>
            </a:r>
          </a:p>
        </p:txBody>
      </p:sp>
      <p:sp>
        <p:nvSpPr>
          <p:cNvPr id="28" name="a4u_card27"/>
          <p:cNvSpPr/>
          <p:nvPr/>
        </p:nvSpPr>
        <p:spPr>
          <a:xfrm>
            <a:off x="6780276" y="1170432"/>
            <a:ext cx="1906524" cy="1645920"/>
          </a:xfrm>
          <a:prstGeom prst="roundRect">
            <a:avLst>
              <a:gd name="adj" fmla="val 555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4u_acc28"/>
          <p:cNvSpPr/>
          <p:nvPr/>
        </p:nvSpPr>
        <p:spPr>
          <a:xfrm>
            <a:off x="6780276" y="1170432"/>
            <a:ext cx="1906524" cy="5029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4ud60_ic29"/>
          <p:cNvSpPr/>
          <p:nvPr/>
        </p:nvSpPr>
        <p:spPr>
          <a:xfrm>
            <a:off x="6944868" y="1371600"/>
            <a:ext cx="384048" cy="384048"/>
          </a:xfrm>
          <a:prstGeom prst="roundRect">
            <a:avLst>
              <a:gd name="adj" fmla="val 23809"/>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d60_ict30"/>
          <p:cNvSpPr txBox="1"/>
          <p:nvPr/>
        </p:nvSpPr>
        <p:spPr>
          <a:xfrm>
            <a:off x="6944868" y="1371600"/>
            <a:ext cx="384048" cy="384048"/>
          </a:xfrm>
          <a:prstGeom prst="rect">
            <a:avLst/>
          </a:prstGeom>
          <a:noFill/>
        </p:spPr>
        <p:txBody>
          <a:bodyPr wrap="square" lIns="0" tIns="0" rIns="0" bIns="0" anchor="ctr">
            <a:spAutoFit/>
          </a:bodyPr>
          <a:lstStyle/>
          <a:p>
            <a:pPr algn="ctr"/>
            <a:r>
              <a:rPr sz="1300" b="1">
                <a:solidFill>
                  <a:srgbClr val="FFFFFF"/>
                </a:solidFill>
                <a:latin typeface="Calibri"/>
              </a:rPr>
              <a:t>MM</a:t>
            </a:r>
          </a:p>
        </p:txBody>
      </p:sp>
      <p:sp>
        <p:nvSpPr>
          <p:cNvPr id="32" name="a4ud90_ct31"/>
          <p:cNvSpPr txBox="1"/>
          <p:nvPr/>
        </p:nvSpPr>
        <p:spPr>
          <a:xfrm>
            <a:off x="6944868" y="1847088"/>
            <a:ext cx="1577340" cy="274320"/>
          </a:xfrm>
          <a:prstGeom prst="rect">
            <a:avLst/>
          </a:prstGeom>
          <a:noFill/>
        </p:spPr>
        <p:txBody>
          <a:bodyPr wrap="square" lIns="0" tIns="0" rIns="0" bIns="0" anchor="ctr">
            <a:spAutoFit/>
          </a:bodyPr>
          <a:lstStyle/>
          <a:p>
            <a:pPr algn="l"/>
            <a:r>
              <a:rPr sz="1400" b="1">
                <a:solidFill>
                  <a:srgbClr val="0F172A"/>
                </a:solidFill>
                <a:latin typeface="Calibri"/>
              </a:rPr>
              <a:t>Multi-Model</a:t>
            </a:r>
          </a:p>
        </p:txBody>
      </p:sp>
      <p:sp>
        <p:nvSpPr>
          <p:cNvPr id="33" name="a4ud120_cs32"/>
          <p:cNvSpPr txBox="1"/>
          <p:nvPr/>
        </p:nvSpPr>
        <p:spPr>
          <a:xfrm>
            <a:off x="6944868" y="2121408"/>
            <a:ext cx="1577340" cy="237744"/>
          </a:xfrm>
          <a:prstGeom prst="rect">
            <a:avLst/>
          </a:prstGeom>
          <a:noFill/>
        </p:spPr>
        <p:txBody>
          <a:bodyPr wrap="square" lIns="0" tIns="0" rIns="0" bIns="0" anchor="ctr">
            <a:spAutoFit/>
          </a:bodyPr>
          <a:lstStyle/>
          <a:p>
            <a:pPr algn="l"/>
            <a:r>
              <a:rPr sz="1000" b="1">
                <a:solidFill>
                  <a:srgbClr val="DC382C"/>
                </a:solidFill>
                <a:latin typeface="Courier New"/>
              </a:rPr>
              <a:t>ALL OF IT</a:t>
            </a:r>
          </a:p>
        </p:txBody>
      </p:sp>
      <p:sp>
        <p:nvSpPr>
          <p:cNvPr id="34" name="a4ud150_cb33"/>
          <p:cNvSpPr txBox="1"/>
          <p:nvPr/>
        </p:nvSpPr>
        <p:spPr>
          <a:xfrm>
            <a:off x="6944868" y="2377439"/>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One engine exposing several models to avoid running four databases</a:t>
            </a:r>
          </a:p>
        </p:txBody>
      </p:sp>
      <p:sp>
        <p:nvSpPr>
          <p:cNvPr id="35" name="a4ud220_cb34"/>
          <p:cNvSpPr txBox="1"/>
          <p:nvPr/>
        </p:nvSpPr>
        <p:spPr>
          <a:xfrm>
            <a:off x="6944868" y="2761487"/>
            <a:ext cx="1577340" cy="475488"/>
          </a:xfrm>
          <a:prstGeom prst="rect">
            <a:avLst/>
          </a:prstGeom>
          <a:noFill/>
        </p:spPr>
        <p:txBody>
          <a:bodyPr wrap="square" lIns="0" tIns="0" rIns="0" bIns="0" anchor="t">
            <a:spAutoFit/>
          </a:bodyPr>
          <a:lstStyle/>
          <a:p>
            <a:pPr algn="l"/>
            <a:r>
              <a:rPr sz="1050" b="1">
                <a:solidFill>
                  <a:srgbClr val="DC382C"/>
                </a:solidFill>
                <a:latin typeface="Calibri"/>
              </a:rPr>
              <a:t>· </a:t>
            </a:r>
            <a:r>
              <a:rPr sz="1050" b="0">
                <a:solidFill>
                  <a:srgbClr val="334155"/>
                </a:solidFill>
                <a:latin typeface="Calibri"/>
              </a:rPr>
              <a:t>ArangoDB · CosmosDB · Redis Stack</a:t>
            </a:r>
          </a:p>
        </p:txBody>
      </p:sp>
      <p:sp>
        <p:nvSpPr>
          <p:cNvPr id="36" name="a5u_nb35"/>
          <p:cNvSpPr/>
          <p:nvPr/>
        </p:nvSpPr>
        <p:spPr>
          <a:xfrm>
            <a:off x="457200" y="2971800"/>
            <a:ext cx="8229600" cy="548640"/>
          </a:xfrm>
          <a:prstGeom prst="roundRect">
            <a:avLst>
              <a:gd name="adj" fmla="val 13333"/>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acc36"/>
          <p:cNvSpPr/>
          <p:nvPr/>
        </p:nvSpPr>
        <p:spPr>
          <a:xfrm>
            <a:off x="457200" y="2971800"/>
            <a:ext cx="50292" cy="548640"/>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t37"/>
          <p:cNvSpPr txBox="1"/>
          <p:nvPr/>
        </p:nvSpPr>
        <p:spPr>
          <a:xfrm>
            <a:off x="658368" y="2971800"/>
            <a:ext cx="7827264" cy="548640"/>
          </a:xfrm>
          <a:prstGeom prst="rect">
            <a:avLst/>
          </a:prstGeom>
          <a:noFill/>
        </p:spPr>
        <p:txBody>
          <a:bodyPr wrap="square" lIns="0" tIns="0" rIns="0" bIns="0" anchor="ctr">
            <a:spAutoFit/>
          </a:bodyPr>
          <a:lstStyle/>
          <a:p>
            <a:pPr algn="l"/>
            <a:r>
              <a:rPr sz="1150" b="1">
                <a:solidFill>
                  <a:srgbClr val="DC382C"/>
                </a:solidFill>
                <a:latin typeface="Calibri"/>
              </a:rPr>
              <a:t>i  </a:t>
            </a:r>
            <a:r>
              <a:rPr sz="1150" b="0">
                <a:solidFill>
                  <a:srgbClr val="334155"/>
                </a:solidFill>
                <a:latin typeface="Calibri"/>
              </a:rPr>
              <a:t>Redis appears twice in that row. Modern Redis is not only a key-value store: with the Stack modules it does JSON documents, search, time series and vectors. Deck 2 covers what is in which distribution.</a:t>
            </a:r>
          </a:p>
        </p:txBody>
      </p:sp>
      <p:sp>
        <p:nvSpPr>
          <p:cNvPr id="39" name="ft3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0" name="ft3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0.1"/>
                                          </p:val>
                                        </p:tav>
                                        <p:tav tm="100000">
                                          <p:val>
                                            <p:strVal val="#ppt_y"/>
                                          </p:val>
                                        </p:tav>
                                      </p:tavLst>
                                    </p:anim>
                                    <p:animEffect transition="in" filter="fade">
                                      <p:cBhvr>
                                        <p:cTn id="33" dur="500"/>
                                        <p:tgtEl>
                                          <p:spTgt spid="9"/>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0.1"/>
                                          </p:val>
                                        </p:tav>
                                        <p:tav tm="100000">
                                          <p:val>
                                            <p:strVal val="#ppt_y"/>
                                          </p:val>
                                        </p:tav>
                                      </p:tavLst>
                                    </p:anim>
                                    <p:animEffect transition="in" filter="fade">
                                      <p:cBhvr>
                                        <p:cTn id="38" dur="500"/>
                                        <p:tgtEl>
                                          <p:spTgt spid="10"/>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ppt_y+0.1"/>
                                          </p:val>
                                        </p:tav>
                                        <p:tav tm="100000">
                                          <p:val>
                                            <p:strVal val="#ppt_y"/>
                                          </p:val>
                                        </p:tav>
                                      </p:tavLst>
                                    </p:anim>
                                    <p:animEffect transition="in" filter="fade">
                                      <p:cBhvr>
                                        <p:cTn id="50" dur="500"/>
                                        <p:tgtEl>
                                          <p:spTgt spid="12"/>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1"/>
                                          </p:val>
                                        </p:tav>
                                        <p:tav tm="100000">
                                          <p:val>
                                            <p:strVal val="#ppt_y"/>
                                          </p:val>
                                        </p:tav>
                                      </p:tavLst>
                                    </p:anim>
                                    <p:animEffect transition="in" filter="fade">
                                      <p:cBhvr>
                                        <p:cTn id="55" dur="500"/>
                                        <p:tgtEl>
                                          <p:spTgt spid="13"/>
                                        </p:tgtEl>
                                      </p:cBhvr>
                                    </p:animEffect>
                                  </p:childTnLst>
                                </p:cTn>
                              </p:par>
                              <p:par>
                                <p:cTn id="61" presetID="2" presetClass="entr" presetSubtype="4" fill="hold" grpId="0" nodeType="withEffect">
                                  <p:stCondLst>
                                    <p:cond delay="6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1"/>
                                          </p:val>
                                        </p:tav>
                                        <p:tav tm="100000">
                                          <p:val>
                                            <p:strVal val="#ppt_y"/>
                                          </p:val>
                                        </p:tav>
                                      </p:tavLst>
                                    </p:anim>
                                    <p:animEffect transition="in" filter="fade">
                                      <p:cBhvr>
                                        <p:cTn id="60" dur="500"/>
                                        <p:tgtEl>
                                          <p:spTgt spid="14"/>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1"/>
                                          </p:val>
                                        </p:tav>
                                        <p:tav tm="100000">
                                          <p:val>
                                            <p:strVal val="#ppt_y"/>
                                          </p:val>
                                        </p:tav>
                                      </p:tavLst>
                                    </p:anim>
                                    <p:animEffect transition="in" filter="fade">
                                      <p:cBhvr>
                                        <p:cTn id="65" dur="500"/>
                                        <p:tgtEl>
                                          <p:spTgt spid="15"/>
                                        </p:tgtEl>
                                      </p:cBhvr>
                                    </p:animEffect>
                                  </p:childTnLst>
                                </p:cTn>
                              </p:par>
                              <p:par>
                                <p:cTn id="71" presetID="2" presetClass="entr" presetSubtype="4" fill="hold" grpId="0" nodeType="withEffect">
                                  <p:stCondLst>
                                    <p:cond delay="9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12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22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ppt_x</p:attrName>
                                        </p:attrNameLst>
                                      </p:cBhvr>
                                      <p:tavLst>
                                        <p:tav tm="0">
                                          <p:val>
                                            <p:strVal val="#ppt_x"/>
                                          </p:val>
                                        </p:tav>
                                        <p:tav tm="100000">
                                          <p:val>
                                            <p:strVal val="#ppt_x"/>
                                          </p:val>
                                        </p:tav>
                                      </p:tavLst>
                                    </p:anim>
                                    <p:anim calcmode="lin" valueType="num">
                                      <p:cBhvr additive="base">
                                        <p:cTn id="91" dur="500" fill="hold"/>
                                        <p:tgtEl>
                                          <p:spTgt spid="20"/>
                                        </p:tgtEl>
                                        <p:attrNameLst>
                                          <p:attrName>ppt_y</p:attrName>
                                        </p:attrNameLst>
                                      </p:cBhvr>
                                      <p:tavLst>
                                        <p:tav tm="0">
                                          <p:val>
                                            <p:strVal val="#ppt_y+0.1"/>
                                          </p:val>
                                        </p:tav>
                                        <p:tav tm="100000">
                                          <p:val>
                                            <p:strVal val="#ppt_y"/>
                                          </p:val>
                                        </p:tav>
                                      </p:tavLst>
                                    </p:anim>
                                    <p:animEffect transition="in" filter="fade">
                                      <p:cBhvr>
                                        <p:cTn id="92" dur="500"/>
                                        <p:tgtEl>
                                          <p:spTgt spid="20"/>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ppt_x</p:attrName>
                                        </p:attrNameLst>
                                      </p:cBhvr>
                                      <p:tavLst>
                                        <p:tav tm="0">
                                          <p:val>
                                            <p:strVal val="#ppt_x"/>
                                          </p:val>
                                        </p:tav>
                                        <p:tav tm="100000">
                                          <p:val>
                                            <p:strVal val="#ppt_x"/>
                                          </p:val>
                                        </p:tav>
                                      </p:tavLst>
                                    </p:anim>
                                    <p:anim calcmode="lin" valueType="num">
                                      <p:cBhvr additive="base">
                                        <p:cTn id="96" dur="500" fill="hold"/>
                                        <p:tgtEl>
                                          <p:spTgt spid="21"/>
                                        </p:tgtEl>
                                        <p:attrNameLst>
                                          <p:attrName>ppt_y</p:attrName>
                                        </p:attrNameLst>
                                      </p:cBhvr>
                                      <p:tavLst>
                                        <p:tav tm="0">
                                          <p:val>
                                            <p:strVal val="#ppt_y+0.1"/>
                                          </p:val>
                                        </p:tav>
                                        <p:tav tm="100000">
                                          <p:val>
                                            <p:strVal val="#ppt_y"/>
                                          </p:val>
                                        </p:tav>
                                      </p:tavLst>
                                    </p:anim>
                                    <p:animEffect transition="in" filter="fade">
                                      <p:cBhvr>
                                        <p:cTn id="97" dur="500"/>
                                        <p:tgtEl>
                                          <p:spTgt spid="21"/>
                                        </p:tgtEl>
                                      </p:cBhvr>
                                    </p:animEffect>
                                  </p:childTnLst>
                                </p:cTn>
                              </p:par>
                              <p:par>
                                <p:cTn id="103" presetID="2" presetClass="entr" presetSubtype="4" fill="hold" grpId="0" nodeType="withEffect">
                                  <p:stCondLst>
                                    <p:cond delay="6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ppt_x</p:attrName>
                                        </p:attrNameLst>
                                      </p:cBhvr>
                                      <p:tavLst>
                                        <p:tav tm="0">
                                          <p:val>
                                            <p:strVal val="#ppt_x"/>
                                          </p:val>
                                        </p:tav>
                                        <p:tav tm="100000">
                                          <p:val>
                                            <p:strVal val="#ppt_x"/>
                                          </p:val>
                                        </p:tav>
                                      </p:tavLst>
                                    </p:anim>
                                    <p:anim calcmode="lin" valueType="num">
                                      <p:cBhvr additive="base">
                                        <p:cTn id="101" dur="500" fill="hold"/>
                                        <p:tgtEl>
                                          <p:spTgt spid="22"/>
                                        </p:tgtEl>
                                        <p:attrNameLst>
                                          <p:attrName>ppt_y</p:attrName>
                                        </p:attrNameLst>
                                      </p:cBhvr>
                                      <p:tavLst>
                                        <p:tav tm="0">
                                          <p:val>
                                            <p:strVal val="#ppt_y+0.1"/>
                                          </p:val>
                                        </p:tav>
                                        <p:tav tm="100000">
                                          <p:val>
                                            <p:strVal val="#ppt_y"/>
                                          </p:val>
                                        </p:tav>
                                      </p:tavLst>
                                    </p:anim>
                                    <p:animEffect transition="in" filter="fade">
                                      <p:cBhvr>
                                        <p:cTn id="102" dur="500"/>
                                        <p:tgtEl>
                                          <p:spTgt spid="22"/>
                                        </p:tgtEl>
                                      </p:cBhvr>
                                    </p:animEffect>
                                  </p:childTnLst>
                                </p:cTn>
                              </p:par>
                              <p:par>
                                <p:cTn id="108" presetID="2" presetClass="entr" presetSubtype="4" fill="hold" grpId="0" nodeType="withEffect">
                                  <p:stCondLst>
                                    <p:cond delay="6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ppt_x</p:attrName>
                                        </p:attrNameLst>
                                      </p:cBhvr>
                                      <p:tavLst>
                                        <p:tav tm="0">
                                          <p:val>
                                            <p:strVal val="#ppt_x"/>
                                          </p:val>
                                        </p:tav>
                                        <p:tav tm="100000">
                                          <p:val>
                                            <p:strVal val="#ppt_x"/>
                                          </p:val>
                                        </p:tav>
                                      </p:tavLst>
                                    </p:anim>
                                    <p:anim calcmode="lin" valueType="num">
                                      <p:cBhvr additive="base">
                                        <p:cTn id="106" dur="500" fill="hold"/>
                                        <p:tgtEl>
                                          <p:spTgt spid="23"/>
                                        </p:tgtEl>
                                        <p:attrNameLst>
                                          <p:attrName>ppt_y</p:attrName>
                                        </p:attrNameLst>
                                      </p:cBhvr>
                                      <p:tavLst>
                                        <p:tav tm="0">
                                          <p:val>
                                            <p:strVal val="#ppt_y+0.1"/>
                                          </p:val>
                                        </p:tav>
                                        <p:tav tm="100000">
                                          <p:val>
                                            <p:strVal val="#ppt_y"/>
                                          </p:val>
                                        </p:tav>
                                      </p:tavLst>
                                    </p:anim>
                                    <p:animEffect transition="in" filter="fade">
                                      <p:cBhvr>
                                        <p:cTn id="107" dur="500"/>
                                        <p:tgtEl>
                                          <p:spTgt spid="23"/>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p:tgtEl>
                                          <p:spTgt spid="24"/>
                                        </p:tgtEl>
                                        <p:attrNameLst>
                                          <p:attrName>ppt_y</p:attrName>
                                        </p:attrNameLst>
                                      </p:cBhvr>
                                      <p:tavLst>
                                        <p:tav tm="0">
                                          <p:val>
                                            <p:strVal val="#ppt_y+0.1"/>
                                          </p:val>
                                        </p:tav>
                                        <p:tav tm="100000">
                                          <p:val>
                                            <p:strVal val="#ppt_y"/>
                                          </p:val>
                                        </p:tav>
                                      </p:tavLst>
                                    </p:anim>
                                    <p:animEffect transition="in" filter="fade">
                                      <p:cBhvr>
                                        <p:cTn id="112" dur="500"/>
                                        <p:tgtEl>
                                          <p:spTgt spid="24"/>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ppt_x</p:attrName>
                                        </p:attrNameLst>
                                      </p:cBhvr>
                                      <p:tavLst>
                                        <p:tav tm="0">
                                          <p:val>
                                            <p:strVal val="#ppt_x"/>
                                          </p:val>
                                        </p:tav>
                                        <p:tav tm="100000">
                                          <p:val>
                                            <p:strVal val="#ppt_x"/>
                                          </p:val>
                                        </p:tav>
                                      </p:tavLst>
                                    </p:anim>
                                    <p:anim calcmode="lin" valueType="num">
                                      <p:cBhvr additive="base">
                                        <p:cTn id="116" dur="500" fill="hold"/>
                                        <p:tgtEl>
                                          <p:spTgt spid="25"/>
                                        </p:tgtEl>
                                        <p:attrNameLst>
                                          <p:attrName>ppt_y</p:attrName>
                                        </p:attrNameLst>
                                      </p:cBhvr>
                                      <p:tavLst>
                                        <p:tav tm="0">
                                          <p:val>
                                            <p:strVal val="#ppt_y+0.1"/>
                                          </p:val>
                                        </p:tav>
                                        <p:tav tm="100000">
                                          <p:val>
                                            <p:strVal val="#ppt_y"/>
                                          </p:val>
                                        </p:tav>
                                      </p:tavLst>
                                    </p:anim>
                                    <p:animEffect transition="in" filter="fade">
                                      <p:cBhvr>
                                        <p:cTn id="117" dur="500"/>
                                        <p:tgtEl>
                                          <p:spTgt spid="25"/>
                                        </p:tgtEl>
                                      </p:cBhvr>
                                    </p:animEffect>
                                  </p:childTnLst>
                                </p:cTn>
                              </p:par>
                              <p:par>
                                <p:cTn id="123" presetID="2" presetClass="entr" presetSubtype="4" fill="hold" grpId="0" nodeType="withEffect">
                                  <p:stCondLst>
                                    <p:cond delay="15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ppt_x</p:attrName>
                                        </p:attrNameLst>
                                      </p:cBhvr>
                                      <p:tavLst>
                                        <p:tav tm="0">
                                          <p:val>
                                            <p:strVal val="#ppt_x"/>
                                          </p:val>
                                        </p:tav>
                                        <p:tav tm="100000">
                                          <p:val>
                                            <p:strVal val="#ppt_x"/>
                                          </p:val>
                                        </p:tav>
                                      </p:tavLst>
                                    </p:anim>
                                    <p:anim calcmode="lin" valueType="num">
                                      <p:cBhvr additive="base">
                                        <p:cTn id="121" dur="500" fill="hold"/>
                                        <p:tgtEl>
                                          <p:spTgt spid="26"/>
                                        </p:tgtEl>
                                        <p:attrNameLst>
                                          <p:attrName>ppt_y</p:attrName>
                                        </p:attrNameLst>
                                      </p:cBhvr>
                                      <p:tavLst>
                                        <p:tav tm="0">
                                          <p:val>
                                            <p:strVal val="#ppt_y+0.1"/>
                                          </p:val>
                                        </p:tav>
                                        <p:tav tm="100000">
                                          <p:val>
                                            <p:strVal val="#ppt_y"/>
                                          </p:val>
                                        </p:tav>
                                      </p:tavLst>
                                    </p:anim>
                                    <p:animEffect transition="in" filter="fade">
                                      <p:cBhvr>
                                        <p:cTn id="122" dur="500"/>
                                        <p:tgtEl>
                                          <p:spTgt spid="26"/>
                                        </p:tgtEl>
                                      </p:cBhvr>
                                    </p:animEffect>
                                  </p:childTnLst>
                                </p:cTn>
                              </p:par>
                              <p:par>
                                <p:cTn id="128" presetID="2" presetClass="entr" presetSubtype="4" fill="hold" grpId="0" nodeType="withEffect">
                                  <p:stCondLst>
                                    <p:cond delay="2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ppt_x</p:attrName>
                                        </p:attrNameLst>
                                      </p:cBhvr>
                                      <p:tavLst>
                                        <p:tav tm="0">
                                          <p:val>
                                            <p:strVal val="#ppt_x"/>
                                          </p:val>
                                        </p:tav>
                                        <p:tav tm="100000">
                                          <p:val>
                                            <p:strVal val="#ppt_x"/>
                                          </p:val>
                                        </p:tav>
                                      </p:tavLst>
                                    </p:anim>
                                    <p:anim calcmode="lin" valueType="num">
                                      <p:cBhvr additive="base">
                                        <p:cTn id="126" dur="500" fill="hold"/>
                                        <p:tgtEl>
                                          <p:spTgt spid="27"/>
                                        </p:tgtEl>
                                        <p:attrNameLst>
                                          <p:attrName>ppt_y</p:attrName>
                                        </p:attrNameLst>
                                      </p:cBhvr>
                                      <p:tavLst>
                                        <p:tav tm="0">
                                          <p:val>
                                            <p:strVal val="#ppt_y+0.1"/>
                                          </p:val>
                                        </p:tav>
                                        <p:tav tm="100000">
                                          <p:val>
                                            <p:strVal val="#ppt_y"/>
                                          </p:val>
                                        </p:tav>
                                      </p:tavLst>
                                    </p:anim>
                                    <p:animEffect transition="in" filter="fade">
                                      <p:cBhvr>
                                        <p:cTn id="127" dur="500"/>
                                        <p:tgtEl>
                                          <p:spTgt spid="27"/>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28"/>
                                        </p:tgtEl>
                                        <p:attrNameLst>
                                          <p:attrName>style.visibility</p:attrName>
                                        </p:attrNameLst>
                                      </p:cBhvr>
                                      <p:to>
                                        <p:strVal val="visible"/>
                                      </p:to>
                                    </p:set>
                                    <p:anim calcmode="lin" valueType="num">
                                      <p:cBhvr additive="base">
                                        <p:cTn id="132" dur="500" fill="hold"/>
                                        <p:tgtEl>
                                          <p:spTgt spid="28"/>
                                        </p:tgtEl>
                                        <p:attrNameLst>
                                          <p:attrName>ppt_x</p:attrName>
                                        </p:attrNameLst>
                                      </p:cBhvr>
                                      <p:tavLst>
                                        <p:tav tm="0">
                                          <p:val>
                                            <p:strVal val="#ppt_x"/>
                                          </p:val>
                                        </p:tav>
                                        <p:tav tm="100000">
                                          <p:val>
                                            <p:strVal val="#ppt_x"/>
                                          </p:val>
                                        </p:tav>
                                      </p:tavLst>
                                    </p:anim>
                                    <p:anim calcmode="lin" valueType="num">
                                      <p:cBhvr additive="base">
                                        <p:cTn id="133" dur="500" fill="hold"/>
                                        <p:tgtEl>
                                          <p:spTgt spid="28"/>
                                        </p:tgtEl>
                                        <p:attrNameLst>
                                          <p:attrName>ppt_y</p:attrName>
                                        </p:attrNameLst>
                                      </p:cBhvr>
                                      <p:tavLst>
                                        <p:tav tm="0">
                                          <p:val>
                                            <p:strVal val="#ppt_y+0.1"/>
                                          </p:val>
                                        </p:tav>
                                        <p:tav tm="100000">
                                          <p:val>
                                            <p:strVal val="#ppt_y"/>
                                          </p:val>
                                        </p:tav>
                                      </p:tavLst>
                                    </p:anim>
                                    <p:animEffect transition="in" filter="fade">
                                      <p:cBhvr>
                                        <p:cTn id="134" dur="500"/>
                                        <p:tgtEl>
                                          <p:spTgt spid="28"/>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additive="base">
                                        <p:cTn id="137" dur="500" fill="hold"/>
                                        <p:tgtEl>
                                          <p:spTgt spid="29"/>
                                        </p:tgtEl>
                                        <p:attrNameLst>
                                          <p:attrName>ppt_x</p:attrName>
                                        </p:attrNameLst>
                                      </p:cBhvr>
                                      <p:tavLst>
                                        <p:tav tm="0">
                                          <p:val>
                                            <p:strVal val="#ppt_x"/>
                                          </p:val>
                                        </p:tav>
                                        <p:tav tm="100000">
                                          <p:val>
                                            <p:strVal val="#ppt_x"/>
                                          </p:val>
                                        </p:tav>
                                      </p:tavLst>
                                    </p:anim>
                                    <p:anim calcmode="lin" valueType="num">
                                      <p:cBhvr additive="base">
                                        <p:cTn id="138" dur="500" fill="hold"/>
                                        <p:tgtEl>
                                          <p:spTgt spid="29"/>
                                        </p:tgtEl>
                                        <p:attrNameLst>
                                          <p:attrName>ppt_y</p:attrName>
                                        </p:attrNameLst>
                                      </p:cBhvr>
                                      <p:tavLst>
                                        <p:tav tm="0">
                                          <p:val>
                                            <p:strVal val="#ppt_y+0.1"/>
                                          </p:val>
                                        </p:tav>
                                        <p:tav tm="100000">
                                          <p:val>
                                            <p:strVal val="#ppt_y"/>
                                          </p:val>
                                        </p:tav>
                                      </p:tavLst>
                                    </p:anim>
                                    <p:animEffect transition="in" filter="fade">
                                      <p:cBhvr>
                                        <p:cTn id="139" dur="500"/>
                                        <p:tgtEl>
                                          <p:spTgt spid="29"/>
                                        </p:tgtEl>
                                      </p:cBhvr>
                                    </p:animEffect>
                                  </p:childTnLst>
                                </p:cTn>
                              </p:par>
                              <p:par>
                                <p:cTn id="145" presetID="2" presetClass="entr" presetSubtype="4" fill="hold" grpId="0" nodeType="withEffect">
                                  <p:stCondLst>
                                    <p:cond delay="60"/>
                                  </p:stCondLst>
                                  <p:childTnLst>
                                    <p:set>
                                      <p:cBhvr>
                                        <p:cTn id="141" dur="1" fill="hold">
                                          <p:stCondLst>
                                            <p:cond delay="0"/>
                                          </p:stCondLst>
                                        </p:cTn>
                                        <p:tgtEl>
                                          <p:spTgt spid="30"/>
                                        </p:tgtEl>
                                        <p:attrNameLst>
                                          <p:attrName>style.visibility</p:attrName>
                                        </p:attrNameLst>
                                      </p:cBhvr>
                                      <p:to>
                                        <p:strVal val="visible"/>
                                      </p:to>
                                    </p:set>
                                    <p:anim calcmode="lin" valueType="num">
                                      <p:cBhvr additive="base">
                                        <p:cTn id="142" dur="500" fill="hold"/>
                                        <p:tgtEl>
                                          <p:spTgt spid="30"/>
                                        </p:tgtEl>
                                        <p:attrNameLst>
                                          <p:attrName>ppt_x</p:attrName>
                                        </p:attrNameLst>
                                      </p:cBhvr>
                                      <p:tavLst>
                                        <p:tav tm="0">
                                          <p:val>
                                            <p:strVal val="#ppt_x"/>
                                          </p:val>
                                        </p:tav>
                                        <p:tav tm="100000">
                                          <p:val>
                                            <p:strVal val="#ppt_x"/>
                                          </p:val>
                                        </p:tav>
                                      </p:tavLst>
                                    </p:anim>
                                    <p:anim calcmode="lin" valueType="num">
                                      <p:cBhvr additive="base">
                                        <p:cTn id="143" dur="500" fill="hold"/>
                                        <p:tgtEl>
                                          <p:spTgt spid="30"/>
                                        </p:tgtEl>
                                        <p:attrNameLst>
                                          <p:attrName>ppt_y</p:attrName>
                                        </p:attrNameLst>
                                      </p:cBhvr>
                                      <p:tavLst>
                                        <p:tav tm="0">
                                          <p:val>
                                            <p:strVal val="#ppt_y+0.1"/>
                                          </p:val>
                                        </p:tav>
                                        <p:tav tm="100000">
                                          <p:val>
                                            <p:strVal val="#ppt_y"/>
                                          </p:val>
                                        </p:tav>
                                      </p:tavLst>
                                    </p:anim>
                                    <p:animEffect transition="in" filter="fade">
                                      <p:cBhvr>
                                        <p:cTn id="144" dur="500"/>
                                        <p:tgtEl>
                                          <p:spTgt spid="30"/>
                                        </p:tgtEl>
                                      </p:cBhvr>
                                    </p:animEffect>
                                  </p:childTnLst>
                                </p:cTn>
                              </p:par>
                              <p:par>
                                <p:cTn id="150" presetID="2" presetClass="entr" presetSubtype="4" fill="hold" grpId="0" nodeType="withEffect">
                                  <p:stCondLst>
                                    <p:cond delay="60"/>
                                  </p:stCondLst>
                                  <p:childTnLst>
                                    <p:set>
                                      <p:cBhvr>
                                        <p:cTn id="146" dur="1" fill="hold">
                                          <p:stCondLst>
                                            <p:cond delay="0"/>
                                          </p:stCondLst>
                                        </p:cTn>
                                        <p:tgtEl>
                                          <p:spTgt spid="31"/>
                                        </p:tgtEl>
                                        <p:attrNameLst>
                                          <p:attrName>style.visibility</p:attrName>
                                        </p:attrNameLst>
                                      </p:cBhvr>
                                      <p:to>
                                        <p:strVal val="visible"/>
                                      </p:to>
                                    </p:set>
                                    <p:anim calcmode="lin" valueType="num">
                                      <p:cBhvr additive="base">
                                        <p:cTn id="147" dur="500" fill="hold"/>
                                        <p:tgtEl>
                                          <p:spTgt spid="31"/>
                                        </p:tgtEl>
                                        <p:attrNameLst>
                                          <p:attrName>ppt_x</p:attrName>
                                        </p:attrNameLst>
                                      </p:cBhvr>
                                      <p:tavLst>
                                        <p:tav tm="0">
                                          <p:val>
                                            <p:strVal val="#ppt_x"/>
                                          </p:val>
                                        </p:tav>
                                        <p:tav tm="100000">
                                          <p:val>
                                            <p:strVal val="#ppt_x"/>
                                          </p:val>
                                        </p:tav>
                                      </p:tavLst>
                                    </p:anim>
                                    <p:anim calcmode="lin" valueType="num">
                                      <p:cBhvr additive="base">
                                        <p:cTn id="148" dur="500" fill="hold"/>
                                        <p:tgtEl>
                                          <p:spTgt spid="31"/>
                                        </p:tgtEl>
                                        <p:attrNameLst>
                                          <p:attrName>ppt_y</p:attrName>
                                        </p:attrNameLst>
                                      </p:cBhvr>
                                      <p:tavLst>
                                        <p:tav tm="0">
                                          <p:val>
                                            <p:strVal val="#ppt_y+0.1"/>
                                          </p:val>
                                        </p:tav>
                                        <p:tav tm="100000">
                                          <p:val>
                                            <p:strVal val="#ppt_y"/>
                                          </p:val>
                                        </p:tav>
                                      </p:tavLst>
                                    </p:anim>
                                    <p:animEffect transition="in" filter="fade">
                                      <p:cBhvr>
                                        <p:cTn id="149" dur="500"/>
                                        <p:tgtEl>
                                          <p:spTgt spid="31"/>
                                        </p:tgtEl>
                                      </p:cBhvr>
                                    </p:animEffect>
                                  </p:childTnLst>
                                </p:cTn>
                              </p:par>
                              <p:par>
                                <p:cTn id="155" presetID="2" presetClass="entr" presetSubtype="4" fill="hold" grpId="0" nodeType="withEffect">
                                  <p:stCondLst>
                                    <p:cond delay="90"/>
                                  </p:stCondLst>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ppt_x"/>
                                          </p:val>
                                        </p:tav>
                                        <p:tav tm="100000">
                                          <p:val>
                                            <p:strVal val="#ppt_x"/>
                                          </p:val>
                                        </p:tav>
                                      </p:tavLst>
                                    </p:anim>
                                    <p:anim calcmode="lin" valueType="num">
                                      <p:cBhvr additive="base">
                                        <p:cTn id="153" dur="500" fill="hold"/>
                                        <p:tgtEl>
                                          <p:spTgt spid="32"/>
                                        </p:tgtEl>
                                        <p:attrNameLst>
                                          <p:attrName>ppt_y</p:attrName>
                                        </p:attrNameLst>
                                      </p:cBhvr>
                                      <p:tavLst>
                                        <p:tav tm="0">
                                          <p:val>
                                            <p:strVal val="#ppt_y+0.1"/>
                                          </p:val>
                                        </p:tav>
                                        <p:tav tm="100000">
                                          <p:val>
                                            <p:strVal val="#ppt_y"/>
                                          </p:val>
                                        </p:tav>
                                      </p:tavLst>
                                    </p:anim>
                                    <p:animEffect transition="in" filter="fade">
                                      <p:cBhvr>
                                        <p:cTn id="154" dur="500"/>
                                        <p:tgtEl>
                                          <p:spTgt spid="32"/>
                                        </p:tgtEl>
                                      </p:cBhvr>
                                    </p:animEffect>
                                  </p:childTnLst>
                                </p:cTn>
                              </p:par>
                              <p:par>
                                <p:cTn id="160" presetID="2" presetClass="entr" presetSubtype="4" fill="hold" grpId="0" nodeType="withEffect">
                                  <p:stCondLst>
                                    <p:cond delay="120"/>
                                  </p:stCondLst>
                                  <p:childTnLst>
                                    <p:set>
                                      <p:cBhvr>
                                        <p:cTn id="156" dur="1" fill="hold">
                                          <p:stCondLst>
                                            <p:cond delay="0"/>
                                          </p:stCondLst>
                                        </p:cTn>
                                        <p:tgtEl>
                                          <p:spTgt spid="33"/>
                                        </p:tgtEl>
                                        <p:attrNameLst>
                                          <p:attrName>style.visibility</p:attrName>
                                        </p:attrNameLst>
                                      </p:cBhvr>
                                      <p:to>
                                        <p:strVal val="visible"/>
                                      </p:to>
                                    </p:set>
                                    <p:anim calcmode="lin" valueType="num">
                                      <p:cBhvr additive="base">
                                        <p:cTn id="157" dur="500" fill="hold"/>
                                        <p:tgtEl>
                                          <p:spTgt spid="33"/>
                                        </p:tgtEl>
                                        <p:attrNameLst>
                                          <p:attrName>ppt_x</p:attrName>
                                        </p:attrNameLst>
                                      </p:cBhvr>
                                      <p:tavLst>
                                        <p:tav tm="0">
                                          <p:val>
                                            <p:strVal val="#ppt_x"/>
                                          </p:val>
                                        </p:tav>
                                        <p:tav tm="100000">
                                          <p:val>
                                            <p:strVal val="#ppt_x"/>
                                          </p:val>
                                        </p:tav>
                                      </p:tavLst>
                                    </p:anim>
                                    <p:anim calcmode="lin" valueType="num">
                                      <p:cBhvr additive="base">
                                        <p:cTn id="158" dur="500" fill="hold"/>
                                        <p:tgtEl>
                                          <p:spTgt spid="33"/>
                                        </p:tgtEl>
                                        <p:attrNameLst>
                                          <p:attrName>ppt_y</p:attrName>
                                        </p:attrNameLst>
                                      </p:cBhvr>
                                      <p:tavLst>
                                        <p:tav tm="0">
                                          <p:val>
                                            <p:strVal val="#ppt_y+0.1"/>
                                          </p:val>
                                        </p:tav>
                                        <p:tav tm="100000">
                                          <p:val>
                                            <p:strVal val="#ppt_y"/>
                                          </p:val>
                                        </p:tav>
                                      </p:tavLst>
                                    </p:anim>
                                    <p:animEffect transition="in" filter="fade">
                                      <p:cBhvr>
                                        <p:cTn id="159" dur="500"/>
                                        <p:tgtEl>
                                          <p:spTgt spid="33"/>
                                        </p:tgtEl>
                                      </p:cBhvr>
                                    </p:animEffect>
                                  </p:childTnLst>
                                </p:cTn>
                              </p:par>
                              <p:par>
                                <p:cTn id="165" presetID="2" presetClass="entr" presetSubtype="4" fill="hold" grpId="0" nodeType="withEffect">
                                  <p:stCondLst>
                                    <p:cond delay="150"/>
                                  </p:stCondLst>
                                  <p:childTnLst>
                                    <p:set>
                                      <p:cBhvr>
                                        <p:cTn id="161" dur="1" fill="hold">
                                          <p:stCondLst>
                                            <p:cond delay="0"/>
                                          </p:stCondLst>
                                        </p:cTn>
                                        <p:tgtEl>
                                          <p:spTgt spid="34"/>
                                        </p:tgtEl>
                                        <p:attrNameLst>
                                          <p:attrName>style.visibility</p:attrName>
                                        </p:attrNameLst>
                                      </p:cBhvr>
                                      <p:to>
                                        <p:strVal val="visible"/>
                                      </p:to>
                                    </p:set>
                                    <p:anim calcmode="lin" valueType="num">
                                      <p:cBhvr additive="base">
                                        <p:cTn id="162" dur="500" fill="hold"/>
                                        <p:tgtEl>
                                          <p:spTgt spid="34"/>
                                        </p:tgtEl>
                                        <p:attrNameLst>
                                          <p:attrName>ppt_x</p:attrName>
                                        </p:attrNameLst>
                                      </p:cBhvr>
                                      <p:tavLst>
                                        <p:tav tm="0">
                                          <p:val>
                                            <p:strVal val="#ppt_x"/>
                                          </p:val>
                                        </p:tav>
                                        <p:tav tm="100000">
                                          <p:val>
                                            <p:strVal val="#ppt_x"/>
                                          </p:val>
                                        </p:tav>
                                      </p:tavLst>
                                    </p:anim>
                                    <p:anim calcmode="lin" valueType="num">
                                      <p:cBhvr additive="base">
                                        <p:cTn id="163" dur="500" fill="hold"/>
                                        <p:tgtEl>
                                          <p:spTgt spid="34"/>
                                        </p:tgtEl>
                                        <p:attrNameLst>
                                          <p:attrName>ppt_y</p:attrName>
                                        </p:attrNameLst>
                                      </p:cBhvr>
                                      <p:tavLst>
                                        <p:tav tm="0">
                                          <p:val>
                                            <p:strVal val="#ppt_y+0.1"/>
                                          </p:val>
                                        </p:tav>
                                        <p:tav tm="100000">
                                          <p:val>
                                            <p:strVal val="#ppt_y"/>
                                          </p:val>
                                        </p:tav>
                                      </p:tavLst>
                                    </p:anim>
                                    <p:animEffect transition="in" filter="fade">
                                      <p:cBhvr>
                                        <p:cTn id="164" dur="500"/>
                                        <p:tgtEl>
                                          <p:spTgt spid="34"/>
                                        </p:tgtEl>
                                      </p:cBhvr>
                                    </p:animEffect>
                                  </p:childTnLst>
                                </p:cTn>
                              </p:par>
                              <p:par>
                                <p:cTn id="170" presetID="2" presetClass="entr" presetSubtype="4" fill="hold" grpId="0" nodeType="withEffect">
                                  <p:stCondLst>
                                    <p:cond delay="220"/>
                                  </p:stCondLst>
                                  <p:childTnLst>
                                    <p:set>
                                      <p:cBhvr>
                                        <p:cTn id="166" dur="1" fill="hold">
                                          <p:stCondLst>
                                            <p:cond delay="0"/>
                                          </p:stCondLst>
                                        </p:cTn>
                                        <p:tgtEl>
                                          <p:spTgt spid="35"/>
                                        </p:tgtEl>
                                        <p:attrNameLst>
                                          <p:attrName>style.visibility</p:attrName>
                                        </p:attrNameLst>
                                      </p:cBhvr>
                                      <p:to>
                                        <p:strVal val="visible"/>
                                      </p:to>
                                    </p:set>
                                    <p:anim calcmode="lin" valueType="num">
                                      <p:cBhvr additive="base">
                                        <p:cTn id="167" dur="500" fill="hold"/>
                                        <p:tgtEl>
                                          <p:spTgt spid="35"/>
                                        </p:tgtEl>
                                        <p:attrNameLst>
                                          <p:attrName>ppt_x</p:attrName>
                                        </p:attrNameLst>
                                      </p:cBhvr>
                                      <p:tavLst>
                                        <p:tav tm="0">
                                          <p:val>
                                            <p:strVal val="#ppt_x"/>
                                          </p:val>
                                        </p:tav>
                                        <p:tav tm="100000">
                                          <p:val>
                                            <p:strVal val="#ppt_x"/>
                                          </p:val>
                                        </p:tav>
                                      </p:tavLst>
                                    </p:anim>
                                    <p:anim calcmode="lin" valueType="num">
                                      <p:cBhvr additive="base">
                                        <p:cTn id="168" dur="500" fill="hold"/>
                                        <p:tgtEl>
                                          <p:spTgt spid="35"/>
                                        </p:tgtEl>
                                        <p:attrNameLst>
                                          <p:attrName>ppt_y</p:attrName>
                                        </p:attrNameLst>
                                      </p:cBhvr>
                                      <p:tavLst>
                                        <p:tav tm="0">
                                          <p:val>
                                            <p:strVal val="#ppt_y+0.1"/>
                                          </p:val>
                                        </p:tav>
                                        <p:tav tm="100000">
                                          <p:val>
                                            <p:strVal val="#ppt_y"/>
                                          </p:val>
                                        </p:tav>
                                      </p:tavLst>
                                    </p:anim>
                                    <p:animEffect transition="in" filter="fade">
                                      <p:cBhvr>
                                        <p:cTn id="169" dur="500"/>
                                        <p:tgtEl>
                                          <p:spTgt spid="35"/>
                                        </p:tgtEl>
                                      </p:cBhvr>
                                    </p:animEffect>
                                  </p:childTnLst>
                                </p:cTn>
                              </p:par>
                            </p:childTnLst>
                          </p:cTn>
                        </p:par>
                      </p:childTnLst>
                    </p:cTn>
                  </p:par>
                  <p:par>
                    <p:cTn id="171" fill="hold">
                      <p:stCondLst>
                        <p:cond delay="indefinite"/>
                      </p:stCondLst>
                      <p:childTnLst>
                        <p:par>
                          <p:cTn id="172" fill="hold">
                            <p:stCondLst>
                              <p:cond delay="0"/>
                            </p:stCondLst>
                            <p:childTnLst>
                              <p:par>
                                <p:cTn id="177" presetID="2" presetClass="entr" presetSubtype="4" fill="hold" grpId="0" nodeType="clickEffect">
                                  <p:stCondLst>
                                    <p:cond delay="0"/>
                                  </p:stCondLst>
                                  <p:childTnLst>
                                    <p:set>
                                      <p:cBhvr>
                                        <p:cTn id="173" dur="1" fill="hold">
                                          <p:stCondLst>
                                            <p:cond delay="0"/>
                                          </p:stCondLst>
                                        </p:cTn>
                                        <p:tgtEl>
                                          <p:spTgt spid="36"/>
                                        </p:tgtEl>
                                        <p:attrNameLst>
                                          <p:attrName>style.visibility</p:attrName>
                                        </p:attrNameLst>
                                      </p:cBhvr>
                                      <p:to>
                                        <p:strVal val="visible"/>
                                      </p:to>
                                    </p:set>
                                    <p:anim calcmode="lin" valueType="num">
                                      <p:cBhvr additive="base">
                                        <p:cTn id="174" dur="500" fill="hold"/>
                                        <p:tgtEl>
                                          <p:spTgt spid="36"/>
                                        </p:tgtEl>
                                        <p:attrNameLst>
                                          <p:attrName>ppt_x</p:attrName>
                                        </p:attrNameLst>
                                      </p:cBhvr>
                                      <p:tavLst>
                                        <p:tav tm="0">
                                          <p:val>
                                            <p:strVal val="#ppt_x"/>
                                          </p:val>
                                        </p:tav>
                                        <p:tav tm="100000">
                                          <p:val>
                                            <p:strVal val="#ppt_x"/>
                                          </p:val>
                                        </p:tav>
                                      </p:tavLst>
                                    </p:anim>
                                    <p:anim calcmode="lin" valueType="num">
                                      <p:cBhvr additive="base">
                                        <p:cTn id="175" dur="500" fill="hold"/>
                                        <p:tgtEl>
                                          <p:spTgt spid="36"/>
                                        </p:tgtEl>
                                        <p:attrNameLst>
                                          <p:attrName>ppt_y</p:attrName>
                                        </p:attrNameLst>
                                      </p:cBhvr>
                                      <p:tavLst>
                                        <p:tav tm="0">
                                          <p:val>
                                            <p:strVal val="#ppt_y+0.1"/>
                                          </p:val>
                                        </p:tav>
                                        <p:tav tm="100000">
                                          <p:val>
                                            <p:strVal val="#ppt_y"/>
                                          </p:val>
                                        </p:tav>
                                      </p:tavLst>
                                    </p:anim>
                                    <p:animEffect transition="in" filter="fade">
                                      <p:cBhvr>
                                        <p:cTn id="176" dur="500"/>
                                        <p:tgtEl>
                                          <p:spTgt spid="36"/>
                                        </p:tgtEl>
                                      </p:cBhvr>
                                    </p:animEffect>
                                  </p:childTnLst>
                                </p:cTn>
                              </p:par>
                              <p:par>
                                <p:cTn id="182" presetID="2" presetClass="entr" presetSubtype="4" fill="hold" grpId="0" nodeType="withEffect">
                                  <p:stCondLst>
                                    <p:cond delay="0"/>
                                  </p:stCondLst>
                                  <p:childTnLst>
                                    <p:set>
                                      <p:cBhvr>
                                        <p:cTn id="178" dur="1" fill="hold">
                                          <p:stCondLst>
                                            <p:cond delay="0"/>
                                          </p:stCondLst>
                                        </p:cTn>
                                        <p:tgtEl>
                                          <p:spTgt spid="37"/>
                                        </p:tgtEl>
                                        <p:attrNameLst>
                                          <p:attrName>style.visibility</p:attrName>
                                        </p:attrNameLst>
                                      </p:cBhvr>
                                      <p:to>
                                        <p:strVal val="visible"/>
                                      </p:to>
                                    </p:set>
                                    <p:anim calcmode="lin" valueType="num">
                                      <p:cBhvr additive="base">
                                        <p:cTn id="179" dur="500" fill="hold"/>
                                        <p:tgtEl>
                                          <p:spTgt spid="37"/>
                                        </p:tgtEl>
                                        <p:attrNameLst>
                                          <p:attrName>ppt_x</p:attrName>
                                        </p:attrNameLst>
                                      </p:cBhvr>
                                      <p:tavLst>
                                        <p:tav tm="0">
                                          <p:val>
                                            <p:strVal val="#ppt_x"/>
                                          </p:val>
                                        </p:tav>
                                        <p:tav tm="100000">
                                          <p:val>
                                            <p:strVal val="#ppt_x"/>
                                          </p:val>
                                        </p:tav>
                                      </p:tavLst>
                                    </p:anim>
                                    <p:anim calcmode="lin" valueType="num">
                                      <p:cBhvr additive="base">
                                        <p:cTn id="180" dur="500" fill="hold"/>
                                        <p:tgtEl>
                                          <p:spTgt spid="37"/>
                                        </p:tgtEl>
                                        <p:attrNameLst>
                                          <p:attrName>ppt_y</p:attrName>
                                        </p:attrNameLst>
                                      </p:cBhvr>
                                      <p:tavLst>
                                        <p:tav tm="0">
                                          <p:val>
                                            <p:strVal val="#ppt_y+0.1"/>
                                          </p:val>
                                        </p:tav>
                                        <p:tav tm="100000">
                                          <p:val>
                                            <p:strVal val="#ppt_y"/>
                                          </p:val>
                                        </p:tav>
                                      </p:tavLst>
                                    </p:anim>
                                    <p:animEffect transition="in" filter="fade">
                                      <p:cBhvr>
                                        <p:cTn id="181" dur="500"/>
                                        <p:tgtEl>
                                          <p:spTgt spid="37"/>
                                        </p:tgtEl>
                                      </p:cBhvr>
                                    </p:animEffect>
                                  </p:childTnLst>
                                </p:cTn>
                              </p:par>
                              <p:par>
                                <p:cTn id="187" presetID="2" presetClass="entr" presetSubtype="4" fill="hold" grpId="0" nodeType="withEffect">
                                  <p:stCondLst>
                                    <p:cond delay="0"/>
                                  </p:stCondLst>
                                  <p:childTnLst>
                                    <p:set>
                                      <p:cBhvr>
                                        <p:cTn id="183" dur="1" fill="hold">
                                          <p:stCondLst>
                                            <p:cond delay="0"/>
                                          </p:stCondLst>
                                        </p:cTn>
                                        <p:tgtEl>
                                          <p:spTgt spid="38"/>
                                        </p:tgtEl>
                                        <p:attrNameLst>
                                          <p:attrName>style.visibility</p:attrName>
                                        </p:attrNameLst>
                                      </p:cBhvr>
                                      <p:to>
                                        <p:strVal val="visible"/>
                                      </p:to>
                                    </p:set>
                                    <p:anim calcmode="lin" valueType="num">
                                      <p:cBhvr additive="base">
                                        <p:cTn id="184" dur="500" fill="hold"/>
                                        <p:tgtEl>
                                          <p:spTgt spid="38"/>
                                        </p:tgtEl>
                                        <p:attrNameLst>
                                          <p:attrName>ppt_x</p:attrName>
                                        </p:attrNameLst>
                                      </p:cBhvr>
                                      <p:tavLst>
                                        <p:tav tm="0">
                                          <p:val>
                                            <p:strVal val="#ppt_x"/>
                                          </p:val>
                                        </p:tav>
                                        <p:tav tm="100000">
                                          <p:val>
                                            <p:strVal val="#ppt_x"/>
                                          </p:val>
                                        </p:tav>
                                      </p:tavLst>
                                    </p:anim>
                                    <p:anim calcmode="lin" valueType="num">
                                      <p:cBhvr additive="base">
                                        <p:cTn id="185" dur="500" fill="hold"/>
                                        <p:tgtEl>
                                          <p:spTgt spid="38"/>
                                        </p:tgtEl>
                                        <p:attrNameLst>
                                          <p:attrName>ppt_y</p:attrName>
                                        </p:attrNameLst>
                                      </p:cBhvr>
                                      <p:tavLst>
                                        <p:tav tm="0">
                                          <p:val>
                                            <p:strVal val="#ppt_y+0.1"/>
                                          </p:val>
                                        </p:tav>
                                        <p:tav tm="100000">
                                          <p:val>
                                            <p:strVal val="#ppt_y"/>
                                          </p:val>
                                        </p:tav>
                                      </p:tavLst>
                                    </p:anim>
                                    <p:animEffect transition="in" filter="fade">
                                      <p:cBhvr>
                                        <p:cTn id="18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Choosing · Start From the Question</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What you need to do with the data decides the model; the brand comes last</a:t>
            </a:r>
          </a:p>
        </p:txBody>
      </p:sp>
      <p:sp>
        <p:nvSpPr>
          <p:cNvPr id="4" name="a1f_th3"/>
          <p:cNvSpPr/>
          <p:nvPr/>
        </p:nvSpPr>
        <p:spPr>
          <a:xfrm>
            <a:off x="457200" y="1143000"/>
            <a:ext cx="3977639" cy="4023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f_tht4"/>
          <p:cNvSpPr txBox="1"/>
          <p:nvPr/>
        </p:nvSpPr>
        <p:spPr>
          <a:xfrm>
            <a:off x="530352" y="1143000"/>
            <a:ext cx="3867911" cy="402336"/>
          </a:xfrm>
          <a:prstGeom prst="rect">
            <a:avLst/>
          </a:prstGeom>
          <a:noFill/>
        </p:spPr>
        <p:txBody>
          <a:bodyPr wrap="square" lIns="0" tIns="0" rIns="0" bIns="0" anchor="ctr">
            <a:spAutoFit/>
          </a:bodyPr>
          <a:lstStyle/>
          <a:p>
            <a:pPr algn="l"/>
            <a:r>
              <a:rPr sz="1050" b="1">
                <a:solidFill>
                  <a:srgbClr val="FFFFFF"/>
                </a:solidFill>
                <a:latin typeface="Calibri"/>
              </a:rPr>
              <a:t>If your requirement sounds like...</a:t>
            </a:r>
          </a:p>
        </p:txBody>
      </p:sp>
      <p:sp>
        <p:nvSpPr>
          <p:cNvPr id="6" name="a1wd150_td5"/>
          <p:cNvSpPr/>
          <p:nvPr/>
        </p:nvSpPr>
        <p:spPr>
          <a:xfrm>
            <a:off x="457200" y="1545336"/>
            <a:ext cx="397763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wd150_tdt6"/>
          <p:cNvSpPr txBox="1"/>
          <p:nvPr/>
        </p:nvSpPr>
        <p:spPr>
          <a:xfrm>
            <a:off x="530352" y="1545336"/>
            <a:ext cx="3867911" cy="402336"/>
          </a:xfrm>
          <a:prstGeom prst="rect">
            <a:avLst/>
          </a:prstGeom>
          <a:noFill/>
        </p:spPr>
        <p:txBody>
          <a:bodyPr wrap="square" lIns="0" tIns="0" rIns="0" bIns="0" anchor="ctr">
            <a:spAutoFit/>
          </a:bodyPr>
          <a:lstStyle/>
          <a:p>
            <a:pPr algn="l"/>
            <a:r>
              <a:rPr sz="1050" b="0">
                <a:solidFill>
                  <a:srgbClr val="334155"/>
                </a:solidFill>
                <a:latin typeface="Calibri"/>
              </a:rPr>
              <a:t>"Answer this in under a millisecond, same key every time"</a:t>
            </a:r>
          </a:p>
        </p:txBody>
      </p:sp>
      <p:sp>
        <p:nvSpPr>
          <p:cNvPr id="8" name="a1wd300_td7"/>
          <p:cNvSpPr/>
          <p:nvPr/>
        </p:nvSpPr>
        <p:spPr>
          <a:xfrm>
            <a:off x="457200" y="1947672"/>
            <a:ext cx="397763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wd300_tdt8"/>
          <p:cNvSpPr txBox="1"/>
          <p:nvPr/>
        </p:nvSpPr>
        <p:spPr>
          <a:xfrm>
            <a:off x="530352" y="1947672"/>
            <a:ext cx="3867911" cy="402336"/>
          </a:xfrm>
          <a:prstGeom prst="rect">
            <a:avLst/>
          </a:prstGeom>
          <a:noFill/>
        </p:spPr>
        <p:txBody>
          <a:bodyPr wrap="square" lIns="0" tIns="0" rIns="0" bIns="0" anchor="ctr">
            <a:spAutoFit/>
          </a:bodyPr>
          <a:lstStyle/>
          <a:p>
            <a:pPr algn="l"/>
            <a:r>
              <a:rPr sz="1050" b="0">
                <a:solidFill>
                  <a:srgbClr val="334155"/>
                </a:solidFill>
                <a:latin typeface="Calibri"/>
              </a:rPr>
              <a:t>"Every record has a different set of fields"</a:t>
            </a:r>
          </a:p>
        </p:txBody>
      </p:sp>
      <p:sp>
        <p:nvSpPr>
          <p:cNvPr id="10" name="a1wd450_td9"/>
          <p:cNvSpPr/>
          <p:nvPr/>
        </p:nvSpPr>
        <p:spPr>
          <a:xfrm>
            <a:off x="457200" y="2350008"/>
            <a:ext cx="397763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wd450_tdt10"/>
          <p:cNvSpPr txBox="1"/>
          <p:nvPr/>
        </p:nvSpPr>
        <p:spPr>
          <a:xfrm>
            <a:off x="530352" y="2350008"/>
            <a:ext cx="3867911" cy="402336"/>
          </a:xfrm>
          <a:prstGeom prst="rect">
            <a:avLst/>
          </a:prstGeom>
          <a:noFill/>
        </p:spPr>
        <p:txBody>
          <a:bodyPr wrap="square" lIns="0" tIns="0" rIns="0" bIns="0" anchor="ctr">
            <a:spAutoFit/>
          </a:bodyPr>
          <a:lstStyle/>
          <a:p>
            <a:pPr algn="l"/>
            <a:r>
              <a:rPr sz="1050" b="0">
                <a:solidFill>
                  <a:srgbClr val="334155"/>
                </a:solidFill>
                <a:latin typeface="Calibri"/>
              </a:rPr>
              <a:t>"Millions of writes a second, mostly append"</a:t>
            </a:r>
          </a:p>
        </p:txBody>
      </p:sp>
      <p:sp>
        <p:nvSpPr>
          <p:cNvPr id="12" name="a1wd600_td11"/>
          <p:cNvSpPr/>
          <p:nvPr/>
        </p:nvSpPr>
        <p:spPr>
          <a:xfrm>
            <a:off x="457200" y="2752344"/>
            <a:ext cx="397763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d600_tdt12"/>
          <p:cNvSpPr txBox="1"/>
          <p:nvPr/>
        </p:nvSpPr>
        <p:spPr>
          <a:xfrm>
            <a:off x="530352" y="2752344"/>
            <a:ext cx="3867911" cy="402336"/>
          </a:xfrm>
          <a:prstGeom prst="rect">
            <a:avLst/>
          </a:prstGeom>
          <a:noFill/>
        </p:spPr>
        <p:txBody>
          <a:bodyPr wrap="square" lIns="0" tIns="0" rIns="0" bIns="0" anchor="ctr">
            <a:spAutoFit/>
          </a:bodyPr>
          <a:lstStyle/>
          <a:p>
            <a:pPr algn="l"/>
            <a:r>
              <a:rPr sz="1050" b="0">
                <a:solidFill>
                  <a:srgbClr val="334155"/>
                </a:solidFill>
                <a:latin typeface="Calibri"/>
              </a:rPr>
              <a:t>"How is A connected to B, three hops away?"</a:t>
            </a:r>
          </a:p>
        </p:txBody>
      </p:sp>
      <p:sp>
        <p:nvSpPr>
          <p:cNvPr id="14" name="a1wd750_td13"/>
          <p:cNvSpPr/>
          <p:nvPr/>
        </p:nvSpPr>
        <p:spPr>
          <a:xfrm>
            <a:off x="457200" y="3154680"/>
            <a:ext cx="397763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750_tdt14"/>
          <p:cNvSpPr txBox="1"/>
          <p:nvPr/>
        </p:nvSpPr>
        <p:spPr>
          <a:xfrm>
            <a:off x="530352" y="3154680"/>
            <a:ext cx="3867911" cy="402336"/>
          </a:xfrm>
          <a:prstGeom prst="rect">
            <a:avLst/>
          </a:prstGeom>
          <a:noFill/>
        </p:spPr>
        <p:txBody>
          <a:bodyPr wrap="square" lIns="0" tIns="0" rIns="0" bIns="0" anchor="ctr">
            <a:spAutoFit/>
          </a:bodyPr>
          <a:lstStyle/>
          <a:p>
            <a:pPr algn="l"/>
            <a:r>
              <a:rPr sz="1050" b="0">
                <a:solidFill>
                  <a:srgbClr val="334155"/>
                </a:solidFill>
                <a:latin typeface="Calibri"/>
              </a:rPr>
              <a:t>"Join five entities and report on them"</a:t>
            </a:r>
          </a:p>
        </p:txBody>
      </p:sp>
      <p:sp>
        <p:nvSpPr>
          <p:cNvPr id="16" name="a1wd900_td15"/>
          <p:cNvSpPr/>
          <p:nvPr/>
        </p:nvSpPr>
        <p:spPr>
          <a:xfrm>
            <a:off x="457200" y="3557016"/>
            <a:ext cx="397763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900_tdt16"/>
          <p:cNvSpPr txBox="1"/>
          <p:nvPr/>
        </p:nvSpPr>
        <p:spPr>
          <a:xfrm>
            <a:off x="530352" y="3557016"/>
            <a:ext cx="3867911" cy="402336"/>
          </a:xfrm>
          <a:prstGeom prst="rect">
            <a:avLst/>
          </a:prstGeom>
          <a:noFill/>
        </p:spPr>
        <p:txBody>
          <a:bodyPr wrap="square" lIns="0" tIns="0" rIns="0" bIns="0" anchor="ctr">
            <a:spAutoFit/>
          </a:bodyPr>
          <a:lstStyle/>
          <a:p>
            <a:pPr algn="l"/>
            <a:r>
              <a:rPr sz="1050" b="0">
                <a:solidFill>
                  <a:srgbClr val="334155"/>
                </a:solidFill>
                <a:latin typeface="Calibri"/>
              </a:rPr>
              <a:t>"Find every document mentioning this phrase"</a:t>
            </a:r>
          </a:p>
        </p:txBody>
      </p:sp>
      <p:sp>
        <p:nvSpPr>
          <p:cNvPr id="18" name="a1f_th17"/>
          <p:cNvSpPr/>
          <p:nvPr/>
        </p:nvSpPr>
        <p:spPr>
          <a:xfrm>
            <a:off x="4434840" y="1143000"/>
            <a:ext cx="1874519"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f_tht18"/>
          <p:cNvSpPr txBox="1"/>
          <p:nvPr/>
        </p:nvSpPr>
        <p:spPr>
          <a:xfrm>
            <a:off x="4507992" y="1143000"/>
            <a:ext cx="1764791" cy="402336"/>
          </a:xfrm>
          <a:prstGeom prst="rect">
            <a:avLst/>
          </a:prstGeom>
          <a:noFill/>
        </p:spPr>
        <p:txBody>
          <a:bodyPr wrap="square" lIns="0" tIns="0" rIns="0" bIns="0" anchor="ctr">
            <a:spAutoFit/>
          </a:bodyPr>
          <a:lstStyle/>
          <a:p>
            <a:pPr algn="l"/>
            <a:r>
              <a:rPr sz="1050" b="1">
                <a:solidFill>
                  <a:srgbClr val="FFFFFF"/>
                </a:solidFill>
                <a:latin typeface="Calibri"/>
              </a:rPr>
              <a:t>Reach for</a:t>
            </a:r>
          </a:p>
        </p:txBody>
      </p:sp>
      <p:sp>
        <p:nvSpPr>
          <p:cNvPr id="20" name="a1wd150_td19"/>
          <p:cNvSpPr/>
          <p:nvPr/>
        </p:nvSpPr>
        <p:spPr>
          <a:xfrm>
            <a:off x="4434840" y="1545336"/>
            <a:ext cx="187451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150_tdt20"/>
          <p:cNvSpPr txBox="1"/>
          <p:nvPr/>
        </p:nvSpPr>
        <p:spPr>
          <a:xfrm>
            <a:off x="4507992" y="1545336"/>
            <a:ext cx="1764791" cy="402336"/>
          </a:xfrm>
          <a:prstGeom prst="rect">
            <a:avLst/>
          </a:prstGeom>
          <a:noFill/>
        </p:spPr>
        <p:txBody>
          <a:bodyPr wrap="square" lIns="0" tIns="0" rIns="0" bIns="0" anchor="ctr">
            <a:spAutoFit/>
          </a:bodyPr>
          <a:lstStyle/>
          <a:p>
            <a:pPr algn="l"/>
            <a:r>
              <a:rPr sz="1050" b="0">
                <a:solidFill>
                  <a:srgbClr val="334155"/>
                </a:solidFill>
                <a:latin typeface="Calibri"/>
              </a:rPr>
              <a:t>Key-value</a:t>
            </a:r>
          </a:p>
        </p:txBody>
      </p:sp>
      <p:sp>
        <p:nvSpPr>
          <p:cNvPr id="22" name="a1wd300_td21"/>
          <p:cNvSpPr/>
          <p:nvPr/>
        </p:nvSpPr>
        <p:spPr>
          <a:xfrm>
            <a:off x="4434840" y="1947672"/>
            <a:ext cx="187451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300_tdt22"/>
          <p:cNvSpPr txBox="1"/>
          <p:nvPr/>
        </p:nvSpPr>
        <p:spPr>
          <a:xfrm>
            <a:off x="4507992" y="1947672"/>
            <a:ext cx="1764791" cy="402336"/>
          </a:xfrm>
          <a:prstGeom prst="rect">
            <a:avLst/>
          </a:prstGeom>
          <a:noFill/>
        </p:spPr>
        <p:txBody>
          <a:bodyPr wrap="square" lIns="0" tIns="0" rIns="0" bIns="0" anchor="ctr">
            <a:spAutoFit/>
          </a:bodyPr>
          <a:lstStyle/>
          <a:p>
            <a:pPr algn="l"/>
            <a:r>
              <a:rPr sz="1050" b="0">
                <a:solidFill>
                  <a:srgbClr val="334155"/>
                </a:solidFill>
                <a:latin typeface="Calibri"/>
              </a:rPr>
              <a:t>Document</a:t>
            </a:r>
          </a:p>
        </p:txBody>
      </p:sp>
      <p:sp>
        <p:nvSpPr>
          <p:cNvPr id="24" name="a1wd450_td23"/>
          <p:cNvSpPr/>
          <p:nvPr/>
        </p:nvSpPr>
        <p:spPr>
          <a:xfrm>
            <a:off x="4434840" y="2350008"/>
            <a:ext cx="187451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450_tdt24"/>
          <p:cNvSpPr txBox="1"/>
          <p:nvPr/>
        </p:nvSpPr>
        <p:spPr>
          <a:xfrm>
            <a:off x="4507992" y="2350008"/>
            <a:ext cx="1764791" cy="402336"/>
          </a:xfrm>
          <a:prstGeom prst="rect">
            <a:avLst/>
          </a:prstGeom>
          <a:noFill/>
        </p:spPr>
        <p:txBody>
          <a:bodyPr wrap="square" lIns="0" tIns="0" rIns="0" bIns="0" anchor="ctr">
            <a:spAutoFit/>
          </a:bodyPr>
          <a:lstStyle/>
          <a:p>
            <a:pPr algn="l"/>
            <a:r>
              <a:rPr sz="1050" b="0">
                <a:solidFill>
                  <a:srgbClr val="334155"/>
                </a:solidFill>
                <a:latin typeface="Calibri"/>
              </a:rPr>
              <a:t>Column-family</a:t>
            </a:r>
          </a:p>
        </p:txBody>
      </p:sp>
      <p:sp>
        <p:nvSpPr>
          <p:cNvPr id="26" name="a1wd600_td25"/>
          <p:cNvSpPr/>
          <p:nvPr/>
        </p:nvSpPr>
        <p:spPr>
          <a:xfrm>
            <a:off x="4434840" y="2752344"/>
            <a:ext cx="187451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600_tdt26"/>
          <p:cNvSpPr txBox="1"/>
          <p:nvPr/>
        </p:nvSpPr>
        <p:spPr>
          <a:xfrm>
            <a:off x="4507992" y="2752344"/>
            <a:ext cx="1764791" cy="402336"/>
          </a:xfrm>
          <a:prstGeom prst="rect">
            <a:avLst/>
          </a:prstGeom>
          <a:noFill/>
        </p:spPr>
        <p:txBody>
          <a:bodyPr wrap="square" lIns="0" tIns="0" rIns="0" bIns="0" anchor="ctr">
            <a:spAutoFit/>
          </a:bodyPr>
          <a:lstStyle/>
          <a:p>
            <a:pPr algn="l"/>
            <a:r>
              <a:rPr sz="1050" b="0">
                <a:solidFill>
                  <a:srgbClr val="334155"/>
                </a:solidFill>
                <a:latin typeface="Calibri"/>
              </a:rPr>
              <a:t>Graph</a:t>
            </a:r>
          </a:p>
        </p:txBody>
      </p:sp>
      <p:sp>
        <p:nvSpPr>
          <p:cNvPr id="28" name="a1wd750_td27"/>
          <p:cNvSpPr/>
          <p:nvPr/>
        </p:nvSpPr>
        <p:spPr>
          <a:xfrm>
            <a:off x="4434840" y="3154680"/>
            <a:ext cx="187451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wd750_tdt28"/>
          <p:cNvSpPr txBox="1"/>
          <p:nvPr/>
        </p:nvSpPr>
        <p:spPr>
          <a:xfrm>
            <a:off x="4507992" y="3154680"/>
            <a:ext cx="1764791" cy="402336"/>
          </a:xfrm>
          <a:prstGeom prst="rect">
            <a:avLst/>
          </a:prstGeom>
          <a:noFill/>
        </p:spPr>
        <p:txBody>
          <a:bodyPr wrap="square" lIns="0" tIns="0" rIns="0" bIns="0" anchor="ctr">
            <a:spAutoFit/>
          </a:bodyPr>
          <a:lstStyle/>
          <a:p>
            <a:pPr algn="l"/>
            <a:r>
              <a:rPr sz="1050" b="0">
                <a:solidFill>
                  <a:srgbClr val="334155"/>
                </a:solidFill>
                <a:latin typeface="Calibri"/>
              </a:rPr>
              <a:t>Relational</a:t>
            </a:r>
          </a:p>
        </p:txBody>
      </p:sp>
      <p:sp>
        <p:nvSpPr>
          <p:cNvPr id="30" name="a1wd900_td29"/>
          <p:cNvSpPr/>
          <p:nvPr/>
        </p:nvSpPr>
        <p:spPr>
          <a:xfrm>
            <a:off x="4434840" y="3557016"/>
            <a:ext cx="1874519"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900_tdt30"/>
          <p:cNvSpPr txBox="1"/>
          <p:nvPr/>
        </p:nvSpPr>
        <p:spPr>
          <a:xfrm>
            <a:off x="4507992" y="3557016"/>
            <a:ext cx="1764791" cy="402336"/>
          </a:xfrm>
          <a:prstGeom prst="rect">
            <a:avLst/>
          </a:prstGeom>
          <a:noFill/>
        </p:spPr>
        <p:txBody>
          <a:bodyPr wrap="square" lIns="0" tIns="0" rIns="0" bIns="0" anchor="ctr">
            <a:spAutoFit/>
          </a:bodyPr>
          <a:lstStyle/>
          <a:p>
            <a:pPr algn="l"/>
            <a:r>
              <a:rPr sz="1050" b="0">
                <a:solidFill>
                  <a:srgbClr val="334155"/>
                </a:solidFill>
                <a:latin typeface="Calibri"/>
              </a:rPr>
              <a:t>Search engine</a:t>
            </a:r>
          </a:p>
        </p:txBody>
      </p:sp>
      <p:sp>
        <p:nvSpPr>
          <p:cNvPr id="32" name="a1f_th31"/>
          <p:cNvSpPr/>
          <p:nvPr/>
        </p:nvSpPr>
        <p:spPr>
          <a:xfrm>
            <a:off x="6309359" y="1143000"/>
            <a:ext cx="2377440" cy="402336"/>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f_tht32"/>
          <p:cNvSpPr txBox="1"/>
          <p:nvPr/>
        </p:nvSpPr>
        <p:spPr>
          <a:xfrm>
            <a:off x="6382512" y="1143000"/>
            <a:ext cx="2267712" cy="402336"/>
          </a:xfrm>
          <a:prstGeom prst="rect">
            <a:avLst/>
          </a:prstGeom>
          <a:noFill/>
        </p:spPr>
        <p:txBody>
          <a:bodyPr wrap="square" lIns="0" tIns="0" rIns="0" bIns="0" anchor="ctr">
            <a:spAutoFit/>
          </a:bodyPr>
          <a:lstStyle/>
          <a:p>
            <a:pPr algn="l"/>
            <a:r>
              <a:rPr sz="1050" b="1">
                <a:solidFill>
                  <a:srgbClr val="FFFFFF"/>
                </a:solidFill>
                <a:latin typeface="Calibri"/>
              </a:rPr>
              <a:t>Because</a:t>
            </a:r>
          </a:p>
        </p:txBody>
      </p:sp>
      <p:sp>
        <p:nvSpPr>
          <p:cNvPr id="34" name="a1wd150_td33"/>
          <p:cNvSpPr/>
          <p:nvPr/>
        </p:nvSpPr>
        <p:spPr>
          <a:xfrm>
            <a:off x="6309359" y="1545336"/>
            <a:ext cx="2377440"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wd150_tdt34"/>
          <p:cNvSpPr txBox="1"/>
          <p:nvPr/>
        </p:nvSpPr>
        <p:spPr>
          <a:xfrm>
            <a:off x="6382512" y="1545336"/>
            <a:ext cx="2267712" cy="402336"/>
          </a:xfrm>
          <a:prstGeom prst="rect">
            <a:avLst/>
          </a:prstGeom>
          <a:noFill/>
        </p:spPr>
        <p:txBody>
          <a:bodyPr wrap="square" lIns="0" tIns="0" rIns="0" bIns="0" anchor="ctr">
            <a:spAutoFit/>
          </a:bodyPr>
          <a:lstStyle/>
          <a:p>
            <a:pPr algn="l"/>
            <a:r>
              <a:rPr sz="1050" b="0">
                <a:solidFill>
                  <a:srgbClr val="334155"/>
                </a:solidFill>
                <a:latin typeface="Calibri"/>
              </a:rPr>
              <a:t>One hop, no query planning</a:t>
            </a:r>
          </a:p>
        </p:txBody>
      </p:sp>
      <p:sp>
        <p:nvSpPr>
          <p:cNvPr id="36" name="a1wd300_td35"/>
          <p:cNvSpPr/>
          <p:nvPr/>
        </p:nvSpPr>
        <p:spPr>
          <a:xfrm>
            <a:off x="6309359" y="1947672"/>
            <a:ext cx="2377440"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wd300_tdt36"/>
          <p:cNvSpPr txBox="1"/>
          <p:nvPr/>
        </p:nvSpPr>
        <p:spPr>
          <a:xfrm>
            <a:off x="6382512" y="1947672"/>
            <a:ext cx="2267712" cy="402336"/>
          </a:xfrm>
          <a:prstGeom prst="rect">
            <a:avLst/>
          </a:prstGeom>
          <a:noFill/>
        </p:spPr>
        <p:txBody>
          <a:bodyPr wrap="square" lIns="0" tIns="0" rIns="0" bIns="0" anchor="ctr">
            <a:spAutoFit/>
          </a:bodyPr>
          <a:lstStyle/>
          <a:p>
            <a:pPr algn="l"/>
            <a:r>
              <a:rPr sz="1050" b="0">
                <a:solidFill>
                  <a:srgbClr val="334155"/>
                </a:solidFill>
                <a:latin typeface="Calibri"/>
              </a:rPr>
              <a:t>Schema lives in the document</a:t>
            </a:r>
          </a:p>
        </p:txBody>
      </p:sp>
      <p:sp>
        <p:nvSpPr>
          <p:cNvPr id="38" name="a1wd450_td37"/>
          <p:cNvSpPr/>
          <p:nvPr/>
        </p:nvSpPr>
        <p:spPr>
          <a:xfrm>
            <a:off x="6309359" y="2350008"/>
            <a:ext cx="2377440"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1wd450_tdt38"/>
          <p:cNvSpPr txBox="1"/>
          <p:nvPr/>
        </p:nvSpPr>
        <p:spPr>
          <a:xfrm>
            <a:off x="6382512" y="2350008"/>
            <a:ext cx="2267712" cy="402336"/>
          </a:xfrm>
          <a:prstGeom prst="rect">
            <a:avLst/>
          </a:prstGeom>
          <a:noFill/>
        </p:spPr>
        <p:txBody>
          <a:bodyPr wrap="square" lIns="0" tIns="0" rIns="0" bIns="0" anchor="ctr">
            <a:spAutoFit/>
          </a:bodyPr>
          <a:lstStyle/>
          <a:p>
            <a:pPr algn="l"/>
            <a:r>
              <a:rPr sz="1050" b="0">
                <a:solidFill>
                  <a:srgbClr val="334155"/>
                </a:solidFill>
                <a:latin typeface="Calibri"/>
              </a:rPr>
              <a:t>Log-structured, no master</a:t>
            </a:r>
          </a:p>
        </p:txBody>
      </p:sp>
      <p:sp>
        <p:nvSpPr>
          <p:cNvPr id="40" name="a1wd600_td39"/>
          <p:cNvSpPr/>
          <p:nvPr/>
        </p:nvSpPr>
        <p:spPr>
          <a:xfrm>
            <a:off x="6309359" y="2752344"/>
            <a:ext cx="2377440"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1wd600_tdt40"/>
          <p:cNvSpPr txBox="1"/>
          <p:nvPr/>
        </p:nvSpPr>
        <p:spPr>
          <a:xfrm>
            <a:off x="6382512" y="2752344"/>
            <a:ext cx="2267712" cy="402336"/>
          </a:xfrm>
          <a:prstGeom prst="rect">
            <a:avLst/>
          </a:prstGeom>
          <a:noFill/>
        </p:spPr>
        <p:txBody>
          <a:bodyPr wrap="square" lIns="0" tIns="0" rIns="0" bIns="0" anchor="ctr">
            <a:spAutoFit/>
          </a:bodyPr>
          <a:lstStyle/>
          <a:p>
            <a:pPr algn="l"/>
            <a:r>
              <a:rPr sz="1050" b="0">
                <a:solidFill>
                  <a:srgbClr val="334155"/>
                </a:solidFill>
                <a:latin typeface="Calibri"/>
              </a:rPr>
              <a:t>Traversal beats repeated joins</a:t>
            </a:r>
          </a:p>
        </p:txBody>
      </p:sp>
      <p:sp>
        <p:nvSpPr>
          <p:cNvPr id="42" name="a1wd750_td41"/>
          <p:cNvSpPr/>
          <p:nvPr/>
        </p:nvSpPr>
        <p:spPr>
          <a:xfrm>
            <a:off x="6309359" y="3154680"/>
            <a:ext cx="2377440"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wd750_tdt42"/>
          <p:cNvSpPr txBox="1"/>
          <p:nvPr/>
        </p:nvSpPr>
        <p:spPr>
          <a:xfrm>
            <a:off x="6382512" y="3154680"/>
            <a:ext cx="2267712" cy="402336"/>
          </a:xfrm>
          <a:prstGeom prst="rect">
            <a:avLst/>
          </a:prstGeom>
          <a:noFill/>
        </p:spPr>
        <p:txBody>
          <a:bodyPr wrap="square" lIns="0" tIns="0" rIns="0" bIns="0" anchor="ctr">
            <a:spAutoFit/>
          </a:bodyPr>
          <a:lstStyle/>
          <a:p>
            <a:pPr algn="l"/>
            <a:r>
              <a:rPr sz="1050" b="0">
                <a:solidFill>
                  <a:srgbClr val="334155"/>
                </a:solidFill>
                <a:latin typeface="Calibri"/>
              </a:rPr>
              <a:t>This is still SQL's home ground</a:t>
            </a:r>
          </a:p>
        </p:txBody>
      </p:sp>
      <p:sp>
        <p:nvSpPr>
          <p:cNvPr id="44" name="a1wd900_td43"/>
          <p:cNvSpPr/>
          <p:nvPr/>
        </p:nvSpPr>
        <p:spPr>
          <a:xfrm>
            <a:off x="6309359" y="3557016"/>
            <a:ext cx="2377440" cy="40233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1wd900_tdt44"/>
          <p:cNvSpPr txBox="1"/>
          <p:nvPr/>
        </p:nvSpPr>
        <p:spPr>
          <a:xfrm>
            <a:off x="6382512" y="3557016"/>
            <a:ext cx="2267712" cy="402336"/>
          </a:xfrm>
          <a:prstGeom prst="rect">
            <a:avLst/>
          </a:prstGeom>
          <a:noFill/>
        </p:spPr>
        <p:txBody>
          <a:bodyPr wrap="square" lIns="0" tIns="0" rIns="0" bIns="0" anchor="ctr">
            <a:spAutoFit/>
          </a:bodyPr>
          <a:lstStyle/>
          <a:p>
            <a:pPr algn="l"/>
            <a:r>
              <a:rPr sz="1050" b="0">
                <a:solidFill>
                  <a:srgbClr val="334155"/>
                </a:solidFill>
                <a:latin typeface="Calibri"/>
              </a:rPr>
              <a:t>Inverted index, ranking</a:t>
            </a:r>
          </a:p>
        </p:txBody>
      </p:sp>
      <p:sp>
        <p:nvSpPr>
          <p:cNvPr id="46" name="a2u_nb45"/>
          <p:cNvSpPr/>
          <p:nvPr/>
        </p:nvSpPr>
        <p:spPr>
          <a:xfrm>
            <a:off x="457200" y="4050791"/>
            <a:ext cx="8229600" cy="512064"/>
          </a:xfrm>
          <a:prstGeom prst="roundRect">
            <a:avLst>
              <a:gd name="adj" fmla="val 14285"/>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2u_nacc46"/>
          <p:cNvSpPr/>
          <p:nvPr/>
        </p:nvSpPr>
        <p:spPr>
          <a:xfrm>
            <a:off x="457200" y="4050791"/>
            <a:ext cx="50292" cy="5120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_nt47"/>
          <p:cNvSpPr txBox="1"/>
          <p:nvPr/>
        </p:nvSpPr>
        <p:spPr>
          <a:xfrm>
            <a:off x="658368" y="4050791"/>
            <a:ext cx="7827264" cy="512064"/>
          </a:xfrm>
          <a:prstGeom prst="rect">
            <a:avLst/>
          </a:prstGeom>
          <a:noFill/>
        </p:spPr>
        <p:txBody>
          <a:bodyPr wrap="square" lIns="0" tIns="0" rIns="0" bIns="0" anchor="ctr">
            <a:spAutoFit/>
          </a:bodyPr>
          <a:lstStyle/>
          <a:p>
            <a:pPr algn="l"/>
            <a:r>
              <a:rPr sz="1050" b="1">
                <a:solidFill>
                  <a:srgbClr val="8B5CF6"/>
                </a:solidFill>
                <a:latin typeface="Calibri"/>
              </a:rPr>
              <a:t>KEY  </a:t>
            </a:r>
            <a:r>
              <a:rPr sz="1050" b="0">
                <a:solidFill>
                  <a:srgbClr val="334155"/>
                </a:solidFill>
                <a:latin typeface="Calibri"/>
              </a:rPr>
              <a:t>Most real systems need more than one of these. That is polyglot persistence - and it is a design decision, not an accident.</a:t>
            </a:r>
          </a:p>
        </p:txBody>
      </p:sp>
      <p:sp>
        <p:nvSpPr>
          <p:cNvPr id="49" name="ft4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50" name="ft4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5" presetID="22" presetClass="entr" presetSubtype="8" fill="hold" grpId="0" nodeType="withEffect">
                                  <p:stCondLst>
                                    <p:cond delay="15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par>
                                <p:cTn id="28" presetID="22" presetClass="entr" presetSubtype="8" fill="hold" grpId="0" nodeType="withEffect">
                                  <p:stCondLst>
                                    <p:cond delay="15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par>
                                <p:cTn id="31" presetID="22" presetClass="entr" presetSubtype="8" fill="hold" grpId="0" nodeType="withEffect">
                                  <p:stCondLst>
                                    <p:cond delay="15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par>
                                <p:cTn id="34" presetID="22" presetClass="entr" presetSubtype="8" fill="hold" grpId="0" nodeType="withEffect">
                                  <p:stCondLst>
                                    <p:cond delay="15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7" presetID="22" presetClass="entr" presetSubtype="8" fill="hold" grpId="0" nodeType="withEffect">
                                  <p:stCondLst>
                                    <p:cond delay="150"/>
                                  </p:stCondLst>
                                  <p:childTnLst>
                                    <p:set>
                                      <p:cBhvr>
                                        <p:cTn id="35" dur="1" fill="hold">
                                          <p:stCondLst>
                                            <p:cond delay="0"/>
                                          </p:stCondLst>
                                        </p:cTn>
                                        <p:tgtEl>
                                          <p:spTgt spid="34"/>
                                        </p:tgtEl>
                                        <p:attrNameLst>
                                          <p:attrName>style.visibility</p:attrName>
                                        </p:attrNameLst>
                                      </p:cBhvr>
                                      <p:to>
                                        <p:strVal val="visible"/>
                                      </p:to>
                                    </p:set>
                                    <p:animEffect transition="in" filter="wipe(left)">
                                      <p:cBhvr>
                                        <p:cTn id="36" dur="500"/>
                                        <p:tgtEl>
                                          <p:spTgt spid="34"/>
                                        </p:tgtEl>
                                      </p:cBhvr>
                                    </p:animEffect>
                                  </p:childTnLst>
                                </p:cTn>
                              </p:par>
                              <p:par>
                                <p:cTn id="40" presetID="22" presetClass="entr" presetSubtype="8" fill="hold" grpId="0" nodeType="withEffect">
                                  <p:stCondLst>
                                    <p:cond delay="15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500"/>
                                        <p:tgtEl>
                                          <p:spTgt spid="35"/>
                                        </p:tgtEl>
                                      </p:cBhvr>
                                    </p:animEffect>
                                  </p:childTnLst>
                                </p:cTn>
                              </p:par>
                              <p:par>
                                <p:cTn id="43" presetID="22" presetClass="entr" presetSubtype="8" fill="hold" grpId="0" nodeType="withEffect">
                                  <p:stCondLst>
                                    <p:cond delay="30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par>
                                <p:cTn id="46" presetID="22" presetClass="entr" presetSubtype="8" fill="hold" grpId="0" nodeType="withEffect">
                                  <p:stCondLst>
                                    <p:cond delay="30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par>
                                <p:cTn id="49" presetID="22" presetClass="entr" presetSubtype="8" fill="hold" grpId="0" nodeType="withEffect">
                                  <p:stCondLst>
                                    <p:cond delay="30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par>
                                <p:cTn id="52" presetID="22" presetClass="entr" presetSubtype="8" fill="hold" grpId="0" nodeType="withEffect">
                                  <p:stCondLst>
                                    <p:cond delay="30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500"/>
                                        <p:tgtEl>
                                          <p:spTgt spid="23"/>
                                        </p:tgtEl>
                                      </p:cBhvr>
                                    </p:animEffect>
                                  </p:childTnLst>
                                </p:cTn>
                              </p:par>
                              <p:par>
                                <p:cTn id="55" presetID="22" presetClass="entr" presetSubtype="8" fill="hold" grpId="0" nodeType="withEffect">
                                  <p:stCondLst>
                                    <p:cond delay="300"/>
                                  </p:stCondLst>
                                  <p:childTnLst>
                                    <p:set>
                                      <p:cBhvr>
                                        <p:cTn id="53" dur="1" fill="hold">
                                          <p:stCondLst>
                                            <p:cond delay="0"/>
                                          </p:stCondLst>
                                        </p:cTn>
                                        <p:tgtEl>
                                          <p:spTgt spid="36"/>
                                        </p:tgtEl>
                                        <p:attrNameLst>
                                          <p:attrName>style.visibility</p:attrName>
                                        </p:attrNameLst>
                                      </p:cBhvr>
                                      <p:to>
                                        <p:strVal val="visible"/>
                                      </p:to>
                                    </p:set>
                                    <p:animEffect transition="in" filter="wipe(left)">
                                      <p:cBhvr>
                                        <p:cTn id="54" dur="500"/>
                                        <p:tgtEl>
                                          <p:spTgt spid="36"/>
                                        </p:tgtEl>
                                      </p:cBhvr>
                                    </p:animEffect>
                                  </p:childTnLst>
                                </p:cTn>
                              </p:par>
                              <p:par>
                                <p:cTn id="58" presetID="22" presetClass="entr" presetSubtype="8" fill="hold" grpId="0" nodeType="withEffect">
                                  <p:stCondLst>
                                    <p:cond delay="30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500"/>
                                        <p:tgtEl>
                                          <p:spTgt spid="37"/>
                                        </p:tgtEl>
                                      </p:cBhvr>
                                    </p:animEffect>
                                  </p:childTnLst>
                                </p:cTn>
                              </p:par>
                              <p:par>
                                <p:cTn id="61" presetID="22" presetClass="entr" presetSubtype="8" fill="hold" grpId="0" nodeType="withEffect">
                                  <p:stCondLst>
                                    <p:cond delay="45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500"/>
                                        <p:tgtEl>
                                          <p:spTgt spid="10"/>
                                        </p:tgtEl>
                                      </p:cBhvr>
                                    </p:animEffect>
                                  </p:childTnLst>
                                </p:cTn>
                              </p:par>
                              <p:par>
                                <p:cTn id="64" presetID="22" presetClass="entr" presetSubtype="8" fill="hold" grpId="0" nodeType="withEffect">
                                  <p:stCondLst>
                                    <p:cond delay="45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500"/>
                                        <p:tgtEl>
                                          <p:spTgt spid="11"/>
                                        </p:tgtEl>
                                      </p:cBhvr>
                                    </p:animEffect>
                                  </p:childTnLst>
                                </p:cTn>
                              </p:par>
                              <p:par>
                                <p:cTn id="67" presetID="22" presetClass="entr" presetSubtype="8" fill="hold" grpId="0" nodeType="withEffect">
                                  <p:stCondLst>
                                    <p:cond delay="45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par>
                                <p:cTn id="70" presetID="22" presetClass="entr" presetSubtype="8" fill="hold" grpId="0" nodeType="withEffect">
                                  <p:stCondLst>
                                    <p:cond delay="45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par>
                                <p:cTn id="73" presetID="22" presetClass="entr" presetSubtype="8" fill="hold" grpId="0" nodeType="withEffect">
                                  <p:stCondLst>
                                    <p:cond delay="450"/>
                                  </p:stCondLst>
                                  <p:childTnLst>
                                    <p:set>
                                      <p:cBhvr>
                                        <p:cTn id="71" dur="1" fill="hold">
                                          <p:stCondLst>
                                            <p:cond delay="0"/>
                                          </p:stCondLst>
                                        </p:cTn>
                                        <p:tgtEl>
                                          <p:spTgt spid="38"/>
                                        </p:tgtEl>
                                        <p:attrNameLst>
                                          <p:attrName>style.visibility</p:attrName>
                                        </p:attrNameLst>
                                      </p:cBhvr>
                                      <p:to>
                                        <p:strVal val="visible"/>
                                      </p:to>
                                    </p:set>
                                    <p:animEffect transition="in" filter="wipe(left)">
                                      <p:cBhvr>
                                        <p:cTn id="72" dur="500"/>
                                        <p:tgtEl>
                                          <p:spTgt spid="38"/>
                                        </p:tgtEl>
                                      </p:cBhvr>
                                    </p:animEffect>
                                  </p:childTnLst>
                                </p:cTn>
                              </p:par>
                              <p:par>
                                <p:cTn id="76" presetID="22" presetClass="entr" presetSubtype="8" fill="hold" grpId="0" nodeType="withEffect">
                                  <p:stCondLst>
                                    <p:cond delay="450"/>
                                  </p:stCondLst>
                                  <p:childTnLst>
                                    <p:set>
                                      <p:cBhvr>
                                        <p:cTn id="74" dur="1" fill="hold">
                                          <p:stCondLst>
                                            <p:cond delay="0"/>
                                          </p:stCondLst>
                                        </p:cTn>
                                        <p:tgtEl>
                                          <p:spTgt spid="39"/>
                                        </p:tgtEl>
                                        <p:attrNameLst>
                                          <p:attrName>style.visibility</p:attrName>
                                        </p:attrNameLst>
                                      </p:cBhvr>
                                      <p:to>
                                        <p:strVal val="visible"/>
                                      </p:to>
                                    </p:set>
                                    <p:animEffect transition="in" filter="wipe(left)">
                                      <p:cBhvr>
                                        <p:cTn id="75" dur="500"/>
                                        <p:tgtEl>
                                          <p:spTgt spid="39"/>
                                        </p:tgtEl>
                                      </p:cBhvr>
                                    </p:animEffect>
                                  </p:childTnLst>
                                </p:cTn>
                              </p:par>
                              <p:par>
                                <p:cTn id="79" presetID="22" presetClass="entr" presetSubtype="8" fill="hold" grpId="0" nodeType="withEffect">
                                  <p:stCondLst>
                                    <p:cond delay="600"/>
                                  </p:stCondLst>
                                  <p:childTnLst>
                                    <p:set>
                                      <p:cBhvr>
                                        <p:cTn id="77" dur="1" fill="hold">
                                          <p:stCondLst>
                                            <p:cond delay="0"/>
                                          </p:stCondLst>
                                        </p:cTn>
                                        <p:tgtEl>
                                          <p:spTgt spid="12"/>
                                        </p:tgtEl>
                                        <p:attrNameLst>
                                          <p:attrName>style.visibility</p:attrName>
                                        </p:attrNameLst>
                                      </p:cBhvr>
                                      <p:to>
                                        <p:strVal val="visible"/>
                                      </p:to>
                                    </p:set>
                                    <p:animEffect transition="in" filter="wipe(left)">
                                      <p:cBhvr>
                                        <p:cTn id="78" dur="500"/>
                                        <p:tgtEl>
                                          <p:spTgt spid="12"/>
                                        </p:tgtEl>
                                      </p:cBhvr>
                                    </p:animEffect>
                                  </p:childTnLst>
                                </p:cTn>
                              </p:par>
                              <p:par>
                                <p:cTn id="82" presetID="22" presetClass="entr" presetSubtype="8" fill="hold" grpId="0" nodeType="withEffect">
                                  <p:stCondLst>
                                    <p:cond delay="600"/>
                                  </p:stCondLst>
                                  <p:childTnLst>
                                    <p:set>
                                      <p:cBhvr>
                                        <p:cTn id="80" dur="1" fill="hold">
                                          <p:stCondLst>
                                            <p:cond delay="0"/>
                                          </p:stCondLst>
                                        </p:cTn>
                                        <p:tgtEl>
                                          <p:spTgt spid="13"/>
                                        </p:tgtEl>
                                        <p:attrNameLst>
                                          <p:attrName>style.visibility</p:attrName>
                                        </p:attrNameLst>
                                      </p:cBhvr>
                                      <p:to>
                                        <p:strVal val="visible"/>
                                      </p:to>
                                    </p:set>
                                    <p:animEffect transition="in" filter="wipe(left)">
                                      <p:cBhvr>
                                        <p:cTn id="81" dur="500"/>
                                        <p:tgtEl>
                                          <p:spTgt spid="13"/>
                                        </p:tgtEl>
                                      </p:cBhvr>
                                    </p:animEffect>
                                  </p:childTnLst>
                                </p:cTn>
                              </p:par>
                              <p:par>
                                <p:cTn id="85" presetID="22" presetClass="entr" presetSubtype="8" fill="hold" grpId="0" nodeType="withEffect">
                                  <p:stCondLst>
                                    <p:cond delay="60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par>
                                <p:cTn id="88" presetID="22" presetClass="entr" presetSubtype="8" fill="hold" grpId="0" nodeType="withEffect">
                                  <p:stCondLst>
                                    <p:cond delay="600"/>
                                  </p:stCondLst>
                                  <p:childTnLst>
                                    <p:set>
                                      <p:cBhvr>
                                        <p:cTn id="86" dur="1" fill="hold">
                                          <p:stCondLst>
                                            <p:cond delay="0"/>
                                          </p:stCondLst>
                                        </p:cTn>
                                        <p:tgtEl>
                                          <p:spTgt spid="27"/>
                                        </p:tgtEl>
                                        <p:attrNameLst>
                                          <p:attrName>style.visibility</p:attrName>
                                        </p:attrNameLst>
                                      </p:cBhvr>
                                      <p:to>
                                        <p:strVal val="visible"/>
                                      </p:to>
                                    </p:set>
                                    <p:animEffect transition="in" filter="wipe(left)">
                                      <p:cBhvr>
                                        <p:cTn id="87" dur="500"/>
                                        <p:tgtEl>
                                          <p:spTgt spid="27"/>
                                        </p:tgtEl>
                                      </p:cBhvr>
                                    </p:animEffect>
                                  </p:childTnLst>
                                </p:cTn>
                              </p:par>
                              <p:par>
                                <p:cTn id="91" presetID="22" presetClass="entr" presetSubtype="8" fill="hold" grpId="0" nodeType="withEffect">
                                  <p:stCondLst>
                                    <p:cond delay="600"/>
                                  </p:stCondLst>
                                  <p:childTnLst>
                                    <p:set>
                                      <p:cBhvr>
                                        <p:cTn id="89" dur="1" fill="hold">
                                          <p:stCondLst>
                                            <p:cond delay="0"/>
                                          </p:stCondLst>
                                        </p:cTn>
                                        <p:tgtEl>
                                          <p:spTgt spid="40"/>
                                        </p:tgtEl>
                                        <p:attrNameLst>
                                          <p:attrName>style.visibility</p:attrName>
                                        </p:attrNameLst>
                                      </p:cBhvr>
                                      <p:to>
                                        <p:strVal val="visible"/>
                                      </p:to>
                                    </p:set>
                                    <p:animEffect transition="in" filter="wipe(left)">
                                      <p:cBhvr>
                                        <p:cTn id="90" dur="500"/>
                                        <p:tgtEl>
                                          <p:spTgt spid="40"/>
                                        </p:tgtEl>
                                      </p:cBhvr>
                                    </p:animEffect>
                                  </p:childTnLst>
                                </p:cTn>
                              </p:par>
                              <p:par>
                                <p:cTn id="94" presetID="22" presetClass="entr" presetSubtype="8" fill="hold" grpId="0" nodeType="withEffect">
                                  <p:stCondLst>
                                    <p:cond delay="600"/>
                                  </p:stCondLst>
                                  <p:childTnLst>
                                    <p:set>
                                      <p:cBhvr>
                                        <p:cTn id="92" dur="1" fill="hold">
                                          <p:stCondLst>
                                            <p:cond delay="0"/>
                                          </p:stCondLst>
                                        </p:cTn>
                                        <p:tgtEl>
                                          <p:spTgt spid="41"/>
                                        </p:tgtEl>
                                        <p:attrNameLst>
                                          <p:attrName>style.visibility</p:attrName>
                                        </p:attrNameLst>
                                      </p:cBhvr>
                                      <p:to>
                                        <p:strVal val="visible"/>
                                      </p:to>
                                    </p:set>
                                    <p:animEffect transition="in" filter="wipe(left)">
                                      <p:cBhvr>
                                        <p:cTn id="93" dur="500"/>
                                        <p:tgtEl>
                                          <p:spTgt spid="41"/>
                                        </p:tgtEl>
                                      </p:cBhvr>
                                    </p:animEffect>
                                  </p:childTnLst>
                                </p:cTn>
                              </p:par>
                              <p:par>
                                <p:cTn id="97" presetID="22" presetClass="entr" presetSubtype="8" fill="hold" grpId="0" nodeType="withEffect">
                                  <p:stCondLst>
                                    <p:cond delay="750"/>
                                  </p:stCondLst>
                                  <p:childTnLst>
                                    <p:set>
                                      <p:cBhvr>
                                        <p:cTn id="95" dur="1" fill="hold">
                                          <p:stCondLst>
                                            <p:cond delay="0"/>
                                          </p:stCondLst>
                                        </p:cTn>
                                        <p:tgtEl>
                                          <p:spTgt spid="14"/>
                                        </p:tgtEl>
                                        <p:attrNameLst>
                                          <p:attrName>style.visibility</p:attrName>
                                        </p:attrNameLst>
                                      </p:cBhvr>
                                      <p:to>
                                        <p:strVal val="visible"/>
                                      </p:to>
                                    </p:set>
                                    <p:animEffect transition="in" filter="wipe(left)">
                                      <p:cBhvr>
                                        <p:cTn id="96" dur="500"/>
                                        <p:tgtEl>
                                          <p:spTgt spid="14"/>
                                        </p:tgtEl>
                                      </p:cBhvr>
                                    </p:animEffect>
                                  </p:childTnLst>
                                </p:cTn>
                              </p:par>
                              <p:par>
                                <p:cTn id="100" presetID="22" presetClass="entr" presetSubtype="8" fill="hold" grpId="0" nodeType="withEffect">
                                  <p:stCondLst>
                                    <p:cond delay="750"/>
                                  </p:stCondLst>
                                  <p:childTnLst>
                                    <p:set>
                                      <p:cBhvr>
                                        <p:cTn id="98" dur="1" fill="hold">
                                          <p:stCondLst>
                                            <p:cond delay="0"/>
                                          </p:stCondLst>
                                        </p:cTn>
                                        <p:tgtEl>
                                          <p:spTgt spid="15"/>
                                        </p:tgtEl>
                                        <p:attrNameLst>
                                          <p:attrName>style.visibility</p:attrName>
                                        </p:attrNameLst>
                                      </p:cBhvr>
                                      <p:to>
                                        <p:strVal val="visible"/>
                                      </p:to>
                                    </p:set>
                                    <p:animEffect transition="in" filter="wipe(left)">
                                      <p:cBhvr>
                                        <p:cTn id="99" dur="500"/>
                                        <p:tgtEl>
                                          <p:spTgt spid="15"/>
                                        </p:tgtEl>
                                      </p:cBhvr>
                                    </p:animEffect>
                                  </p:childTnLst>
                                </p:cTn>
                              </p:par>
                              <p:par>
                                <p:cTn id="103" presetID="22" presetClass="entr" presetSubtype="8" fill="hold" grpId="0" nodeType="withEffect">
                                  <p:stCondLst>
                                    <p:cond delay="750"/>
                                  </p:stCondLst>
                                  <p:childTnLst>
                                    <p:set>
                                      <p:cBhvr>
                                        <p:cTn id="101" dur="1" fill="hold">
                                          <p:stCondLst>
                                            <p:cond delay="0"/>
                                          </p:stCondLst>
                                        </p:cTn>
                                        <p:tgtEl>
                                          <p:spTgt spid="28"/>
                                        </p:tgtEl>
                                        <p:attrNameLst>
                                          <p:attrName>style.visibility</p:attrName>
                                        </p:attrNameLst>
                                      </p:cBhvr>
                                      <p:to>
                                        <p:strVal val="visible"/>
                                      </p:to>
                                    </p:set>
                                    <p:animEffect transition="in" filter="wipe(left)">
                                      <p:cBhvr>
                                        <p:cTn id="102" dur="500"/>
                                        <p:tgtEl>
                                          <p:spTgt spid="28"/>
                                        </p:tgtEl>
                                      </p:cBhvr>
                                    </p:animEffect>
                                  </p:childTnLst>
                                </p:cTn>
                              </p:par>
                              <p:par>
                                <p:cTn id="106" presetID="22" presetClass="entr" presetSubtype="8" fill="hold" grpId="0" nodeType="withEffect">
                                  <p:stCondLst>
                                    <p:cond delay="750"/>
                                  </p:stCondLst>
                                  <p:childTnLst>
                                    <p:set>
                                      <p:cBhvr>
                                        <p:cTn id="104" dur="1" fill="hold">
                                          <p:stCondLst>
                                            <p:cond delay="0"/>
                                          </p:stCondLst>
                                        </p:cTn>
                                        <p:tgtEl>
                                          <p:spTgt spid="29"/>
                                        </p:tgtEl>
                                        <p:attrNameLst>
                                          <p:attrName>style.visibility</p:attrName>
                                        </p:attrNameLst>
                                      </p:cBhvr>
                                      <p:to>
                                        <p:strVal val="visible"/>
                                      </p:to>
                                    </p:set>
                                    <p:animEffect transition="in" filter="wipe(left)">
                                      <p:cBhvr>
                                        <p:cTn id="105" dur="500"/>
                                        <p:tgtEl>
                                          <p:spTgt spid="29"/>
                                        </p:tgtEl>
                                      </p:cBhvr>
                                    </p:animEffect>
                                  </p:childTnLst>
                                </p:cTn>
                              </p:par>
                              <p:par>
                                <p:cTn id="109" presetID="22" presetClass="entr" presetSubtype="8" fill="hold" grpId="0" nodeType="withEffect">
                                  <p:stCondLst>
                                    <p:cond delay="750"/>
                                  </p:stCondLst>
                                  <p:childTnLst>
                                    <p:set>
                                      <p:cBhvr>
                                        <p:cTn id="107" dur="1" fill="hold">
                                          <p:stCondLst>
                                            <p:cond delay="0"/>
                                          </p:stCondLst>
                                        </p:cTn>
                                        <p:tgtEl>
                                          <p:spTgt spid="42"/>
                                        </p:tgtEl>
                                        <p:attrNameLst>
                                          <p:attrName>style.visibility</p:attrName>
                                        </p:attrNameLst>
                                      </p:cBhvr>
                                      <p:to>
                                        <p:strVal val="visible"/>
                                      </p:to>
                                    </p:set>
                                    <p:animEffect transition="in" filter="wipe(left)">
                                      <p:cBhvr>
                                        <p:cTn id="108" dur="500"/>
                                        <p:tgtEl>
                                          <p:spTgt spid="42"/>
                                        </p:tgtEl>
                                      </p:cBhvr>
                                    </p:animEffect>
                                  </p:childTnLst>
                                </p:cTn>
                              </p:par>
                              <p:par>
                                <p:cTn id="112" presetID="22" presetClass="entr" presetSubtype="8" fill="hold" grpId="0" nodeType="withEffect">
                                  <p:stCondLst>
                                    <p:cond delay="750"/>
                                  </p:stCondLst>
                                  <p:childTnLst>
                                    <p:set>
                                      <p:cBhvr>
                                        <p:cTn id="110" dur="1" fill="hold">
                                          <p:stCondLst>
                                            <p:cond delay="0"/>
                                          </p:stCondLst>
                                        </p:cTn>
                                        <p:tgtEl>
                                          <p:spTgt spid="43"/>
                                        </p:tgtEl>
                                        <p:attrNameLst>
                                          <p:attrName>style.visibility</p:attrName>
                                        </p:attrNameLst>
                                      </p:cBhvr>
                                      <p:to>
                                        <p:strVal val="visible"/>
                                      </p:to>
                                    </p:set>
                                    <p:animEffect transition="in" filter="wipe(left)">
                                      <p:cBhvr>
                                        <p:cTn id="111" dur="500"/>
                                        <p:tgtEl>
                                          <p:spTgt spid="43"/>
                                        </p:tgtEl>
                                      </p:cBhvr>
                                    </p:animEffect>
                                  </p:childTnLst>
                                </p:cTn>
                              </p:par>
                              <p:par>
                                <p:cTn id="115" presetID="22" presetClass="entr" presetSubtype="8" fill="hold" grpId="0" nodeType="withEffect">
                                  <p:stCondLst>
                                    <p:cond delay="900"/>
                                  </p:stCondLst>
                                  <p:childTnLst>
                                    <p:set>
                                      <p:cBhvr>
                                        <p:cTn id="113" dur="1" fill="hold">
                                          <p:stCondLst>
                                            <p:cond delay="0"/>
                                          </p:stCondLst>
                                        </p:cTn>
                                        <p:tgtEl>
                                          <p:spTgt spid="16"/>
                                        </p:tgtEl>
                                        <p:attrNameLst>
                                          <p:attrName>style.visibility</p:attrName>
                                        </p:attrNameLst>
                                      </p:cBhvr>
                                      <p:to>
                                        <p:strVal val="visible"/>
                                      </p:to>
                                    </p:set>
                                    <p:animEffect transition="in" filter="wipe(left)">
                                      <p:cBhvr>
                                        <p:cTn id="114" dur="500"/>
                                        <p:tgtEl>
                                          <p:spTgt spid="16"/>
                                        </p:tgtEl>
                                      </p:cBhvr>
                                    </p:animEffect>
                                  </p:childTnLst>
                                </p:cTn>
                              </p:par>
                              <p:par>
                                <p:cTn id="118" presetID="22" presetClass="entr" presetSubtype="8" fill="hold" grpId="0" nodeType="withEffect">
                                  <p:stCondLst>
                                    <p:cond delay="900"/>
                                  </p:stCondLst>
                                  <p:childTnLst>
                                    <p:set>
                                      <p:cBhvr>
                                        <p:cTn id="116" dur="1" fill="hold">
                                          <p:stCondLst>
                                            <p:cond delay="0"/>
                                          </p:stCondLst>
                                        </p:cTn>
                                        <p:tgtEl>
                                          <p:spTgt spid="17"/>
                                        </p:tgtEl>
                                        <p:attrNameLst>
                                          <p:attrName>style.visibility</p:attrName>
                                        </p:attrNameLst>
                                      </p:cBhvr>
                                      <p:to>
                                        <p:strVal val="visible"/>
                                      </p:to>
                                    </p:set>
                                    <p:animEffect transition="in" filter="wipe(left)">
                                      <p:cBhvr>
                                        <p:cTn id="117" dur="500"/>
                                        <p:tgtEl>
                                          <p:spTgt spid="17"/>
                                        </p:tgtEl>
                                      </p:cBhvr>
                                    </p:animEffect>
                                  </p:childTnLst>
                                </p:cTn>
                              </p:par>
                              <p:par>
                                <p:cTn id="121" presetID="22" presetClass="entr" presetSubtype="8" fill="hold" grpId="0" nodeType="withEffect">
                                  <p:stCondLst>
                                    <p:cond delay="900"/>
                                  </p:stCondLst>
                                  <p:childTnLst>
                                    <p:set>
                                      <p:cBhvr>
                                        <p:cTn id="119" dur="1" fill="hold">
                                          <p:stCondLst>
                                            <p:cond delay="0"/>
                                          </p:stCondLst>
                                        </p:cTn>
                                        <p:tgtEl>
                                          <p:spTgt spid="30"/>
                                        </p:tgtEl>
                                        <p:attrNameLst>
                                          <p:attrName>style.visibility</p:attrName>
                                        </p:attrNameLst>
                                      </p:cBhvr>
                                      <p:to>
                                        <p:strVal val="visible"/>
                                      </p:to>
                                    </p:set>
                                    <p:animEffect transition="in" filter="wipe(left)">
                                      <p:cBhvr>
                                        <p:cTn id="120" dur="500"/>
                                        <p:tgtEl>
                                          <p:spTgt spid="30"/>
                                        </p:tgtEl>
                                      </p:cBhvr>
                                    </p:animEffect>
                                  </p:childTnLst>
                                </p:cTn>
                              </p:par>
                              <p:par>
                                <p:cTn id="124" presetID="22" presetClass="entr" presetSubtype="8" fill="hold" grpId="0" nodeType="withEffect">
                                  <p:stCondLst>
                                    <p:cond delay="900"/>
                                  </p:stCondLst>
                                  <p:childTnLst>
                                    <p:set>
                                      <p:cBhvr>
                                        <p:cTn id="122" dur="1" fill="hold">
                                          <p:stCondLst>
                                            <p:cond delay="0"/>
                                          </p:stCondLst>
                                        </p:cTn>
                                        <p:tgtEl>
                                          <p:spTgt spid="31"/>
                                        </p:tgtEl>
                                        <p:attrNameLst>
                                          <p:attrName>style.visibility</p:attrName>
                                        </p:attrNameLst>
                                      </p:cBhvr>
                                      <p:to>
                                        <p:strVal val="visible"/>
                                      </p:to>
                                    </p:set>
                                    <p:animEffect transition="in" filter="wipe(left)">
                                      <p:cBhvr>
                                        <p:cTn id="123" dur="500"/>
                                        <p:tgtEl>
                                          <p:spTgt spid="31"/>
                                        </p:tgtEl>
                                      </p:cBhvr>
                                    </p:animEffect>
                                  </p:childTnLst>
                                </p:cTn>
                              </p:par>
                              <p:par>
                                <p:cTn id="127" presetID="22" presetClass="entr" presetSubtype="8" fill="hold" grpId="0" nodeType="withEffect">
                                  <p:stCondLst>
                                    <p:cond delay="900"/>
                                  </p:stCondLst>
                                  <p:childTnLst>
                                    <p:set>
                                      <p:cBhvr>
                                        <p:cTn id="125" dur="1" fill="hold">
                                          <p:stCondLst>
                                            <p:cond delay="0"/>
                                          </p:stCondLst>
                                        </p:cTn>
                                        <p:tgtEl>
                                          <p:spTgt spid="44"/>
                                        </p:tgtEl>
                                        <p:attrNameLst>
                                          <p:attrName>style.visibility</p:attrName>
                                        </p:attrNameLst>
                                      </p:cBhvr>
                                      <p:to>
                                        <p:strVal val="visible"/>
                                      </p:to>
                                    </p:set>
                                    <p:animEffect transition="in" filter="wipe(left)">
                                      <p:cBhvr>
                                        <p:cTn id="126" dur="500"/>
                                        <p:tgtEl>
                                          <p:spTgt spid="44"/>
                                        </p:tgtEl>
                                      </p:cBhvr>
                                    </p:animEffect>
                                  </p:childTnLst>
                                </p:cTn>
                              </p:par>
                              <p:par>
                                <p:cTn id="130" presetID="22" presetClass="entr" presetSubtype="8" fill="hold" grpId="0" nodeType="withEffect">
                                  <p:stCondLst>
                                    <p:cond delay="900"/>
                                  </p:stCondLst>
                                  <p:childTnLst>
                                    <p:set>
                                      <p:cBhvr>
                                        <p:cTn id="128" dur="1" fill="hold">
                                          <p:stCondLst>
                                            <p:cond delay="0"/>
                                          </p:stCondLst>
                                        </p:cTn>
                                        <p:tgtEl>
                                          <p:spTgt spid="45"/>
                                        </p:tgtEl>
                                        <p:attrNameLst>
                                          <p:attrName>style.visibility</p:attrName>
                                        </p:attrNameLst>
                                      </p:cBhvr>
                                      <p:to>
                                        <p:strVal val="visible"/>
                                      </p:to>
                                    </p:set>
                                    <p:animEffect transition="in" filter="wipe(left)">
                                      <p:cBhvr>
                                        <p:cTn id="129" dur="500"/>
                                        <p:tgtEl>
                                          <p:spTgt spid="45"/>
                                        </p:tgtEl>
                                      </p:cBhvr>
                                    </p:animEffect>
                                  </p:childTnLst>
                                </p:cTn>
                              </p:par>
                            </p:childTnLst>
                          </p:cTn>
                        </p:par>
                      </p:childTnLst>
                    </p:cTn>
                  </p:par>
                  <p:par>
                    <p:cTn id="131" fill="hold">
                      <p:stCondLst>
                        <p:cond delay="indefinite"/>
                      </p:stCondLst>
                      <p:childTnLst>
                        <p:par>
                          <p:cTn id="132" fill="hold">
                            <p:stCondLst>
                              <p:cond delay="0"/>
                            </p:stCondLst>
                            <p:childTnLst>
                              <p:par>
                                <p:cTn id="137" presetID="2" presetClass="entr" presetSubtype="4" fill="hold" grpId="0" nodeType="clickEffect">
                                  <p:stCondLst>
                                    <p:cond delay="0"/>
                                  </p:stCondLst>
                                  <p:childTnLst>
                                    <p:set>
                                      <p:cBhvr>
                                        <p:cTn id="133" dur="1" fill="hold">
                                          <p:stCondLst>
                                            <p:cond delay="0"/>
                                          </p:stCondLst>
                                        </p:cTn>
                                        <p:tgtEl>
                                          <p:spTgt spid="46"/>
                                        </p:tgtEl>
                                        <p:attrNameLst>
                                          <p:attrName>style.visibility</p:attrName>
                                        </p:attrNameLst>
                                      </p:cBhvr>
                                      <p:to>
                                        <p:strVal val="visible"/>
                                      </p:to>
                                    </p:set>
                                    <p:anim calcmode="lin" valueType="num">
                                      <p:cBhvr additive="base">
                                        <p:cTn id="134" dur="500" fill="hold"/>
                                        <p:tgtEl>
                                          <p:spTgt spid="46"/>
                                        </p:tgtEl>
                                        <p:attrNameLst>
                                          <p:attrName>ppt_x</p:attrName>
                                        </p:attrNameLst>
                                      </p:cBhvr>
                                      <p:tavLst>
                                        <p:tav tm="0">
                                          <p:val>
                                            <p:strVal val="#ppt_x"/>
                                          </p:val>
                                        </p:tav>
                                        <p:tav tm="100000">
                                          <p:val>
                                            <p:strVal val="#ppt_x"/>
                                          </p:val>
                                        </p:tav>
                                      </p:tavLst>
                                    </p:anim>
                                    <p:anim calcmode="lin" valueType="num">
                                      <p:cBhvr additive="base">
                                        <p:cTn id="135" dur="500" fill="hold"/>
                                        <p:tgtEl>
                                          <p:spTgt spid="46"/>
                                        </p:tgtEl>
                                        <p:attrNameLst>
                                          <p:attrName>ppt_y</p:attrName>
                                        </p:attrNameLst>
                                      </p:cBhvr>
                                      <p:tavLst>
                                        <p:tav tm="0">
                                          <p:val>
                                            <p:strVal val="#ppt_y+0.1"/>
                                          </p:val>
                                        </p:tav>
                                        <p:tav tm="100000">
                                          <p:val>
                                            <p:strVal val="#ppt_y"/>
                                          </p:val>
                                        </p:tav>
                                      </p:tavLst>
                                    </p:anim>
                                    <p:animEffect transition="in" filter="fade">
                                      <p:cBhvr>
                                        <p:cTn id="136" dur="500"/>
                                        <p:tgtEl>
                                          <p:spTgt spid="46"/>
                                        </p:tgtEl>
                                      </p:cBhvr>
                                    </p:animEffect>
                                  </p:childTnLst>
                                </p:cTn>
                              </p:par>
                              <p:par>
                                <p:cTn id="142" presetID="2" presetClass="entr" presetSubtype="4" fill="hold" grpId="0" nodeType="withEffect">
                                  <p:stCondLst>
                                    <p:cond delay="0"/>
                                  </p:stCondLst>
                                  <p:childTnLst>
                                    <p:set>
                                      <p:cBhvr>
                                        <p:cTn id="138" dur="1" fill="hold">
                                          <p:stCondLst>
                                            <p:cond delay="0"/>
                                          </p:stCondLst>
                                        </p:cTn>
                                        <p:tgtEl>
                                          <p:spTgt spid="47"/>
                                        </p:tgtEl>
                                        <p:attrNameLst>
                                          <p:attrName>style.visibility</p:attrName>
                                        </p:attrNameLst>
                                      </p:cBhvr>
                                      <p:to>
                                        <p:strVal val="visible"/>
                                      </p:to>
                                    </p:set>
                                    <p:anim calcmode="lin" valueType="num">
                                      <p:cBhvr additive="base">
                                        <p:cTn id="139" dur="500" fill="hold"/>
                                        <p:tgtEl>
                                          <p:spTgt spid="47"/>
                                        </p:tgtEl>
                                        <p:attrNameLst>
                                          <p:attrName>ppt_x</p:attrName>
                                        </p:attrNameLst>
                                      </p:cBhvr>
                                      <p:tavLst>
                                        <p:tav tm="0">
                                          <p:val>
                                            <p:strVal val="#ppt_x"/>
                                          </p:val>
                                        </p:tav>
                                        <p:tav tm="100000">
                                          <p:val>
                                            <p:strVal val="#ppt_x"/>
                                          </p:val>
                                        </p:tav>
                                      </p:tavLst>
                                    </p:anim>
                                    <p:anim calcmode="lin" valueType="num">
                                      <p:cBhvr additive="base">
                                        <p:cTn id="140" dur="500" fill="hold"/>
                                        <p:tgtEl>
                                          <p:spTgt spid="47"/>
                                        </p:tgtEl>
                                        <p:attrNameLst>
                                          <p:attrName>ppt_y</p:attrName>
                                        </p:attrNameLst>
                                      </p:cBhvr>
                                      <p:tavLst>
                                        <p:tav tm="0">
                                          <p:val>
                                            <p:strVal val="#ppt_y+0.1"/>
                                          </p:val>
                                        </p:tav>
                                        <p:tav tm="100000">
                                          <p:val>
                                            <p:strVal val="#ppt_y"/>
                                          </p:val>
                                        </p:tav>
                                      </p:tavLst>
                                    </p:anim>
                                    <p:animEffect transition="in" filter="fade">
                                      <p:cBhvr>
                                        <p:cTn id="141" dur="500"/>
                                        <p:tgtEl>
                                          <p:spTgt spid="47"/>
                                        </p:tgtEl>
                                      </p:cBhvr>
                                    </p:animEffect>
                                  </p:childTnLst>
                                </p:cTn>
                              </p:par>
                              <p:par>
                                <p:cTn id="147" presetID="2" presetClass="entr" presetSubtype="4" fill="hold" grpId="0" nodeType="withEffect">
                                  <p:stCondLst>
                                    <p:cond delay="0"/>
                                  </p:stCondLst>
                                  <p:childTnLst>
                                    <p:set>
                                      <p:cBhvr>
                                        <p:cTn id="143" dur="1" fill="hold">
                                          <p:stCondLst>
                                            <p:cond delay="0"/>
                                          </p:stCondLst>
                                        </p:cTn>
                                        <p:tgtEl>
                                          <p:spTgt spid="48"/>
                                        </p:tgtEl>
                                        <p:attrNameLst>
                                          <p:attrName>style.visibility</p:attrName>
                                        </p:attrNameLst>
                                      </p:cBhvr>
                                      <p:to>
                                        <p:strVal val="visible"/>
                                      </p:to>
                                    </p:set>
                                    <p:anim calcmode="lin" valueType="num">
                                      <p:cBhvr additive="base">
                                        <p:cTn id="144" dur="500" fill="hold"/>
                                        <p:tgtEl>
                                          <p:spTgt spid="48"/>
                                        </p:tgtEl>
                                        <p:attrNameLst>
                                          <p:attrName>ppt_x</p:attrName>
                                        </p:attrNameLst>
                                      </p:cBhvr>
                                      <p:tavLst>
                                        <p:tav tm="0">
                                          <p:val>
                                            <p:strVal val="#ppt_x"/>
                                          </p:val>
                                        </p:tav>
                                        <p:tav tm="100000">
                                          <p:val>
                                            <p:strVal val="#ppt_x"/>
                                          </p:val>
                                        </p:tav>
                                      </p:tavLst>
                                    </p:anim>
                                    <p:anim calcmode="lin" valueType="num">
                                      <p:cBhvr additive="base">
                                        <p:cTn id="145" dur="500" fill="hold"/>
                                        <p:tgtEl>
                                          <p:spTgt spid="48"/>
                                        </p:tgtEl>
                                        <p:attrNameLst>
                                          <p:attrName>ppt_y</p:attrName>
                                        </p:attrNameLst>
                                      </p:cBhvr>
                                      <p:tavLst>
                                        <p:tav tm="0">
                                          <p:val>
                                            <p:strVal val="#ppt_y+0.1"/>
                                          </p:val>
                                        </p:tav>
                                        <p:tav tm="100000">
                                          <p:val>
                                            <p:strVal val="#ppt_y"/>
                                          </p:val>
                                        </p:tav>
                                      </p:tavLst>
                                    </p:anim>
                                    <p:animEffect transition="in" filter="fade">
                                      <p:cBhvr>
                                        <p:cTn id="14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SQL and NoSQL Side by Side</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Not a contest - a list of trade-offs you make deliberately</a:t>
            </a:r>
          </a:p>
        </p:txBody>
      </p:sp>
      <p:sp>
        <p:nvSpPr>
          <p:cNvPr id="4" name="a1f_th3"/>
          <p:cNvSpPr/>
          <p:nvPr/>
        </p:nvSpPr>
        <p:spPr>
          <a:xfrm>
            <a:off x="457200" y="1143000"/>
            <a:ext cx="1920240" cy="347472"/>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f_tht4"/>
          <p:cNvSpPr txBox="1"/>
          <p:nvPr/>
        </p:nvSpPr>
        <p:spPr>
          <a:xfrm>
            <a:off x="530352" y="1143000"/>
            <a:ext cx="1810512" cy="347472"/>
          </a:xfrm>
          <a:prstGeom prst="rect">
            <a:avLst/>
          </a:prstGeom>
          <a:noFill/>
        </p:spPr>
        <p:txBody>
          <a:bodyPr wrap="square" lIns="0" tIns="0" rIns="0" bIns="0" anchor="ctr">
            <a:spAutoFit/>
          </a:bodyPr>
          <a:lstStyle/>
          <a:p>
            <a:pPr algn="l"/>
            <a:r>
              <a:rPr sz="1050" b="1">
                <a:solidFill>
                  <a:srgbClr val="FFFFFF"/>
                </a:solidFill>
                <a:latin typeface="Calibri"/>
              </a:rPr>
              <a:t/>
            </a:r>
          </a:p>
        </p:txBody>
      </p:sp>
      <p:sp>
        <p:nvSpPr>
          <p:cNvPr id="6" name="a1wd110_td5"/>
          <p:cNvSpPr/>
          <p:nvPr/>
        </p:nvSpPr>
        <p:spPr>
          <a:xfrm>
            <a:off x="457200" y="1490472"/>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wd110_tdt6"/>
          <p:cNvSpPr txBox="1"/>
          <p:nvPr/>
        </p:nvSpPr>
        <p:spPr>
          <a:xfrm>
            <a:off x="530352" y="1490472"/>
            <a:ext cx="1810512" cy="347472"/>
          </a:xfrm>
          <a:prstGeom prst="rect">
            <a:avLst/>
          </a:prstGeom>
          <a:noFill/>
        </p:spPr>
        <p:txBody>
          <a:bodyPr wrap="square" lIns="0" tIns="0" rIns="0" bIns="0" anchor="ctr">
            <a:spAutoFit/>
          </a:bodyPr>
          <a:lstStyle/>
          <a:p>
            <a:pPr algn="l"/>
            <a:r>
              <a:rPr sz="1050" b="0">
                <a:solidFill>
                  <a:srgbClr val="334155"/>
                </a:solidFill>
                <a:latin typeface="Calibri"/>
              </a:rPr>
              <a:t>Schema</a:t>
            </a:r>
          </a:p>
        </p:txBody>
      </p:sp>
      <p:sp>
        <p:nvSpPr>
          <p:cNvPr id="8" name="a1wd220_td7"/>
          <p:cNvSpPr/>
          <p:nvPr/>
        </p:nvSpPr>
        <p:spPr>
          <a:xfrm>
            <a:off x="457200" y="1837943"/>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wd220_tdt8"/>
          <p:cNvSpPr txBox="1"/>
          <p:nvPr/>
        </p:nvSpPr>
        <p:spPr>
          <a:xfrm>
            <a:off x="530352" y="1837943"/>
            <a:ext cx="1810512" cy="347472"/>
          </a:xfrm>
          <a:prstGeom prst="rect">
            <a:avLst/>
          </a:prstGeom>
          <a:noFill/>
        </p:spPr>
        <p:txBody>
          <a:bodyPr wrap="square" lIns="0" tIns="0" rIns="0" bIns="0" anchor="ctr">
            <a:spAutoFit/>
          </a:bodyPr>
          <a:lstStyle/>
          <a:p>
            <a:pPr algn="l"/>
            <a:r>
              <a:rPr sz="1050" b="0">
                <a:solidFill>
                  <a:srgbClr val="334155"/>
                </a:solidFill>
                <a:latin typeface="Calibri"/>
              </a:rPr>
              <a:t>Scaling</a:t>
            </a:r>
          </a:p>
        </p:txBody>
      </p:sp>
      <p:sp>
        <p:nvSpPr>
          <p:cNvPr id="10" name="a1wd330_td9"/>
          <p:cNvSpPr/>
          <p:nvPr/>
        </p:nvSpPr>
        <p:spPr>
          <a:xfrm>
            <a:off x="457200" y="2185416"/>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wd330_tdt10"/>
          <p:cNvSpPr txBox="1"/>
          <p:nvPr/>
        </p:nvSpPr>
        <p:spPr>
          <a:xfrm>
            <a:off x="530352" y="2185416"/>
            <a:ext cx="1810512" cy="347472"/>
          </a:xfrm>
          <a:prstGeom prst="rect">
            <a:avLst/>
          </a:prstGeom>
          <a:noFill/>
        </p:spPr>
        <p:txBody>
          <a:bodyPr wrap="square" lIns="0" tIns="0" rIns="0" bIns="0" anchor="ctr">
            <a:spAutoFit/>
          </a:bodyPr>
          <a:lstStyle/>
          <a:p>
            <a:pPr algn="l"/>
            <a:r>
              <a:rPr sz="1050" b="0">
                <a:solidFill>
                  <a:srgbClr val="334155"/>
                </a:solidFill>
                <a:latin typeface="Calibri"/>
              </a:rPr>
              <a:t>Transactions</a:t>
            </a:r>
          </a:p>
        </p:txBody>
      </p:sp>
      <p:sp>
        <p:nvSpPr>
          <p:cNvPr id="12" name="a1wd440_td11"/>
          <p:cNvSpPr/>
          <p:nvPr/>
        </p:nvSpPr>
        <p:spPr>
          <a:xfrm>
            <a:off x="457200" y="2532888"/>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d440_tdt12"/>
          <p:cNvSpPr txBox="1"/>
          <p:nvPr/>
        </p:nvSpPr>
        <p:spPr>
          <a:xfrm>
            <a:off x="530352" y="2532888"/>
            <a:ext cx="1810512" cy="347472"/>
          </a:xfrm>
          <a:prstGeom prst="rect">
            <a:avLst/>
          </a:prstGeom>
          <a:noFill/>
        </p:spPr>
        <p:txBody>
          <a:bodyPr wrap="square" lIns="0" tIns="0" rIns="0" bIns="0" anchor="ctr">
            <a:spAutoFit/>
          </a:bodyPr>
          <a:lstStyle/>
          <a:p>
            <a:pPr algn="l"/>
            <a:r>
              <a:rPr sz="1050" b="0">
                <a:solidFill>
                  <a:srgbClr val="334155"/>
                </a:solidFill>
                <a:latin typeface="Calibri"/>
              </a:rPr>
              <a:t>Joins</a:t>
            </a:r>
          </a:p>
        </p:txBody>
      </p:sp>
      <p:sp>
        <p:nvSpPr>
          <p:cNvPr id="14" name="a1wd550_td13"/>
          <p:cNvSpPr/>
          <p:nvPr/>
        </p:nvSpPr>
        <p:spPr>
          <a:xfrm>
            <a:off x="457200" y="2880360"/>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550_tdt14"/>
          <p:cNvSpPr txBox="1"/>
          <p:nvPr/>
        </p:nvSpPr>
        <p:spPr>
          <a:xfrm>
            <a:off x="530352" y="2880360"/>
            <a:ext cx="1810512" cy="347472"/>
          </a:xfrm>
          <a:prstGeom prst="rect">
            <a:avLst/>
          </a:prstGeom>
          <a:noFill/>
        </p:spPr>
        <p:txBody>
          <a:bodyPr wrap="square" lIns="0" tIns="0" rIns="0" bIns="0" anchor="ctr">
            <a:spAutoFit/>
          </a:bodyPr>
          <a:lstStyle/>
          <a:p>
            <a:pPr algn="l"/>
            <a:r>
              <a:rPr sz="1050" b="0">
                <a:solidFill>
                  <a:srgbClr val="334155"/>
                </a:solidFill>
                <a:latin typeface="Calibri"/>
              </a:rPr>
              <a:t>Query language</a:t>
            </a:r>
          </a:p>
        </p:txBody>
      </p:sp>
      <p:sp>
        <p:nvSpPr>
          <p:cNvPr id="16" name="a1wd660_td15"/>
          <p:cNvSpPr/>
          <p:nvPr/>
        </p:nvSpPr>
        <p:spPr>
          <a:xfrm>
            <a:off x="457200" y="3227832"/>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660_tdt16"/>
          <p:cNvSpPr txBox="1"/>
          <p:nvPr/>
        </p:nvSpPr>
        <p:spPr>
          <a:xfrm>
            <a:off x="530352" y="3227832"/>
            <a:ext cx="1810512" cy="347472"/>
          </a:xfrm>
          <a:prstGeom prst="rect">
            <a:avLst/>
          </a:prstGeom>
          <a:noFill/>
        </p:spPr>
        <p:txBody>
          <a:bodyPr wrap="square" lIns="0" tIns="0" rIns="0" bIns="0" anchor="ctr">
            <a:spAutoFit/>
          </a:bodyPr>
          <a:lstStyle/>
          <a:p>
            <a:pPr algn="l"/>
            <a:r>
              <a:rPr sz="1050" b="0">
                <a:solidFill>
                  <a:srgbClr val="334155"/>
                </a:solidFill>
                <a:latin typeface="Calibri"/>
              </a:rPr>
              <a:t>Consistency</a:t>
            </a:r>
          </a:p>
        </p:txBody>
      </p:sp>
      <p:sp>
        <p:nvSpPr>
          <p:cNvPr id="18" name="a1wd770_td17"/>
          <p:cNvSpPr/>
          <p:nvPr/>
        </p:nvSpPr>
        <p:spPr>
          <a:xfrm>
            <a:off x="457200" y="3575304"/>
            <a:ext cx="192024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770_tdt18"/>
          <p:cNvSpPr txBox="1"/>
          <p:nvPr/>
        </p:nvSpPr>
        <p:spPr>
          <a:xfrm>
            <a:off x="530352" y="3575304"/>
            <a:ext cx="1810512" cy="347472"/>
          </a:xfrm>
          <a:prstGeom prst="rect">
            <a:avLst/>
          </a:prstGeom>
          <a:noFill/>
        </p:spPr>
        <p:txBody>
          <a:bodyPr wrap="square" lIns="0" tIns="0" rIns="0" bIns="0" anchor="ctr">
            <a:spAutoFit/>
          </a:bodyPr>
          <a:lstStyle/>
          <a:p>
            <a:pPr algn="l"/>
            <a:r>
              <a:rPr sz="1050" b="0">
                <a:solidFill>
                  <a:srgbClr val="334155"/>
                </a:solidFill>
                <a:latin typeface="Calibri"/>
              </a:rPr>
              <a:t>Best at</a:t>
            </a:r>
          </a:p>
        </p:txBody>
      </p:sp>
      <p:sp>
        <p:nvSpPr>
          <p:cNvPr id="20" name="a1f_th19"/>
          <p:cNvSpPr/>
          <p:nvPr/>
        </p:nvSpPr>
        <p:spPr>
          <a:xfrm>
            <a:off x="2377440" y="1143000"/>
            <a:ext cx="3383280" cy="34747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f_tht20"/>
          <p:cNvSpPr txBox="1"/>
          <p:nvPr/>
        </p:nvSpPr>
        <p:spPr>
          <a:xfrm>
            <a:off x="2450592" y="1143000"/>
            <a:ext cx="3273552" cy="347472"/>
          </a:xfrm>
          <a:prstGeom prst="rect">
            <a:avLst/>
          </a:prstGeom>
          <a:noFill/>
        </p:spPr>
        <p:txBody>
          <a:bodyPr wrap="square" lIns="0" tIns="0" rIns="0" bIns="0" anchor="ctr">
            <a:spAutoFit/>
          </a:bodyPr>
          <a:lstStyle/>
          <a:p>
            <a:pPr algn="l"/>
            <a:r>
              <a:rPr sz="1050" b="1">
                <a:solidFill>
                  <a:srgbClr val="FFFFFF"/>
                </a:solidFill>
                <a:latin typeface="Calibri"/>
              </a:rPr>
              <a:t>Relational</a:t>
            </a:r>
          </a:p>
        </p:txBody>
      </p:sp>
      <p:sp>
        <p:nvSpPr>
          <p:cNvPr id="22" name="a1wd110_td21"/>
          <p:cNvSpPr/>
          <p:nvPr/>
        </p:nvSpPr>
        <p:spPr>
          <a:xfrm>
            <a:off x="2377440" y="1490472"/>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110_tdt22"/>
          <p:cNvSpPr txBox="1"/>
          <p:nvPr/>
        </p:nvSpPr>
        <p:spPr>
          <a:xfrm>
            <a:off x="2450592" y="1490472"/>
            <a:ext cx="3273552" cy="347472"/>
          </a:xfrm>
          <a:prstGeom prst="rect">
            <a:avLst/>
          </a:prstGeom>
          <a:noFill/>
        </p:spPr>
        <p:txBody>
          <a:bodyPr wrap="square" lIns="0" tIns="0" rIns="0" bIns="0" anchor="ctr">
            <a:spAutoFit/>
          </a:bodyPr>
          <a:lstStyle/>
          <a:p>
            <a:pPr algn="l"/>
            <a:r>
              <a:rPr sz="1050" b="0">
                <a:solidFill>
                  <a:srgbClr val="334155"/>
                </a:solidFill>
                <a:latin typeface="Calibri"/>
              </a:rPr>
              <a:t>Defined up front, enforced by the engine</a:t>
            </a:r>
          </a:p>
        </p:txBody>
      </p:sp>
      <p:sp>
        <p:nvSpPr>
          <p:cNvPr id="24" name="a1wd220_td23"/>
          <p:cNvSpPr/>
          <p:nvPr/>
        </p:nvSpPr>
        <p:spPr>
          <a:xfrm>
            <a:off x="2377440" y="1837943"/>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220_tdt24"/>
          <p:cNvSpPr txBox="1"/>
          <p:nvPr/>
        </p:nvSpPr>
        <p:spPr>
          <a:xfrm>
            <a:off x="2450592" y="1837943"/>
            <a:ext cx="3273552" cy="347472"/>
          </a:xfrm>
          <a:prstGeom prst="rect">
            <a:avLst/>
          </a:prstGeom>
          <a:noFill/>
        </p:spPr>
        <p:txBody>
          <a:bodyPr wrap="square" lIns="0" tIns="0" rIns="0" bIns="0" anchor="ctr">
            <a:spAutoFit/>
          </a:bodyPr>
          <a:lstStyle/>
          <a:p>
            <a:pPr algn="l"/>
            <a:r>
              <a:rPr sz="1050" b="0">
                <a:solidFill>
                  <a:srgbClr val="334155"/>
                </a:solidFill>
                <a:latin typeface="Calibri"/>
              </a:rPr>
              <a:t>Vertical first; sharding is bolted on</a:t>
            </a:r>
          </a:p>
        </p:txBody>
      </p:sp>
      <p:sp>
        <p:nvSpPr>
          <p:cNvPr id="26" name="a1wd330_td25"/>
          <p:cNvSpPr/>
          <p:nvPr/>
        </p:nvSpPr>
        <p:spPr>
          <a:xfrm>
            <a:off x="2377440" y="2185416"/>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330_tdt26"/>
          <p:cNvSpPr txBox="1"/>
          <p:nvPr/>
        </p:nvSpPr>
        <p:spPr>
          <a:xfrm>
            <a:off x="2450592" y="2185416"/>
            <a:ext cx="3273552" cy="347472"/>
          </a:xfrm>
          <a:prstGeom prst="rect">
            <a:avLst/>
          </a:prstGeom>
          <a:noFill/>
        </p:spPr>
        <p:txBody>
          <a:bodyPr wrap="square" lIns="0" tIns="0" rIns="0" bIns="0" anchor="ctr">
            <a:spAutoFit/>
          </a:bodyPr>
          <a:lstStyle/>
          <a:p>
            <a:pPr algn="l"/>
            <a:r>
              <a:rPr sz="1050" b="0">
                <a:solidFill>
                  <a:srgbClr val="334155"/>
                </a:solidFill>
                <a:latin typeface="Calibri"/>
              </a:rPr>
              <a:t>ACID across many tables</a:t>
            </a:r>
          </a:p>
        </p:txBody>
      </p:sp>
      <p:sp>
        <p:nvSpPr>
          <p:cNvPr id="28" name="a1wd440_td27"/>
          <p:cNvSpPr/>
          <p:nvPr/>
        </p:nvSpPr>
        <p:spPr>
          <a:xfrm>
            <a:off x="2377440" y="2532888"/>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wd440_tdt28"/>
          <p:cNvSpPr txBox="1"/>
          <p:nvPr/>
        </p:nvSpPr>
        <p:spPr>
          <a:xfrm>
            <a:off x="2450592" y="2532888"/>
            <a:ext cx="3273552" cy="347472"/>
          </a:xfrm>
          <a:prstGeom prst="rect">
            <a:avLst/>
          </a:prstGeom>
          <a:noFill/>
        </p:spPr>
        <p:txBody>
          <a:bodyPr wrap="square" lIns="0" tIns="0" rIns="0" bIns="0" anchor="ctr">
            <a:spAutoFit/>
          </a:bodyPr>
          <a:lstStyle/>
          <a:p>
            <a:pPr algn="l"/>
            <a:r>
              <a:rPr sz="1050" b="0">
                <a:solidFill>
                  <a:srgbClr val="334155"/>
                </a:solidFill>
                <a:latin typeface="Calibri"/>
              </a:rPr>
              <a:t>First-class, optimised</a:t>
            </a:r>
          </a:p>
        </p:txBody>
      </p:sp>
      <p:sp>
        <p:nvSpPr>
          <p:cNvPr id="30" name="a1wd550_td29"/>
          <p:cNvSpPr/>
          <p:nvPr/>
        </p:nvSpPr>
        <p:spPr>
          <a:xfrm>
            <a:off x="2377440" y="2880360"/>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550_tdt30"/>
          <p:cNvSpPr txBox="1"/>
          <p:nvPr/>
        </p:nvSpPr>
        <p:spPr>
          <a:xfrm>
            <a:off x="2450592" y="2880360"/>
            <a:ext cx="3273552" cy="347472"/>
          </a:xfrm>
          <a:prstGeom prst="rect">
            <a:avLst/>
          </a:prstGeom>
          <a:noFill/>
        </p:spPr>
        <p:txBody>
          <a:bodyPr wrap="square" lIns="0" tIns="0" rIns="0" bIns="0" anchor="ctr">
            <a:spAutoFit/>
          </a:bodyPr>
          <a:lstStyle/>
          <a:p>
            <a:pPr algn="l"/>
            <a:r>
              <a:rPr sz="1050" b="0">
                <a:solidFill>
                  <a:srgbClr val="334155"/>
                </a:solidFill>
                <a:latin typeface="Calibri"/>
              </a:rPr>
              <a:t>SQL, standardised</a:t>
            </a:r>
          </a:p>
        </p:txBody>
      </p:sp>
      <p:sp>
        <p:nvSpPr>
          <p:cNvPr id="32" name="a1wd660_td31"/>
          <p:cNvSpPr/>
          <p:nvPr/>
        </p:nvSpPr>
        <p:spPr>
          <a:xfrm>
            <a:off x="2377440" y="3227832"/>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wd660_tdt32"/>
          <p:cNvSpPr txBox="1"/>
          <p:nvPr/>
        </p:nvSpPr>
        <p:spPr>
          <a:xfrm>
            <a:off x="2450592" y="3227832"/>
            <a:ext cx="3273552" cy="347472"/>
          </a:xfrm>
          <a:prstGeom prst="rect">
            <a:avLst/>
          </a:prstGeom>
          <a:noFill/>
        </p:spPr>
        <p:txBody>
          <a:bodyPr wrap="square" lIns="0" tIns="0" rIns="0" bIns="0" anchor="ctr">
            <a:spAutoFit/>
          </a:bodyPr>
          <a:lstStyle/>
          <a:p>
            <a:pPr algn="l"/>
            <a:r>
              <a:rPr sz="1050" b="0">
                <a:solidFill>
                  <a:srgbClr val="334155"/>
                </a:solidFill>
                <a:latin typeface="Calibri"/>
              </a:rPr>
              <a:t>Strong by default</a:t>
            </a:r>
          </a:p>
        </p:txBody>
      </p:sp>
      <p:sp>
        <p:nvSpPr>
          <p:cNvPr id="34" name="a1wd770_td33"/>
          <p:cNvSpPr/>
          <p:nvPr/>
        </p:nvSpPr>
        <p:spPr>
          <a:xfrm>
            <a:off x="2377440" y="3575304"/>
            <a:ext cx="33832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wd770_tdt34"/>
          <p:cNvSpPr txBox="1"/>
          <p:nvPr/>
        </p:nvSpPr>
        <p:spPr>
          <a:xfrm>
            <a:off x="2450592" y="3575304"/>
            <a:ext cx="3273552" cy="347472"/>
          </a:xfrm>
          <a:prstGeom prst="rect">
            <a:avLst/>
          </a:prstGeom>
          <a:noFill/>
        </p:spPr>
        <p:txBody>
          <a:bodyPr wrap="square" lIns="0" tIns="0" rIns="0" bIns="0" anchor="ctr">
            <a:spAutoFit/>
          </a:bodyPr>
          <a:lstStyle/>
          <a:p>
            <a:pPr algn="l"/>
            <a:r>
              <a:rPr sz="1050" b="0">
                <a:solidFill>
                  <a:srgbClr val="334155"/>
                </a:solidFill>
                <a:latin typeface="Calibri"/>
              </a:rPr>
              <a:t>Correctness over related data</a:t>
            </a:r>
          </a:p>
        </p:txBody>
      </p:sp>
      <p:sp>
        <p:nvSpPr>
          <p:cNvPr id="36" name="a1f_th35"/>
          <p:cNvSpPr/>
          <p:nvPr/>
        </p:nvSpPr>
        <p:spPr>
          <a:xfrm>
            <a:off x="5760720" y="1143000"/>
            <a:ext cx="2926080" cy="34747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f_tht36"/>
          <p:cNvSpPr txBox="1"/>
          <p:nvPr/>
        </p:nvSpPr>
        <p:spPr>
          <a:xfrm>
            <a:off x="5833872" y="1143000"/>
            <a:ext cx="2816352" cy="347472"/>
          </a:xfrm>
          <a:prstGeom prst="rect">
            <a:avLst/>
          </a:prstGeom>
          <a:noFill/>
        </p:spPr>
        <p:txBody>
          <a:bodyPr wrap="square" lIns="0" tIns="0" rIns="0" bIns="0" anchor="ctr">
            <a:spAutoFit/>
          </a:bodyPr>
          <a:lstStyle/>
          <a:p>
            <a:pPr algn="l"/>
            <a:r>
              <a:rPr sz="1050" b="1">
                <a:solidFill>
                  <a:srgbClr val="FFFFFF"/>
                </a:solidFill>
                <a:latin typeface="Calibri"/>
              </a:rPr>
              <a:t>NoSQL (typical)</a:t>
            </a:r>
          </a:p>
        </p:txBody>
      </p:sp>
      <p:sp>
        <p:nvSpPr>
          <p:cNvPr id="38" name="a1wd110_td37"/>
          <p:cNvSpPr/>
          <p:nvPr/>
        </p:nvSpPr>
        <p:spPr>
          <a:xfrm>
            <a:off x="5760720" y="1490472"/>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1wd110_tdt38"/>
          <p:cNvSpPr txBox="1"/>
          <p:nvPr/>
        </p:nvSpPr>
        <p:spPr>
          <a:xfrm>
            <a:off x="5833872" y="1490472"/>
            <a:ext cx="2816352" cy="347472"/>
          </a:xfrm>
          <a:prstGeom prst="rect">
            <a:avLst/>
          </a:prstGeom>
          <a:noFill/>
        </p:spPr>
        <p:txBody>
          <a:bodyPr wrap="square" lIns="0" tIns="0" rIns="0" bIns="0" anchor="ctr">
            <a:spAutoFit/>
          </a:bodyPr>
          <a:lstStyle/>
          <a:p>
            <a:pPr algn="l"/>
            <a:r>
              <a:rPr sz="1050" b="0">
                <a:solidFill>
                  <a:srgbClr val="334155"/>
                </a:solidFill>
                <a:latin typeface="Calibri"/>
              </a:rPr>
              <a:t>Implicit, enforced by your code</a:t>
            </a:r>
          </a:p>
        </p:txBody>
      </p:sp>
      <p:sp>
        <p:nvSpPr>
          <p:cNvPr id="40" name="a1wd220_td39"/>
          <p:cNvSpPr/>
          <p:nvPr/>
        </p:nvSpPr>
        <p:spPr>
          <a:xfrm>
            <a:off x="5760720" y="1837943"/>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1wd220_tdt40"/>
          <p:cNvSpPr txBox="1"/>
          <p:nvPr/>
        </p:nvSpPr>
        <p:spPr>
          <a:xfrm>
            <a:off x="5833872" y="1837943"/>
            <a:ext cx="2816352" cy="347472"/>
          </a:xfrm>
          <a:prstGeom prst="rect">
            <a:avLst/>
          </a:prstGeom>
          <a:noFill/>
        </p:spPr>
        <p:txBody>
          <a:bodyPr wrap="square" lIns="0" tIns="0" rIns="0" bIns="0" anchor="ctr">
            <a:spAutoFit/>
          </a:bodyPr>
          <a:lstStyle/>
          <a:p>
            <a:pPr algn="l"/>
            <a:r>
              <a:rPr sz="1050" b="0">
                <a:solidFill>
                  <a:srgbClr val="334155"/>
                </a:solidFill>
                <a:latin typeface="Calibri"/>
              </a:rPr>
              <a:t>Horizontal by design</a:t>
            </a:r>
          </a:p>
        </p:txBody>
      </p:sp>
      <p:sp>
        <p:nvSpPr>
          <p:cNvPr id="42" name="a1wd330_td41"/>
          <p:cNvSpPr/>
          <p:nvPr/>
        </p:nvSpPr>
        <p:spPr>
          <a:xfrm>
            <a:off x="5760720" y="2185416"/>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wd330_tdt42"/>
          <p:cNvSpPr txBox="1"/>
          <p:nvPr/>
        </p:nvSpPr>
        <p:spPr>
          <a:xfrm>
            <a:off x="5833872" y="2185416"/>
            <a:ext cx="2816352" cy="347472"/>
          </a:xfrm>
          <a:prstGeom prst="rect">
            <a:avLst/>
          </a:prstGeom>
          <a:noFill/>
        </p:spPr>
        <p:txBody>
          <a:bodyPr wrap="square" lIns="0" tIns="0" rIns="0" bIns="0" anchor="ctr">
            <a:spAutoFit/>
          </a:bodyPr>
          <a:lstStyle/>
          <a:p>
            <a:pPr algn="l"/>
            <a:r>
              <a:rPr sz="1050" b="0">
                <a:solidFill>
                  <a:srgbClr val="334155"/>
                </a:solidFill>
                <a:latin typeface="Calibri"/>
              </a:rPr>
              <a:t>Usually per record; some now offer ACID</a:t>
            </a:r>
          </a:p>
        </p:txBody>
      </p:sp>
      <p:sp>
        <p:nvSpPr>
          <p:cNvPr id="44" name="a1wd440_td43"/>
          <p:cNvSpPr/>
          <p:nvPr/>
        </p:nvSpPr>
        <p:spPr>
          <a:xfrm>
            <a:off x="5760720" y="2532888"/>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1wd440_tdt44"/>
          <p:cNvSpPr txBox="1"/>
          <p:nvPr/>
        </p:nvSpPr>
        <p:spPr>
          <a:xfrm>
            <a:off x="5833872" y="2532888"/>
            <a:ext cx="2816352" cy="347472"/>
          </a:xfrm>
          <a:prstGeom prst="rect">
            <a:avLst/>
          </a:prstGeom>
          <a:noFill/>
        </p:spPr>
        <p:txBody>
          <a:bodyPr wrap="square" lIns="0" tIns="0" rIns="0" bIns="0" anchor="ctr">
            <a:spAutoFit/>
          </a:bodyPr>
          <a:lstStyle/>
          <a:p>
            <a:pPr algn="l"/>
            <a:r>
              <a:rPr sz="1050" b="0">
                <a:solidFill>
                  <a:srgbClr val="334155"/>
                </a:solidFill>
                <a:latin typeface="Calibri"/>
              </a:rPr>
              <a:t>Rare - denormalise instead</a:t>
            </a:r>
          </a:p>
        </p:txBody>
      </p:sp>
      <p:sp>
        <p:nvSpPr>
          <p:cNvPr id="46" name="a1wd550_td45"/>
          <p:cNvSpPr/>
          <p:nvPr/>
        </p:nvSpPr>
        <p:spPr>
          <a:xfrm>
            <a:off x="5760720" y="2880360"/>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1wd550_tdt46"/>
          <p:cNvSpPr txBox="1"/>
          <p:nvPr/>
        </p:nvSpPr>
        <p:spPr>
          <a:xfrm>
            <a:off x="5833872" y="2880360"/>
            <a:ext cx="2816352" cy="347472"/>
          </a:xfrm>
          <a:prstGeom prst="rect">
            <a:avLst/>
          </a:prstGeom>
          <a:noFill/>
        </p:spPr>
        <p:txBody>
          <a:bodyPr wrap="square" lIns="0" tIns="0" rIns="0" bIns="0" anchor="ctr">
            <a:spAutoFit/>
          </a:bodyPr>
          <a:lstStyle/>
          <a:p>
            <a:pPr algn="l"/>
            <a:r>
              <a:rPr sz="1050" b="0">
                <a:solidFill>
                  <a:srgbClr val="334155"/>
                </a:solidFill>
                <a:latin typeface="Calibri"/>
              </a:rPr>
              <a:t>Per-product APIs (some SQL-like)</a:t>
            </a:r>
          </a:p>
        </p:txBody>
      </p:sp>
      <p:sp>
        <p:nvSpPr>
          <p:cNvPr id="48" name="a1wd660_td47"/>
          <p:cNvSpPr/>
          <p:nvPr/>
        </p:nvSpPr>
        <p:spPr>
          <a:xfrm>
            <a:off x="5760720" y="3227832"/>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wd660_tdt48"/>
          <p:cNvSpPr txBox="1"/>
          <p:nvPr/>
        </p:nvSpPr>
        <p:spPr>
          <a:xfrm>
            <a:off x="5833872" y="3227832"/>
            <a:ext cx="2816352" cy="347472"/>
          </a:xfrm>
          <a:prstGeom prst="rect">
            <a:avLst/>
          </a:prstGeom>
          <a:noFill/>
        </p:spPr>
        <p:txBody>
          <a:bodyPr wrap="square" lIns="0" tIns="0" rIns="0" bIns="0" anchor="ctr">
            <a:spAutoFit/>
          </a:bodyPr>
          <a:lstStyle/>
          <a:p>
            <a:pPr algn="l"/>
            <a:r>
              <a:rPr sz="1050" b="0">
                <a:solidFill>
                  <a:srgbClr val="334155"/>
                </a:solidFill>
                <a:latin typeface="Calibri"/>
              </a:rPr>
              <a:t>Tunable; often eventual</a:t>
            </a:r>
          </a:p>
        </p:txBody>
      </p:sp>
      <p:sp>
        <p:nvSpPr>
          <p:cNvPr id="50" name="a1wd770_td49"/>
          <p:cNvSpPr/>
          <p:nvPr/>
        </p:nvSpPr>
        <p:spPr>
          <a:xfrm>
            <a:off x="5760720" y="3575304"/>
            <a:ext cx="2926080" cy="34747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wd770_tdt50"/>
          <p:cNvSpPr txBox="1"/>
          <p:nvPr/>
        </p:nvSpPr>
        <p:spPr>
          <a:xfrm>
            <a:off x="5833872" y="3575304"/>
            <a:ext cx="2816352" cy="347472"/>
          </a:xfrm>
          <a:prstGeom prst="rect">
            <a:avLst/>
          </a:prstGeom>
          <a:noFill/>
        </p:spPr>
        <p:txBody>
          <a:bodyPr wrap="square" lIns="0" tIns="0" rIns="0" bIns="0" anchor="ctr">
            <a:spAutoFit/>
          </a:bodyPr>
          <a:lstStyle/>
          <a:p>
            <a:pPr algn="l"/>
            <a:r>
              <a:rPr sz="1050" b="0">
                <a:solidFill>
                  <a:srgbClr val="334155"/>
                </a:solidFill>
                <a:latin typeface="Calibri"/>
              </a:rPr>
              <a:t>Scale and speed over one access pattern</a:t>
            </a:r>
          </a:p>
        </p:txBody>
      </p:sp>
      <p:sp>
        <p:nvSpPr>
          <p:cNvPr id="52" name="ft51"/>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53" name="ft52"/>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5" presetID="22" presetClass="entr" presetSubtype="8" fill="hold" grpId="0" nodeType="withEffect">
                                  <p:stCondLst>
                                    <p:cond delay="11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par>
                                <p:cTn id="28" presetID="22" presetClass="entr" presetSubtype="8" fill="hold" grpId="0" nodeType="withEffect">
                                  <p:stCondLst>
                                    <p:cond delay="11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par>
                                <p:cTn id="31" presetID="22" presetClass="entr" presetSubtype="8" fill="hold" grpId="0" nodeType="withEffect">
                                  <p:stCondLst>
                                    <p:cond delay="11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par>
                                <p:cTn id="34" presetID="22" presetClass="entr" presetSubtype="8" fill="hold" grpId="0" nodeType="withEffect">
                                  <p:stCondLst>
                                    <p:cond delay="11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par>
                                <p:cTn id="37" presetID="22" presetClass="entr" presetSubtype="8" fill="hold" grpId="0" nodeType="withEffect">
                                  <p:stCondLst>
                                    <p:cond delay="110"/>
                                  </p:stCondLst>
                                  <p:childTnLst>
                                    <p:set>
                                      <p:cBhvr>
                                        <p:cTn id="35" dur="1" fill="hold">
                                          <p:stCondLst>
                                            <p:cond delay="0"/>
                                          </p:stCondLst>
                                        </p:cTn>
                                        <p:tgtEl>
                                          <p:spTgt spid="38"/>
                                        </p:tgtEl>
                                        <p:attrNameLst>
                                          <p:attrName>style.visibility</p:attrName>
                                        </p:attrNameLst>
                                      </p:cBhvr>
                                      <p:to>
                                        <p:strVal val="visible"/>
                                      </p:to>
                                    </p:set>
                                    <p:animEffect transition="in" filter="wipe(left)">
                                      <p:cBhvr>
                                        <p:cTn id="36" dur="500"/>
                                        <p:tgtEl>
                                          <p:spTgt spid="38"/>
                                        </p:tgtEl>
                                      </p:cBhvr>
                                    </p:animEffect>
                                  </p:childTnLst>
                                </p:cTn>
                              </p:par>
                              <p:par>
                                <p:cTn id="40" presetID="22" presetClass="entr" presetSubtype="8" fill="hold" grpId="0" nodeType="withEffect">
                                  <p:stCondLst>
                                    <p:cond delay="11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par>
                                <p:cTn id="43" presetID="22" presetClass="entr" presetSubtype="8" fill="hold" grpId="0" nodeType="withEffect">
                                  <p:stCondLst>
                                    <p:cond delay="22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par>
                                <p:cTn id="46" presetID="22" presetClass="entr" presetSubtype="8" fill="hold" grpId="0" nodeType="withEffect">
                                  <p:stCondLst>
                                    <p:cond delay="22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par>
                                <p:cTn id="49" presetID="22" presetClass="entr" presetSubtype="8" fill="hold" grpId="0" nodeType="withEffect">
                                  <p:stCondLst>
                                    <p:cond delay="220"/>
                                  </p:stCondLst>
                                  <p:childTnLst>
                                    <p:set>
                                      <p:cBhvr>
                                        <p:cTn id="47" dur="1" fill="hold">
                                          <p:stCondLst>
                                            <p:cond delay="0"/>
                                          </p:stCondLst>
                                        </p:cTn>
                                        <p:tgtEl>
                                          <p:spTgt spid="24"/>
                                        </p:tgtEl>
                                        <p:attrNameLst>
                                          <p:attrName>style.visibility</p:attrName>
                                        </p:attrNameLst>
                                      </p:cBhvr>
                                      <p:to>
                                        <p:strVal val="visible"/>
                                      </p:to>
                                    </p:set>
                                    <p:animEffect transition="in" filter="wipe(left)">
                                      <p:cBhvr>
                                        <p:cTn id="48" dur="500"/>
                                        <p:tgtEl>
                                          <p:spTgt spid="24"/>
                                        </p:tgtEl>
                                      </p:cBhvr>
                                    </p:animEffect>
                                  </p:childTnLst>
                                </p:cTn>
                              </p:par>
                              <p:par>
                                <p:cTn id="52" presetID="22" presetClass="entr" presetSubtype="8" fill="hold" grpId="0" nodeType="withEffect">
                                  <p:stCondLst>
                                    <p:cond delay="22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par>
                                <p:cTn id="55" presetID="22" presetClass="entr" presetSubtype="8" fill="hold" grpId="0" nodeType="withEffect">
                                  <p:stCondLst>
                                    <p:cond delay="22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500"/>
                                        <p:tgtEl>
                                          <p:spTgt spid="40"/>
                                        </p:tgtEl>
                                      </p:cBhvr>
                                    </p:animEffect>
                                  </p:childTnLst>
                                </p:cTn>
                              </p:par>
                              <p:par>
                                <p:cTn id="58" presetID="22" presetClass="entr" presetSubtype="8" fill="hold" grpId="0" nodeType="withEffect">
                                  <p:stCondLst>
                                    <p:cond delay="220"/>
                                  </p:stCondLst>
                                  <p:childTnLst>
                                    <p:set>
                                      <p:cBhvr>
                                        <p:cTn id="56" dur="1" fill="hold">
                                          <p:stCondLst>
                                            <p:cond delay="0"/>
                                          </p:stCondLst>
                                        </p:cTn>
                                        <p:tgtEl>
                                          <p:spTgt spid="41"/>
                                        </p:tgtEl>
                                        <p:attrNameLst>
                                          <p:attrName>style.visibility</p:attrName>
                                        </p:attrNameLst>
                                      </p:cBhvr>
                                      <p:to>
                                        <p:strVal val="visible"/>
                                      </p:to>
                                    </p:set>
                                    <p:animEffect transition="in" filter="wipe(left)">
                                      <p:cBhvr>
                                        <p:cTn id="57" dur="500"/>
                                        <p:tgtEl>
                                          <p:spTgt spid="41"/>
                                        </p:tgtEl>
                                      </p:cBhvr>
                                    </p:animEffect>
                                  </p:childTnLst>
                                </p:cTn>
                              </p:par>
                              <p:par>
                                <p:cTn id="61" presetID="22" presetClass="entr" presetSubtype="8" fill="hold" grpId="0" nodeType="withEffect">
                                  <p:stCondLst>
                                    <p:cond delay="33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500"/>
                                        <p:tgtEl>
                                          <p:spTgt spid="10"/>
                                        </p:tgtEl>
                                      </p:cBhvr>
                                    </p:animEffect>
                                  </p:childTnLst>
                                </p:cTn>
                              </p:par>
                              <p:par>
                                <p:cTn id="64" presetID="22" presetClass="entr" presetSubtype="8" fill="hold" grpId="0" nodeType="withEffect">
                                  <p:stCondLst>
                                    <p:cond delay="33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500"/>
                                        <p:tgtEl>
                                          <p:spTgt spid="11"/>
                                        </p:tgtEl>
                                      </p:cBhvr>
                                    </p:animEffect>
                                  </p:childTnLst>
                                </p:cTn>
                              </p:par>
                              <p:par>
                                <p:cTn id="67" presetID="22" presetClass="entr" presetSubtype="8" fill="hold" grpId="0" nodeType="withEffect">
                                  <p:stCondLst>
                                    <p:cond delay="33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500"/>
                                        <p:tgtEl>
                                          <p:spTgt spid="26"/>
                                        </p:tgtEl>
                                      </p:cBhvr>
                                    </p:animEffect>
                                  </p:childTnLst>
                                </p:cTn>
                              </p:par>
                              <p:par>
                                <p:cTn id="70" presetID="22" presetClass="entr" presetSubtype="8" fill="hold" grpId="0" nodeType="withEffect">
                                  <p:stCondLst>
                                    <p:cond delay="330"/>
                                  </p:stCondLst>
                                  <p:childTnLst>
                                    <p:set>
                                      <p:cBhvr>
                                        <p:cTn id="68" dur="1" fill="hold">
                                          <p:stCondLst>
                                            <p:cond delay="0"/>
                                          </p:stCondLst>
                                        </p:cTn>
                                        <p:tgtEl>
                                          <p:spTgt spid="27"/>
                                        </p:tgtEl>
                                        <p:attrNameLst>
                                          <p:attrName>style.visibility</p:attrName>
                                        </p:attrNameLst>
                                      </p:cBhvr>
                                      <p:to>
                                        <p:strVal val="visible"/>
                                      </p:to>
                                    </p:set>
                                    <p:animEffect transition="in" filter="wipe(left)">
                                      <p:cBhvr>
                                        <p:cTn id="69" dur="500"/>
                                        <p:tgtEl>
                                          <p:spTgt spid="27"/>
                                        </p:tgtEl>
                                      </p:cBhvr>
                                    </p:animEffect>
                                  </p:childTnLst>
                                </p:cTn>
                              </p:par>
                              <p:par>
                                <p:cTn id="73" presetID="22" presetClass="entr" presetSubtype="8" fill="hold" grpId="0" nodeType="withEffect">
                                  <p:stCondLst>
                                    <p:cond delay="330"/>
                                  </p:stCondLst>
                                  <p:childTnLst>
                                    <p:set>
                                      <p:cBhvr>
                                        <p:cTn id="71" dur="1" fill="hold">
                                          <p:stCondLst>
                                            <p:cond delay="0"/>
                                          </p:stCondLst>
                                        </p:cTn>
                                        <p:tgtEl>
                                          <p:spTgt spid="42"/>
                                        </p:tgtEl>
                                        <p:attrNameLst>
                                          <p:attrName>style.visibility</p:attrName>
                                        </p:attrNameLst>
                                      </p:cBhvr>
                                      <p:to>
                                        <p:strVal val="visible"/>
                                      </p:to>
                                    </p:set>
                                    <p:animEffect transition="in" filter="wipe(left)">
                                      <p:cBhvr>
                                        <p:cTn id="72" dur="500"/>
                                        <p:tgtEl>
                                          <p:spTgt spid="42"/>
                                        </p:tgtEl>
                                      </p:cBhvr>
                                    </p:animEffect>
                                  </p:childTnLst>
                                </p:cTn>
                              </p:par>
                              <p:par>
                                <p:cTn id="76" presetID="22" presetClass="entr" presetSubtype="8" fill="hold" grpId="0" nodeType="withEffect">
                                  <p:stCondLst>
                                    <p:cond delay="330"/>
                                  </p:stCondLst>
                                  <p:childTnLst>
                                    <p:set>
                                      <p:cBhvr>
                                        <p:cTn id="74" dur="1" fill="hold">
                                          <p:stCondLst>
                                            <p:cond delay="0"/>
                                          </p:stCondLst>
                                        </p:cTn>
                                        <p:tgtEl>
                                          <p:spTgt spid="43"/>
                                        </p:tgtEl>
                                        <p:attrNameLst>
                                          <p:attrName>style.visibility</p:attrName>
                                        </p:attrNameLst>
                                      </p:cBhvr>
                                      <p:to>
                                        <p:strVal val="visible"/>
                                      </p:to>
                                    </p:set>
                                    <p:animEffect transition="in" filter="wipe(left)">
                                      <p:cBhvr>
                                        <p:cTn id="75" dur="500"/>
                                        <p:tgtEl>
                                          <p:spTgt spid="43"/>
                                        </p:tgtEl>
                                      </p:cBhvr>
                                    </p:animEffect>
                                  </p:childTnLst>
                                </p:cTn>
                              </p:par>
                              <p:par>
                                <p:cTn id="79" presetID="22" presetClass="entr" presetSubtype="8" fill="hold" grpId="0" nodeType="withEffect">
                                  <p:stCondLst>
                                    <p:cond delay="440"/>
                                  </p:stCondLst>
                                  <p:childTnLst>
                                    <p:set>
                                      <p:cBhvr>
                                        <p:cTn id="77" dur="1" fill="hold">
                                          <p:stCondLst>
                                            <p:cond delay="0"/>
                                          </p:stCondLst>
                                        </p:cTn>
                                        <p:tgtEl>
                                          <p:spTgt spid="12"/>
                                        </p:tgtEl>
                                        <p:attrNameLst>
                                          <p:attrName>style.visibility</p:attrName>
                                        </p:attrNameLst>
                                      </p:cBhvr>
                                      <p:to>
                                        <p:strVal val="visible"/>
                                      </p:to>
                                    </p:set>
                                    <p:animEffect transition="in" filter="wipe(left)">
                                      <p:cBhvr>
                                        <p:cTn id="78" dur="500"/>
                                        <p:tgtEl>
                                          <p:spTgt spid="12"/>
                                        </p:tgtEl>
                                      </p:cBhvr>
                                    </p:animEffect>
                                  </p:childTnLst>
                                </p:cTn>
                              </p:par>
                              <p:par>
                                <p:cTn id="82" presetID="22" presetClass="entr" presetSubtype="8" fill="hold" grpId="0" nodeType="withEffect">
                                  <p:stCondLst>
                                    <p:cond delay="440"/>
                                  </p:stCondLst>
                                  <p:childTnLst>
                                    <p:set>
                                      <p:cBhvr>
                                        <p:cTn id="80" dur="1" fill="hold">
                                          <p:stCondLst>
                                            <p:cond delay="0"/>
                                          </p:stCondLst>
                                        </p:cTn>
                                        <p:tgtEl>
                                          <p:spTgt spid="13"/>
                                        </p:tgtEl>
                                        <p:attrNameLst>
                                          <p:attrName>style.visibility</p:attrName>
                                        </p:attrNameLst>
                                      </p:cBhvr>
                                      <p:to>
                                        <p:strVal val="visible"/>
                                      </p:to>
                                    </p:set>
                                    <p:animEffect transition="in" filter="wipe(left)">
                                      <p:cBhvr>
                                        <p:cTn id="81" dur="500"/>
                                        <p:tgtEl>
                                          <p:spTgt spid="13"/>
                                        </p:tgtEl>
                                      </p:cBhvr>
                                    </p:animEffect>
                                  </p:childTnLst>
                                </p:cTn>
                              </p:par>
                              <p:par>
                                <p:cTn id="85" presetID="22" presetClass="entr" presetSubtype="8" fill="hold" grpId="0" nodeType="withEffect">
                                  <p:stCondLst>
                                    <p:cond delay="44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500"/>
                                        <p:tgtEl>
                                          <p:spTgt spid="28"/>
                                        </p:tgtEl>
                                      </p:cBhvr>
                                    </p:animEffect>
                                  </p:childTnLst>
                                </p:cTn>
                              </p:par>
                              <p:par>
                                <p:cTn id="88" presetID="22" presetClass="entr" presetSubtype="8" fill="hold" grpId="0" nodeType="withEffect">
                                  <p:stCondLst>
                                    <p:cond delay="44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500"/>
                                        <p:tgtEl>
                                          <p:spTgt spid="29"/>
                                        </p:tgtEl>
                                      </p:cBhvr>
                                    </p:animEffect>
                                  </p:childTnLst>
                                </p:cTn>
                              </p:par>
                              <p:par>
                                <p:cTn id="91" presetID="22" presetClass="entr" presetSubtype="8" fill="hold" grpId="0" nodeType="withEffect">
                                  <p:stCondLst>
                                    <p:cond delay="440"/>
                                  </p:stCondLst>
                                  <p:childTnLst>
                                    <p:set>
                                      <p:cBhvr>
                                        <p:cTn id="89" dur="1" fill="hold">
                                          <p:stCondLst>
                                            <p:cond delay="0"/>
                                          </p:stCondLst>
                                        </p:cTn>
                                        <p:tgtEl>
                                          <p:spTgt spid="44"/>
                                        </p:tgtEl>
                                        <p:attrNameLst>
                                          <p:attrName>style.visibility</p:attrName>
                                        </p:attrNameLst>
                                      </p:cBhvr>
                                      <p:to>
                                        <p:strVal val="visible"/>
                                      </p:to>
                                    </p:set>
                                    <p:animEffect transition="in" filter="wipe(left)">
                                      <p:cBhvr>
                                        <p:cTn id="90" dur="500"/>
                                        <p:tgtEl>
                                          <p:spTgt spid="44"/>
                                        </p:tgtEl>
                                      </p:cBhvr>
                                    </p:animEffect>
                                  </p:childTnLst>
                                </p:cTn>
                              </p:par>
                              <p:par>
                                <p:cTn id="94" presetID="22" presetClass="entr" presetSubtype="8" fill="hold" grpId="0" nodeType="withEffect">
                                  <p:stCondLst>
                                    <p:cond delay="440"/>
                                  </p:stCondLst>
                                  <p:childTnLst>
                                    <p:set>
                                      <p:cBhvr>
                                        <p:cTn id="92" dur="1" fill="hold">
                                          <p:stCondLst>
                                            <p:cond delay="0"/>
                                          </p:stCondLst>
                                        </p:cTn>
                                        <p:tgtEl>
                                          <p:spTgt spid="45"/>
                                        </p:tgtEl>
                                        <p:attrNameLst>
                                          <p:attrName>style.visibility</p:attrName>
                                        </p:attrNameLst>
                                      </p:cBhvr>
                                      <p:to>
                                        <p:strVal val="visible"/>
                                      </p:to>
                                    </p:set>
                                    <p:animEffect transition="in" filter="wipe(left)">
                                      <p:cBhvr>
                                        <p:cTn id="93" dur="500"/>
                                        <p:tgtEl>
                                          <p:spTgt spid="45"/>
                                        </p:tgtEl>
                                      </p:cBhvr>
                                    </p:animEffect>
                                  </p:childTnLst>
                                </p:cTn>
                              </p:par>
                              <p:par>
                                <p:cTn id="97" presetID="22" presetClass="entr" presetSubtype="8" fill="hold" grpId="0" nodeType="withEffect">
                                  <p:stCondLst>
                                    <p:cond delay="550"/>
                                  </p:stCondLst>
                                  <p:childTnLst>
                                    <p:set>
                                      <p:cBhvr>
                                        <p:cTn id="95" dur="1" fill="hold">
                                          <p:stCondLst>
                                            <p:cond delay="0"/>
                                          </p:stCondLst>
                                        </p:cTn>
                                        <p:tgtEl>
                                          <p:spTgt spid="14"/>
                                        </p:tgtEl>
                                        <p:attrNameLst>
                                          <p:attrName>style.visibility</p:attrName>
                                        </p:attrNameLst>
                                      </p:cBhvr>
                                      <p:to>
                                        <p:strVal val="visible"/>
                                      </p:to>
                                    </p:set>
                                    <p:animEffect transition="in" filter="wipe(left)">
                                      <p:cBhvr>
                                        <p:cTn id="96" dur="500"/>
                                        <p:tgtEl>
                                          <p:spTgt spid="14"/>
                                        </p:tgtEl>
                                      </p:cBhvr>
                                    </p:animEffect>
                                  </p:childTnLst>
                                </p:cTn>
                              </p:par>
                              <p:par>
                                <p:cTn id="100" presetID="22" presetClass="entr" presetSubtype="8" fill="hold" grpId="0" nodeType="withEffect">
                                  <p:stCondLst>
                                    <p:cond delay="550"/>
                                  </p:stCondLst>
                                  <p:childTnLst>
                                    <p:set>
                                      <p:cBhvr>
                                        <p:cTn id="98" dur="1" fill="hold">
                                          <p:stCondLst>
                                            <p:cond delay="0"/>
                                          </p:stCondLst>
                                        </p:cTn>
                                        <p:tgtEl>
                                          <p:spTgt spid="15"/>
                                        </p:tgtEl>
                                        <p:attrNameLst>
                                          <p:attrName>style.visibility</p:attrName>
                                        </p:attrNameLst>
                                      </p:cBhvr>
                                      <p:to>
                                        <p:strVal val="visible"/>
                                      </p:to>
                                    </p:set>
                                    <p:animEffect transition="in" filter="wipe(left)">
                                      <p:cBhvr>
                                        <p:cTn id="99" dur="500"/>
                                        <p:tgtEl>
                                          <p:spTgt spid="15"/>
                                        </p:tgtEl>
                                      </p:cBhvr>
                                    </p:animEffect>
                                  </p:childTnLst>
                                </p:cTn>
                              </p:par>
                              <p:par>
                                <p:cTn id="103" presetID="22" presetClass="entr" presetSubtype="8" fill="hold" grpId="0" nodeType="withEffect">
                                  <p:stCondLst>
                                    <p:cond delay="550"/>
                                  </p:stCondLst>
                                  <p:childTnLst>
                                    <p:set>
                                      <p:cBhvr>
                                        <p:cTn id="101" dur="1" fill="hold">
                                          <p:stCondLst>
                                            <p:cond delay="0"/>
                                          </p:stCondLst>
                                        </p:cTn>
                                        <p:tgtEl>
                                          <p:spTgt spid="30"/>
                                        </p:tgtEl>
                                        <p:attrNameLst>
                                          <p:attrName>style.visibility</p:attrName>
                                        </p:attrNameLst>
                                      </p:cBhvr>
                                      <p:to>
                                        <p:strVal val="visible"/>
                                      </p:to>
                                    </p:set>
                                    <p:animEffect transition="in" filter="wipe(left)">
                                      <p:cBhvr>
                                        <p:cTn id="102" dur="500"/>
                                        <p:tgtEl>
                                          <p:spTgt spid="30"/>
                                        </p:tgtEl>
                                      </p:cBhvr>
                                    </p:animEffect>
                                  </p:childTnLst>
                                </p:cTn>
                              </p:par>
                              <p:par>
                                <p:cTn id="106" presetID="22" presetClass="entr" presetSubtype="8" fill="hold" grpId="0" nodeType="withEffect">
                                  <p:stCondLst>
                                    <p:cond delay="550"/>
                                  </p:stCondLst>
                                  <p:childTnLst>
                                    <p:set>
                                      <p:cBhvr>
                                        <p:cTn id="104" dur="1" fill="hold">
                                          <p:stCondLst>
                                            <p:cond delay="0"/>
                                          </p:stCondLst>
                                        </p:cTn>
                                        <p:tgtEl>
                                          <p:spTgt spid="31"/>
                                        </p:tgtEl>
                                        <p:attrNameLst>
                                          <p:attrName>style.visibility</p:attrName>
                                        </p:attrNameLst>
                                      </p:cBhvr>
                                      <p:to>
                                        <p:strVal val="visible"/>
                                      </p:to>
                                    </p:set>
                                    <p:animEffect transition="in" filter="wipe(left)">
                                      <p:cBhvr>
                                        <p:cTn id="105" dur="500"/>
                                        <p:tgtEl>
                                          <p:spTgt spid="31"/>
                                        </p:tgtEl>
                                      </p:cBhvr>
                                    </p:animEffect>
                                  </p:childTnLst>
                                </p:cTn>
                              </p:par>
                              <p:par>
                                <p:cTn id="109" presetID="22" presetClass="entr" presetSubtype="8" fill="hold" grpId="0" nodeType="withEffect">
                                  <p:stCondLst>
                                    <p:cond delay="550"/>
                                  </p:stCondLst>
                                  <p:childTnLst>
                                    <p:set>
                                      <p:cBhvr>
                                        <p:cTn id="107" dur="1" fill="hold">
                                          <p:stCondLst>
                                            <p:cond delay="0"/>
                                          </p:stCondLst>
                                        </p:cTn>
                                        <p:tgtEl>
                                          <p:spTgt spid="46"/>
                                        </p:tgtEl>
                                        <p:attrNameLst>
                                          <p:attrName>style.visibility</p:attrName>
                                        </p:attrNameLst>
                                      </p:cBhvr>
                                      <p:to>
                                        <p:strVal val="visible"/>
                                      </p:to>
                                    </p:set>
                                    <p:animEffect transition="in" filter="wipe(left)">
                                      <p:cBhvr>
                                        <p:cTn id="108" dur="500"/>
                                        <p:tgtEl>
                                          <p:spTgt spid="46"/>
                                        </p:tgtEl>
                                      </p:cBhvr>
                                    </p:animEffect>
                                  </p:childTnLst>
                                </p:cTn>
                              </p:par>
                              <p:par>
                                <p:cTn id="112" presetID="22" presetClass="entr" presetSubtype="8" fill="hold" grpId="0" nodeType="withEffect">
                                  <p:stCondLst>
                                    <p:cond delay="550"/>
                                  </p:stCondLst>
                                  <p:childTnLst>
                                    <p:set>
                                      <p:cBhvr>
                                        <p:cTn id="110" dur="1" fill="hold">
                                          <p:stCondLst>
                                            <p:cond delay="0"/>
                                          </p:stCondLst>
                                        </p:cTn>
                                        <p:tgtEl>
                                          <p:spTgt spid="47"/>
                                        </p:tgtEl>
                                        <p:attrNameLst>
                                          <p:attrName>style.visibility</p:attrName>
                                        </p:attrNameLst>
                                      </p:cBhvr>
                                      <p:to>
                                        <p:strVal val="visible"/>
                                      </p:to>
                                    </p:set>
                                    <p:animEffect transition="in" filter="wipe(left)">
                                      <p:cBhvr>
                                        <p:cTn id="111" dur="500"/>
                                        <p:tgtEl>
                                          <p:spTgt spid="47"/>
                                        </p:tgtEl>
                                      </p:cBhvr>
                                    </p:animEffect>
                                  </p:childTnLst>
                                </p:cTn>
                              </p:par>
                              <p:par>
                                <p:cTn id="115" presetID="22" presetClass="entr" presetSubtype="8" fill="hold" grpId="0" nodeType="withEffect">
                                  <p:stCondLst>
                                    <p:cond delay="660"/>
                                  </p:stCondLst>
                                  <p:childTnLst>
                                    <p:set>
                                      <p:cBhvr>
                                        <p:cTn id="113" dur="1" fill="hold">
                                          <p:stCondLst>
                                            <p:cond delay="0"/>
                                          </p:stCondLst>
                                        </p:cTn>
                                        <p:tgtEl>
                                          <p:spTgt spid="16"/>
                                        </p:tgtEl>
                                        <p:attrNameLst>
                                          <p:attrName>style.visibility</p:attrName>
                                        </p:attrNameLst>
                                      </p:cBhvr>
                                      <p:to>
                                        <p:strVal val="visible"/>
                                      </p:to>
                                    </p:set>
                                    <p:animEffect transition="in" filter="wipe(left)">
                                      <p:cBhvr>
                                        <p:cTn id="114" dur="500"/>
                                        <p:tgtEl>
                                          <p:spTgt spid="16"/>
                                        </p:tgtEl>
                                      </p:cBhvr>
                                    </p:animEffect>
                                  </p:childTnLst>
                                </p:cTn>
                              </p:par>
                              <p:par>
                                <p:cTn id="118" presetID="22" presetClass="entr" presetSubtype="8" fill="hold" grpId="0" nodeType="withEffect">
                                  <p:stCondLst>
                                    <p:cond delay="660"/>
                                  </p:stCondLst>
                                  <p:childTnLst>
                                    <p:set>
                                      <p:cBhvr>
                                        <p:cTn id="116" dur="1" fill="hold">
                                          <p:stCondLst>
                                            <p:cond delay="0"/>
                                          </p:stCondLst>
                                        </p:cTn>
                                        <p:tgtEl>
                                          <p:spTgt spid="17"/>
                                        </p:tgtEl>
                                        <p:attrNameLst>
                                          <p:attrName>style.visibility</p:attrName>
                                        </p:attrNameLst>
                                      </p:cBhvr>
                                      <p:to>
                                        <p:strVal val="visible"/>
                                      </p:to>
                                    </p:set>
                                    <p:animEffect transition="in" filter="wipe(left)">
                                      <p:cBhvr>
                                        <p:cTn id="117" dur="500"/>
                                        <p:tgtEl>
                                          <p:spTgt spid="17"/>
                                        </p:tgtEl>
                                      </p:cBhvr>
                                    </p:animEffect>
                                  </p:childTnLst>
                                </p:cTn>
                              </p:par>
                              <p:par>
                                <p:cTn id="121" presetID="22" presetClass="entr" presetSubtype="8" fill="hold" grpId="0" nodeType="withEffect">
                                  <p:stCondLst>
                                    <p:cond delay="660"/>
                                  </p:stCondLst>
                                  <p:childTnLst>
                                    <p:set>
                                      <p:cBhvr>
                                        <p:cTn id="119" dur="1" fill="hold">
                                          <p:stCondLst>
                                            <p:cond delay="0"/>
                                          </p:stCondLst>
                                        </p:cTn>
                                        <p:tgtEl>
                                          <p:spTgt spid="32"/>
                                        </p:tgtEl>
                                        <p:attrNameLst>
                                          <p:attrName>style.visibility</p:attrName>
                                        </p:attrNameLst>
                                      </p:cBhvr>
                                      <p:to>
                                        <p:strVal val="visible"/>
                                      </p:to>
                                    </p:set>
                                    <p:animEffect transition="in" filter="wipe(left)">
                                      <p:cBhvr>
                                        <p:cTn id="120" dur="500"/>
                                        <p:tgtEl>
                                          <p:spTgt spid="32"/>
                                        </p:tgtEl>
                                      </p:cBhvr>
                                    </p:animEffect>
                                  </p:childTnLst>
                                </p:cTn>
                              </p:par>
                              <p:par>
                                <p:cTn id="124" presetID="22" presetClass="entr" presetSubtype="8" fill="hold" grpId="0" nodeType="withEffect">
                                  <p:stCondLst>
                                    <p:cond delay="660"/>
                                  </p:stCondLst>
                                  <p:childTnLst>
                                    <p:set>
                                      <p:cBhvr>
                                        <p:cTn id="122" dur="1" fill="hold">
                                          <p:stCondLst>
                                            <p:cond delay="0"/>
                                          </p:stCondLst>
                                        </p:cTn>
                                        <p:tgtEl>
                                          <p:spTgt spid="33"/>
                                        </p:tgtEl>
                                        <p:attrNameLst>
                                          <p:attrName>style.visibility</p:attrName>
                                        </p:attrNameLst>
                                      </p:cBhvr>
                                      <p:to>
                                        <p:strVal val="visible"/>
                                      </p:to>
                                    </p:set>
                                    <p:animEffect transition="in" filter="wipe(left)">
                                      <p:cBhvr>
                                        <p:cTn id="123" dur="500"/>
                                        <p:tgtEl>
                                          <p:spTgt spid="33"/>
                                        </p:tgtEl>
                                      </p:cBhvr>
                                    </p:animEffect>
                                  </p:childTnLst>
                                </p:cTn>
                              </p:par>
                              <p:par>
                                <p:cTn id="127" presetID="22" presetClass="entr" presetSubtype="8" fill="hold" grpId="0" nodeType="withEffect">
                                  <p:stCondLst>
                                    <p:cond delay="660"/>
                                  </p:stCondLst>
                                  <p:childTnLst>
                                    <p:set>
                                      <p:cBhvr>
                                        <p:cTn id="125" dur="1" fill="hold">
                                          <p:stCondLst>
                                            <p:cond delay="0"/>
                                          </p:stCondLst>
                                        </p:cTn>
                                        <p:tgtEl>
                                          <p:spTgt spid="48"/>
                                        </p:tgtEl>
                                        <p:attrNameLst>
                                          <p:attrName>style.visibility</p:attrName>
                                        </p:attrNameLst>
                                      </p:cBhvr>
                                      <p:to>
                                        <p:strVal val="visible"/>
                                      </p:to>
                                    </p:set>
                                    <p:animEffect transition="in" filter="wipe(left)">
                                      <p:cBhvr>
                                        <p:cTn id="126" dur="500"/>
                                        <p:tgtEl>
                                          <p:spTgt spid="48"/>
                                        </p:tgtEl>
                                      </p:cBhvr>
                                    </p:animEffect>
                                  </p:childTnLst>
                                </p:cTn>
                              </p:par>
                              <p:par>
                                <p:cTn id="130" presetID="22" presetClass="entr" presetSubtype="8" fill="hold" grpId="0" nodeType="withEffect">
                                  <p:stCondLst>
                                    <p:cond delay="660"/>
                                  </p:stCondLst>
                                  <p:childTnLst>
                                    <p:set>
                                      <p:cBhvr>
                                        <p:cTn id="128" dur="1" fill="hold">
                                          <p:stCondLst>
                                            <p:cond delay="0"/>
                                          </p:stCondLst>
                                        </p:cTn>
                                        <p:tgtEl>
                                          <p:spTgt spid="49"/>
                                        </p:tgtEl>
                                        <p:attrNameLst>
                                          <p:attrName>style.visibility</p:attrName>
                                        </p:attrNameLst>
                                      </p:cBhvr>
                                      <p:to>
                                        <p:strVal val="visible"/>
                                      </p:to>
                                    </p:set>
                                    <p:animEffect transition="in" filter="wipe(left)">
                                      <p:cBhvr>
                                        <p:cTn id="129" dur="500"/>
                                        <p:tgtEl>
                                          <p:spTgt spid="49"/>
                                        </p:tgtEl>
                                      </p:cBhvr>
                                    </p:animEffect>
                                  </p:childTnLst>
                                </p:cTn>
                              </p:par>
                              <p:par>
                                <p:cTn id="133" presetID="22" presetClass="entr" presetSubtype="8" fill="hold" grpId="0" nodeType="withEffect">
                                  <p:stCondLst>
                                    <p:cond delay="770"/>
                                  </p:stCondLst>
                                  <p:childTnLst>
                                    <p:set>
                                      <p:cBhvr>
                                        <p:cTn id="131" dur="1" fill="hold">
                                          <p:stCondLst>
                                            <p:cond delay="0"/>
                                          </p:stCondLst>
                                        </p:cTn>
                                        <p:tgtEl>
                                          <p:spTgt spid="18"/>
                                        </p:tgtEl>
                                        <p:attrNameLst>
                                          <p:attrName>style.visibility</p:attrName>
                                        </p:attrNameLst>
                                      </p:cBhvr>
                                      <p:to>
                                        <p:strVal val="visible"/>
                                      </p:to>
                                    </p:set>
                                    <p:animEffect transition="in" filter="wipe(left)">
                                      <p:cBhvr>
                                        <p:cTn id="132" dur="500"/>
                                        <p:tgtEl>
                                          <p:spTgt spid="18"/>
                                        </p:tgtEl>
                                      </p:cBhvr>
                                    </p:animEffect>
                                  </p:childTnLst>
                                </p:cTn>
                              </p:par>
                              <p:par>
                                <p:cTn id="136" presetID="22" presetClass="entr" presetSubtype="8" fill="hold" grpId="0" nodeType="withEffect">
                                  <p:stCondLst>
                                    <p:cond delay="770"/>
                                  </p:stCondLst>
                                  <p:childTnLst>
                                    <p:set>
                                      <p:cBhvr>
                                        <p:cTn id="134" dur="1" fill="hold">
                                          <p:stCondLst>
                                            <p:cond delay="0"/>
                                          </p:stCondLst>
                                        </p:cTn>
                                        <p:tgtEl>
                                          <p:spTgt spid="19"/>
                                        </p:tgtEl>
                                        <p:attrNameLst>
                                          <p:attrName>style.visibility</p:attrName>
                                        </p:attrNameLst>
                                      </p:cBhvr>
                                      <p:to>
                                        <p:strVal val="visible"/>
                                      </p:to>
                                    </p:set>
                                    <p:animEffect transition="in" filter="wipe(left)">
                                      <p:cBhvr>
                                        <p:cTn id="135" dur="500"/>
                                        <p:tgtEl>
                                          <p:spTgt spid="19"/>
                                        </p:tgtEl>
                                      </p:cBhvr>
                                    </p:animEffect>
                                  </p:childTnLst>
                                </p:cTn>
                              </p:par>
                              <p:par>
                                <p:cTn id="139" presetID="22" presetClass="entr" presetSubtype="8" fill="hold" grpId="0" nodeType="withEffect">
                                  <p:stCondLst>
                                    <p:cond delay="770"/>
                                  </p:stCondLst>
                                  <p:childTnLst>
                                    <p:set>
                                      <p:cBhvr>
                                        <p:cTn id="137" dur="1" fill="hold">
                                          <p:stCondLst>
                                            <p:cond delay="0"/>
                                          </p:stCondLst>
                                        </p:cTn>
                                        <p:tgtEl>
                                          <p:spTgt spid="34"/>
                                        </p:tgtEl>
                                        <p:attrNameLst>
                                          <p:attrName>style.visibility</p:attrName>
                                        </p:attrNameLst>
                                      </p:cBhvr>
                                      <p:to>
                                        <p:strVal val="visible"/>
                                      </p:to>
                                    </p:set>
                                    <p:animEffect transition="in" filter="wipe(left)">
                                      <p:cBhvr>
                                        <p:cTn id="138" dur="500"/>
                                        <p:tgtEl>
                                          <p:spTgt spid="34"/>
                                        </p:tgtEl>
                                      </p:cBhvr>
                                    </p:animEffect>
                                  </p:childTnLst>
                                </p:cTn>
                              </p:par>
                              <p:par>
                                <p:cTn id="142" presetID="22" presetClass="entr" presetSubtype="8" fill="hold" grpId="0" nodeType="withEffect">
                                  <p:stCondLst>
                                    <p:cond delay="770"/>
                                  </p:stCondLst>
                                  <p:childTnLst>
                                    <p:set>
                                      <p:cBhvr>
                                        <p:cTn id="140" dur="1" fill="hold">
                                          <p:stCondLst>
                                            <p:cond delay="0"/>
                                          </p:stCondLst>
                                        </p:cTn>
                                        <p:tgtEl>
                                          <p:spTgt spid="35"/>
                                        </p:tgtEl>
                                        <p:attrNameLst>
                                          <p:attrName>style.visibility</p:attrName>
                                        </p:attrNameLst>
                                      </p:cBhvr>
                                      <p:to>
                                        <p:strVal val="visible"/>
                                      </p:to>
                                    </p:set>
                                    <p:animEffect transition="in" filter="wipe(left)">
                                      <p:cBhvr>
                                        <p:cTn id="141" dur="500"/>
                                        <p:tgtEl>
                                          <p:spTgt spid="35"/>
                                        </p:tgtEl>
                                      </p:cBhvr>
                                    </p:animEffect>
                                  </p:childTnLst>
                                </p:cTn>
                              </p:par>
                              <p:par>
                                <p:cTn id="145" presetID="22" presetClass="entr" presetSubtype="8" fill="hold" grpId="0" nodeType="withEffect">
                                  <p:stCondLst>
                                    <p:cond delay="770"/>
                                  </p:stCondLst>
                                  <p:childTnLst>
                                    <p:set>
                                      <p:cBhvr>
                                        <p:cTn id="143" dur="1" fill="hold">
                                          <p:stCondLst>
                                            <p:cond delay="0"/>
                                          </p:stCondLst>
                                        </p:cTn>
                                        <p:tgtEl>
                                          <p:spTgt spid="50"/>
                                        </p:tgtEl>
                                        <p:attrNameLst>
                                          <p:attrName>style.visibility</p:attrName>
                                        </p:attrNameLst>
                                      </p:cBhvr>
                                      <p:to>
                                        <p:strVal val="visible"/>
                                      </p:to>
                                    </p:set>
                                    <p:animEffect transition="in" filter="wipe(left)">
                                      <p:cBhvr>
                                        <p:cTn id="144" dur="500"/>
                                        <p:tgtEl>
                                          <p:spTgt spid="50"/>
                                        </p:tgtEl>
                                      </p:cBhvr>
                                    </p:animEffect>
                                  </p:childTnLst>
                                </p:cTn>
                              </p:par>
                              <p:par>
                                <p:cTn id="148" presetID="22" presetClass="entr" presetSubtype="8" fill="hold" grpId="0" nodeType="withEffect">
                                  <p:stCondLst>
                                    <p:cond delay="770"/>
                                  </p:stCondLst>
                                  <p:childTnLst>
                                    <p:set>
                                      <p:cBhvr>
                                        <p:cTn id="146" dur="1" fill="hold">
                                          <p:stCondLst>
                                            <p:cond delay="0"/>
                                          </p:stCondLst>
                                        </p:cTn>
                                        <p:tgtEl>
                                          <p:spTgt spid="51"/>
                                        </p:tgtEl>
                                        <p:attrNameLst>
                                          <p:attrName>style.visibility</p:attrName>
                                        </p:attrNameLst>
                                      </p:cBhvr>
                                      <p:to>
                                        <p:strVal val="visible"/>
                                      </p:to>
                                    </p:set>
                                    <p:animEffect transition="in" filter="wipe(left)">
                                      <p:cBhvr>
                                        <p:cTn id="14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h1"/>
          <p:cNvSpPr txBox="1"/>
          <p:nvPr/>
        </p:nvSpPr>
        <p:spPr>
          <a:xfrm>
            <a:off x="457200" y="256032"/>
            <a:ext cx="8229600" cy="502920"/>
          </a:xfrm>
          <a:prstGeom prst="rect">
            <a:avLst/>
          </a:prstGeom>
          <a:noFill/>
        </p:spPr>
        <p:txBody>
          <a:bodyPr wrap="square" lIns="0" tIns="0" rIns="0" bIns="0" anchor="ctr">
            <a:spAutoFit/>
          </a:bodyPr>
          <a:lstStyle/>
          <a:p>
            <a:pPr algn="l"/>
            <a:r>
              <a:rPr sz="2700" b="1">
                <a:solidFill>
                  <a:srgbClr val="0F172A"/>
                </a:solidFill>
                <a:latin typeface="Calibri"/>
              </a:rPr>
              <a:t>Polyglot Persistence · One Bank, Several Databases</a:t>
            </a:r>
          </a:p>
        </p:txBody>
      </p:sp>
      <p:sp>
        <p:nvSpPr>
          <p:cNvPr id="3" name="sub2"/>
          <p:cNvSpPr txBox="1"/>
          <p:nvPr/>
        </p:nvSpPr>
        <p:spPr>
          <a:xfrm>
            <a:off x="457200" y="768096"/>
            <a:ext cx="8229600" cy="292608"/>
          </a:xfrm>
          <a:prstGeom prst="rect">
            <a:avLst/>
          </a:prstGeom>
          <a:noFill/>
        </p:spPr>
        <p:txBody>
          <a:bodyPr wrap="square" lIns="0" tIns="0" rIns="0" bIns="0" anchor="ctr">
            <a:spAutoFit/>
          </a:bodyPr>
          <a:lstStyle/>
          <a:p>
            <a:pPr algn="l"/>
            <a:r>
              <a:rPr sz="1250" b="0">
                <a:solidFill>
                  <a:srgbClr val="64748B"/>
                </a:solidFill>
                <a:latin typeface="Calibri"/>
              </a:rPr>
              <a:t>How these choices land inside a retail banking platform</a:t>
            </a:r>
          </a:p>
        </p:txBody>
      </p:sp>
      <p:sp>
        <p:nvSpPr>
          <p:cNvPr id="4" name="a1u_card3"/>
          <p:cNvSpPr/>
          <p:nvPr/>
        </p:nvSpPr>
        <p:spPr>
          <a:xfrm>
            <a:off x="457200" y="1170432"/>
            <a:ext cx="2651760" cy="1325880"/>
          </a:xfrm>
          <a:prstGeom prst="roundRect">
            <a:avLst>
              <a:gd name="adj" fmla="val 68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acc4"/>
          <p:cNvSpPr/>
          <p:nvPr/>
        </p:nvSpPr>
        <p:spPr>
          <a:xfrm>
            <a:off x="457200" y="1170432"/>
            <a:ext cx="2651760" cy="502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1ud40_bn5"/>
          <p:cNvSpPr txBox="1"/>
          <p:nvPr/>
        </p:nvSpPr>
        <p:spPr>
          <a:xfrm>
            <a:off x="621792" y="1316736"/>
            <a:ext cx="2322576" cy="237744"/>
          </a:xfrm>
          <a:prstGeom prst="rect">
            <a:avLst/>
          </a:prstGeom>
          <a:noFill/>
        </p:spPr>
        <p:txBody>
          <a:bodyPr wrap="square" lIns="0" tIns="0" rIns="0" bIns="0" anchor="ctr">
            <a:spAutoFit/>
          </a:bodyPr>
          <a:lstStyle/>
          <a:p>
            <a:pPr algn="l"/>
            <a:r>
              <a:rPr sz="1250" b="1">
                <a:solidFill>
                  <a:srgbClr val="0F172A"/>
                </a:solidFill>
                <a:latin typeface="Calibri"/>
              </a:rPr>
              <a:t>Core ledger</a:t>
            </a:r>
          </a:p>
        </p:txBody>
      </p:sp>
      <p:sp>
        <p:nvSpPr>
          <p:cNvPr id="7" name="a1ud70_bp6"/>
          <p:cNvSpPr txBox="1"/>
          <p:nvPr/>
        </p:nvSpPr>
        <p:spPr>
          <a:xfrm>
            <a:off x="621792" y="1572768"/>
            <a:ext cx="2322576" cy="219456"/>
          </a:xfrm>
          <a:prstGeom prst="rect">
            <a:avLst/>
          </a:prstGeom>
          <a:noFill/>
        </p:spPr>
        <p:txBody>
          <a:bodyPr wrap="square" lIns="0" tIns="0" rIns="0" bIns="0" anchor="ctr">
            <a:spAutoFit/>
          </a:bodyPr>
          <a:lstStyle/>
          <a:p>
            <a:pPr algn="l"/>
            <a:r>
              <a:rPr sz="1000" b="1">
                <a:solidFill>
                  <a:srgbClr val="8B5CF6"/>
                </a:solidFill>
                <a:latin typeface="Courier New"/>
              </a:rPr>
              <a:t>PostgreSQL / Db2</a:t>
            </a:r>
          </a:p>
        </p:txBody>
      </p:sp>
      <p:sp>
        <p:nvSpPr>
          <p:cNvPr id="8" name="a1ud100_bd7"/>
          <p:cNvSpPr txBox="1"/>
          <p:nvPr/>
        </p:nvSpPr>
        <p:spPr>
          <a:xfrm>
            <a:off x="621792" y="1810512"/>
            <a:ext cx="2322576" cy="384048"/>
          </a:xfrm>
          <a:prstGeom prst="rect">
            <a:avLst/>
          </a:prstGeom>
          <a:noFill/>
        </p:spPr>
        <p:txBody>
          <a:bodyPr wrap="square" lIns="0" tIns="0" rIns="0" bIns="0" anchor="t">
            <a:spAutoFit/>
          </a:bodyPr>
          <a:lstStyle/>
          <a:p>
            <a:pPr algn="l"/>
            <a:r>
              <a:rPr sz="950" b="0">
                <a:solidFill>
                  <a:srgbClr val="334155"/>
                </a:solidFill>
                <a:latin typeface="Calibri"/>
              </a:rPr>
              <a:t>Accounts, postings, balances of record</a:t>
            </a:r>
          </a:p>
        </p:txBody>
      </p:sp>
      <p:sp>
        <p:nvSpPr>
          <p:cNvPr id="9" name="a1ud130_bw8"/>
          <p:cNvSpPr txBox="1"/>
          <p:nvPr/>
        </p:nvSpPr>
        <p:spPr>
          <a:xfrm>
            <a:off x="621792" y="2194560"/>
            <a:ext cx="2322576" cy="219456"/>
          </a:xfrm>
          <a:prstGeom prst="rect">
            <a:avLst/>
          </a:prstGeom>
          <a:noFill/>
        </p:spPr>
        <p:txBody>
          <a:bodyPr wrap="square" lIns="0" tIns="0" rIns="0" bIns="0" anchor="ctr">
            <a:spAutoFit/>
          </a:bodyPr>
          <a:lstStyle/>
          <a:p>
            <a:pPr algn="l"/>
            <a:r>
              <a:rPr sz="850" b="0" i="1">
                <a:solidFill>
                  <a:srgbClr val="64748B"/>
                </a:solidFill>
                <a:latin typeface="Calibri"/>
              </a:rPr>
              <a:t>ACID, non-negotiable</a:t>
            </a:r>
          </a:p>
        </p:txBody>
      </p:sp>
      <p:sp>
        <p:nvSpPr>
          <p:cNvPr id="10" name="a1ud120_card9"/>
          <p:cNvSpPr/>
          <p:nvPr/>
        </p:nvSpPr>
        <p:spPr>
          <a:xfrm>
            <a:off x="3291840" y="1170432"/>
            <a:ext cx="2651760" cy="1325880"/>
          </a:xfrm>
          <a:prstGeom prst="roundRect">
            <a:avLst>
              <a:gd name="adj" fmla="val 68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d120_acc10"/>
          <p:cNvSpPr/>
          <p:nvPr/>
        </p:nvSpPr>
        <p:spPr>
          <a:xfrm>
            <a:off x="3291840" y="1170432"/>
            <a:ext cx="2651760" cy="50292"/>
          </a:xfrm>
          <a:prstGeom prst="rect">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d160_bn11"/>
          <p:cNvSpPr txBox="1"/>
          <p:nvPr/>
        </p:nvSpPr>
        <p:spPr>
          <a:xfrm>
            <a:off x="3456432" y="1316736"/>
            <a:ext cx="2322576" cy="237744"/>
          </a:xfrm>
          <a:prstGeom prst="rect">
            <a:avLst/>
          </a:prstGeom>
          <a:noFill/>
        </p:spPr>
        <p:txBody>
          <a:bodyPr wrap="square" lIns="0" tIns="0" rIns="0" bIns="0" anchor="ctr">
            <a:spAutoFit/>
          </a:bodyPr>
          <a:lstStyle/>
          <a:p>
            <a:pPr algn="l"/>
            <a:r>
              <a:rPr sz="1250" b="1">
                <a:solidFill>
                  <a:srgbClr val="0F172A"/>
                </a:solidFill>
                <a:latin typeface="Calibri"/>
              </a:rPr>
              <a:t>Cache &amp; sessions</a:t>
            </a:r>
          </a:p>
        </p:txBody>
      </p:sp>
      <p:sp>
        <p:nvSpPr>
          <p:cNvPr id="13" name="a1ud190_bp12"/>
          <p:cNvSpPr txBox="1"/>
          <p:nvPr/>
        </p:nvSpPr>
        <p:spPr>
          <a:xfrm>
            <a:off x="3456432" y="1572768"/>
            <a:ext cx="2322576" cy="219456"/>
          </a:xfrm>
          <a:prstGeom prst="rect">
            <a:avLst/>
          </a:prstGeom>
          <a:noFill/>
        </p:spPr>
        <p:txBody>
          <a:bodyPr wrap="square" lIns="0" tIns="0" rIns="0" bIns="0" anchor="ctr">
            <a:spAutoFit/>
          </a:bodyPr>
          <a:lstStyle/>
          <a:p>
            <a:pPr algn="l"/>
            <a:r>
              <a:rPr sz="1000" b="1">
                <a:solidFill>
                  <a:srgbClr val="DC382C"/>
                </a:solidFill>
                <a:latin typeface="Courier New"/>
              </a:rPr>
              <a:t>Redis</a:t>
            </a:r>
          </a:p>
        </p:txBody>
      </p:sp>
      <p:sp>
        <p:nvSpPr>
          <p:cNvPr id="14" name="a1ud220_bd13"/>
          <p:cNvSpPr txBox="1"/>
          <p:nvPr/>
        </p:nvSpPr>
        <p:spPr>
          <a:xfrm>
            <a:off x="3456432" y="1810512"/>
            <a:ext cx="2322576" cy="384048"/>
          </a:xfrm>
          <a:prstGeom prst="rect">
            <a:avLst/>
          </a:prstGeom>
          <a:noFill/>
        </p:spPr>
        <p:txBody>
          <a:bodyPr wrap="square" lIns="0" tIns="0" rIns="0" bIns="0" anchor="t">
            <a:spAutoFit/>
          </a:bodyPr>
          <a:lstStyle/>
          <a:p>
            <a:pPr algn="l"/>
            <a:r>
              <a:rPr sz="950" b="0">
                <a:solidFill>
                  <a:srgbClr val="334155"/>
                </a:solidFill>
                <a:latin typeface="Calibri"/>
              </a:rPr>
              <a:t>Balance enquiry cache, login sessions, rate limits</a:t>
            </a:r>
          </a:p>
        </p:txBody>
      </p:sp>
      <p:sp>
        <p:nvSpPr>
          <p:cNvPr id="15" name="a1ud250_bw14"/>
          <p:cNvSpPr txBox="1"/>
          <p:nvPr/>
        </p:nvSpPr>
        <p:spPr>
          <a:xfrm>
            <a:off x="3456432" y="2194560"/>
            <a:ext cx="2322576" cy="219456"/>
          </a:xfrm>
          <a:prstGeom prst="rect">
            <a:avLst/>
          </a:prstGeom>
          <a:noFill/>
        </p:spPr>
        <p:txBody>
          <a:bodyPr wrap="square" lIns="0" tIns="0" rIns="0" bIns="0" anchor="ctr">
            <a:spAutoFit/>
          </a:bodyPr>
          <a:lstStyle/>
          <a:p>
            <a:pPr algn="l"/>
            <a:r>
              <a:rPr sz="850" b="0" i="1">
                <a:solidFill>
                  <a:srgbClr val="64748B"/>
                </a:solidFill>
                <a:latin typeface="Calibri"/>
              </a:rPr>
              <a:t>Sub-ms, in memory</a:t>
            </a:r>
          </a:p>
        </p:txBody>
      </p:sp>
      <p:sp>
        <p:nvSpPr>
          <p:cNvPr id="16" name="a1ud240_card15"/>
          <p:cNvSpPr/>
          <p:nvPr/>
        </p:nvSpPr>
        <p:spPr>
          <a:xfrm>
            <a:off x="6126480" y="1170432"/>
            <a:ext cx="2651760" cy="1325880"/>
          </a:xfrm>
          <a:prstGeom prst="roundRect">
            <a:avLst>
              <a:gd name="adj" fmla="val 68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240_acc16"/>
          <p:cNvSpPr/>
          <p:nvPr/>
        </p:nvSpPr>
        <p:spPr>
          <a:xfrm>
            <a:off x="6126480" y="1170432"/>
            <a:ext cx="2651760"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280_bn17"/>
          <p:cNvSpPr txBox="1"/>
          <p:nvPr/>
        </p:nvSpPr>
        <p:spPr>
          <a:xfrm>
            <a:off x="6291072" y="1316736"/>
            <a:ext cx="2322576" cy="237744"/>
          </a:xfrm>
          <a:prstGeom prst="rect">
            <a:avLst/>
          </a:prstGeom>
          <a:noFill/>
        </p:spPr>
        <p:txBody>
          <a:bodyPr wrap="square" lIns="0" tIns="0" rIns="0" bIns="0" anchor="ctr">
            <a:spAutoFit/>
          </a:bodyPr>
          <a:lstStyle/>
          <a:p>
            <a:pPr algn="l"/>
            <a:r>
              <a:rPr sz="1250" b="1">
                <a:solidFill>
                  <a:srgbClr val="0F172A"/>
                </a:solidFill>
                <a:latin typeface="Calibri"/>
              </a:rPr>
              <a:t>Customer 360</a:t>
            </a:r>
          </a:p>
        </p:txBody>
      </p:sp>
      <p:sp>
        <p:nvSpPr>
          <p:cNvPr id="19" name="a1ud310_bp18"/>
          <p:cNvSpPr txBox="1"/>
          <p:nvPr/>
        </p:nvSpPr>
        <p:spPr>
          <a:xfrm>
            <a:off x="6291072" y="1572768"/>
            <a:ext cx="2322576" cy="219456"/>
          </a:xfrm>
          <a:prstGeom prst="rect">
            <a:avLst/>
          </a:prstGeom>
          <a:noFill/>
        </p:spPr>
        <p:txBody>
          <a:bodyPr wrap="square" lIns="0" tIns="0" rIns="0" bIns="0" anchor="ctr">
            <a:spAutoFit/>
          </a:bodyPr>
          <a:lstStyle/>
          <a:p>
            <a:pPr algn="l"/>
            <a:r>
              <a:rPr sz="1000" b="1">
                <a:solidFill>
                  <a:srgbClr val="0F766E"/>
                </a:solidFill>
                <a:latin typeface="Courier New"/>
              </a:rPr>
              <a:t>MongoDB</a:t>
            </a:r>
          </a:p>
        </p:txBody>
      </p:sp>
      <p:sp>
        <p:nvSpPr>
          <p:cNvPr id="20" name="a1ud340_bd19"/>
          <p:cNvSpPr txBox="1"/>
          <p:nvPr/>
        </p:nvSpPr>
        <p:spPr>
          <a:xfrm>
            <a:off x="6291072" y="1810512"/>
            <a:ext cx="2322576" cy="384048"/>
          </a:xfrm>
          <a:prstGeom prst="rect">
            <a:avLst/>
          </a:prstGeom>
          <a:noFill/>
        </p:spPr>
        <p:txBody>
          <a:bodyPr wrap="square" lIns="0" tIns="0" rIns="0" bIns="0" anchor="t">
            <a:spAutoFit/>
          </a:bodyPr>
          <a:lstStyle/>
          <a:p>
            <a:pPr algn="l"/>
            <a:r>
              <a:rPr sz="950" b="0">
                <a:solidFill>
                  <a:srgbClr val="334155"/>
                </a:solidFill>
                <a:latin typeface="Calibri"/>
              </a:rPr>
              <a:t>KYC documents, varied partner payloads</a:t>
            </a:r>
          </a:p>
        </p:txBody>
      </p:sp>
      <p:sp>
        <p:nvSpPr>
          <p:cNvPr id="21" name="a1ud370_bw20"/>
          <p:cNvSpPr txBox="1"/>
          <p:nvPr/>
        </p:nvSpPr>
        <p:spPr>
          <a:xfrm>
            <a:off x="6291072" y="2194560"/>
            <a:ext cx="2322576" cy="219456"/>
          </a:xfrm>
          <a:prstGeom prst="rect">
            <a:avLst/>
          </a:prstGeom>
          <a:noFill/>
        </p:spPr>
        <p:txBody>
          <a:bodyPr wrap="square" lIns="0" tIns="0" rIns="0" bIns="0" anchor="ctr">
            <a:spAutoFit/>
          </a:bodyPr>
          <a:lstStyle/>
          <a:p>
            <a:pPr algn="l"/>
            <a:r>
              <a:rPr sz="850" b="0" i="1">
                <a:solidFill>
                  <a:srgbClr val="64748B"/>
                </a:solidFill>
                <a:latin typeface="Calibri"/>
              </a:rPr>
              <a:t>Schema changes weekly</a:t>
            </a:r>
          </a:p>
        </p:txBody>
      </p:sp>
      <p:sp>
        <p:nvSpPr>
          <p:cNvPr id="22" name="a2u_card21"/>
          <p:cNvSpPr/>
          <p:nvPr/>
        </p:nvSpPr>
        <p:spPr>
          <a:xfrm>
            <a:off x="457200" y="2651760"/>
            <a:ext cx="2651760" cy="1325880"/>
          </a:xfrm>
          <a:prstGeom prst="roundRect">
            <a:avLst>
              <a:gd name="adj" fmla="val 68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acc22"/>
          <p:cNvSpPr/>
          <p:nvPr/>
        </p:nvSpPr>
        <p:spPr>
          <a:xfrm>
            <a:off x="457200" y="2651760"/>
            <a:ext cx="2651760"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40_bn23"/>
          <p:cNvSpPr txBox="1"/>
          <p:nvPr/>
        </p:nvSpPr>
        <p:spPr>
          <a:xfrm>
            <a:off x="621792" y="2798064"/>
            <a:ext cx="2322576" cy="237744"/>
          </a:xfrm>
          <a:prstGeom prst="rect">
            <a:avLst/>
          </a:prstGeom>
          <a:noFill/>
        </p:spPr>
        <p:txBody>
          <a:bodyPr wrap="square" lIns="0" tIns="0" rIns="0" bIns="0" anchor="ctr">
            <a:spAutoFit/>
          </a:bodyPr>
          <a:lstStyle/>
          <a:p>
            <a:pPr algn="l"/>
            <a:r>
              <a:rPr sz="1250" b="1">
                <a:solidFill>
                  <a:srgbClr val="0F172A"/>
                </a:solidFill>
                <a:latin typeface="Calibri"/>
              </a:rPr>
              <a:t>Event stream</a:t>
            </a:r>
          </a:p>
        </p:txBody>
      </p:sp>
      <p:sp>
        <p:nvSpPr>
          <p:cNvPr id="25" name="a2ud70_bp24"/>
          <p:cNvSpPr txBox="1"/>
          <p:nvPr/>
        </p:nvSpPr>
        <p:spPr>
          <a:xfrm>
            <a:off x="621792" y="3054096"/>
            <a:ext cx="2322576" cy="219456"/>
          </a:xfrm>
          <a:prstGeom prst="rect">
            <a:avLst/>
          </a:prstGeom>
          <a:noFill/>
        </p:spPr>
        <p:txBody>
          <a:bodyPr wrap="square" lIns="0" tIns="0" rIns="0" bIns="0" anchor="ctr">
            <a:spAutoFit/>
          </a:bodyPr>
          <a:lstStyle/>
          <a:p>
            <a:pPr algn="l"/>
            <a:r>
              <a:rPr sz="1000" b="1">
                <a:solidFill>
                  <a:srgbClr val="B45309"/>
                </a:solidFill>
                <a:latin typeface="Courier New"/>
              </a:rPr>
              <a:t>Kafka</a:t>
            </a:r>
          </a:p>
        </p:txBody>
      </p:sp>
      <p:sp>
        <p:nvSpPr>
          <p:cNvPr id="26" name="a2ud100_bd25"/>
          <p:cNvSpPr txBox="1"/>
          <p:nvPr/>
        </p:nvSpPr>
        <p:spPr>
          <a:xfrm>
            <a:off x="621792" y="3291840"/>
            <a:ext cx="2322576" cy="384048"/>
          </a:xfrm>
          <a:prstGeom prst="rect">
            <a:avLst/>
          </a:prstGeom>
          <a:noFill/>
        </p:spPr>
        <p:txBody>
          <a:bodyPr wrap="square" lIns="0" tIns="0" rIns="0" bIns="0" anchor="t">
            <a:spAutoFit/>
          </a:bodyPr>
          <a:lstStyle/>
          <a:p>
            <a:pPr algn="l"/>
            <a:r>
              <a:rPr sz="950" b="0">
                <a:solidFill>
                  <a:srgbClr val="334155"/>
                </a:solidFill>
                <a:latin typeface="Calibri"/>
              </a:rPr>
              <a:t>Every transaction as an immutable event</a:t>
            </a:r>
          </a:p>
        </p:txBody>
      </p:sp>
      <p:sp>
        <p:nvSpPr>
          <p:cNvPr id="27" name="a2ud130_bw26"/>
          <p:cNvSpPr txBox="1"/>
          <p:nvPr/>
        </p:nvSpPr>
        <p:spPr>
          <a:xfrm>
            <a:off x="621792" y="3675888"/>
            <a:ext cx="2322576" cy="219456"/>
          </a:xfrm>
          <a:prstGeom prst="rect">
            <a:avLst/>
          </a:prstGeom>
          <a:noFill/>
        </p:spPr>
        <p:txBody>
          <a:bodyPr wrap="square" lIns="0" tIns="0" rIns="0" bIns="0" anchor="ctr">
            <a:spAutoFit/>
          </a:bodyPr>
          <a:lstStyle/>
          <a:p>
            <a:pPr algn="l"/>
            <a:r>
              <a:rPr sz="850" b="0" i="1">
                <a:solidFill>
                  <a:srgbClr val="64748B"/>
                </a:solidFill>
                <a:latin typeface="Calibri"/>
              </a:rPr>
              <a:t>Replayable log</a:t>
            </a:r>
          </a:p>
        </p:txBody>
      </p:sp>
      <p:sp>
        <p:nvSpPr>
          <p:cNvPr id="28" name="a2ud120_card27"/>
          <p:cNvSpPr/>
          <p:nvPr/>
        </p:nvSpPr>
        <p:spPr>
          <a:xfrm>
            <a:off x="3291840" y="2651760"/>
            <a:ext cx="2651760" cy="1325880"/>
          </a:xfrm>
          <a:prstGeom prst="roundRect">
            <a:avLst>
              <a:gd name="adj" fmla="val 68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120_acc28"/>
          <p:cNvSpPr/>
          <p:nvPr/>
        </p:nvSpPr>
        <p:spPr>
          <a:xfrm>
            <a:off x="3291840" y="2651760"/>
            <a:ext cx="2651760" cy="5029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160_bn29"/>
          <p:cNvSpPr txBox="1"/>
          <p:nvPr/>
        </p:nvSpPr>
        <p:spPr>
          <a:xfrm>
            <a:off x="3456432" y="2798064"/>
            <a:ext cx="2322576" cy="237744"/>
          </a:xfrm>
          <a:prstGeom prst="rect">
            <a:avLst/>
          </a:prstGeom>
          <a:noFill/>
        </p:spPr>
        <p:txBody>
          <a:bodyPr wrap="square" lIns="0" tIns="0" rIns="0" bIns="0" anchor="ctr">
            <a:spAutoFit/>
          </a:bodyPr>
          <a:lstStyle/>
          <a:p>
            <a:pPr algn="l"/>
            <a:r>
              <a:rPr sz="1250" b="1">
                <a:solidFill>
                  <a:srgbClr val="0F172A"/>
                </a:solidFill>
                <a:latin typeface="Calibri"/>
              </a:rPr>
              <a:t>Fraud graph</a:t>
            </a:r>
          </a:p>
        </p:txBody>
      </p:sp>
      <p:sp>
        <p:nvSpPr>
          <p:cNvPr id="31" name="a2ud190_bp30"/>
          <p:cNvSpPr txBox="1"/>
          <p:nvPr/>
        </p:nvSpPr>
        <p:spPr>
          <a:xfrm>
            <a:off x="3456432" y="3054096"/>
            <a:ext cx="2322576" cy="219456"/>
          </a:xfrm>
          <a:prstGeom prst="rect">
            <a:avLst/>
          </a:prstGeom>
          <a:noFill/>
        </p:spPr>
        <p:txBody>
          <a:bodyPr wrap="square" lIns="0" tIns="0" rIns="0" bIns="0" anchor="ctr">
            <a:spAutoFit/>
          </a:bodyPr>
          <a:lstStyle/>
          <a:p>
            <a:pPr algn="l"/>
            <a:r>
              <a:rPr sz="1000" b="1">
                <a:solidFill>
                  <a:srgbClr val="6D28D9"/>
                </a:solidFill>
                <a:latin typeface="Courier New"/>
              </a:rPr>
              <a:t>Neo4j</a:t>
            </a:r>
          </a:p>
        </p:txBody>
      </p:sp>
      <p:sp>
        <p:nvSpPr>
          <p:cNvPr id="32" name="a2ud220_bd31"/>
          <p:cNvSpPr txBox="1"/>
          <p:nvPr/>
        </p:nvSpPr>
        <p:spPr>
          <a:xfrm>
            <a:off x="3456432" y="3291840"/>
            <a:ext cx="2322576" cy="384048"/>
          </a:xfrm>
          <a:prstGeom prst="rect">
            <a:avLst/>
          </a:prstGeom>
          <a:noFill/>
        </p:spPr>
        <p:txBody>
          <a:bodyPr wrap="square" lIns="0" tIns="0" rIns="0" bIns="0" anchor="t">
            <a:spAutoFit/>
          </a:bodyPr>
          <a:lstStyle/>
          <a:p>
            <a:pPr algn="l"/>
            <a:r>
              <a:rPr sz="950" b="0">
                <a:solidFill>
                  <a:srgbClr val="334155"/>
                </a:solidFill>
                <a:latin typeface="Calibri"/>
              </a:rPr>
              <a:t>Account-device-beneficiary networks</a:t>
            </a:r>
          </a:p>
        </p:txBody>
      </p:sp>
      <p:sp>
        <p:nvSpPr>
          <p:cNvPr id="33" name="a2ud250_bw32"/>
          <p:cNvSpPr txBox="1"/>
          <p:nvPr/>
        </p:nvSpPr>
        <p:spPr>
          <a:xfrm>
            <a:off x="3456432" y="3675888"/>
            <a:ext cx="2322576" cy="219456"/>
          </a:xfrm>
          <a:prstGeom prst="rect">
            <a:avLst/>
          </a:prstGeom>
          <a:noFill/>
        </p:spPr>
        <p:txBody>
          <a:bodyPr wrap="square" lIns="0" tIns="0" rIns="0" bIns="0" anchor="ctr">
            <a:spAutoFit/>
          </a:bodyPr>
          <a:lstStyle/>
          <a:p>
            <a:pPr algn="l"/>
            <a:r>
              <a:rPr sz="850" b="0" i="1">
                <a:solidFill>
                  <a:srgbClr val="64748B"/>
                </a:solidFill>
                <a:latin typeface="Calibri"/>
              </a:rPr>
              <a:t>Multi-hop traversal</a:t>
            </a:r>
          </a:p>
        </p:txBody>
      </p:sp>
      <p:sp>
        <p:nvSpPr>
          <p:cNvPr id="34" name="a2ud240_card33"/>
          <p:cNvSpPr/>
          <p:nvPr/>
        </p:nvSpPr>
        <p:spPr>
          <a:xfrm>
            <a:off x="6126480" y="2651760"/>
            <a:ext cx="2651760" cy="1325880"/>
          </a:xfrm>
          <a:prstGeom prst="roundRect">
            <a:avLst>
              <a:gd name="adj" fmla="val 6896"/>
            </a:avLst>
          </a:prstGeom>
          <a:solidFill>
            <a:srgbClr val="FFFFFF"/>
          </a:solidFill>
          <a:ln w="12700">
            <a:solidFill>
              <a:srgbClr val="E2E8F0"/>
            </a:solidFill>
          </a:ln>
          <a:effectLst>
            <a:outerShdw sx="100000" sy="100000" kx="0" ky="0" algn="bl" rotWithShape="0" blurRad="76200" dist="254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240_acc34"/>
          <p:cNvSpPr/>
          <p:nvPr/>
        </p:nvSpPr>
        <p:spPr>
          <a:xfrm>
            <a:off x="6126480" y="2651760"/>
            <a:ext cx="2651760" cy="5029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d280_bn35"/>
          <p:cNvSpPr txBox="1"/>
          <p:nvPr/>
        </p:nvSpPr>
        <p:spPr>
          <a:xfrm>
            <a:off x="6291072" y="2798064"/>
            <a:ext cx="2322576" cy="237744"/>
          </a:xfrm>
          <a:prstGeom prst="rect">
            <a:avLst/>
          </a:prstGeom>
          <a:noFill/>
        </p:spPr>
        <p:txBody>
          <a:bodyPr wrap="square" lIns="0" tIns="0" rIns="0" bIns="0" anchor="ctr">
            <a:spAutoFit/>
          </a:bodyPr>
          <a:lstStyle/>
          <a:p>
            <a:pPr algn="l"/>
            <a:r>
              <a:rPr sz="1250" b="1">
                <a:solidFill>
                  <a:srgbClr val="0F172A"/>
                </a:solidFill>
                <a:latin typeface="Calibri"/>
              </a:rPr>
              <a:t>Search</a:t>
            </a:r>
          </a:p>
        </p:txBody>
      </p:sp>
      <p:sp>
        <p:nvSpPr>
          <p:cNvPr id="37" name="a2ud310_bp36"/>
          <p:cNvSpPr txBox="1"/>
          <p:nvPr/>
        </p:nvSpPr>
        <p:spPr>
          <a:xfrm>
            <a:off x="6291072" y="3054096"/>
            <a:ext cx="2322576" cy="219456"/>
          </a:xfrm>
          <a:prstGeom prst="rect">
            <a:avLst/>
          </a:prstGeom>
          <a:noFill/>
        </p:spPr>
        <p:txBody>
          <a:bodyPr wrap="square" lIns="0" tIns="0" rIns="0" bIns="0" anchor="ctr">
            <a:spAutoFit/>
          </a:bodyPr>
          <a:lstStyle/>
          <a:p>
            <a:pPr algn="l"/>
            <a:r>
              <a:rPr sz="1000" b="1">
                <a:solidFill>
                  <a:srgbClr val="BE185D"/>
                </a:solidFill>
                <a:latin typeface="Courier New"/>
              </a:rPr>
              <a:t>Elasticsearch</a:t>
            </a:r>
          </a:p>
        </p:txBody>
      </p:sp>
      <p:sp>
        <p:nvSpPr>
          <p:cNvPr id="38" name="a2ud340_bd37"/>
          <p:cNvSpPr txBox="1"/>
          <p:nvPr/>
        </p:nvSpPr>
        <p:spPr>
          <a:xfrm>
            <a:off x="6291072" y="3291840"/>
            <a:ext cx="2322576" cy="384048"/>
          </a:xfrm>
          <a:prstGeom prst="rect">
            <a:avLst/>
          </a:prstGeom>
          <a:noFill/>
        </p:spPr>
        <p:txBody>
          <a:bodyPr wrap="square" lIns="0" tIns="0" rIns="0" bIns="0" anchor="t">
            <a:spAutoFit/>
          </a:bodyPr>
          <a:lstStyle/>
          <a:p>
            <a:pPr algn="l"/>
            <a:r>
              <a:rPr sz="950" b="0">
                <a:solidFill>
                  <a:srgbClr val="334155"/>
                </a:solidFill>
                <a:latin typeface="Calibri"/>
              </a:rPr>
              <a:t>Free-text search over statements and tickets</a:t>
            </a:r>
          </a:p>
        </p:txBody>
      </p:sp>
      <p:sp>
        <p:nvSpPr>
          <p:cNvPr id="39" name="a2ud370_bw38"/>
          <p:cNvSpPr txBox="1"/>
          <p:nvPr/>
        </p:nvSpPr>
        <p:spPr>
          <a:xfrm>
            <a:off x="6291072" y="3675888"/>
            <a:ext cx="2322576" cy="219456"/>
          </a:xfrm>
          <a:prstGeom prst="rect">
            <a:avLst/>
          </a:prstGeom>
          <a:noFill/>
        </p:spPr>
        <p:txBody>
          <a:bodyPr wrap="square" lIns="0" tIns="0" rIns="0" bIns="0" anchor="ctr">
            <a:spAutoFit/>
          </a:bodyPr>
          <a:lstStyle/>
          <a:p>
            <a:pPr algn="l"/>
            <a:r>
              <a:rPr sz="850" b="0" i="1">
                <a:solidFill>
                  <a:srgbClr val="64748B"/>
                </a:solidFill>
                <a:latin typeface="Calibri"/>
              </a:rPr>
              <a:t>Inverted index</a:t>
            </a:r>
          </a:p>
        </p:txBody>
      </p:sp>
      <p:sp>
        <p:nvSpPr>
          <p:cNvPr id="40" name="ft39"/>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0.1"/>
                                          </p:val>
                                        </p:tav>
                                        <p:tav tm="100000">
                                          <p:val>
                                            <p:strVal val="#ppt_y"/>
                                          </p:val>
                                        </p:tav>
                                      </p:tavLst>
                                    </p:anim>
                                    <p:animEffect transition="in" filter="fade">
                                      <p:cBhvr>
                                        <p:cTn id="8" dur="500"/>
                                        <p:tgtEl>
                                          <p:spTgt spid="4"/>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0.1"/>
                                          </p:val>
                                        </p:tav>
                                        <p:tav tm="100000">
                                          <p:val>
                                            <p:strVal val="#ppt_y"/>
                                          </p:val>
                                        </p:tav>
                                      </p:tavLst>
                                    </p:anim>
                                    <p:animEffect transition="in" filter="fade">
                                      <p:cBhvr>
                                        <p:cTn id="13" dur="500"/>
                                        <p:tgtEl>
                                          <p:spTgt spid="5"/>
                                        </p:tgtEl>
                                      </p:cBhvr>
                                    </p:animEffect>
                                  </p:childTnLst>
                                </p:cTn>
                              </p:par>
                              <p:par>
                                <p:cTn id="19" presetID="2" presetClass="entr" presetSubtype="4" fill="hold" grpId="0" nodeType="withEffect">
                                  <p:stCondLst>
                                    <p:cond delay="4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0.1"/>
                                          </p:val>
                                        </p:tav>
                                        <p:tav tm="100000">
                                          <p:val>
                                            <p:strVal val="#ppt_y"/>
                                          </p:val>
                                        </p:tav>
                                      </p:tavLst>
                                    </p:anim>
                                    <p:animEffect transition="in" filter="fade">
                                      <p:cBhvr>
                                        <p:cTn id="18" dur="500"/>
                                        <p:tgtEl>
                                          <p:spTgt spid="6"/>
                                        </p:tgtEl>
                                      </p:cBhvr>
                                    </p:animEffect>
                                  </p:childTnLst>
                                </p:cTn>
                              </p:par>
                              <p:par>
                                <p:cTn id="24" presetID="2" presetClass="entr" presetSubtype="4" fill="hold" grpId="0" nodeType="withEffect">
                                  <p:stCondLst>
                                    <p:cond delay="7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0.1"/>
                                          </p:val>
                                        </p:tav>
                                        <p:tav tm="100000">
                                          <p:val>
                                            <p:strVal val="#ppt_y"/>
                                          </p:val>
                                        </p:tav>
                                      </p:tavLst>
                                    </p:anim>
                                    <p:animEffect transition="in" filter="fade">
                                      <p:cBhvr>
                                        <p:cTn id="23" dur="500"/>
                                        <p:tgtEl>
                                          <p:spTgt spid="7"/>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0.1"/>
                                          </p:val>
                                        </p:tav>
                                        <p:tav tm="100000">
                                          <p:val>
                                            <p:strVal val="#ppt_y"/>
                                          </p:val>
                                        </p:tav>
                                      </p:tavLst>
                                    </p:anim>
                                    <p:animEffect transition="in" filter="fade">
                                      <p:cBhvr>
                                        <p:cTn id="28" dur="500"/>
                                        <p:tgtEl>
                                          <p:spTgt spid="8"/>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0.1"/>
                                          </p:val>
                                        </p:tav>
                                        <p:tav tm="100000">
                                          <p:val>
                                            <p:strVal val="#ppt_y"/>
                                          </p:val>
                                        </p:tav>
                                      </p:tavLst>
                                    </p:anim>
                                    <p:animEffect transition="in" filter="fade">
                                      <p:cBhvr>
                                        <p:cTn id="33" dur="500"/>
                                        <p:tgtEl>
                                          <p:spTgt spid="10"/>
                                        </p:tgtEl>
                                      </p:cBhvr>
                                    </p:animEffect>
                                  </p:childTnLst>
                                </p:cTn>
                              </p:par>
                              <p:par>
                                <p:cTn id="39" presetID="2" presetClass="entr" presetSubtype="4" fill="hold" grpId="0" nodeType="withEffect">
                                  <p:stCondLst>
                                    <p:cond delay="12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0.1"/>
                                          </p:val>
                                        </p:tav>
                                        <p:tav tm="100000">
                                          <p:val>
                                            <p:strVal val="#ppt_y"/>
                                          </p:val>
                                        </p:tav>
                                      </p:tavLst>
                                    </p:anim>
                                    <p:animEffect transition="in" filter="fade">
                                      <p:cBhvr>
                                        <p:cTn id="38" dur="500"/>
                                        <p:tgtEl>
                                          <p:spTgt spid="11"/>
                                        </p:tgtEl>
                                      </p:cBhvr>
                                    </p:animEffect>
                                  </p:childTnLst>
                                </p:cTn>
                              </p:par>
                              <p:par>
                                <p:cTn id="44" presetID="2" presetClass="entr" presetSubtype="4" fill="hold" grpId="0" nodeType="withEffect">
                                  <p:stCondLst>
                                    <p:cond delay="13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ppt_y+0.1"/>
                                          </p:val>
                                        </p:tav>
                                        <p:tav tm="100000">
                                          <p:val>
                                            <p:strVal val="#ppt_y"/>
                                          </p:val>
                                        </p:tav>
                                      </p:tavLst>
                                    </p:anim>
                                    <p:animEffect transition="in" filter="fade">
                                      <p:cBhvr>
                                        <p:cTn id="43" dur="500"/>
                                        <p:tgtEl>
                                          <p:spTgt spid="9"/>
                                        </p:tgtEl>
                                      </p:cBhvr>
                                    </p:animEffect>
                                  </p:childTnLst>
                                </p:cTn>
                              </p:par>
                              <p:par>
                                <p:cTn id="49" presetID="2" presetClass="entr" presetSubtype="4" fill="hold" grpId="0" nodeType="withEffect">
                                  <p:stCondLst>
                                    <p:cond delay="16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par>
                                <p:cTn id="54" presetID="2" presetClass="entr" presetSubtype="4" fill="hold" grpId="0" nodeType="withEffect">
                                  <p:stCondLst>
                                    <p:cond delay="19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0.1"/>
                                          </p:val>
                                        </p:tav>
                                        <p:tav tm="100000">
                                          <p:val>
                                            <p:strVal val="#ppt_y"/>
                                          </p:val>
                                        </p:tav>
                                      </p:tavLst>
                                    </p:anim>
                                    <p:animEffect transition="in" filter="fade">
                                      <p:cBhvr>
                                        <p:cTn id="53" dur="500"/>
                                        <p:tgtEl>
                                          <p:spTgt spid="13"/>
                                        </p:tgtEl>
                                      </p:cBhvr>
                                    </p:animEffect>
                                  </p:childTnLst>
                                </p:cTn>
                              </p:par>
                              <p:par>
                                <p:cTn id="59" presetID="2" presetClass="entr" presetSubtype="4" fill="hold" grpId="0" nodeType="withEffect">
                                  <p:stCondLst>
                                    <p:cond delay="22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0.1"/>
                                          </p:val>
                                        </p:tav>
                                        <p:tav tm="100000">
                                          <p:val>
                                            <p:strVal val="#ppt_y"/>
                                          </p:val>
                                        </p:tav>
                                      </p:tavLst>
                                    </p:anim>
                                    <p:animEffect transition="in" filter="fade">
                                      <p:cBhvr>
                                        <p:cTn id="58" dur="500"/>
                                        <p:tgtEl>
                                          <p:spTgt spid="14"/>
                                        </p:tgtEl>
                                      </p:cBhvr>
                                    </p:animEffect>
                                  </p:childTnLst>
                                </p:cTn>
                              </p:par>
                              <p:par>
                                <p:cTn id="64" presetID="2" presetClass="entr" presetSubtype="4" fill="hold" grpId="0" nodeType="withEffect">
                                  <p:stCondLst>
                                    <p:cond delay="24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ppt_y+0.1"/>
                                          </p:val>
                                        </p:tav>
                                        <p:tav tm="100000">
                                          <p:val>
                                            <p:strVal val="#ppt_y"/>
                                          </p:val>
                                        </p:tav>
                                      </p:tavLst>
                                    </p:anim>
                                    <p:animEffect transition="in" filter="fade">
                                      <p:cBhvr>
                                        <p:cTn id="63" dur="500"/>
                                        <p:tgtEl>
                                          <p:spTgt spid="16"/>
                                        </p:tgtEl>
                                      </p:cBhvr>
                                    </p:animEffect>
                                  </p:childTnLst>
                                </p:cTn>
                              </p:par>
                              <p:par>
                                <p:cTn id="69" presetID="2" presetClass="entr" presetSubtype="4" fill="hold" grpId="0" nodeType="withEffect">
                                  <p:stCondLst>
                                    <p:cond delay="24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0.1"/>
                                          </p:val>
                                        </p:tav>
                                        <p:tav tm="100000">
                                          <p:val>
                                            <p:strVal val="#ppt_y"/>
                                          </p:val>
                                        </p:tav>
                                      </p:tavLst>
                                    </p:anim>
                                    <p:animEffect transition="in" filter="fade">
                                      <p:cBhvr>
                                        <p:cTn id="68" dur="500"/>
                                        <p:tgtEl>
                                          <p:spTgt spid="17"/>
                                        </p:tgtEl>
                                      </p:cBhvr>
                                    </p:animEffect>
                                  </p:childTnLst>
                                </p:cTn>
                              </p:par>
                              <p:par>
                                <p:cTn id="74" presetID="2" presetClass="entr" presetSubtype="4" fill="hold" grpId="0" nodeType="withEffect">
                                  <p:stCondLst>
                                    <p:cond delay="25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ppt_x</p:attrName>
                                        </p:attrNameLst>
                                      </p:cBhvr>
                                      <p:tavLst>
                                        <p:tav tm="0">
                                          <p:val>
                                            <p:strVal val="#ppt_x"/>
                                          </p:val>
                                        </p:tav>
                                        <p:tav tm="100000">
                                          <p:val>
                                            <p:strVal val="#ppt_x"/>
                                          </p:val>
                                        </p:tav>
                                      </p:tavLst>
                                    </p:anim>
                                    <p:anim calcmode="lin" valueType="num">
                                      <p:cBhvr additive="base">
                                        <p:cTn id="72" dur="500" fill="hold"/>
                                        <p:tgtEl>
                                          <p:spTgt spid="15"/>
                                        </p:tgtEl>
                                        <p:attrNameLst>
                                          <p:attrName>ppt_y</p:attrName>
                                        </p:attrNameLst>
                                      </p:cBhvr>
                                      <p:tavLst>
                                        <p:tav tm="0">
                                          <p:val>
                                            <p:strVal val="#ppt_y+0.1"/>
                                          </p:val>
                                        </p:tav>
                                        <p:tav tm="100000">
                                          <p:val>
                                            <p:strVal val="#ppt_y"/>
                                          </p:val>
                                        </p:tav>
                                      </p:tavLst>
                                    </p:anim>
                                    <p:animEffect transition="in" filter="fade">
                                      <p:cBhvr>
                                        <p:cTn id="73" dur="500"/>
                                        <p:tgtEl>
                                          <p:spTgt spid="15"/>
                                        </p:tgtEl>
                                      </p:cBhvr>
                                    </p:animEffect>
                                  </p:childTnLst>
                                </p:cTn>
                              </p:par>
                              <p:par>
                                <p:cTn id="79" presetID="2" presetClass="entr" presetSubtype="4" fill="hold" grpId="0" nodeType="withEffect">
                                  <p:stCondLst>
                                    <p:cond delay="28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0.1"/>
                                          </p:val>
                                        </p:tav>
                                        <p:tav tm="100000">
                                          <p:val>
                                            <p:strVal val="#ppt_y"/>
                                          </p:val>
                                        </p:tav>
                                      </p:tavLst>
                                    </p:anim>
                                    <p:animEffect transition="in" filter="fade">
                                      <p:cBhvr>
                                        <p:cTn id="78" dur="500"/>
                                        <p:tgtEl>
                                          <p:spTgt spid="18"/>
                                        </p:tgtEl>
                                      </p:cBhvr>
                                    </p:animEffect>
                                  </p:childTnLst>
                                </p:cTn>
                              </p:par>
                              <p:par>
                                <p:cTn id="84" presetID="2" presetClass="entr" presetSubtype="4" fill="hold" grpId="0" nodeType="withEffect">
                                  <p:stCondLst>
                                    <p:cond delay="31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ppt_y+0.1"/>
                                          </p:val>
                                        </p:tav>
                                        <p:tav tm="100000">
                                          <p:val>
                                            <p:strVal val="#ppt_y"/>
                                          </p:val>
                                        </p:tav>
                                      </p:tavLst>
                                    </p:anim>
                                    <p:animEffect transition="in" filter="fade">
                                      <p:cBhvr>
                                        <p:cTn id="83" dur="500"/>
                                        <p:tgtEl>
                                          <p:spTgt spid="19"/>
                                        </p:tgtEl>
                                      </p:cBhvr>
                                    </p:animEffect>
                                  </p:childTnLst>
                                </p:cTn>
                              </p:par>
                              <p:par>
                                <p:cTn id="89" presetID="2" presetClass="entr" presetSubtype="4" fill="hold" grpId="0" nodeType="withEffect">
                                  <p:stCondLst>
                                    <p:cond delay="340"/>
                                  </p:stCondLst>
                                  <p:childTnLst>
                                    <p:set>
                                      <p:cBhvr>
                                        <p:cTn id="85" dur="1" fill="hold">
                                          <p:stCondLst>
                                            <p:cond delay="0"/>
                                          </p:stCondLst>
                                        </p:cTn>
                                        <p:tgtEl>
                                          <p:spTgt spid="20"/>
                                        </p:tgtEl>
                                        <p:attrNameLst>
                                          <p:attrName>style.visibility</p:attrName>
                                        </p:attrNameLst>
                                      </p:cBhvr>
                                      <p:to>
                                        <p:strVal val="visible"/>
                                      </p:to>
                                    </p:set>
                                    <p:anim calcmode="lin" valueType="num">
                                      <p:cBhvr additive="base">
                                        <p:cTn id="86" dur="500" fill="hold"/>
                                        <p:tgtEl>
                                          <p:spTgt spid="20"/>
                                        </p:tgtEl>
                                        <p:attrNameLst>
                                          <p:attrName>ppt_x</p:attrName>
                                        </p:attrNameLst>
                                      </p:cBhvr>
                                      <p:tavLst>
                                        <p:tav tm="0">
                                          <p:val>
                                            <p:strVal val="#ppt_x"/>
                                          </p:val>
                                        </p:tav>
                                        <p:tav tm="100000">
                                          <p:val>
                                            <p:strVal val="#ppt_x"/>
                                          </p:val>
                                        </p:tav>
                                      </p:tavLst>
                                    </p:anim>
                                    <p:anim calcmode="lin" valueType="num">
                                      <p:cBhvr additive="base">
                                        <p:cTn id="87" dur="500" fill="hold"/>
                                        <p:tgtEl>
                                          <p:spTgt spid="20"/>
                                        </p:tgtEl>
                                        <p:attrNameLst>
                                          <p:attrName>ppt_y</p:attrName>
                                        </p:attrNameLst>
                                      </p:cBhvr>
                                      <p:tavLst>
                                        <p:tav tm="0">
                                          <p:val>
                                            <p:strVal val="#ppt_y+0.1"/>
                                          </p:val>
                                        </p:tav>
                                        <p:tav tm="100000">
                                          <p:val>
                                            <p:strVal val="#ppt_y"/>
                                          </p:val>
                                        </p:tav>
                                      </p:tavLst>
                                    </p:anim>
                                    <p:animEffect transition="in" filter="fade">
                                      <p:cBhvr>
                                        <p:cTn id="88" dur="500"/>
                                        <p:tgtEl>
                                          <p:spTgt spid="20"/>
                                        </p:tgtEl>
                                      </p:cBhvr>
                                    </p:animEffect>
                                  </p:childTnLst>
                                </p:cTn>
                              </p:par>
                              <p:par>
                                <p:cTn id="94" presetID="2" presetClass="entr" presetSubtype="4" fill="hold" grpId="0" nodeType="withEffect">
                                  <p:stCondLst>
                                    <p:cond delay="370"/>
                                  </p:stCondLst>
                                  <p:childTnLst>
                                    <p:set>
                                      <p:cBhvr>
                                        <p:cTn id="90" dur="1" fill="hold">
                                          <p:stCondLst>
                                            <p:cond delay="0"/>
                                          </p:stCondLst>
                                        </p:cTn>
                                        <p:tgtEl>
                                          <p:spTgt spid="21"/>
                                        </p:tgtEl>
                                        <p:attrNameLst>
                                          <p:attrName>style.visibility</p:attrName>
                                        </p:attrNameLst>
                                      </p:cBhvr>
                                      <p:to>
                                        <p:strVal val="visible"/>
                                      </p:to>
                                    </p:set>
                                    <p:anim calcmode="lin" valueType="num">
                                      <p:cBhvr additive="base">
                                        <p:cTn id="91" dur="500" fill="hold"/>
                                        <p:tgtEl>
                                          <p:spTgt spid="21"/>
                                        </p:tgtEl>
                                        <p:attrNameLst>
                                          <p:attrName>ppt_x</p:attrName>
                                        </p:attrNameLst>
                                      </p:cBhvr>
                                      <p:tavLst>
                                        <p:tav tm="0">
                                          <p:val>
                                            <p:strVal val="#ppt_x"/>
                                          </p:val>
                                        </p:tav>
                                        <p:tav tm="100000">
                                          <p:val>
                                            <p:strVal val="#ppt_x"/>
                                          </p:val>
                                        </p:tav>
                                      </p:tavLst>
                                    </p:anim>
                                    <p:anim calcmode="lin" valueType="num">
                                      <p:cBhvr additive="base">
                                        <p:cTn id="92" dur="500" fill="hold"/>
                                        <p:tgtEl>
                                          <p:spTgt spid="21"/>
                                        </p:tgtEl>
                                        <p:attrNameLst>
                                          <p:attrName>ppt_y</p:attrName>
                                        </p:attrNameLst>
                                      </p:cBhvr>
                                      <p:tavLst>
                                        <p:tav tm="0">
                                          <p:val>
                                            <p:strVal val="#ppt_y+0.1"/>
                                          </p:val>
                                        </p:tav>
                                        <p:tav tm="100000">
                                          <p:val>
                                            <p:strVal val="#ppt_y"/>
                                          </p:val>
                                        </p:tav>
                                      </p:tavLst>
                                    </p:anim>
                                    <p:animEffect transition="in" filter="fade">
                                      <p:cBhvr>
                                        <p:cTn id="93" dur="500"/>
                                        <p:tgtEl>
                                          <p:spTgt spid="21"/>
                                        </p:tgtEl>
                                      </p:cBhvr>
                                    </p:animEffect>
                                  </p:childTnLst>
                                </p:cTn>
                              </p:par>
                            </p:childTnLst>
                          </p:cTn>
                        </p:par>
                      </p:childTnLst>
                    </p:cTn>
                  </p:par>
                  <p:par>
                    <p:cTn id="95" fill="hold">
                      <p:stCondLst>
                        <p:cond delay="indefinite"/>
                      </p:stCondLst>
                      <p:childTnLst>
                        <p:par>
                          <p:cTn id="96" fill="hold">
                            <p:stCondLst>
                              <p:cond delay="0"/>
                            </p:stCondLst>
                            <p:childTnLst>
                              <p:par>
                                <p:cTn id="101" presetID="2" presetClass="entr" presetSubtype="4" fill="hold" grpId="0" nodeType="clickEffect">
                                  <p:stCondLst>
                                    <p:cond delay="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1"/>
                                          </p:val>
                                        </p:tav>
                                        <p:tav tm="100000">
                                          <p:val>
                                            <p:strVal val="#ppt_y"/>
                                          </p:val>
                                        </p:tav>
                                      </p:tavLst>
                                    </p:anim>
                                    <p:animEffect transition="in" filter="fade">
                                      <p:cBhvr>
                                        <p:cTn id="100" dur="500"/>
                                        <p:tgtEl>
                                          <p:spTgt spid="22"/>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ppt_x</p:attrName>
                                        </p:attrNameLst>
                                      </p:cBhvr>
                                      <p:tavLst>
                                        <p:tav tm="0">
                                          <p:val>
                                            <p:strVal val="#ppt_x"/>
                                          </p:val>
                                        </p:tav>
                                        <p:tav tm="100000">
                                          <p:val>
                                            <p:strVal val="#ppt_x"/>
                                          </p:val>
                                        </p:tav>
                                      </p:tavLst>
                                    </p:anim>
                                    <p:anim calcmode="lin" valueType="num">
                                      <p:cBhvr additive="base">
                                        <p:cTn id="104" dur="500" fill="hold"/>
                                        <p:tgtEl>
                                          <p:spTgt spid="23"/>
                                        </p:tgtEl>
                                        <p:attrNameLst>
                                          <p:attrName>ppt_y</p:attrName>
                                        </p:attrNameLst>
                                      </p:cBhvr>
                                      <p:tavLst>
                                        <p:tav tm="0">
                                          <p:val>
                                            <p:strVal val="#ppt_y+0.1"/>
                                          </p:val>
                                        </p:tav>
                                        <p:tav tm="100000">
                                          <p:val>
                                            <p:strVal val="#ppt_y"/>
                                          </p:val>
                                        </p:tav>
                                      </p:tavLst>
                                    </p:anim>
                                    <p:animEffect transition="in" filter="fade">
                                      <p:cBhvr>
                                        <p:cTn id="105" dur="500"/>
                                        <p:tgtEl>
                                          <p:spTgt spid="23"/>
                                        </p:tgtEl>
                                      </p:cBhvr>
                                    </p:animEffect>
                                  </p:childTnLst>
                                </p:cTn>
                              </p:par>
                              <p:par>
                                <p:cTn id="111" presetID="2" presetClass="entr" presetSubtype="4" fill="hold" grpId="0" nodeType="withEffect">
                                  <p:stCondLst>
                                    <p:cond delay="40"/>
                                  </p:stCondLst>
                                  <p:childTnLst>
                                    <p:set>
                                      <p:cBhvr>
                                        <p:cTn id="107" dur="1" fill="hold">
                                          <p:stCondLst>
                                            <p:cond delay="0"/>
                                          </p:stCondLst>
                                        </p:cTn>
                                        <p:tgtEl>
                                          <p:spTgt spid="24"/>
                                        </p:tgtEl>
                                        <p:attrNameLst>
                                          <p:attrName>style.visibility</p:attrName>
                                        </p:attrNameLst>
                                      </p:cBhvr>
                                      <p:to>
                                        <p:strVal val="visible"/>
                                      </p:to>
                                    </p:set>
                                    <p:anim calcmode="lin" valueType="num">
                                      <p:cBhvr additive="base">
                                        <p:cTn id="108" dur="500" fill="hold"/>
                                        <p:tgtEl>
                                          <p:spTgt spid="24"/>
                                        </p:tgtEl>
                                        <p:attrNameLst>
                                          <p:attrName>ppt_x</p:attrName>
                                        </p:attrNameLst>
                                      </p:cBhvr>
                                      <p:tavLst>
                                        <p:tav tm="0">
                                          <p:val>
                                            <p:strVal val="#ppt_x"/>
                                          </p:val>
                                        </p:tav>
                                        <p:tav tm="100000">
                                          <p:val>
                                            <p:strVal val="#ppt_x"/>
                                          </p:val>
                                        </p:tav>
                                      </p:tavLst>
                                    </p:anim>
                                    <p:anim calcmode="lin" valueType="num">
                                      <p:cBhvr additive="base">
                                        <p:cTn id="109" dur="500" fill="hold"/>
                                        <p:tgtEl>
                                          <p:spTgt spid="24"/>
                                        </p:tgtEl>
                                        <p:attrNameLst>
                                          <p:attrName>ppt_y</p:attrName>
                                        </p:attrNameLst>
                                      </p:cBhvr>
                                      <p:tavLst>
                                        <p:tav tm="0">
                                          <p:val>
                                            <p:strVal val="#ppt_y+0.1"/>
                                          </p:val>
                                        </p:tav>
                                        <p:tav tm="100000">
                                          <p:val>
                                            <p:strVal val="#ppt_y"/>
                                          </p:val>
                                        </p:tav>
                                      </p:tavLst>
                                    </p:anim>
                                    <p:animEffect transition="in" filter="fade">
                                      <p:cBhvr>
                                        <p:cTn id="110" dur="500"/>
                                        <p:tgtEl>
                                          <p:spTgt spid="24"/>
                                        </p:tgtEl>
                                      </p:cBhvr>
                                    </p:animEffect>
                                  </p:childTnLst>
                                </p:cTn>
                              </p:par>
                              <p:par>
                                <p:cTn id="116" presetID="2" presetClass="entr" presetSubtype="4" fill="hold" grpId="0" nodeType="withEffect">
                                  <p:stCondLst>
                                    <p:cond delay="70"/>
                                  </p:stCondLst>
                                  <p:childTnLst>
                                    <p:set>
                                      <p:cBhvr>
                                        <p:cTn id="112" dur="1" fill="hold">
                                          <p:stCondLst>
                                            <p:cond delay="0"/>
                                          </p:stCondLst>
                                        </p:cTn>
                                        <p:tgtEl>
                                          <p:spTgt spid="25"/>
                                        </p:tgtEl>
                                        <p:attrNameLst>
                                          <p:attrName>style.visibility</p:attrName>
                                        </p:attrNameLst>
                                      </p:cBhvr>
                                      <p:to>
                                        <p:strVal val="visible"/>
                                      </p:to>
                                    </p:se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1"/>
                                          </p:val>
                                        </p:tav>
                                        <p:tav tm="100000">
                                          <p:val>
                                            <p:strVal val="#ppt_y"/>
                                          </p:val>
                                        </p:tav>
                                      </p:tavLst>
                                    </p:anim>
                                    <p:animEffect transition="in" filter="fade">
                                      <p:cBhvr>
                                        <p:cTn id="115" dur="500"/>
                                        <p:tgtEl>
                                          <p:spTgt spid="25"/>
                                        </p:tgtEl>
                                      </p:cBhvr>
                                    </p:animEffect>
                                  </p:childTnLst>
                                </p:cTn>
                              </p:par>
                              <p:par>
                                <p:cTn id="121" presetID="2" presetClass="entr" presetSubtype="4" fill="hold" grpId="0" nodeType="withEffect">
                                  <p:stCondLst>
                                    <p:cond delay="100"/>
                                  </p:stCondLst>
                                  <p:childTnLst>
                                    <p:set>
                                      <p:cBhvr>
                                        <p:cTn id="117" dur="1" fill="hold">
                                          <p:stCondLst>
                                            <p:cond delay="0"/>
                                          </p:stCondLst>
                                        </p:cTn>
                                        <p:tgtEl>
                                          <p:spTgt spid="26"/>
                                        </p:tgtEl>
                                        <p:attrNameLst>
                                          <p:attrName>style.visibility</p:attrName>
                                        </p:attrNameLst>
                                      </p:cBhvr>
                                      <p:to>
                                        <p:strVal val="visible"/>
                                      </p:to>
                                    </p:set>
                                    <p:anim calcmode="lin" valueType="num">
                                      <p:cBhvr additive="base">
                                        <p:cTn id="118" dur="500" fill="hold"/>
                                        <p:tgtEl>
                                          <p:spTgt spid="26"/>
                                        </p:tgtEl>
                                        <p:attrNameLst>
                                          <p:attrName>ppt_x</p:attrName>
                                        </p:attrNameLst>
                                      </p:cBhvr>
                                      <p:tavLst>
                                        <p:tav tm="0">
                                          <p:val>
                                            <p:strVal val="#ppt_x"/>
                                          </p:val>
                                        </p:tav>
                                        <p:tav tm="100000">
                                          <p:val>
                                            <p:strVal val="#ppt_x"/>
                                          </p:val>
                                        </p:tav>
                                      </p:tavLst>
                                    </p:anim>
                                    <p:anim calcmode="lin" valueType="num">
                                      <p:cBhvr additive="base">
                                        <p:cTn id="119" dur="500" fill="hold"/>
                                        <p:tgtEl>
                                          <p:spTgt spid="26"/>
                                        </p:tgtEl>
                                        <p:attrNameLst>
                                          <p:attrName>ppt_y</p:attrName>
                                        </p:attrNameLst>
                                      </p:cBhvr>
                                      <p:tavLst>
                                        <p:tav tm="0">
                                          <p:val>
                                            <p:strVal val="#ppt_y+0.1"/>
                                          </p:val>
                                        </p:tav>
                                        <p:tav tm="100000">
                                          <p:val>
                                            <p:strVal val="#ppt_y"/>
                                          </p:val>
                                        </p:tav>
                                      </p:tavLst>
                                    </p:anim>
                                    <p:animEffect transition="in" filter="fade">
                                      <p:cBhvr>
                                        <p:cTn id="120" dur="500"/>
                                        <p:tgtEl>
                                          <p:spTgt spid="26"/>
                                        </p:tgtEl>
                                      </p:cBhvr>
                                    </p:animEffect>
                                  </p:childTnLst>
                                </p:cTn>
                              </p:par>
                              <p:par>
                                <p:cTn id="126" presetID="2" presetClass="entr" presetSubtype="4" fill="hold" grpId="0" nodeType="withEffect">
                                  <p:stCondLst>
                                    <p:cond delay="120"/>
                                  </p:stCondLst>
                                  <p:childTnLst>
                                    <p:set>
                                      <p:cBhvr>
                                        <p:cTn id="122" dur="1" fill="hold">
                                          <p:stCondLst>
                                            <p:cond delay="0"/>
                                          </p:stCondLst>
                                        </p:cTn>
                                        <p:tgtEl>
                                          <p:spTgt spid="28"/>
                                        </p:tgtEl>
                                        <p:attrNameLst>
                                          <p:attrName>style.visibility</p:attrName>
                                        </p:attrNameLst>
                                      </p:cBhvr>
                                      <p:to>
                                        <p:strVal val="visible"/>
                                      </p:to>
                                    </p:se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0.1"/>
                                          </p:val>
                                        </p:tav>
                                        <p:tav tm="100000">
                                          <p:val>
                                            <p:strVal val="#ppt_y"/>
                                          </p:val>
                                        </p:tav>
                                      </p:tavLst>
                                    </p:anim>
                                    <p:animEffect transition="in" filter="fade">
                                      <p:cBhvr>
                                        <p:cTn id="125" dur="500"/>
                                        <p:tgtEl>
                                          <p:spTgt spid="28"/>
                                        </p:tgtEl>
                                      </p:cBhvr>
                                    </p:animEffect>
                                  </p:childTnLst>
                                </p:cTn>
                              </p:par>
                              <p:par>
                                <p:cTn id="131" presetID="2" presetClass="entr" presetSubtype="4" fill="hold" grpId="0" nodeType="withEffect">
                                  <p:stCondLst>
                                    <p:cond delay="120"/>
                                  </p:stCondLst>
                                  <p:childTnLst>
                                    <p:set>
                                      <p:cBhvr>
                                        <p:cTn id="127" dur="1" fill="hold">
                                          <p:stCondLst>
                                            <p:cond delay="0"/>
                                          </p:stCondLst>
                                        </p:cTn>
                                        <p:tgtEl>
                                          <p:spTgt spid="29"/>
                                        </p:tgtEl>
                                        <p:attrNameLst>
                                          <p:attrName>style.visibility</p:attrName>
                                        </p:attrNameLst>
                                      </p:cBhvr>
                                      <p:to>
                                        <p:strVal val="visible"/>
                                      </p:to>
                                    </p:set>
                                    <p:anim calcmode="lin" valueType="num">
                                      <p:cBhvr additive="base">
                                        <p:cTn id="128" dur="500" fill="hold"/>
                                        <p:tgtEl>
                                          <p:spTgt spid="29"/>
                                        </p:tgtEl>
                                        <p:attrNameLst>
                                          <p:attrName>ppt_x</p:attrName>
                                        </p:attrNameLst>
                                      </p:cBhvr>
                                      <p:tavLst>
                                        <p:tav tm="0">
                                          <p:val>
                                            <p:strVal val="#ppt_x"/>
                                          </p:val>
                                        </p:tav>
                                        <p:tav tm="100000">
                                          <p:val>
                                            <p:strVal val="#ppt_x"/>
                                          </p:val>
                                        </p:tav>
                                      </p:tavLst>
                                    </p:anim>
                                    <p:anim calcmode="lin" valueType="num">
                                      <p:cBhvr additive="base">
                                        <p:cTn id="129" dur="500" fill="hold"/>
                                        <p:tgtEl>
                                          <p:spTgt spid="29"/>
                                        </p:tgtEl>
                                        <p:attrNameLst>
                                          <p:attrName>ppt_y</p:attrName>
                                        </p:attrNameLst>
                                      </p:cBhvr>
                                      <p:tavLst>
                                        <p:tav tm="0">
                                          <p:val>
                                            <p:strVal val="#ppt_y+0.1"/>
                                          </p:val>
                                        </p:tav>
                                        <p:tav tm="100000">
                                          <p:val>
                                            <p:strVal val="#ppt_y"/>
                                          </p:val>
                                        </p:tav>
                                      </p:tavLst>
                                    </p:anim>
                                    <p:animEffect transition="in" filter="fade">
                                      <p:cBhvr>
                                        <p:cTn id="130" dur="500"/>
                                        <p:tgtEl>
                                          <p:spTgt spid="29"/>
                                        </p:tgtEl>
                                      </p:cBhvr>
                                    </p:animEffect>
                                  </p:childTnLst>
                                </p:cTn>
                              </p:par>
                              <p:par>
                                <p:cTn id="136" presetID="2" presetClass="entr" presetSubtype="4" fill="hold" grpId="0" nodeType="withEffect">
                                  <p:stCondLst>
                                    <p:cond delay="130"/>
                                  </p:stCondLst>
                                  <p:childTnLst>
                                    <p:set>
                                      <p:cBhvr>
                                        <p:cTn id="132" dur="1" fill="hold">
                                          <p:stCondLst>
                                            <p:cond delay="0"/>
                                          </p:stCondLst>
                                        </p:cTn>
                                        <p:tgtEl>
                                          <p:spTgt spid="27"/>
                                        </p:tgtEl>
                                        <p:attrNameLst>
                                          <p:attrName>style.visibility</p:attrName>
                                        </p:attrNameLst>
                                      </p:cBhvr>
                                      <p:to>
                                        <p:strVal val="visible"/>
                                      </p:to>
                                    </p:set>
                                    <p:anim calcmode="lin" valueType="num">
                                      <p:cBhvr additive="base">
                                        <p:cTn id="133" dur="500" fill="hold"/>
                                        <p:tgtEl>
                                          <p:spTgt spid="27"/>
                                        </p:tgtEl>
                                        <p:attrNameLst>
                                          <p:attrName>ppt_x</p:attrName>
                                        </p:attrNameLst>
                                      </p:cBhvr>
                                      <p:tavLst>
                                        <p:tav tm="0">
                                          <p:val>
                                            <p:strVal val="#ppt_x"/>
                                          </p:val>
                                        </p:tav>
                                        <p:tav tm="100000">
                                          <p:val>
                                            <p:strVal val="#ppt_x"/>
                                          </p:val>
                                        </p:tav>
                                      </p:tavLst>
                                    </p:anim>
                                    <p:anim calcmode="lin" valueType="num">
                                      <p:cBhvr additive="base">
                                        <p:cTn id="134" dur="500" fill="hold"/>
                                        <p:tgtEl>
                                          <p:spTgt spid="27"/>
                                        </p:tgtEl>
                                        <p:attrNameLst>
                                          <p:attrName>ppt_y</p:attrName>
                                        </p:attrNameLst>
                                      </p:cBhvr>
                                      <p:tavLst>
                                        <p:tav tm="0">
                                          <p:val>
                                            <p:strVal val="#ppt_y+0.1"/>
                                          </p:val>
                                        </p:tav>
                                        <p:tav tm="100000">
                                          <p:val>
                                            <p:strVal val="#ppt_y"/>
                                          </p:val>
                                        </p:tav>
                                      </p:tavLst>
                                    </p:anim>
                                    <p:animEffect transition="in" filter="fade">
                                      <p:cBhvr>
                                        <p:cTn id="135" dur="500"/>
                                        <p:tgtEl>
                                          <p:spTgt spid="27"/>
                                        </p:tgtEl>
                                      </p:cBhvr>
                                    </p:animEffect>
                                  </p:childTnLst>
                                </p:cTn>
                              </p:par>
                              <p:par>
                                <p:cTn id="141" presetID="2" presetClass="entr" presetSubtype="4" fill="hold" grpId="0" nodeType="withEffect">
                                  <p:stCondLst>
                                    <p:cond delay="160"/>
                                  </p:stCondLst>
                                  <p:childTnLst>
                                    <p:set>
                                      <p:cBhvr>
                                        <p:cTn id="137" dur="1" fill="hold">
                                          <p:stCondLst>
                                            <p:cond delay="0"/>
                                          </p:stCondLst>
                                        </p:cTn>
                                        <p:tgtEl>
                                          <p:spTgt spid="30"/>
                                        </p:tgtEl>
                                        <p:attrNameLst>
                                          <p:attrName>style.visibility</p:attrName>
                                        </p:attrNameLst>
                                      </p:cBhvr>
                                      <p:to>
                                        <p:strVal val="visible"/>
                                      </p:to>
                                    </p:set>
                                    <p:anim calcmode="lin" valueType="num">
                                      <p:cBhvr additive="base">
                                        <p:cTn id="138" dur="500" fill="hold"/>
                                        <p:tgtEl>
                                          <p:spTgt spid="30"/>
                                        </p:tgtEl>
                                        <p:attrNameLst>
                                          <p:attrName>ppt_x</p:attrName>
                                        </p:attrNameLst>
                                      </p:cBhvr>
                                      <p:tavLst>
                                        <p:tav tm="0">
                                          <p:val>
                                            <p:strVal val="#ppt_x"/>
                                          </p:val>
                                        </p:tav>
                                        <p:tav tm="100000">
                                          <p:val>
                                            <p:strVal val="#ppt_x"/>
                                          </p:val>
                                        </p:tav>
                                      </p:tavLst>
                                    </p:anim>
                                    <p:anim calcmode="lin" valueType="num">
                                      <p:cBhvr additive="base">
                                        <p:cTn id="139" dur="500" fill="hold"/>
                                        <p:tgtEl>
                                          <p:spTgt spid="30"/>
                                        </p:tgtEl>
                                        <p:attrNameLst>
                                          <p:attrName>ppt_y</p:attrName>
                                        </p:attrNameLst>
                                      </p:cBhvr>
                                      <p:tavLst>
                                        <p:tav tm="0">
                                          <p:val>
                                            <p:strVal val="#ppt_y+0.1"/>
                                          </p:val>
                                        </p:tav>
                                        <p:tav tm="100000">
                                          <p:val>
                                            <p:strVal val="#ppt_y"/>
                                          </p:val>
                                        </p:tav>
                                      </p:tavLst>
                                    </p:anim>
                                    <p:animEffect transition="in" filter="fade">
                                      <p:cBhvr>
                                        <p:cTn id="140" dur="500"/>
                                        <p:tgtEl>
                                          <p:spTgt spid="30"/>
                                        </p:tgtEl>
                                      </p:cBhvr>
                                    </p:animEffect>
                                  </p:childTnLst>
                                </p:cTn>
                              </p:par>
                              <p:par>
                                <p:cTn id="146" presetID="2" presetClass="entr" presetSubtype="4" fill="hold" grpId="0" nodeType="withEffect">
                                  <p:stCondLst>
                                    <p:cond delay="190"/>
                                  </p:stCondLst>
                                  <p:childTnLst>
                                    <p:set>
                                      <p:cBhvr>
                                        <p:cTn id="142" dur="1" fill="hold">
                                          <p:stCondLst>
                                            <p:cond delay="0"/>
                                          </p:stCondLst>
                                        </p:cTn>
                                        <p:tgtEl>
                                          <p:spTgt spid="31"/>
                                        </p:tgtEl>
                                        <p:attrNameLst>
                                          <p:attrName>style.visibility</p:attrName>
                                        </p:attrNameLst>
                                      </p:cBhvr>
                                      <p:to>
                                        <p:strVal val="visible"/>
                                      </p:to>
                                    </p:se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1"/>
                                          </p:val>
                                        </p:tav>
                                        <p:tav tm="100000">
                                          <p:val>
                                            <p:strVal val="#ppt_y"/>
                                          </p:val>
                                        </p:tav>
                                      </p:tavLst>
                                    </p:anim>
                                    <p:animEffect transition="in" filter="fade">
                                      <p:cBhvr>
                                        <p:cTn id="145" dur="500"/>
                                        <p:tgtEl>
                                          <p:spTgt spid="31"/>
                                        </p:tgtEl>
                                      </p:cBhvr>
                                    </p:animEffect>
                                  </p:childTnLst>
                                </p:cTn>
                              </p:par>
                              <p:par>
                                <p:cTn id="151" presetID="2" presetClass="entr" presetSubtype="4" fill="hold" grpId="0" nodeType="withEffect">
                                  <p:stCondLst>
                                    <p:cond delay="220"/>
                                  </p:stCondLst>
                                  <p:childTnLst>
                                    <p:set>
                                      <p:cBhvr>
                                        <p:cTn id="147" dur="1" fill="hold">
                                          <p:stCondLst>
                                            <p:cond delay="0"/>
                                          </p:stCondLst>
                                        </p:cTn>
                                        <p:tgtEl>
                                          <p:spTgt spid="32"/>
                                        </p:tgtEl>
                                        <p:attrNameLst>
                                          <p:attrName>style.visibility</p:attrName>
                                        </p:attrNameLst>
                                      </p:cBhvr>
                                      <p:to>
                                        <p:strVal val="visible"/>
                                      </p:to>
                                    </p:set>
                                    <p:anim calcmode="lin" valueType="num">
                                      <p:cBhvr additive="base">
                                        <p:cTn id="148" dur="500" fill="hold"/>
                                        <p:tgtEl>
                                          <p:spTgt spid="32"/>
                                        </p:tgtEl>
                                        <p:attrNameLst>
                                          <p:attrName>ppt_x</p:attrName>
                                        </p:attrNameLst>
                                      </p:cBhvr>
                                      <p:tavLst>
                                        <p:tav tm="0">
                                          <p:val>
                                            <p:strVal val="#ppt_x"/>
                                          </p:val>
                                        </p:tav>
                                        <p:tav tm="100000">
                                          <p:val>
                                            <p:strVal val="#ppt_x"/>
                                          </p:val>
                                        </p:tav>
                                      </p:tavLst>
                                    </p:anim>
                                    <p:anim calcmode="lin" valueType="num">
                                      <p:cBhvr additive="base">
                                        <p:cTn id="149" dur="500" fill="hold"/>
                                        <p:tgtEl>
                                          <p:spTgt spid="32"/>
                                        </p:tgtEl>
                                        <p:attrNameLst>
                                          <p:attrName>ppt_y</p:attrName>
                                        </p:attrNameLst>
                                      </p:cBhvr>
                                      <p:tavLst>
                                        <p:tav tm="0">
                                          <p:val>
                                            <p:strVal val="#ppt_y+0.1"/>
                                          </p:val>
                                        </p:tav>
                                        <p:tav tm="100000">
                                          <p:val>
                                            <p:strVal val="#ppt_y"/>
                                          </p:val>
                                        </p:tav>
                                      </p:tavLst>
                                    </p:anim>
                                    <p:animEffect transition="in" filter="fade">
                                      <p:cBhvr>
                                        <p:cTn id="150" dur="500"/>
                                        <p:tgtEl>
                                          <p:spTgt spid="32"/>
                                        </p:tgtEl>
                                      </p:cBhvr>
                                    </p:animEffect>
                                  </p:childTnLst>
                                </p:cTn>
                              </p:par>
                              <p:par>
                                <p:cTn id="156" presetID="2" presetClass="entr" presetSubtype="4" fill="hold" grpId="0" nodeType="withEffect">
                                  <p:stCondLst>
                                    <p:cond delay="240"/>
                                  </p:stCondLst>
                                  <p:childTnLst>
                                    <p:set>
                                      <p:cBhvr>
                                        <p:cTn id="152" dur="1" fill="hold">
                                          <p:stCondLst>
                                            <p:cond delay="0"/>
                                          </p:stCondLst>
                                        </p:cTn>
                                        <p:tgtEl>
                                          <p:spTgt spid="34"/>
                                        </p:tgtEl>
                                        <p:attrNameLst>
                                          <p:attrName>style.visibility</p:attrName>
                                        </p:attrNameLst>
                                      </p:cBhvr>
                                      <p:to>
                                        <p:strVal val="visible"/>
                                      </p:to>
                                    </p:set>
                                    <p:anim calcmode="lin" valueType="num">
                                      <p:cBhvr additive="base">
                                        <p:cTn id="153" dur="500" fill="hold"/>
                                        <p:tgtEl>
                                          <p:spTgt spid="34"/>
                                        </p:tgtEl>
                                        <p:attrNameLst>
                                          <p:attrName>ppt_x</p:attrName>
                                        </p:attrNameLst>
                                      </p:cBhvr>
                                      <p:tavLst>
                                        <p:tav tm="0">
                                          <p:val>
                                            <p:strVal val="#ppt_x"/>
                                          </p:val>
                                        </p:tav>
                                        <p:tav tm="100000">
                                          <p:val>
                                            <p:strVal val="#ppt_x"/>
                                          </p:val>
                                        </p:tav>
                                      </p:tavLst>
                                    </p:anim>
                                    <p:anim calcmode="lin" valueType="num">
                                      <p:cBhvr additive="base">
                                        <p:cTn id="154" dur="500" fill="hold"/>
                                        <p:tgtEl>
                                          <p:spTgt spid="34"/>
                                        </p:tgtEl>
                                        <p:attrNameLst>
                                          <p:attrName>ppt_y</p:attrName>
                                        </p:attrNameLst>
                                      </p:cBhvr>
                                      <p:tavLst>
                                        <p:tav tm="0">
                                          <p:val>
                                            <p:strVal val="#ppt_y+0.1"/>
                                          </p:val>
                                        </p:tav>
                                        <p:tav tm="100000">
                                          <p:val>
                                            <p:strVal val="#ppt_y"/>
                                          </p:val>
                                        </p:tav>
                                      </p:tavLst>
                                    </p:anim>
                                    <p:animEffect transition="in" filter="fade">
                                      <p:cBhvr>
                                        <p:cTn id="155" dur="500"/>
                                        <p:tgtEl>
                                          <p:spTgt spid="34"/>
                                        </p:tgtEl>
                                      </p:cBhvr>
                                    </p:animEffect>
                                  </p:childTnLst>
                                </p:cTn>
                              </p:par>
                              <p:par>
                                <p:cTn id="161" presetID="2" presetClass="entr" presetSubtype="4" fill="hold" grpId="0" nodeType="withEffect">
                                  <p:stCondLst>
                                    <p:cond delay="240"/>
                                  </p:stCondLst>
                                  <p:childTnLst>
                                    <p:set>
                                      <p:cBhvr>
                                        <p:cTn id="157" dur="1" fill="hold">
                                          <p:stCondLst>
                                            <p:cond delay="0"/>
                                          </p:stCondLst>
                                        </p:cTn>
                                        <p:tgtEl>
                                          <p:spTgt spid="35"/>
                                        </p:tgtEl>
                                        <p:attrNameLst>
                                          <p:attrName>style.visibility</p:attrName>
                                        </p:attrNameLst>
                                      </p:cBhvr>
                                      <p:to>
                                        <p:strVal val="visible"/>
                                      </p:to>
                                    </p:set>
                                    <p:anim calcmode="lin" valueType="num">
                                      <p:cBhvr additive="base">
                                        <p:cTn id="158" dur="500" fill="hold"/>
                                        <p:tgtEl>
                                          <p:spTgt spid="35"/>
                                        </p:tgtEl>
                                        <p:attrNameLst>
                                          <p:attrName>ppt_x</p:attrName>
                                        </p:attrNameLst>
                                      </p:cBhvr>
                                      <p:tavLst>
                                        <p:tav tm="0">
                                          <p:val>
                                            <p:strVal val="#ppt_x"/>
                                          </p:val>
                                        </p:tav>
                                        <p:tav tm="100000">
                                          <p:val>
                                            <p:strVal val="#ppt_x"/>
                                          </p:val>
                                        </p:tav>
                                      </p:tavLst>
                                    </p:anim>
                                    <p:anim calcmode="lin" valueType="num">
                                      <p:cBhvr additive="base">
                                        <p:cTn id="159" dur="500" fill="hold"/>
                                        <p:tgtEl>
                                          <p:spTgt spid="35"/>
                                        </p:tgtEl>
                                        <p:attrNameLst>
                                          <p:attrName>ppt_y</p:attrName>
                                        </p:attrNameLst>
                                      </p:cBhvr>
                                      <p:tavLst>
                                        <p:tav tm="0">
                                          <p:val>
                                            <p:strVal val="#ppt_y+0.1"/>
                                          </p:val>
                                        </p:tav>
                                        <p:tav tm="100000">
                                          <p:val>
                                            <p:strVal val="#ppt_y"/>
                                          </p:val>
                                        </p:tav>
                                      </p:tavLst>
                                    </p:anim>
                                    <p:animEffect transition="in" filter="fade">
                                      <p:cBhvr>
                                        <p:cTn id="160" dur="500"/>
                                        <p:tgtEl>
                                          <p:spTgt spid="35"/>
                                        </p:tgtEl>
                                      </p:cBhvr>
                                    </p:animEffect>
                                  </p:childTnLst>
                                </p:cTn>
                              </p:par>
                              <p:par>
                                <p:cTn id="166" presetID="2" presetClass="entr" presetSubtype="4" fill="hold" grpId="0" nodeType="withEffect">
                                  <p:stCondLst>
                                    <p:cond delay="250"/>
                                  </p:stCondLst>
                                  <p:childTnLst>
                                    <p:set>
                                      <p:cBhvr>
                                        <p:cTn id="162" dur="1" fill="hold">
                                          <p:stCondLst>
                                            <p:cond delay="0"/>
                                          </p:stCondLst>
                                        </p:cTn>
                                        <p:tgtEl>
                                          <p:spTgt spid="33"/>
                                        </p:tgtEl>
                                        <p:attrNameLst>
                                          <p:attrName>style.visibility</p:attrName>
                                        </p:attrNameLst>
                                      </p:cBhvr>
                                      <p:to>
                                        <p:strVal val="visible"/>
                                      </p:to>
                                    </p:set>
                                    <p:anim calcmode="lin" valueType="num">
                                      <p:cBhvr additive="base">
                                        <p:cTn id="163" dur="500" fill="hold"/>
                                        <p:tgtEl>
                                          <p:spTgt spid="33"/>
                                        </p:tgtEl>
                                        <p:attrNameLst>
                                          <p:attrName>ppt_x</p:attrName>
                                        </p:attrNameLst>
                                      </p:cBhvr>
                                      <p:tavLst>
                                        <p:tav tm="0">
                                          <p:val>
                                            <p:strVal val="#ppt_x"/>
                                          </p:val>
                                        </p:tav>
                                        <p:tav tm="100000">
                                          <p:val>
                                            <p:strVal val="#ppt_x"/>
                                          </p:val>
                                        </p:tav>
                                      </p:tavLst>
                                    </p:anim>
                                    <p:anim calcmode="lin" valueType="num">
                                      <p:cBhvr additive="base">
                                        <p:cTn id="164" dur="500" fill="hold"/>
                                        <p:tgtEl>
                                          <p:spTgt spid="33"/>
                                        </p:tgtEl>
                                        <p:attrNameLst>
                                          <p:attrName>ppt_y</p:attrName>
                                        </p:attrNameLst>
                                      </p:cBhvr>
                                      <p:tavLst>
                                        <p:tav tm="0">
                                          <p:val>
                                            <p:strVal val="#ppt_y+0.1"/>
                                          </p:val>
                                        </p:tav>
                                        <p:tav tm="100000">
                                          <p:val>
                                            <p:strVal val="#ppt_y"/>
                                          </p:val>
                                        </p:tav>
                                      </p:tavLst>
                                    </p:anim>
                                    <p:animEffect transition="in" filter="fade">
                                      <p:cBhvr>
                                        <p:cTn id="165" dur="500"/>
                                        <p:tgtEl>
                                          <p:spTgt spid="33"/>
                                        </p:tgtEl>
                                      </p:cBhvr>
                                    </p:animEffect>
                                  </p:childTnLst>
                                </p:cTn>
                              </p:par>
                              <p:par>
                                <p:cTn id="171" presetID="2" presetClass="entr" presetSubtype="4" fill="hold" grpId="0" nodeType="withEffect">
                                  <p:stCondLst>
                                    <p:cond delay="280"/>
                                  </p:stCondLst>
                                  <p:childTnLst>
                                    <p:set>
                                      <p:cBhvr>
                                        <p:cTn id="167" dur="1" fill="hold">
                                          <p:stCondLst>
                                            <p:cond delay="0"/>
                                          </p:stCondLst>
                                        </p:cTn>
                                        <p:tgtEl>
                                          <p:spTgt spid="36"/>
                                        </p:tgtEl>
                                        <p:attrNameLst>
                                          <p:attrName>style.visibility</p:attrName>
                                        </p:attrNameLst>
                                      </p:cBhvr>
                                      <p:to>
                                        <p:strVal val="visible"/>
                                      </p:to>
                                    </p:set>
                                    <p:anim calcmode="lin" valueType="num">
                                      <p:cBhvr additive="base">
                                        <p:cTn id="168" dur="500" fill="hold"/>
                                        <p:tgtEl>
                                          <p:spTgt spid="36"/>
                                        </p:tgtEl>
                                        <p:attrNameLst>
                                          <p:attrName>ppt_x</p:attrName>
                                        </p:attrNameLst>
                                      </p:cBhvr>
                                      <p:tavLst>
                                        <p:tav tm="0">
                                          <p:val>
                                            <p:strVal val="#ppt_x"/>
                                          </p:val>
                                        </p:tav>
                                        <p:tav tm="100000">
                                          <p:val>
                                            <p:strVal val="#ppt_x"/>
                                          </p:val>
                                        </p:tav>
                                      </p:tavLst>
                                    </p:anim>
                                    <p:anim calcmode="lin" valueType="num">
                                      <p:cBhvr additive="base">
                                        <p:cTn id="169" dur="500" fill="hold"/>
                                        <p:tgtEl>
                                          <p:spTgt spid="36"/>
                                        </p:tgtEl>
                                        <p:attrNameLst>
                                          <p:attrName>ppt_y</p:attrName>
                                        </p:attrNameLst>
                                      </p:cBhvr>
                                      <p:tavLst>
                                        <p:tav tm="0">
                                          <p:val>
                                            <p:strVal val="#ppt_y+0.1"/>
                                          </p:val>
                                        </p:tav>
                                        <p:tav tm="100000">
                                          <p:val>
                                            <p:strVal val="#ppt_y"/>
                                          </p:val>
                                        </p:tav>
                                      </p:tavLst>
                                    </p:anim>
                                    <p:animEffect transition="in" filter="fade">
                                      <p:cBhvr>
                                        <p:cTn id="170" dur="500"/>
                                        <p:tgtEl>
                                          <p:spTgt spid="36"/>
                                        </p:tgtEl>
                                      </p:cBhvr>
                                    </p:animEffect>
                                  </p:childTnLst>
                                </p:cTn>
                              </p:par>
                              <p:par>
                                <p:cTn id="176" presetID="2" presetClass="entr" presetSubtype="4" fill="hold" grpId="0" nodeType="withEffect">
                                  <p:stCondLst>
                                    <p:cond delay="310"/>
                                  </p:stCondLst>
                                  <p:childTnLst>
                                    <p:set>
                                      <p:cBhvr>
                                        <p:cTn id="172" dur="1" fill="hold">
                                          <p:stCondLst>
                                            <p:cond delay="0"/>
                                          </p:stCondLst>
                                        </p:cTn>
                                        <p:tgtEl>
                                          <p:spTgt spid="37"/>
                                        </p:tgtEl>
                                        <p:attrNameLst>
                                          <p:attrName>style.visibility</p:attrName>
                                        </p:attrNameLst>
                                      </p:cBhvr>
                                      <p:to>
                                        <p:strVal val="visible"/>
                                      </p:to>
                                    </p:set>
                                    <p:anim calcmode="lin" valueType="num">
                                      <p:cBhvr additive="base">
                                        <p:cTn id="173" dur="500" fill="hold"/>
                                        <p:tgtEl>
                                          <p:spTgt spid="37"/>
                                        </p:tgtEl>
                                        <p:attrNameLst>
                                          <p:attrName>ppt_x</p:attrName>
                                        </p:attrNameLst>
                                      </p:cBhvr>
                                      <p:tavLst>
                                        <p:tav tm="0">
                                          <p:val>
                                            <p:strVal val="#ppt_x"/>
                                          </p:val>
                                        </p:tav>
                                        <p:tav tm="100000">
                                          <p:val>
                                            <p:strVal val="#ppt_x"/>
                                          </p:val>
                                        </p:tav>
                                      </p:tavLst>
                                    </p:anim>
                                    <p:anim calcmode="lin" valueType="num">
                                      <p:cBhvr additive="base">
                                        <p:cTn id="174" dur="500" fill="hold"/>
                                        <p:tgtEl>
                                          <p:spTgt spid="37"/>
                                        </p:tgtEl>
                                        <p:attrNameLst>
                                          <p:attrName>ppt_y</p:attrName>
                                        </p:attrNameLst>
                                      </p:cBhvr>
                                      <p:tavLst>
                                        <p:tav tm="0">
                                          <p:val>
                                            <p:strVal val="#ppt_y+0.1"/>
                                          </p:val>
                                        </p:tav>
                                        <p:tav tm="100000">
                                          <p:val>
                                            <p:strVal val="#ppt_y"/>
                                          </p:val>
                                        </p:tav>
                                      </p:tavLst>
                                    </p:anim>
                                    <p:animEffect transition="in" filter="fade">
                                      <p:cBhvr>
                                        <p:cTn id="175" dur="500"/>
                                        <p:tgtEl>
                                          <p:spTgt spid="37"/>
                                        </p:tgtEl>
                                      </p:cBhvr>
                                    </p:animEffect>
                                  </p:childTnLst>
                                </p:cTn>
                              </p:par>
                              <p:par>
                                <p:cTn id="181" presetID="2" presetClass="entr" presetSubtype="4" fill="hold" grpId="0" nodeType="withEffect">
                                  <p:stCondLst>
                                    <p:cond delay="340"/>
                                  </p:stCondLst>
                                  <p:childTnLst>
                                    <p:set>
                                      <p:cBhvr>
                                        <p:cTn id="177" dur="1" fill="hold">
                                          <p:stCondLst>
                                            <p:cond delay="0"/>
                                          </p:stCondLst>
                                        </p:cTn>
                                        <p:tgtEl>
                                          <p:spTgt spid="38"/>
                                        </p:tgtEl>
                                        <p:attrNameLst>
                                          <p:attrName>style.visibility</p:attrName>
                                        </p:attrNameLst>
                                      </p:cBhvr>
                                      <p:to>
                                        <p:strVal val="visible"/>
                                      </p:to>
                                    </p:set>
                                    <p:anim calcmode="lin" valueType="num">
                                      <p:cBhvr additive="base">
                                        <p:cTn id="178" dur="500" fill="hold"/>
                                        <p:tgtEl>
                                          <p:spTgt spid="38"/>
                                        </p:tgtEl>
                                        <p:attrNameLst>
                                          <p:attrName>ppt_x</p:attrName>
                                        </p:attrNameLst>
                                      </p:cBhvr>
                                      <p:tavLst>
                                        <p:tav tm="0">
                                          <p:val>
                                            <p:strVal val="#ppt_x"/>
                                          </p:val>
                                        </p:tav>
                                        <p:tav tm="100000">
                                          <p:val>
                                            <p:strVal val="#ppt_x"/>
                                          </p:val>
                                        </p:tav>
                                      </p:tavLst>
                                    </p:anim>
                                    <p:anim calcmode="lin" valueType="num">
                                      <p:cBhvr additive="base">
                                        <p:cTn id="179" dur="500" fill="hold"/>
                                        <p:tgtEl>
                                          <p:spTgt spid="38"/>
                                        </p:tgtEl>
                                        <p:attrNameLst>
                                          <p:attrName>ppt_y</p:attrName>
                                        </p:attrNameLst>
                                      </p:cBhvr>
                                      <p:tavLst>
                                        <p:tav tm="0">
                                          <p:val>
                                            <p:strVal val="#ppt_y+0.1"/>
                                          </p:val>
                                        </p:tav>
                                        <p:tav tm="100000">
                                          <p:val>
                                            <p:strVal val="#ppt_y"/>
                                          </p:val>
                                        </p:tav>
                                      </p:tavLst>
                                    </p:anim>
                                    <p:animEffect transition="in" filter="fade">
                                      <p:cBhvr>
                                        <p:cTn id="180" dur="500"/>
                                        <p:tgtEl>
                                          <p:spTgt spid="38"/>
                                        </p:tgtEl>
                                      </p:cBhvr>
                                    </p:animEffect>
                                  </p:childTnLst>
                                </p:cTn>
                              </p:par>
                              <p:par>
                                <p:cTn id="186" presetID="2" presetClass="entr" presetSubtype="4" fill="hold" grpId="0" nodeType="withEffect">
                                  <p:stCondLst>
                                    <p:cond delay="370"/>
                                  </p:stCondLst>
                                  <p:childTnLst>
                                    <p:set>
                                      <p:cBhvr>
                                        <p:cTn id="182" dur="1" fill="hold">
                                          <p:stCondLst>
                                            <p:cond delay="0"/>
                                          </p:stCondLst>
                                        </p:cTn>
                                        <p:tgtEl>
                                          <p:spTgt spid="39"/>
                                        </p:tgtEl>
                                        <p:attrNameLst>
                                          <p:attrName>style.visibility</p:attrName>
                                        </p:attrNameLst>
                                      </p:cBhvr>
                                      <p:to>
                                        <p:strVal val="visible"/>
                                      </p:to>
                                    </p:set>
                                    <p:anim calcmode="lin" valueType="num">
                                      <p:cBhvr additive="base">
                                        <p:cTn id="183" dur="500" fill="hold"/>
                                        <p:tgtEl>
                                          <p:spTgt spid="39"/>
                                        </p:tgtEl>
                                        <p:attrNameLst>
                                          <p:attrName>ppt_x</p:attrName>
                                        </p:attrNameLst>
                                      </p:cBhvr>
                                      <p:tavLst>
                                        <p:tav tm="0">
                                          <p:val>
                                            <p:strVal val="#ppt_x"/>
                                          </p:val>
                                        </p:tav>
                                        <p:tav tm="100000">
                                          <p:val>
                                            <p:strVal val="#ppt_x"/>
                                          </p:val>
                                        </p:tav>
                                      </p:tavLst>
                                    </p:anim>
                                    <p:anim calcmode="lin" valueType="num">
                                      <p:cBhvr additive="base">
                                        <p:cTn id="184" dur="500" fill="hold"/>
                                        <p:tgtEl>
                                          <p:spTgt spid="39"/>
                                        </p:tgtEl>
                                        <p:attrNameLst>
                                          <p:attrName>ppt_y</p:attrName>
                                        </p:attrNameLst>
                                      </p:cBhvr>
                                      <p:tavLst>
                                        <p:tav tm="0">
                                          <p:val>
                                            <p:strVal val="#ppt_y+0.1"/>
                                          </p:val>
                                        </p:tav>
                                        <p:tav tm="100000">
                                          <p:val>
                                            <p:strVal val="#ppt_y"/>
                                          </p:val>
                                        </p:tav>
                                      </p:tavLst>
                                    </p:anim>
                                    <p:animEffect transition="in" filter="fade">
                                      <p:cBhvr>
                                        <p:cTn id="18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h1"/>
          <p:cNvSpPr txBox="1"/>
          <p:nvPr/>
        </p:nvSpPr>
        <p:spPr>
          <a:xfrm>
            <a:off x="548640" y="457200"/>
            <a:ext cx="7863840" cy="548640"/>
          </a:xfrm>
          <a:prstGeom prst="rect">
            <a:avLst/>
          </a:prstGeom>
          <a:noFill/>
        </p:spPr>
        <p:txBody>
          <a:bodyPr wrap="square" lIns="0" tIns="0" rIns="0" bIns="0" anchor="ctr">
            <a:spAutoFit/>
          </a:bodyPr>
          <a:lstStyle/>
          <a:p>
            <a:pPr algn="l"/>
            <a:r>
              <a:rPr sz="3000" b="1">
                <a:solidFill>
                  <a:srgbClr val="FFFFFF"/>
                </a:solidFill>
                <a:latin typeface="Calibri"/>
              </a:rPr>
              <a:t>Where Redis Fits in All of This</a:t>
            </a:r>
          </a:p>
        </p:txBody>
      </p:sp>
      <p:sp>
        <p:nvSpPr>
          <p:cNvPr id="3" name="a0fd250_sub2"/>
          <p:cNvSpPr txBox="1"/>
          <p:nvPr/>
        </p:nvSpPr>
        <p:spPr>
          <a:xfrm>
            <a:off x="548640" y="1024128"/>
            <a:ext cx="7863840" cy="292608"/>
          </a:xfrm>
          <a:prstGeom prst="rect">
            <a:avLst/>
          </a:prstGeom>
          <a:noFill/>
        </p:spPr>
        <p:txBody>
          <a:bodyPr wrap="square" lIns="0" tIns="0" rIns="0" bIns="0" anchor="ctr">
            <a:spAutoFit/>
          </a:bodyPr>
          <a:lstStyle/>
          <a:p>
            <a:pPr algn="l"/>
            <a:r>
              <a:rPr sz="1300" b="0">
                <a:solidFill>
                  <a:srgbClr val="CBD5E1"/>
                </a:solidFill>
                <a:latin typeface="Calibri"/>
              </a:rPr>
              <a:t>Three sentences to carry into the next deck</a:t>
            </a:r>
          </a:p>
        </p:txBody>
      </p:sp>
      <p:sp>
        <p:nvSpPr>
          <p:cNvPr id="4" name="a1u_n3"/>
          <p:cNvSpPr/>
          <p:nvPr/>
        </p:nvSpPr>
        <p:spPr>
          <a:xfrm>
            <a:off x="548640" y="1572768"/>
            <a:ext cx="438912" cy="438912"/>
          </a:xfrm>
          <a:prstGeom prst="roundRect">
            <a:avLst>
              <a:gd name="adj" fmla="val 20833"/>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a1u_nt4"/>
          <p:cNvSpPr txBox="1"/>
          <p:nvPr/>
        </p:nvSpPr>
        <p:spPr>
          <a:xfrm>
            <a:off x="548640" y="1572768"/>
            <a:ext cx="438912" cy="438912"/>
          </a:xfrm>
          <a:prstGeom prst="rect">
            <a:avLst/>
          </a:prstGeom>
          <a:noFill/>
        </p:spPr>
        <p:txBody>
          <a:bodyPr wrap="square" lIns="0" tIns="0" rIns="0" bIns="0" anchor="ctr">
            <a:spAutoFit/>
          </a:bodyPr>
          <a:lstStyle/>
          <a:p>
            <a:pPr algn="ctr"/>
            <a:r>
              <a:rPr sz="1600" b="1">
                <a:solidFill>
                  <a:srgbClr val="FFFFFF"/>
                </a:solidFill>
                <a:latin typeface="Calibri"/>
              </a:rPr>
              <a:t>1</a:t>
            </a:r>
          </a:p>
        </p:txBody>
      </p:sp>
      <p:sp>
        <p:nvSpPr>
          <p:cNvPr id="6" name="a1ud40_pt5"/>
          <p:cNvSpPr txBox="1"/>
          <p:nvPr/>
        </p:nvSpPr>
        <p:spPr>
          <a:xfrm>
            <a:off x="1170432" y="1536192"/>
            <a:ext cx="4846320" cy="274320"/>
          </a:xfrm>
          <a:prstGeom prst="rect">
            <a:avLst/>
          </a:prstGeom>
          <a:noFill/>
        </p:spPr>
        <p:txBody>
          <a:bodyPr wrap="square" lIns="0" tIns="0" rIns="0" bIns="0" anchor="ctr">
            <a:spAutoFit/>
          </a:bodyPr>
          <a:lstStyle/>
          <a:p>
            <a:pPr algn="l"/>
            <a:r>
              <a:rPr sz="1500" b="1">
                <a:solidFill>
                  <a:srgbClr val="FFFFFF"/>
                </a:solidFill>
                <a:latin typeface="Calibri"/>
              </a:rPr>
              <a:t>A key-value store, first and foremost</a:t>
            </a:r>
          </a:p>
        </p:txBody>
      </p:sp>
      <p:sp>
        <p:nvSpPr>
          <p:cNvPr id="7" name="a1ud80_ps6"/>
          <p:cNvSpPr txBox="1"/>
          <p:nvPr/>
        </p:nvSpPr>
        <p:spPr>
          <a:xfrm>
            <a:off x="1170432" y="1828800"/>
            <a:ext cx="4846320" cy="475488"/>
          </a:xfrm>
          <a:prstGeom prst="rect">
            <a:avLst/>
          </a:prstGeom>
          <a:noFill/>
        </p:spPr>
        <p:txBody>
          <a:bodyPr wrap="square" lIns="0" tIns="0" rIns="0" bIns="0" anchor="t">
            <a:spAutoFit/>
          </a:bodyPr>
          <a:lstStyle/>
          <a:p>
            <a:pPr algn="l"/>
            <a:r>
              <a:rPr sz="1100" b="0">
                <a:solidFill>
                  <a:srgbClr val="CBD5E1"/>
                </a:solidFill>
                <a:latin typeface="Calibri"/>
              </a:rPr>
              <a:t>One key, one hop, no query planner. That is where the speed comes from.</a:t>
            </a:r>
          </a:p>
        </p:txBody>
      </p:sp>
      <p:sp>
        <p:nvSpPr>
          <p:cNvPr id="8" name="a1ud200_n7"/>
          <p:cNvSpPr/>
          <p:nvPr/>
        </p:nvSpPr>
        <p:spPr>
          <a:xfrm>
            <a:off x="548640" y="2505456"/>
            <a:ext cx="438912" cy="438912"/>
          </a:xfrm>
          <a:prstGeom prst="roundRect">
            <a:avLst>
              <a:gd name="adj" fmla="val 20833"/>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1ud200_nt8"/>
          <p:cNvSpPr txBox="1"/>
          <p:nvPr/>
        </p:nvSpPr>
        <p:spPr>
          <a:xfrm>
            <a:off x="548640" y="2505456"/>
            <a:ext cx="438912" cy="438912"/>
          </a:xfrm>
          <a:prstGeom prst="rect">
            <a:avLst/>
          </a:prstGeom>
          <a:noFill/>
        </p:spPr>
        <p:txBody>
          <a:bodyPr wrap="square" lIns="0" tIns="0" rIns="0" bIns="0" anchor="ctr">
            <a:spAutoFit/>
          </a:bodyPr>
          <a:lstStyle/>
          <a:p>
            <a:pPr algn="ctr"/>
            <a:r>
              <a:rPr sz="1600" b="1">
                <a:solidFill>
                  <a:srgbClr val="FFFFFF"/>
                </a:solidFill>
                <a:latin typeface="Calibri"/>
              </a:rPr>
              <a:t>2</a:t>
            </a:r>
          </a:p>
        </p:txBody>
      </p:sp>
      <p:sp>
        <p:nvSpPr>
          <p:cNvPr id="10" name="a1ud240_pt9"/>
          <p:cNvSpPr txBox="1"/>
          <p:nvPr/>
        </p:nvSpPr>
        <p:spPr>
          <a:xfrm>
            <a:off x="1170432" y="2468880"/>
            <a:ext cx="4846320" cy="274320"/>
          </a:xfrm>
          <a:prstGeom prst="rect">
            <a:avLst/>
          </a:prstGeom>
          <a:noFill/>
        </p:spPr>
        <p:txBody>
          <a:bodyPr wrap="square" lIns="0" tIns="0" rIns="0" bIns="0" anchor="ctr">
            <a:spAutoFit/>
          </a:bodyPr>
          <a:lstStyle/>
          <a:p>
            <a:pPr algn="l"/>
            <a:r>
              <a:rPr sz="1500" b="1">
                <a:solidFill>
                  <a:srgbClr val="FFFFFF"/>
                </a:solidFill>
                <a:latin typeface="Calibri"/>
              </a:rPr>
              <a:t>With data structures, not just blobs</a:t>
            </a:r>
          </a:p>
        </p:txBody>
      </p:sp>
      <p:sp>
        <p:nvSpPr>
          <p:cNvPr id="11" name="a1ud280_ps10"/>
          <p:cNvSpPr txBox="1"/>
          <p:nvPr/>
        </p:nvSpPr>
        <p:spPr>
          <a:xfrm>
            <a:off x="1170432" y="2761488"/>
            <a:ext cx="4846320" cy="475488"/>
          </a:xfrm>
          <a:prstGeom prst="rect">
            <a:avLst/>
          </a:prstGeom>
          <a:noFill/>
        </p:spPr>
        <p:txBody>
          <a:bodyPr wrap="square" lIns="0" tIns="0" rIns="0" bIns="0" anchor="t">
            <a:spAutoFit/>
          </a:bodyPr>
          <a:lstStyle/>
          <a:p>
            <a:pPr algn="l"/>
            <a:r>
              <a:rPr sz="1100" b="0">
                <a:solidFill>
                  <a:srgbClr val="CBD5E1"/>
                </a:solidFill>
                <a:latin typeface="Calibri"/>
              </a:rPr>
              <a:t>Lists, sets, sorted sets, hashes and streams live server-side, so the logic moves to the data.</a:t>
            </a:r>
          </a:p>
        </p:txBody>
      </p:sp>
      <p:sp>
        <p:nvSpPr>
          <p:cNvPr id="12" name="a1ud400_n11"/>
          <p:cNvSpPr/>
          <p:nvPr/>
        </p:nvSpPr>
        <p:spPr>
          <a:xfrm>
            <a:off x="548640" y="3438144"/>
            <a:ext cx="438912" cy="438912"/>
          </a:xfrm>
          <a:prstGeom prst="roundRect">
            <a:avLst>
              <a:gd name="adj" fmla="val 20833"/>
            </a:avLst>
          </a:prstGeom>
          <a:solidFill>
            <a:srgbClr val="DC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400_nt12"/>
          <p:cNvSpPr txBox="1"/>
          <p:nvPr/>
        </p:nvSpPr>
        <p:spPr>
          <a:xfrm>
            <a:off x="548640" y="3438144"/>
            <a:ext cx="438912" cy="438912"/>
          </a:xfrm>
          <a:prstGeom prst="rect">
            <a:avLst/>
          </a:prstGeom>
          <a:noFill/>
        </p:spPr>
        <p:txBody>
          <a:bodyPr wrap="square" lIns="0" tIns="0" rIns="0" bIns="0" anchor="ctr">
            <a:spAutoFit/>
          </a:bodyPr>
          <a:lstStyle/>
          <a:p>
            <a:pPr algn="ctr"/>
            <a:r>
              <a:rPr sz="1600" b="1">
                <a:solidFill>
                  <a:srgbClr val="FFFFFF"/>
                </a:solidFill>
                <a:latin typeface="Calibri"/>
              </a:rPr>
              <a:t>3</a:t>
            </a:r>
          </a:p>
        </p:txBody>
      </p:sp>
      <p:sp>
        <p:nvSpPr>
          <p:cNvPr id="14" name="a1ud440_pt13"/>
          <p:cNvSpPr txBox="1"/>
          <p:nvPr/>
        </p:nvSpPr>
        <p:spPr>
          <a:xfrm>
            <a:off x="1170432" y="3401568"/>
            <a:ext cx="4846320" cy="274320"/>
          </a:xfrm>
          <a:prstGeom prst="rect">
            <a:avLst/>
          </a:prstGeom>
          <a:noFill/>
        </p:spPr>
        <p:txBody>
          <a:bodyPr wrap="square" lIns="0" tIns="0" rIns="0" bIns="0" anchor="ctr">
            <a:spAutoFit/>
          </a:bodyPr>
          <a:lstStyle/>
          <a:p>
            <a:pPr algn="l"/>
            <a:r>
              <a:rPr sz="1500" b="1">
                <a:solidFill>
                  <a:srgbClr val="FFFFFF"/>
                </a:solidFill>
                <a:latin typeface="Calibri"/>
              </a:rPr>
              <a:t>In memory, with persistence as a choice</a:t>
            </a:r>
          </a:p>
        </p:txBody>
      </p:sp>
      <p:sp>
        <p:nvSpPr>
          <p:cNvPr id="15" name="a1ud480_ps14"/>
          <p:cNvSpPr txBox="1"/>
          <p:nvPr/>
        </p:nvSpPr>
        <p:spPr>
          <a:xfrm>
            <a:off x="1170432" y="3694176"/>
            <a:ext cx="4846320" cy="475488"/>
          </a:xfrm>
          <a:prstGeom prst="rect">
            <a:avLst/>
          </a:prstGeom>
          <a:noFill/>
        </p:spPr>
        <p:txBody>
          <a:bodyPr wrap="square" lIns="0" tIns="0" rIns="0" bIns="0" anchor="t">
            <a:spAutoFit/>
          </a:bodyPr>
          <a:lstStyle/>
          <a:p>
            <a:pPr algn="l"/>
            <a:r>
              <a:rPr sz="1100" b="0">
                <a:solidFill>
                  <a:srgbClr val="CBD5E1"/>
                </a:solidFill>
                <a:latin typeface="Calibri"/>
              </a:rPr>
              <a:t>RAM is the storage tier. Disk is a durability option you configure, not the default path of a read.</a:t>
            </a:r>
          </a:p>
        </p:txBody>
      </p:sp>
      <p:sp>
        <p:nvSpPr>
          <p:cNvPr id="16" name="a2u_side15"/>
          <p:cNvSpPr/>
          <p:nvPr/>
        </p:nvSpPr>
        <p:spPr>
          <a:xfrm>
            <a:off x="6446520" y="1572768"/>
            <a:ext cx="2240280" cy="2121408"/>
          </a:xfrm>
          <a:prstGeom prst="roundRect">
            <a:avLst>
              <a:gd name="adj" fmla="val 431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sh16"/>
          <p:cNvSpPr txBox="1"/>
          <p:nvPr/>
        </p:nvSpPr>
        <p:spPr>
          <a:xfrm>
            <a:off x="6656832" y="1737360"/>
            <a:ext cx="1828800" cy="237744"/>
          </a:xfrm>
          <a:prstGeom prst="rect">
            <a:avLst/>
          </a:prstGeom>
          <a:noFill/>
        </p:spPr>
        <p:txBody>
          <a:bodyPr wrap="square" lIns="0" tIns="0" rIns="0" bIns="0" anchor="ctr">
            <a:spAutoFit/>
          </a:bodyPr>
          <a:lstStyle/>
          <a:p>
            <a:pPr algn="l"/>
            <a:r>
              <a:rPr sz="900" b="1">
                <a:solidFill>
                  <a:srgbClr val="DC382C"/>
                </a:solidFill>
                <a:latin typeface="Calibri"/>
              </a:rPr>
              <a:t>UP NEXT</a:t>
            </a:r>
          </a:p>
        </p:txBody>
      </p:sp>
      <p:sp>
        <p:nvSpPr>
          <p:cNvPr id="18" name="a2ud120_st17"/>
          <p:cNvSpPr txBox="1"/>
          <p:nvPr/>
        </p:nvSpPr>
        <p:spPr>
          <a:xfrm>
            <a:off x="6656832" y="2029968"/>
            <a:ext cx="1828800" cy="512064"/>
          </a:xfrm>
          <a:prstGeom prst="rect">
            <a:avLst/>
          </a:prstGeom>
          <a:noFill/>
        </p:spPr>
        <p:txBody>
          <a:bodyPr wrap="square" lIns="0" tIns="0" rIns="0" bIns="0" anchor="t">
            <a:spAutoFit/>
          </a:bodyPr>
          <a:lstStyle/>
          <a:p>
            <a:pPr algn="l"/>
            <a:r>
              <a:rPr sz="1050" b="0">
                <a:solidFill>
                  <a:srgbClr val="E2E8F0"/>
                </a:solidFill>
                <a:latin typeface="Calibri"/>
              </a:rPr>
              <a:t>Deck 2 · Redis, distributions and setup</a:t>
            </a:r>
          </a:p>
        </p:txBody>
      </p:sp>
      <p:sp>
        <p:nvSpPr>
          <p:cNvPr id="19" name="a2ud240_st18"/>
          <p:cNvSpPr txBox="1"/>
          <p:nvPr/>
        </p:nvSpPr>
        <p:spPr>
          <a:xfrm>
            <a:off x="6656832" y="2596896"/>
            <a:ext cx="1828800" cy="512064"/>
          </a:xfrm>
          <a:prstGeom prst="rect">
            <a:avLst/>
          </a:prstGeom>
          <a:noFill/>
        </p:spPr>
        <p:txBody>
          <a:bodyPr wrap="square" lIns="0" tIns="0" rIns="0" bIns="0" anchor="t">
            <a:spAutoFit/>
          </a:bodyPr>
          <a:lstStyle/>
          <a:p>
            <a:pPr algn="l"/>
            <a:r>
              <a:rPr sz="1050" b="0">
                <a:solidFill>
                  <a:srgbClr val="E2E8F0"/>
                </a:solidFill>
                <a:latin typeface="Calibri"/>
              </a:rPr>
              <a:t>Deck 3 · Data structures and internals</a:t>
            </a:r>
          </a:p>
        </p:txBody>
      </p:sp>
      <p:sp>
        <p:nvSpPr>
          <p:cNvPr id="20" name="a2ud360_st19"/>
          <p:cNvSpPr txBox="1"/>
          <p:nvPr/>
        </p:nvSpPr>
        <p:spPr>
          <a:xfrm>
            <a:off x="6656832" y="3163824"/>
            <a:ext cx="1828800" cy="512064"/>
          </a:xfrm>
          <a:prstGeom prst="rect">
            <a:avLst/>
          </a:prstGeom>
          <a:noFill/>
        </p:spPr>
        <p:txBody>
          <a:bodyPr wrap="square" lIns="0" tIns="0" rIns="0" bIns="0" anchor="t">
            <a:spAutoFit/>
          </a:bodyPr>
          <a:lstStyle/>
          <a:p>
            <a:pPr algn="l"/>
            <a:r>
              <a:rPr sz="1050" b="0">
                <a:solidFill>
                  <a:srgbClr val="E2E8F0"/>
                </a:solidFill>
                <a:latin typeface="Calibri"/>
              </a:rPr>
              <a:t>Deck 4 · Commands in action</a:t>
            </a:r>
          </a:p>
        </p:txBody>
      </p:sp>
      <p:sp>
        <p:nvSpPr>
          <p:cNvPr id="21" name="ft20"/>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ICICI Bank Learning Academy  ·  Enterprise Data Engineering with SQL, Redis &amp; Kafka</a:t>
            </a:r>
          </a:p>
        </p:txBody>
      </p:sp>
      <p:sp>
        <p:nvSpPr>
          <p:cNvPr id="22" name="ft21"/>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 · NoSQL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0" presetID="10" presetClass="entr" presetSubtype="0" fill="hold" grpId="0" nodeType="withEffect">
                                  <p:stCondLst>
                                    <p:cond delay="25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7"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ppt_y+0.1"/>
                                          </p:val>
                                        </p:tav>
                                        <p:tav tm="100000">
                                          <p:val>
                                            <p:strVal val="#ppt_y"/>
                                          </p:val>
                                        </p:tav>
                                      </p:tavLst>
                                    </p:anim>
                                    <p:animEffect transition="in" filter="fade">
                                      <p:cBhvr>
                                        <p:cTn id="16" dur="500"/>
                                        <p:tgtEl>
                                          <p:spTgt spid="4"/>
                                        </p:tgtEl>
                                      </p:cBhvr>
                                    </p:animEffect>
                                  </p:childTnLst>
                                </p:cTn>
                              </p:par>
                              <p:par>
                                <p:cTn id="22"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ppt_y+0.1"/>
                                          </p:val>
                                        </p:tav>
                                        <p:tav tm="100000">
                                          <p:val>
                                            <p:strVal val="#ppt_y"/>
                                          </p:val>
                                        </p:tav>
                                      </p:tavLst>
                                    </p:anim>
                                    <p:animEffect transition="in" filter="fade">
                                      <p:cBhvr>
                                        <p:cTn id="21" dur="500"/>
                                        <p:tgtEl>
                                          <p:spTgt spid="5"/>
                                        </p:tgtEl>
                                      </p:cBhvr>
                                    </p:animEffect>
                                  </p:childTnLst>
                                </p:cTn>
                              </p:par>
                              <p:par>
                                <p:cTn id="27" presetID="2" presetClass="entr" presetSubtype="4" fill="hold" grpId="0" nodeType="withEffect">
                                  <p:stCondLst>
                                    <p:cond delay="4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ppt_y+0.1"/>
                                          </p:val>
                                        </p:tav>
                                        <p:tav tm="100000">
                                          <p:val>
                                            <p:strVal val="#ppt_y"/>
                                          </p:val>
                                        </p:tav>
                                      </p:tavLst>
                                    </p:anim>
                                    <p:animEffect transition="in" filter="fade">
                                      <p:cBhvr>
                                        <p:cTn id="26" dur="500"/>
                                        <p:tgtEl>
                                          <p:spTgt spid="6"/>
                                        </p:tgtEl>
                                      </p:cBhvr>
                                    </p:animEffect>
                                  </p:childTnLst>
                                </p:cTn>
                              </p:par>
                              <p:par>
                                <p:cTn id="32" presetID="2" presetClass="entr" presetSubtype="4" fill="hold" grpId="0" nodeType="withEffect">
                                  <p:stCondLst>
                                    <p:cond delay="8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ppt_y+0.1"/>
                                          </p:val>
                                        </p:tav>
                                        <p:tav tm="100000">
                                          <p:val>
                                            <p:strVal val="#ppt_y"/>
                                          </p:val>
                                        </p:tav>
                                      </p:tavLst>
                                    </p:anim>
                                    <p:animEffect transition="in" filter="fade">
                                      <p:cBhvr>
                                        <p:cTn id="31" dur="500"/>
                                        <p:tgtEl>
                                          <p:spTgt spid="7"/>
                                        </p:tgtEl>
                                      </p:cBhvr>
                                    </p:animEffect>
                                  </p:childTnLst>
                                </p:cTn>
                              </p:par>
                              <p:par>
                                <p:cTn id="37" presetID="2" presetClass="entr" presetSubtype="4" fill="hold" grpId="0" nodeType="withEffect">
                                  <p:stCondLst>
                                    <p:cond delay="20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ppt_y+0.1"/>
                                          </p:val>
                                        </p:tav>
                                        <p:tav tm="100000">
                                          <p:val>
                                            <p:strVal val="#ppt_y"/>
                                          </p:val>
                                        </p:tav>
                                      </p:tavLst>
                                    </p:anim>
                                    <p:animEffect transition="in" filter="fade">
                                      <p:cBhvr>
                                        <p:cTn id="36" dur="500"/>
                                        <p:tgtEl>
                                          <p:spTgt spid="8"/>
                                        </p:tgtEl>
                                      </p:cBhvr>
                                    </p:animEffect>
                                  </p:childTnLst>
                                </p:cTn>
                              </p:par>
                              <p:par>
                                <p:cTn id="42" presetID="2" presetClass="entr" presetSubtype="4" fill="hold" grpId="0" nodeType="withEffect">
                                  <p:stCondLst>
                                    <p:cond delay="20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ppt_y+0.1"/>
                                          </p:val>
                                        </p:tav>
                                        <p:tav tm="100000">
                                          <p:val>
                                            <p:strVal val="#ppt_y"/>
                                          </p:val>
                                        </p:tav>
                                      </p:tavLst>
                                    </p:anim>
                                    <p:animEffect transition="in" filter="fade">
                                      <p:cBhvr>
                                        <p:cTn id="41" dur="500"/>
                                        <p:tgtEl>
                                          <p:spTgt spid="9"/>
                                        </p:tgtEl>
                                      </p:cBhvr>
                                    </p:animEffect>
                                  </p:childTnLst>
                                </p:cTn>
                              </p:par>
                              <p:par>
                                <p:cTn id="47" presetID="2" presetClass="entr" presetSubtype="4" fill="hold" grpId="0" nodeType="withEffect">
                                  <p:stCondLst>
                                    <p:cond delay="24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ppt_x"/>
                                          </p:val>
                                        </p:tav>
                                        <p:tav tm="100000">
                                          <p:val>
                                            <p:strVal val="#ppt_x"/>
                                          </p:val>
                                        </p:tav>
                                      </p:tavLst>
                                    </p:anim>
                                    <p:anim calcmode="lin" valueType="num">
                                      <p:cBhvr additive="base">
                                        <p:cTn id="45" dur="500" fill="hold"/>
                                        <p:tgtEl>
                                          <p:spTgt spid="10"/>
                                        </p:tgtEl>
                                        <p:attrNameLst>
                                          <p:attrName>ppt_y</p:attrName>
                                        </p:attrNameLst>
                                      </p:cBhvr>
                                      <p:tavLst>
                                        <p:tav tm="0">
                                          <p:val>
                                            <p:strVal val="#ppt_y+0.1"/>
                                          </p:val>
                                        </p:tav>
                                        <p:tav tm="100000">
                                          <p:val>
                                            <p:strVal val="#ppt_y"/>
                                          </p:val>
                                        </p:tav>
                                      </p:tavLst>
                                    </p:anim>
                                    <p:animEffect transition="in" filter="fade">
                                      <p:cBhvr>
                                        <p:cTn id="46" dur="500"/>
                                        <p:tgtEl>
                                          <p:spTgt spid="10"/>
                                        </p:tgtEl>
                                      </p:cBhvr>
                                    </p:animEffect>
                                  </p:childTnLst>
                                </p:cTn>
                              </p:par>
                              <p:par>
                                <p:cTn id="52" presetID="2" presetClass="entr" presetSubtype="4" fill="hold" grpId="0" nodeType="withEffect">
                                  <p:stCondLst>
                                    <p:cond delay="28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ppt_y+0.1"/>
                                          </p:val>
                                        </p:tav>
                                        <p:tav tm="100000">
                                          <p:val>
                                            <p:strVal val="#ppt_y"/>
                                          </p:val>
                                        </p:tav>
                                      </p:tavLst>
                                    </p:anim>
                                    <p:animEffect transition="in" filter="fade">
                                      <p:cBhvr>
                                        <p:cTn id="51" dur="500"/>
                                        <p:tgtEl>
                                          <p:spTgt spid="11"/>
                                        </p:tgtEl>
                                      </p:cBhvr>
                                    </p:animEffect>
                                  </p:childTnLst>
                                </p:cTn>
                              </p:par>
                              <p:par>
                                <p:cTn id="57" presetID="2" presetClass="entr" presetSubtype="4" fill="hold" grpId="0" nodeType="withEffect">
                                  <p:stCondLst>
                                    <p:cond delay="40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ppt_x"/>
                                          </p:val>
                                        </p:tav>
                                        <p:tav tm="100000">
                                          <p:val>
                                            <p:strVal val="#ppt_x"/>
                                          </p:val>
                                        </p:tav>
                                      </p:tavLst>
                                    </p:anim>
                                    <p:anim calcmode="lin" valueType="num">
                                      <p:cBhvr additive="base">
                                        <p:cTn id="55" dur="500" fill="hold"/>
                                        <p:tgtEl>
                                          <p:spTgt spid="12"/>
                                        </p:tgtEl>
                                        <p:attrNameLst>
                                          <p:attrName>ppt_y</p:attrName>
                                        </p:attrNameLst>
                                      </p:cBhvr>
                                      <p:tavLst>
                                        <p:tav tm="0">
                                          <p:val>
                                            <p:strVal val="#ppt_y+0.1"/>
                                          </p:val>
                                        </p:tav>
                                        <p:tav tm="100000">
                                          <p:val>
                                            <p:strVal val="#ppt_y"/>
                                          </p:val>
                                        </p:tav>
                                      </p:tavLst>
                                    </p:anim>
                                    <p:animEffect transition="in" filter="fade">
                                      <p:cBhvr>
                                        <p:cTn id="56" dur="500"/>
                                        <p:tgtEl>
                                          <p:spTgt spid="12"/>
                                        </p:tgtEl>
                                      </p:cBhvr>
                                    </p:animEffect>
                                  </p:childTnLst>
                                </p:cTn>
                              </p:par>
                              <p:par>
                                <p:cTn id="62" presetID="2" presetClass="entr" presetSubtype="4" fill="hold" grpId="0" nodeType="withEffect">
                                  <p:stCondLst>
                                    <p:cond delay="40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ppt_x"/>
                                          </p:val>
                                        </p:tav>
                                        <p:tav tm="100000">
                                          <p:val>
                                            <p:strVal val="#ppt_x"/>
                                          </p:val>
                                        </p:tav>
                                      </p:tavLst>
                                    </p:anim>
                                    <p:anim calcmode="lin" valueType="num">
                                      <p:cBhvr additive="base">
                                        <p:cTn id="60" dur="500" fill="hold"/>
                                        <p:tgtEl>
                                          <p:spTgt spid="13"/>
                                        </p:tgtEl>
                                        <p:attrNameLst>
                                          <p:attrName>ppt_y</p:attrName>
                                        </p:attrNameLst>
                                      </p:cBhvr>
                                      <p:tavLst>
                                        <p:tav tm="0">
                                          <p:val>
                                            <p:strVal val="#ppt_y+0.1"/>
                                          </p:val>
                                        </p:tav>
                                        <p:tav tm="100000">
                                          <p:val>
                                            <p:strVal val="#ppt_y"/>
                                          </p:val>
                                        </p:tav>
                                      </p:tavLst>
                                    </p:anim>
                                    <p:animEffect transition="in" filter="fade">
                                      <p:cBhvr>
                                        <p:cTn id="61" dur="500"/>
                                        <p:tgtEl>
                                          <p:spTgt spid="13"/>
                                        </p:tgtEl>
                                      </p:cBhvr>
                                    </p:animEffect>
                                  </p:childTnLst>
                                </p:cTn>
                              </p:par>
                              <p:par>
                                <p:cTn id="67" presetID="2" presetClass="entr" presetSubtype="4" fill="hold" grpId="0" nodeType="withEffect">
                                  <p:stCondLst>
                                    <p:cond delay="44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00" fill="hold"/>
                                        <p:tgtEl>
                                          <p:spTgt spid="14"/>
                                        </p:tgtEl>
                                        <p:attrNameLst>
                                          <p:attrName>ppt_x</p:attrName>
                                        </p:attrNameLst>
                                      </p:cBhvr>
                                      <p:tavLst>
                                        <p:tav tm="0">
                                          <p:val>
                                            <p:strVal val="#ppt_x"/>
                                          </p:val>
                                        </p:tav>
                                        <p:tav tm="100000">
                                          <p:val>
                                            <p:strVal val="#ppt_x"/>
                                          </p:val>
                                        </p:tav>
                                      </p:tavLst>
                                    </p:anim>
                                    <p:anim calcmode="lin" valueType="num">
                                      <p:cBhvr additive="base">
                                        <p:cTn id="65" dur="500" fill="hold"/>
                                        <p:tgtEl>
                                          <p:spTgt spid="14"/>
                                        </p:tgtEl>
                                        <p:attrNameLst>
                                          <p:attrName>ppt_y</p:attrName>
                                        </p:attrNameLst>
                                      </p:cBhvr>
                                      <p:tavLst>
                                        <p:tav tm="0">
                                          <p:val>
                                            <p:strVal val="#ppt_y+0.1"/>
                                          </p:val>
                                        </p:tav>
                                        <p:tav tm="100000">
                                          <p:val>
                                            <p:strVal val="#ppt_y"/>
                                          </p:val>
                                        </p:tav>
                                      </p:tavLst>
                                    </p:anim>
                                    <p:animEffect transition="in" filter="fade">
                                      <p:cBhvr>
                                        <p:cTn id="66" dur="500"/>
                                        <p:tgtEl>
                                          <p:spTgt spid="14"/>
                                        </p:tgtEl>
                                      </p:cBhvr>
                                    </p:animEffect>
                                  </p:childTnLst>
                                </p:cTn>
                              </p:par>
                              <p:par>
                                <p:cTn id="72" presetID="2" presetClass="entr" presetSubtype="4" fill="hold" grpId="0" nodeType="withEffect">
                                  <p:stCondLst>
                                    <p:cond delay="480"/>
                                  </p:stCondLst>
                                  <p:childTnLst>
                                    <p:set>
                                      <p:cBhvr>
                                        <p:cTn id="68" dur="1" fill="hold">
                                          <p:stCondLst>
                                            <p:cond delay="0"/>
                                          </p:stCondLst>
                                        </p:cTn>
                                        <p:tgtEl>
                                          <p:spTgt spid="15"/>
                                        </p:tgtEl>
                                        <p:attrNameLst>
                                          <p:attrName>style.visibility</p:attrName>
                                        </p:attrNameLst>
                                      </p:cBhvr>
                                      <p:to>
                                        <p:strVal val="visible"/>
                                      </p:to>
                                    </p:set>
                                    <p:anim calcmode="lin" valueType="num">
                                      <p:cBhvr additive="base">
                                        <p:cTn id="69" dur="500" fill="hold"/>
                                        <p:tgtEl>
                                          <p:spTgt spid="15"/>
                                        </p:tgtEl>
                                        <p:attrNameLst>
                                          <p:attrName>ppt_x</p:attrName>
                                        </p:attrNameLst>
                                      </p:cBhvr>
                                      <p:tavLst>
                                        <p:tav tm="0">
                                          <p:val>
                                            <p:strVal val="#ppt_x"/>
                                          </p:val>
                                        </p:tav>
                                        <p:tav tm="100000">
                                          <p:val>
                                            <p:strVal val="#ppt_x"/>
                                          </p:val>
                                        </p:tav>
                                      </p:tavLst>
                                    </p:anim>
                                    <p:anim calcmode="lin" valueType="num">
                                      <p:cBhvr additive="base">
                                        <p:cTn id="70" dur="500" fill="hold"/>
                                        <p:tgtEl>
                                          <p:spTgt spid="15"/>
                                        </p:tgtEl>
                                        <p:attrNameLst>
                                          <p:attrName>ppt_y</p:attrName>
                                        </p:attrNameLst>
                                      </p:cBhvr>
                                      <p:tavLst>
                                        <p:tav tm="0">
                                          <p:val>
                                            <p:strVal val="#ppt_y+0.1"/>
                                          </p:val>
                                        </p:tav>
                                        <p:tav tm="100000">
                                          <p:val>
                                            <p:strVal val="#ppt_y"/>
                                          </p:val>
                                        </p:tav>
                                      </p:tavLst>
                                    </p:anim>
                                    <p:animEffect transition="in" filter="fade">
                                      <p:cBhvr>
                                        <p:cTn id="71"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9" presetID="2" presetClass="entr" presetSubtype="4"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ppt_x</p:attrName>
                                        </p:attrNameLst>
                                      </p:cBhvr>
                                      <p:tavLst>
                                        <p:tav tm="0">
                                          <p:val>
                                            <p:strVal val="#ppt_x"/>
                                          </p:val>
                                        </p:tav>
                                        <p:tav tm="100000">
                                          <p:val>
                                            <p:strVal val="#ppt_x"/>
                                          </p:val>
                                        </p:tav>
                                      </p:tavLst>
                                    </p:anim>
                                    <p:anim calcmode="lin" valueType="num">
                                      <p:cBhvr additive="base">
                                        <p:cTn id="77" dur="500" fill="hold"/>
                                        <p:tgtEl>
                                          <p:spTgt spid="16"/>
                                        </p:tgtEl>
                                        <p:attrNameLst>
                                          <p:attrName>ppt_y</p:attrName>
                                        </p:attrNameLst>
                                      </p:cBhvr>
                                      <p:tavLst>
                                        <p:tav tm="0">
                                          <p:val>
                                            <p:strVal val="#ppt_y+0.1"/>
                                          </p:val>
                                        </p:tav>
                                        <p:tav tm="100000">
                                          <p:val>
                                            <p:strVal val="#ppt_y"/>
                                          </p:val>
                                        </p:tav>
                                      </p:tavLst>
                                    </p:anim>
                                    <p:animEffect transition="in" filter="fade">
                                      <p:cBhvr>
                                        <p:cTn id="78" dur="500"/>
                                        <p:tgtEl>
                                          <p:spTgt spid="16"/>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additive="base">
                                        <p:cTn id="81" dur="500" fill="hold"/>
                                        <p:tgtEl>
                                          <p:spTgt spid="17"/>
                                        </p:tgtEl>
                                        <p:attrNameLst>
                                          <p:attrName>ppt_x</p:attrName>
                                        </p:attrNameLst>
                                      </p:cBhvr>
                                      <p:tavLst>
                                        <p:tav tm="0">
                                          <p:val>
                                            <p:strVal val="#ppt_x"/>
                                          </p:val>
                                        </p:tav>
                                        <p:tav tm="100000">
                                          <p:val>
                                            <p:strVal val="#ppt_x"/>
                                          </p:val>
                                        </p:tav>
                                      </p:tavLst>
                                    </p:anim>
                                    <p:anim calcmode="lin" valueType="num">
                                      <p:cBhvr additive="base">
                                        <p:cTn id="82" dur="500" fill="hold"/>
                                        <p:tgtEl>
                                          <p:spTgt spid="17"/>
                                        </p:tgtEl>
                                        <p:attrNameLst>
                                          <p:attrName>ppt_y</p:attrName>
                                        </p:attrNameLst>
                                      </p:cBhvr>
                                      <p:tavLst>
                                        <p:tav tm="0">
                                          <p:val>
                                            <p:strVal val="#ppt_y+0.1"/>
                                          </p:val>
                                        </p:tav>
                                        <p:tav tm="100000">
                                          <p:val>
                                            <p:strVal val="#ppt_y"/>
                                          </p:val>
                                        </p:tav>
                                      </p:tavLst>
                                    </p:anim>
                                    <p:animEffect transition="in" filter="fade">
                                      <p:cBhvr>
                                        <p:cTn id="83" dur="500"/>
                                        <p:tgtEl>
                                          <p:spTgt spid="17"/>
                                        </p:tgtEl>
                                      </p:cBhvr>
                                    </p:animEffect>
                                  </p:childTnLst>
                                </p:cTn>
                              </p:par>
                              <p:par>
                                <p:cTn id="89" presetID="2" presetClass="entr" presetSubtype="4" fill="hold" grpId="0" nodeType="withEffect">
                                  <p:stCondLst>
                                    <p:cond delay="120"/>
                                  </p:stCondLst>
                                  <p:childTnLst>
                                    <p:set>
                                      <p:cBhvr>
                                        <p:cTn id="85" dur="1" fill="hold">
                                          <p:stCondLst>
                                            <p:cond delay="0"/>
                                          </p:stCondLst>
                                        </p:cTn>
                                        <p:tgtEl>
                                          <p:spTgt spid="18"/>
                                        </p:tgtEl>
                                        <p:attrNameLst>
                                          <p:attrName>style.visibility</p:attrName>
                                        </p:attrNameLst>
                                      </p:cBhvr>
                                      <p:to>
                                        <p:strVal val="visible"/>
                                      </p:to>
                                    </p:set>
                                    <p:anim calcmode="lin" valueType="num">
                                      <p:cBhvr additive="base">
                                        <p:cTn id="86" dur="500" fill="hold"/>
                                        <p:tgtEl>
                                          <p:spTgt spid="18"/>
                                        </p:tgtEl>
                                        <p:attrNameLst>
                                          <p:attrName>ppt_x</p:attrName>
                                        </p:attrNameLst>
                                      </p:cBhvr>
                                      <p:tavLst>
                                        <p:tav tm="0">
                                          <p:val>
                                            <p:strVal val="#ppt_x"/>
                                          </p:val>
                                        </p:tav>
                                        <p:tav tm="100000">
                                          <p:val>
                                            <p:strVal val="#ppt_x"/>
                                          </p:val>
                                        </p:tav>
                                      </p:tavLst>
                                    </p:anim>
                                    <p:anim calcmode="lin" valueType="num">
                                      <p:cBhvr additive="base">
                                        <p:cTn id="87" dur="500" fill="hold"/>
                                        <p:tgtEl>
                                          <p:spTgt spid="18"/>
                                        </p:tgtEl>
                                        <p:attrNameLst>
                                          <p:attrName>ppt_y</p:attrName>
                                        </p:attrNameLst>
                                      </p:cBhvr>
                                      <p:tavLst>
                                        <p:tav tm="0">
                                          <p:val>
                                            <p:strVal val="#ppt_y+0.1"/>
                                          </p:val>
                                        </p:tav>
                                        <p:tav tm="100000">
                                          <p:val>
                                            <p:strVal val="#ppt_y"/>
                                          </p:val>
                                        </p:tav>
                                      </p:tavLst>
                                    </p:anim>
                                    <p:animEffect transition="in" filter="fade">
                                      <p:cBhvr>
                                        <p:cTn id="88" dur="500"/>
                                        <p:tgtEl>
                                          <p:spTgt spid="18"/>
                                        </p:tgtEl>
                                      </p:cBhvr>
                                    </p:animEffect>
                                  </p:childTnLst>
                                </p:cTn>
                              </p:par>
                              <p:par>
                                <p:cTn id="94" presetID="2" presetClass="entr" presetSubtype="4" fill="hold" grpId="0" nodeType="withEffect">
                                  <p:stCondLst>
                                    <p:cond delay="24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ppt_x"/>
                                          </p:val>
                                        </p:tav>
                                        <p:tav tm="100000">
                                          <p:val>
                                            <p:strVal val="#ppt_x"/>
                                          </p:val>
                                        </p:tav>
                                      </p:tavLst>
                                    </p:anim>
                                    <p:anim calcmode="lin" valueType="num">
                                      <p:cBhvr additive="base">
                                        <p:cTn id="92" dur="500" fill="hold"/>
                                        <p:tgtEl>
                                          <p:spTgt spid="19"/>
                                        </p:tgtEl>
                                        <p:attrNameLst>
                                          <p:attrName>ppt_y</p:attrName>
                                        </p:attrNameLst>
                                      </p:cBhvr>
                                      <p:tavLst>
                                        <p:tav tm="0">
                                          <p:val>
                                            <p:strVal val="#ppt_y+0.1"/>
                                          </p:val>
                                        </p:tav>
                                        <p:tav tm="100000">
                                          <p:val>
                                            <p:strVal val="#ppt_y"/>
                                          </p:val>
                                        </p:tav>
                                      </p:tavLst>
                                    </p:anim>
                                    <p:animEffect transition="in" filter="fade">
                                      <p:cBhvr>
                                        <p:cTn id="93" dur="500"/>
                                        <p:tgtEl>
                                          <p:spTgt spid="19"/>
                                        </p:tgtEl>
                                      </p:cBhvr>
                                    </p:animEffect>
                                  </p:childTnLst>
                                </p:cTn>
                              </p:par>
                              <p:par>
                                <p:cTn id="99" presetID="2" presetClass="entr" presetSubtype="4" fill="hold" grpId="0" nodeType="withEffect">
                                  <p:stCondLst>
                                    <p:cond delay="360"/>
                                  </p:stCondLst>
                                  <p:childTnLst>
                                    <p:set>
                                      <p:cBhvr>
                                        <p:cTn id="95" dur="1" fill="hold">
                                          <p:stCondLst>
                                            <p:cond delay="0"/>
                                          </p:stCondLst>
                                        </p:cTn>
                                        <p:tgtEl>
                                          <p:spTgt spid="20"/>
                                        </p:tgtEl>
                                        <p:attrNameLst>
                                          <p:attrName>style.visibility</p:attrName>
                                        </p:attrNameLst>
                                      </p:cBhvr>
                                      <p:to>
                                        <p:strVal val="visible"/>
                                      </p:to>
                                    </p:set>
                                    <p:anim calcmode="lin" valueType="num">
                                      <p:cBhvr additive="base">
                                        <p:cTn id="96" dur="500" fill="hold"/>
                                        <p:tgtEl>
                                          <p:spTgt spid="20"/>
                                        </p:tgtEl>
                                        <p:attrNameLst>
                                          <p:attrName>ppt_x</p:attrName>
                                        </p:attrNameLst>
                                      </p:cBhvr>
                                      <p:tavLst>
                                        <p:tav tm="0">
                                          <p:val>
                                            <p:strVal val="#ppt_x"/>
                                          </p:val>
                                        </p:tav>
                                        <p:tav tm="100000">
                                          <p:val>
                                            <p:strVal val="#ppt_x"/>
                                          </p:val>
                                        </p:tav>
                                      </p:tavLst>
                                    </p:anim>
                                    <p:anim calcmode="lin" valueType="num">
                                      <p:cBhvr additive="base">
                                        <p:cTn id="97" dur="500" fill="hold"/>
                                        <p:tgtEl>
                                          <p:spTgt spid="20"/>
                                        </p:tgtEl>
                                        <p:attrNameLst>
                                          <p:attrName>ppt_y</p:attrName>
                                        </p:attrNameLst>
                                      </p:cBhvr>
                                      <p:tavLst>
                                        <p:tav tm="0">
                                          <p:val>
                                            <p:strVal val="#ppt_y+0.1"/>
                                          </p:val>
                                        </p:tav>
                                        <p:tav tm="100000">
                                          <p:val>
                                            <p:strVal val="#ppt_y"/>
                                          </p:val>
                                        </p:tav>
                                      </p:tavLst>
                                    </p:anim>
                                    <p:animEffect transition="in" filter="fade">
                                      <p:cBhvr>
                                        <p:cTn id="9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a0f_h1"/>
          <p:cNvSpPr txBox="1"/>
          <p:nvPr/>
        </p:nvSpPr>
        <p:spPr>
          <a:xfrm>
            <a:off x="548640" y="384048"/>
            <a:ext cx="7315200" cy="640080"/>
          </a:xfrm>
          <a:prstGeom prst="rect">
            <a:avLst/>
          </a:prstGeom>
          <a:noFill/>
        </p:spPr>
        <p:txBody>
          <a:bodyPr wrap="square" lIns="0" tIns="0" rIns="0" bIns="0" anchor="ctr">
            <a:spAutoFit/>
          </a:bodyPr>
          <a:lstStyle/>
          <a:p>
            <a:pPr algn="l"/>
            <a:r>
              <a:rPr sz="3200" b="1">
                <a:solidFill>
                  <a:srgbClr val="FFFFFF"/>
                </a:solidFill>
                <a:latin typeface="Calibri"/>
              </a:rPr>
              <a:t>Key Takeaways</a:t>
            </a:r>
          </a:p>
        </p:txBody>
      </p:sp>
      <p:sp>
        <p:nvSpPr>
          <p:cNvPr id="3" name="a1u_n2"/>
          <p:cNvSpPr/>
          <p:nvPr/>
        </p:nvSpPr>
        <p:spPr>
          <a:xfrm>
            <a:off x="548640" y="1298448"/>
            <a:ext cx="402336" cy="402336"/>
          </a:xfrm>
          <a:prstGeom prst="roundRect">
            <a:avLst>
              <a:gd name="adj" fmla="val 22727"/>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a1u_nt3"/>
          <p:cNvSpPr txBox="1"/>
          <p:nvPr/>
        </p:nvSpPr>
        <p:spPr>
          <a:xfrm>
            <a:off x="548640" y="1298448"/>
            <a:ext cx="402336" cy="402336"/>
          </a:xfrm>
          <a:prstGeom prst="rect">
            <a:avLst/>
          </a:prstGeom>
          <a:noFill/>
        </p:spPr>
        <p:txBody>
          <a:bodyPr wrap="square" lIns="0" tIns="0" rIns="0" bIns="0" anchor="ctr">
            <a:spAutoFit/>
          </a:bodyPr>
          <a:lstStyle/>
          <a:p>
            <a:pPr algn="ctr"/>
            <a:r>
              <a:rPr sz="1500" b="1">
                <a:solidFill>
                  <a:srgbClr val="FFFFFF"/>
                </a:solidFill>
                <a:latin typeface="Calibri"/>
              </a:rPr>
              <a:t>1</a:t>
            </a:r>
          </a:p>
        </p:txBody>
      </p:sp>
      <p:sp>
        <p:nvSpPr>
          <p:cNvPr id="5" name="a1u_nb4"/>
          <p:cNvSpPr txBox="1"/>
          <p:nvPr/>
        </p:nvSpPr>
        <p:spPr>
          <a:xfrm>
            <a:off x="1152144" y="1252728"/>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NoSQL is a reaction, not a replacement</a:t>
            </a:r>
          </a:p>
          <a:p>
            <a:pPr algn="l">
              <a:spcAft>
                <a:spcPts val="100"/>
              </a:spcAft>
            </a:pPr>
            <a:r>
              <a:rPr sz="1200" b="0">
                <a:solidFill>
                  <a:srgbClr val="E2E8F0"/>
                </a:solidFill>
                <a:latin typeface="Calibri"/>
              </a:rPr>
              <a:t>It appeared because the web broke two assumptions: one machine, and one fixed schema.</a:t>
            </a:r>
          </a:p>
        </p:txBody>
      </p:sp>
      <p:sp>
        <p:nvSpPr>
          <p:cNvPr id="6" name="a1ud200_n5"/>
          <p:cNvSpPr/>
          <p:nvPr/>
        </p:nvSpPr>
        <p:spPr>
          <a:xfrm>
            <a:off x="548640" y="2048255"/>
            <a:ext cx="402336" cy="402336"/>
          </a:xfrm>
          <a:prstGeom prst="roundRect">
            <a:avLst>
              <a:gd name="adj" fmla="val 22727"/>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1ud200_nt6"/>
          <p:cNvSpPr txBox="1"/>
          <p:nvPr/>
        </p:nvSpPr>
        <p:spPr>
          <a:xfrm>
            <a:off x="548640" y="2048255"/>
            <a:ext cx="402336" cy="402336"/>
          </a:xfrm>
          <a:prstGeom prst="rect">
            <a:avLst/>
          </a:prstGeom>
          <a:noFill/>
        </p:spPr>
        <p:txBody>
          <a:bodyPr wrap="square" lIns="0" tIns="0" rIns="0" bIns="0" anchor="ctr">
            <a:spAutoFit/>
          </a:bodyPr>
          <a:lstStyle/>
          <a:p>
            <a:pPr algn="ctr"/>
            <a:r>
              <a:rPr sz="1500" b="1">
                <a:solidFill>
                  <a:srgbClr val="FFFFFF"/>
                </a:solidFill>
                <a:latin typeface="Calibri"/>
              </a:rPr>
              <a:t>2</a:t>
            </a:r>
          </a:p>
        </p:txBody>
      </p:sp>
      <p:sp>
        <p:nvSpPr>
          <p:cNvPr id="8" name="a1ud200_nb7"/>
          <p:cNvSpPr txBox="1"/>
          <p:nvPr/>
        </p:nvSpPr>
        <p:spPr>
          <a:xfrm>
            <a:off x="1152144" y="2002536"/>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Two drivers explain every product</a:t>
            </a:r>
          </a:p>
          <a:p>
            <a:pPr algn="l">
              <a:spcAft>
                <a:spcPts val="100"/>
              </a:spcAft>
            </a:pPr>
            <a:r>
              <a:rPr sz="1200" b="0">
                <a:solidFill>
                  <a:srgbClr val="E2E8F0"/>
                </a:solidFill>
                <a:latin typeface="Calibri"/>
              </a:rPr>
              <a:t>Developer productivity (store the aggregate) and large-scale data (run on a cluster).</a:t>
            </a:r>
          </a:p>
        </p:txBody>
      </p:sp>
      <p:sp>
        <p:nvSpPr>
          <p:cNvPr id="9" name="a1ud400_n8"/>
          <p:cNvSpPr/>
          <p:nvPr/>
        </p:nvSpPr>
        <p:spPr>
          <a:xfrm>
            <a:off x="548640" y="2798063"/>
            <a:ext cx="402336" cy="402336"/>
          </a:xfrm>
          <a:prstGeom prst="roundRect">
            <a:avLst>
              <a:gd name="adj" fmla="val 22727"/>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1ud400_nt9"/>
          <p:cNvSpPr txBox="1"/>
          <p:nvPr/>
        </p:nvSpPr>
        <p:spPr>
          <a:xfrm>
            <a:off x="548640" y="2798063"/>
            <a:ext cx="402336" cy="402336"/>
          </a:xfrm>
          <a:prstGeom prst="rect">
            <a:avLst/>
          </a:prstGeom>
          <a:noFill/>
        </p:spPr>
        <p:txBody>
          <a:bodyPr wrap="square" lIns="0" tIns="0" rIns="0" bIns="0" anchor="ctr">
            <a:spAutoFit/>
          </a:bodyPr>
          <a:lstStyle/>
          <a:p>
            <a:pPr algn="ctr"/>
            <a:r>
              <a:rPr sz="1500" b="1">
                <a:solidFill>
                  <a:srgbClr val="FFFFFF"/>
                </a:solidFill>
                <a:latin typeface="Calibri"/>
              </a:rPr>
              <a:t>3</a:t>
            </a:r>
          </a:p>
        </p:txBody>
      </p:sp>
      <p:sp>
        <p:nvSpPr>
          <p:cNvPr id="11" name="a1ud400_nb10"/>
          <p:cNvSpPr txBox="1"/>
          <p:nvPr/>
        </p:nvSpPr>
        <p:spPr>
          <a:xfrm>
            <a:off x="1152144" y="2752344"/>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Four models, one question each</a:t>
            </a:r>
          </a:p>
          <a:p>
            <a:pPr algn="l">
              <a:spcAft>
                <a:spcPts val="100"/>
              </a:spcAft>
            </a:pPr>
            <a:r>
              <a:rPr sz="1200" b="0">
                <a:solidFill>
                  <a:srgbClr val="E2E8F0"/>
                </a:solidFill>
                <a:latin typeface="Calibri"/>
              </a:rPr>
              <a:t>Key-value for speed, document for shape, column-family for volume, graph for connections.</a:t>
            </a:r>
          </a:p>
        </p:txBody>
      </p:sp>
      <p:sp>
        <p:nvSpPr>
          <p:cNvPr id="12" name="a1ud600_n11"/>
          <p:cNvSpPr/>
          <p:nvPr/>
        </p:nvSpPr>
        <p:spPr>
          <a:xfrm>
            <a:off x="548640" y="3547871"/>
            <a:ext cx="402336" cy="402336"/>
          </a:xfrm>
          <a:prstGeom prst="roundRect">
            <a:avLst>
              <a:gd name="adj" fmla="val 22727"/>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600_nt12"/>
          <p:cNvSpPr txBox="1"/>
          <p:nvPr/>
        </p:nvSpPr>
        <p:spPr>
          <a:xfrm>
            <a:off x="548640" y="3547871"/>
            <a:ext cx="402336" cy="402336"/>
          </a:xfrm>
          <a:prstGeom prst="rect">
            <a:avLst/>
          </a:prstGeom>
          <a:noFill/>
        </p:spPr>
        <p:txBody>
          <a:bodyPr wrap="square" lIns="0" tIns="0" rIns="0" bIns="0" anchor="ctr">
            <a:spAutoFit/>
          </a:bodyPr>
          <a:lstStyle/>
          <a:p>
            <a:pPr algn="ctr"/>
            <a:r>
              <a:rPr sz="1500" b="1">
                <a:solidFill>
                  <a:srgbClr val="FFFFFF"/>
                </a:solidFill>
                <a:latin typeface="Calibri"/>
              </a:rPr>
              <a:t>4</a:t>
            </a:r>
          </a:p>
        </p:txBody>
      </p:sp>
      <p:sp>
        <p:nvSpPr>
          <p:cNvPr id="14" name="a1ud600_nb13"/>
          <p:cNvSpPr txBox="1"/>
          <p:nvPr/>
        </p:nvSpPr>
        <p:spPr>
          <a:xfrm>
            <a:off x="1152144" y="3502151"/>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The trade is always the same</a:t>
            </a:r>
          </a:p>
          <a:p>
            <a:pPr algn="l">
              <a:spcAft>
                <a:spcPts val="100"/>
              </a:spcAft>
            </a:pPr>
            <a:r>
              <a:rPr sz="1200" b="0">
                <a:solidFill>
                  <a:srgbClr val="E2E8F0"/>
                </a:solidFill>
                <a:latin typeface="Calibri"/>
              </a:rPr>
              <a:t>You give up general-purpose querying to get one access pattern at extreme speed or scale.</a:t>
            </a:r>
          </a:p>
        </p:txBody>
      </p:sp>
      <p:sp>
        <p:nvSpPr>
          <p:cNvPr id="15" name="a1ud800_n14"/>
          <p:cNvSpPr/>
          <p:nvPr/>
        </p:nvSpPr>
        <p:spPr>
          <a:xfrm>
            <a:off x="548640" y="4297679"/>
            <a:ext cx="402336" cy="402336"/>
          </a:xfrm>
          <a:prstGeom prst="roundRect">
            <a:avLst>
              <a:gd name="adj" fmla="val 22727"/>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800_nt15"/>
          <p:cNvSpPr txBox="1"/>
          <p:nvPr/>
        </p:nvSpPr>
        <p:spPr>
          <a:xfrm>
            <a:off x="548640" y="4297679"/>
            <a:ext cx="402336" cy="402336"/>
          </a:xfrm>
          <a:prstGeom prst="rect">
            <a:avLst/>
          </a:prstGeom>
          <a:noFill/>
        </p:spPr>
        <p:txBody>
          <a:bodyPr wrap="square" lIns="0" tIns="0" rIns="0" bIns="0" anchor="ctr">
            <a:spAutoFit/>
          </a:bodyPr>
          <a:lstStyle/>
          <a:p>
            <a:pPr algn="ctr"/>
            <a:r>
              <a:rPr sz="1500" b="1">
                <a:solidFill>
                  <a:srgbClr val="FFFFFF"/>
                </a:solidFill>
                <a:latin typeface="Calibri"/>
              </a:rPr>
              <a:t>5</a:t>
            </a:r>
          </a:p>
        </p:txBody>
      </p:sp>
      <p:sp>
        <p:nvSpPr>
          <p:cNvPr id="17" name="a1ud800_nb16"/>
          <p:cNvSpPr txBox="1"/>
          <p:nvPr/>
        </p:nvSpPr>
        <p:spPr>
          <a:xfrm>
            <a:off x="1152144" y="4251959"/>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Real systems are polyglot</a:t>
            </a:r>
          </a:p>
          <a:p>
            <a:pPr algn="l">
              <a:spcAft>
                <a:spcPts val="100"/>
              </a:spcAft>
            </a:pPr>
            <a:r>
              <a:rPr sz="1200" b="0">
                <a:solidFill>
                  <a:srgbClr val="E2E8F0"/>
                </a:solidFill>
                <a:latin typeface="Calibri"/>
              </a:rPr>
              <a:t>Pick per workload. In this programme: PostgreSQL for the ledger, Redis for speed, Kafka for events.</a:t>
            </a:r>
          </a:p>
        </p:txBody>
      </p:sp>
      <p:sp>
        <p:nvSpPr>
          <p:cNvPr id="18" name="a2u_next17"/>
          <p:cNvSpPr/>
          <p:nvPr/>
        </p:nvSpPr>
        <p:spPr>
          <a:xfrm>
            <a:off x="6172200" y="3246120"/>
            <a:ext cx="2514600" cy="1005840"/>
          </a:xfrm>
          <a:prstGeom prst="roundRect">
            <a:avLst>
              <a:gd name="adj" fmla="val 909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_nextt18"/>
          <p:cNvSpPr txBox="1"/>
          <p:nvPr/>
        </p:nvSpPr>
        <p:spPr>
          <a:xfrm>
            <a:off x="6355080" y="3364992"/>
            <a:ext cx="2194560" cy="777240"/>
          </a:xfrm>
          <a:prstGeom prst="rect">
            <a:avLst/>
          </a:prstGeom>
          <a:noFill/>
        </p:spPr>
        <p:txBody>
          <a:bodyPr wrap="square" lIns="0" tIns="0" rIns="0" bIns="0" anchor="t">
            <a:spAutoFit/>
          </a:bodyPr>
          <a:lstStyle/>
          <a:p>
            <a:pPr algn="l">
              <a:spcAft>
                <a:spcPts val="400"/>
              </a:spcAft>
            </a:pPr>
            <a:r>
              <a:rPr sz="900" b="1" spc="220">
                <a:solidFill>
                  <a:srgbClr val="A78BFA"/>
                </a:solidFill>
                <a:latin typeface="Calibri"/>
              </a:rPr>
              <a:t>UP NEXT</a:t>
            </a:r>
          </a:p>
          <a:p>
            <a:pPr algn="l">
              <a:spcAft>
                <a:spcPts val="400"/>
              </a:spcAft>
            </a:pPr>
            <a:r>
              <a:rPr sz="1200" b="0">
                <a:solidFill>
                  <a:srgbClr val="E2E8F0"/>
                </a:solidFill>
                <a:latin typeface="Calibri"/>
              </a:rPr>
              <a:t>Deck 2 · Redis: what it is, how to install it, and what banks use it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ppt_y+0.1"/>
                                          </p:val>
                                        </p:tav>
                                        <p:tav tm="100000">
                                          <p:val>
                                            <p:strVal val="#ppt_y"/>
                                          </p:val>
                                        </p:tav>
                                      </p:tavLst>
                                    </p:anim>
                                    <p:animEffect transition="in" filter="fade">
                                      <p:cBhvr>
                                        <p:cTn id="13" dur="500"/>
                                        <p:tgtEl>
                                          <p:spTgt spid="3"/>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ppt_y+0.1"/>
                                          </p:val>
                                        </p:tav>
                                        <p:tav tm="100000">
                                          <p:val>
                                            <p:strVal val="#ppt_y"/>
                                          </p:val>
                                        </p:tav>
                                      </p:tavLst>
                                    </p:anim>
                                    <p:animEffect transition="in" filter="fade">
                                      <p:cBhvr>
                                        <p:cTn id="18" dur="500"/>
                                        <p:tgtEl>
                                          <p:spTgt spid="4"/>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ppt_y+0.1"/>
                                          </p:val>
                                        </p:tav>
                                        <p:tav tm="100000">
                                          <p:val>
                                            <p:strVal val="#ppt_y"/>
                                          </p:val>
                                        </p:tav>
                                      </p:tavLst>
                                    </p:anim>
                                    <p:animEffect transition="in" filter="fade">
                                      <p:cBhvr>
                                        <p:cTn id="23" dur="500"/>
                                        <p:tgtEl>
                                          <p:spTgt spid="5"/>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ppt_y+0.1"/>
                                          </p:val>
                                        </p:tav>
                                        <p:tav tm="100000">
                                          <p:val>
                                            <p:strVal val="#ppt_y"/>
                                          </p:val>
                                        </p:tav>
                                      </p:tavLst>
                                    </p:anim>
                                    <p:animEffect transition="in" filter="fade">
                                      <p:cBhvr>
                                        <p:cTn id="28" dur="500"/>
                                        <p:tgtEl>
                                          <p:spTgt spid="6"/>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ppt_y+0.1"/>
                                          </p:val>
                                        </p:tav>
                                        <p:tav tm="100000">
                                          <p:val>
                                            <p:strVal val="#ppt_y"/>
                                          </p:val>
                                        </p:tav>
                                      </p:tavLst>
                                    </p:anim>
                                    <p:animEffect transition="in" filter="fade">
                                      <p:cBhvr>
                                        <p:cTn id="33" dur="500"/>
                                        <p:tgtEl>
                                          <p:spTgt spid="7"/>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ppt_y+0.1"/>
                                          </p:val>
                                        </p:tav>
                                        <p:tav tm="100000">
                                          <p:val>
                                            <p:strVal val="#ppt_y"/>
                                          </p:val>
                                        </p:tav>
                                      </p:tavLst>
                                    </p:anim>
                                    <p:animEffect transition="in" filter="fade">
                                      <p:cBhvr>
                                        <p:cTn id="38" dur="500"/>
                                        <p:tgtEl>
                                          <p:spTgt spid="8"/>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ppt_y+0.1"/>
                                          </p:val>
                                        </p:tav>
                                        <p:tav tm="100000">
                                          <p:val>
                                            <p:strVal val="#ppt_y"/>
                                          </p:val>
                                        </p:tav>
                                      </p:tavLst>
                                    </p:anim>
                                    <p:animEffect transition="in" filter="fade">
                                      <p:cBhvr>
                                        <p:cTn id="43" dur="500"/>
                                        <p:tgtEl>
                                          <p:spTgt spid="9"/>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fill="hold"/>
                                        <p:tgtEl>
                                          <p:spTgt spid="10"/>
                                        </p:tgtEl>
                                        <p:attrNameLst>
                                          <p:attrName>ppt_x</p:attrName>
                                        </p:attrNameLst>
                                      </p:cBhvr>
                                      <p:tavLst>
                                        <p:tav tm="0">
                                          <p:val>
                                            <p:strVal val="#ppt_x"/>
                                          </p:val>
                                        </p:tav>
                                        <p:tav tm="100000">
                                          <p:val>
                                            <p:strVal val="#ppt_x"/>
                                          </p:val>
                                        </p:tav>
                                      </p:tavLst>
                                    </p:anim>
                                    <p:anim calcmode="lin" valueType="num">
                                      <p:cBhvr additive="base">
                                        <p:cTn id="47" dur="500" fill="hold"/>
                                        <p:tgtEl>
                                          <p:spTgt spid="10"/>
                                        </p:tgtEl>
                                        <p:attrNameLst>
                                          <p:attrName>ppt_y</p:attrName>
                                        </p:attrNameLst>
                                      </p:cBhvr>
                                      <p:tavLst>
                                        <p:tav tm="0">
                                          <p:val>
                                            <p:strVal val="#ppt_y+0.1"/>
                                          </p:val>
                                        </p:tav>
                                        <p:tav tm="100000">
                                          <p:val>
                                            <p:strVal val="#ppt_y"/>
                                          </p:val>
                                        </p:tav>
                                      </p:tavLst>
                                    </p:anim>
                                    <p:animEffect transition="in" filter="fade">
                                      <p:cBhvr>
                                        <p:cTn id="48" dur="500"/>
                                        <p:tgtEl>
                                          <p:spTgt spid="10"/>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ppt_x</p:attrName>
                                        </p:attrNameLst>
                                      </p:cBhvr>
                                      <p:tavLst>
                                        <p:tav tm="0">
                                          <p:val>
                                            <p:strVal val="#ppt_x"/>
                                          </p:val>
                                        </p:tav>
                                        <p:tav tm="100000">
                                          <p:val>
                                            <p:strVal val="#ppt_x"/>
                                          </p:val>
                                        </p:tav>
                                      </p:tavLst>
                                    </p:anim>
                                    <p:anim calcmode="lin" valueType="num">
                                      <p:cBhvr additive="base">
                                        <p:cTn id="52" dur="500" fill="hold"/>
                                        <p:tgtEl>
                                          <p:spTgt spid="11"/>
                                        </p:tgtEl>
                                        <p:attrNameLst>
                                          <p:attrName>ppt_y</p:attrName>
                                        </p:attrNameLst>
                                      </p:cBhvr>
                                      <p:tavLst>
                                        <p:tav tm="0">
                                          <p:val>
                                            <p:strVal val="#ppt_y+0.1"/>
                                          </p:val>
                                        </p:tav>
                                        <p:tav tm="100000">
                                          <p:val>
                                            <p:strVal val="#ppt_y"/>
                                          </p:val>
                                        </p:tav>
                                      </p:tavLst>
                                    </p:anim>
                                    <p:animEffect transition="in" filter="fade">
                                      <p:cBhvr>
                                        <p:cTn id="53" dur="500"/>
                                        <p:tgtEl>
                                          <p:spTgt spid="11"/>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2"/>
                                        </p:tgtEl>
                                        <p:attrNameLst>
                                          <p:attrName>style.visibility</p:attrName>
                                        </p:attrNameLst>
                                      </p:cBhvr>
                                      <p:to>
                                        <p:strVal val="visible"/>
                                      </p:to>
                                    </p:set>
                                    <p:anim calcmode="lin" valueType="num">
                                      <p:cBhvr additive="base">
                                        <p:cTn id="56" dur="500" fill="hold"/>
                                        <p:tgtEl>
                                          <p:spTgt spid="12"/>
                                        </p:tgtEl>
                                        <p:attrNameLst>
                                          <p:attrName>ppt_x</p:attrName>
                                        </p:attrNameLst>
                                      </p:cBhvr>
                                      <p:tavLst>
                                        <p:tav tm="0">
                                          <p:val>
                                            <p:strVal val="#ppt_x"/>
                                          </p:val>
                                        </p:tav>
                                        <p:tav tm="100000">
                                          <p:val>
                                            <p:strVal val="#ppt_x"/>
                                          </p:val>
                                        </p:tav>
                                      </p:tavLst>
                                    </p:anim>
                                    <p:anim calcmode="lin" valueType="num">
                                      <p:cBhvr additive="base">
                                        <p:cTn id="57" dur="500" fill="hold"/>
                                        <p:tgtEl>
                                          <p:spTgt spid="12"/>
                                        </p:tgtEl>
                                        <p:attrNameLst>
                                          <p:attrName>ppt_y</p:attrName>
                                        </p:attrNameLst>
                                      </p:cBhvr>
                                      <p:tavLst>
                                        <p:tav tm="0">
                                          <p:val>
                                            <p:strVal val="#ppt_y+0.1"/>
                                          </p:val>
                                        </p:tav>
                                        <p:tav tm="100000">
                                          <p:val>
                                            <p:strVal val="#ppt_y"/>
                                          </p:val>
                                        </p:tav>
                                      </p:tavLst>
                                    </p:anim>
                                    <p:animEffect transition="in" filter="fade">
                                      <p:cBhvr>
                                        <p:cTn id="58" dur="500"/>
                                        <p:tgtEl>
                                          <p:spTgt spid="12"/>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ppt_y+0.1"/>
                                          </p:val>
                                        </p:tav>
                                        <p:tav tm="100000">
                                          <p:val>
                                            <p:strVal val="#ppt_y"/>
                                          </p:val>
                                        </p:tav>
                                      </p:tavLst>
                                    </p:anim>
                                    <p:animEffect transition="in" filter="fade">
                                      <p:cBhvr>
                                        <p:cTn id="63" dur="500"/>
                                        <p:tgtEl>
                                          <p:spTgt spid="13"/>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14"/>
                                        </p:tgtEl>
                                        <p:attrNameLst>
                                          <p:attrName>style.visibility</p:attrName>
                                        </p:attrNameLst>
                                      </p:cBhvr>
                                      <p:to>
                                        <p:strVal val="visible"/>
                                      </p:to>
                                    </p:set>
                                    <p:anim calcmode="lin" valueType="num">
                                      <p:cBhvr additive="base">
                                        <p:cTn id="66" dur="500" fill="hold"/>
                                        <p:tgtEl>
                                          <p:spTgt spid="14"/>
                                        </p:tgtEl>
                                        <p:attrNameLst>
                                          <p:attrName>ppt_x</p:attrName>
                                        </p:attrNameLst>
                                      </p:cBhvr>
                                      <p:tavLst>
                                        <p:tav tm="0">
                                          <p:val>
                                            <p:strVal val="#ppt_x"/>
                                          </p:val>
                                        </p:tav>
                                        <p:tav tm="100000">
                                          <p:val>
                                            <p:strVal val="#ppt_x"/>
                                          </p:val>
                                        </p:tav>
                                      </p:tavLst>
                                    </p:anim>
                                    <p:anim calcmode="lin" valueType="num">
                                      <p:cBhvr additive="base">
                                        <p:cTn id="67" dur="500" fill="hold"/>
                                        <p:tgtEl>
                                          <p:spTgt spid="14"/>
                                        </p:tgtEl>
                                        <p:attrNameLst>
                                          <p:attrName>ppt_y</p:attrName>
                                        </p:attrNameLst>
                                      </p:cBhvr>
                                      <p:tavLst>
                                        <p:tav tm="0">
                                          <p:val>
                                            <p:strVal val="#ppt_y+0.1"/>
                                          </p:val>
                                        </p:tav>
                                        <p:tav tm="100000">
                                          <p:val>
                                            <p:strVal val="#ppt_y"/>
                                          </p:val>
                                        </p:tav>
                                      </p:tavLst>
                                    </p:anim>
                                    <p:animEffect transition="in" filter="fade">
                                      <p:cBhvr>
                                        <p:cTn id="68" dur="500"/>
                                        <p:tgtEl>
                                          <p:spTgt spid="14"/>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ppt_x</p:attrName>
                                        </p:attrNameLst>
                                      </p:cBhvr>
                                      <p:tavLst>
                                        <p:tav tm="0">
                                          <p:val>
                                            <p:strVal val="#ppt_x"/>
                                          </p:val>
                                        </p:tav>
                                        <p:tav tm="100000">
                                          <p:val>
                                            <p:strVal val="#ppt_x"/>
                                          </p:val>
                                        </p:tav>
                                      </p:tavLst>
                                    </p:anim>
                                    <p:anim calcmode="lin" valueType="num">
                                      <p:cBhvr additive="base">
                                        <p:cTn id="72" dur="500" fill="hold"/>
                                        <p:tgtEl>
                                          <p:spTgt spid="15"/>
                                        </p:tgtEl>
                                        <p:attrNameLst>
                                          <p:attrName>ppt_y</p:attrName>
                                        </p:attrNameLst>
                                      </p:cBhvr>
                                      <p:tavLst>
                                        <p:tav tm="0">
                                          <p:val>
                                            <p:strVal val="#ppt_y+0.1"/>
                                          </p:val>
                                        </p:tav>
                                        <p:tav tm="100000">
                                          <p:val>
                                            <p:strVal val="#ppt_y"/>
                                          </p:val>
                                        </p:tav>
                                      </p:tavLst>
                                    </p:anim>
                                    <p:animEffect transition="in" filter="fade">
                                      <p:cBhvr>
                                        <p:cTn id="73" dur="500"/>
                                        <p:tgtEl>
                                          <p:spTgt spid="15"/>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ppt_x</p:attrName>
                                        </p:attrNameLst>
                                      </p:cBhvr>
                                      <p:tavLst>
                                        <p:tav tm="0">
                                          <p:val>
                                            <p:strVal val="#ppt_x"/>
                                          </p:val>
                                        </p:tav>
                                        <p:tav tm="100000">
                                          <p:val>
                                            <p:strVal val="#ppt_x"/>
                                          </p:val>
                                        </p:tav>
                                      </p:tavLst>
                                    </p:anim>
                                    <p:anim calcmode="lin" valueType="num">
                                      <p:cBhvr additive="base">
                                        <p:cTn id="77" dur="500" fill="hold"/>
                                        <p:tgtEl>
                                          <p:spTgt spid="16"/>
                                        </p:tgtEl>
                                        <p:attrNameLst>
                                          <p:attrName>ppt_y</p:attrName>
                                        </p:attrNameLst>
                                      </p:cBhvr>
                                      <p:tavLst>
                                        <p:tav tm="0">
                                          <p:val>
                                            <p:strVal val="#ppt_y+0.1"/>
                                          </p:val>
                                        </p:tav>
                                        <p:tav tm="100000">
                                          <p:val>
                                            <p:strVal val="#ppt_y"/>
                                          </p:val>
                                        </p:tav>
                                      </p:tavLst>
                                    </p:anim>
                                    <p:animEffect transition="in" filter="fade">
                                      <p:cBhvr>
                                        <p:cTn id="78" dur="500"/>
                                        <p:tgtEl>
                                          <p:spTgt spid="16"/>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17"/>
                                        </p:tgtEl>
                                        <p:attrNameLst>
                                          <p:attrName>style.visibility</p:attrName>
                                        </p:attrNameLst>
                                      </p:cBhvr>
                                      <p:to>
                                        <p:strVal val="visible"/>
                                      </p:to>
                                    </p:set>
                                    <p:anim calcmode="lin" valueType="num">
                                      <p:cBhvr additive="base">
                                        <p:cTn id="81" dur="500" fill="hold"/>
                                        <p:tgtEl>
                                          <p:spTgt spid="17"/>
                                        </p:tgtEl>
                                        <p:attrNameLst>
                                          <p:attrName>ppt_x</p:attrName>
                                        </p:attrNameLst>
                                      </p:cBhvr>
                                      <p:tavLst>
                                        <p:tav tm="0">
                                          <p:val>
                                            <p:strVal val="#ppt_x"/>
                                          </p:val>
                                        </p:tav>
                                        <p:tav tm="100000">
                                          <p:val>
                                            <p:strVal val="#ppt_x"/>
                                          </p:val>
                                        </p:tav>
                                      </p:tavLst>
                                    </p:anim>
                                    <p:anim calcmode="lin" valueType="num">
                                      <p:cBhvr additive="base">
                                        <p:cTn id="82" dur="500" fill="hold"/>
                                        <p:tgtEl>
                                          <p:spTgt spid="17"/>
                                        </p:tgtEl>
                                        <p:attrNameLst>
                                          <p:attrName>ppt_y</p:attrName>
                                        </p:attrNameLst>
                                      </p:cBhvr>
                                      <p:tavLst>
                                        <p:tav tm="0">
                                          <p:val>
                                            <p:strVal val="#ppt_y+0.1"/>
                                          </p:val>
                                        </p:tav>
                                        <p:tav tm="100000">
                                          <p:val>
                                            <p:strVal val="#ppt_y"/>
                                          </p:val>
                                        </p:tav>
                                      </p:tavLst>
                                    </p:anim>
                                    <p:animEffect transition="in" filter="fade">
                                      <p:cBhvr>
                                        <p:cTn id="83"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 calcmode="lin" valueType="num">
                                      <p:cBhvr additive="base">
                                        <p:cTn id="88" dur="500" fill="hold"/>
                                        <p:tgtEl>
                                          <p:spTgt spid="18"/>
                                        </p:tgtEl>
                                        <p:attrNameLst>
                                          <p:attrName>ppt_x</p:attrName>
                                        </p:attrNameLst>
                                      </p:cBhvr>
                                      <p:tavLst>
                                        <p:tav tm="0">
                                          <p:val>
                                            <p:strVal val="#ppt_x"/>
                                          </p:val>
                                        </p:tav>
                                        <p:tav tm="100000">
                                          <p:val>
                                            <p:strVal val="#ppt_x"/>
                                          </p:val>
                                        </p:tav>
                                      </p:tavLst>
                                    </p:anim>
                                    <p:anim calcmode="lin" valueType="num">
                                      <p:cBhvr additive="base">
                                        <p:cTn id="89" dur="500" fill="hold"/>
                                        <p:tgtEl>
                                          <p:spTgt spid="18"/>
                                        </p:tgtEl>
                                        <p:attrNameLst>
                                          <p:attrName>ppt_y</p:attrName>
                                        </p:attrNameLst>
                                      </p:cBhvr>
                                      <p:tavLst>
                                        <p:tav tm="0">
                                          <p:val>
                                            <p:strVal val="#ppt_y+0.1"/>
                                          </p:val>
                                        </p:tav>
                                        <p:tav tm="100000">
                                          <p:val>
                                            <p:strVal val="#ppt_y"/>
                                          </p:val>
                                        </p:tav>
                                      </p:tavLst>
                                    </p:anim>
                                    <p:animEffect transition="in" filter="fade">
                                      <p:cBhvr>
                                        <p:cTn id="90" dur="500"/>
                                        <p:tgtEl>
                                          <p:spTgt spid="18"/>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500" fill="hold"/>
                                        <p:tgtEl>
                                          <p:spTgt spid="19"/>
                                        </p:tgtEl>
                                        <p:attrNameLst>
                                          <p:attrName>ppt_x</p:attrName>
                                        </p:attrNameLst>
                                      </p:cBhvr>
                                      <p:tavLst>
                                        <p:tav tm="0">
                                          <p:val>
                                            <p:strVal val="#ppt_x"/>
                                          </p:val>
                                        </p:tav>
                                        <p:tav tm="100000">
                                          <p:val>
                                            <p:strVal val="#ppt_x"/>
                                          </p:val>
                                        </p:tav>
                                      </p:tavLst>
                                    </p:anim>
                                    <p:anim calcmode="lin" valueType="num">
                                      <p:cBhvr additive="base">
                                        <p:cTn id="94" dur="500" fill="hold"/>
                                        <p:tgtEl>
                                          <p:spTgt spid="19"/>
                                        </p:tgtEl>
                                        <p:attrNameLst>
                                          <p:attrName>ppt_y</p:attrName>
                                        </p:attrNameLst>
                                      </p:cBhvr>
                                      <p:tavLst>
                                        <p:tav tm="0">
                                          <p:val>
                                            <p:strVal val="#ppt_y+0.1"/>
                                          </p:val>
                                        </p:tav>
                                        <p:tav tm="100000">
                                          <p:val>
                                            <p:strVal val="#ppt_y"/>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