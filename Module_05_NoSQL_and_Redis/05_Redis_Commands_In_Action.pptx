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kick1"/>
          <p:cNvSpPr txBox="1"/>
          <p:nvPr/>
        </p:nvSpPr>
        <p:spPr>
          <a:xfrm>
            <a:off x="548640" y="868680"/>
            <a:ext cx="4937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spc="300">
                <a:solidFill>
                  <a:srgbClr val="A78BFA"/>
                </a:solidFill>
                <a:latin typeface="Calibri"/>
              </a:rPr>
              <a:t>MODULE 07 · NOSQL &amp; REDIS</a:t>
            </a:r>
          </a:p>
        </p:txBody>
      </p:sp>
      <p:sp>
        <p:nvSpPr>
          <p:cNvPr id="3" name="a0ud200_t2"/>
          <p:cNvSpPr txBox="1"/>
          <p:nvPr/>
        </p:nvSpPr>
        <p:spPr>
          <a:xfrm>
            <a:off x="548640" y="1188720"/>
            <a:ext cx="521208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Redis Commands
in Action</a:t>
            </a:r>
          </a:p>
        </p:txBody>
      </p:sp>
      <p:sp>
        <p:nvSpPr>
          <p:cNvPr id="4" name="a0fd500_sub3"/>
          <p:cNvSpPr txBox="1"/>
          <p:nvPr/>
        </p:nvSpPr>
        <p:spPr>
          <a:xfrm>
            <a:off x="548640" y="2670048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Every command group, with the banking problem it solves</a:t>
            </a:r>
          </a:p>
        </p:txBody>
      </p:sp>
      <p:sp>
        <p:nvSpPr>
          <p:cNvPr id="5" name="a0ud800_pill4"/>
          <p:cNvSpPr/>
          <p:nvPr/>
        </p:nvSpPr>
        <p:spPr>
          <a:xfrm>
            <a:off x="548640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KEYS</a:t>
            </a:r>
          </a:p>
        </p:txBody>
      </p:sp>
      <p:sp>
        <p:nvSpPr>
          <p:cNvPr id="6" name="a0ud950_pill5"/>
          <p:cNvSpPr/>
          <p:nvPr/>
        </p:nvSpPr>
        <p:spPr>
          <a:xfrm>
            <a:off x="1572768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STRING</a:t>
            </a:r>
          </a:p>
        </p:txBody>
      </p:sp>
      <p:sp>
        <p:nvSpPr>
          <p:cNvPr id="7" name="a0ud1100_pill6"/>
          <p:cNvSpPr/>
          <p:nvPr/>
        </p:nvSpPr>
        <p:spPr>
          <a:xfrm>
            <a:off x="2596896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HASH</a:t>
            </a:r>
          </a:p>
        </p:txBody>
      </p:sp>
      <p:sp>
        <p:nvSpPr>
          <p:cNvPr id="8" name="a0ud1250_pill7"/>
          <p:cNvSpPr/>
          <p:nvPr/>
        </p:nvSpPr>
        <p:spPr>
          <a:xfrm>
            <a:off x="3621024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LIST</a:t>
            </a:r>
          </a:p>
        </p:txBody>
      </p:sp>
      <p:sp>
        <p:nvSpPr>
          <p:cNvPr id="9" name="a0ud1400_pill8"/>
          <p:cNvSpPr/>
          <p:nvPr/>
        </p:nvSpPr>
        <p:spPr>
          <a:xfrm>
            <a:off x="4645152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ZSET</a:t>
            </a:r>
          </a:p>
        </p:txBody>
      </p:sp>
      <p:sp>
        <p:nvSpPr>
          <p:cNvPr id="10" name="a0fd1400_nt9"/>
          <p:cNvSpPr txBox="1"/>
          <p:nvPr/>
        </p:nvSpPr>
        <p:spPr>
          <a:xfrm>
            <a:off x="548640" y="3950208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Deck 5 of 5  ·  Module 07  ·  NoSQL &amp; Redis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How to Read This Deck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Each group gets a reference table and a worked example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43000"/>
            <a:ext cx="39319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hh4"/>
          <p:cNvSpPr txBox="1"/>
          <p:nvPr/>
        </p:nvSpPr>
        <p:spPr>
          <a:xfrm>
            <a:off x="640080" y="1252728"/>
            <a:ext cx="35661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DC382C"/>
                </a:solidFill>
                <a:latin typeface="Calibri"/>
              </a:rPr>
              <a:t>ANATOMY OF A COMMAND</a:t>
            </a:r>
          </a:p>
        </p:txBody>
      </p:sp>
      <p:sp>
        <p:nvSpPr>
          <p:cNvPr id="6" name="a1ud40_p15"/>
          <p:cNvSpPr/>
          <p:nvPr/>
        </p:nvSpPr>
        <p:spPr>
          <a:xfrm>
            <a:off x="640080" y="1545336"/>
            <a:ext cx="822960" cy="329184"/>
          </a:xfrm>
          <a:prstGeom prst="roundRect">
            <a:avLst>
              <a:gd name="adj" fmla="val 13888"/>
            </a:avLst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ud40_p1t6"/>
          <p:cNvSpPr txBox="1"/>
          <p:nvPr/>
        </p:nvSpPr>
        <p:spPr>
          <a:xfrm>
            <a:off x="640080" y="1545336"/>
            <a:ext cx="822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urier New"/>
              </a:rPr>
              <a:t>SET</a:t>
            </a:r>
          </a:p>
        </p:txBody>
      </p:sp>
      <p:sp>
        <p:nvSpPr>
          <p:cNvPr id="8" name="a1ud90_p27"/>
          <p:cNvSpPr/>
          <p:nvPr/>
        </p:nvSpPr>
        <p:spPr>
          <a:xfrm>
            <a:off x="1536192" y="1545336"/>
            <a:ext cx="1188720" cy="329184"/>
          </a:xfrm>
          <a:prstGeom prst="roundRect">
            <a:avLst>
              <a:gd name="adj" fmla="val 13888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ud90_p2t8"/>
          <p:cNvSpPr txBox="1"/>
          <p:nvPr/>
        </p:nvSpPr>
        <p:spPr>
          <a:xfrm>
            <a:off x="1536192" y="1545336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ourier New"/>
              </a:rPr>
              <a:t>icici:bal:9003</a:t>
            </a:r>
          </a:p>
        </p:txBody>
      </p:sp>
      <p:sp>
        <p:nvSpPr>
          <p:cNvPr id="10" name="a1ud140_p39"/>
          <p:cNvSpPr/>
          <p:nvPr/>
        </p:nvSpPr>
        <p:spPr>
          <a:xfrm>
            <a:off x="2798064" y="1545336"/>
            <a:ext cx="731520" cy="329184"/>
          </a:xfrm>
          <a:prstGeom prst="roundRect">
            <a:avLst>
              <a:gd name="adj" fmla="val 13888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ud140_p3t10"/>
          <p:cNvSpPr txBox="1"/>
          <p:nvPr/>
        </p:nvSpPr>
        <p:spPr>
          <a:xfrm>
            <a:off x="2798064" y="1545336"/>
            <a:ext cx="731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ourier New"/>
              </a:rPr>
              <a:t>341244</a:t>
            </a:r>
          </a:p>
        </p:txBody>
      </p:sp>
      <p:sp>
        <p:nvSpPr>
          <p:cNvPr id="12" name="a1ud190_p411"/>
          <p:cNvSpPr/>
          <p:nvPr/>
        </p:nvSpPr>
        <p:spPr>
          <a:xfrm>
            <a:off x="3602736" y="1545336"/>
            <a:ext cx="603504" cy="329184"/>
          </a:xfrm>
          <a:prstGeom prst="roundRect">
            <a:avLst>
              <a:gd name="adj" fmla="val 13888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ud190_p4t12"/>
          <p:cNvSpPr txBox="1"/>
          <p:nvPr/>
        </p:nvSpPr>
        <p:spPr>
          <a:xfrm>
            <a:off x="3602736" y="1545336"/>
            <a:ext cx="60350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ourier New"/>
              </a:rPr>
              <a:t>EX 300</a:t>
            </a:r>
          </a:p>
        </p:txBody>
      </p:sp>
      <p:sp>
        <p:nvSpPr>
          <p:cNvPr id="14" name="a1fd230_pl13"/>
          <p:cNvSpPr txBox="1"/>
          <p:nvPr/>
        </p:nvSpPr>
        <p:spPr>
          <a:xfrm>
            <a:off x="640080" y="1911095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DC382C"/>
                </a:solidFill>
                <a:latin typeface="Calibri"/>
              </a:rPr>
              <a:t>command</a:t>
            </a:r>
          </a:p>
        </p:txBody>
      </p:sp>
      <p:sp>
        <p:nvSpPr>
          <p:cNvPr id="15" name="a1fd280_pl14"/>
          <p:cNvSpPr txBox="1"/>
          <p:nvPr/>
        </p:nvSpPr>
        <p:spPr>
          <a:xfrm>
            <a:off x="1536192" y="1911095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8B5CF6"/>
                </a:solidFill>
                <a:latin typeface="Calibri"/>
              </a:rPr>
              <a:t>key</a:t>
            </a:r>
          </a:p>
        </p:txBody>
      </p:sp>
      <p:sp>
        <p:nvSpPr>
          <p:cNvPr id="16" name="a1fd330_pl15"/>
          <p:cNvSpPr txBox="1"/>
          <p:nvPr/>
        </p:nvSpPr>
        <p:spPr>
          <a:xfrm>
            <a:off x="2798064" y="1911095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0F766E"/>
                </a:solidFill>
                <a:latin typeface="Calibri"/>
              </a:rPr>
              <a:t>value</a:t>
            </a:r>
          </a:p>
        </p:txBody>
      </p:sp>
      <p:sp>
        <p:nvSpPr>
          <p:cNvPr id="17" name="a1fd380_pl16"/>
          <p:cNvSpPr txBox="1"/>
          <p:nvPr/>
        </p:nvSpPr>
        <p:spPr>
          <a:xfrm>
            <a:off x="3602736" y="1911095"/>
            <a:ext cx="6035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B45309"/>
                </a:solidFill>
                <a:latin typeface="Calibri"/>
              </a:rPr>
              <a:t>options</a:t>
            </a:r>
          </a:p>
        </p:txBody>
      </p:sp>
      <p:sp>
        <p:nvSpPr>
          <p:cNvPr id="18" name="a1ud280_pd17"/>
          <p:cNvSpPr txBox="1"/>
          <p:nvPr/>
        </p:nvSpPr>
        <p:spPr>
          <a:xfrm>
            <a:off x="640080" y="2185415"/>
            <a:ext cx="356616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Commands are case-insensitive but conventionally written in upper case. Keys are case-sensitive and binary safe. Options always come after the required arguments.</a:t>
            </a:r>
          </a:p>
        </p:txBody>
      </p:sp>
      <p:sp>
        <p:nvSpPr>
          <p:cNvPr id="19" name="a2u_card18"/>
          <p:cNvSpPr/>
          <p:nvPr/>
        </p:nvSpPr>
        <p:spPr>
          <a:xfrm>
            <a:off x="4754880" y="1143000"/>
            <a:ext cx="39319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2u_hh19"/>
          <p:cNvSpPr txBox="1"/>
          <p:nvPr/>
        </p:nvSpPr>
        <p:spPr>
          <a:xfrm>
            <a:off x="4937760" y="1252728"/>
            <a:ext cx="35661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Calibri"/>
              </a:rPr>
              <a:t>THE COST COLUMN</a:t>
            </a:r>
          </a:p>
        </p:txBody>
      </p:sp>
      <p:sp>
        <p:nvSpPr>
          <p:cNvPr id="21" name="a2u_cb20"/>
          <p:cNvSpPr/>
          <p:nvPr/>
        </p:nvSpPr>
        <p:spPr>
          <a:xfrm>
            <a:off x="4937760" y="1563624"/>
            <a:ext cx="1051560" cy="27432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2u_ct21"/>
          <p:cNvSpPr txBox="1"/>
          <p:nvPr/>
        </p:nvSpPr>
        <p:spPr>
          <a:xfrm>
            <a:off x="4937760" y="1563624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/>
              </a:rPr>
              <a:t>O(1)</a:t>
            </a:r>
          </a:p>
        </p:txBody>
      </p:sp>
      <p:sp>
        <p:nvSpPr>
          <p:cNvPr id="23" name="a2u_cm22"/>
          <p:cNvSpPr txBox="1"/>
          <p:nvPr/>
        </p:nvSpPr>
        <p:spPr>
          <a:xfrm>
            <a:off x="6108192" y="1563624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Constant - safe at any size</a:t>
            </a:r>
          </a:p>
        </p:txBody>
      </p:sp>
      <p:sp>
        <p:nvSpPr>
          <p:cNvPr id="24" name="a2ud90_cb23"/>
          <p:cNvSpPr/>
          <p:nvPr/>
        </p:nvSpPr>
        <p:spPr>
          <a:xfrm>
            <a:off x="4937760" y="1892807"/>
            <a:ext cx="1051560" cy="27432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2ud90_ct24"/>
          <p:cNvSpPr txBox="1"/>
          <p:nvPr/>
        </p:nvSpPr>
        <p:spPr>
          <a:xfrm>
            <a:off x="4937760" y="1892807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/>
              </a:rPr>
              <a:t>O(log n)</a:t>
            </a:r>
          </a:p>
        </p:txBody>
      </p:sp>
      <p:sp>
        <p:nvSpPr>
          <p:cNvPr id="26" name="a2ud90_cm25"/>
          <p:cNvSpPr txBox="1"/>
          <p:nvPr/>
        </p:nvSpPr>
        <p:spPr>
          <a:xfrm>
            <a:off x="6108192" y="1892807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Sorted-set operations - safe</a:t>
            </a:r>
          </a:p>
        </p:txBody>
      </p:sp>
      <p:sp>
        <p:nvSpPr>
          <p:cNvPr id="27" name="a2ud180_cb26"/>
          <p:cNvSpPr/>
          <p:nvPr/>
        </p:nvSpPr>
        <p:spPr>
          <a:xfrm>
            <a:off x="4937760" y="2221991"/>
            <a:ext cx="1051560" cy="274320"/>
          </a:xfrm>
          <a:prstGeom prst="roundRect">
            <a:avLst>
              <a:gd name="adj" fmla="val 13333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2ud180_ct27"/>
          <p:cNvSpPr txBox="1"/>
          <p:nvPr/>
        </p:nvSpPr>
        <p:spPr>
          <a:xfrm>
            <a:off x="4937760" y="2221991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/>
              </a:rPr>
              <a:t>O(n)</a:t>
            </a:r>
          </a:p>
        </p:txBody>
      </p:sp>
      <p:sp>
        <p:nvSpPr>
          <p:cNvPr id="29" name="a2ud180_cm28"/>
          <p:cNvSpPr txBox="1"/>
          <p:nvPr/>
        </p:nvSpPr>
        <p:spPr>
          <a:xfrm>
            <a:off x="6108192" y="2221991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Scans the whole collection - size it</a:t>
            </a:r>
          </a:p>
        </p:txBody>
      </p:sp>
      <p:sp>
        <p:nvSpPr>
          <p:cNvPr id="30" name="a2ud270_cb29"/>
          <p:cNvSpPr/>
          <p:nvPr/>
        </p:nvSpPr>
        <p:spPr>
          <a:xfrm>
            <a:off x="4937760" y="2551176"/>
            <a:ext cx="1051560" cy="274320"/>
          </a:xfrm>
          <a:prstGeom prst="roundRect">
            <a:avLst>
              <a:gd name="adj" fmla="val 13333"/>
            </a:avLst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2ud270_ct30"/>
          <p:cNvSpPr txBox="1"/>
          <p:nvPr/>
        </p:nvSpPr>
        <p:spPr>
          <a:xfrm>
            <a:off x="4937760" y="2551176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ourier New"/>
              </a:rPr>
              <a:t>O(n) keyspace</a:t>
            </a:r>
          </a:p>
        </p:txBody>
      </p:sp>
      <p:sp>
        <p:nvSpPr>
          <p:cNvPr id="32" name="a2ud270_cm31"/>
          <p:cNvSpPr txBox="1"/>
          <p:nvPr/>
        </p:nvSpPr>
        <p:spPr>
          <a:xfrm>
            <a:off x="6108192" y="2551176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Touches every key - never in production</a:t>
            </a:r>
          </a:p>
        </p:txBody>
      </p:sp>
      <p:sp>
        <p:nvSpPr>
          <p:cNvPr id="33" name="a3u_nb32"/>
          <p:cNvSpPr/>
          <p:nvPr/>
        </p:nvSpPr>
        <p:spPr>
          <a:xfrm>
            <a:off x="457200" y="306324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3u_nacc33"/>
          <p:cNvSpPr/>
          <p:nvPr/>
        </p:nvSpPr>
        <p:spPr>
          <a:xfrm>
            <a:off x="457200" y="3063240"/>
            <a:ext cx="50292" cy="658368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3u_nt34"/>
          <p:cNvSpPr txBox="1"/>
          <p:nvPr/>
        </p:nvSpPr>
        <p:spPr>
          <a:xfrm>
            <a:off x="658368" y="3063240"/>
            <a:ext cx="7827264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DC382C"/>
                </a:solidFill>
                <a:latin typeface="Calibri"/>
              </a:rPr>
              <a:t>KEY  </a:t>
            </a:r>
            <a:r>
              <a:rPr sz="1150" b="0">
                <a:solidFill>
                  <a:srgbClr val="334155"/>
                </a:solidFill>
                <a:latin typeface="Calibri"/>
              </a:rPr>
              <a:t>Redis runs one command at a time on one thread. An O(n) command over a million-element collection blocks every other client for as long as it takes. The cost column is not academic - it is the difference between a 0.2 ms cache and a production incident.</a:t>
            </a:r>
          </a:p>
        </p:txBody>
      </p:sp>
      <p:sp>
        <p:nvSpPr>
          <p:cNvPr id="36" name="ft35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7" name="ft3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5 · Commands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" presetClass="entr" presetSubtype="4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A78BFA"/>
                </a:solidFill>
                <a:latin typeface="Calibri"/>
              </a:rPr>
              <a:t>01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Key Commands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Everything a developer does to a key, whatever type it holds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Lifecycle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Expiry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Discovery</a:t>
            </a:r>
          </a:p>
        </p:txBody>
      </p:sp>
      <p:sp>
        <p:nvSpPr>
          <p:cNvPr id="8" name="a0ud1050_pill7"/>
          <p:cNvSpPr/>
          <p:nvPr/>
        </p:nvSpPr>
        <p:spPr>
          <a:xfrm>
            <a:off x="5532120" y="2752344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Naming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Key Lifecycle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Create, check, rename, copy, move and delete - type-independent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143000"/>
            <a:ext cx="3246120" cy="283464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143000"/>
            <a:ext cx="3136391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ourier New"/>
              </a:rPr>
              <a:t>Command</a:t>
            </a:r>
          </a:p>
        </p:txBody>
      </p:sp>
      <p:sp>
        <p:nvSpPr>
          <p:cNvPr id="6" name="a1wd70_td5"/>
          <p:cNvSpPr/>
          <p:nvPr/>
        </p:nvSpPr>
        <p:spPr>
          <a:xfrm>
            <a:off x="457200" y="1426464"/>
            <a:ext cx="32461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70_tdt6"/>
          <p:cNvSpPr txBox="1"/>
          <p:nvPr/>
        </p:nvSpPr>
        <p:spPr>
          <a:xfrm>
            <a:off x="530352" y="1426464"/>
            <a:ext cx="3136391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EXISTS key [key ...]</a:t>
            </a:r>
          </a:p>
        </p:txBody>
      </p:sp>
      <p:sp>
        <p:nvSpPr>
          <p:cNvPr id="8" name="a1wd140_td7"/>
          <p:cNvSpPr/>
          <p:nvPr/>
        </p:nvSpPr>
        <p:spPr>
          <a:xfrm>
            <a:off x="457200" y="1709928"/>
            <a:ext cx="32461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140_tdt8"/>
          <p:cNvSpPr txBox="1"/>
          <p:nvPr/>
        </p:nvSpPr>
        <p:spPr>
          <a:xfrm>
            <a:off x="530352" y="1709928"/>
            <a:ext cx="3136391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TYPE key</a:t>
            </a:r>
          </a:p>
        </p:txBody>
      </p:sp>
      <p:sp>
        <p:nvSpPr>
          <p:cNvPr id="10" name="a1wd210_td9"/>
          <p:cNvSpPr/>
          <p:nvPr/>
        </p:nvSpPr>
        <p:spPr>
          <a:xfrm>
            <a:off x="457200" y="1993391"/>
            <a:ext cx="32461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210_tdt10"/>
          <p:cNvSpPr txBox="1"/>
          <p:nvPr/>
        </p:nvSpPr>
        <p:spPr>
          <a:xfrm>
            <a:off x="530352" y="1993391"/>
            <a:ext cx="3136391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DEL key [key ...]</a:t>
            </a:r>
          </a:p>
        </p:txBody>
      </p:sp>
      <p:sp>
        <p:nvSpPr>
          <p:cNvPr id="12" name="a1wd280_td11"/>
          <p:cNvSpPr/>
          <p:nvPr/>
        </p:nvSpPr>
        <p:spPr>
          <a:xfrm>
            <a:off x="457200" y="2276856"/>
            <a:ext cx="32461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280_tdt12"/>
          <p:cNvSpPr txBox="1"/>
          <p:nvPr/>
        </p:nvSpPr>
        <p:spPr>
          <a:xfrm>
            <a:off x="530352" y="2276856"/>
            <a:ext cx="3136391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UNLINK key [key ...]</a:t>
            </a:r>
          </a:p>
        </p:txBody>
      </p:sp>
      <p:sp>
        <p:nvSpPr>
          <p:cNvPr id="14" name="a1wd350_td13"/>
          <p:cNvSpPr/>
          <p:nvPr/>
        </p:nvSpPr>
        <p:spPr>
          <a:xfrm>
            <a:off x="457200" y="2560320"/>
            <a:ext cx="32461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350_tdt14"/>
          <p:cNvSpPr txBox="1"/>
          <p:nvPr/>
        </p:nvSpPr>
        <p:spPr>
          <a:xfrm>
            <a:off x="530352" y="2560320"/>
            <a:ext cx="3136391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RENAME key newkey</a:t>
            </a:r>
          </a:p>
        </p:txBody>
      </p:sp>
      <p:sp>
        <p:nvSpPr>
          <p:cNvPr id="16" name="a1wd420_td15"/>
          <p:cNvSpPr/>
          <p:nvPr/>
        </p:nvSpPr>
        <p:spPr>
          <a:xfrm>
            <a:off x="457200" y="2843784"/>
            <a:ext cx="32461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420_tdt16"/>
          <p:cNvSpPr txBox="1"/>
          <p:nvPr/>
        </p:nvSpPr>
        <p:spPr>
          <a:xfrm>
            <a:off x="530352" y="2843784"/>
            <a:ext cx="3136391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RENAMENX key newkey</a:t>
            </a:r>
          </a:p>
        </p:txBody>
      </p:sp>
      <p:sp>
        <p:nvSpPr>
          <p:cNvPr id="18" name="a1wd490_td17"/>
          <p:cNvSpPr/>
          <p:nvPr/>
        </p:nvSpPr>
        <p:spPr>
          <a:xfrm>
            <a:off x="457200" y="3127248"/>
            <a:ext cx="32461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490_tdt18"/>
          <p:cNvSpPr txBox="1"/>
          <p:nvPr/>
        </p:nvSpPr>
        <p:spPr>
          <a:xfrm>
            <a:off x="530352" y="3127248"/>
            <a:ext cx="3136391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COPY src dst [DB n] [REPLACE]</a:t>
            </a:r>
          </a:p>
        </p:txBody>
      </p:sp>
      <p:sp>
        <p:nvSpPr>
          <p:cNvPr id="20" name="a1wd560_td19"/>
          <p:cNvSpPr/>
          <p:nvPr/>
        </p:nvSpPr>
        <p:spPr>
          <a:xfrm>
            <a:off x="457200" y="3410712"/>
            <a:ext cx="32461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560_tdt20"/>
          <p:cNvSpPr txBox="1"/>
          <p:nvPr/>
        </p:nvSpPr>
        <p:spPr>
          <a:xfrm>
            <a:off x="530352" y="3410712"/>
            <a:ext cx="3136391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MOVE key db</a:t>
            </a:r>
          </a:p>
        </p:txBody>
      </p:sp>
      <p:sp>
        <p:nvSpPr>
          <p:cNvPr id="22" name="a1wd630_td21"/>
          <p:cNvSpPr/>
          <p:nvPr/>
        </p:nvSpPr>
        <p:spPr>
          <a:xfrm>
            <a:off x="457200" y="3694176"/>
            <a:ext cx="32461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630_tdt22"/>
          <p:cNvSpPr txBox="1"/>
          <p:nvPr/>
        </p:nvSpPr>
        <p:spPr>
          <a:xfrm>
            <a:off x="530352" y="3694176"/>
            <a:ext cx="3136391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RANDOMKEY</a:t>
            </a:r>
          </a:p>
        </p:txBody>
      </p:sp>
      <p:sp>
        <p:nvSpPr>
          <p:cNvPr id="24" name="a1wd700_td23"/>
          <p:cNvSpPr/>
          <p:nvPr/>
        </p:nvSpPr>
        <p:spPr>
          <a:xfrm>
            <a:off x="457200" y="3977639"/>
            <a:ext cx="32461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wd700_tdt24"/>
          <p:cNvSpPr txBox="1"/>
          <p:nvPr/>
        </p:nvSpPr>
        <p:spPr>
          <a:xfrm>
            <a:off x="530352" y="3977639"/>
            <a:ext cx="3136391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DUMP key  /  RESTORE key ttl v</a:t>
            </a:r>
          </a:p>
        </p:txBody>
      </p:sp>
      <p:sp>
        <p:nvSpPr>
          <p:cNvPr id="26" name="a1f_th25"/>
          <p:cNvSpPr/>
          <p:nvPr/>
        </p:nvSpPr>
        <p:spPr>
          <a:xfrm>
            <a:off x="3703320" y="1143000"/>
            <a:ext cx="3886200" cy="28346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f_tht26"/>
          <p:cNvSpPr txBox="1"/>
          <p:nvPr/>
        </p:nvSpPr>
        <p:spPr>
          <a:xfrm>
            <a:off x="3776472" y="1143000"/>
            <a:ext cx="377647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28" name="a1wd70_td27"/>
          <p:cNvSpPr/>
          <p:nvPr/>
        </p:nvSpPr>
        <p:spPr>
          <a:xfrm>
            <a:off x="3703320" y="1426464"/>
            <a:ext cx="388620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wd70_tdt28"/>
          <p:cNvSpPr txBox="1"/>
          <p:nvPr/>
        </p:nvSpPr>
        <p:spPr>
          <a:xfrm>
            <a:off x="3776472" y="1426464"/>
            <a:ext cx="377647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How many of these keys exist</a:t>
            </a:r>
          </a:p>
        </p:txBody>
      </p:sp>
      <p:sp>
        <p:nvSpPr>
          <p:cNvPr id="30" name="a1wd140_td29"/>
          <p:cNvSpPr/>
          <p:nvPr/>
        </p:nvSpPr>
        <p:spPr>
          <a:xfrm>
            <a:off x="3703320" y="1709928"/>
            <a:ext cx="388620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140_tdt30"/>
          <p:cNvSpPr txBox="1"/>
          <p:nvPr/>
        </p:nvSpPr>
        <p:spPr>
          <a:xfrm>
            <a:off x="3776472" y="1709928"/>
            <a:ext cx="377647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string | list | set | zset | hash | stream</a:t>
            </a:r>
          </a:p>
        </p:txBody>
      </p:sp>
      <p:sp>
        <p:nvSpPr>
          <p:cNvPr id="32" name="a1wd210_td31"/>
          <p:cNvSpPr/>
          <p:nvPr/>
        </p:nvSpPr>
        <p:spPr>
          <a:xfrm>
            <a:off x="3703320" y="1993391"/>
            <a:ext cx="388620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wd210_tdt32"/>
          <p:cNvSpPr txBox="1"/>
          <p:nvPr/>
        </p:nvSpPr>
        <p:spPr>
          <a:xfrm>
            <a:off x="3776472" y="1993391"/>
            <a:ext cx="377647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Delete now - blocks while it frees memory</a:t>
            </a:r>
          </a:p>
        </p:txBody>
      </p:sp>
      <p:sp>
        <p:nvSpPr>
          <p:cNvPr id="34" name="a1wd280_td33"/>
          <p:cNvSpPr/>
          <p:nvPr/>
        </p:nvSpPr>
        <p:spPr>
          <a:xfrm>
            <a:off x="3703320" y="2276856"/>
            <a:ext cx="388620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1wd280_tdt34"/>
          <p:cNvSpPr txBox="1"/>
          <p:nvPr/>
        </p:nvSpPr>
        <p:spPr>
          <a:xfrm>
            <a:off x="3776472" y="2276856"/>
            <a:ext cx="377647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Delete in a background thread - prefer this</a:t>
            </a:r>
          </a:p>
        </p:txBody>
      </p:sp>
      <p:sp>
        <p:nvSpPr>
          <p:cNvPr id="36" name="a1wd350_td35"/>
          <p:cNvSpPr/>
          <p:nvPr/>
        </p:nvSpPr>
        <p:spPr>
          <a:xfrm>
            <a:off x="3703320" y="2560320"/>
            <a:ext cx="388620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1wd350_tdt36"/>
          <p:cNvSpPr txBox="1"/>
          <p:nvPr/>
        </p:nvSpPr>
        <p:spPr>
          <a:xfrm>
            <a:off x="3776472" y="2560320"/>
            <a:ext cx="377647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Rename, overwriting newkey if it exists</a:t>
            </a:r>
          </a:p>
        </p:txBody>
      </p:sp>
      <p:sp>
        <p:nvSpPr>
          <p:cNvPr id="38" name="a1wd420_td37"/>
          <p:cNvSpPr/>
          <p:nvPr/>
        </p:nvSpPr>
        <p:spPr>
          <a:xfrm>
            <a:off x="3703320" y="2843784"/>
            <a:ext cx="388620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1wd420_tdt38"/>
          <p:cNvSpPr txBox="1"/>
          <p:nvPr/>
        </p:nvSpPr>
        <p:spPr>
          <a:xfrm>
            <a:off x="3776472" y="2843784"/>
            <a:ext cx="377647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Rename only if newkey does not exist</a:t>
            </a:r>
          </a:p>
        </p:txBody>
      </p:sp>
      <p:sp>
        <p:nvSpPr>
          <p:cNvPr id="40" name="a1wd490_td39"/>
          <p:cNvSpPr/>
          <p:nvPr/>
        </p:nvSpPr>
        <p:spPr>
          <a:xfrm>
            <a:off x="3703320" y="3127248"/>
            <a:ext cx="388620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1wd490_tdt40"/>
          <p:cNvSpPr txBox="1"/>
          <p:nvPr/>
        </p:nvSpPr>
        <p:spPr>
          <a:xfrm>
            <a:off x="3776472" y="3127248"/>
            <a:ext cx="377647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Duplicate a value under a new key</a:t>
            </a:r>
          </a:p>
        </p:txBody>
      </p:sp>
      <p:sp>
        <p:nvSpPr>
          <p:cNvPr id="42" name="a1wd560_td41"/>
          <p:cNvSpPr/>
          <p:nvPr/>
        </p:nvSpPr>
        <p:spPr>
          <a:xfrm>
            <a:off x="3703320" y="3410712"/>
            <a:ext cx="388620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1wd560_tdt42"/>
          <p:cNvSpPr txBox="1"/>
          <p:nvPr/>
        </p:nvSpPr>
        <p:spPr>
          <a:xfrm>
            <a:off x="3776472" y="3410712"/>
            <a:ext cx="377647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Move a key to another numbered database</a:t>
            </a:r>
          </a:p>
        </p:txBody>
      </p:sp>
      <p:sp>
        <p:nvSpPr>
          <p:cNvPr id="44" name="a1wd630_td43"/>
          <p:cNvSpPr/>
          <p:nvPr/>
        </p:nvSpPr>
        <p:spPr>
          <a:xfrm>
            <a:off x="3703320" y="3694176"/>
            <a:ext cx="388620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1wd630_tdt44"/>
          <p:cNvSpPr txBox="1"/>
          <p:nvPr/>
        </p:nvSpPr>
        <p:spPr>
          <a:xfrm>
            <a:off x="3776472" y="3694176"/>
            <a:ext cx="377647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One random key name - handy for sampling</a:t>
            </a:r>
          </a:p>
        </p:txBody>
      </p:sp>
      <p:sp>
        <p:nvSpPr>
          <p:cNvPr id="46" name="a1wd700_td45"/>
          <p:cNvSpPr/>
          <p:nvPr/>
        </p:nvSpPr>
        <p:spPr>
          <a:xfrm>
            <a:off x="3703320" y="3977639"/>
            <a:ext cx="388620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1wd700_tdt46"/>
          <p:cNvSpPr txBox="1"/>
          <p:nvPr/>
        </p:nvSpPr>
        <p:spPr>
          <a:xfrm>
            <a:off x="3776472" y="3977639"/>
            <a:ext cx="377647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Serialise and reload a value, even across servers</a:t>
            </a:r>
          </a:p>
        </p:txBody>
      </p:sp>
      <p:sp>
        <p:nvSpPr>
          <p:cNvPr id="48" name="a1f_th47"/>
          <p:cNvSpPr/>
          <p:nvPr/>
        </p:nvSpPr>
        <p:spPr>
          <a:xfrm>
            <a:off x="7589520" y="1143000"/>
            <a:ext cx="1097280" cy="2834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1f_tht48"/>
          <p:cNvSpPr txBox="1"/>
          <p:nvPr/>
        </p:nvSpPr>
        <p:spPr>
          <a:xfrm>
            <a:off x="7662672" y="1143000"/>
            <a:ext cx="98755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50" name="a1wd70_td49"/>
          <p:cNvSpPr/>
          <p:nvPr/>
        </p:nvSpPr>
        <p:spPr>
          <a:xfrm>
            <a:off x="7589520" y="1426464"/>
            <a:ext cx="10972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a1wd70_tdt50"/>
          <p:cNvSpPr txBox="1"/>
          <p:nvPr/>
        </p:nvSpPr>
        <p:spPr>
          <a:xfrm>
            <a:off x="7662672" y="1426464"/>
            <a:ext cx="98755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O(n) keys</a:t>
            </a:r>
          </a:p>
        </p:txBody>
      </p:sp>
      <p:sp>
        <p:nvSpPr>
          <p:cNvPr id="52" name="a1wd140_td51"/>
          <p:cNvSpPr/>
          <p:nvPr/>
        </p:nvSpPr>
        <p:spPr>
          <a:xfrm>
            <a:off x="7589520" y="1709928"/>
            <a:ext cx="10972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a1wd140_tdt52"/>
          <p:cNvSpPr txBox="1"/>
          <p:nvPr/>
        </p:nvSpPr>
        <p:spPr>
          <a:xfrm>
            <a:off x="7662672" y="1709928"/>
            <a:ext cx="98755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54" name="a1wd210_td53"/>
          <p:cNvSpPr/>
          <p:nvPr/>
        </p:nvSpPr>
        <p:spPr>
          <a:xfrm>
            <a:off x="7589520" y="1993391"/>
            <a:ext cx="10972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a1wd210_tdt54"/>
          <p:cNvSpPr txBox="1"/>
          <p:nvPr/>
        </p:nvSpPr>
        <p:spPr>
          <a:xfrm>
            <a:off x="7662672" y="1993391"/>
            <a:ext cx="98755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O(n) elements</a:t>
            </a:r>
          </a:p>
        </p:txBody>
      </p:sp>
      <p:sp>
        <p:nvSpPr>
          <p:cNvPr id="56" name="a1wd280_td55"/>
          <p:cNvSpPr/>
          <p:nvPr/>
        </p:nvSpPr>
        <p:spPr>
          <a:xfrm>
            <a:off x="7589520" y="2276856"/>
            <a:ext cx="10972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a1wd280_tdt56"/>
          <p:cNvSpPr txBox="1"/>
          <p:nvPr/>
        </p:nvSpPr>
        <p:spPr>
          <a:xfrm>
            <a:off x="7662672" y="2276856"/>
            <a:ext cx="98755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58" name="a1wd350_td57"/>
          <p:cNvSpPr/>
          <p:nvPr/>
        </p:nvSpPr>
        <p:spPr>
          <a:xfrm>
            <a:off x="7589520" y="2560320"/>
            <a:ext cx="10972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a1wd350_tdt58"/>
          <p:cNvSpPr txBox="1"/>
          <p:nvPr/>
        </p:nvSpPr>
        <p:spPr>
          <a:xfrm>
            <a:off x="7662672" y="2560320"/>
            <a:ext cx="98755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60" name="a1wd420_td59"/>
          <p:cNvSpPr/>
          <p:nvPr/>
        </p:nvSpPr>
        <p:spPr>
          <a:xfrm>
            <a:off x="7589520" y="2843784"/>
            <a:ext cx="10972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a1wd420_tdt60"/>
          <p:cNvSpPr txBox="1"/>
          <p:nvPr/>
        </p:nvSpPr>
        <p:spPr>
          <a:xfrm>
            <a:off x="7662672" y="2843784"/>
            <a:ext cx="98755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62" name="a1wd490_td61"/>
          <p:cNvSpPr/>
          <p:nvPr/>
        </p:nvSpPr>
        <p:spPr>
          <a:xfrm>
            <a:off x="7589520" y="3127248"/>
            <a:ext cx="10972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a1wd490_tdt62"/>
          <p:cNvSpPr txBox="1"/>
          <p:nvPr/>
        </p:nvSpPr>
        <p:spPr>
          <a:xfrm>
            <a:off x="7662672" y="3127248"/>
            <a:ext cx="98755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O(n)</a:t>
            </a:r>
          </a:p>
        </p:txBody>
      </p:sp>
      <p:sp>
        <p:nvSpPr>
          <p:cNvPr id="64" name="a1wd560_td63"/>
          <p:cNvSpPr/>
          <p:nvPr/>
        </p:nvSpPr>
        <p:spPr>
          <a:xfrm>
            <a:off x="7589520" y="3410712"/>
            <a:ext cx="10972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a1wd560_tdt64"/>
          <p:cNvSpPr txBox="1"/>
          <p:nvPr/>
        </p:nvSpPr>
        <p:spPr>
          <a:xfrm>
            <a:off x="7662672" y="3410712"/>
            <a:ext cx="98755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66" name="a1wd630_td65"/>
          <p:cNvSpPr/>
          <p:nvPr/>
        </p:nvSpPr>
        <p:spPr>
          <a:xfrm>
            <a:off x="7589520" y="3694176"/>
            <a:ext cx="10972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a1wd630_tdt66"/>
          <p:cNvSpPr txBox="1"/>
          <p:nvPr/>
        </p:nvSpPr>
        <p:spPr>
          <a:xfrm>
            <a:off x="7662672" y="3694176"/>
            <a:ext cx="98755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68" name="a1wd700_td67"/>
          <p:cNvSpPr/>
          <p:nvPr/>
        </p:nvSpPr>
        <p:spPr>
          <a:xfrm>
            <a:off x="7589520" y="3977639"/>
            <a:ext cx="10972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a1wd700_tdt68"/>
          <p:cNvSpPr txBox="1"/>
          <p:nvPr/>
        </p:nvSpPr>
        <p:spPr>
          <a:xfrm>
            <a:off x="7662672" y="3977639"/>
            <a:ext cx="98755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O(n)</a:t>
            </a:r>
          </a:p>
        </p:txBody>
      </p:sp>
      <p:sp>
        <p:nvSpPr>
          <p:cNvPr id="70" name="a2u_nb69"/>
          <p:cNvSpPr/>
          <p:nvPr/>
        </p:nvSpPr>
        <p:spPr>
          <a:xfrm>
            <a:off x="457200" y="4306824"/>
            <a:ext cx="8229600" cy="475488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a2u_nacc70"/>
          <p:cNvSpPr/>
          <p:nvPr/>
        </p:nvSpPr>
        <p:spPr>
          <a:xfrm>
            <a:off x="457200" y="4306824"/>
            <a:ext cx="50292" cy="475488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a2u_nt71"/>
          <p:cNvSpPr txBox="1"/>
          <p:nvPr/>
        </p:nvSpPr>
        <p:spPr>
          <a:xfrm>
            <a:off x="658368" y="4306824"/>
            <a:ext cx="782726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DC382C"/>
                </a:solidFill>
                <a:latin typeface="Calibri"/>
              </a:rPr>
              <a:t>!  </a:t>
            </a:r>
            <a:r>
              <a:rPr sz="1000" b="0">
                <a:solidFill>
                  <a:srgbClr val="334155"/>
                </a:solidFill>
                <a:latin typeface="Calibri"/>
              </a:rPr>
              <a:t>Use UNLINK instead of DEL for anything large. DEL frees the memory inline and a 10-million-element set can block the server for seconds; UNLINK hands it to a background thread.</a:t>
            </a:r>
          </a:p>
        </p:txBody>
      </p:sp>
      <p:sp>
        <p:nvSpPr>
          <p:cNvPr id="73" name="ft7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74" name="ft7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5 · Commands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Key Expiry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 commands that make Redis a cache rather than a leak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143000"/>
            <a:ext cx="3246120" cy="30175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143000"/>
            <a:ext cx="3136391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ourier New"/>
              </a:rPr>
              <a:t>Command</a:t>
            </a:r>
          </a:p>
        </p:txBody>
      </p:sp>
      <p:sp>
        <p:nvSpPr>
          <p:cNvPr id="6" name="a1wd80_td5"/>
          <p:cNvSpPr/>
          <p:nvPr/>
        </p:nvSpPr>
        <p:spPr>
          <a:xfrm>
            <a:off x="457200" y="1444752"/>
            <a:ext cx="32461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80_tdt6"/>
          <p:cNvSpPr txBox="1"/>
          <p:nvPr/>
        </p:nvSpPr>
        <p:spPr>
          <a:xfrm>
            <a:off x="530352" y="1444752"/>
            <a:ext cx="3136391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EXPIRE key seconds [NX|XX|GT|LT]</a:t>
            </a:r>
          </a:p>
        </p:txBody>
      </p:sp>
      <p:sp>
        <p:nvSpPr>
          <p:cNvPr id="8" name="a1wd160_td7"/>
          <p:cNvSpPr/>
          <p:nvPr/>
        </p:nvSpPr>
        <p:spPr>
          <a:xfrm>
            <a:off x="457200" y="1746504"/>
            <a:ext cx="32461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160_tdt8"/>
          <p:cNvSpPr txBox="1"/>
          <p:nvPr/>
        </p:nvSpPr>
        <p:spPr>
          <a:xfrm>
            <a:off x="530352" y="1746504"/>
            <a:ext cx="3136391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PEXPIRE key ms</a:t>
            </a:r>
          </a:p>
        </p:txBody>
      </p:sp>
      <p:sp>
        <p:nvSpPr>
          <p:cNvPr id="10" name="a1wd240_td9"/>
          <p:cNvSpPr/>
          <p:nvPr/>
        </p:nvSpPr>
        <p:spPr>
          <a:xfrm>
            <a:off x="457200" y="2048256"/>
            <a:ext cx="32461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240_tdt10"/>
          <p:cNvSpPr txBox="1"/>
          <p:nvPr/>
        </p:nvSpPr>
        <p:spPr>
          <a:xfrm>
            <a:off x="530352" y="2048256"/>
            <a:ext cx="3136391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EXPIREAT key unix-ts</a:t>
            </a:r>
          </a:p>
        </p:txBody>
      </p:sp>
      <p:sp>
        <p:nvSpPr>
          <p:cNvPr id="12" name="a1wd320_td11"/>
          <p:cNvSpPr/>
          <p:nvPr/>
        </p:nvSpPr>
        <p:spPr>
          <a:xfrm>
            <a:off x="457200" y="2350008"/>
            <a:ext cx="32461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320_tdt12"/>
          <p:cNvSpPr txBox="1"/>
          <p:nvPr/>
        </p:nvSpPr>
        <p:spPr>
          <a:xfrm>
            <a:off x="530352" y="2350008"/>
            <a:ext cx="3136391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TTL key</a:t>
            </a:r>
          </a:p>
        </p:txBody>
      </p:sp>
      <p:sp>
        <p:nvSpPr>
          <p:cNvPr id="14" name="a1wd400_td13"/>
          <p:cNvSpPr/>
          <p:nvPr/>
        </p:nvSpPr>
        <p:spPr>
          <a:xfrm>
            <a:off x="457200" y="2651760"/>
            <a:ext cx="32461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400_tdt14"/>
          <p:cNvSpPr txBox="1"/>
          <p:nvPr/>
        </p:nvSpPr>
        <p:spPr>
          <a:xfrm>
            <a:off x="530352" y="2651760"/>
            <a:ext cx="3136391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PTTL key</a:t>
            </a:r>
          </a:p>
        </p:txBody>
      </p:sp>
      <p:sp>
        <p:nvSpPr>
          <p:cNvPr id="16" name="a1wd480_td15"/>
          <p:cNvSpPr/>
          <p:nvPr/>
        </p:nvSpPr>
        <p:spPr>
          <a:xfrm>
            <a:off x="457200" y="2953512"/>
            <a:ext cx="32461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480_tdt16"/>
          <p:cNvSpPr txBox="1"/>
          <p:nvPr/>
        </p:nvSpPr>
        <p:spPr>
          <a:xfrm>
            <a:off x="530352" y="2953512"/>
            <a:ext cx="3136391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EXPIRETIME key</a:t>
            </a:r>
          </a:p>
        </p:txBody>
      </p:sp>
      <p:sp>
        <p:nvSpPr>
          <p:cNvPr id="18" name="a1wd560_td17"/>
          <p:cNvSpPr/>
          <p:nvPr/>
        </p:nvSpPr>
        <p:spPr>
          <a:xfrm>
            <a:off x="457200" y="3255264"/>
            <a:ext cx="32461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560_tdt18"/>
          <p:cNvSpPr txBox="1"/>
          <p:nvPr/>
        </p:nvSpPr>
        <p:spPr>
          <a:xfrm>
            <a:off x="530352" y="3255264"/>
            <a:ext cx="3136391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PERSIST key</a:t>
            </a:r>
          </a:p>
        </p:txBody>
      </p:sp>
      <p:sp>
        <p:nvSpPr>
          <p:cNvPr id="20" name="a1wd640_td19"/>
          <p:cNvSpPr/>
          <p:nvPr/>
        </p:nvSpPr>
        <p:spPr>
          <a:xfrm>
            <a:off x="457200" y="3557016"/>
            <a:ext cx="32461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640_tdt20"/>
          <p:cNvSpPr txBox="1"/>
          <p:nvPr/>
        </p:nvSpPr>
        <p:spPr>
          <a:xfrm>
            <a:off x="530352" y="3557016"/>
            <a:ext cx="3136391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SET key val KEEPTTL</a:t>
            </a:r>
          </a:p>
        </p:txBody>
      </p:sp>
      <p:sp>
        <p:nvSpPr>
          <p:cNvPr id="22" name="a1f_th21"/>
          <p:cNvSpPr/>
          <p:nvPr/>
        </p:nvSpPr>
        <p:spPr>
          <a:xfrm>
            <a:off x="3703320" y="1143000"/>
            <a:ext cx="3886200" cy="30175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f_tht22"/>
          <p:cNvSpPr txBox="1"/>
          <p:nvPr/>
        </p:nvSpPr>
        <p:spPr>
          <a:xfrm>
            <a:off x="3776472" y="1143000"/>
            <a:ext cx="377647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24" name="a1wd80_td23"/>
          <p:cNvSpPr/>
          <p:nvPr/>
        </p:nvSpPr>
        <p:spPr>
          <a:xfrm>
            <a:off x="3703320" y="1444752"/>
            <a:ext cx="38862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wd80_tdt24"/>
          <p:cNvSpPr txBox="1"/>
          <p:nvPr/>
        </p:nvSpPr>
        <p:spPr>
          <a:xfrm>
            <a:off x="3776472" y="1444752"/>
            <a:ext cx="377647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Set a TTL in seconds</a:t>
            </a:r>
          </a:p>
        </p:txBody>
      </p:sp>
      <p:sp>
        <p:nvSpPr>
          <p:cNvPr id="26" name="a1wd160_td25"/>
          <p:cNvSpPr/>
          <p:nvPr/>
        </p:nvSpPr>
        <p:spPr>
          <a:xfrm>
            <a:off x="3703320" y="1746504"/>
            <a:ext cx="38862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160_tdt26"/>
          <p:cNvSpPr txBox="1"/>
          <p:nvPr/>
        </p:nvSpPr>
        <p:spPr>
          <a:xfrm>
            <a:off x="3776472" y="1746504"/>
            <a:ext cx="377647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Same, in milliseconds</a:t>
            </a:r>
          </a:p>
        </p:txBody>
      </p:sp>
      <p:sp>
        <p:nvSpPr>
          <p:cNvPr id="28" name="a1wd240_td27"/>
          <p:cNvSpPr/>
          <p:nvPr/>
        </p:nvSpPr>
        <p:spPr>
          <a:xfrm>
            <a:off x="3703320" y="2048256"/>
            <a:ext cx="38862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wd240_tdt28"/>
          <p:cNvSpPr txBox="1"/>
          <p:nvPr/>
        </p:nvSpPr>
        <p:spPr>
          <a:xfrm>
            <a:off x="3776472" y="2048256"/>
            <a:ext cx="377647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Expire at an absolute time</a:t>
            </a:r>
          </a:p>
        </p:txBody>
      </p:sp>
      <p:sp>
        <p:nvSpPr>
          <p:cNvPr id="30" name="a1wd320_td29"/>
          <p:cNvSpPr/>
          <p:nvPr/>
        </p:nvSpPr>
        <p:spPr>
          <a:xfrm>
            <a:off x="3703320" y="2350008"/>
            <a:ext cx="38862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320_tdt30"/>
          <p:cNvSpPr txBox="1"/>
          <p:nvPr/>
        </p:nvSpPr>
        <p:spPr>
          <a:xfrm>
            <a:off x="3776472" y="2350008"/>
            <a:ext cx="377647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Seconds left; -1 no TTL, -2 no key</a:t>
            </a:r>
          </a:p>
        </p:txBody>
      </p:sp>
      <p:sp>
        <p:nvSpPr>
          <p:cNvPr id="32" name="a1wd400_td31"/>
          <p:cNvSpPr/>
          <p:nvPr/>
        </p:nvSpPr>
        <p:spPr>
          <a:xfrm>
            <a:off x="3703320" y="2651760"/>
            <a:ext cx="38862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wd400_tdt32"/>
          <p:cNvSpPr txBox="1"/>
          <p:nvPr/>
        </p:nvSpPr>
        <p:spPr>
          <a:xfrm>
            <a:off x="3776472" y="2651760"/>
            <a:ext cx="377647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Milliseconds left</a:t>
            </a:r>
          </a:p>
        </p:txBody>
      </p:sp>
      <p:sp>
        <p:nvSpPr>
          <p:cNvPr id="34" name="a1wd480_td33"/>
          <p:cNvSpPr/>
          <p:nvPr/>
        </p:nvSpPr>
        <p:spPr>
          <a:xfrm>
            <a:off x="3703320" y="2953512"/>
            <a:ext cx="38862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1wd480_tdt34"/>
          <p:cNvSpPr txBox="1"/>
          <p:nvPr/>
        </p:nvSpPr>
        <p:spPr>
          <a:xfrm>
            <a:off x="3776472" y="2953512"/>
            <a:ext cx="377647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The absolute unix time it expires at</a:t>
            </a:r>
          </a:p>
        </p:txBody>
      </p:sp>
      <p:sp>
        <p:nvSpPr>
          <p:cNvPr id="36" name="a1wd560_td35"/>
          <p:cNvSpPr/>
          <p:nvPr/>
        </p:nvSpPr>
        <p:spPr>
          <a:xfrm>
            <a:off x="3703320" y="3255264"/>
            <a:ext cx="38862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1wd560_tdt36"/>
          <p:cNvSpPr txBox="1"/>
          <p:nvPr/>
        </p:nvSpPr>
        <p:spPr>
          <a:xfrm>
            <a:off x="3776472" y="3255264"/>
            <a:ext cx="377647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Remove the TTL, make it permanent</a:t>
            </a:r>
          </a:p>
        </p:txBody>
      </p:sp>
      <p:sp>
        <p:nvSpPr>
          <p:cNvPr id="38" name="a1wd640_td37"/>
          <p:cNvSpPr/>
          <p:nvPr/>
        </p:nvSpPr>
        <p:spPr>
          <a:xfrm>
            <a:off x="3703320" y="3557016"/>
            <a:ext cx="38862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1wd640_tdt38"/>
          <p:cNvSpPr txBox="1"/>
          <p:nvPr/>
        </p:nvSpPr>
        <p:spPr>
          <a:xfrm>
            <a:off x="3776472" y="3557016"/>
            <a:ext cx="377647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Overwrite the value, keep the existing TTL</a:t>
            </a:r>
          </a:p>
        </p:txBody>
      </p:sp>
      <p:sp>
        <p:nvSpPr>
          <p:cNvPr id="40" name="a1f_th39"/>
          <p:cNvSpPr/>
          <p:nvPr/>
        </p:nvSpPr>
        <p:spPr>
          <a:xfrm>
            <a:off x="7589520" y="1143000"/>
            <a:ext cx="1097280" cy="3017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1f_tht40"/>
          <p:cNvSpPr txBox="1"/>
          <p:nvPr/>
        </p:nvSpPr>
        <p:spPr>
          <a:xfrm>
            <a:off x="7662672" y="1143000"/>
            <a:ext cx="9875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42" name="a1wd80_td41"/>
          <p:cNvSpPr/>
          <p:nvPr/>
        </p:nvSpPr>
        <p:spPr>
          <a:xfrm>
            <a:off x="7589520" y="1444752"/>
            <a:ext cx="10972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1wd80_tdt42"/>
          <p:cNvSpPr txBox="1"/>
          <p:nvPr/>
        </p:nvSpPr>
        <p:spPr>
          <a:xfrm>
            <a:off x="7662672" y="1444752"/>
            <a:ext cx="9875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44" name="a1wd160_td43"/>
          <p:cNvSpPr/>
          <p:nvPr/>
        </p:nvSpPr>
        <p:spPr>
          <a:xfrm>
            <a:off x="7589520" y="1746504"/>
            <a:ext cx="10972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1wd160_tdt44"/>
          <p:cNvSpPr txBox="1"/>
          <p:nvPr/>
        </p:nvSpPr>
        <p:spPr>
          <a:xfrm>
            <a:off x="7662672" y="1746504"/>
            <a:ext cx="9875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46" name="a1wd240_td45"/>
          <p:cNvSpPr/>
          <p:nvPr/>
        </p:nvSpPr>
        <p:spPr>
          <a:xfrm>
            <a:off x="7589520" y="2048256"/>
            <a:ext cx="10972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1wd240_tdt46"/>
          <p:cNvSpPr txBox="1"/>
          <p:nvPr/>
        </p:nvSpPr>
        <p:spPr>
          <a:xfrm>
            <a:off x="7662672" y="2048256"/>
            <a:ext cx="9875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48" name="a1wd320_td47"/>
          <p:cNvSpPr/>
          <p:nvPr/>
        </p:nvSpPr>
        <p:spPr>
          <a:xfrm>
            <a:off x="7589520" y="2350008"/>
            <a:ext cx="10972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1wd320_tdt48"/>
          <p:cNvSpPr txBox="1"/>
          <p:nvPr/>
        </p:nvSpPr>
        <p:spPr>
          <a:xfrm>
            <a:off x="7662672" y="2350008"/>
            <a:ext cx="9875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50" name="a1wd400_td49"/>
          <p:cNvSpPr/>
          <p:nvPr/>
        </p:nvSpPr>
        <p:spPr>
          <a:xfrm>
            <a:off x="7589520" y="2651760"/>
            <a:ext cx="10972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a1wd400_tdt50"/>
          <p:cNvSpPr txBox="1"/>
          <p:nvPr/>
        </p:nvSpPr>
        <p:spPr>
          <a:xfrm>
            <a:off x="7662672" y="2651760"/>
            <a:ext cx="9875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52" name="a1wd480_td51"/>
          <p:cNvSpPr/>
          <p:nvPr/>
        </p:nvSpPr>
        <p:spPr>
          <a:xfrm>
            <a:off x="7589520" y="2953512"/>
            <a:ext cx="10972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a1wd480_tdt52"/>
          <p:cNvSpPr txBox="1"/>
          <p:nvPr/>
        </p:nvSpPr>
        <p:spPr>
          <a:xfrm>
            <a:off x="7662672" y="2953512"/>
            <a:ext cx="9875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54" name="a1wd560_td53"/>
          <p:cNvSpPr/>
          <p:nvPr/>
        </p:nvSpPr>
        <p:spPr>
          <a:xfrm>
            <a:off x="7589520" y="3255264"/>
            <a:ext cx="10972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a1wd560_tdt54"/>
          <p:cNvSpPr txBox="1"/>
          <p:nvPr/>
        </p:nvSpPr>
        <p:spPr>
          <a:xfrm>
            <a:off x="7662672" y="3255264"/>
            <a:ext cx="9875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56" name="a1wd640_td55"/>
          <p:cNvSpPr/>
          <p:nvPr/>
        </p:nvSpPr>
        <p:spPr>
          <a:xfrm>
            <a:off x="7589520" y="3557016"/>
            <a:ext cx="10972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a1wd640_tdt56"/>
          <p:cNvSpPr txBox="1"/>
          <p:nvPr/>
        </p:nvSpPr>
        <p:spPr>
          <a:xfrm>
            <a:off x="7662672" y="3557016"/>
            <a:ext cx="9875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58" name="a2u_card57"/>
          <p:cNvSpPr/>
          <p:nvPr/>
        </p:nvSpPr>
        <p:spPr>
          <a:xfrm>
            <a:off x="457200" y="3941064"/>
            <a:ext cx="3931920" cy="100584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a2u_acc58"/>
          <p:cNvSpPr/>
          <p:nvPr/>
        </p:nvSpPr>
        <p:spPr>
          <a:xfrm>
            <a:off x="457200" y="3941064"/>
            <a:ext cx="50292" cy="10058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a2ud20_uh59"/>
          <p:cNvSpPr txBox="1"/>
          <p:nvPr/>
        </p:nvSpPr>
        <p:spPr>
          <a:xfrm>
            <a:off x="658368" y="4032504"/>
            <a:ext cx="352958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8B5CF6"/>
                </a:solidFill>
                <a:latin typeface="Calibri"/>
              </a:rPr>
              <a:t>USE CASE · SLIDING SESSION WINDOW</a:t>
            </a:r>
          </a:p>
        </p:txBody>
      </p:sp>
      <p:sp>
        <p:nvSpPr>
          <p:cNvPr id="61" name="a2fd80_codebg60"/>
          <p:cNvSpPr/>
          <p:nvPr/>
        </p:nvSpPr>
        <p:spPr>
          <a:xfrm>
            <a:off x="658368" y="4288536"/>
            <a:ext cx="3529584" cy="576072"/>
          </a:xfrm>
          <a:prstGeom prst="roundRect">
            <a:avLst>
              <a:gd name="adj" fmla="val 1269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a2wd80_code61"/>
          <p:cNvSpPr txBox="1"/>
          <p:nvPr/>
        </p:nvSpPr>
        <p:spPr>
          <a:xfrm>
            <a:off x="749808" y="4379976"/>
            <a:ext cx="3346703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4B5FD"/>
                </a:solidFill>
                <a:latin typeface="Courier New"/>
              </a:rPr>
              <a:t>SET  sess:8f3a "{...}" EX 1800</a:t>
            </a:r>
          </a:p>
        </p:txBody>
      </p:sp>
      <p:sp>
        <p:nvSpPr>
          <p:cNvPr id="63" name="a2wd165_code62"/>
          <p:cNvSpPr txBox="1"/>
          <p:nvPr/>
        </p:nvSpPr>
        <p:spPr>
          <a:xfrm>
            <a:off x="749808" y="4576572"/>
            <a:ext cx="3346703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4B5FD"/>
                </a:solidFill>
                <a:latin typeface="Courier New"/>
              </a:rPr>
              <a:t>EXPIRE sess:8f3a 1800      # on every request</a:t>
            </a:r>
          </a:p>
        </p:txBody>
      </p:sp>
      <p:sp>
        <p:nvSpPr>
          <p:cNvPr id="64" name="a3u_nb63"/>
          <p:cNvSpPr/>
          <p:nvPr/>
        </p:nvSpPr>
        <p:spPr>
          <a:xfrm>
            <a:off x="4754880" y="3941064"/>
            <a:ext cx="3931920" cy="100584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a3u_nacc64"/>
          <p:cNvSpPr/>
          <p:nvPr/>
        </p:nvSpPr>
        <p:spPr>
          <a:xfrm>
            <a:off x="4754880" y="3941064"/>
            <a:ext cx="50292" cy="10058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a3u_nt65"/>
          <p:cNvSpPr txBox="1"/>
          <p:nvPr/>
        </p:nvSpPr>
        <p:spPr>
          <a:xfrm>
            <a:off x="4956048" y="3941064"/>
            <a:ext cx="3529584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0F766E"/>
                </a:solidFill>
                <a:latin typeface="Calibri"/>
              </a:rPr>
              <a:t>i  </a:t>
            </a:r>
            <a:r>
              <a:rPr sz="950" b="0">
                <a:solidFill>
                  <a:srgbClr val="334155"/>
                </a:solidFill>
                <a:latin typeface="Calibri"/>
              </a:rPr>
              <a:t>GT and LT on EXPIRE (Redis 7) only extend or only shorten a TTL. That is how you refresh a session without ever accidentally shortening it.</a:t>
            </a:r>
          </a:p>
        </p:txBody>
      </p:sp>
      <p:sp>
        <p:nvSpPr>
          <p:cNvPr id="67" name="ft66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68" name="ft67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5 · Commands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" presetClass="entr" presetSubtype="4" fill="hold" grpId="0" nodeType="with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Key Discovery · KEYS vs SCAN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 single most important production rule in this entire module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43000"/>
            <a:ext cx="3931920" cy="2103120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acc4"/>
          <p:cNvSpPr/>
          <p:nvPr/>
        </p:nvSpPr>
        <p:spPr>
          <a:xfrm>
            <a:off x="457200" y="1143000"/>
            <a:ext cx="50292" cy="2103120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_hh5"/>
          <p:cNvSpPr txBox="1"/>
          <p:nvPr/>
        </p:nvSpPr>
        <p:spPr>
          <a:xfrm>
            <a:off x="658368" y="1252728"/>
            <a:ext cx="35295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DC382C"/>
                </a:solidFill>
                <a:latin typeface="Calibri"/>
              </a:rPr>
              <a:t>KEYS  ·  NEVER IN PRODUCTION</a:t>
            </a:r>
          </a:p>
        </p:txBody>
      </p:sp>
      <p:sp>
        <p:nvSpPr>
          <p:cNvPr id="7" name="a1fd60_codebg6"/>
          <p:cNvSpPr/>
          <p:nvPr/>
        </p:nvSpPr>
        <p:spPr>
          <a:xfrm>
            <a:off x="658368" y="1545336"/>
            <a:ext cx="3529584" cy="1024128"/>
          </a:xfrm>
          <a:prstGeom prst="roundRect">
            <a:avLst>
              <a:gd name="adj" fmla="val 714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a1wd60_code7"/>
          <p:cNvSpPr txBox="1"/>
          <p:nvPr/>
        </p:nvSpPr>
        <p:spPr>
          <a:xfrm>
            <a:off x="768096" y="1655064"/>
            <a:ext cx="3310128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KEYS icici:*</a:t>
            </a:r>
          </a:p>
        </p:txBody>
      </p:sp>
      <p:sp>
        <p:nvSpPr>
          <p:cNvPr id="9" name="a1wd150_code8"/>
          <p:cNvSpPr txBox="1"/>
          <p:nvPr/>
        </p:nvSpPr>
        <p:spPr>
          <a:xfrm>
            <a:off x="768096" y="1856232"/>
            <a:ext cx="3310128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1) "icici:bal:9003"</a:t>
            </a:r>
          </a:p>
        </p:txBody>
      </p:sp>
      <p:sp>
        <p:nvSpPr>
          <p:cNvPr id="10" name="a1wd240_code9"/>
          <p:cNvSpPr txBox="1"/>
          <p:nvPr/>
        </p:nvSpPr>
        <p:spPr>
          <a:xfrm>
            <a:off x="768096" y="2057400"/>
            <a:ext cx="3310128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2) "icici:bal:7711"</a:t>
            </a:r>
          </a:p>
        </p:txBody>
      </p:sp>
      <p:sp>
        <p:nvSpPr>
          <p:cNvPr id="11" name="a1wd330_code10"/>
          <p:cNvSpPr txBox="1"/>
          <p:nvPr/>
        </p:nvSpPr>
        <p:spPr>
          <a:xfrm>
            <a:off x="768096" y="2258568"/>
            <a:ext cx="3310128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... 4 million more ...</a:t>
            </a:r>
          </a:p>
        </p:txBody>
      </p:sp>
      <p:sp>
        <p:nvSpPr>
          <p:cNvPr id="12" name="a1ud400_dot11"/>
          <p:cNvSpPr/>
          <p:nvPr/>
        </p:nvSpPr>
        <p:spPr>
          <a:xfrm>
            <a:off x="658368" y="2688336"/>
            <a:ext cx="82296" cy="82296"/>
          </a:xfrm>
          <a:prstGeom prst="ellipse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ud400_b12"/>
          <p:cNvSpPr txBox="1"/>
          <p:nvPr/>
        </p:nvSpPr>
        <p:spPr>
          <a:xfrm>
            <a:off x="877824" y="2587752"/>
            <a:ext cx="3310128" cy="182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O(n) over the entire keyspace</a:t>
            </a:r>
          </a:p>
        </p:txBody>
      </p:sp>
      <p:sp>
        <p:nvSpPr>
          <p:cNvPr id="14" name="a1ud490_dot13"/>
          <p:cNvSpPr/>
          <p:nvPr/>
        </p:nvSpPr>
        <p:spPr>
          <a:xfrm>
            <a:off x="658368" y="2907791"/>
            <a:ext cx="82296" cy="82296"/>
          </a:xfrm>
          <a:prstGeom prst="ellipse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ud490_b14"/>
          <p:cNvSpPr txBox="1"/>
          <p:nvPr/>
        </p:nvSpPr>
        <p:spPr>
          <a:xfrm>
            <a:off x="877824" y="2807208"/>
            <a:ext cx="3310128" cy="182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Blocks every other client until done</a:t>
            </a:r>
          </a:p>
        </p:txBody>
      </p:sp>
      <p:sp>
        <p:nvSpPr>
          <p:cNvPr id="16" name="a1ud580_dot15"/>
          <p:cNvSpPr/>
          <p:nvPr/>
        </p:nvSpPr>
        <p:spPr>
          <a:xfrm>
            <a:off x="658368" y="3127248"/>
            <a:ext cx="82296" cy="82296"/>
          </a:xfrm>
          <a:prstGeom prst="ellipse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ud580_b16"/>
          <p:cNvSpPr txBox="1"/>
          <p:nvPr/>
        </p:nvSpPr>
        <p:spPr>
          <a:xfrm>
            <a:off x="877824" y="3026664"/>
            <a:ext cx="3310128" cy="182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Often the cause of a mystery outage</a:t>
            </a:r>
          </a:p>
        </p:txBody>
      </p:sp>
      <p:sp>
        <p:nvSpPr>
          <p:cNvPr id="18" name="a2u_card17"/>
          <p:cNvSpPr/>
          <p:nvPr/>
        </p:nvSpPr>
        <p:spPr>
          <a:xfrm>
            <a:off x="4754880" y="1143000"/>
            <a:ext cx="3931920" cy="2103120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u_acc18"/>
          <p:cNvSpPr/>
          <p:nvPr/>
        </p:nvSpPr>
        <p:spPr>
          <a:xfrm>
            <a:off x="4754880" y="1143000"/>
            <a:ext cx="50292" cy="2103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2u_hh19"/>
          <p:cNvSpPr txBox="1"/>
          <p:nvPr/>
        </p:nvSpPr>
        <p:spPr>
          <a:xfrm>
            <a:off x="4956048" y="1252728"/>
            <a:ext cx="35295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alibri"/>
              </a:rPr>
              <a:t>SCAN  ·  ALWAYS</a:t>
            </a:r>
          </a:p>
        </p:txBody>
      </p:sp>
      <p:sp>
        <p:nvSpPr>
          <p:cNvPr id="21" name="a2fd60_codebg20"/>
          <p:cNvSpPr/>
          <p:nvPr/>
        </p:nvSpPr>
        <p:spPr>
          <a:xfrm>
            <a:off x="4956048" y="1545336"/>
            <a:ext cx="3529584" cy="1024128"/>
          </a:xfrm>
          <a:prstGeom prst="roundRect">
            <a:avLst>
              <a:gd name="adj" fmla="val 714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2wd60_code21"/>
          <p:cNvSpPr txBox="1"/>
          <p:nvPr/>
        </p:nvSpPr>
        <p:spPr>
          <a:xfrm>
            <a:off x="5065776" y="1655064"/>
            <a:ext cx="3310128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SCAN 0 MATCH icici:bal:* COUNT 100</a:t>
            </a:r>
          </a:p>
        </p:txBody>
      </p:sp>
      <p:sp>
        <p:nvSpPr>
          <p:cNvPr id="23" name="a2wd150_code22"/>
          <p:cNvSpPr txBox="1"/>
          <p:nvPr/>
        </p:nvSpPr>
        <p:spPr>
          <a:xfrm>
            <a:off x="5065776" y="1856232"/>
            <a:ext cx="3310128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1) "3072"         &lt;- next cursor</a:t>
            </a:r>
          </a:p>
        </p:txBody>
      </p:sp>
      <p:sp>
        <p:nvSpPr>
          <p:cNvPr id="24" name="a2wd240_code23"/>
          <p:cNvSpPr txBox="1"/>
          <p:nvPr/>
        </p:nvSpPr>
        <p:spPr>
          <a:xfrm>
            <a:off x="5065776" y="2057400"/>
            <a:ext cx="3310128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2) 1) "icici:bal:9003" ...</a:t>
            </a:r>
          </a:p>
        </p:txBody>
      </p:sp>
      <p:sp>
        <p:nvSpPr>
          <p:cNvPr id="25" name="a2wd330_code24"/>
          <p:cNvSpPr txBox="1"/>
          <p:nvPr/>
        </p:nvSpPr>
        <p:spPr>
          <a:xfrm>
            <a:off x="5065776" y="2258568"/>
            <a:ext cx="3310128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SCAN 3072 MATCH icici:bal:* COUNT 100</a:t>
            </a:r>
          </a:p>
        </p:txBody>
      </p:sp>
      <p:sp>
        <p:nvSpPr>
          <p:cNvPr id="26" name="a2ud400_dot25"/>
          <p:cNvSpPr/>
          <p:nvPr/>
        </p:nvSpPr>
        <p:spPr>
          <a:xfrm>
            <a:off x="4956048" y="2688336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2ud400_b26"/>
          <p:cNvSpPr txBox="1"/>
          <p:nvPr/>
        </p:nvSpPr>
        <p:spPr>
          <a:xfrm>
            <a:off x="5175504" y="2587752"/>
            <a:ext cx="3310128" cy="182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Cursor-based, returns in small batches</a:t>
            </a:r>
          </a:p>
        </p:txBody>
      </p:sp>
      <p:sp>
        <p:nvSpPr>
          <p:cNvPr id="28" name="a2ud490_dot27"/>
          <p:cNvSpPr/>
          <p:nvPr/>
        </p:nvSpPr>
        <p:spPr>
          <a:xfrm>
            <a:off x="4956048" y="2907791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2ud490_b28"/>
          <p:cNvSpPr txBox="1"/>
          <p:nvPr/>
        </p:nvSpPr>
        <p:spPr>
          <a:xfrm>
            <a:off x="5175504" y="2807208"/>
            <a:ext cx="3310128" cy="182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Never blocks - other clients keep working</a:t>
            </a:r>
          </a:p>
        </p:txBody>
      </p:sp>
      <p:sp>
        <p:nvSpPr>
          <p:cNvPr id="30" name="a2ud580_dot29"/>
          <p:cNvSpPr/>
          <p:nvPr/>
        </p:nvSpPr>
        <p:spPr>
          <a:xfrm>
            <a:off x="4956048" y="3127248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2ud580_b30"/>
          <p:cNvSpPr txBox="1"/>
          <p:nvPr/>
        </p:nvSpPr>
        <p:spPr>
          <a:xfrm>
            <a:off x="5175504" y="3026664"/>
            <a:ext cx="3310128" cy="182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Repeat until the cursor comes back 0</a:t>
            </a:r>
          </a:p>
        </p:txBody>
      </p:sp>
      <p:sp>
        <p:nvSpPr>
          <p:cNvPr id="32" name="a3f_th31"/>
          <p:cNvSpPr/>
          <p:nvPr/>
        </p:nvSpPr>
        <p:spPr>
          <a:xfrm>
            <a:off x="457200" y="3392424"/>
            <a:ext cx="2103120" cy="3108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3f_tht32"/>
          <p:cNvSpPr txBox="1"/>
          <p:nvPr/>
        </p:nvSpPr>
        <p:spPr>
          <a:xfrm>
            <a:off x="530352" y="3392424"/>
            <a:ext cx="19933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urier New"/>
              </a:rPr>
              <a:t>Variant</a:t>
            </a:r>
          </a:p>
        </p:txBody>
      </p:sp>
      <p:sp>
        <p:nvSpPr>
          <p:cNvPr id="34" name="a3wd120_td33"/>
          <p:cNvSpPr/>
          <p:nvPr/>
        </p:nvSpPr>
        <p:spPr>
          <a:xfrm>
            <a:off x="457200" y="3703320"/>
            <a:ext cx="2103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3wd120_tdt34"/>
          <p:cNvSpPr txBox="1"/>
          <p:nvPr/>
        </p:nvSpPr>
        <p:spPr>
          <a:xfrm>
            <a:off x="530352" y="3703320"/>
            <a:ext cx="19933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SCAN cursor</a:t>
            </a:r>
          </a:p>
        </p:txBody>
      </p:sp>
      <p:sp>
        <p:nvSpPr>
          <p:cNvPr id="36" name="a3wd240_td35"/>
          <p:cNvSpPr/>
          <p:nvPr/>
        </p:nvSpPr>
        <p:spPr>
          <a:xfrm>
            <a:off x="457200" y="4014215"/>
            <a:ext cx="2103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3wd240_tdt36"/>
          <p:cNvSpPr txBox="1"/>
          <p:nvPr/>
        </p:nvSpPr>
        <p:spPr>
          <a:xfrm>
            <a:off x="530352" y="4014215"/>
            <a:ext cx="19933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HSCAN key cursor</a:t>
            </a:r>
          </a:p>
        </p:txBody>
      </p:sp>
      <p:sp>
        <p:nvSpPr>
          <p:cNvPr id="38" name="a3wd360_td37"/>
          <p:cNvSpPr/>
          <p:nvPr/>
        </p:nvSpPr>
        <p:spPr>
          <a:xfrm>
            <a:off x="457200" y="4325112"/>
            <a:ext cx="2103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3wd360_tdt38"/>
          <p:cNvSpPr txBox="1"/>
          <p:nvPr/>
        </p:nvSpPr>
        <p:spPr>
          <a:xfrm>
            <a:off x="530352" y="4325112"/>
            <a:ext cx="19933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SSCAN key cursor</a:t>
            </a:r>
          </a:p>
        </p:txBody>
      </p:sp>
      <p:sp>
        <p:nvSpPr>
          <p:cNvPr id="40" name="a3wd480_td39"/>
          <p:cNvSpPr/>
          <p:nvPr/>
        </p:nvSpPr>
        <p:spPr>
          <a:xfrm>
            <a:off x="457200" y="4636008"/>
            <a:ext cx="2103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3wd480_tdt40"/>
          <p:cNvSpPr txBox="1"/>
          <p:nvPr/>
        </p:nvSpPr>
        <p:spPr>
          <a:xfrm>
            <a:off x="530352" y="4636008"/>
            <a:ext cx="19933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ZSCAN key cursor</a:t>
            </a:r>
          </a:p>
        </p:txBody>
      </p:sp>
      <p:sp>
        <p:nvSpPr>
          <p:cNvPr id="42" name="a3f_th41"/>
          <p:cNvSpPr/>
          <p:nvPr/>
        </p:nvSpPr>
        <p:spPr>
          <a:xfrm>
            <a:off x="2560320" y="3392424"/>
            <a:ext cx="2331720" cy="310896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3f_tht42"/>
          <p:cNvSpPr txBox="1"/>
          <p:nvPr/>
        </p:nvSpPr>
        <p:spPr>
          <a:xfrm>
            <a:off x="2633472" y="3392424"/>
            <a:ext cx="22219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Scans</a:t>
            </a:r>
          </a:p>
        </p:txBody>
      </p:sp>
      <p:sp>
        <p:nvSpPr>
          <p:cNvPr id="44" name="a3wd120_td43"/>
          <p:cNvSpPr/>
          <p:nvPr/>
        </p:nvSpPr>
        <p:spPr>
          <a:xfrm>
            <a:off x="2560320" y="3703320"/>
            <a:ext cx="2331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3wd120_tdt44"/>
          <p:cNvSpPr txBox="1"/>
          <p:nvPr/>
        </p:nvSpPr>
        <p:spPr>
          <a:xfrm>
            <a:off x="2633472" y="3703320"/>
            <a:ext cx="22219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The whole keyspace</a:t>
            </a:r>
          </a:p>
        </p:txBody>
      </p:sp>
      <p:sp>
        <p:nvSpPr>
          <p:cNvPr id="46" name="a3wd240_td45"/>
          <p:cNvSpPr/>
          <p:nvPr/>
        </p:nvSpPr>
        <p:spPr>
          <a:xfrm>
            <a:off x="2560320" y="4014215"/>
            <a:ext cx="2331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3wd240_tdt46"/>
          <p:cNvSpPr txBox="1"/>
          <p:nvPr/>
        </p:nvSpPr>
        <p:spPr>
          <a:xfrm>
            <a:off x="2633472" y="4014215"/>
            <a:ext cx="22219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Fields of one hash</a:t>
            </a:r>
          </a:p>
        </p:txBody>
      </p:sp>
      <p:sp>
        <p:nvSpPr>
          <p:cNvPr id="48" name="a3wd360_td47"/>
          <p:cNvSpPr/>
          <p:nvPr/>
        </p:nvSpPr>
        <p:spPr>
          <a:xfrm>
            <a:off x="2560320" y="4325112"/>
            <a:ext cx="2331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3wd360_tdt48"/>
          <p:cNvSpPr txBox="1"/>
          <p:nvPr/>
        </p:nvSpPr>
        <p:spPr>
          <a:xfrm>
            <a:off x="2633472" y="4325112"/>
            <a:ext cx="22219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Members of one set</a:t>
            </a:r>
          </a:p>
        </p:txBody>
      </p:sp>
      <p:sp>
        <p:nvSpPr>
          <p:cNvPr id="50" name="a3wd480_td49"/>
          <p:cNvSpPr/>
          <p:nvPr/>
        </p:nvSpPr>
        <p:spPr>
          <a:xfrm>
            <a:off x="2560320" y="4636008"/>
            <a:ext cx="2331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a3wd480_tdt50"/>
          <p:cNvSpPr txBox="1"/>
          <p:nvPr/>
        </p:nvSpPr>
        <p:spPr>
          <a:xfrm>
            <a:off x="2633472" y="4636008"/>
            <a:ext cx="22219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Members of one sorted set</a:t>
            </a:r>
          </a:p>
        </p:txBody>
      </p:sp>
      <p:sp>
        <p:nvSpPr>
          <p:cNvPr id="52" name="a3f_th51"/>
          <p:cNvSpPr/>
          <p:nvPr/>
        </p:nvSpPr>
        <p:spPr>
          <a:xfrm>
            <a:off x="4892040" y="3392424"/>
            <a:ext cx="3794760" cy="31089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a3f_tht52"/>
          <p:cNvSpPr txBox="1"/>
          <p:nvPr/>
        </p:nvSpPr>
        <p:spPr>
          <a:xfrm>
            <a:off x="4965192" y="3392424"/>
            <a:ext cx="36850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Typical use</a:t>
            </a:r>
          </a:p>
        </p:txBody>
      </p:sp>
      <p:sp>
        <p:nvSpPr>
          <p:cNvPr id="54" name="a3wd120_td53"/>
          <p:cNvSpPr/>
          <p:nvPr/>
        </p:nvSpPr>
        <p:spPr>
          <a:xfrm>
            <a:off x="4892040" y="3703320"/>
            <a:ext cx="37947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a3wd120_tdt54"/>
          <p:cNvSpPr txBox="1"/>
          <p:nvPr/>
        </p:nvSpPr>
        <p:spPr>
          <a:xfrm>
            <a:off x="4965192" y="3703320"/>
            <a:ext cx="36850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Find keys matching a prefix</a:t>
            </a:r>
          </a:p>
        </p:txBody>
      </p:sp>
      <p:sp>
        <p:nvSpPr>
          <p:cNvPr id="56" name="a3wd240_td55"/>
          <p:cNvSpPr/>
          <p:nvPr/>
        </p:nvSpPr>
        <p:spPr>
          <a:xfrm>
            <a:off x="4892040" y="4014215"/>
            <a:ext cx="37947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a3wd240_tdt56"/>
          <p:cNvSpPr txBox="1"/>
          <p:nvPr/>
        </p:nvSpPr>
        <p:spPr>
          <a:xfrm>
            <a:off x="4965192" y="4014215"/>
            <a:ext cx="36850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Walk a big customer record</a:t>
            </a:r>
          </a:p>
        </p:txBody>
      </p:sp>
      <p:sp>
        <p:nvSpPr>
          <p:cNvPr id="58" name="a3wd360_td57"/>
          <p:cNvSpPr/>
          <p:nvPr/>
        </p:nvSpPr>
        <p:spPr>
          <a:xfrm>
            <a:off x="4892040" y="4325112"/>
            <a:ext cx="37947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a3wd360_tdt58"/>
          <p:cNvSpPr txBox="1"/>
          <p:nvPr/>
        </p:nvSpPr>
        <p:spPr>
          <a:xfrm>
            <a:off x="4965192" y="4325112"/>
            <a:ext cx="36850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Walk a large segment</a:t>
            </a:r>
          </a:p>
        </p:txBody>
      </p:sp>
      <p:sp>
        <p:nvSpPr>
          <p:cNvPr id="60" name="a3wd480_td59"/>
          <p:cNvSpPr/>
          <p:nvPr/>
        </p:nvSpPr>
        <p:spPr>
          <a:xfrm>
            <a:off x="4892040" y="4636008"/>
            <a:ext cx="37947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a3wd480_tdt60"/>
          <p:cNvSpPr txBox="1"/>
          <p:nvPr/>
        </p:nvSpPr>
        <p:spPr>
          <a:xfrm>
            <a:off x="4965192" y="4636008"/>
            <a:ext cx="36850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Walk a large leaderboard</a:t>
            </a:r>
          </a:p>
        </p:txBody>
      </p:sp>
      <p:sp>
        <p:nvSpPr>
          <p:cNvPr id="62" name="ft61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63" name="ft62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5 · Commands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" presetClass="entr" presetSubtype="4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Key Naming · Design It Once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Redis has no tables. The key name is your entire schema</a:t>
            </a:r>
          </a:p>
        </p:txBody>
      </p:sp>
      <p:sp>
        <p:nvSpPr>
          <p:cNvPr id="4" name="a1f_card3"/>
          <p:cNvSpPr/>
          <p:nvPr/>
        </p:nvSpPr>
        <p:spPr>
          <a:xfrm>
            <a:off x="457200" y="1143000"/>
            <a:ext cx="8229600" cy="64008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pat4"/>
          <p:cNvSpPr txBox="1"/>
          <p:nvPr/>
        </p:nvSpPr>
        <p:spPr>
          <a:xfrm>
            <a:off x="658368" y="1143000"/>
            <a:ext cx="7827264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DC382C"/>
                </a:solidFill>
                <a:latin typeface="Courier New"/>
              </a:rPr>
              <a:t>app</a:t>
            </a:r>
            <a:r>
              <a:rPr sz="1800" b="0">
                <a:solidFill>
                  <a:srgbClr val="64748B"/>
                </a:solidFill>
                <a:latin typeface="Courier New"/>
              </a:rPr>
              <a:t> : </a:t>
            </a:r>
            <a:r>
              <a:rPr sz="1800" b="1">
                <a:solidFill>
                  <a:srgbClr val="6D28D9"/>
                </a:solidFill>
                <a:latin typeface="Courier New"/>
              </a:rPr>
              <a:t>entity</a:t>
            </a:r>
            <a:r>
              <a:rPr sz="1800" b="0">
                <a:solidFill>
                  <a:srgbClr val="64748B"/>
                </a:solidFill>
                <a:latin typeface="Courier New"/>
              </a:rPr>
              <a:t> : </a:t>
            </a:r>
            <a:r>
              <a:rPr sz="1800" b="1">
                <a:solidFill>
                  <a:srgbClr val="0F766E"/>
                </a:solidFill>
                <a:latin typeface="Courier New"/>
              </a:rPr>
              <a:t>id</a:t>
            </a:r>
            <a:r>
              <a:rPr sz="1800" b="0">
                <a:solidFill>
                  <a:srgbClr val="64748B"/>
                </a:solidFill>
                <a:latin typeface="Courier New"/>
              </a:rPr>
              <a:t> : </a:t>
            </a:r>
            <a:r>
              <a:rPr sz="1800" b="1">
                <a:solidFill>
                  <a:srgbClr val="B45309"/>
                </a:solidFill>
                <a:latin typeface="Courier New"/>
              </a:rPr>
              <a:t>attribute</a:t>
            </a:r>
          </a:p>
        </p:txBody>
      </p:sp>
      <p:sp>
        <p:nvSpPr>
          <p:cNvPr id="6" name="a2f_th5"/>
          <p:cNvSpPr/>
          <p:nvPr/>
        </p:nvSpPr>
        <p:spPr>
          <a:xfrm>
            <a:off x="457200" y="1874519"/>
            <a:ext cx="3931920" cy="3108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2f_tht6"/>
          <p:cNvSpPr txBox="1"/>
          <p:nvPr/>
        </p:nvSpPr>
        <p:spPr>
          <a:xfrm>
            <a:off x="530352" y="1874519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urier New"/>
              </a:rPr>
              <a:t>Good</a:t>
            </a:r>
          </a:p>
        </p:txBody>
      </p:sp>
      <p:sp>
        <p:nvSpPr>
          <p:cNvPr id="8" name="a2wd110_td7"/>
          <p:cNvSpPr/>
          <p:nvPr/>
        </p:nvSpPr>
        <p:spPr>
          <a:xfrm>
            <a:off x="457200" y="2185415"/>
            <a:ext cx="39319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2wd110_tdt8"/>
          <p:cNvSpPr txBox="1"/>
          <p:nvPr/>
        </p:nvSpPr>
        <p:spPr>
          <a:xfrm>
            <a:off x="530352" y="2185415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icici:bal:9003</a:t>
            </a:r>
          </a:p>
        </p:txBody>
      </p:sp>
      <p:sp>
        <p:nvSpPr>
          <p:cNvPr id="10" name="a2wd220_td9"/>
          <p:cNvSpPr/>
          <p:nvPr/>
        </p:nvSpPr>
        <p:spPr>
          <a:xfrm>
            <a:off x="457200" y="2496312"/>
            <a:ext cx="39319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2wd220_tdt10"/>
          <p:cNvSpPr txBox="1"/>
          <p:nvPr/>
        </p:nvSpPr>
        <p:spPr>
          <a:xfrm>
            <a:off x="530352" y="2496312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icici:cust:9003:profile</a:t>
            </a:r>
          </a:p>
        </p:txBody>
      </p:sp>
      <p:sp>
        <p:nvSpPr>
          <p:cNvPr id="12" name="a2wd330_td11"/>
          <p:cNvSpPr/>
          <p:nvPr/>
        </p:nvSpPr>
        <p:spPr>
          <a:xfrm>
            <a:off x="457200" y="2807208"/>
            <a:ext cx="39319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2wd330_tdt12"/>
          <p:cNvSpPr txBox="1"/>
          <p:nvPr/>
        </p:nvSpPr>
        <p:spPr>
          <a:xfrm>
            <a:off x="530352" y="2807208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icici:rl:api:9003:202609211430</a:t>
            </a:r>
          </a:p>
        </p:txBody>
      </p:sp>
      <p:sp>
        <p:nvSpPr>
          <p:cNvPr id="14" name="a2wd440_td13"/>
          <p:cNvSpPr/>
          <p:nvPr/>
        </p:nvSpPr>
        <p:spPr>
          <a:xfrm>
            <a:off x="457200" y="3118104"/>
            <a:ext cx="39319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wd440_tdt14"/>
          <p:cNvSpPr txBox="1"/>
          <p:nvPr/>
        </p:nvSpPr>
        <p:spPr>
          <a:xfrm>
            <a:off x="530352" y="3118104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icici:lb:branch:2026-09</a:t>
            </a:r>
          </a:p>
        </p:txBody>
      </p:sp>
      <p:sp>
        <p:nvSpPr>
          <p:cNvPr id="16" name="a2f_th15"/>
          <p:cNvSpPr/>
          <p:nvPr/>
        </p:nvSpPr>
        <p:spPr>
          <a:xfrm>
            <a:off x="4389120" y="1874519"/>
            <a:ext cx="4297680" cy="310896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f_tht16"/>
          <p:cNvSpPr txBox="1"/>
          <p:nvPr/>
        </p:nvSpPr>
        <p:spPr>
          <a:xfrm>
            <a:off x="4462272" y="1874519"/>
            <a:ext cx="41879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18" name="a2wd110_td17"/>
          <p:cNvSpPr/>
          <p:nvPr/>
        </p:nvSpPr>
        <p:spPr>
          <a:xfrm>
            <a:off x="4389120" y="2185415"/>
            <a:ext cx="4297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wd110_tdt18"/>
          <p:cNvSpPr txBox="1"/>
          <p:nvPr/>
        </p:nvSpPr>
        <p:spPr>
          <a:xfrm>
            <a:off x="4462272" y="2185415"/>
            <a:ext cx="41879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Prefix, entity, id - groups in the GUI, easy to SCAN</a:t>
            </a:r>
          </a:p>
        </p:txBody>
      </p:sp>
      <p:sp>
        <p:nvSpPr>
          <p:cNvPr id="20" name="a2wd220_td19"/>
          <p:cNvSpPr/>
          <p:nvPr/>
        </p:nvSpPr>
        <p:spPr>
          <a:xfrm>
            <a:off x="4389120" y="2496312"/>
            <a:ext cx="4297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wd220_tdt20"/>
          <p:cNvSpPr txBox="1"/>
          <p:nvPr/>
        </p:nvSpPr>
        <p:spPr>
          <a:xfrm>
            <a:off x="4462272" y="2496312"/>
            <a:ext cx="41879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One hash holding the whole record</a:t>
            </a:r>
          </a:p>
        </p:txBody>
      </p:sp>
      <p:sp>
        <p:nvSpPr>
          <p:cNvPr id="22" name="a2wd330_td21"/>
          <p:cNvSpPr/>
          <p:nvPr/>
        </p:nvSpPr>
        <p:spPr>
          <a:xfrm>
            <a:off x="4389120" y="2807208"/>
            <a:ext cx="4297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2wd330_tdt22"/>
          <p:cNvSpPr txBox="1"/>
          <p:nvPr/>
        </p:nvSpPr>
        <p:spPr>
          <a:xfrm>
            <a:off x="4462272" y="2807208"/>
            <a:ext cx="41879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Rate limit, client, minute bucket</a:t>
            </a:r>
          </a:p>
        </p:txBody>
      </p:sp>
      <p:sp>
        <p:nvSpPr>
          <p:cNvPr id="24" name="a2wd440_td23"/>
          <p:cNvSpPr/>
          <p:nvPr/>
        </p:nvSpPr>
        <p:spPr>
          <a:xfrm>
            <a:off x="4389120" y="3118104"/>
            <a:ext cx="4297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2wd440_tdt24"/>
          <p:cNvSpPr txBox="1"/>
          <p:nvPr/>
        </p:nvSpPr>
        <p:spPr>
          <a:xfrm>
            <a:off x="4462272" y="3118104"/>
            <a:ext cx="41879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Leaderboard scoped to a period</a:t>
            </a:r>
          </a:p>
        </p:txBody>
      </p:sp>
      <p:sp>
        <p:nvSpPr>
          <p:cNvPr id="26" name="a3f_th25"/>
          <p:cNvSpPr/>
          <p:nvPr/>
        </p:nvSpPr>
        <p:spPr>
          <a:xfrm>
            <a:off x="457200" y="3429000"/>
            <a:ext cx="3931920" cy="310896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3f_tht26"/>
          <p:cNvSpPr txBox="1"/>
          <p:nvPr/>
        </p:nvSpPr>
        <p:spPr>
          <a:xfrm>
            <a:off x="530352" y="3429000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urier New"/>
              </a:rPr>
              <a:t>Avoid</a:t>
            </a:r>
          </a:p>
        </p:txBody>
      </p:sp>
      <p:sp>
        <p:nvSpPr>
          <p:cNvPr id="28" name="a3wd110_td27"/>
          <p:cNvSpPr/>
          <p:nvPr/>
        </p:nvSpPr>
        <p:spPr>
          <a:xfrm>
            <a:off x="457200" y="3739896"/>
            <a:ext cx="39319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3wd110_tdt28"/>
          <p:cNvSpPr txBox="1"/>
          <p:nvPr/>
        </p:nvSpPr>
        <p:spPr>
          <a:xfrm>
            <a:off x="530352" y="3739896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balance9003</a:t>
            </a:r>
          </a:p>
        </p:txBody>
      </p:sp>
      <p:sp>
        <p:nvSpPr>
          <p:cNvPr id="30" name="a3wd220_td29"/>
          <p:cNvSpPr/>
          <p:nvPr/>
        </p:nvSpPr>
        <p:spPr>
          <a:xfrm>
            <a:off x="457200" y="4050791"/>
            <a:ext cx="39319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3wd220_tdt30"/>
          <p:cNvSpPr txBox="1"/>
          <p:nvPr/>
        </p:nvSpPr>
        <p:spPr>
          <a:xfrm>
            <a:off x="530352" y="4050791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icici:cust:A. Sharma</a:t>
            </a:r>
          </a:p>
        </p:txBody>
      </p:sp>
      <p:sp>
        <p:nvSpPr>
          <p:cNvPr id="32" name="a3wd330_td31"/>
          <p:cNvSpPr/>
          <p:nvPr/>
        </p:nvSpPr>
        <p:spPr>
          <a:xfrm>
            <a:off x="457200" y="4361688"/>
            <a:ext cx="39319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3wd330_tdt32"/>
          <p:cNvSpPr txBox="1"/>
          <p:nvPr/>
        </p:nvSpPr>
        <p:spPr>
          <a:xfrm>
            <a:off x="530352" y="4361688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icici:all_customers</a:t>
            </a:r>
          </a:p>
        </p:txBody>
      </p:sp>
      <p:sp>
        <p:nvSpPr>
          <p:cNvPr id="34" name="a3wd440_td33"/>
          <p:cNvSpPr/>
          <p:nvPr/>
        </p:nvSpPr>
        <p:spPr>
          <a:xfrm>
            <a:off x="457200" y="4672584"/>
            <a:ext cx="39319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3wd440_tdt34"/>
          <p:cNvSpPr txBox="1"/>
          <p:nvPr/>
        </p:nvSpPr>
        <p:spPr>
          <a:xfrm>
            <a:off x="530352" y="4672584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c:9003:b</a:t>
            </a:r>
          </a:p>
        </p:txBody>
      </p:sp>
      <p:sp>
        <p:nvSpPr>
          <p:cNvPr id="36" name="a3f_th35"/>
          <p:cNvSpPr/>
          <p:nvPr/>
        </p:nvSpPr>
        <p:spPr>
          <a:xfrm>
            <a:off x="4389120" y="3429000"/>
            <a:ext cx="4297680" cy="310896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3f_tht36"/>
          <p:cNvSpPr txBox="1"/>
          <p:nvPr/>
        </p:nvSpPr>
        <p:spPr>
          <a:xfrm>
            <a:off x="4462272" y="3429000"/>
            <a:ext cx="41879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38" name="a3wd110_td37"/>
          <p:cNvSpPr/>
          <p:nvPr/>
        </p:nvSpPr>
        <p:spPr>
          <a:xfrm>
            <a:off x="4389120" y="3739896"/>
            <a:ext cx="4297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3wd110_tdt38"/>
          <p:cNvSpPr txBox="1"/>
          <p:nvPr/>
        </p:nvSpPr>
        <p:spPr>
          <a:xfrm>
            <a:off x="4462272" y="3739896"/>
            <a:ext cx="41879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No namespace - impossible to scan or clean up selectively</a:t>
            </a:r>
          </a:p>
        </p:txBody>
      </p:sp>
      <p:sp>
        <p:nvSpPr>
          <p:cNvPr id="40" name="a3wd220_td39"/>
          <p:cNvSpPr/>
          <p:nvPr/>
        </p:nvSpPr>
        <p:spPr>
          <a:xfrm>
            <a:off x="4389120" y="4050791"/>
            <a:ext cx="4297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3wd220_tdt40"/>
          <p:cNvSpPr txBox="1"/>
          <p:nvPr/>
        </p:nvSpPr>
        <p:spPr>
          <a:xfrm>
            <a:off x="4462272" y="4050791"/>
            <a:ext cx="41879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User input in a key: spaces, unicode, unbounded</a:t>
            </a:r>
          </a:p>
        </p:txBody>
      </p:sp>
      <p:sp>
        <p:nvSpPr>
          <p:cNvPr id="42" name="a3wd330_td41"/>
          <p:cNvSpPr/>
          <p:nvPr/>
        </p:nvSpPr>
        <p:spPr>
          <a:xfrm>
            <a:off x="4389120" y="4361688"/>
            <a:ext cx="4297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3wd330_tdt42"/>
          <p:cNvSpPr txBox="1"/>
          <p:nvPr/>
        </p:nvSpPr>
        <p:spPr>
          <a:xfrm>
            <a:off x="4462272" y="4361688"/>
            <a:ext cx="41879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One giant collection - every read is O(n)</a:t>
            </a:r>
          </a:p>
        </p:txBody>
      </p:sp>
      <p:sp>
        <p:nvSpPr>
          <p:cNvPr id="44" name="a3wd440_td43"/>
          <p:cNvSpPr/>
          <p:nvPr/>
        </p:nvSpPr>
        <p:spPr>
          <a:xfrm>
            <a:off x="4389120" y="4672584"/>
            <a:ext cx="4297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3wd440_tdt44"/>
          <p:cNvSpPr txBox="1"/>
          <p:nvPr/>
        </p:nvSpPr>
        <p:spPr>
          <a:xfrm>
            <a:off x="4462272" y="4672584"/>
            <a:ext cx="41879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Saves 12 bytes, costs every future reader an hour</a:t>
            </a:r>
          </a:p>
        </p:txBody>
      </p:sp>
      <p:sp>
        <p:nvSpPr>
          <p:cNvPr id="46" name="ft45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47" name="ft4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5 · Commands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A78BFA"/>
                </a:solidFill>
                <a:latin typeface="Calibri"/>
              </a:rPr>
              <a:t>02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String Commands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The default type - values, counters and locks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SET / GET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INCR family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MSET / MGET</a:t>
            </a:r>
          </a:p>
        </p:txBody>
      </p:sp>
      <p:sp>
        <p:nvSpPr>
          <p:cNvPr id="8" name="a0ud1050_pill7"/>
          <p:cNvSpPr/>
          <p:nvPr/>
        </p:nvSpPr>
        <p:spPr>
          <a:xfrm>
            <a:off x="5532120" y="2752344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SET NX PX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Strings · Read and Write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SET does more than you think - the options are the point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143000"/>
            <a:ext cx="3611880" cy="274320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143000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Courier New"/>
              </a:rPr>
              <a:t>Command</a:t>
            </a:r>
          </a:p>
        </p:txBody>
      </p:sp>
      <p:sp>
        <p:nvSpPr>
          <p:cNvPr id="6" name="a1wd65_td5"/>
          <p:cNvSpPr/>
          <p:nvPr/>
        </p:nvSpPr>
        <p:spPr>
          <a:xfrm>
            <a:off x="457200" y="1417320"/>
            <a:ext cx="36118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65_tdt6"/>
          <p:cNvSpPr txBox="1"/>
          <p:nvPr/>
        </p:nvSpPr>
        <p:spPr>
          <a:xfrm>
            <a:off x="530352" y="1417320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SET key value</a:t>
            </a:r>
          </a:p>
        </p:txBody>
      </p:sp>
      <p:sp>
        <p:nvSpPr>
          <p:cNvPr id="8" name="a1wd130_td7"/>
          <p:cNvSpPr/>
          <p:nvPr/>
        </p:nvSpPr>
        <p:spPr>
          <a:xfrm>
            <a:off x="457200" y="1691640"/>
            <a:ext cx="36118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130_tdt8"/>
          <p:cNvSpPr txBox="1"/>
          <p:nvPr/>
        </p:nvSpPr>
        <p:spPr>
          <a:xfrm>
            <a:off x="530352" y="1691640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SET key value EX s | PX ms</a:t>
            </a:r>
          </a:p>
        </p:txBody>
      </p:sp>
      <p:sp>
        <p:nvSpPr>
          <p:cNvPr id="10" name="a1wd195_td9"/>
          <p:cNvSpPr/>
          <p:nvPr/>
        </p:nvSpPr>
        <p:spPr>
          <a:xfrm>
            <a:off x="457200" y="1965960"/>
            <a:ext cx="36118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195_tdt10"/>
          <p:cNvSpPr txBox="1"/>
          <p:nvPr/>
        </p:nvSpPr>
        <p:spPr>
          <a:xfrm>
            <a:off x="530352" y="1965960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SET key value NX</a:t>
            </a:r>
          </a:p>
        </p:txBody>
      </p:sp>
      <p:sp>
        <p:nvSpPr>
          <p:cNvPr id="12" name="a1wd260_td11"/>
          <p:cNvSpPr/>
          <p:nvPr/>
        </p:nvSpPr>
        <p:spPr>
          <a:xfrm>
            <a:off x="457200" y="2240280"/>
            <a:ext cx="36118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260_tdt12"/>
          <p:cNvSpPr txBox="1"/>
          <p:nvPr/>
        </p:nvSpPr>
        <p:spPr>
          <a:xfrm>
            <a:off x="530352" y="2240280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SET key value XX</a:t>
            </a:r>
          </a:p>
        </p:txBody>
      </p:sp>
      <p:sp>
        <p:nvSpPr>
          <p:cNvPr id="14" name="a1wd325_td13"/>
          <p:cNvSpPr/>
          <p:nvPr/>
        </p:nvSpPr>
        <p:spPr>
          <a:xfrm>
            <a:off x="457200" y="2514600"/>
            <a:ext cx="36118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325_tdt14"/>
          <p:cNvSpPr txBox="1"/>
          <p:nvPr/>
        </p:nvSpPr>
        <p:spPr>
          <a:xfrm>
            <a:off x="530352" y="2514600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SET key value KEEPTTL</a:t>
            </a:r>
          </a:p>
        </p:txBody>
      </p:sp>
      <p:sp>
        <p:nvSpPr>
          <p:cNvPr id="16" name="a1wd390_td15"/>
          <p:cNvSpPr/>
          <p:nvPr/>
        </p:nvSpPr>
        <p:spPr>
          <a:xfrm>
            <a:off x="457200" y="2788920"/>
            <a:ext cx="36118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390_tdt16"/>
          <p:cNvSpPr txBox="1"/>
          <p:nvPr/>
        </p:nvSpPr>
        <p:spPr>
          <a:xfrm>
            <a:off x="530352" y="2788920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SET key value GET</a:t>
            </a:r>
          </a:p>
        </p:txBody>
      </p:sp>
      <p:sp>
        <p:nvSpPr>
          <p:cNvPr id="18" name="a1wd455_td17"/>
          <p:cNvSpPr/>
          <p:nvPr/>
        </p:nvSpPr>
        <p:spPr>
          <a:xfrm>
            <a:off x="457200" y="3063240"/>
            <a:ext cx="36118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455_tdt18"/>
          <p:cNvSpPr txBox="1"/>
          <p:nvPr/>
        </p:nvSpPr>
        <p:spPr>
          <a:xfrm>
            <a:off x="530352" y="3063240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GET key</a:t>
            </a:r>
          </a:p>
        </p:txBody>
      </p:sp>
      <p:sp>
        <p:nvSpPr>
          <p:cNvPr id="20" name="a1wd520_td19"/>
          <p:cNvSpPr/>
          <p:nvPr/>
        </p:nvSpPr>
        <p:spPr>
          <a:xfrm>
            <a:off x="457200" y="3337560"/>
            <a:ext cx="36118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520_tdt20"/>
          <p:cNvSpPr txBox="1"/>
          <p:nvPr/>
        </p:nvSpPr>
        <p:spPr>
          <a:xfrm>
            <a:off x="530352" y="3337560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GETEX key EX s</a:t>
            </a:r>
          </a:p>
        </p:txBody>
      </p:sp>
      <p:sp>
        <p:nvSpPr>
          <p:cNvPr id="22" name="a1wd585_td21"/>
          <p:cNvSpPr/>
          <p:nvPr/>
        </p:nvSpPr>
        <p:spPr>
          <a:xfrm>
            <a:off x="457200" y="3611879"/>
            <a:ext cx="36118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585_tdt22"/>
          <p:cNvSpPr txBox="1"/>
          <p:nvPr/>
        </p:nvSpPr>
        <p:spPr>
          <a:xfrm>
            <a:off x="530352" y="3611879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GETDEL key</a:t>
            </a:r>
          </a:p>
        </p:txBody>
      </p:sp>
      <p:sp>
        <p:nvSpPr>
          <p:cNvPr id="24" name="a1wd650_td23"/>
          <p:cNvSpPr/>
          <p:nvPr/>
        </p:nvSpPr>
        <p:spPr>
          <a:xfrm>
            <a:off x="457200" y="3886200"/>
            <a:ext cx="36118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wd650_tdt24"/>
          <p:cNvSpPr txBox="1"/>
          <p:nvPr/>
        </p:nvSpPr>
        <p:spPr>
          <a:xfrm>
            <a:off x="530352" y="3886200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MSET k v [k v ...] / MGET k [k ...]</a:t>
            </a:r>
          </a:p>
        </p:txBody>
      </p:sp>
      <p:sp>
        <p:nvSpPr>
          <p:cNvPr id="26" name="a1wd715_td25"/>
          <p:cNvSpPr/>
          <p:nvPr/>
        </p:nvSpPr>
        <p:spPr>
          <a:xfrm>
            <a:off x="457200" y="4160520"/>
            <a:ext cx="36118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715_tdt26"/>
          <p:cNvSpPr txBox="1"/>
          <p:nvPr/>
        </p:nvSpPr>
        <p:spPr>
          <a:xfrm>
            <a:off x="530352" y="4160520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STRLEN / APPEND / GETRANGE / SETRANGE</a:t>
            </a:r>
          </a:p>
        </p:txBody>
      </p:sp>
      <p:sp>
        <p:nvSpPr>
          <p:cNvPr id="28" name="a1f_th27"/>
          <p:cNvSpPr/>
          <p:nvPr/>
        </p:nvSpPr>
        <p:spPr>
          <a:xfrm>
            <a:off x="4069080" y="1143000"/>
            <a:ext cx="3703320" cy="27432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f_tht28"/>
          <p:cNvSpPr txBox="1"/>
          <p:nvPr/>
        </p:nvSpPr>
        <p:spPr>
          <a:xfrm>
            <a:off x="4142232" y="1143000"/>
            <a:ext cx="359359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30" name="a1wd65_td29"/>
          <p:cNvSpPr/>
          <p:nvPr/>
        </p:nvSpPr>
        <p:spPr>
          <a:xfrm>
            <a:off x="4069080" y="1417320"/>
            <a:ext cx="3703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65_tdt30"/>
          <p:cNvSpPr txBox="1"/>
          <p:nvPr/>
        </p:nvSpPr>
        <p:spPr>
          <a:xfrm>
            <a:off x="4142232" y="1417320"/>
            <a:ext cx="359359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Overwrite unconditionally, clearing any TTL</a:t>
            </a:r>
          </a:p>
        </p:txBody>
      </p:sp>
      <p:sp>
        <p:nvSpPr>
          <p:cNvPr id="32" name="a1wd130_td31"/>
          <p:cNvSpPr/>
          <p:nvPr/>
        </p:nvSpPr>
        <p:spPr>
          <a:xfrm>
            <a:off x="4069080" y="1691640"/>
            <a:ext cx="3703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wd130_tdt32"/>
          <p:cNvSpPr txBox="1"/>
          <p:nvPr/>
        </p:nvSpPr>
        <p:spPr>
          <a:xfrm>
            <a:off x="4142232" y="1691640"/>
            <a:ext cx="359359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Set with a TTL in one atomic step</a:t>
            </a:r>
          </a:p>
        </p:txBody>
      </p:sp>
      <p:sp>
        <p:nvSpPr>
          <p:cNvPr id="34" name="a1wd195_td33"/>
          <p:cNvSpPr/>
          <p:nvPr/>
        </p:nvSpPr>
        <p:spPr>
          <a:xfrm>
            <a:off x="4069080" y="1965960"/>
            <a:ext cx="3703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1wd195_tdt34"/>
          <p:cNvSpPr txBox="1"/>
          <p:nvPr/>
        </p:nvSpPr>
        <p:spPr>
          <a:xfrm>
            <a:off x="4142232" y="1965960"/>
            <a:ext cx="359359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Only if the key does not exist - this is a lock</a:t>
            </a:r>
          </a:p>
        </p:txBody>
      </p:sp>
      <p:sp>
        <p:nvSpPr>
          <p:cNvPr id="36" name="a1wd260_td35"/>
          <p:cNvSpPr/>
          <p:nvPr/>
        </p:nvSpPr>
        <p:spPr>
          <a:xfrm>
            <a:off x="4069080" y="2240280"/>
            <a:ext cx="3703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1wd260_tdt36"/>
          <p:cNvSpPr txBox="1"/>
          <p:nvPr/>
        </p:nvSpPr>
        <p:spPr>
          <a:xfrm>
            <a:off x="4142232" y="2240280"/>
            <a:ext cx="359359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Only if the key already exists</a:t>
            </a:r>
          </a:p>
        </p:txBody>
      </p:sp>
      <p:sp>
        <p:nvSpPr>
          <p:cNvPr id="38" name="a1wd325_td37"/>
          <p:cNvSpPr/>
          <p:nvPr/>
        </p:nvSpPr>
        <p:spPr>
          <a:xfrm>
            <a:off x="4069080" y="2514600"/>
            <a:ext cx="3703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1wd325_tdt38"/>
          <p:cNvSpPr txBox="1"/>
          <p:nvPr/>
        </p:nvSpPr>
        <p:spPr>
          <a:xfrm>
            <a:off x="4142232" y="2514600"/>
            <a:ext cx="359359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Replace the value, keep the remaining TTL</a:t>
            </a:r>
          </a:p>
        </p:txBody>
      </p:sp>
      <p:sp>
        <p:nvSpPr>
          <p:cNvPr id="40" name="a1wd390_td39"/>
          <p:cNvSpPr/>
          <p:nvPr/>
        </p:nvSpPr>
        <p:spPr>
          <a:xfrm>
            <a:off x="4069080" y="2788920"/>
            <a:ext cx="3703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1wd390_tdt40"/>
          <p:cNvSpPr txBox="1"/>
          <p:nvPr/>
        </p:nvSpPr>
        <p:spPr>
          <a:xfrm>
            <a:off x="4142232" y="2788920"/>
            <a:ext cx="359359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Set it and return the previous value</a:t>
            </a:r>
          </a:p>
        </p:txBody>
      </p:sp>
      <p:sp>
        <p:nvSpPr>
          <p:cNvPr id="42" name="a1wd455_td41"/>
          <p:cNvSpPr/>
          <p:nvPr/>
        </p:nvSpPr>
        <p:spPr>
          <a:xfrm>
            <a:off x="4069080" y="3063240"/>
            <a:ext cx="3703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1wd455_tdt42"/>
          <p:cNvSpPr txBox="1"/>
          <p:nvPr/>
        </p:nvSpPr>
        <p:spPr>
          <a:xfrm>
            <a:off x="4142232" y="3063240"/>
            <a:ext cx="359359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The value, or nil if the key is gone</a:t>
            </a:r>
          </a:p>
        </p:txBody>
      </p:sp>
      <p:sp>
        <p:nvSpPr>
          <p:cNvPr id="44" name="a1wd520_td43"/>
          <p:cNvSpPr/>
          <p:nvPr/>
        </p:nvSpPr>
        <p:spPr>
          <a:xfrm>
            <a:off x="4069080" y="3337560"/>
            <a:ext cx="3703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1wd520_tdt44"/>
          <p:cNvSpPr txBox="1"/>
          <p:nvPr/>
        </p:nvSpPr>
        <p:spPr>
          <a:xfrm>
            <a:off x="4142232" y="3337560"/>
            <a:ext cx="359359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Read and set a TTL in the same round trip</a:t>
            </a:r>
          </a:p>
        </p:txBody>
      </p:sp>
      <p:sp>
        <p:nvSpPr>
          <p:cNvPr id="46" name="a1wd585_td45"/>
          <p:cNvSpPr/>
          <p:nvPr/>
        </p:nvSpPr>
        <p:spPr>
          <a:xfrm>
            <a:off x="4069080" y="3611879"/>
            <a:ext cx="3703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1wd585_tdt46"/>
          <p:cNvSpPr txBox="1"/>
          <p:nvPr/>
        </p:nvSpPr>
        <p:spPr>
          <a:xfrm>
            <a:off x="4142232" y="3611879"/>
            <a:ext cx="359359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Read it and delete it atomically</a:t>
            </a:r>
          </a:p>
        </p:txBody>
      </p:sp>
      <p:sp>
        <p:nvSpPr>
          <p:cNvPr id="48" name="a1wd650_td47"/>
          <p:cNvSpPr/>
          <p:nvPr/>
        </p:nvSpPr>
        <p:spPr>
          <a:xfrm>
            <a:off x="4069080" y="3886200"/>
            <a:ext cx="3703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1wd650_tdt48"/>
          <p:cNvSpPr txBox="1"/>
          <p:nvPr/>
        </p:nvSpPr>
        <p:spPr>
          <a:xfrm>
            <a:off x="4142232" y="3886200"/>
            <a:ext cx="359359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Many keys in one round trip</a:t>
            </a:r>
          </a:p>
        </p:txBody>
      </p:sp>
      <p:sp>
        <p:nvSpPr>
          <p:cNvPr id="50" name="a1wd715_td49"/>
          <p:cNvSpPr/>
          <p:nvPr/>
        </p:nvSpPr>
        <p:spPr>
          <a:xfrm>
            <a:off x="4069080" y="4160520"/>
            <a:ext cx="3703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a1wd715_tdt50"/>
          <p:cNvSpPr txBox="1"/>
          <p:nvPr/>
        </p:nvSpPr>
        <p:spPr>
          <a:xfrm>
            <a:off x="4142232" y="4160520"/>
            <a:ext cx="359359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Length, append, substring, overwrite in place</a:t>
            </a:r>
          </a:p>
        </p:txBody>
      </p:sp>
      <p:sp>
        <p:nvSpPr>
          <p:cNvPr id="52" name="a1f_th51"/>
          <p:cNvSpPr/>
          <p:nvPr/>
        </p:nvSpPr>
        <p:spPr>
          <a:xfrm>
            <a:off x="7772400" y="1143000"/>
            <a:ext cx="914400" cy="274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a1f_tht52"/>
          <p:cNvSpPr txBox="1"/>
          <p:nvPr/>
        </p:nvSpPr>
        <p:spPr>
          <a:xfrm>
            <a:off x="7845552" y="1143000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54" name="a1wd65_td53"/>
          <p:cNvSpPr/>
          <p:nvPr/>
        </p:nvSpPr>
        <p:spPr>
          <a:xfrm>
            <a:off x="7772400" y="141732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a1wd65_tdt54"/>
          <p:cNvSpPr txBox="1"/>
          <p:nvPr/>
        </p:nvSpPr>
        <p:spPr>
          <a:xfrm>
            <a:off x="7845552" y="1417320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56" name="a1wd130_td55"/>
          <p:cNvSpPr/>
          <p:nvPr/>
        </p:nvSpPr>
        <p:spPr>
          <a:xfrm>
            <a:off x="7772400" y="169164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a1wd130_tdt56"/>
          <p:cNvSpPr txBox="1"/>
          <p:nvPr/>
        </p:nvSpPr>
        <p:spPr>
          <a:xfrm>
            <a:off x="7845552" y="1691640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58" name="a1wd195_td57"/>
          <p:cNvSpPr/>
          <p:nvPr/>
        </p:nvSpPr>
        <p:spPr>
          <a:xfrm>
            <a:off x="7772400" y="196596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a1wd195_tdt58"/>
          <p:cNvSpPr txBox="1"/>
          <p:nvPr/>
        </p:nvSpPr>
        <p:spPr>
          <a:xfrm>
            <a:off x="7845552" y="1965960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60" name="a1wd260_td59"/>
          <p:cNvSpPr/>
          <p:nvPr/>
        </p:nvSpPr>
        <p:spPr>
          <a:xfrm>
            <a:off x="7772400" y="224028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a1wd260_tdt60"/>
          <p:cNvSpPr txBox="1"/>
          <p:nvPr/>
        </p:nvSpPr>
        <p:spPr>
          <a:xfrm>
            <a:off x="7845552" y="2240280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62" name="a1wd325_td61"/>
          <p:cNvSpPr/>
          <p:nvPr/>
        </p:nvSpPr>
        <p:spPr>
          <a:xfrm>
            <a:off x="7772400" y="25146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a1wd325_tdt62"/>
          <p:cNvSpPr txBox="1"/>
          <p:nvPr/>
        </p:nvSpPr>
        <p:spPr>
          <a:xfrm>
            <a:off x="7845552" y="2514600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64" name="a1wd390_td63"/>
          <p:cNvSpPr/>
          <p:nvPr/>
        </p:nvSpPr>
        <p:spPr>
          <a:xfrm>
            <a:off x="7772400" y="278892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a1wd390_tdt64"/>
          <p:cNvSpPr txBox="1"/>
          <p:nvPr/>
        </p:nvSpPr>
        <p:spPr>
          <a:xfrm>
            <a:off x="7845552" y="2788920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66" name="a1wd455_td65"/>
          <p:cNvSpPr/>
          <p:nvPr/>
        </p:nvSpPr>
        <p:spPr>
          <a:xfrm>
            <a:off x="7772400" y="306324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a1wd455_tdt66"/>
          <p:cNvSpPr txBox="1"/>
          <p:nvPr/>
        </p:nvSpPr>
        <p:spPr>
          <a:xfrm>
            <a:off x="7845552" y="3063240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68" name="a1wd520_td67"/>
          <p:cNvSpPr/>
          <p:nvPr/>
        </p:nvSpPr>
        <p:spPr>
          <a:xfrm>
            <a:off x="7772400" y="333756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a1wd520_tdt68"/>
          <p:cNvSpPr txBox="1"/>
          <p:nvPr/>
        </p:nvSpPr>
        <p:spPr>
          <a:xfrm>
            <a:off x="7845552" y="3337560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70" name="a1wd585_td69"/>
          <p:cNvSpPr/>
          <p:nvPr/>
        </p:nvSpPr>
        <p:spPr>
          <a:xfrm>
            <a:off x="7772400" y="3611879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a1wd585_tdt70"/>
          <p:cNvSpPr txBox="1"/>
          <p:nvPr/>
        </p:nvSpPr>
        <p:spPr>
          <a:xfrm>
            <a:off x="7845552" y="3611879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72" name="a1wd650_td71"/>
          <p:cNvSpPr/>
          <p:nvPr/>
        </p:nvSpPr>
        <p:spPr>
          <a:xfrm>
            <a:off x="7772400" y="38862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a1wd650_tdt72"/>
          <p:cNvSpPr txBox="1"/>
          <p:nvPr/>
        </p:nvSpPr>
        <p:spPr>
          <a:xfrm>
            <a:off x="7845552" y="3886200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O(n) keys</a:t>
            </a:r>
          </a:p>
        </p:txBody>
      </p:sp>
      <p:sp>
        <p:nvSpPr>
          <p:cNvPr id="74" name="a1wd715_td73"/>
          <p:cNvSpPr/>
          <p:nvPr/>
        </p:nvSpPr>
        <p:spPr>
          <a:xfrm>
            <a:off x="7772400" y="416052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a1wd715_tdt74"/>
          <p:cNvSpPr txBox="1"/>
          <p:nvPr/>
        </p:nvSpPr>
        <p:spPr>
          <a:xfrm>
            <a:off x="7845552" y="4160520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O(1)/O(n)</a:t>
            </a:r>
          </a:p>
        </p:txBody>
      </p:sp>
      <p:sp>
        <p:nvSpPr>
          <p:cNvPr id="76" name="a2u_nb75"/>
          <p:cNvSpPr/>
          <p:nvPr/>
        </p:nvSpPr>
        <p:spPr>
          <a:xfrm>
            <a:off x="457200" y="4306824"/>
            <a:ext cx="8229600" cy="475488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a2u_nacc76"/>
          <p:cNvSpPr/>
          <p:nvPr/>
        </p:nvSpPr>
        <p:spPr>
          <a:xfrm>
            <a:off x="457200" y="4306824"/>
            <a:ext cx="50292" cy="47548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a2u_nt77"/>
          <p:cNvSpPr txBox="1"/>
          <p:nvPr/>
        </p:nvSpPr>
        <p:spPr>
          <a:xfrm>
            <a:off x="658368" y="4306824"/>
            <a:ext cx="782726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alibri"/>
              </a:rPr>
              <a:t>KEY  </a:t>
            </a:r>
            <a:r>
              <a:rPr sz="1000" b="0">
                <a:solidFill>
                  <a:srgbClr val="334155"/>
                </a:solidFill>
                <a:latin typeface="Calibri"/>
              </a:rPr>
              <a:t>MGET of 50 keys is one round trip; 50 GETs is fifty. On a 0.5 ms network that is 0.5 ms against 25 ms for identical work.</a:t>
            </a:r>
          </a:p>
        </p:txBody>
      </p:sp>
      <p:sp>
        <p:nvSpPr>
          <p:cNvPr id="79" name="ft78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80" name="ft79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5 · Commands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22" presetClass="entr" presetSubtype="8" fill="hold" grpId="0" nodeType="withEffect">
                                  <p:stCondLst>
                                    <p:cond delay="715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2" presetClass="entr" presetSubtype="8" fill="hold" grpId="0" nodeType="withEffect">
                                  <p:stCondLst>
                                    <p:cond delay="715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2" presetClass="entr" presetSubtype="8" fill="hold" grpId="0" nodeType="withEffect">
                                  <p:stCondLst>
                                    <p:cond delay="715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22" presetClass="entr" presetSubtype="8" fill="hold" grpId="0" nodeType="withEffect">
                                  <p:stCondLst>
                                    <p:cond delay="715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22" presetClass="entr" presetSubtype="8" fill="hold" grpId="0" nodeType="withEffect">
                                  <p:stCondLst>
                                    <p:cond delay="715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22" presetClass="entr" presetSubtype="8" fill="hold" grpId="0" nodeType="withEffect">
                                  <p:stCondLst>
                                    <p:cond delay="715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Strings · Counters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Atomic arithmetic, with no read-modify-write race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143000"/>
            <a:ext cx="2331720" cy="3200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143000"/>
            <a:ext cx="2221991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ourier New"/>
              </a:rPr>
              <a:t>Command</a:t>
            </a:r>
          </a:p>
        </p:txBody>
      </p:sp>
      <p:sp>
        <p:nvSpPr>
          <p:cNvPr id="6" name="a1wd100_td5"/>
          <p:cNvSpPr/>
          <p:nvPr/>
        </p:nvSpPr>
        <p:spPr>
          <a:xfrm>
            <a:off x="457200" y="1463040"/>
            <a:ext cx="2331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100_tdt6"/>
          <p:cNvSpPr txBox="1"/>
          <p:nvPr/>
        </p:nvSpPr>
        <p:spPr>
          <a:xfrm>
            <a:off x="530352" y="1463040"/>
            <a:ext cx="2221991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INCR key</a:t>
            </a:r>
          </a:p>
        </p:txBody>
      </p:sp>
      <p:sp>
        <p:nvSpPr>
          <p:cNvPr id="8" name="a1wd200_td7"/>
          <p:cNvSpPr/>
          <p:nvPr/>
        </p:nvSpPr>
        <p:spPr>
          <a:xfrm>
            <a:off x="457200" y="1783080"/>
            <a:ext cx="2331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200_tdt8"/>
          <p:cNvSpPr txBox="1"/>
          <p:nvPr/>
        </p:nvSpPr>
        <p:spPr>
          <a:xfrm>
            <a:off x="530352" y="1783080"/>
            <a:ext cx="2221991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DECR key</a:t>
            </a:r>
          </a:p>
        </p:txBody>
      </p:sp>
      <p:sp>
        <p:nvSpPr>
          <p:cNvPr id="10" name="a1wd300_td9"/>
          <p:cNvSpPr/>
          <p:nvPr/>
        </p:nvSpPr>
        <p:spPr>
          <a:xfrm>
            <a:off x="457200" y="2103120"/>
            <a:ext cx="2331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300_tdt10"/>
          <p:cNvSpPr txBox="1"/>
          <p:nvPr/>
        </p:nvSpPr>
        <p:spPr>
          <a:xfrm>
            <a:off x="530352" y="2103120"/>
            <a:ext cx="2221991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INCRBY key n</a:t>
            </a:r>
          </a:p>
        </p:txBody>
      </p:sp>
      <p:sp>
        <p:nvSpPr>
          <p:cNvPr id="12" name="a1wd400_td11"/>
          <p:cNvSpPr/>
          <p:nvPr/>
        </p:nvSpPr>
        <p:spPr>
          <a:xfrm>
            <a:off x="457200" y="2423160"/>
            <a:ext cx="2331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400_tdt12"/>
          <p:cNvSpPr txBox="1"/>
          <p:nvPr/>
        </p:nvSpPr>
        <p:spPr>
          <a:xfrm>
            <a:off x="530352" y="2423160"/>
            <a:ext cx="2221991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DECRBY key n</a:t>
            </a:r>
          </a:p>
        </p:txBody>
      </p:sp>
      <p:sp>
        <p:nvSpPr>
          <p:cNvPr id="14" name="a1wd500_td13"/>
          <p:cNvSpPr/>
          <p:nvPr/>
        </p:nvSpPr>
        <p:spPr>
          <a:xfrm>
            <a:off x="457200" y="2743200"/>
            <a:ext cx="2331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500_tdt14"/>
          <p:cNvSpPr txBox="1"/>
          <p:nvPr/>
        </p:nvSpPr>
        <p:spPr>
          <a:xfrm>
            <a:off x="530352" y="2743200"/>
            <a:ext cx="2221991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INCRBYFLOAT key f</a:t>
            </a:r>
          </a:p>
        </p:txBody>
      </p:sp>
      <p:sp>
        <p:nvSpPr>
          <p:cNvPr id="16" name="a1f_th15"/>
          <p:cNvSpPr/>
          <p:nvPr/>
        </p:nvSpPr>
        <p:spPr>
          <a:xfrm>
            <a:off x="2788920" y="1143000"/>
            <a:ext cx="4846320" cy="32004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f_tht16"/>
          <p:cNvSpPr txBox="1"/>
          <p:nvPr/>
        </p:nvSpPr>
        <p:spPr>
          <a:xfrm>
            <a:off x="2862072" y="1143000"/>
            <a:ext cx="473659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18" name="a1wd100_td17"/>
          <p:cNvSpPr/>
          <p:nvPr/>
        </p:nvSpPr>
        <p:spPr>
          <a:xfrm>
            <a:off x="2788920" y="1463040"/>
            <a:ext cx="48463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100_tdt18"/>
          <p:cNvSpPr txBox="1"/>
          <p:nvPr/>
        </p:nvSpPr>
        <p:spPr>
          <a:xfrm>
            <a:off x="2862072" y="1463040"/>
            <a:ext cx="473659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Add 1, creating the key at 0 first</a:t>
            </a:r>
          </a:p>
        </p:txBody>
      </p:sp>
      <p:sp>
        <p:nvSpPr>
          <p:cNvPr id="20" name="a1wd200_td19"/>
          <p:cNvSpPr/>
          <p:nvPr/>
        </p:nvSpPr>
        <p:spPr>
          <a:xfrm>
            <a:off x="2788920" y="1783080"/>
            <a:ext cx="48463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200_tdt20"/>
          <p:cNvSpPr txBox="1"/>
          <p:nvPr/>
        </p:nvSpPr>
        <p:spPr>
          <a:xfrm>
            <a:off x="2862072" y="1783080"/>
            <a:ext cx="473659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Subtract 1</a:t>
            </a:r>
          </a:p>
        </p:txBody>
      </p:sp>
      <p:sp>
        <p:nvSpPr>
          <p:cNvPr id="22" name="a1wd300_td21"/>
          <p:cNvSpPr/>
          <p:nvPr/>
        </p:nvSpPr>
        <p:spPr>
          <a:xfrm>
            <a:off x="2788920" y="2103120"/>
            <a:ext cx="48463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300_tdt22"/>
          <p:cNvSpPr txBox="1"/>
          <p:nvPr/>
        </p:nvSpPr>
        <p:spPr>
          <a:xfrm>
            <a:off x="2862072" y="2103120"/>
            <a:ext cx="473659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Add n (may be negative)</a:t>
            </a:r>
          </a:p>
        </p:txBody>
      </p:sp>
      <p:sp>
        <p:nvSpPr>
          <p:cNvPr id="24" name="a1wd400_td23"/>
          <p:cNvSpPr/>
          <p:nvPr/>
        </p:nvSpPr>
        <p:spPr>
          <a:xfrm>
            <a:off x="2788920" y="2423160"/>
            <a:ext cx="48463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wd400_tdt24"/>
          <p:cNvSpPr txBox="1"/>
          <p:nvPr/>
        </p:nvSpPr>
        <p:spPr>
          <a:xfrm>
            <a:off x="2862072" y="2423160"/>
            <a:ext cx="473659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Subtract n</a:t>
            </a:r>
          </a:p>
        </p:txBody>
      </p:sp>
      <p:sp>
        <p:nvSpPr>
          <p:cNvPr id="26" name="a1wd500_td25"/>
          <p:cNvSpPr/>
          <p:nvPr/>
        </p:nvSpPr>
        <p:spPr>
          <a:xfrm>
            <a:off x="2788920" y="2743200"/>
            <a:ext cx="48463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500_tdt26"/>
          <p:cNvSpPr txBox="1"/>
          <p:nvPr/>
        </p:nvSpPr>
        <p:spPr>
          <a:xfrm>
            <a:off x="2862072" y="2743200"/>
            <a:ext cx="473659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Add a float - use for amounts, never for money of record</a:t>
            </a:r>
          </a:p>
        </p:txBody>
      </p:sp>
      <p:sp>
        <p:nvSpPr>
          <p:cNvPr id="28" name="a1f_th27"/>
          <p:cNvSpPr/>
          <p:nvPr/>
        </p:nvSpPr>
        <p:spPr>
          <a:xfrm>
            <a:off x="7635240" y="1143000"/>
            <a:ext cx="1051560" cy="3200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f_tht28"/>
          <p:cNvSpPr txBox="1"/>
          <p:nvPr/>
        </p:nvSpPr>
        <p:spPr>
          <a:xfrm>
            <a:off x="7708392" y="1143000"/>
            <a:ext cx="941831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30" name="a1wd100_td29"/>
          <p:cNvSpPr/>
          <p:nvPr/>
        </p:nvSpPr>
        <p:spPr>
          <a:xfrm>
            <a:off x="7635240" y="1463040"/>
            <a:ext cx="10515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100_tdt30"/>
          <p:cNvSpPr txBox="1"/>
          <p:nvPr/>
        </p:nvSpPr>
        <p:spPr>
          <a:xfrm>
            <a:off x="7708392" y="1463040"/>
            <a:ext cx="941831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32" name="a1wd200_td31"/>
          <p:cNvSpPr/>
          <p:nvPr/>
        </p:nvSpPr>
        <p:spPr>
          <a:xfrm>
            <a:off x="7635240" y="1783080"/>
            <a:ext cx="10515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wd200_tdt32"/>
          <p:cNvSpPr txBox="1"/>
          <p:nvPr/>
        </p:nvSpPr>
        <p:spPr>
          <a:xfrm>
            <a:off x="7708392" y="1783080"/>
            <a:ext cx="941831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34" name="a1wd300_td33"/>
          <p:cNvSpPr/>
          <p:nvPr/>
        </p:nvSpPr>
        <p:spPr>
          <a:xfrm>
            <a:off x="7635240" y="2103120"/>
            <a:ext cx="10515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1wd300_tdt34"/>
          <p:cNvSpPr txBox="1"/>
          <p:nvPr/>
        </p:nvSpPr>
        <p:spPr>
          <a:xfrm>
            <a:off x="7708392" y="2103120"/>
            <a:ext cx="941831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36" name="a1wd400_td35"/>
          <p:cNvSpPr/>
          <p:nvPr/>
        </p:nvSpPr>
        <p:spPr>
          <a:xfrm>
            <a:off x="7635240" y="2423160"/>
            <a:ext cx="10515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1wd400_tdt36"/>
          <p:cNvSpPr txBox="1"/>
          <p:nvPr/>
        </p:nvSpPr>
        <p:spPr>
          <a:xfrm>
            <a:off x="7708392" y="2423160"/>
            <a:ext cx="941831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38" name="a1wd500_td37"/>
          <p:cNvSpPr/>
          <p:nvPr/>
        </p:nvSpPr>
        <p:spPr>
          <a:xfrm>
            <a:off x="7635240" y="2743200"/>
            <a:ext cx="10515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1wd500_tdt38"/>
          <p:cNvSpPr txBox="1"/>
          <p:nvPr/>
        </p:nvSpPr>
        <p:spPr>
          <a:xfrm>
            <a:off x="7708392" y="2743200"/>
            <a:ext cx="941831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40" name="a2u_card39"/>
          <p:cNvSpPr/>
          <p:nvPr/>
        </p:nvSpPr>
        <p:spPr>
          <a:xfrm>
            <a:off x="457200" y="2953512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2u_acc40"/>
          <p:cNvSpPr/>
          <p:nvPr/>
        </p:nvSpPr>
        <p:spPr>
          <a:xfrm>
            <a:off x="457200" y="2953512"/>
            <a:ext cx="50292" cy="15544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2ud20_uh41"/>
          <p:cNvSpPr txBox="1"/>
          <p:nvPr/>
        </p:nvSpPr>
        <p:spPr>
          <a:xfrm>
            <a:off x="658368" y="3044952"/>
            <a:ext cx="352958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8B5CF6"/>
                </a:solidFill>
                <a:latin typeface="Calibri"/>
              </a:rPr>
              <a:t>USE CASE · API RATE LIMIT, 100 CALLS PER MINUTE</a:t>
            </a:r>
          </a:p>
        </p:txBody>
      </p:sp>
      <p:sp>
        <p:nvSpPr>
          <p:cNvPr id="43" name="a2fd80_codebg42"/>
          <p:cNvSpPr/>
          <p:nvPr/>
        </p:nvSpPr>
        <p:spPr>
          <a:xfrm>
            <a:off x="658368" y="3300984"/>
            <a:ext cx="3529584" cy="1362456"/>
          </a:xfrm>
          <a:prstGeom prst="roundRect">
            <a:avLst>
              <a:gd name="adj" fmla="val 536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a2wd80_code43"/>
          <p:cNvSpPr txBox="1"/>
          <p:nvPr/>
        </p:nvSpPr>
        <p:spPr>
          <a:xfrm>
            <a:off x="749808" y="3392424"/>
            <a:ext cx="3346703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ourier New"/>
              </a:rPr>
              <a:t># key includes the minute, so it self-expires</a:t>
            </a:r>
          </a:p>
        </p:txBody>
      </p:sp>
      <p:sp>
        <p:nvSpPr>
          <p:cNvPr id="45" name="a2wd165_code44"/>
          <p:cNvSpPr txBox="1"/>
          <p:nvPr/>
        </p:nvSpPr>
        <p:spPr>
          <a:xfrm>
            <a:off x="749808" y="3589020"/>
            <a:ext cx="3346703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4B5FD"/>
                </a:solidFill>
                <a:latin typeface="Courier New"/>
              </a:rPr>
              <a:t>INCR  icici:rl:9003:202609211430</a:t>
            </a:r>
          </a:p>
        </p:txBody>
      </p:sp>
      <p:sp>
        <p:nvSpPr>
          <p:cNvPr id="46" name="a2wd250_code45"/>
          <p:cNvSpPr txBox="1"/>
          <p:nvPr/>
        </p:nvSpPr>
        <p:spPr>
          <a:xfrm>
            <a:off x="749808" y="3785615"/>
            <a:ext cx="3346703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14B8A6"/>
                </a:solidFill>
                <a:latin typeface="Courier New"/>
              </a:rPr>
              <a:t>  (integer) 1</a:t>
            </a:r>
          </a:p>
        </p:txBody>
      </p:sp>
      <p:sp>
        <p:nvSpPr>
          <p:cNvPr id="47" name="a2wd335_code46"/>
          <p:cNvSpPr txBox="1"/>
          <p:nvPr/>
        </p:nvSpPr>
        <p:spPr>
          <a:xfrm>
            <a:off x="749808" y="3982212"/>
            <a:ext cx="3346703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4B5FD"/>
                </a:solidFill>
                <a:latin typeface="Courier New"/>
              </a:rPr>
              <a:t>EXPIRE icici:rl:9003:202609211430 60 NX</a:t>
            </a:r>
          </a:p>
        </p:txBody>
      </p:sp>
      <p:sp>
        <p:nvSpPr>
          <p:cNvPr id="48" name="a2wd420_code47"/>
          <p:cNvSpPr txBox="1"/>
          <p:nvPr/>
        </p:nvSpPr>
        <p:spPr>
          <a:xfrm>
            <a:off x="749808" y="4178808"/>
            <a:ext cx="3346703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14B8A6"/>
                </a:solidFill>
                <a:latin typeface="Courier New"/>
              </a:rPr>
              <a:t>  (integer) 1</a:t>
            </a:r>
          </a:p>
        </p:txBody>
      </p:sp>
      <p:sp>
        <p:nvSpPr>
          <p:cNvPr id="49" name="a2wd505_code48"/>
          <p:cNvSpPr txBox="1"/>
          <p:nvPr/>
        </p:nvSpPr>
        <p:spPr>
          <a:xfrm>
            <a:off x="749808" y="4375404"/>
            <a:ext cx="3346703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ourier New"/>
              </a:rPr>
              <a:t># reject the call when INCR returns &gt; 100</a:t>
            </a:r>
          </a:p>
        </p:txBody>
      </p:sp>
      <p:sp>
        <p:nvSpPr>
          <p:cNvPr id="50" name="a3u_card49"/>
          <p:cNvSpPr/>
          <p:nvPr/>
        </p:nvSpPr>
        <p:spPr>
          <a:xfrm>
            <a:off x="4754880" y="2953512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a3u_acc50"/>
          <p:cNvSpPr/>
          <p:nvPr/>
        </p:nvSpPr>
        <p:spPr>
          <a:xfrm>
            <a:off x="4754880" y="2953512"/>
            <a:ext cx="50292" cy="1554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a3ud20_uh51"/>
          <p:cNvSpPr txBox="1"/>
          <p:nvPr/>
        </p:nvSpPr>
        <p:spPr>
          <a:xfrm>
            <a:off x="4956048" y="3044952"/>
            <a:ext cx="352958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Calibri"/>
              </a:rPr>
              <a:t>USE CASE · LIVE TRANSACTION DASHBOARD</a:t>
            </a:r>
          </a:p>
        </p:txBody>
      </p:sp>
      <p:sp>
        <p:nvSpPr>
          <p:cNvPr id="53" name="a3fd80_codebg52"/>
          <p:cNvSpPr/>
          <p:nvPr/>
        </p:nvSpPr>
        <p:spPr>
          <a:xfrm>
            <a:off x="4956048" y="3300984"/>
            <a:ext cx="3529584" cy="1362456"/>
          </a:xfrm>
          <a:prstGeom prst="roundRect">
            <a:avLst>
              <a:gd name="adj" fmla="val 536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a3wd80_code53"/>
          <p:cNvSpPr txBox="1"/>
          <p:nvPr/>
        </p:nvSpPr>
        <p:spPr>
          <a:xfrm>
            <a:off x="5047488" y="3392424"/>
            <a:ext cx="3346703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4B5FD"/>
                </a:solidFill>
                <a:latin typeface="Courier New"/>
              </a:rPr>
              <a:t>INCR    icici:cnt:txn:2026-09-21</a:t>
            </a:r>
          </a:p>
        </p:txBody>
      </p:sp>
      <p:sp>
        <p:nvSpPr>
          <p:cNvPr id="55" name="a3wd165_code54"/>
          <p:cNvSpPr txBox="1"/>
          <p:nvPr/>
        </p:nvSpPr>
        <p:spPr>
          <a:xfrm>
            <a:off x="5047488" y="3589020"/>
            <a:ext cx="3346703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14B8A6"/>
                </a:solidFill>
                <a:latin typeface="Courier New"/>
              </a:rPr>
              <a:t>  (integer) 918234</a:t>
            </a:r>
          </a:p>
        </p:txBody>
      </p:sp>
      <p:sp>
        <p:nvSpPr>
          <p:cNvPr id="56" name="a3wd250_code55"/>
          <p:cNvSpPr txBox="1"/>
          <p:nvPr/>
        </p:nvSpPr>
        <p:spPr>
          <a:xfrm>
            <a:off x="5047488" y="3785615"/>
            <a:ext cx="3346703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4B5FD"/>
                </a:solidFill>
                <a:latin typeface="Courier New"/>
              </a:rPr>
              <a:t>INCRBYFLOAT icici:sum:txn:2026-09-21 2500.00</a:t>
            </a:r>
          </a:p>
        </p:txBody>
      </p:sp>
      <p:sp>
        <p:nvSpPr>
          <p:cNvPr id="57" name="a3wd335_code56"/>
          <p:cNvSpPr txBox="1"/>
          <p:nvPr/>
        </p:nvSpPr>
        <p:spPr>
          <a:xfrm>
            <a:off x="5047488" y="3982212"/>
            <a:ext cx="3346703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14B8A6"/>
                </a:solidFill>
                <a:latin typeface="Courier New"/>
              </a:rPr>
              <a:t>  "48209341.50"</a:t>
            </a:r>
          </a:p>
        </p:txBody>
      </p:sp>
      <p:sp>
        <p:nvSpPr>
          <p:cNvPr id="58" name="a3wd420_code57"/>
          <p:cNvSpPr txBox="1"/>
          <p:nvPr/>
        </p:nvSpPr>
        <p:spPr>
          <a:xfrm>
            <a:off x="5047488" y="4178808"/>
            <a:ext cx="3346703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4B5FD"/>
                </a:solidFill>
                <a:latin typeface="Courier New"/>
              </a:rPr>
              <a:t>PFADD   icici:uv:2026-09-21 9003</a:t>
            </a:r>
          </a:p>
        </p:txBody>
      </p:sp>
      <p:sp>
        <p:nvSpPr>
          <p:cNvPr id="59" name="a3wd505_code58"/>
          <p:cNvSpPr txBox="1"/>
          <p:nvPr/>
        </p:nvSpPr>
        <p:spPr>
          <a:xfrm>
            <a:off x="5047488" y="4375404"/>
            <a:ext cx="3346703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14B8A6"/>
                </a:solidFill>
                <a:latin typeface="Courier New"/>
              </a:rPr>
              <a:t>  (integer) 1     # unique customers, 12 KB</a:t>
            </a:r>
          </a:p>
        </p:txBody>
      </p:sp>
      <p:sp>
        <p:nvSpPr>
          <p:cNvPr id="60" name="ft59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61" name="ft6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5 · Commands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8" fill="hold" grpId="0" nodeType="withEffect">
                                  <p:stCondLst>
                                    <p:cond delay="335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8" fill="hold" grpId="0" nodeType="withEffect">
                                  <p:stCondLst>
                                    <p:cond delay="505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" presetClass="entr" presetSubtype="4" fill="hold" grpId="0" nodeType="with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8" fill="hold" grpId="0" nodeType="withEffect">
                                  <p:stCondLst>
                                    <p:cond delay="335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8" fill="hold" grpId="0" nodeType="withEffect">
                                  <p:stCondLst>
                                    <p:cond delay="505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Real-Time Use Case · A Distributed Lock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One command gives you a mutex shared by every server in the fleet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4846320" cy="2866644"/>
          </a:xfrm>
          <a:prstGeom prst="roundRect">
            <a:avLst>
              <a:gd name="adj" fmla="val 255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codeh4"/>
          <p:cNvSpPr txBox="1"/>
          <p:nvPr/>
        </p:nvSpPr>
        <p:spPr>
          <a:xfrm>
            <a:off x="621792" y="1197864"/>
            <a:ext cx="45171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distributed lock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621792" y="1581912"/>
            <a:ext cx="451713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urier New"/>
              </a:rPr>
              <a:t># acquire - NX means "only if absent"</a:t>
            </a:r>
          </a:p>
        </p:txBody>
      </p:sp>
      <p:sp>
        <p:nvSpPr>
          <p:cNvPr id="7" name="a1wd80_code6"/>
          <p:cNvSpPr txBox="1"/>
          <p:nvPr/>
        </p:nvSpPr>
        <p:spPr>
          <a:xfrm>
            <a:off x="621792" y="1787652"/>
            <a:ext cx="451713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SET lock:eod:2026-09-21 &lt;random-token&gt; NX PX 30000</a:t>
            </a:r>
          </a:p>
        </p:txBody>
      </p:sp>
      <p:sp>
        <p:nvSpPr>
          <p:cNvPr id="8" name="a1wd160_code7"/>
          <p:cNvSpPr txBox="1"/>
          <p:nvPr/>
        </p:nvSpPr>
        <p:spPr>
          <a:xfrm>
            <a:off x="621792" y="1993392"/>
            <a:ext cx="451713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OK            # we own it for 30 seconds</a:t>
            </a:r>
          </a:p>
        </p:txBody>
      </p:sp>
      <p:sp>
        <p:nvSpPr>
          <p:cNvPr id="9" name="a1wd240_code8"/>
          <p:cNvSpPr txBox="1"/>
          <p:nvPr/>
        </p:nvSpPr>
        <p:spPr>
          <a:xfrm>
            <a:off x="621792" y="2199132"/>
            <a:ext cx="451713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(nil)         # someone else owns it - back off</a:t>
            </a:r>
          </a:p>
        </p:txBody>
      </p:sp>
      <p:sp>
        <p:nvSpPr>
          <p:cNvPr id="10" name="a1wd320_code9"/>
          <p:cNvSpPr txBox="1"/>
          <p:nvPr/>
        </p:nvSpPr>
        <p:spPr>
          <a:xfrm>
            <a:off x="621792" y="2404872"/>
            <a:ext cx="451713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1" name="a1wd400_code10"/>
          <p:cNvSpPr txBox="1"/>
          <p:nvPr/>
        </p:nvSpPr>
        <p:spPr>
          <a:xfrm>
            <a:off x="621792" y="2610612"/>
            <a:ext cx="451713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urier New"/>
              </a:rPr>
              <a:t># release - only if the token is still ours</a:t>
            </a:r>
          </a:p>
        </p:txBody>
      </p:sp>
      <p:sp>
        <p:nvSpPr>
          <p:cNvPr id="12" name="a1wd480_code11"/>
          <p:cNvSpPr txBox="1"/>
          <p:nvPr/>
        </p:nvSpPr>
        <p:spPr>
          <a:xfrm>
            <a:off x="621792" y="2816352"/>
            <a:ext cx="451713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EVAL "if redis.call('GET', KEYS[1]) == ARGV[1]</a:t>
            </a:r>
          </a:p>
        </p:txBody>
      </p:sp>
      <p:sp>
        <p:nvSpPr>
          <p:cNvPr id="13" name="a1wd560_code12"/>
          <p:cNvSpPr txBox="1"/>
          <p:nvPr/>
        </p:nvSpPr>
        <p:spPr>
          <a:xfrm>
            <a:off x="621792" y="3022091"/>
            <a:ext cx="451713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       then return redis.call('DEL', KEYS[1])</a:t>
            </a:r>
          </a:p>
        </p:txBody>
      </p:sp>
      <p:sp>
        <p:nvSpPr>
          <p:cNvPr id="14" name="a1wd640_code13"/>
          <p:cNvSpPr txBox="1"/>
          <p:nvPr/>
        </p:nvSpPr>
        <p:spPr>
          <a:xfrm>
            <a:off x="621792" y="3227832"/>
            <a:ext cx="451713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       else return 0 end"</a:t>
            </a:r>
          </a:p>
        </p:txBody>
      </p:sp>
      <p:sp>
        <p:nvSpPr>
          <p:cNvPr id="15" name="a1wd720_code14"/>
          <p:cNvSpPr txBox="1"/>
          <p:nvPr/>
        </p:nvSpPr>
        <p:spPr>
          <a:xfrm>
            <a:off x="621792" y="3433572"/>
            <a:ext cx="451713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     1 lock:eod:2026-09-21 &lt;random-token&gt;</a:t>
            </a:r>
          </a:p>
        </p:txBody>
      </p:sp>
      <p:sp>
        <p:nvSpPr>
          <p:cNvPr id="16" name="a1wd800_code15"/>
          <p:cNvSpPr txBox="1"/>
          <p:nvPr/>
        </p:nvSpPr>
        <p:spPr>
          <a:xfrm>
            <a:off x="621792" y="3639312"/>
            <a:ext cx="451713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(integer) 1</a:t>
            </a:r>
          </a:p>
        </p:txBody>
      </p:sp>
      <p:sp>
        <p:nvSpPr>
          <p:cNvPr id="17" name="a2u_card16"/>
          <p:cNvSpPr/>
          <p:nvPr/>
        </p:nvSpPr>
        <p:spPr>
          <a:xfrm>
            <a:off x="5486400" y="1143000"/>
            <a:ext cx="3200400" cy="1508760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u_hh17"/>
          <p:cNvSpPr txBox="1"/>
          <p:nvPr/>
        </p:nvSpPr>
        <p:spPr>
          <a:xfrm>
            <a:off x="5669280" y="1252728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DC382C"/>
                </a:solidFill>
                <a:latin typeface="Calibri"/>
              </a:rPr>
              <a:t>WHY EACH PART MATTERS</a:t>
            </a:r>
          </a:p>
        </p:txBody>
      </p:sp>
      <p:sp>
        <p:nvSpPr>
          <p:cNvPr id="19" name="a2u_lk18"/>
          <p:cNvSpPr txBox="1"/>
          <p:nvPr/>
        </p:nvSpPr>
        <p:spPr>
          <a:xfrm>
            <a:off x="5669280" y="1527048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DC382C"/>
                </a:solidFill>
                <a:latin typeface="Courier New"/>
              </a:rPr>
              <a:t>NX</a:t>
            </a:r>
          </a:p>
        </p:txBody>
      </p:sp>
      <p:sp>
        <p:nvSpPr>
          <p:cNvPr id="20" name="a2u_lv19"/>
          <p:cNvSpPr txBox="1"/>
          <p:nvPr/>
        </p:nvSpPr>
        <p:spPr>
          <a:xfrm>
            <a:off x="6583680" y="152704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only one caller can win</a:t>
            </a:r>
          </a:p>
        </p:txBody>
      </p:sp>
      <p:sp>
        <p:nvSpPr>
          <p:cNvPr id="21" name="a2ud80_lk20"/>
          <p:cNvSpPr txBox="1"/>
          <p:nvPr/>
        </p:nvSpPr>
        <p:spPr>
          <a:xfrm>
            <a:off x="5669280" y="1801368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DC382C"/>
                </a:solidFill>
                <a:latin typeface="Courier New"/>
              </a:rPr>
              <a:t>PX 30000</a:t>
            </a:r>
          </a:p>
        </p:txBody>
      </p:sp>
      <p:sp>
        <p:nvSpPr>
          <p:cNvPr id="22" name="a2ud80_lv21"/>
          <p:cNvSpPr txBox="1"/>
          <p:nvPr/>
        </p:nvSpPr>
        <p:spPr>
          <a:xfrm>
            <a:off x="6583680" y="180136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a crashed holder cannot deadlock the job</a:t>
            </a:r>
          </a:p>
        </p:txBody>
      </p:sp>
      <p:sp>
        <p:nvSpPr>
          <p:cNvPr id="23" name="a2ud160_lk22"/>
          <p:cNvSpPr txBox="1"/>
          <p:nvPr/>
        </p:nvSpPr>
        <p:spPr>
          <a:xfrm>
            <a:off x="5669280" y="2075688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DC382C"/>
                </a:solidFill>
                <a:latin typeface="Courier New"/>
              </a:rPr>
              <a:t>random token</a:t>
            </a:r>
          </a:p>
        </p:txBody>
      </p:sp>
      <p:sp>
        <p:nvSpPr>
          <p:cNvPr id="24" name="a2ud160_lv23"/>
          <p:cNvSpPr txBox="1"/>
          <p:nvPr/>
        </p:nvSpPr>
        <p:spPr>
          <a:xfrm>
            <a:off x="6583680" y="207568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you only delete a lock you still own</a:t>
            </a:r>
          </a:p>
        </p:txBody>
      </p:sp>
      <p:sp>
        <p:nvSpPr>
          <p:cNvPr id="25" name="a2ud240_lk24"/>
          <p:cNvSpPr txBox="1"/>
          <p:nvPr/>
        </p:nvSpPr>
        <p:spPr>
          <a:xfrm>
            <a:off x="5669280" y="2350008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DC382C"/>
                </a:solidFill>
                <a:latin typeface="Courier New"/>
              </a:rPr>
              <a:t>EVAL</a:t>
            </a:r>
          </a:p>
        </p:txBody>
      </p:sp>
      <p:sp>
        <p:nvSpPr>
          <p:cNvPr id="26" name="a2ud240_lv25"/>
          <p:cNvSpPr txBox="1"/>
          <p:nvPr/>
        </p:nvSpPr>
        <p:spPr>
          <a:xfrm>
            <a:off x="6583680" y="235000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check-and-delete has to be atomic</a:t>
            </a:r>
          </a:p>
        </p:txBody>
      </p:sp>
      <p:sp>
        <p:nvSpPr>
          <p:cNvPr id="27" name="a3u_nb26"/>
          <p:cNvSpPr/>
          <p:nvPr/>
        </p:nvSpPr>
        <p:spPr>
          <a:xfrm>
            <a:off x="5486400" y="278892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3u_nacc27"/>
          <p:cNvSpPr/>
          <p:nvPr/>
        </p:nvSpPr>
        <p:spPr>
          <a:xfrm>
            <a:off x="5486400" y="2788920"/>
            <a:ext cx="50292" cy="13258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3u_nt28"/>
          <p:cNvSpPr txBox="1"/>
          <p:nvPr/>
        </p:nvSpPr>
        <p:spPr>
          <a:xfrm>
            <a:off x="5687568" y="2788920"/>
            <a:ext cx="2798064" cy="1325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B45309"/>
                </a:solidFill>
                <a:latin typeface="Calibri"/>
              </a:rPr>
              <a:t>!  </a:t>
            </a:r>
            <a:r>
              <a:rPr sz="950" b="0">
                <a:solidFill>
                  <a:srgbClr val="334155"/>
                </a:solidFill>
                <a:latin typeface="Calibri"/>
              </a:rPr>
              <a:t>Without PX, a process that dies holding the lock blocks the batch forever. Without the token check, a slow process can delete a lock that has already been taken over by someone else. Both bugs are common; both are avoidable in one line.</a:t>
            </a:r>
          </a:p>
        </p:txBody>
      </p:sp>
      <p:sp>
        <p:nvSpPr>
          <p:cNvPr id="30" name="ft29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1" name="ft3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5 · Commands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A78BFA"/>
                </a:solidFill>
                <a:latin typeface="Calibri"/>
              </a:rPr>
              <a:t>03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Collection Commands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Hash, List, Set and Sorted Set - with the workload each one owns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Hash · records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List · queues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Set · membership</a:t>
            </a:r>
          </a:p>
        </p:txBody>
      </p:sp>
      <p:sp>
        <p:nvSpPr>
          <p:cNvPr id="8" name="a0ud1050_pill7"/>
          <p:cNvSpPr/>
          <p:nvPr/>
        </p:nvSpPr>
        <p:spPr>
          <a:xfrm>
            <a:off x="5532120" y="2752344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ZSet · ranking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Hash Commands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Records in one key - update a field without rewriting the rest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143000"/>
            <a:ext cx="3383280" cy="25603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143000"/>
            <a:ext cx="32735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Courier New"/>
              </a:rPr>
              <a:t>Command</a:t>
            </a:r>
          </a:p>
        </p:txBody>
      </p:sp>
      <p:sp>
        <p:nvSpPr>
          <p:cNvPr id="6" name="a1wd70_td5"/>
          <p:cNvSpPr/>
          <p:nvPr/>
        </p:nvSpPr>
        <p:spPr>
          <a:xfrm>
            <a:off x="457200" y="1399032"/>
            <a:ext cx="3383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70_tdt6"/>
          <p:cNvSpPr txBox="1"/>
          <p:nvPr/>
        </p:nvSpPr>
        <p:spPr>
          <a:xfrm>
            <a:off x="530352" y="1399032"/>
            <a:ext cx="32735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HSET key f v [f v ...]</a:t>
            </a:r>
          </a:p>
        </p:txBody>
      </p:sp>
      <p:sp>
        <p:nvSpPr>
          <p:cNvPr id="8" name="a1wd140_td7"/>
          <p:cNvSpPr/>
          <p:nvPr/>
        </p:nvSpPr>
        <p:spPr>
          <a:xfrm>
            <a:off x="457200" y="1655064"/>
            <a:ext cx="3383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140_tdt8"/>
          <p:cNvSpPr txBox="1"/>
          <p:nvPr/>
        </p:nvSpPr>
        <p:spPr>
          <a:xfrm>
            <a:off x="530352" y="1655064"/>
            <a:ext cx="32735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HGET key f  /  HMGET key f [f]</a:t>
            </a:r>
          </a:p>
        </p:txBody>
      </p:sp>
      <p:sp>
        <p:nvSpPr>
          <p:cNvPr id="10" name="a1wd210_td9"/>
          <p:cNvSpPr/>
          <p:nvPr/>
        </p:nvSpPr>
        <p:spPr>
          <a:xfrm>
            <a:off x="457200" y="1911095"/>
            <a:ext cx="3383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210_tdt10"/>
          <p:cNvSpPr txBox="1"/>
          <p:nvPr/>
        </p:nvSpPr>
        <p:spPr>
          <a:xfrm>
            <a:off x="530352" y="1911095"/>
            <a:ext cx="32735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HGETALL key</a:t>
            </a:r>
          </a:p>
        </p:txBody>
      </p:sp>
      <p:sp>
        <p:nvSpPr>
          <p:cNvPr id="12" name="a1wd280_td11"/>
          <p:cNvSpPr/>
          <p:nvPr/>
        </p:nvSpPr>
        <p:spPr>
          <a:xfrm>
            <a:off x="457200" y="2167128"/>
            <a:ext cx="3383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280_tdt12"/>
          <p:cNvSpPr txBox="1"/>
          <p:nvPr/>
        </p:nvSpPr>
        <p:spPr>
          <a:xfrm>
            <a:off x="530352" y="2167128"/>
            <a:ext cx="32735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HDEL key f [f ...]</a:t>
            </a:r>
          </a:p>
        </p:txBody>
      </p:sp>
      <p:sp>
        <p:nvSpPr>
          <p:cNvPr id="14" name="a1wd350_td13"/>
          <p:cNvSpPr/>
          <p:nvPr/>
        </p:nvSpPr>
        <p:spPr>
          <a:xfrm>
            <a:off x="457200" y="2423160"/>
            <a:ext cx="3383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350_tdt14"/>
          <p:cNvSpPr txBox="1"/>
          <p:nvPr/>
        </p:nvSpPr>
        <p:spPr>
          <a:xfrm>
            <a:off x="530352" y="2423160"/>
            <a:ext cx="32735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HEXISTS key f</a:t>
            </a:r>
          </a:p>
        </p:txBody>
      </p:sp>
      <p:sp>
        <p:nvSpPr>
          <p:cNvPr id="16" name="a1wd420_td15"/>
          <p:cNvSpPr/>
          <p:nvPr/>
        </p:nvSpPr>
        <p:spPr>
          <a:xfrm>
            <a:off x="457200" y="2679192"/>
            <a:ext cx="3383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420_tdt16"/>
          <p:cNvSpPr txBox="1"/>
          <p:nvPr/>
        </p:nvSpPr>
        <p:spPr>
          <a:xfrm>
            <a:off x="530352" y="2679192"/>
            <a:ext cx="32735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HLEN key  /  HSTRLEN key f</a:t>
            </a:r>
          </a:p>
        </p:txBody>
      </p:sp>
      <p:sp>
        <p:nvSpPr>
          <p:cNvPr id="18" name="a1wd490_td17"/>
          <p:cNvSpPr/>
          <p:nvPr/>
        </p:nvSpPr>
        <p:spPr>
          <a:xfrm>
            <a:off x="457200" y="2935224"/>
            <a:ext cx="3383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490_tdt18"/>
          <p:cNvSpPr txBox="1"/>
          <p:nvPr/>
        </p:nvSpPr>
        <p:spPr>
          <a:xfrm>
            <a:off x="530352" y="2935224"/>
            <a:ext cx="32735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HINCRBY key f n  /  HINCRBYFLOAT</a:t>
            </a:r>
          </a:p>
        </p:txBody>
      </p:sp>
      <p:sp>
        <p:nvSpPr>
          <p:cNvPr id="20" name="a1wd560_td19"/>
          <p:cNvSpPr/>
          <p:nvPr/>
        </p:nvSpPr>
        <p:spPr>
          <a:xfrm>
            <a:off x="457200" y="3191256"/>
            <a:ext cx="3383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560_tdt20"/>
          <p:cNvSpPr txBox="1"/>
          <p:nvPr/>
        </p:nvSpPr>
        <p:spPr>
          <a:xfrm>
            <a:off x="530352" y="3191256"/>
            <a:ext cx="32735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HKEYS key  /  HVALS key</a:t>
            </a:r>
          </a:p>
        </p:txBody>
      </p:sp>
      <p:sp>
        <p:nvSpPr>
          <p:cNvPr id="22" name="a1wd630_td21"/>
          <p:cNvSpPr/>
          <p:nvPr/>
        </p:nvSpPr>
        <p:spPr>
          <a:xfrm>
            <a:off x="457200" y="3447288"/>
            <a:ext cx="3383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630_tdt22"/>
          <p:cNvSpPr txBox="1"/>
          <p:nvPr/>
        </p:nvSpPr>
        <p:spPr>
          <a:xfrm>
            <a:off x="530352" y="3447288"/>
            <a:ext cx="32735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HRANDFIELD key [n]</a:t>
            </a:r>
          </a:p>
        </p:txBody>
      </p:sp>
      <p:sp>
        <p:nvSpPr>
          <p:cNvPr id="24" name="a1wd700_td23"/>
          <p:cNvSpPr/>
          <p:nvPr/>
        </p:nvSpPr>
        <p:spPr>
          <a:xfrm>
            <a:off x="457200" y="3703320"/>
            <a:ext cx="3383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wd700_tdt24"/>
          <p:cNvSpPr txBox="1"/>
          <p:nvPr/>
        </p:nvSpPr>
        <p:spPr>
          <a:xfrm>
            <a:off x="530352" y="3703320"/>
            <a:ext cx="32735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HSCAN key cursor [MATCH p]</a:t>
            </a:r>
          </a:p>
        </p:txBody>
      </p:sp>
      <p:sp>
        <p:nvSpPr>
          <p:cNvPr id="26" name="a1f_th25"/>
          <p:cNvSpPr/>
          <p:nvPr/>
        </p:nvSpPr>
        <p:spPr>
          <a:xfrm>
            <a:off x="3840480" y="1143000"/>
            <a:ext cx="3794760" cy="25603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f_tht26"/>
          <p:cNvSpPr txBox="1"/>
          <p:nvPr/>
        </p:nvSpPr>
        <p:spPr>
          <a:xfrm>
            <a:off x="3913632" y="1143000"/>
            <a:ext cx="3685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28" name="a1wd70_td27"/>
          <p:cNvSpPr/>
          <p:nvPr/>
        </p:nvSpPr>
        <p:spPr>
          <a:xfrm>
            <a:off x="3840480" y="1399032"/>
            <a:ext cx="37947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wd70_tdt28"/>
          <p:cNvSpPr txBox="1"/>
          <p:nvPr/>
        </p:nvSpPr>
        <p:spPr>
          <a:xfrm>
            <a:off x="3913632" y="1399032"/>
            <a:ext cx="3685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Set one or many fields</a:t>
            </a:r>
          </a:p>
        </p:txBody>
      </p:sp>
      <p:sp>
        <p:nvSpPr>
          <p:cNvPr id="30" name="a1wd140_td29"/>
          <p:cNvSpPr/>
          <p:nvPr/>
        </p:nvSpPr>
        <p:spPr>
          <a:xfrm>
            <a:off x="3840480" y="1655064"/>
            <a:ext cx="37947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140_tdt30"/>
          <p:cNvSpPr txBox="1"/>
          <p:nvPr/>
        </p:nvSpPr>
        <p:spPr>
          <a:xfrm>
            <a:off x="3913632" y="1655064"/>
            <a:ext cx="3685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Read one or several fields</a:t>
            </a:r>
          </a:p>
        </p:txBody>
      </p:sp>
      <p:sp>
        <p:nvSpPr>
          <p:cNvPr id="32" name="a1wd210_td31"/>
          <p:cNvSpPr/>
          <p:nvPr/>
        </p:nvSpPr>
        <p:spPr>
          <a:xfrm>
            <a:off x="3840480" y="1911095"/>
            <a:ext cx="37947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wd210_tdt32"/>
          <p:cNvSpPr txBox="1"/>
          <p:nvPr/>
        </p:nvSpPr>
        <p:spPr>
          <a:xfrm>
            <a:off x="3913632" y="1911095"/>
            <a:ext cx="3685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Every field and value - fine for small hashes</a:t>
            </a:r>
          </a:p>
        </p:txBody>
      </p:sp>
      <p:sp>
        <p:nvSpPr>
          <p:cNvPr id="34" name="a1wd280_td33"/>
          <p:cNvSpPr/>
          <p:nvPr/>
        </p:nvSpPr>
        <p:spPr>
          <a:xfrm>
            <a:off x="3840480" y="2167128"/>
            <a:ext cx="37947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1wd280_tdt34"/>
          <p:cNvSpPr txBox="1"/>
          <p:nvPr/>
        </p:nvSpPr>
        <p:spPr>
          <a:xfrm>
            <a:off x="3913632" y="2167128"/>
            <a:ext cx="3685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Remove fields; the key dies when empty</a:t>
            </a:r>
          </a:p>
        </p:txBody>
      </p:sp>
      <p:sp>
        <p:nvSpPr>
          <p:cNvPr id="36" name="a1wd350_td35"/>
          <p:cNvSpPr/>
          <p:nvPr/>
        </p:nvSpPr>
        <p:spPr>
          <a:xfrm>
            <a:off x="3840480" y="2423160"/>
            <a:ext cx="37947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1wd350_tdt36"/>
          <p:cNvSpPr txBox="1"/>
          <p:nvPr/>
        </p:nvSpPr>
        <p:spPr>
          <a:xfrm>
            <a:off x="3913632" y="2423160"/>
            <a:ext cx="3685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Does this field exist</a:t>
            </a:r>
          </a:p>
        </p:txBody>
      </p:sp>
      <p:sp>
        <p:nvSpPr>
          <p:cNvPr id="38" name="a1wd420_td37"/>
          <p:cNvSpPr/>
          <p:nvPr/>
        </p:nvSpPr>
        <p:spPr>
          <a:xfrm>
            <a:off x="3840480" y="2679192"/>
            <a:ext cx="37947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1wd420_tdt38"/>
          <p:cNvSpPr txBox="1"/>
          <p:nvPr/>
        </p:nvSpPr>
        <p:spPr>
          <a:xfrm>
            <a:off x="3913632" y="2679192"/>
            <a:ext cx="3685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Field count; length of one value</a:t>
            </a:r>
          </a:p>
        </p:txBody>
      </p:sp>
      <p:sp>
        <p:nvSpPr>
          <p:cNvPr id="40" name="a1wd490_td39"/>
          <p:cNvSpPr/>
          <p:nvPr/>
        </p:nvSpPr>
        <p:spPr>
          <a:xfrm>
            <a:off x="3840480" y="2935224"/>
            <a:ext cx="37947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1wd490_tdt40"/>
          <p:cNvSpPr txBox="1"/>
          <p:nvPr/>
        </p:nvSpPr>
        <p:spPr>
          <a:xfrm>
            <a:off x="3913632" y="2935224"/>
            <a:ext cx="3685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Atomic arithmetic on one field</a:t>
            </a:r>
          </a:p>
        </p:txBody>
      </p:sp>
      <p:sp>
        <p:nvSpPr>
          <p:cNvPr id="42" name="a1wd560_td41"/>
          <p:cNvSpPr/>
          <p:nvPr/>
        </p:nvSpPr>
        <p:spPr>
          <a:xfrm>
            <a:off x="3840480" y="3191256"/>
            <a:ext cx="37947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1wd560_tdt42"/>
          <p:cNvSpPr txBox="1"/>
          <p:nvPr/>
        </p:nvSpPr>
        <p:spPr>
          <a:xfrm>
            <a:off x="3913632" y="3191256"/>
            <a:ext cx="3685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All field names, or all values</a:t>
            </a:r>
          </a:p>
        </p:txBody>
      </p:sp>
      <p:sp>
        <p:nvSpPr>
          <p:cNvPr id="44" name="a1wd630_td43"/>
          <p:cNvSpPr/>
          <p:nvPr/>
        </p:nvSpPr>
        <p:spPr>
          <a:xfrm>
            <a:off x="3840480" y="3447288"/>
            <a:ext cx="37947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1wd630_tdt44"/>
          <p:cNvSpPr txBox="1"/>
          <p:nvPr/>
        </p:nvSpPr>
        <p:spPr>
          <a:xfrm>
            <a:off x="3913632" y="3447288"/>
            <a:ext cx="3685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Random field(s) - sampling without a scan</a:t>
            </a:r>
          </a:p>
        </p:txBody>
      </p:sp>
      <p:sp>
        <p:nvSpPr>
          <p:cNvPr id="46" name="a1wd700_td45"/>
          <p:cNvSpPr/>
          <p:nvPr/>
        </p:nvSpPr>
        <p:spPr>
          <a:xfrm>
            <a:off x="3840480" y="3703320"/>
            <a:ext cx="37947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1wd700_tdt46"/>
          <p:cNvSpPr txBox="1"/>
          <p:nvPr/>
        </p:nvSpPr>
        <p:spPr>
          <a:xfrm>
            <a:off x="3913632" y="3703320"/>
            <a:ext cx="3685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Cursor walk over a large hash</a:t>
            </a:r>
          </a:p>
        </p:txBody>
      </p:sp>
      <p:sp>
        <p:nvSpPr>
          <p:cNvPr id="48" name="a1f_th47"/>
          <p:cNvSpPr/>
          <p:nvPr/>
        </p:nvSpPr>
        <p:spPr>
          <a:xfrm>
            <a:off x="7635240" y="1143000"/>
            <a:ext cx="1051560" cy="25603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1f_tht48"/>
          <p:cNvSpPr txBox="1"/>
          <p:nvPr/>
        </p:nvSpPr>
        <p:spPr>
          <a:xfrm>
            <a:off x="7708392" y="1143000"/>
            <a:ext cx="941831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50" name="a1wd70_td49"/>
          <p:cNvSpPr/>
          <p:nvPr/>
        </p:nvSpPr>
        <p:spPr>
          <a:xfrm>
            <a:off x="7635240" y="1399032"/>
            <a:ext cx="1051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a1wd70_tdt50"/>
          <p:cNvSpPr txBox="1"/>
          <p:nvPr/>
        </p:nvSpPr>
        <p:spPr>
          <a:xfrm>
            <a:off x="7708392" y="1399032"/>
            <a:ext cx="941831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O(n) fields</a:t>
            </a:r>
          </a:p>
        </p:txBody>
      </p:sp>
      <p:sp>
        <p:nvSpPr>
          <p:cNvPr id="52" name="a1wd140_td51"/>
          <p:cNvSpPr/>
          <p:nvPr/>
        </p:nvSpPr>
        <p:spPr>
          <a:xfrm>
            <a:off x="7635240" y="1655064"/>
            <a:ext cx="1051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a1wd140_tdt52"/>
          <p:cNvSpPr txBox="1"/>
          <p:nvPr/>
        </p:nvSpPr>
        <p:spPr>
          <a:xfrm>
            <a:off x="7708392" y="1655064"/>
            <a:ext cx="941831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O(1)/O(n)</a:t>
            </a:r>
          </a:p>
        </p:txBody>
      </p:sp>
      <p:sp>
        <p:nvSpPr>
          <p:cNvPr id="54" name="a1wd210_td53"/>
          <p:cNvSpPr/>
          <p:nvPr/>
        </p:nvSpPr>
        <p:spPr>
          <a:xfrm>
            <a:off x="7635240" y="1911095"/>
            <a:ext cx="1051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a1wd210_tdt54"/>
          <p:cNvSpPr txBox="1"/>
          <p:nvPr/>
        </p:nvSpPr>
        <p:spPr>
          <a:xfrm>
            <a:off x="7708392" y="1911095"/>
            <a:ext cx="941831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O(n)</a:t>
            </a:r>
          </a:p>
        </p:txBody>
      </p:sp>
      <p:sp>
        <p:nvSpPr>
          <p:cNvPr id="56" name="a1wd280_td55"/>
          <p:cNvSpPr/>
          <p:nvPr/>
        </p:nvSpPr>
        <p:spPr>
          <a:xfrm>
            <a:off x="7635240" y="2167128"/>
            <a:ext cx="1051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a1wd280_tdt56"/>
          <p:cNvSpPr txBox="1"/>
          <p:nvPr/>
        </p:nvSpPr>
        <p:spPr>
          <a:xfrm>
            <a:off x="7708392" y="2167128"/>
            <a:ext cx="941831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O(n)</a:t>
            </a:r>
          </a:p>
        </p:txBody>
      </p:sp>
      <p:sp>
        <p:nvSpPr>
          <p:cNvPr id="58" name="a1wd350_td57"/>
          <p:cNvSpPr/>
          <p:nvPr/>
        </p:nvSpPr>
        <p:spPr>
          <a:xfrm>
            <a:off x="7635240" y="2423160"/>
            <a:ext cx="1051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a1wd350_tdt58"/>
          <p:cNvSpPr txBox="1"/>
          <p:nvPr/>
        </p:nvSpPr>
        <p:spPr>
          <a:xfrm>
            <a:off x="7708392" y="2423160"/>
            <a:ext cx="941831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60" name="a1wd420_td59"/>
          <p:cNvSpPr/>
          <p:nvPr/>
        </p:nvSpPr>
        <p:spPr>
          <a:xfrm>
            <a:off x="7635240" y="2679192"/>
            <a:ext cx="1051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a1wd420_tdt60"/>
          <p:cNvSpPr txBox="1"/>
          <p:nvPr/>
        </p:nvSpPr>
        <p:spPr>
          <a:xfrm>
            <a:off x="7708392" y="2679192"/>
            <a:ext cx="941831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62" name="a1wd490_td61"/>
          <p:cNvSpPr/>
          <p:nvPr/>
        </p:nvSpPr>
        <p:spPr>
          <a:xfrm>
            <a:off x="7635240" y="2935224"/>
            <a:ext cx="1051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a1wd490_tdt62"/>
          <p:cNvSpPr txBox="1"/>
          <p:nvPr/>
        </p:nvSpPr>
        <p:spPr>
          <a:xfrm>
            <a:off x="7708392" y="2935224"/>
            <a:ext cx="941831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64" name="a1wd560_td63"/>
          <p:cNvSpPr/>
          <p:nvPr/>
        </p:nvSpPr>
        <p:spPr>
          <a:xfrm>
            <a:off x="7635240" y="3191256"/>
            <a:ext cx="1051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a1wd560_tdt64"/>
          <p:cNvSpPr txBox="1"/>
          <p:nvPr/>
        </p:nvSpPr>
        <p:spPr>
          <a:xfrm>
            <a:off x="7708392" y="3191256"/>
            <a:ext cx="941831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O(n)</a:t>
            </a:r>
          </a:p>
        </p:txBody>
      </p:sp>
      <p:sp>
        <p:nvSpPr>
          <p:cNvPr id="66" name="a1wd630_td65"/>
          <p:cNvSpPr/>
          <p:nvPr/>
        </p:nvSpPr>
        <p:spPr>
          <a:xfrm>
            <a:off x="7635240" y="3447288"/>
            <a:ext cx="1051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a1wd630_tdt66"/>
          <p:cNvSpPr txBox="1"/>
          <p:nvPr/>
        </p:nvSpPr>
        <p:spPr>
          <a:xfrm>
            <a:off x="7708392" y="3447288"/>
            <a:ext cx="941831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O(n)</a:t>
            </a:r>
          </a:p>
        </p:txBody>
      </p:sp>
      <p:sp>
        <p:nvSpPr>
          <p:cNvPr id="68" name="a1wd700_td67"/>
          <p:cNvSpPr/>
          <p:nvPr/>
        </p:nvSpPr>
        <p:spPr>
          <a:xfrm>
            <a:off x="7635240" y="3703320"/>
            <a:ext cx="1051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a1wd700_tdt68"/>
          <p:cNvSpPr txBox="1"/>
          <p:nvPr/>
        </p:nvSpPr>
        <p:spPr>
          <a:xfrm>
            <a:off x="7708392" y="3703320"/>
            <a:ext cx="941831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O(1) per call</a:t>
            </a:r>
          </a:p>
        </p:txBody>
      </p:sp>
      <p:sp>
        <p:nvSpPr>
          <p:cNvPr id="70" name="a2u_card69"/>
          <p:cNvSpPr/>
          <p:nvPr/>
        </p:nvSpPr>
        <p:spPr>
          <a:xfrm>
            <a:off x="457200" y="4032504"/>
            <a:ext cx="8229600" cy="969264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a2u_acc70"/>
          <p:cNvSpPr/>
          <p:nvPr/>
        </p:nvSpPr>
        <p:spPr>
          <a:xfrm>
            <a:off x="457200" y="4032504"/>
            <a:ext cx="50292" cy="9692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a2ud20_uh71"/>
          <p:cNvSpPr txBox="1"/>
          <p:nvPr/>
        </p:nvSpPr>
        <p:spPr>
          <a:xfrm>
            <a:off x="658368" y="4123944"/>
            <a:ext cx="782726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  <a:latin typeface="Calibri"/>
              </a:rPr>
              <a:t>USE CASE · CUSTOMER PROFILE CACHE</a:t>
            </a:r>
          </a:p>
        </p:txBody>
      </p:sp>
      <p:sp>
        <p:nvSpPr>
          <p:cNvPr id="73" name="a2fd80_codebg72"/>
          <p:cNvSpPr/>
          <p:nvPr/>
        </p:nvSpPr>
        <p:spPr>
          <a:xfrm>
            <a:off x="658368" y="4379976"/>
            <a:ext cx="7827264" cy="576072"/>
          </a:xfrm>
          <a:prstGeom prst="roundRect">
            <a:avLst>
              <a:gd name="adj" fmla="val 1269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a2wd80_code73"/>
          <p:cNvSpPr txBox="1"/>
          <p:nvPr/>
        </p:nvSpPr>
        <p:spPr>
          <a:xfrm>
            <a:off x="749808" y="4471416"/>
            <a:ext cx="7644384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4B5FD"/>
                </a:solidFill>
                <a:latin typeface="Courier New"/>
              </a:rPr>
              <a:t>HSET icici:cust:9003 name "A. Sharma" tier gold branch BR-MUM-014</a:t>
            </a:r>
          </a:p>
        </p:txBody>
      </p:sp>
      <p:sp>
        <p:nvSpPr>
          <p:cNvPr id="75" name="a2wd165_code74"/>
          <p:cNvSpPr txBox="1"/>
          <p:nvPr/>
        </p:nvSpPr>
        <p:spPr>
          <a:xfrm>
            <a:off x="749808" y="4668012"/>
            <a:ext cx="7644384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4B5FD"/>
                </a:solidFill>
                <a:latin typeface="Courier New"/>
              </a:rPr>
              <a:t>EXPIRE icici:cust:9003 900   # one TTL for the record   ·   HINCRBY icici:cust:9003 logins 1</a:t>
            </a:r>
          </a:p>
        </p:txBody>
      </p:sp>
      <p:sp>
        <p:nvSpPr>
          <p:cNvPr id="76" name="ft75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77" name="ft7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5 · Commands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2" presetClass="entr" presetSubtype="4" fill="hold" grpId="0" nodeType="with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List Commands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 deque - stack, queue, bounded log, or blocking worker feed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143000"/>
            <a:ext cx="3383280" cy="274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143000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Courier New"/>
              </a:rPr>
              <a:t>Command</a:t>
            </a:r>
          </a:p>
        </p:txBody>
      </p:sp>
      <p:sp>
        <p:nvSpPr>
          <p:cNvPr id="6" name="a1wd70_td5"/>
          <p:cNvSpPr/>
          <p:nvPr/>
        </p:nvSpPr>
        <p:spPr>
          <a:xfrm>
            <a:off x="457200" y="1417320"/>
            <a:ext cx="33832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70_tdt6"/>
          <p:cNvSpPr txBox="1"/>
          <p:nvPr/>
        </p:nvSpPr>
        <p:spPr>
          <a:xfrm>
            <a:off x="530352" y="1417320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LPUSH / RPUSH key v [v ...]</a:t>
            </a:r>
          </a:p>
        </p:txBody>
      </p:sp>
      <p:sp>
        <p:nvSpPr>
          <p:cNvPr id="8" name="a1wd140_td7"/>
          <p:cNvSpPr/>
          <p:nvPr/>
        </p:nvSpPr>
        <p:spPr>
          <a:xfrm>
            <a:off x="457200" y="1691640"/>
            <a:ext cx="33832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140_tdt8"/>
          <p:cNvSpPr txBox="1"/>
          <p:nvPr/>
        </p:nvSpPr>
        <p:spPr>
          <a:xfrm>
            <a:off x="530352" y="1691640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LPOP / RPOP key [count]</a:t>
            </a:r>
          </a:p>
        </p:txBody>
      </p:sp>
      <p:sp>
        <p:nvSpPr>
          <p:cNvPr id="10" name="a1wd210_td9"/>
          <p:cNvSpPr/>
          <p:nvPr/>
        </p:nvSpPr>
        <p:spPr>
          <a:xfrm>
            <a:off x="457200" y="1965960"/>
            <a:ext cx="33832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210_tdt10"/>
          <p:cNvSpPr txBox="1"/>
          <p:nvPr/>
        </p:nvSpPr>
        <p:spPr>
          <a:xfrm>
            <a:off x="530352" y="1965960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BLPOP / BRPOP key [key] timeout</a:t>
            </a:r>
          </a:p>
        </p:txBody>
      </p:sp>
      <p:sp>
        <p:nvSpPr>
          <p:cNvPr id="12" name="a1wd280_td11"/>
          <p:cNvSpPr/>
          <p:nvPr/>
        </p:nvSpPr>
        <p:spPr>
          <a:xfrm>
            <a:off x="457200" y="2240280"/>
            <a:ext cx="33832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280_tdt12"/>
          <p:cNvSpPr txBox="1"/>
          <p:nvPr/>
        </p:nvSpPr>
        <p:spPr>
          <a:xfrm>
            <a:off x="530352" y="2240280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LRANGE key start stop</a:t>
            </a:r>
          </a:p>
        </p:txBody>
      </p:sp>
      <p:sp>
        <p:nvSpPr>
          <p:cNvPr id="14" name="a1wd350_td13"/>
          <p:cNvSpPr/>
          <p:nvPr/>
        </p:nvSpPr>
        <p:spPr>
          <a:xfrm>
            <a:off x="457200" y="2514600"/>
            <a:ext cx="33832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350_tdt14"/>
          <p:cNvSpPr txBox="1"/>
          <p:nvPr/>
        </p:nvSpPr>
        <p:spPr>
          <a:xfrm>
            <a:off x="530352" y="2514600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LLEN key</a:t>
            </a:r>
          </a:p>
        </p:txBody>
      </p:sp>
      <p:sp>
        <p:nvSpPr>
          <p:cNvPr id="16" name="a1wd420_td15"/>
          <p:cNvSpPr/>
          <p:nvPr/>
        </p:nvSpPr>
        <p:spPr>
          <a:xfrm>
            <a:off x="457200" y="2788920"/>
            <a:ext cx="33832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420_tdt16"/>
          <p:cNvSpPr txBox="1"/>
          <p:nvPr/>
        </p:nvSpPr>
        <p:spPr>
          <a:xfrm>
            <a:off x="530352" y="2788920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LINDEX key i  /  LSET key i v</a:t>
            </a:r>
          </a:p>
        </p:txBody>
      </p:sp>
      <p:sp>
        <p:nvSpPr>
          <p:cNvPr id="18" name="a1wd490_td17"/>
          <p:cNvSpPr/>
          <p:nvPr/>
        </p:nvSpPr>
        <p:spPr>
          <a:xfrm>
            <a:off x="457200" y="3063240"/>
            <a:ext cx="33832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490_tdt18"/>
          <p:cNvSpPr txBox="1"/>
          <p:nvPr/>
        </p:nvSpPr>
        <p:spPr>
          <a:xfrm>
            <a:off x="530352" y="3063240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LINSERT key BEFORE|AFTER piv v</a:t>
            </a:r>
          </a:p>
        </p:txBody>
      </p:sp>
      <p:sp>
        <p:nvSpPr>
          <p:cNvPr id="20" name="a1wd560_td19"/>
          <p:cNvSpPr/>
          <p:nvPr/>
        </p:nvSpPr>
        <p:spPr>
          <a:xfrm>
            <a:off x="457200" y="3337560"/>
            <a:ext cx="33832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560_tdt20"/>
          <p:cNvSpPr txBox="1"/>
          <p:nvPr/>
        </p:nvSpPr>
        <p:spPr>
          <a:xfrm>
            <a:off x="530352" y="3337560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LREM key count v</a:t>
            </a:r>
          </a:p>
        </p:txBody>
      </p:sp>
      <p:sp>
        <p:nvSpPr>
          <p:cNvPr id="22" name="a1wd630_td21"/>
          <p:cNvSpPr/>
          <p:nvPr/>
        </p:nvSpPr>
        <p:spPr>
          <a:xfrm>
            <a:off x="457200" y="3611879"/>
            <a:ext cx="33832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630_tdt22"/>
          <p:cNvSpPr txBox="1"/>
          <p:nvPr/>
        </p:nvSpPr>
        <p:spPr>
          <a:xfrm>
            <a:off x="530352" y="3611879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LTRIM key start stop</a:t>
            </a:r>
          </a:p>
        </p:txBody>
      </p:sp>
      <p:sp>
        <p:nvSpPr>
          <p:cNvPr id="24" name="a1wd700_td23"/>
          <p:cNvSpPr/>
          <p:nvPr/>
        </p:nvSpPr>
        <p:spPr>
          <a:xfrm>
            <a:off x="457200" y="3886200"/>
            <a:ext cx="33832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wd700_tdt24"/>
          <p:cNvSpPr txBox="1"/>
          <p:nvPr/>
        </p:nvSpPr>
        <p:spPr>
          <a:xfrm>
            <a:off x="530352" y="3886200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LMOVE src dst LEFT|RIGHT ...</a:t>
            </a:r>
          </a:p>
        </p:txBody>
      </p:sp>
      <p:sp>
        <p:nvSpPr>
          <p:cNvPr id="26" name="a1f_th25"/>
          <p:cNvSpPr/>
          <p:nvPr/>
        </p:nvSpPr>
        <p:spPr>
          <a:xfrm>
            <a:off x="3840480" y="1143000"/>
            <a:ext cx="3794760" cy="27432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f_tht26"/>
          <p:cNvSpPr txBox="1"/>
          <p:nvPr/>
        </p:nvSpPr>
        <p:spPr>
          <a:xfrm>
            <a:off x="3913632" y="1143000"/>
            <a:ext cx="36850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28" name="a1wd70_td27"/>
          <p:cNvSpPr/>
          <p:nvPr/>
        </p:nvSpPr>
        <p:spPr>
          <a:xfrm>
            <a:off x="3840480" y="1417320"/>
            <a:ext cx="37947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wd70_tdt28"/>
          <p:cNvSpPr txBox="1"/>
          <p:nvPr/>
        </p:nvSpPr>
        <p:spPr>
          <a:xfrm>
            <a:off x="3913632" y="1417320"/>
            <a:ext cx="36850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Add to the left or right end</a:t>
            </a:r>
          </a:p>
        </p:txBody>
      </p:sp>
      <p:sp>
        <p:nvSpPr>
          <p:cNvPr id="30" name="a1wd140_td29"/>
          <p:cNvSpPr/>
          <p:nvPr/>
        </p:nvSpPr>
        <p:spPr>
          <a:xfrm>
            <a:off x="3840480" y="1691640"/>
            <a:ext cx="37947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140_tdt30"/>
          <p:cNvSpPr txBox="1"/>
          <p:nvPr/>
        </p:nvSpPr>
        <p:spPr>
          <a:xfrm>
            <a:off x="3913632" y="1691640"/>
            <a:ext cx="36850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Remove and return from either end</a:t>
            </a:r>
          </a:p>
        </p:txBody>
      </p:sp>
      <p:sp>
        <p:nvSpPr>
          <p:cNvPr id="32" name="a1wd210_td31"/>
          <p:cNvSpPr/>
          <p:nvPr/>
        </p:nvSpPr>
        <p:spPr>
          <a:xfrm>
            <a:off x="3840480" y="1965960"/>
            <a:ext cx="37947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wd210_tdt32"/>
          <p:cNvSpPr txBox="1"/>
          <p:nvPr/>
        </p:nvSpPr>
        <p:spPr>
          <a:xfrm>
            <a:off x="3913632" y="1965960"/>
            <a:ext cx="36850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Block until an element arrives - no polling</a:t>
            </a:r>
          </a:p>
        </p:txBody>
      </p:sp>
      <p:sp>
        <p:nvSpPr>
          <p:cNvPr id="34" name="a1wd280_td33"/>
          <p:cNvSpPr/>
          <p:nvPr/>
        </p:nvSpPr>
        <p:spPr>
          <a:xfrm>
            <a:off x="3840480" y="2240280"/>
            <a:ext cx="37947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1wd280_tdt34"/>
          <p:cNvSpPr txBox="1"/>
          <p:nvPr/>
        </p:nvSpPr>
        <p:spPr>
          <a:xfrm>
            <a:off x="3913632" y="2240280"/>
            <a:ext cx="36850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A slice; 0 -1 is everything - beware on big lists</a:t>
            </a:r>
          </a:p>
        </p:txBody>
      </p:sp>
      <p:sp>
        <p:nvSpPr>
          <p:cNvPr id="36" name="a1wd350_td35"/>
          <p:cNvSpPr/>
          <p:nvPr/>
        </p:nvSpPr>
        <p:spPr>
          <a:xfrm>
            <a:off x="3840480" y="2514600"/>
            <a:ext cx="37947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1wd350_tdt36"/>
          <p:cNvSpPr txBox="1"/>
          <p:nvPr/>
        </p:nvSpPr>
        <p:spPr>
          <a:xfrm>
            <a:off x="3913632" y="2514600"/>
            <a:ext cx="36850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Number of elements</a:t>
            </a:r>
          </a:p>
        </p:txBody>
      </p:sp>
      <p:sp>
        <p:nvSpPr>
          <p:cNvPr id="38" name="a1wd420_td37"/>
          <p:cNvSpPr/>
          <p:nvPr/>
        </p:nvSpPr>
        <p:spPr>
          <a:xfrm>
            <a:off x="3840480" y="2788920"/>
            <a:ext cx="37947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1wd420_tdt38"/>
          <p:cNvSpPr txBox="1"/>
          <p:nvPr/>
        </p:nvSpPr>
        <p:spPr>
          <a:xfrm>
            <a:off x="3913632" y="2788920"/>
            <a:ext cx="36850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Read or replace by position</a:t>
            </a:r>
          </a:p>
        </p:txBody>
      </p:sp>
      <p:sp>
        <p:nvSpPr>
          <p:cNvPr id="40" name="a1wd490_td39"/>
          <p:cNvSpPr/>
          <p:nvPr/>
        </p:nvSpPr>
        <p:spPr>
          <a:xfrm>
            <a:off x="3840480" y="3063240"/>
            <a:ext cx="37947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1wd490_tdt40"/>
          <p:cNvSpPr txBox="1"/>
          <p:nvPr/>
        </p:nvSpPr>
        <p:spPr>
          <a:xfrm>
            <a:off x="3913632" y="3063240"/>
            <a:ext cx="36850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Insert next to the first matching element</a:t>
            </a:r>
          </a:p>
        </p:txBody>
      </p:sp>
      <p:sp>
        <p:nvSpPr>
          <p:cNvPr id="42" name="a1wd560_td41"/>
          <p:cNvSpPr/>
          <p:nvPr/>
        </p:nvSpPr>
        <p:spPr>
          <a:xfrm>
            <a:off x="3840480" y="3337560"/>
            <a:ext cx="37947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1wd560_tdt42"/>
          <p:cNvSpPr txBox="1"/>
          <p:nvPr/>
        </p:nvSpPr>
        <p:spPr>
          <a:xfrm>
            <a:off x="3913632" y="3337560"/>
            <a:ext cx="36850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Remove matching elements</a:t>
            </a:r>
          </a:p>
        </p:txBody>
      </p:sp>
      <p:sp>
        <p:nvSpPr>
          <p:cNvPr id="44" name="a1wd630_td43"/>
          <p:cNvSpPr/>
          <p:nvPr/>
        </p:nvSpPr>
        <p:spPr>
          <a:xfrm>
            <a:off x="3840480" y="3611879"/>
            <a:ext cx="37947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1wd630_tdt44"/>
          <p:cNvSpPr txBox="1"/>
          <p:nvPr/>
        </p:nvSpPr>
        <p:spPr>
          <a:xfrm>
            <a:off x="3913632" y="3611879"/>
            <a:ext cx="36850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Keep only a range - the bounded-log trick</a:t>
            </a:r>
          </a:p>
        </p:txBody>
      </p:sp>
      <p:sp>
        <p:nvSpPr>
          <p:cNvPr id="46" name="a1wd700_td45"/>
          <p:cNvSpPr/>
          <p:nvPr/>
        </p:nvSpPr>
        <p:spPr>
          <a:xfrm>
            <a:off x="3840480" y="3886200"/>
            <a:ext cx="37947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1wd700_tdt46"/>
          <p:cNvSpPr txBox="1"/>
          <p:nvPr/>
        </p:nvSpPr>
        <p:spPr>
          <a:xfrm>
            <a:off x="3913632" y="3886200"/>
            <a:ext cx="36850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Atomically move between lists - reliable queue</a:t>
            </a:r>
          </a:p>
        </p:txBody>
      </p:sp>
      <p:sp>
        <p:nvSpPr>
          <p:cNvPr id="48" name="a1f_th47"/>
          <p:cNvSpPr/>
          <p:nvPr/>
        </p:nvSpPr>
        <p:spPr>
          <a:xfrm>
            <a:off x="7635240" y="1143000"/>
            <a:ext cx="1051560" cy="274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1f_tht48"/>
          <p:cNvSpPr txBox="1"/>
          <p:nvPr/>
        </p:nvSpPr>
        <p:spPr>
          <a:xfrm>
            <a:off x="7708392" y="1143000"/>
            <a:ext cx="94183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50" name="a1wd70_td49"/>
          <p:cNvSpPr/>
          <p:nvPr/>
        </p:nvSpPr>
        <p:spPr>
          <a:xfrm>
            <a:off x="7635240" y="1417320"/>
            <a:ext cx="10515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a1wd70_tdt50"/>
          <p:cNvSpPr txBox="1"/>
          <p:nvPr/>
        </p:nvSpPr>
        <p:spPr>
          <a:xfrm>
            <a:off x="7708392" y="1417320"/>
            <a:ext cx="94183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O(n) values</a:t>
            </a:r>
          </a:p>
        </p:txBody>
      </p:sp>
      <p:sp>
        <p:nvSpPr>
          <p:cNvPr id="52" name="a1wd140_td51"/>
          <p:cNvSpPr/>
          <p:nvPr/>
        </p:nvSpPr>
        <p:spPr>
          <a:xfrm>
            <a:off x="7635240" y="1691640"/>
            <a:ext cx="10515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a1wd140_tdt52"/>
          <p:cNvSpPr txBox="1"/>
          <p:nvPr/>
        </p:nvSpPr>
        <p:spPr>
          <a:xfrm>
            <a:off x="7708392" y="1691640"/>
            <a:ext cx="94183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O(n) count</a:t>
            </a:r>
          </a:p>
        </p:txBody>
      </p:sp>
      <p:sp>
        <p:nvSpPr>
          <p:cNvPr id="54" name="a1wd210_td53"/>
          <p:cNvSpPr/>
          <p:nvPr/>
        </p:nvSpPr>
        <p:spPr>
          <a:xfrm>
            <a:off x="7635240" y="1965960"/>
            <a:ext cx="10515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a1wd210_tdt54"/>
          <p:cNvSpPr txBox="1"/>
          <p:nvPr/>
        </p:nvSpPr>
        <p:spPr>
          <a:xfrm>
            <a:off x="7708392" y="1965960"/>
            <a:ext cx="94183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56" name="a1wd280_td55"/>
          <p:cNvSpPr/>
          <p:nvPr/>
        </p:nvSpPr>
        <p:spPr>
          <a:xfrm>
            <a:off x="7635240" y="2240280"/>
            <a:ext cx="10515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a1wd280_tdt56"/>
          <p:cNvSpPr txBox="1"/>
          <p:nvPr/>
        </p:nvSpPr>
        <p:spPr>
          <a:xfrm>
            <a:off x="7708392" y="2240280"/>
            <a:ext cx="94183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O(n)</a:t>
            </a:r>
          </a:p>
        </p:txBody>
      </p:sp>
      <p:sp>
        <p:nvSpPr>
          <p:cNvPr id="58" name="a1wd350_td57"/>
          <p:cNvSpPr/>
          <p:nvPr/>
        </p:nvSpPr>
        <p:spPr>
          <a:xfrm>
            <a:off x="7635240" y="2514600"/>
            <a:ext cx="10515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a1wd350_tdt58"/>
          <p:cNvSpPr txBox="1"/>
          <p:nvPr/>
        </p:nvSpPr>
        <p:spPr>
          <a:xfrm>
            <a:off x="7708392" y="2514600"/>
            <a:ext cx="94183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60" name="a1wd420_td59"/>
          <p:cNvSpPr/>
          <p:nvPr/>
        </p:nvSpPr>
        <p:spPr>
          <a:xfrm>
            <a:off x="7635240" y="2788920"/>
            <a:ext cx="10515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a1wd420_tdt60"/>
          <p:cNvSpPr txBox="1"/>
          <p:nvPr/>
        </p:nvSpPr>
        <p:spPr>
          <a:xfrm>
            <a:off x="7708392" y="2788920"/>
            <a:ext cx="94183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O(n)</a:t>
            </a:r>
          </a:p>
        </p:txBody>
      </p:sp>
      <p:sp>
        <p:nvSpPr>
          <p:cNvPr id="62" name="a1wd490_td61"/>
          <p:cNvSpPr/>
          <p:nvPr/>
        </p:nvSpPr>
        <p:spPr>
          <a:xfrm>
            <a:off x="7635240" y="3063240"/>
            <a:ext cx="10515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a1wd490_tdt62"/>
          <p:cNvSpPr txBox="1"/>
          <p:nvPr/>
        </p:nvSpPr>
        <p:spPr>
          <a:xfrm>
            <a:off x="7708392" y="3063240"/>
            <a:ext cx="94183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O(n)</a:t>
            </a:r>
          </a:p>
        </p:txBody>
      </p:sp>
      <p:sp>
        <p:nvSpPr>
          <p:cNvPr id="64" name="a1wd560_td63"/>
          <p:cNvSpPr/>
          <p:nvPr/>
        </p:nvSpPr>
        <p:spPr>
          <a:xfrm>
            <a:off x="7635240" y="3337560"/>
            <a:ext cx="10515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a1wd560_tdt64"/>
          <p:cNvSpPr txBox="1"/>
          <p:nvPr/>
        </p:nvSpPr>
        <p:spPr>
          <a:xfrm>
            <a:off x="7708392" y="3337560"/>
            <a:ext cx="94183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O(n)</a:t>
            </a:r>
          </a:p>
        </p:txBody>
      </p:sp>
      <p:sp>
        <p:nvSpPr>
          <p:cNvPr id="66" name="a1wd630_td65"/>
          <p:cNvSpPr/>
          <p:nvPr/>
        </p:nvSpPr>
        <p:spPr>
          <a:xfrm>
            <a:off x="7635240" y="3611879"/>
            <a:ext cx="10515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a1wd630_tdt66"/>
          <p:cNvSpPr txBox="1"/>
          <p:nvPr/>
        </p:nvSpPr>
        <p:spPr>
          <a:xfrm>
            <a:off x="7708392" y="3611879"/>
            <a:ext cx="94183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O(n)</a:t>
            </a:r>
          </a:p>
        </p:txBody>
      </p:sp>
      <p:sp>
        <p:nvSpPr>
          <p:cNvPr id="68" name="a1wd700_td67"/>
          <p:cNvSpPr/>
          <p:nvPr/>
        </p:nvSpPr>
        <p:spPr>
          <a:xfrm>
            <a:off x="7635240" y="3886200"/>
            <a:ext cx="10515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a1wd700_tdt68"/>
          <p:cNvSpPr txBox="1"/>
          <p:nvPr/>
        </p:nvSpPr>
        <p:spPr>
          <a:xfrm>
            <a:off x="7708392" y="3886200"/>
            <a:ext cx="94183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70" name="a2u_card69"/>
          <p:cNvSpPr/>
          <p:nvPr/>
        </p:nvSpPr>
        <p:spPr>
          <a:xfrm>
            <a:off x="457200" y="4050791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a2u_acc70"/>
          <p:cNvSpPr/>
          <p:nvPr/>
        </p:nvSpPr>
        <p:spPr>
          <a:xfrm>
            <a:off x="457200" y="4050791"/>
            <a:ext cx="50292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a2ud20_uh71"/>
          <p:cNvSpPr txBox="1"/>
          <p:nvPr/>
        </p:nvSpPr>
        <p:spPr>
          <a:xfrm>
            <a:off x="658368" y="4142231"/>
            <a:ext cx="352958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Calibri"/>
              </a:rPr>
              <a:t>USE CASE · STATEMENT JOB QUEUE</a:t>
            </a:r>
          </a:p>
        </p:txBody>
      </p:sp>
      <p:sp>
        <p:nvSpPr>
          <p:cNvPr id="73" name="a2fd80_codebg72"/>
          <p:cNvSpPr/>
          <p:nvPr/>
        </p:nvSpPr>
        <p:spPr>
          <a:xfrm>
            <a:off x="658368" y="4398264"/>
            <a:ext cx="3529584" cy="576072"/>
          </a:xfrm>
          <a:prstGeom prst="roundRect">
            <a:avLst>
              <a:gd name="adj" fmla="val 1269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a2wd80_code73"/>
          <p:cNvSpPr txBox="1"/>
          <p:nvPr/>
        </p:nvSpPr>
        <p:spPr>
          <a:xfrm>
            <a:off x="749808" y="4489703"/>
            <a:ext cx="3346703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4B5FD"/>
                </a:solidFill>
                <a:latin typeface="Courier New"/>
              </a:rPr>
              <a:t>LPUSH q:statements  "{\"acct\":9003}"</a:t>
            </a:r>
          </a:p>
        </p:txBody>
      </p:sp>
      <p:sp>
        <p:nvSpPr>
          <p:cNvPr id="75" name="a2wd165_code74"/>
          <p:cNvSpPr txBox="1"/>
          <p:nvPr/>
        </p:nvSpPr>
        <p:spPr>
          <a:xfrm>
            <a:off x="749808" y="4686299"/>
            <a:ext cx="3346703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4B5FD"/>
                </a:solidFill>
                <a:latin typeface="Courier New"/>
              </a:rPr>
              <a:t>BRPOP q:statements 5     # worker blocks</a:t>
            </a:r>
          </a:p>
        </p:txBody>
      </p:sp>
      <p:sp>
        <p:nvSpPr>
          <p:cNvPr id="76" name="a3u_card75"/>
          <p:cNvSpPr/>
          <p:nvPr/>
        </p:nvSpPr>
        <p:spPr>
          <a:xfrm>
            <a:off x="4754880" y="4050791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a3u_acc76"/>
          <p:cNvSpPr/>
          <p:nvPr/>
        </p:nvSpPr>
        <p:spPr>
          <a:xfrm>
            <a:off x="4754880" y="4050791"/>
            <a:ext cx="50292" cy="914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a3ud20_uh77"/>
          <p:cNvSpPr txBox="1"/>
          <p:nvPr/>
        </p:nvSpPr>
        <p:spPr>
          <a:xfrm>
            <a:off x="4956048" y="4142231"/>
            <a:ext cx="352958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8B5CF6"/>
                </a:solidFill>
                <a:latin typeface="Calibri"/>
              </a:rPr>
              <a:t>USE CASE · LAST 10 TRANSACTIONS</a:t>
            </a:r>
          </a:p>
        </p:txBody>
      </p:sp>
      <p:sp>
        <p:nvSpPr>
          <p:cNvPr id="79" name="a3fd80_codebg78"/>
          <p:cNvSpPr/>
          <p:nvPr/>
        </p:nvSpPr>
        <p:spPr>
          <a:xfrm>
            <a:off x="4956048" y="4398264"/>
            <a:ext cx="3529584" cy="576072"/>
          </a:xfrm>
          <a:prstGeom prst="roundRect">
            <a:avLst>
              <a:gd name="adj" fmla="val 1269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a3wd80_code79"/>
          <p:cNvSpPr txBox="1"/>
          <p:nvPr/>
        </p:nvSpPr>
        <p:spPr>
          <a:xfrm>
            <a:off x="5047488" y="4489703"/>
            <a:ext cx="3346703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4B5FD"/>
                </a:solidFill>
                <a:latin typeface="Courier New"/>
              </a:rPr>
              <a:t>LPUSH icici:recent:9003 "txn:88213"</a:t>
            </a:r>
          </a:p>
        </p:txBody>
      </p:sp>
      <p:sp>
        <p:nvSpPr>
          <p:cNvPr id="81" name="a3wd165_code80"/>
          <p:cNvSpPr txBox="1"/>
          <p:nvPr/>
        </p:nvSpPr>
        <p:spPr>
          <a:xfrm>
            <a:off x="5047488" y="4686299"/>
            <a:ext cx="3346703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4B5FD"/>
                </a:solidFill>
                <a:latin typeface="Courier New"/>
              </a:rPr>
              <a:t>LTRIM icici:recent:9003 0 9   # keep 10</a:t>
            </a:r>
          </a:p>
        </p:txBody>
      </p:sp>
      <p:sp>
        <p:nvSpPr>
          <p:cNvPr id="82" name="ft81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83" name="ft82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5 · Commands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2" presetClass="entr" presetSubtype="4" fill="hold" grpId="0" nodeType="with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2" presetClass="entr" presetSubtype="4" fill="hold" grpId="0" nodeType="with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Set Commands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Uniqueness, membership and algebra - computed inside the server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143000"/>
            <a:ext cx="3611880" cy="26517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143000"/>
            <a:ext cx="350215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Courier New"/>
              </a:rPr>
              <a:t>Command</a:t>
            </a:r>
          </a:p>
        </p:txBody>
      </p:sp>
      <p:sp>
        <p:nvSpPr>
          <p:cNvPr id="6" name="a1wd65_td5"/>
          <p:cNvSpPr/>
          <p:nvPr/>
        </p:nvSpPr>
        <p:spPr>
          <a:xfrm>
            <a:off x="457200" y="1408176"/>
            <a:ext cx="36118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65_tdt6"/>
          <p:cNvSpPr txBox="1"/>
          <p:nvPr/>
        </p:nvSpPr>
        <p:spPr>
          <a:xfrm>
            <a:off x="530352" y="1408176"/>
            <a:ext cx="350215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SADD key m [m ...]</a:t>
            </a:r>
          </a:p>
        </p:txBody>
      </p:sp>
      <p:sp>
        <p:nvSpPr>
          <p:cNvPr id="8" name="a1wd130_td7"/>
          <p:cNvSpPr/>
          <p:nvPr/>
        </p:nvSpPr>
        <p:spPr>
          <a:xfrm>
            <a:off x="457200" y="1673352"/>
            <a:ext cx="36118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130_tdt8"/>
          <p:cNvSpPr txBox="1"/>
          <p:nvPr/>
        </p:nvSpPr>
        <p:spPr>
          <a:xfrm>
            <a:off x="530352" y="1673352"/>
            <a:ext cx="350215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SREM key m [m ...]</a:t>
            </a:r>
          </a:p>
        </p:txBody>
      </p:sp>
      <p:sp>
        <p:nvSpPr>
          <p:cNvPr id="10" name="a1wd195_td9"/>
          <p:cNvSpPr/>
          <p:nvPr/>
        </p:nvSpPr>
        <p:spPr>
          <a:xfrm>
            <a:off x="457200" y="1938528"/>
            <a:ext cx="36118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195_tdt10"/>
          <p:cNvSpPr txBox="1"/>
          <p:nvPr/>
        </p:nvSpPr>
        <p:spPr>
          <a:xfrm>
            <a:off x="530352" y="1938528"/>
            <a:ext cx="350215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SISMEMBER key m</a:t>
            </a:r>
          </a:p>
        </p:txBody>
      </p:sp>
      <p:sp>
        <p:nvSpPr>
          <p:cNvPr id="12" name="a1wd260_td11"/>
          <p:cNvSpPr/>
          <p:nvPr/>
        </p:nvSpPr>
        <p:spPr>
          <a:xfrm>
            <a:off x="457200" y="2203704"/>
            <a:ext cx="36118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260_tdt12"/>
          <p:cNvSpPr txBox="1"/>
          <p:nvPr/>
        </p:nvSpPr>
        <p:spPr>
          <a:xfrm>
            <a:off x="530352" y="2203704"/>
            <a:ext cx="350215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SMISMEMBER key m [m ...]</a:t>
            </a:r>
          </a:p>
        </p:txBody>
      </p:sp>
      <p:sp>
        <p:nvSpPr>
          <p:cNvPr id="14" name="a1wd325_td13"/>
          <p:cNvSpPr/>
          <p:nvPr/>
        </p:nvSpPr>
        <p:spPr>
          <a:xfrm>
            <a:off x="457200" y="2468880"/>
            <a:ext cx="36118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325_tdt14"/>
          <p:cNvSpPr txBox="1"/>
          <p:nvPr/>
        </p:nvSpPr>
        <p:spPr>
          <a:xfrm>
            <a:off x="530352" y="2468880"/>
            <a:ext cx="350215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SCARD key</a:t>
            </a:r>
          </a:p>
        </p:txBody>
      </p:sp>
      <p:sp>
        <p:nvSpPr>
          <p:cNvPr id="16" name="a1wd390_td15"/>
          <p:cNvSpPr/>
          <p:nvPr/>
        </p:nvSpPr>
        <p:spPr>
          <a:xfrm>
            <a:off x="457200" y="2734056"/>
            <a:ext cx="36118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390_tdt16"/>
          <p:cNvSpPr txBox="1"/>
          <p:nvPr/>
        </p:nvSpPr>
        <p:spPr>
          <a:xfrm>
            <a:off x="530352" y="2734056"/>
            <a:ext cx="350215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SMEMBERS key</a:t>
            </a:r>
          </a:p>
        </p:txBody>
      </p:sp>
      <p:sp>
        <p:nvSpPr>
          <p:cNvPr id="18" name="a1wd455_td17"/>
          <p:cNvSpPr/>
          <p:nvPr/>
        </p:nvSpPr>
        <p:spPr>
          <a:xfrm>
            <a:off x="457200" y="2999232"/>
            <a:ext cx="36118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455_tdt18"/>
          <p:cNvSpPr txBox="1"/>
          <p:nvPr/>
        </p:nvSpPr>
        <p:spPr>
          <a:xfrm>
            <a:off x="530352" y="2999232"/>
            <a:ext cx="350215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SSCAN key cursor [MATCH p]</a:t>
            </a:r>
          </a:p>
        </p:txBody>
      </p:sp>
      <p:sp>
        <p:nvSpPr>
          <p:cNvPr id="20" name="a1wd520_td19"/>
          <p:cNvSpPr/>
          <p:nvPr/>
        </p:nvSpPr>
        <p:spPr>
          <a:xfrm>
            <a:off x="457200" y="3264408"/>
            <a:ext cx="36118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520_tdt20"/>
          <p:cNvSpPr txBox="1"/>
          <p:nvPr/>
        </p:nvSpPr>
        <p:spPr>
          <a:xfrm>
            <a:off x="530352" y="3264408"/>
            <a:ext cx="350215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SINTER / SUNION / SDIFF key [key]</a:t>
            </a:r>
          </a:p>
        </p:txBody>
      </p:sp>
      <p:sp>
        <p:nvSpPr>
          <p:cNvPr id="22" name="a1wd585_td21"/>
          <p:cNvSpPr/>
          <p:nvPr/>
        </p:nvSpPr>
        <p:spPr>
          <a:xfrm>
            <a:off x="457200" y="3529584"/>
            <a:ext cx="36118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585_tdt22"/>
          <p:cNvSpPr txBox="1"/>
          <p:nvPr/>
        </p:nvSpPr>
        <p:spPr>
          <a:xfrm>
            <a:off x="530352" y="3529584"/>
            <a:ext cx="350215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SINTERCARD numkeys k [k] [LIMIT n]</a:t>
            </a:r>
          </a:p>
        </p:txBody>
      </p:sp>
      <p:sp>
        <p:nvSpPr>
          <p:cNvPr id="24" name="a1wd650_td23"/>
          <p:cNvSpPr/>
          <p:nvPr/>
        </p:nvSpPr>
        <p:spPr>
          <a:xfrm>
            <a:off x="457200" y="3794760"/>
            <a:ext cx="36118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wd650_tdt24"/>
          <p:cNvSpPr txBox="1"/>
          <p:nvPr/>
        </p:nvSpPr>
        <p:spPr>
          <a:xfrm>
            <a:off x="530352" y="3794760"/>
            <a:ext cx="350215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SPOP key [n]  /  SRANDMEMBER key [n]</a:t>
            </a:r>
          </a:p>
        </p:txBody>
      </p:sp>
      <p:sp>
        <p:nvSpPr>
          <p:cNvPr id="26" name="a1wd715_td25"/>
          <p:cNvSpPr/>
          <p:nvPr/>
        </p:nvSpPr>
        <p:spPr>
          <a:xfrm>
            <a:off x="457200" y="4059935"/>
            <a:ext cx="36118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715_tdt26"/>
          <p:cNvSpPr txBox="1"/>
          <p:nvPr/>
        </p:nvSpPr>
        <p:spPr>
          <a:xfrm>
            <a:off x="530352" y="4059935"/>
            <a:ext cx="350215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SMOVE src dst m</a:t>
            </a:r>
          </a:p>
        </p:txBody>
      </p:sp>
      <p:sp>
        <p:nvSpPr>
          <p:cNvPr id="28" name="a1f_th27"/>
          <p:cNvSpPr/>
          <p:nvPr/>
        </p:nvSpPr>
        <p:spPr>
          <a:xfrm>
            <a:off x="4069080" y="1143000"/>
            <a:ext cx="3566160" cy="265176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f_tht28"/>
          <p:cNvSpPr txBox="1"/>
          <p:nvPr/>
        </p:nvSpPr>
        <p:spPr>
          <a:xfrm>
            <a:off x="4142232" y="1143000"/>
            <a:ext cx="345643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30" name="a1wd65_td29"/>
          <p:cNvSpPr/>
          <p:nvPr/>
        </p:nvSpPr>
        <p:spPr>
          <a:xfrm>
            <a:off x="4069080" y="1408176"/>
            <a:ext cx="35661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65_tdt30"/>
          <p:cNvSpPr txBox="1"/>
          <p:nvPr/>
        </p:nvSpPr>
        <p:spPr>
          <a:xfrm>
            <a:off x="4142232" y="1408176"/>
            <a:ext cx="345643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Add members; returns how many were new</a:t>
            </a:r>
          </a:p>
        </p:txBody>
      </p:sp>
      <p:sp>
        <p:nvSpPr>
          <p:cNvPr id="32" name="a1wd130_td31"/>
          <p:cNvSpPr/>
          <p:nvPr/>
        </p:nvSpPr>
        <p:spPr>
          <a:xfrm>
            <a:off x="4069080" y="1673352"/>
            <a:ext cx="35661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wd130_tdt32"/>
          <p:cNvSpPr txBox="1"/>
          <p:nvPr/>
        </p:nvSpPr>
        <p:spPr>
          <a:xfrm>
            <a:off x="4142232" y="1673352"/>
            <a:ext cx="345643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Remove members</a:t>
            </a:r>
          </a:p>
        </p:txBody>
      </p:sp>
      <p:sp>
        <p:nvSpPr>
          <p:cNvPr id="34" name="a1wd195_td33"/>
          <p:cNvSpPr/>
          <p:nvPr/>
        </p:nvSpPr>
        <p:spPr>
          <a:xfrm>
            <a:off x="4069080" y="1938528"/>
            <a:ext cx="35661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1wd195_tdt34"/>
          <p:cNvSpPr txBox="1"/>
          <p:nvPr/>
        </p:nvSpPr>
        <p:spPr>
          <a:xfrm>
            <a:off x="4142232" y="1938528"/>
            <a:ext cx="345643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Is this member present - 1 or 0</a:t>
            </a:r>
          </a:p>
        </p:txBody>
      </p:sp>
      <p:sp>
        <p:nvSpPr>
          <p:cNvPr id="36" name="a1wd260_td35"/>
          <p:cNvSpPr/>
          <p:nvPr/>
        </p:nvSpPr>
        <p:spPr>
          <a:xfrm>
            <a:off x="4069080" y="2203704"/>
            <a:ext cx="35661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1wd260_tdt36"/>
          <p:cNvSpPr txBox="1"/>
          <p:nvPr/>
        </p:nvSpPr>
        <p:spPr>
          <a:xfrm>
            <a:off x="4142232" y="2203704"/>
            <a:ext cx="345643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Several membership tests in one call</a:t>
            </a:r>
          </a:p>
        </p:txBody>
      </p:sp>
      <p:sp>
        <p:nvSpPr>
          <p:cNvPr id="38" name="a1wd325_td37"/>
          <p:cNvSpPr/>
          <p:nvPr/>
        </p:nvSpPr>
        <p:spPr>
          <a:xfrm>
            <a:off x="4069080" y="2468880"/>
            <a:ext cx="35661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1wd325_tdt38"/>
          <p:cNvSpPr txBox="1"/>
          <p:nvPr/>
        </p:nvSpPr>
        <p:spPr>
          <a:xfrm>
            <a:off x="4142232" y="2468880"/>
            <a:ext cx="345643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How many members</a:t>
            </a:r>
          </a:p>
        </p:txBody>
      </p:sp>
      <p:sp>
        <p:nvSpPr>
          <p:cNvPr id="40" name="a1wd390_td39"/>
          <p:cNvSpPr/>
          <p:nvPr/>
        </p:nvSpPr>
        <p:spPr>
          <a:xfrm>
            <a:off x="4069080" y="2734056"/>
            <a:ext cx="35661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1wd390_tdt40"/>
          <p:cNvSpPr txBox="1"/>
          <p:nvPr/>
        </p:nvSpPr>
        <p:spPr>
          <a:xfrm>
            <a:off x="4142232" y="2734056"/>
            <a:ext cx="345643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Every member - dangerous on a big set</a:t>
            </a:r>
          </a:p>
        </p:txBody>
      </p:sp>
      <p:sp>
        <p:nvSpPr>
          <p:cNvPr id="42" name="a1wd455_td41"/>
          <p:cNvSpPr/>
          <p:nvPr/>
        </p:nvSpPr>
        <p:spPr>
          <a:xfrm>
            <a:off x="4069080" y="2999232"/>
            <a:ext cx="35661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1wd455_tdt42"/>
          <p:cNvSpPr txBox="1"/>
          <p:nvPr/>
        </p:nvSpPr>
        <p:spPr>
          <a:xfrm>
            <a:off x="4142232" y="2999232"/>
            <a:ext cx="345643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Cursor walk - use this instead</a:t>
            </a:r>
          </a:p>
        </p:txBody>
      </p:sp>
      <p:sp>
        <p:nvSpPr>
          <p:cNvPr id="44" name="a1wd520_td43"/>
          <p:cNvSpPr/>
          <p:nvPr/>
        </p:nvSpPr>
        <p:spPr>
          <a:xfrm>
            <a:off x="4069080" y="3264408"/>
            <a:ext cx="35661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1wd520_tdt44"/>
          <p:cNvSpPr txBox="1"/>
          <p:nvPr/>
        </p:nvSpPr>
        <p:spPr>
          <a:xfrm>
            <a:off x="4142232" y="3264408"/>
            <a:ext cx="345643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Intersection, union, difference</a:t>
            </a:r>
          </a:p>
        </p:txBody>
      </p:sp>
      <p:sp>
        <p:nvSpPr>
          <p:cNvPr id="46" name="a1wd585_td45"/>
          <p:cNvSpPr/>
          <p:nvPr/>
        </p:nvSpPr>
        <p:spPr>
          <a:xfrm>
            <a:off x="4069080" y="3529584"/>
            <a:ext cx="35661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1wd585_tdt46"/>
          <p:cNvSpPr txBox="1"/>
          <p:nvPr/>
        </p:nvSpPr>
        <p:spPr>
          <a:xfrm>
            <a:off x="4142232" y="3529584"/>
            <a:ext cx="345643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Size of the intersection without building it</a:t>
            </a:r>
          </a:p>
        </p:txBody>
      </p:sp>
      <p:sp>
        <p:nvSpPr>
          <p:cNvPr id="48" name="a1wd650_td47"/>
          <p:cNvSpPr/>
          <p:nvPr/>
        </p:nvSpPr>
        <p:spPr>
          <a:xfrm>
            <a:off x="4069080" y="3794760"/>
            <a:ext cx="35661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1wd650_tdt48"/>
          <p:cNvSpPr txBox="1"/>
          <p:nvPr/>
        </p:nvSpPr>
        <p:spPr>
          <a:xfrm>
            <a:off x="4142232" y="3794760"/>
            <a:ext cx="345643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Remove random, or peek random</a:t>
            </a:r>
          </a:p>
        </p:txBody>
      </p:sp>
      <p:sp>
        <p:nvSpPr>
          <p:cNvPr id="50" name="a1wd715_td49"/>
          <p:cNvSpPr/>
          <p:nvPr/>
        </p:nvSpPr>
        <p:spPr>
          <a:xfrm>
            <a:off x="4069080" y="4059935"/>
            <a:ext cx="35661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a1wd715_tdt50"/>
          <p:cNvSpPr txBox="1"/>
          <p:nvPr/>
        </p:nvSpPr>
        <p:spPr>
          <a:xfrm>
            <a:off x="4142232" y="4059935"/>
            <a:ext cx="345643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Atomically move one member between sets</a:t>
            </a:r>
          </a:p>
        </p:txBody>
      </p:sp>
      <p:sp>
        <p:nvSpPr>
          <p:cNvPr id="52" name="a1f_th51"/>
          <p:cNvSpPr/>
          <p:nvPr/>
        </p:nvSpPr>
        <p:spPr>
          <a:xfrm>
            <a:off x="7635240" y="1143000"/>
            <a:ext cx="1051560" cy="26517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a1f_tht52"/>
          <p:cNvSpPr txBox="1"/>
          <p:nvPr/>
        </p:nvSpPr>
        <p:spPr>
          <a:xfrm>
            <a:off x="7708392" y="1143000"/>
            <a:ext cx="94183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54" name="a1wd65_td53"/>
          <p:cNvSpPr/>
          <p:nvPr/>
        </p:nvSpPr>
        <p:spPr>
          <a:xfrm>
            <a:off x="7635240" y="1408176"/>
            <a:ext cx="10515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a1wd65_tdt54"/>
          <p:cNvSpPr txBox="1"/>
          <p:nvPr/>
        </p:nvSpPr>
        <p:spPr>
          <a:xfrm>
            <a:off x="7708392" y="1408176"/>
            <a:ext cx="94183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O(n)</a:t>
            </a:r>
          </a:p>
        </p:txBody>
      </p:sp>
      <p:sp>
        <p:nvSpPr>
          <p:cNvPr id="56" name="a1wd130_td55"/>
          <p:cNvSpPr/>
          <p:nvPr/>
        </p:nvSpPr>
        <p:spPr>
          <a:xfrm>
            <a:off x="7635240" y="1673352"/>
            <a:ext cx="10515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a1wd130_tdt56"/>
          <p:cNvSpPr txBox="1"/>
          <p:nvPr/>
        </p:nvSpPr>
        <p:spPr>
          <a:xfrm>
            <a:off x="7708392" y="1673352"/>
            <a:ext cx="94183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O(n)</a:t>
            </a:r>
          </a:p>
        </p:txBody>
      </p:sp>
      <p:sp>
        <p:nvSpPr>
          <p:cNvPr id="58" name="a1wd195_td57"/>
          <p:cNvSpPr/>
          <p:nvPr/>
        </p:nvSpPr>
        <p:spPr>
          <a:xfrm>
            <a:off x="7635240" y="1938528"/>
            <a:ext cx="10515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a1wd195_tdt58"/>
          <p:cNvSpPr txBox="1"/>
          <p:nvPr/>
        </p:nvSpPr>
        <p:spPr>
          <a:xfrm>
            <a:off x="7708392" y="1938528"/>
            <a:ext cx="94183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60" name="a1wd260_td59"/>
          <p:cNvSpPr/>
          <p:nvPr/>
        </p:nvSpPr>
        <p:spPr>
          <a:xfrm>
            <a:off x="7635240" y="2203704"/>
            <a:ext cx="10515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a1wd260_tdt60"/>
          <p:cNvSpPr txBox="1"/>
          <p:nvPr/>
        </p:nvSpPr>
        <p:spPr>
          <a:xfrm>
            <a:off x="7708392" y="2203704"/>
            <a:ext cx="94183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O(n)</a:t>
            </a:r>
          </a:p>
        </p:txBody>
      </p:sp>
      <p:sp>
        <p:nvSpPr>
          <p:cNvPr id="62" name="a1wd325_td61"/>
          <p:cNvSpPr/>
          <p:nvPr/>
        </p:nvSpPr>
        <p:spPr>
          <a:xfrm>
            <a:off x="7635240" y="2468880"/>
            <a:ext cx="10515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a1wd325_tdt62"/>
          <p:cNvSpPr txBox="1"/>
          <p:nvPr/>
        </p:nvSpPr>
        <p:spPr>
          <a:xfrm>
            <a:off x="7708392" y="2468880"/>
            <a:ext cx="94183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64" name="a1wd390_td63"/>
          <p:cNvSpPr/>
          <p:nvPr/>
        </p:nvSpPr>
        <p:spPr>
          <a:xfrm>
            <a:off x="7635240" y="2734056"/>
            <a:ext cx="10515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a1wd390_tdt64"/>
          <p:cNvSpPr txBox="1"/>
          <p:nvPr/>
        </p:nvSpPr>
        <p:spPr>
          <a:xfrm>
            <a:off x="7708392" y="2734056"/>
            <a:ext cx="94183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O(n)</a:t>
            </a:r>
          </a:p>
        </p:txBody>
      </p:sp>
      <p:sp>
        <p:nvSpPr>
          <p:cNvPr id="66" name="a1wd455_td65"/>
          <p:cNvSpPr/>
          <p:nvPr/>
        </p:nvSpPr>
        <p:spPr>
          <a:xfrm>
            <a:off x="7635240" y="2999232"/>
            <a:ext cx="10515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a1wd455_tdt66"/>
          <p:cNvSpPr txBox="1"/>
          <p:nvPr/>
        </p:nvSpPr>
        <p:spPr>
          <a:xfrm>
            <a:off x="7708392" y="2999232"/>
            <a:ext cx="94183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O(1) per call</a:t>
            </a:r>
          </a:p>
        </p:txBody>
      </p:sp>
      <p:sp>
        <p:nvSpPr>
          <p:cNvPr id="68" name="a1wd520_td67"/>
          <p:cNvSpPr/>
          <p:nvPr/>
        </p:nvSpPr>
        <p:spPr>
          <a:xfrm>
            <a:off x="7635240" y="3264408"/>
            <a:ext cx="10515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a1wd520_tdt68"/>
          <p:cNvSpPr txBox="1"/>
          <p:nvPr/>
        </p:nvSpPr>
        <p:spPr>
          <a:xfrm>
            <a:off x="7708392" y="3264408"/>
            <a:ext cx="94183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O(n·m)</a:t>
            </a:r>
          </a:p>
        </p:txBody>
      </p:sp>
      <p:sp>
        <p:nvSpPr>
          <p:cNvPr id="70" name="a1wd585_td69"/>
          <p:cNvSpPr/>
          <p:nvPr/>
        </p:nvSpPr>
        <p:spPr>
          <a:xfrm>
            <a:off x="7635240" y="3529584"/>
            <a:ext cx="10515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a1wd585_tdt70"/>
          <p:cNvSpPr txBox="1"/>
          <p:nvPr/>
        </p:nvSpPr>
        <p:spPr>
          <a:xfrm>
            <a:off x="7708392" y="3529584"/>
            <a:ext cx="94183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O(n·m)</a:t>
            </a:r>
          </a:p>
        </p:txBody>
      </p:sp>
      <p:sp>
        <p:nvSpPr>
          <p:cNvPr id="72" name="a1wd650_td71"/>
          <p:cNvSpPr/>
          <p:nvPr/>
        </p:nvSpPr>
        <p:spPr>
          <a:xfrm>
            <a:off x="7635240" y="3794760"/>
            <a:ext cx="10515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a1wd650_tdt72"/>
          <p:cNvSpPr txBox="1"/>
          <p:nvPr/>
        </p:nvSpPr>
        <p:spPr>
          <a:xfrm>
            <a:off x="7708392" y="3794760"/>
            <a:ext cx="94183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O(n)</a:t>
            </a:r>
          </a:p>
        </p:txBody>
      </p:sp>
      <p:sp>
        <p:nvSpPr>
          <p:cNvPr id="74" name="a1wd715_td73"/>
          <p:cNvSpPr/>
          <p:nvPr/>
        </p:nvSpPr>
        <p:spPr>
          <a:xfrm>
            <a:off x="7635240" y="4059935"/>
            <a:ext cx="10515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a1wd715_tdt74"/>
          <p:cNvSpPr txBox="1"/>
          <p:nvPr/>
        </p:nvSpPr>
        <p:spPr>
          <a:xfrm>
            <a:off x="7708392" y="4059935"/>
            <a:ext cx="94183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76" name="a2u_card75"/>
          <p:cNvSpPr/>
          <p:nvPr/>
        </p:nvSpPr>
        <p:spPr>
          <a:xfrm>
            <a:off x="457200" y="4187952"/>
            <a:ext cx="3931920" cy="77724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a2u_acc76"/>
          <p:cNvSpPr/>
          <p:nvPr/>
        </p:nvSpPr>
        <p:spPr>
          <a:xfrm>
            <a:off x="457200" y="4187952"/>
            <a:ext cx="50292" cy="7772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a2ud20_uh77"/>
          <p:cNvSpPr txBox="1"/>
          <p:nvPr/>
        </p:nvSpPr>
        <p:spPr>
          <a:xfrm>
            <a:off x="658368" y="4279392"/>
            <a:ext cx="352958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8B5CF6"/>
                </a:solidFill>
                <a:latin typeface="Calibri"/>
              </a:rPr>
              <a:t>USE CASE · CROSS-SELL SEGMENT</a:t>
            </a:r>
          </a:p>
        </p:txBody>
      </p:sp>
      <p:sp>
        <p:nvSpPr>
          <p:cNvPr id="79" name="a2fd80_codebg78"/>
          <p:cNvSpPr/>
          <p:nvPr/>
        </p:nvSpPr>
        <p:spPr>
          <a:xfrm>
            <a:off x="658368" y="4535424"/>
            <a:ext cx="3529584" cy="379476"/>
          </a:xfrm>
          <a:prstGeom prst="roundRect">
            <a:avLst>
              <a:gd name="adj" fmla="val 1927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a2wd80_code79"/>
          <p:cNvSpPr txBox="1"/>
          <p:nvPr/>
        </p:nvSpPr>
        <p:spPr>
          <a:xfrm>
            <a:off x="749808" y="4626864"/>
            <a:ext cx="3346703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4B5FD"/>
                </a:solidFill>
                <a:latin typeface="Courier New"/>
              </a:rPr>
              <a:t>SINTER seg:salaried seg:no_creditcard</a:t>
            </a:r>
          </a:p>
        </p:txBody>
      </p:sp>
      <p:sp>
        <p:nvSpPr>
          <p:cNvPr id="81" name="a3u_card80"/>
          <p:cNvSpPr/>
          <p:nvPr/>
        </p:nvSpPr>
        <p:spPr>
          <a:xfrm>
            <a:off x="4754880" y="4187952"/>
            <a:ext cx="3931920" cy="77724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a3u_acc81"/>
          <p:cNvSpPr/>
          <p:nvPr/>
        </p:nvSpPr>
        <p:spPr>
          <a:xfrm>
            <a:off x="4754880" y="4187952"/>
            <a:ext cx="50292" cy="777240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a3ud20_uh82"/>
          <p:cNvSpPr txBox="1"/>
          <p:nvPr/>
        </p:nvSpPr>
        <p:spPr>
          <a:xfrm>
            <a:off x="4956048" y="4279392"/>
            <a:ext cx="352958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DC382C"/>
                </a:solidFill>
                <a:latin typeface="Calibri"/>
              </a:rPr>
              <a:t>USE CASE · IDEMPOTENT PAYMENT REQUESTS</a:t>
            </a:r>
          </a:p>
        </p:txBody>
      </p:sp>
      <p:sp>
        <p:nvSpPr>
          <p:cNvPr id="84" name="a3fd80_codebg83"/>
          <p:cNvSpPr/>
          <p:nvPr/>
        </p:nvSpPr>
        <p:spPr>
          <a:xfrm>
            <a:off x="4956048" y="4535424"/>
            <a:ext cx="3529584" cy="379476"/>
          </a:xfrm>
          <a:prstGeom prst="roundRect">
            <a:avLst>
              <a:gd name="adj" fmla="val 1927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a3wd80_code84"/>
          <p:cNvSpPr txBox="1"/>
          <p:nvPr/>
        </p:nvSpPr>
        <p:spPr>
          <a:xfrm>
            <a:off x="5047488" y="4626864"/>
            <a:ext cx="3346703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4B5FD"/>
                </a:solidFill>
                <a:latin typeface="Courier New"/>
              </a:rPr>
              <a:t>SADD seen:req &lt;request-id&gt;   # 0 = duplicate</a:t>
            </a:r>
          </a:p>
        </p:txBody>
      </p:sp>
      <p:sp>
        <p:nvSpPr>
          <p:cNvPr id="86" name="ft85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87" name="ft8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5 · Commands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22" presetClass="entr" presetSubtype="8" fill="hold" grpId="0" nodeType="withEffect">
                                  <p:stCondLst>
                                    <p:cond delay="715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2" presetClass="entr" presetSubtype="8" fill="hold" grpId="0" nodeType="withEffect">
                                  <p:stCondLst>
                                    <p:cond delay="715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2" presetClass="entr" presetSubtype="8" fill="hold" grpId="0" nodeType="withEffect">
                                  <p:stCondLst>
                                    <p:cond delay="715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22" presetClass="entr" presetSubtype="8" fill="hold" grpId="0" nodeType="withEffect">
                                  <p:stCondLst>
                                    <p:cond delay="715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22" presetClass="entr" presetSubtype="8" fill="hold" grpId="0" nodeType="withEffect">
                                  <p:stCondLst>
                                    <p:cond delay="715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22" presetClass="entr" presetSubtype="8" fill="hold" grpId="0" nodeType="withEffect">
                                  <p:stCondLst>
                                    <p:cond delay="715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2" presetClass="entr" presetSubtype="4" fill="hold" grpId="0" nodeType="with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2" presetClass="entr" presetSubtype="4" fill="hold" grpId="0" nodeType="with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Sorted Set Commands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Ranking, priority queues and time windows in one type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143000"/>
            <a:ext cx="3886200" cy="2651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143000"/>
            <a:ext cx="377647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Courier New"/>
              </a:rPr>
              <a:t>Command</a:t>
            </a:r>
          </a:p>
        </p:txBody>
      </p:sp>
      <p:sp>
        <p:nvSpPr>
          <p:cNvPr id="6" name="a1wd60_td5"/>
          <p:cNvSpPr/>
          <p:nvPr/>
        </p:nvSpPr>
        <p:spPr>
          <a:xfrm>
            <a:off x="457200" y="1408176"/>
            <a:ext cx="38862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60_tdt6"/>
          <p:cNvSpPr txBox="1"/>
          <p:nvPr/>
        </p:nvSpPr>
        <p:spPr>
          <a:xfrm>
            <a:off x="530352" y="1408176"/>
            <a:ext cx="377647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ZADD key [NX|XX|GT|LT] score m</a:t>
            </a:r>
          </a:p>
        </p:txBody>
      </p:sp>
      <p:sp>
        <p:nvSpPr>
          <p:cNvPr id="8" name="a1wd120_td7"/>
          <p:cNvSpPr/>
          <p:nvPr/>
        </p:nvSpPr>
        <p:spPr>
          <a:xfrm>
            <a:off x="457200" y="1673352"/>
            <a:ext cx="38862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120_tdt8"/>
          <p:cNvSpPr txBox="1"/>
          <p:nvPr/>
        </p:nvSpPr>
        <p:spPr>
          <a:xfrm>
            <a:off x="530352" y="1673352"/>
            <a:ext cx="377647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ZINCRBY key n m</a:t>
            </a:r>
          </a:p>
        </p:txBody>
      </p:sp>
      <p:sp>
        <p:nvSpPr>
          <p:cNvPr id="10" name="a1wd180_td9"/>
          <p:cNvSpPr/>
          <p:nvPr/>
        </p:nvSpPr>
        <p:spPr>
          <a:xfrm>
            <a:off x="457200" y="1938528"/>
            <a:ext cx="38862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180_tdt10"/>
          <p:cNvSpPr txBox="1"/>
          <p:nvPr/>
        </p:nvSpPr>
        <p:spPr>
          <a:xfrm>
            <a:off x="530352" y="1938528"/>
            <a:ext cx="377647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ZSCORE key m  /  ZMSCORE key m [m]</a:t>
            </a:r>
          </a:p>
        </p:txBody>
      </p:sp>
      <p:sp>
        <p:nvSpPr>
          <p:cNvPr id="12" name="a1wd240_td11"/>
          <p:cNvSpPr/>
          <p:nvPr/>
        </p:nvSpPr>
        <p:spPr>
          <a:xfrm>
            <a:off x="457200" y="2203704"/>
            <a:ext cx="38862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240_tdt12"/>
          <p:cNvSpPr txBox="1"/>
          <p:nvPr/>
        </p:nvSpPr>
        <p:spPr>
          <a:xfrm>
            <a:off x="530352" y="2203704"/>
            <a:ext cx="377647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ZRANK / ZREVRANK key m</a:t>
            </a:r>
          </a:p>
        </p:txBody>
      </p:sp>
      <p:sp>
        <p:nvSpPr>
          <p:cNvPr id="14" name="a1wd300_td13"/>
          <p:cNvSpPr/>
          <p:nvPr/>
        </p:nvSpPr>
        <p:spPr>
          <a:xfrm>
            <a:off x="457200" y="2468880"/>
            <a:ext cx="38862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300_tdt14"/>
          <p:cNvSpPr txBox="1"/>
          <p:nvPr/>
        </p:nvSpPr>
        <p:spPr>
          <a:xfrm>
            <a:off x="530352" y="2468880"/>
            <a:ext cx="377647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ZRANGE key start stop [REV] [WITHSCORES]</a:t>
            </a:r>
          </a:p>
        </p:txBody>
      </p:sp>
      <p:sp>
        <p:nvSpPr>
          <p:cNvPr id="16" name="a1wd360_td15"/>
          <p:cNvSpPr/>
          <p:nvPr/>
        </p:nvSpPr>
        <p:spPr>
          <a:xfrm>
            <a:off x="457200" y="2734056"/>
            <a:ext cx="38862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360_tdt16"/>
          <p:cNvSpPr txBox="1"/>
          <p:nvPr/>
        </p:nvSpPr>
        <p:spPr>
          <a:xfrm>
            <a:off x="530352" y="2734056"/>
            <a:ext cx="377647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ZRANGEBYSCORE key min max [LIMIT]</a:t>
            </a:r>
          </a:p>
        </p:txBody>
      </p:sp>
      <p:sp>
        <p:nvSpPr>
          <p:cNvPr id="18" name="a1wd420_td17"/>
          <p:cNvSpPr/>
          <p:nvPr/>
        </p:nvSpPr>
        <p:spPr>
          <a:xfrm>
            <a:off x="457200" y="2999232"/>
            <a:ext cx="38862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420_tdt18"/>
          <p:cNvSpPr txBox="1"/>
          <p:nvPr/>
        </p:nvSpPr>
        <p:spPr>
          <a:xfrm>
            <a:off x="530352" y="2999232"/>
            <a:ext cx="377647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ZCOUNT key min max</a:t>
            </a:r>
          </a:p>
        </p:txBody>
      </p:sp>
      <p:sp>
        <p:nvSpPr>
          <p:cNvPr id="20" name="a1wd480_td19"/>
          <p:cNvSpPr/>
          <p:nvPr/>
        </p:nvSpPr>
        <p:spPr>
          <a:xfrm>
            <a:off x="457200" y="3264408"/>
            <a:ext cx="38862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480_tdt20"/>
          <p:cNvSpPr txBox="1"/>
          <p:nvPr/>
        </p:nvSpPr>
        <p:spPr>
          <a:xfrm>
            <a:off x="530352" y="3264408"/>
            <a:ext cx="377647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ZCARD key</a:t>
            </a:r>
          </a:p>
        </p:txBody>
      </p:sp>
      <p:sp>
        <p:nvSpPr>
          <p:cNvPr id="22" name="a1wd540_td21"/>
          <p:cNvSpPr/>
          <p:nvPr/>
        </p:nvSpPr>
        <p:spPr>
          <a:xfrm>
            <a:off x="457200" y="3529584"/>
            <a:ext cx="38862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540_tdt22"/>
          <p:cNvSpPr txBox="1"/>
          <p:nvPr/>
        </p:nvSpPr>
        <p:spPr>
          <a:xfrm>
            <a:off x="530352" y="3529584"/>
            <a:ext cx="377647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ZREM key m [m ...]</a:t>
            </a:r>
          </a:p>
        </p:txBody>
      </p:sp>
      <p:sp>
        <p:nvSpPr>
          <p:cNvPr id="24" name="a1wd600_td23"/>
          <p:cNvSpPr/>
          <p:nvPr/>
        </p:nvSpPr>
        <p:spPr>
          <a:xfrm>
            <a:off x="457200" y="3794760"/>
            <a:ext cx="38862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wd600_tdt24"/>
          <p:cNvSpPr txBox="1"/>
          <p:nvPr/>
        </p:nvSpPr>
        <p:spPr>
          <a:xfrm>
            <a:off x="530352" y="3794760"/>
            <a:ext cx="377647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ZREMRANGEBYSCORE key min max</a:t>
            </a:r>
          </a:p>
        </p:txBody>
      </p:sp>
      <p:sp>
        <p:nvSpPr>
          <p:cNvPr id="26" name="a1wd660_td25"/>
          <p:cNvSpPr/>
          <p:nvPr/>
        </p:nvSpPr>
        <p:spPr>
          <a:xfrm>
            <a:off x="457200" y="4059935"/>
            <a:ext cx="38862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660_tdt26"/>
          <p:cNvSpPr txBox="1"/>
          <p:nvPr/>
        </p:nvSpPr>
        <p:spPr>
          <a:xfrm>
            <a:off x="530352" y="4059935"/>
            <a:ext cx="377647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ZPOPMIN / ZPOPMAX key [n]</a:t>
            </a:r>
          </a:p>
        </p:txBody>
      </p:sp>
      <p:sp>
        <p:nvSpPr>
          <p:cNvPr id="28" name="a1f_th27"/>
          <p:cNvSpPr/>
          <p:nvPr/>
        </p:nvSpPr>
        <p:spPr>
          <a:xfrm>
            <a:off x="4343400" y="1143000"/>
            <a:ext cx="3291840" cy="265176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f_tht28"/>
          <p:cNvSpPr txBox="1"/>
          <p:nvPr/>
        </p:nvSpPr>
        <p:spPr>
          <a:xfrm>
            <a:off x="4416552" y="1143000"/>
            <a:ext cx="318211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30" name="a1wd60_td29"/>
          <p:cNvSpPr/>
          <p:nvPr/>
        </p:nvSpPr>
        <p:spPr>
          <a:xfrm>
            <a:off x="4343400" y="1408176"/>
            <a:ext cx="329184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60_tdt30"/>
          <p:cNvSpPr txBox="1"/>
          <p:nvPr/>
        </p:nvSpPr>
        <p:spPr>
          <a:xfrm>
            <a:off x="4416552" y="1408176"/>
            <a:ext cx="318211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Add or update; GT/LT only move the score one way</a:t>
            </a:r>
          </a:p>
        </p:txBody>
      </p:sp>
      <p:sp>
        <p:nvSpPr>
          <p:cNvPr id="32" name="a1wd120_td31"/>
          <p:cNvSpPr/>
          <p:nvPr/>
        </p:nvSpPr>
        <p:spPr>
          <a:xfrm>
            <a:off x="4343400" y="1673352"/>
            <a:ext cx="329184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wd120_tdt32"/>
          <p:cNvSpPr txBox="1"/>
          <p:nvPr/>
        </p:nvSpPr>
        <p:spPr>
          <a:xfrm>
            <a:off x="4416552" y="1673352"/>
            <a:ext cx="318211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Add to a member's score atomically</a:t>
            </a:r>
          </a:p>
        </p:txBody>
      </p:sp>
      <p:sp>
        <p:nvSpPr>
          <p:cNvPr id="34" name="a1wd180_td33"/>
          <p:cNvSpPr/>
          <p:nvPr/>
        </p:nvSpPr>
        <p:spPr>
          <a:xfrm>
            <a:off x="4343400" y="1938528"/>
            <a:ext cx="329184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1wd180_tdt34"/>
          <p:cNvSpPr txBox="1"/>
          <p:nvPr/>
        </p:nvSpPr>
        <p:spPr>
          <a:xfrm>
            <a:off x="4416552" y="1938528"/>
            <a:ext cx="318211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The score of one or several members</a:t>
            </a:r>
          </a:p>
        </p:txBody>
      </p:sp>
      <p:sp>
        <p:nvSpPr>
          <p:cNvPr id="36" name="a1wd240_td35"/>
          <p:cNvSpPr/>
          <p:nvPr/>
        </p:nvSpPr>
        <p:spPr>
          <a:xfrm>
            <a:off x="4343400" y="2203704"/>
            <a:ext cx="329184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1wd240_tdt36"/>
          <p:cNvSpPr txBox="1"/>
          <p:nvPr/>
        </p:nvSpPr>
        <p:spPr>
          <a:xfrm>
            <a:off x="4416552" y="2203704"/>
            <a:ext cx="318211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Position from the bottom or the top</a:t>
            </a:r>
          </a:p>
        </p:txBody>
      </p:sp>
      <p:sp>
        <p:nvSpPr>
          <p:cNvPr id="38" name="a1wd300_td37"/>
          <p:cNvSpPr/>
          <p:nvPr/>
        </p:nvSpPr>
        <p:spPr>
          <a:xfrm>
            <a:off x="4343400" y="2468880"/>
            <a:ext cx="329184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1wd300_tdt38"/>
          <p:cNvSpPr txBox="1"/>
          <p:nvPr/>
        </p:nvSpPr>
        <p:spPr>
          <a:xfrm>
            <a:off x="4416552" y="2468880"/>
            <a:ext cx="318211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By position, ascending or descending</a:t>
            </a:r>
          </a:p>
        </p:txBody>
      </p:sp>
      <p:sp>
        <p:nvSpPr>
          <p:cNvPr id="40" name="a1wd360_td39"/>
          <p:cNvSpPr/>
          <p:nvPr/>
        </p:nvSpPr>
        <p:spPr>
          <a:xfrm>
            <a:off x="4343400" y="2734056"/>
            <a:ext cx="329184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1wd360_tdt40"/>
          <p:cNvSpPr txBox="1"/>
          <p:nvPr/>
        </p:nvSpPr>
        <p:spPr>
          <a:xfrm>
            <a:off x="4416552" y="2734056"/>
            <a:ext cx="318211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Everything within a score window</a:t>
            </a:r>
          </a:p>
        </p:txBody>
      </p:sp>
      <p:sp>
        <p:nvSpPr>
          <p:cNvPr id="42" name="a1wd420_td41"/>
          <p:cNvSpPr/>
          <p:nvPr/>
        </p:nvSpPr>
        <p:spPr>
          <a:xfrm>
            <a:off x="4343400" y="2999232"/>
            <a:ext cx="329184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1wd420_tdt42"/>
          <p:cNvSpPr txBox="1"/>
          <p:nvPr/>
        </p:nvSpPr>
        <p:spPr>
          <a:xfrm>
            <a:off x="4416552" y="2999232"/>
            <a:ext cx="318211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How many fall in a score window</a:t>
            </a:r>
          </a:p>
        </p:txBody>
      </p:sp>
      <p:sp>
        <p:nvSpPr>
          <p:cNvPr id="44" name="a1wd480_td43"/>
          <p:cNvSpPr/>
          <p:nvPr/>
        </p:nvSpPr>
        <p:spPr>
          <a:xfrm>
            <a:off x="4343400" y="3264408"/>
            <a:ext cx="329184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1wd480_tdt44"/>
          <p:cNvSpPr txBox="1"/>
          <p:nvPr/>
        </p:nvSpPr>
        <p:spPr>
          <a:xfrm>
            <a:off x="4416552" y="3264408"/>
            <a:ext cx="318211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Total members</a:t>
            </a:r>
          </a:p>
        </p:txBody>
      </p:sp>
      <p:sp>
        <p:nvSpPr>
          <p:cNvPr id="46" name="a1wd540_td45"/>
          <p:cNvSpPr/>
          <p:nvPr/>
        </p:nvSpPr>
        <p:spPr>
          <a:xfrm>
            <a:off x="4343400" y="3529584"/>
            <a:ext cx="329184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1wd540_tdt46"/>
          <p:cNvSpPr txBox="1"/>
          <p:nvPr/>
        </p:nvSpPr>
        <p:spPr>
          <a:xfrm>
            <a:off x="4416552" y="3529584"/>
            <a:ext cx="318211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Remove members</a:t>
            </a:r>
          </a:p>
        </p:txBody>
      </p:sp>
      <p:sp>
        <p:nvSpPr>
          <p:cNvPr id="48" name="a1wd600_td47"/>
          <p:cNvSpPr/>
          <p:nvPr/>
        </p:nvSpPr>
        <p:spPr>
          <a:xfrm>
            <a:off x="4343400" y="3794760"/>
            <a:ext cx="329184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1wd600_tdt48"/>
          <p:cNvSpPr txBox="1"/>
          <p:nvPr/>
        </p:nvSpPr>
        <p:spPr>
          <a:xfrm>
            <a:off x="4416552" y="3794760"/>
            <a:ext cx="318211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Drop a whole score window - the window trim</a:t>
            </a:r>
          </a:p>
        </p:txBody>
      </p:sp>
      <p:sp>
        <p:nvSpPr>
          <p:cNvPr id="50" name="a1wd660_td49"/>
          <p:cNvSpPr/>
          <p:nvPr/>
        </p:nvSpPr>
        <p:spPr>
          <a:xfrm>
            <a:off x="4343400" y="4059935"/>
            <a:ext cx="329184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a1wd660_tdt50"/>
          <p:cNvSpPr txBox="1"/>
          <p:nvPr/>
        </p:nvSpPr>
        <p:spPr>
          <a:xfrm>
            <a:off x="4416552" y="4059935"/>
            <a:ext cx="318211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Pop the lowest or highest - a priority queue</a:t>
            </a:r>
          </a:p>
        </p:txBody>
      </p:sp>
      <p:sp>
        <p:nvSpPr>
          <p:cNvPr id="52" name="a1f_th51"/>
          <p:cNvSpPr/>
          <p:nvPr/>
        </p:nvSpPr>
        <p:spPr>
          <a:xfrm>
            <a:off x="7635240" y="1143000"/>
            <a:ext cx="1051560" cy="26517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a1f_tht52"/>
          <p:cNvSpPr txBox="1"/>
          <p:nvPr/>
        </p:nvSpPr>
        <p:spPr>
          <a:xfrm>
            <a:off x="7708392" y="1143000"/>
            <a:ext cx="94183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54" name="a1wd60_td53"/>
          <p:cNvSpPr/>
          <p:nvPr/>
        </p:nvSpPr>
        <p:spPr>
          <a:xfrm>
            <a:off x="7635240" y="1408176"/>
            <a:ext cx="10515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a1wd60_tdt54"/>
          <p:cNvSpPr txBox="1"/>
          <p:nvPr/>
        </p:nvSpPr>
        <p:spPr>
          <a:xfrm>
            <a:off x="7708392" y="1408176"/>
            <a:ext cx="94183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O(log n)</a:t>
            </a:r>
          </a:p>
        </p:txBody>
      </p:sp>
      <p:sp>
        <p:nvSpPr>
          <p:cNvPr id="56" name="a1wd120_td55"/>
          <p:cNvSpPr/>
          <p:nvPr/>
        </p:nvSpPr>
        <p:spPr>
          <a:xfrm>
            <a:off x="7635240" y="1673352"/>
            <a:ext cx="10515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a1wd120_tdt56"/>
          <p:cNvSpPr txBox="1"/>
          <p:nvPr/>
        </p:nvSpPr>
        <p:spPr>
          <a:xfrm>
            <a:off x="7708392" y="1673352"/>
            <a:ext cx="94183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O(log n)</a:t>
            </a:r>
          </a:p>
        </p:txBody>
      </p:sp>
      <p:sp>
        <p:nvSpPr>
          <p:cNvPr id="58" name="a1wd180_td57"/>
          <p:cNvSpPr/>
          <p:nvPr/>
        </p:nvSpPr>
        <p:spPr>
          <a:xfrm>
            <a:off x="7635240" y="1938528"/>
            <a:ext cx="10515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a1wd180_tdt58"/>
          <p:cNvSpPr txBox="1"/>
          <p:nvPr/>
        </p:nvSpPr>
        <p:spPr>
          <a:xfrm>
            <a:off x="7708392" y="1938528"/>
            <a:ext cx="94183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60" name="a1wd240_td59"/>
          <p:cNvSpPr/>
          <p:nvPr/>
        </p:nvSpPr>
        <p:spPr>
          <a:xfrm>
            <a:off x="7635240" y="2203704"/>
            <a:ext cx="10515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a1wd240_tdt60"/>
          <p:cNvSpPr txBox="1"/>
          <p:nvPr/>
        </p:nvSpPr>
        <p:spPr>
          <a:xfrm>
            <a:off x="7708392" y="2203704"/>
            <a:ext cx="94183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O(log n)</a:t>
            </a:r>
          </a:p>
        </p:txBody>
      </p:sp>
      <p:sp>
        <p:nvSpPr>
          <p:cNvPr id="62" name="a1wd300_td61"/>
          <p:cNvSpPr/>
          <p:nvPr/>
        </p:nvSpPr>
        <p:spPr>
          <a:xfrm>
            <a:off x="7635240" y="2468880"/>
            <a:ext cx="10515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a1wd300_tdt62"/>
          <p:cNvSpPr txBox="1"/>
          <p:nvPr/>
        </p:nvSpPr>
        <p:spPr>
          <a:xfrm>
            <a:off x="7708392" y="2468880"/>
            <a:ext cx="94183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O(log n+k)</a:t>
            </a:r>
          </a:p>
        </p:txBody>
      </p:sp>
      <p:sp>
        <p:nvSpPr>
          <p:cNvPr id="64" name="a1wd360_td63"/>
          <p:cNvSpPr/>
          <p:nvPr/>
        </p:nvSpPr>
        <p:spPr>
          <a:xfrm>
            <a:off x="7635240" y="2734056"/>
            <a:ext cx="10515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a1wd360_tdt64"/>
          <p:cNvSpPr txBox="1"/>
          <p:nvPr/>
        </p:nvSpPr>
        <p:spPr>
          <a:xfrm>
            <a:off x="7708392" y="2734056"/>
            <a:ext cx="94183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O(log n+k)</a:t>
            </a:r>
          </a:p>
        </p:txBody>
      </p:sp>
      <p:sp>
        <p:nvSpPr>
          <p:cNvPr id="66" name="a1wd420_td65"/>
          <p:cNvSpPr/>
          <p:nvPr/>
        </p:nvSpPr>
        <p:spPr>
          <a:xfrm>
            <a:off x="7635240" y="2999232"/>
            <a:ext cx="10515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a1wd420_tdt66"/>
          <p:cNvSpPr txBox="1"/>
          <p:nvPr/>
        </p:nvSpPr>
        <p:spPr>
          <a:xfrm>
            <a:off x="7708392" y="2999232"/>
            <a:ext cx="94183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O(log n)</a:t>
            </a:r>
          </a:p>
        </p:txBody>
      </p:sp>
      <p:sp>
        <p:nvSpPr>
          <p:cNvPr id="68" name="a1wd480_td67"/>
          <p:cNvSpPr/>
          <p:nvPr/>
        </p:nvSpPr>
        <p:spPr>
          <a:xfrm>
            <a:off x="7635240" y="3264408"/>
            <a:ext cx="10515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a1wd480_tdt68"/>
          <p:cNvSpPr txBox="1"/>
          <p:nvPr/>
        </p:nvSpPr>
        <p:spPr>
          <a:xfrm>
            <a:off x="7708392" y="3264408"/>
            <a:ext cx="94183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70" name="a1wd540_td69"/>
          <p:cNvSpPr/>
          <p:nvPr/>
        </p:nvSpPr>
        <p:spPr>
          <a:xfrm>
            <a:off x="7635240" y="3529584"/>
            <a:ext cx="10515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a1wd540_tdt70"/>
          <p:cNvSpPr txBox="1"/>
          <p:nvPr/>
        </p:nvSpPr>
        <p:spPr>
          <a:xfrm>
            <a:off x="7708392" y="3529584"/>
            <a:ext cx="94183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O(log n)</a:t>
            </a:r>
          </a:p>
        </p:txBody>
      </p:sp>
      <p:sp>
        <p:nvSpPr>
          <p:cNvPr id="72" name="a1wd600_td71"/>
          <p:cNvSpPr/>
          <p:nvPr/>
        </p:nvSpPr>
        <p:spPr>
          <a:xfrm>
            <a:off x="7635240" y="3794760"/>
            <a:ext cx="10515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a1wd600_tdt72"/>
          <p:cNvSpPr txBox="1"/>
          <p:nvPr/>
        </p:nvSpPr>
        <p:spPr>
          <a:xfrm>
            <a:off x="7708392" y="3794760"/>
            <a:ext cx="94183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O(log n+k)</a:t>
            </a:r>
          </a:p>
        </p:txBody>
      </p:sp>
      <p:sp>
        <p:nvSpPr>
          <p:cNvPr id="74" name="a1wd660_td73"/>
          <p:cNvSpPr/>
          <p:nvPr/>
        </p:nvSpPr>
        <p:spPr>
          <a:xfrm>
            <a:off x="7635240" y="4059935"/>
            <a:ext cx="10515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a1wd660_tdt74"/>
          <p:cNvSpPr txBox="1"/>
          <p:nvPr/>
        </p:nvSpPr>
        <p:spPr>
          <a:xfrm>
            <a:off x="7708392" y="4059935"/>
            <a:ext cx="94183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O(log n)</a:t>
            </a:r>
          </a:p>
        </p:txBody>
      </p:sp>
      <p:sp>
        <p:nvSpPr>
          <p:cNvPr id="76" name="a2u_card75"/>
          <p:cNvSpPr/>
          <p:nvPr/>
        </p:nvSpPr>
        <p:spPr>
          <a:xfrm>
            <a:off x="457200" y="4187952"/>
            <a:ext cx="3931920" cy="77724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a2u_acc76"/>
          <p:cNvSpPr/>
          <p:nvPr/>
        </p:nvSpPr>
        <p:spPr>
          <a:xfrm>
            <a:off x="457200" y="4187952"/>
            <a:ext cx="50292" cy="7772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a2ud20_uh77"/>
          <p:cNvSpPr txBox="1"/>
          <p:nvPr/>
        </p:nvSpPr>
        <p:spPr>
          <a:xfrm>
            <a:off x="658368" y="4279392"/>
            <a:ext cx="352958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B45309"/>
                </a:solidFill>
                <a:latin typeface="Calibri"/>
              </a:rPr>
              <a:t>USE CASE · LIVE BRANCH LEADERBOARD</a:t>
            </a:r>
          </a:p>
        </p:txBody>
      </p:sp>
      <p:sp>
        <p:nvSpPr>
          <p:cNvPr id="79" name="a2fd80_codebg78"/>
          <p:cNvSpPr/>
          <p:nvPr/>
        </p:nvSpPr>
        <p:spPr>
          <a:xfrm>
            <a:off x="658368" y="4535424"/>
            <a:ext cx="3529584" cy="379476"/>
          </a:xfrm>
          <a:prstGeom prst="roundRect">
            <a:avLst>
              <a:gd name="adj" fmla="val 1927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a2wd80_code79"/>
          <p:cNvSpPr txBox="1"/>
          <p:nvPr/>
        </p:nvSpPr>
        <p:spPr>
          <a:xfrm>
            <a:off x="749808" y="4626864"/>
            <a:ext cx="3346703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4B5FD"/>
                </a:solidFill>
                <a:latin typeface="Courier New"/>
              </a:rPr>
              <a:t>ZINCRBY lb:branch:2026-09 2500 BR-MUM-014</a:t>
            </a:r>
          </a:p>
        </p:txBody>
      </p:sp>
      <p:sp>
        <p:nvSpPr>
          <p:cNvPr id="81" name="a3u_card80"/>
          <p:cNvSpPr/>
          <p:nvPr/>
        </p:nvSpPr>
        <p:spPr>
          <a:xfrm>
            <a:off x="4754880" y="4187952"/>
            <a:ext cx="3931920" cy="77724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a3u_acc81"/>
          <p:cNvSpPr/>
          <p:nvPr/>
        </p:nvSpPr>
        <p:spPr>
          <a:xfrm>
            <a:off x="4754880" y="4187952"/>
            <a:ext cx="50292" cy="7772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a3ud20_uh82"/>
          <p:cNvSpPr txBox="1"/>
          <p:nvPr/>
        </p:nvSpPr>
        <p:spPr>
          <a:xfrm>
            <a:off x="4956048" y="4279392"/>
            <a:ext cx="352958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Calibri"/>
              </a:rPr>
              <a:t>USE CASE · DELAYED JOBS - SCORE IS THE DUE TIME</a:t>
            </a:r>
          </a:p>
        </p:txBody>
      </p:sp>
      <p:sp>
        <p:nvSpPr>
          <p:cNvPr id="84" name="a3fd80_codebg83"/>
          <p:cNvSpPr/>
          <p:nvPr/>
        </p:nvSpPr>
        <p:spPr>
          <a:xfrm>
            <a:off x="4956048" y="4535424"/>
            <a:ext cx="3529584" cy="379476"/>
          </a:xfrm>
          <a:prstGeom prst="roundRect">
            <a:avLst>
              <a:gd name="adj" fmla="val 1927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a3wd80_code84"/>
          <p:cNvSpPr txBox="1"/>
          <p:nvPr/>
        </p:nvSpPr>
        <p:spPr>
          <a:xfrm>
            <a:off x="5047488" y="4626864"/>
            <a:ext cx="3346703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4B5FD"/>
                </a:solidFill>
                <a:latin typeface="Courier New"/>
              </a:rPr>
              <a:t>ZRANGEBYSCORE jobs:due 0 &lt;now&gt; LIMIT 0 100</a:t>
            </a:r>
          </a:p>
        </p:txBody>
      </p:sp>
      <p:sp>
        <p:nvSpPr>
          <p:cNvPr id="86" name="ft85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87" name="ft8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5 · Commands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2" presetClass="entr" presetSubtype="4" fill="hold" grpId="0" nodeType="with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2" presetClass="entr" presetSubtype="4" fill="hold" grpId="0" nodeType="with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A78BFA"/>
                </a:solidFill>
                <a:latin typeface="Calibri"/>
              </a:rPr>
              <a:t>04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Transactions &amp; Scripts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When one command is not enough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MULTI / EXEC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WATCH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EVAL / Lua</a:t>
            </a:r>
          </a:p>
        </p:txBody>
      </p:sp>
      <p:sp>
        <p:nvSpPr>
          <p:cNvPr id="8" name="a0ud1050_pill7"/>
          <p:cNvSpPr/>
          <p:nvPr/>
        </p:nvSpPr>
        <p:spPr>
          <a:xfrm>
            <a:off x="5532120" y="2752344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Pub/Sub</a:t>
            </a:r>
          </a:p>
        </p:txBody>
      </p:sp>
      <p:sp>
        <p:nvSpPr>
          <p:cNvPr id="9" name="a0ud1200_pill8"/>
          <p:cNvSpPr/>
          <p:nvPr/>
        </p:nvSpPr>
        <p:spPr>
          <a:xfrm>
            <a:off x="5532120" y="3227832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Streams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Transactions · MULTI, EXEC and WATCH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Not a SQL transaction - queued commands with optimistic locking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4160520" cy="3017520"/>
          </a:xfrm>
          <a:prstGeom prst="roundRect">
            <a:avLst>
              <a:gd name="adj" fmla="val 242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codeh4"/>
          <p:cNvSpPr txBox="1"/>
          <p:nvPr/>
        </p:nvSpPr>
        <p:spPr>
          <a:xfrm>
            <a:off x="621792" y="1197864"/>
            <a:ext cx="383133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transaction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621792" y="1581912"/>
            <a:ext cx="3831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WATCH icici:bal:9003        # optimistic lock</a:t>
            </a:r>
          </a:p>
        </p:txBody>
      </p:sp>
      <p:sp>
        <p:nvSpPr>
          <p:cNvPr id="7" name="a1wd75_code6"/>
          <p:cNvSpPr txBox="1"/>
          <p:nvPr/>
        </p:nvSpPr>
        <p:spPr>
          <a:xfrm>
            <a:off x="621792" y="1783080"/>
            <a:ext cx="3831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GET   icici:bal:9003</a:t>
            </a:r>
          </a:p>
        </p:txBody>
      </p:sp>
      <p:sp>
        <p:nvSpPr>
          <p:cNvPr id="8" name="a1wd150_code7"/>
          <p:cNvSpPr txBox="1"/>
          <p:nvPr/>
        </p:nvSpPr>
        <p:spPr>
          <a:xfrm>
            <a:off x="621792" y="1984248"/>
            <a:ext cx="3831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"341244.80"</a:t>
            </a:r>
          </a:p>
        </p:txBody>
      </p:sp>
      <p:sp>
        <p:nvSpPr>
          <p:cNvPr id="9" name="a1wd225_code8"/>
          <p:cNvSpPr txBox="1"/>
          <p:nvPr/>
        </p:nvSpPr>
        <p:spPr>
          <a:xfrm>
            <a:off x="621792" y="2185416"/>
            <a:ext cx="3831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MULTI</a:t>
            </a:r>
          </a:p>
        </p:txBody>
      </p:sp>
      <p:sp>
        <p:nvSpPr>
          <p:cNvPr id="10" name="a1wd300_code9"/>
          <p:cNvSpPr txBox="1"/>
          <p:nvPr/>
        </p:nvSpPr>
        <p:spPr>
          <a:xfrm>
            <a:off x="621792" y="2386584"/>
            <a:ext cx="3831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OK</a:t>
            </a:r>
          </a:p>
        </p:txBody>
      </p:sp>
      <p:sp>
        <p:nvSpPr>
          <p:cNvPr id="11" name="a1wd375_code10"/>
          <p:cNvSpPr txBox="1"/>
          <p:nvPr/>
        </p:nvSpPr>
        <p:spPr>
          <a:xfrm>
            <a:off x="621792" y="2587752"/>
            <a:ext cx="3831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DECRBY icici:bal:9003 2500</a:t>
            </a:r>
          </a:p>
        </p:txBody>
      </p:sp>
      <p:sp>
        <p:nvSpPr>
          <p:cNvPr id="12" name="a1wd450_code11"/>
          <p:cNvSpPr txBox="1"/>
          <p:nvPr/>
        </p:nvSpPr>
        <p:spPr>
          <a:xfrm>
            <a:off x="621792" y="2788920"/>
            <a:ext cx="3831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QUEUED</a:t>
            </a:r>
          </a:p>
        </p:txBody>
      </p:sp>
      <p:sp>
        <p:nvSpPr>
          <p:cNvPr id="13" name="a1wd525_code12"/>
          <p:cNvSpPr txBox="1"/>
          <p:nvPr/>
        </p:nvSpPr>
        <p:spPr>
          <a:xfrm>
            <a:off x="621792" y="2990088"/>
            <a:ext cx="3831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INCR   icici:cnt:debits</a:t>
            </a:r>
          </a:p>
        </p:txBody>
      </p:sp>
      <p:sp>
        <p:nvSpPr>
          <p:cNvPr id="14" name="a1wd600_code13"/>
          <p:cNvSpPr txBox="1"/>
          <p:nvPr/>
        </p:nvSpPr>
        <p:spPr>
          <a:xfrm>
            <a:off x="621792" y="3191256"/>
            <a:ext cx="3831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QUEUED</a:t>
            </a:r>
          </a:p>
        </p:txBody>
      </p:sp>
      <p:sp>
        <p:nvSpPr>
          <p:cNvPr id="15" name="a1wd675_code14"/>
          <p:cNvSpPr txBox="1"/>
          <p:nvPr/>
        </p:nvSpPr>
        <p:spPr>
          <a:xfrm>
            <a:off x="621792" y="3392424"/>
            <a:ext cx="3831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EXEC</a:t>
            </a:r>
          </a:p>
        </p:txBody>
      </p:sp>
      <p:sp>
        <p:nvSpPr>
          <p:cNvPr id="16" name="a1wd750_code15"/>
          <p:cNvSpPr txBox="1"/>
          <p:nvPr/>
        </p:nvSpPr>
        <p:spPr>
          <a:xfrm>
            <a:off x="621792" y="3593592"/>
            <a:ext cx="3831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1) (integer) 338744     2) (integer) 4412</a:t>
            </a:r>
          </a:p>
        </p:txBody>
      </p:sp>
      <p:sp>
        <p:nvSpPr>
          <p:cNvPr id="17" name="a1wd825_code16"/>
          <p:cNvSpPr txBox="1"/>
          <p:nvPr/>
        </p:nvSpPr>
        <p:spPr>
          <a:xfrm>
            <a:off x="621792" y="3794760"/>
            <a:ext cx="3831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(nil)  &lt;- if the watched key changed</a:t>
            </a:r>
          </a:p>
        </p:txBody>
      </p:sp>
      <p:sp>
        <p:nvSpPr>
          <p:cNvPr id="18" name="a2u_card17"/>
          <p:cNvSpPr/>
          <p:nvPr/>
        </p:nvSpPr>
        <p:spPr>
          <a:xfrm>
            <a:off x="4800600" y="1143000"/>
            <a:ext cx="3886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u_hh18"/>
          <p:cNvSpPr txBox="1"/>
          <p:nvPr/>
        </p:nvSpPr>
        <p:spPr>
          <a:xfrm>
            <a:off x="4983480" y="1252728"/>
            <a:ext cx="352044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6D28D9"/>
                </a:solidFill>
                <a:latin typeface="Calibri"/>
              </a:rPr>
              <a:t>HOW IT DIFFERS FROM SQL</a:t>
            </a:r>
          </a:p>
        </p:txBody>
      </p:sp>
      <p:sp>
        <p:nvSpPr>
          <p:cNvPr id="20" name="a2ud60_dot19"/>
          <p:cNvSpPr/>
          <p:nvPr/>
        </p:nvSpPr>
        <p:spPr>
          <a:xfrm>
            <a:off x="4983480" y="1609344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ud60_b20"/>
          <p:cNvSpPr txBox="1"/>
          <p:nvPr/>
        </p:nvSpPr>
        <p:spPr>
          <a:xfrm>
            <a:off x="5202936" y="1508760"/>
            <a:ext cx="33009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0F172A"/>
                </a:solidFill>
                <a:latin typeface="Calibri"/>
              </a:rPr>
              <a:t>Atomic  </a:t>
            </a:r>
            <a:r>
              <a:rPr sz="950" b="0">
                <a:solidFill>
                  <a:srgbClr val="334155"/>
                </a:solidFill>
                <a:latin typeface="Calibri"/>
              </a:rPr>
              <a:t>all commands run with nothing in between</a:t>
            </a:r>
          </a:p>
        </p:txBody>
      </p:sp>
      <p:sp>
        <p:nvSpPr>
          <p:cNvPr id="22" name="a2ud155_dot21"/>
          <p:cNvSpPr/>
          <p:nvPr/>
        </p:nvSpPr>
        <p:spPr>
          <a:xfrm>
            <a:off x="4983480" y="1901952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2ud155_b22"/>
          <p:cNvSpPr txBox="1"/>
          <p:nvPr/>
        </p:nvSpPr>
        <p:spPr>
          <a:xfrm>
            <a:off x="5202936" y="1801368"/>
            <a:ext cx="33009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0F172A"/>
                </a:solidFill>
                <a:latin typeface="Calibri"/>
              </a:rPr>
              <a:t>No rollback  </a:t>
            </a:r>
            <a:r>
              <a:rPr sz="950" b="0">
                <a:solidFill>
                  <a:srgbClr val="334155"/>
                </a:solidFill>
                <a:latin typeface="Calibri"/>
              </a:rPr>
              <a:t>a failing command does not undo the others</a:t>
            </a:r>
          </a:p>
        </p:txBody>
      </p:sp>
      <p:sp>
        <p:nvSpPr>
          <p:cNvPr id="24" name="a2ud250_dot23"/>
          <p:cNvSpPr/>
          <p:nvPr/>
        </p:nvSpPr>
        <p:spPr>
          <a:xfrm>
            <a:off x="4983480" y="2194560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2ud250_b24"/>
          <p:cNvSpPr txBox="1"/>
          <p:nvPr/>
        </p:nvSpPr>
        <p:spPr>
          <a:xfrm>
            <a:off x="5202936" y="2093976"/>
            <a:ext cx="33009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0F172A"/>
                </a:solidFill>
                <a:latin typeface="Calibri"/>
              </a:rPr>
              <a:t>No isolation levels  </a:t>
            </a:r>
            <a:r>
              <a:rPr sz="950" b="0">
                <a:solidFill>
                  <a:srgbClr val="334155"/>
                </a:solidFill>
                <a:latin typeface="Calibri"/>
              </a:rPr>
              <a:t>the single thread is the isolation</a:t>
            </a:r>
          </a:p>
        </p:txBody>
      </p:sp>
      <p:sp>
        <p:nvSpPr>
          <p:cNvPr id="26" name="a2ud345_dot25"/>
          <p:cNvSpPr/>
          <p:nvPr/>
        </p:nvSpPr>
        <p:spPr>
          <a:xfrm>
            <a:off x="4983480" y="2487168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2ud345_b26"/>
          <p:cNvSpPr txBox="1"/>
          <p:nvPr/>
        </p:nvSpPr>
        <p:spPr>
          <a:xfrm>
            <a:off x="5202936" y="2386584"/>
            <a:ext cx="33009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0F172A"/>
                </a:solidFill>
                <a:latin typeface="Calibri"/>
              </a:rPr>
              <a:t>WATCH  </a:t>
            </a:r>
            <a:r>
              <a:rPr sz="950" b="0">
                <a:solidFill>
                  <a:srgbClr val="334155"/>
                </a:solidFill>
                <a:latin typeface="Calibri"/>
              </a:rPr>
              <a:t>EXEC aborts if a watched key changed</a:t>
            </a:r>
          </a:p>
        </p:txBody>
      </p:sp>
      <p:sp>
        <p:nvSpPr>
          <p:cNvPr id="28" name="a3u_card27"/>
          <p:cNvSpPr/>
          <p:nvPr/>
        </p:nvSpPr>
        <p:spPr>
          <a:xfrm>
            <a:off x="4800600" y="2880360"/>
            <a:ext cx="3886200" cy="1417320"/>
          </a:xfrm>
          <a:prstGeom prst="roundRect">
            <a:avLst>
              <a:gd name="adj" fmla="val 6451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3u_hh28"/>
          <p:cNvSpPr txBox="1"/>
          <p:nvPr/>
        </p:nvSpPr>
        <p:spPr>
          <a:xfrm>
            <a:off x="4983480" y="2990088"/>
            <a:ext cx="352044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WHEN TO USE WHICH</a:t>
            </a:r>
          </a:p>
        </p:txBody>
      </p:sp>
      <p:sp>
        <p:nvSpPr>
          <p:cNvPr id="30" name="a3u_wk29"/>
          <p:cNvSpPr txBox="1"/>
          <p:nvPr/>
        </p:nvSpPr>
        <p:spPr>
          <a:xfrm>
            <a:off x="4983480" y="3264408"/>
            <a:ext cx="10515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14B8A6"/>
                </a:solidFill>
                <a:latin typeface="Courier New"/>
              </a:rPr>
              <a:t>MULTI/EXEC</a:t>
            </a:r>
          </a:p>
        </p:txBody>
      </p:sp>
      <p:sp>
        <p:nvSpPr>
          <p:cNvPr id="31" name="a3u_wv30"/>
          <p:cNvSpPr txBox="1"/>
          <p:nvPr/>
        </p:nvSpPr>
        <p:spPr>
          <a:xfrm>
            <a:off x="6080760" y="3264408"/>
            <a:ext cx="2423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CBD5E1"/>
                </a:solidFill>
                <a:latin typeface="Calibri"/>
              </a:rPr>
              <a:t>a fixed batch that must run together</a:t>
            </a:r>
          </a:p>
        </p:txBody>
      </p:sp>
      <p:sp>
        <p:nvSpPr>
          <p:cNvPr id="32" name="a3ud90_wk31"/>
          <p:cNvSpPr txBox="1"/>
          <p:nvPr/>
        </p:nvSpPr>
        <p:spPr>
          <a:xfrm>
            <a:off x="4983480" y="3593591"/>
            <a:ext cx="10515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14B8A6"/>
                </a:solidFill>
                <a:latin typeface="Courier New"/>
              </a:rPr>
              <a:t>WATCH</a:t>
            </a:r>
          </a:p>
        </p:txBody>
      </p:sp>
      <p:sp>
        <p:nvSpPr>
          <p:cNvPr id="33" name="a3ud90_wv32"/>
          <p:cNvSpPr txBox="1"/>
          <p:nvPr/>
        </p:nvSpPr>
        <p:spPr>
          <a:xfrm>
            <a:off x="6080760" y="3593591"/>
            <a:ext cx="2423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CBD5E1"/>
                </a:solidFill>
                <a:latin typeface="Calibri"/>
              </a:rPr>
              <a:t>read, decide, then write - check-and-set</a:t>
            </a:r>
          </a:p>
        </p:txBody>
      </p:sp>
      <p:sp>
        <p:nvSpPr>
          <p:cNvPr id="34" name="a3ud180_wk33"/>
          <p:cNvSpPr txBox="1"/>
          <p:nvPr/>
        </p:nvSpPr>
        <p:spPr>
          <a:xfrm>
            <a:off x="4983480" y="3922776"/>
            <a:ext cx="10515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14B8A6"/>
                </a:solidFill>
                <a:latin typeface="Courier New"/>
              </a:rPr>
              <a:t>Lua (EVAL)</a:t>
            </a:r>
          </a:p>
        </p:txBody>
      </p:sp>
      <p:sp>
        <p:nvSpPr>
          <p:cNvPr id="35" name="a3ud180_wv34"/>
          <p:cNvSpPr txBox="1"/>
          <p:nvPr/>
        </p:nvSpPr>
        <p:spPr>
          <a:xfrm>
            <a:off x="6080760" y="3922776"/>
            <a:ext cx="2423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CBD5E1"/>
                </a:solidFill>
                <a:latin typeface="Calibri"/>
              </a:rPr>
              <a:t>logic that depends on values read mid-way</a:t>
            </a:r>
          </a:p>
        </p:txBody>
      </p:sp>
      <p:sp>
        <p:nvSpPr>
          <p:cNvPr id="36" name="a4u_nb35"/>
          <p:cNvSpPr/>
          <p:nvPr/>
        </p:nvSpPr>
        <p:spPr>
          <a:xfrm>
            <a:off x="457200" y="4050791"/>
            <a:ext cx="4160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4u_nacc36"/>
          <p:cNvSpPr/>
          <p:nvPr/>
        </p:nvSpPr>
        <p:spPr>
          <a:xfrm>
            <a:off x="457200" y="4050791"/>
            <a:ext cx="50292" cy="566928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a4u_nt37"/>
          <p:cNvSpPr txBox="1"/>
          <p:nvPr/>
        </p:nvSpPr>
        <p:spPr>
          <a:xfrm>
            <a:off x="658368" y="4050791"/>
            <a:ext cx="3758183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DC382C"/>
                </a:solidFill>
                <a:latin typeface="Calibri"/>
              </a:rPr>
              <a:t>!  </a:t>
            </a:r>
            <a:r>
              <a:rPr sz="950" b="0">
                <a:solidFill>
                  <a:srgbClr val="334155"/>
                </a:solidFill>
                <a:latin typeface="Calibri"/>
              </a:rPr>
              <a:t>Redis is not the ledger. Use transactions for cache consistency, never to move money - that belongs in PostgreSQL.</a:t>
            </a:r>
          </a:p>
        </p:txBody>
      </p:sp>
      <p:sp>
        <p:nvSpPr>
          <p:cNvPr id="39" name="ft38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40" name="ft39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5 · Commands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7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7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67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155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155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Lua Scripting · Atomic Logic on the Server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When the decision depends on a value you have to read first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4937760" cy="2866644"/>
          </a:xfrm>
          <a:prstGeom prst="roundRect">
            <a:avLst>
              <a:gd name="adj" fmla="val 255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codeh4"/>
          <p:cNvSpPr txBox="1"/>
          <p:nvPr/>
        </p:nvSpPr>
        <p:spPr>
          <a:xfrm>
            <a:off x="621792" y="1197864"/>
            <a:ext cx="460857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rate_limit.lua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621792" y="1581912"/>
            <a:ext cx="460857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urier New"/>
              </a:rPr>
              <a:t>-- fixed-window rate limiter, fully atomic</a:t>
            </a:r>
          </a:p>
        </p:txBody>
      </p:sp>
      <p:sp>
        <p:nvSpPr>
          <p:cNvPr id="7" name="a1wd80_code6"/>
          <p:cNvSpPr txBox="1"/>
          <p:nvPr/>
        </p:nvSpPr>
        <p:spPr>
          <a:xfrm>
            <a:off x="621792" y="1787652"/>
            <a:ext cx="460857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local n = redis.call("INCR", KEYS[1])</a:t>
            </a:r>
          </a:p>
        </p:txBody>
      </p:sp>
      <p:sp>
        <p:nvSpPr>
          <p:cNvPr id="8" name="a1wd160_code7"/>
          <p:cNvSpPr txBox="1"/>
          <p:nvPr/>
        </p:nvSpPr>
        <p:spPr>
          <a:xfrm>
            <a:off x="621792" y="1993392"/>
            <a:ext cx="460857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if n == 1 then</a:t>
            </a:r>
          </a:p>
        </p:txBody>
      </p:sp>
      <p:sp>
        <p:nvSpPr>
          <p:cNvPr id="9" name="a1wd240_code8"/>
          <p:cNvSpPr txBox="1"/>
          <p:nvPr/>
        </p:nvSpPr>
        <p:spPr>
          <a:xfrm>
            <a:off x="621792" y="2199132"/>
            <a:ext cx="460857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  redis.call("EXPIRE", KEYS[1], ARGV[1])</a:t>
            </a:r>
          </a:p>
        </p:txBody>
      </p:sp>
      <p:sp>
        <p:nvSpPr>
          <p:cNvPr id="10" name="a1wd320_code9"/>
          <p:cNvSpPr txBox="1"/>
          <p:nvPr/>
        </p:nvSpPr>
        <p:spPr>
          <a:xfrm>
            <a:off x="621792" y="2404872"/>
            <a:ext cx="460857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end</a:t>
            </a:r>
          </a:p>
        </p:txBody>
      </p:sp>
      <p:sp>
        <p:nvSpPr>
          <p:cNvPr id="11" name="a1wd400_code10"/>
          <p:cNvSpPr txBox="1"/>
          <p:nvPr/>
        </p:nvSpPr>
        <p:spPr>
          <a:xfrm>
            <a:off x="621792" y="2610612"/>
            <a:ext cx="460857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if n &gt; tonumber(ARGV[2]) then return 0 end</a:t>
            </a:r>
          </a:p>
        </p:txBody>
      </p:sp>
      <p:sp>
        <p:nvSpPr>
          <p:cNvPr id="12" name="a1wd480_code11"/>
          <p:cNvSpPr txBox="1"/>
          <p:nvPr/>
        </p:nvSpPr>
        <p:spPr>
          <a:xfrm>
            <a:off x="621792" y="2816352"/>
            <a:ext cx="460857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return 1</a:t>
            </a:r>
          </a:p>
        </p:txBody>
      </p:sp>
      <p:sp>
        <p:nvSpPr>
          <p:cNvPr id="13" name="a1wd560_code12"/>
          <p:cNvSpPr txBox="1"/>
          <p:nvPr/>
        </p:nvSpPr>
        <p:spPr>
          <a:xfrm>
            <a:off x="621792" y="3022091"/>
            <a:ext cx="460857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4" name="a1wd640_code13"/>
          <p:cNvSpPr txBox="1"/>
          <p:nvPr/>
        </p:nvSpPr>
        <p:spPr>
          <a:xfrm>
            <a:off x="621792" y="3227832"/>
            <a:ext cx="460857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EVAL &lt;script&gt; 1 icici:rl:9003:2026092114 60 100</a:t>
            </a:r>
          </a:p>
        </p:txBody>
      </p:sp>
      <p:sp>
        <p:nvSpPr>
          <p:cNvPr id="15" name="a1wd720_code14"/>
          <p:cNvSpPr txBox="1"/>
          <p:nvPr/>
        </p:nvSpPr>
        <p:spPr>
          <a:xfrm>
            <a:off x="621792" y="3433572"/>
            <a:ext cx="460857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(integer) 1     # allowed</a:t>
            </a:r>
          </a:p>
        </p:txBody>
      </p:sp>
      <p:sp>
        <p:nvSpPr>
          <p:cNvPr id="16" name="a1wd800_code15"/>
          <p:cNvSpPr txBox="1"/>
          <p:nvPr/>
        </p:nvSpPr>
        <p:spPr>
          <a:xfrm>
            <a:off x="621792" y="3639312"/>
            <a:ext cx="460857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(integer) 0     # throttled</a:t>
            </a:r>
          </a:p>
        </p:txBody>
      </p:sp>
      <p:sp>
        <p:nvSpPr>
          <p:cNvPr id="17" name="a2u_card16"/>
          <p:cNvSpPr/>
          <p:nvPr/>
        </p:nvSpPr>
        <p:spPr>
          <a:xfrm>
            <a:off x="5577840" y="1143000"/>
            <a:ext cx="31089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u_hh17"/>
          <p:cNvSpPr txBox="1"/>
          <p:nvPr/>
        </p:nvSpPr>
        <p:spPr>
          <a:xfrm>
            <a:off x="5760720" y="1252728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DC382C"/>
                </a:solidFill>
                <a:latin typeface="Calibri"/>
              </a:rPr>
              <a:t>WHY NOT TWO COMMANDS?</a:t>
            </a:r>
          </a:p>
        </p:txBody>
      </p:sp>
      <p:sp>
        <p:nvSpPr>
          <p:cNvPr id="19" name="a2ud60_wt18"/>
          <p:cNvSpPr txBox="1"/>
          <p:nvPr/>
        </p:nvSpPr>
        <p:spPr>
          <a:xfrm>
            <a:off x="5760720" y="1527048"/>
            <a:ext cx="27432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INCR then EXPIRE from the client leaves a window: if the process dies between them, the counter has no TTL and that client is throttled forever. In Lua the whole script is one atomic step.</a:t>
            </a:r>
          </a:p>
        </p:txBody>
      </p:sp>
      <p:sp>
        <p:nvSpPr>
          <p:cNvPr id="20" name="a3f_th19"/>
          <p:cNvSpPr/>
          <p:nvPr/>
        </p:nvSpPr>
        <p:spPr>
          <a:xfrm>
            <a:off x="457200" y="3520440"/>
            <a:ext cx="3383280" cy="29260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3f_tht20"/>
          <p:cNvSpPr txBox="1"/>
          <p:nvPr/>
        </p:nvSpPr>
        <p:spPr>
          <a:xfrm>
            <a:off x="530352" y="3520440"/>
            <a:ext cx="327355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ourier New"/>
              </a:rPr>
              <a:t>Command</a:t>
            </a:r>
          </a:p>
        </p:txBody>
      </p:sp>
      <p:sp>
        <p:nvSpPr>
          <p:cNvPr id="22" name="a3wd110_td21"/>
          <p:cNvSpPr/>
          <p:nvPr/>
        </p:nvSpPr>
        <p:spPr>
          <a:xfrm>
            <a:off x="457200" y="3813048"/>
            <a:ext cx="3383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3wd110_tdt22"/>
          <p:cNvSpPr txBox="1"/>
          <p:nvPr/>
        </p:nvSpPr>
        <p:spPr>
          <a:xfrm>
            <a:off x="530352" y="3813048"/>
            <a:ext cx="327355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SCRIPT LOAD "&lt;lua&gt;"</a:t>
            </a:r>
          </a:p>
        </p:txBody>
      </p:sp>
      <p:sp>
        <p:nvSpPr>
          <p:cNvPr id="24" name="a3wd220_td23"/>
          <p:cNvSpPr/>
          <p:nvPr/>
        </p:nvSpPr>
        <p:spPr>
          <a:xfrm>
            <a:off x="457200" y="4105656"/>
            <a:ext cx="3383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3wd220_tdt24"/>
          <p:cNvSpPr txBox="1"/>
          <p:nvPr/>
        </p:nvSpPr>
        <p:spPr>
          <a:xfrm>
            <a:off x="530352" y="4105656"/>
            <a:ext cx="327355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EVALSHA &lt;sha1&gt; numkeys k [args]</a:t>
            </a:r>
          </a:p>
        </p:txBody>
      </p:sp>
      <p:sp>
        <p:nvSpPr>
          <p:cNvPr id="26" name="a3wd330_td25"/>
          <p:cNvSpPr/>
          <p:nvPr/>
        </p:nvSpPr>
        <p:spPr>
          <a:xfrm>
            <a:off x="457200" y="4398264"/>
            <a:ext cx="3383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3wd330_tdt26"/>
          <p:cNvSpPr txBox="1"/>
          <p:nvPr/>
        </p:nvSpPr>
        <p:spPr>
          <a:xfrm>
            <a:off x="530352" y="4398264"/>
            <a:ext cx="327355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SCRIPT EXISTS &lt;sha1&gt;</a:t>
            </a:r>
          </a:p>
        </p:txBody>
      </p:sp>
      <p:sp>
        <p:nvSpPr>
          <p:cNvPr id="28" name="a3wd440_td27"/>
          <p:cNvSpPr/>
          <p:nvPr/>
        </p:nvSpPr>
        <p:spPr>
          <a:xfrm>
            <a:off x="457200" y="4690872"/>
            <a:ext cx="3383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3wd440_tdt28"/>
          <p:cNvSpPr txBox="1"/>
          <p:nvPr/>
        </p:nvSpPr>
        <p:spPr>
          <a:xfrm>
            <a:off x="530352" y="4690872"/>
            <a:ext cx="327355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urier New"/>
              </a:rPr>
              <a:t>FUNCTION LOAD ...</a:t>
            </a:r>
          </a:p>
        </p:txBody>
      </p:sp>
      <p:sp>
        <p:nvSpPr>
          <p:cNvPr id="30" name="a3f_th29"/>
          <p:cNvSpPr/>
          <p:nvPr/>
        </p:nvSpPr>
        <p:spPr>
          <a:xfrm>
            <a:off x="3840480" y="3520440"/>
            <a:ext cx="3794760" cy="29260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3f_tht30"/>
          <p:cNvSpPr txBox="1"/>
          <p:nvPr/>
        </p:nvSpPr>
        <p:spPr>
          <a:xfrm>
            <a:off x="3913632" y="3520440"/>
            <a:ext cx="368503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32" name="a3wd110_td31"/>
          <p:cNvSpPr/>
          <p:nvPr/>
        </p:nvSpPr>
        <p:spPr>
          <a:xfrm>
            <a:off x="3840480" y="3813048"/>
            <a:ext cx="37947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3wd110_tdt32"/>
          <p:cNvSpPr txBox="1"/>
          <p:nvPr/>
        </p:nvSpPr>
        <p:spPr>
          <a:xfrm>
            <a:off x="3913632" y="3813048"/>
            <a:ext cx="368503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Cache the script, get its SHA1</a:t>
            </a:r>
          </a:p>
        </p:txBody>
      </p:sp>
      <p:sp>
        <p:nvSpPr>
          <p:cNvPr id="34" name="a3wd220_td33"/>
          <p:cNvSpPr/>
          <p:nvPr/>
        </p:nvSpPr>
        <p:spPr>
          <a:xfrm>
            <a:off x="3840480" y="4105656"/>
            <a:ext cx="37947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3wd220_tdt34"/>
          <p:cNvSpPr txBox="1"/>
          <p:nvPr/>
        </p:nvSpPr>
        <p:spPr>
          <a:xfrm>
            <a:off x="3913632" y="4105656"/>
            <a:ext cx="368503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Run it by hash - saves sending the body</a:t>
            </a:r>
          </a:p>
        </p:txBody>
      </p:sp>
      <p:sp>
        <p:nvSpPr>
          <p:cNvPr id="36" name="a3wd330_td35"/>
          <p:cNvSpPr/>
          <p:nvPr/>
        </p:nvSpPr>
        <p:spPr>
          <a:xfrm>
            <a:off x="3840480" y="4398264"/>
            <a:ext cx="37947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3wd330_tdt36"/>
          <p:cNvSpPr txBox="1"/>
          <p:nvPr/>
        </p:nvSpPr>
        <p:spPr>
          <a:xfrm>
            <a:off x="3913632" y="4398264"/>
            <a:ext cx="368503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Is it still cached after a restart</a:t>
            </a:r>
          </a:p>
        </p:txBody>
      </p:sp>
      <p:sp>
        <p:nvSpPr>
          <p:cNvPr id="38" name="a3wd440_td37"/>
          <p:cNvSpPr/>
          <p:nvPr/>
        </p:nvSpPr>
        <p:spPr>
          <a:xfrm>
            <a:off x="3840480" y="4690872"/>
            <a:ext cx="37947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3wd440_tdt38"/>
          <p:cNvSpPr txBox="1"/>
          <p:nvPr/>
        </p:nvSpPr>
        <p:spPr>
          <a:xfrm>
            <a:off x="3913632" y="4690872"/>
            <a:ext cx="368503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Redis 7 functions - named, persisted, replicated</a:t>
            </a:r>
          </a:p>
        </p:txBody>
      </p:sp>
      <p:sp>
        <p:nvSpPr>
          <p:cNvPr id="40" name="a3f_th39"/>
          <p:cNvSpPr/>
          <p:nvPr/>
        </p:nvSpPr>
        <p:spPr>
          <a:xfrm>
            <a:off x="7635240" y="3520440"/>
            <a:ext cx="1051560" cy="2926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3f_tht40"/>
          <p:cNvSpPr txBox="1"/>
          <p:nvPr/>
        </p:nvSpPr>
        <p:spPr>
          <a:xfrm>
            <a:off x="7708392" y="3520440"/>
            <a:ext cx="94183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42" name="a3wd110_td41"/>
          <p:cNvSpPr/>
          <p:nvPr/>
        </p:nvSpPr>
        <p:spPr>
          <a:xfrm>
            <a:off x="7635240" y="3813048"/>
            <a:ext cx="10515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3wd110_tdt42"/>
          <p:cNvSpPr txBox="1"/>
          <p:nvPr/>
        </p:nvSpPr>
        <p:spPr>
          <a:xfrm>
            <a:off x="7708392" y="3813048"/>
            <a:ext cx="94183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O(n)</a:t>
            </a:r>
          </a:p>
        </p:txBody>
      </p:sp>
      <p:sp>
        <p:nvSpPr>
          <p:cNvPr id="44" name="a3wd220_td43"/>
          <p:cNvSpPr/>
          <p:nvPr/>
        </p:nvSpPr>
        <p:spPr>
          <a:xfrm>
            <a:off x="7635240" y="4105656"/>
            <a:ext cx="10515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3wd220_tdt44"/>
          <p:cNvSpPr txBox="1"/>
          <p:nvPr/>
        </p:nvSpPr>
        <p:spPr>
          <a:xfrm>
            <a:off x="7708392" y="4105656"/>
            <a:ext cx="94183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depends</a:t>
            </a:r>
          </a:p>
        </p:txBody>
      </p:sp>
      <p:sp>
        <p:nvSpPr>
          <p:cNvPr id="46" name="a3wd330_td45"/>
          <p:cNvSpPr/>
          <p:nvPr/>
        </p:nvSpPr>
        <p:spPr>
          <a:xfrm>
            <a:off x="7635240" y="4398264"/>
            <a:ext cx="10515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3wd330_tdt46"/>
          <p:cNvSpPr txBox="1"/>
          <p:nvPr/>
        </p:nvSpPr>
        <p:spPr>
          <a:xfrm>
            <a:off x="7708392" y="4398264"/>
            <a:ext cx="94183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48" name="a3wd440_td47"/>
          <p:cNvSpPr/>
          <p:nvPr/>
        </p:nvSpPr>
        <p:spPr>
          <a:xfrm>
            <a:off x="7635240" y="4690872"/>
            <a:ext cx="10515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3wd440_tdt48"/>
          <p:cNvSpPr txBox="1"/>
          <p:nvPr/>
        </p:nvSpPr>
        <p:spPr>
          <a:xfrm>
            <a:off x="7708392" y="4690872"/>
            <a:ext cx="94183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O(n)</a:t>
            </a:r>
          </a:p>
        </p:txBody>
      </p:sp>
      <p:sp>
        <p:nvSpPr>
          <p:cNvPr id="50" name="ft49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51" name="ft5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5 · Commands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Pub/Sub and Stream Commands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Fire-and-forget messaging, and the durable log that replaced it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43000"/>
            <a:ext cx="39319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acc4"/>
          <p:cNvSpPr/>
          <p:nvPr/>
        </p:nvSpPr>
        <p:spPr>
          <a:xfrm>
            <a:off x="457200" y="1143000"/>
            <a:ext cx="50292" cy="21488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_hh5"/>
          <p:cNvSpPr txBox="1"/>
          <p:nvPr/>
        </p:nvSpPr>
        <p:spPr>
          <a:xfrm>
            <a:off x="658368" y="1252728"/>
            <a:ext cx="352958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B45309"/>
                </a:solidFill>
                <a:latin typeface="Calibri"/>
              </a:rPr>
              <a:t>PUB/SUB · NOTHING IS STORED</a:t>
            </a:r>
          </a:p>
        </p:txBody>
      </p:sp>
      <p:sp>
        <p:nvSpPr>
          <p:cNvPr id="7" name="a1f_th6"/>
          <p:cNvSpPr/>
          <p:nvPr/>
        </p:nvSpPr>
        <p:spPr>
          <a:xfrm>
            <a:off x="658368" y="1508760"/>
            <a:ext cx="1600200" cy="2560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a1f_tht7"/>
          <p:cNvSpPr txBox="1"/>
          <p:nvPr/>
        </p:nvSpPr>
        <p:spPr>
          <a:xfrm>
            <a:off x="731519" y="1508760"/>
            <a:ext cx="14904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Courier New"/>
              </a:rPr>
              <a:t>Command</a:t>
            </a:r>
          </a:p>
        </p:txBody>
      </p:sp>
      <p:sp>
        <p:nvSpPr>
          <p:cNvPr id="9" name="a1wd90_td8"/>
          <p:cNvSpPr/>
          <p:nvPr/>
        </p:nvSpPr>
        <p:spPr>
          <a:xfrm>
            <a:off x="658368" y="1764792"/>
            <a:ext cx="16002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wd90_tdt9"/>
          <p:cNvSpPr txBox="1"/>
          <p:nvPr/>
        </p:nvSpPr>
        <p:spPr>
          <a:xfrm>
            <a:off x="731519" y="1764792"/>
            <a:ext cx="14904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334155"/>
                </a:solidFill>
                <a:latin typeface="Courier New"/>
              </a:rPr>
              <a:t>SUBSCRIBE ch [ch ...]</a:t>
            </a:r>
          </a:p>
        </p:txBody>
      </p:sp>
      <p:sp>
        <p:nvSpPr>
          <p:cNvPr id="11" name="a1wd180_td10"/>
          <p:cNvSpPr/>
          <p:nvPr/>
        </p:nvSpPr>
        <p:spPr>
          <a:xfrm>
            <a:off x="658368" y="2020824"/>
            <a:ext cx="16002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wd180_tdt11"/>
          <p:cNvSpPr txBox="1"/>
          <p:nvPr/>
        </p:nvSpPr>
        <p:spPr>
          <a:xfrm>
            <a:off x="731519" y="2020824"/>
            <a:ext cx="14904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334155"/>
                </a:solidFill>
                <a:latin typeface="Courier New"/>
              </a:rPr>
              <a:t>PSUBSCRIBE fraud.*</a:t>
            </a:r>
          </a:p>
        </p:txBody>
      </p:sp>
      <p:sp>
        <p:nvSpPr>
          <p:cNvPr id="13" name="a1wd270_td12"/>
          <p:cNvSpPr/>
          <p:nvPr/>
        </p:nvSpPr>
        <p:spPr>
          <a:xfrm>
            <a:off x="658368" y="2276856"/>
            <a:ext cx="16002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wd270_tdt13"/>
          <p:cNvSpPr txBox="1"/>
          <p:nvPr/>
        </p:nvSpPr>
        <p:spPr>
          <a:xfrm>
            <a:off x="731519" y="2276856"/>
            <a:ext cx="14904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334155"/>
                </a:solidFill>
                <a:latin typeface="Courier New"/>
              </a:rPr>
              <a:t>PUBLISH ch message</a:t>
            </a:r>
          </a:p>
        </p:txBody>
      </p:sp>
      <p:sp>
        <p:nvSpPr>
          <p:cNvPr id="15" name="a1wd360_td14"/>
          <p:cNvSpPr/>
          <p:nvPr/>
        </p:nvSpPr>
        <p:spPr>
          <a:xfrm>
            <a:off x="658368" y="2532888"/>
            <a:ext cx="16002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wd360_tdt15"/>
          <p:cNvSpPr txBox="1"/>
          <p:nvPr/>
        </p:nvSpPr>
        <p:spPr>
          <a:xfrm>
            <a:off x="731519" y="2532888"/>
            <a:ext cx="14904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334155"/>
                </a:solidFill>
                <a:latin typeface="Courier New"/>
              </a:rPr>
              <a:t>PUBSUB CHANNELS</a:t>
            </a:r>
          </a:p>
        </p:txBody>
      </p:sp>
      <p:sp>
        <p:nvSpPr>
          <p:cNvPr id="17" name="a1f_th16"/>
          <p:cNvSpPr/>
          <p:nvPr/>
        </p:nvSpPr>
        <p:spPr>
          <a:xfrm>
            <a:off x="2258568" y="1508760"/>
            <a:ext cx="1234440" cy="25603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1f_tht17"/>
          <p:cNvSpPr txBox="1"/>
          <p:nvPr/>
        </p:nvSpPr>
        <p:spPr>
          <a:xfrm>
            <a:off x="2331720" y="1508760"/>
            <a:ext cx="112471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19" name="a1wd90_td18"/>
          <p:cNvSpPr/>
          <p:nvPr/>
        </p:nvSpPr>
        <p:spPr>
          <a:xfrm>
            <a:off x="2258568" y="1764792"/>
            <a:ext cx="12344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1wd90_tdt19"/>
          <p:cNvSpPr txBox="1"/>
          <p:nvPr/>
        </p:nvSpPr>
        <p:spPr>
          <a:xfrm>
            <a:off x="2331720" y="1764792"/>
            <a:ext cx="112471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334155"/>
                </a:solidFill>
                <a:latin typeface="Calibri"/>
              </a:rPr>
              <a:t>Listen on channels</a:t>
            </a:r>
          </a:p>
        </p:txBody>
      </p:sp>
      <p:sp>
        <p:nvSpPr>
          <p:cNvPr id="21" name="a1wd180_td20"/>
          <p:cNvSpPr/>
          <p:nvPr/>
        </p:nvSpPr>
        <p:spPr>
          <a:xfrm>
            <a:off x="2258568" y="2020824"/>
            <a:ext cx="12344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1wd180_tdt21"/>
          <p:cNvSpPr txBox="1"/>
          <p:nvPr/>
        </p:nvSpPr>
        <p:spPr>
          <a:xfrm>
            <a:off x="2331720" y="2020824"/>
            <a:ext cx="112471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334155"/>
                </a:solidFill>
                <a:latin typeface="Calibri"/>
              </a:rPr>
              <a:t>Listen on a pattern</a:t>
            </a:r>
          </a:p>
        </p:txBody>
      </p:sp>
      <p:sp>
        <p:nvSpPr>
          <p:cNvPr id="23" name="a1wd270_td22"/>
          <p:cNvSpPr/>
          <p:nvPr/>
        </p:nvSpPr>
        <p:spPr>
          <a:xfrm>
            <a:off x="2258568" y="2276856"/>
            <a:ext cx="12344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1wd270_tdt23"/>
          <p:cNvSpPr txBox="1"/>
          <p:nvPr/>
        </p:nvSpPr>
        <p:spPr>
          <a:xfrm>
            <a:off x="2331720" y="2276856"/>
            <a:ext cx="112471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334155"/>
                </a:solidFill>
                <a:latin typeface="Calibri"/>
              </a:rPr>
              <a:t>Send to all current subscribers</a:t>
            </a:r>
          </a:p>
        </p:txBody>
      </p:sp>
      <p:sp>
        <p:nvSpPr>
          <p:cNvPr id="25" name="a1wd360_td24"/>
          <p:cNvSpPr/>
          <p:nvPr/>
        </p:nvSpPr>
        <p:spPr>
          <a:xfrm>
            <a:off x="2258568" y="2532888"/>
            <a:ext cx="12344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1wd360_tdt25"/>
          <p:cNvSpPr txBox="1"/>
          <p:nvPr/>
        </p:nvSpPr>
        <p:spPr>
          <a:xfrm>
            <a:off x="2331720" y="2532888"/>
            <a:ext cx="112471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334155"/>
                </a:solidFill>
                <a:latin typeface="Calibri"/>
              </a:rPr>
              <a:t>Which channels have listeners</a:t>
            </a:r>
          </a:p>
        </p:txBody>
      </p:sp>
      <p:sp>
        <p:nvSpPr>
          <p:cNvPr id="27" name="a1f_th26"/>
          <p:cNvSpPr/>
          <p:nvPr/>
        </p:nvSpPr>
        <p:spPr>
          <a:xfrm>
            <a:off x="3493008" y="1508760"/>
            <a:ext cx="694944" cy="25603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1f_tht27"/>
          <p:cNvSpPr txBox="1"/>
          <p:nvPr/>
        </p:nvSpPr>
        <p:spPr>
          <a:xfrm>
            <a:off x="3566160" y="1508760"/>
            <a:ext cx="58521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29" name="a1wd90_td28"/>
          <p:cNvSpPr/>
          <p:nvPr/>
        </p:nvSpPr>
        <p:spPr>
          <a:xfrm>
            <a:off x="3493008" y="1764792"/>
            <a:ext cx="69494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1wd90_tdt29"/>
          <p:cNvSpPr txBox="1"/>
          <p:nvPr/>
        </p:nvSpPr>
        <p:spPr>
          <a:xfrm>
            <a:off x="3566160" y="1764792"/>
            <a:ext cx="58521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334155"/>
                </a:solidFill>
                <a:latin typeface="Calibri"/>
              </a:rPr>
              <a:t>O(n)</a:t>
            </a:r>
          </a:p>
        </p:txBody>
      </p:sp>
      <p:sp>
        <p:nvSpPr>
          <p:cNvPr id="31" name="a1wd180_td30"/>
          <p:cNvSpPr/>
          <p:nvPr/>
        </p:nvSpPr>
        <p:spPr>
          <a:xfrm>
            <a:off x="3493008" y="2020824"/>
            <a:ext cx="69494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1wd180_tdt31"/>
          <p:cNvSpPr txBox="1"/>
          <p:nvPr/>
        </p:nvSpPr>
        <p:spPr>
          <a:xfrm>
            <a:off x="3566160" y="2020824"/>
            <a:ext cx="58521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334155"/>
                </a:solidFill>
                <a:latin typeface="Calibri"/>
              </a:rPr>
              <a:t>O(n)</a:t>
            </a:r>
          </a:p>
        </p:txBody>
      </p:sp>
      <p:sp>
        <p:nvSpPr>
          <p:cNvPr id="33" name="a1wd270_td32"/>
          <p:cNvSpPr/>
          <p:nvPr/>
        </p:nvSpPr>
        <p:spPr>
          <a:xfrm>
            <a:off x="3493008" y="2276856"/>
            <a:ext cx="69494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1wd270_tdt33"/>
          <p:cNvSpPr txBox="1"/>
          <p:nvPr/>
        </p:nvSpPr>
        <p:spPr>
          <a:xfrm>
            <a:off x="3566160" y="2276856"/>
            <a:ext cx="58521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334155"/>
                </a:solidFill>
                <a:latin typeface="Calibri"/>
              </a:rPr>
              <a:t>O(n+m)</a:t>
            </a:r>
          </a:p>
        </p:txBody>
      </p:sp>
      <p:sp>
        <p:nvSpPr>
          <p:cNvPr id="35" name="a1wd360_td34"/>
          <p:cNvSpPr/>
          <p:nvPr/>
        </p:nvSpPr>
        <p:spPr>
          <a:xfrm>
            <a:off x="3493008" y="2532888"/>
            <a:ext cx="69494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1wd360_tdt35"/>
          <p:cNvSpPr txBox="1"/>
          <p:nvPr/>
        </p:nvSpPr>
        <p:spPr>
          <a:xfrm>
            <a:off x="3566160" y="2532888"/>
            <a:ext cx="58521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334155"/>
                </a:solidFill>
                <a:latin typeface="Calibri"/>
              </a:rPr>
              <a:t>O(n)</a:t>
            </a:r>
          </a:p>
        </p:txBody>
      </p:sp>
      <p:sp>
        <p:nvSpPr>
          <p:cNvPr id="37" name="a1ud450_pn36"/>
          <p:cNvSpPr txBox="1"/>
          <p:nvPr/>
        </p:nvSpPr>
        <p:spPr>
          <a:xfrm>
            <a:off x="658368" y="2880360"/>
            <a:ext cx="352958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A subscriber that is offline when you PUBLISH never receives the message. There is no replay.</a:t>
            </a:r>
          </a:p>
        </p:txBody>
      </p:sp>
      <p:sp>
        <p:nvSpPr>
          <p:cNvPr id="38" name="a2u_card37"/>
          <p:cNvSpPr/>
          <p:nvPr/>
        </p:nvSpPr>
        <p:spPr>
          <a:xfrm>
            <a:off x="4754880" y="1143000"/>
            <a:ext cx="39319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2u_acc38"/>
          <p:cNvSpPr/>
          <p:nvPr/>
        </p:nvSpPr>
        <p:spPr>
          <a:xfrm>
            <a:off x="4754880" y="1143000"/>
            <a:ext cx="50292" cy="21488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2u_hh39"/>
          <p:cNvSpPr txBox="1"/>
          <p:nvPr/>
        </p:nvSpPr>
        <p:spPr>
          <a:xfrm>
            <a:off x="4956048" y="1252728"/>
            <a:ext cx="352958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6D28D9"/>
                </a:solidFill>
                <a:latin typeface="Calibri"/>
              </a:rPr>
              <a:t>STREAMS · PERSISTED AND REPLAYABLE</a:t>
            </a:r>
          </a:p>
        </p:txBody>
      </p:sp>
      <p:sp>
        <p:nvSpPr>
          <p:cNvPr id="41" name="a2f_th40"/>
          <p:cNvSpPr/>
          <p:nvPr/>
        </p:nvSpPr>
        <p:spPr>
          <a:xfrm>
            <a:off x="4956048" y="1508760"/>
            <a:ext cx="1600200" cy="24688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2f_tht41"/>
          <p:cNvSpPr txBox="1"/>
          <p:nvPr/>
        </p:nvSpPr>
        <p:spPr>
          <a:xfrm>
            <a:off x="5029200" y="1508760"/>
            <a:ext cx="149047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Courier New"/>
              </a:rPr>
              <a:t>Command</a:t>
            </a:r>
          </a:p>
        </p:txBody>
      </p:sp>
      <p:sp>
        <p:nvSpPr>
          <p:cNvPr id="43" name="a2wd75_td42"/>
          <p:cNvSpPr/>
          <p:nvPr/>
        </p:nvSpPr>
        <p:spPr>
          <a:xfrm>
            <a:off x="4956048" y="1755648"/>
            <a:ext cx="16002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a2wd75_tdt43"/>
          <p:cNvSpPr txBox="1"/>
          <p:nvPr/>
        </p:nvSpPr>
        <p:spPr>
          <a:xfrm>
            <a:off x="5029200" y="1755648"/>
            <a:ext cx="149047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334155"/>
                </a:solidFill>
                <a:latin typeface="Courier New"/>
              </a:rPr>
              <a:t>XADD key * f v [f v]</a:t>
            </a:r>
          </a:p>
        </p:txBody>
      </p:sp>
      <p:sp>
        <p:nvSpPr>
          <p:cNvPr id="45" name="a2wd150_td44"/>
          <p:cNvSpPr/>
          <p:nvPr/>
        </p:nvSpPr>
        <p:spPr>
          <a:xfrm>
            <a:off x="4956048" y="2002536"/>
            <a:ext cx="16002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a2wd150_tdt45"/>
          <p:cNvSpPr txBox="1"/>
          <p:nvPr/>
        </p:nvSpPr>
        <p:spPr>
          <a:xfrm>
            <a:off x="5029200" y="2002536"/>
            <a:ext cx="149047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334155"/>
                </a:solidFill>
                <a:latin typeface="Courier New"/>
              </a:rPr>
              <a:t>XLEN / XRANGE key s e</a:t>
            </a:r>
          </a:p>
        </p:txBody>
      </p:sp>
      <p:sp>
        <p:nvSpPr>
          <p:cNvPr id="47" name="a2wd225_td46"/>
          <p:cNvSpPr/>
          <p:nvPr/>
        </p:nvSpPr>
        <p:spPr>
          <a:xfrm>
            <a:off x="4956048" y="2249424"/>
            <a:ext cx="16002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a2wd225_tdt47"/>
          <p:cNvSpPr txBox="1"/>
          <p:nvPr/>
        </p:nvSpPr>
        <p:spPr>
          <a:xfrm>
            <a:off x="5029200" y="2249424"/>
            <a:ext cx="149047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334155"/>
                </a:solidFill>
                <a:latin typeface="Courier New"/>
              </a:rPr>
              <a:t>XGROUP CREATE key g id</a:t>
            </a:r>
          </a:p>
        </p:txBody>
      </p:sp>
      <p:sp>
        <p:nvSpPr>
          <p:cNvPr id="49" name="a2wd300_td48"/>
          <p:cNvSpPr/>
          <p:nvPr/>
        </p:nvSpPr>
        <p:spPr>
          <a:xfrm>
            <a:off x="4956048" y="2496312"/>
            <a:ext cx="16002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a2wd300_tdt49"/>
          <p:cNvSpPr txBox="1"/>
          <p:nvPr/>
        </p:nvSpPr>
        <p:spPr>
          <a:xfrm>
            <a:off x="5029200" y="2496312"/>
            <a:ext cx="149047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334155"/>
                </a:solidFill>
                <a:latin typeface="Courier New"/>
              </a:rPr>
              <a:t>XREADGROUP GROUP g c ...</a:t>
            </a:r>
          </a:p>
        </p:txBody>
      </p:sp>
      <p:sp>
        <p:nvSpPr>
          <p:cNvPr id="51" name="a2wd375_td50"/>
          <p:cNvSpPr/>
          <p:nvPr/>
        </p:nvSpPr>
        <p:spPr>
          <a:xfrm>
            <a:off x="4956048" y="2743200"/>
            <a:ext cx="16002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a2wd375_tdt51"/>
          <p:cNvSpPr txBox="1"/>
          <p:nvPr/>
        </p:nvSpPr>
        <p:spPr>
          <a:xfrm>
            <a:off x="5029200" y="2743200"/>
            <a:ext cx="149047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334155"/>
                </a:solidFill>
                <a:latin typeface="Courier New"/>
              </a:rPr>
              <a:t>XACK key g id</a:t>
            </a:r>
          </a:p>
        </p:txBody>
      </p:sp>
      <p:sp>
        <p:nvSpPr>
          <p:cNvPr id="53" name="a2wd450_td52"/>
          <p:cNvSpPr/>
          <p:nvPr/>
        </p:nvSpPr>
        <p:spPr>
          <a:xfrm>
            <a:off x="4956048" y="2990088"/>
            <a:ext cx="16002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a2wd450_tdt53"/>
          <p:cNvSpPr txBox="1"/>
          <p:nvPr/>
        </p:nvSpPr>
        <p:spPr>
          <a:xfrm>
            <a:off x="5029200" y="2990088"/>
            <a:ext cx="149047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334155"/>
                </a:solidFill>
                <a:latin typeface="Courier New"/>
              </a:rPr>
              <a:t>XTRIM key MAXLEN ~ 10000</a:t>
            </a:r>
          </a:p>
        </p:txBody>
      </p:sp>
      <p:sp>
        <p:nvSpPr>
          <p:cNvPr id="55" name="a2f_th54"/>
          <p:cNvSpPr/>
          <p:nvPr/>
        </p:nvSpPr>
        <p:spPr>
          <a:xfrm>
            <a:off x="6556248" y="1508760"/>
            <a:ext cx="1234440" cy="24688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a2f_tht55"/>
          <p:cNvSpPr txBox="1"/>
          <p:nvPr/>
        </p:nvSpPr>
        <p:spPr>
          <a:xfrm>
            <a:off x="6629400" y="1508760"/>
            <a:ext cx="112471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57" name="a2wd75_td56"/>
          <p:cNvSpPr/>
          <p:nvPr/>
        </p:nvSpPr>
        <p:spPr>
          <a:xfrm>
            <a:off x="6556248" y="1755648"/>
            <a:ext cx="123444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a2wd75_tdt57"/>
          <p:cNvSpPr txBox="1"/>
          <p:nvPr/>
        </p:nvSpPr>
        <p:spPr>
          <a:xfrm>
            <a:off x="6629400" y="1755648"/>
            <a:ext cx="112471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334155"/>
                </a:solidFill>
                <a:latin typeface="Calibri"/>
              </a:rPr>
              <a:t>Append an entry, get its ID</a:t>
            </a:r>
          </a:p>
        </p:txBody>
      </p:sp>
      <p:sp>
        <p:nvSpPr>
          <p:cNvPr id="59" name="a2wd150_td58"/>
          <p:cNvSpPr/>
          <p:nvPr/>
        </p:nvSpPr>
        <p:spPr>
          <a:xfrm>
            <a:off x="6556248" y="2002536"/>
            <a:ext cx="123444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a2wd150_tdt59"/>
          <p:cNvSpPr txBox="1"/>
          <p:nvPr/>
        </p:nvSpPr>
        <p:spPr>
          <a:xfrm>
            <a:off x="6629400" y="2002536"/>
            <a:ext cx="112471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334155"/>
                </a:solidFill>
                <a:latin typeface="Calibri"/>
              </a:rPr>
              <a:t>Count; read a time range</a:t>
            </a:r>
          </a:p>
        </p:txBody>
      </p:sp>
      <p:sp>
        <p:nvSpPr>
          <p:cNvPr id="61" name="a2wd225_td60"/>
          <p:cNvSpPr/>
          <p:nvPr/>
        </p:nvSpPr>
        <p:spPr>
          <a:xfrm>
            <a:off x="6556248" y="2249424"/>
            <a:ext cx="123444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a2wd225_tdt61"/>
          <p:cNvSpPr txBox="1"/>
          <p:nvPr/>
        </p:nvSpPr>
        <p:spPr>
          <a:xfrm>
            <a:off x="6629400" y="2249424"/>
            <a:ext cx="112471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334155"/>
                </a:solidFill>
                <a:latin typeface="Calibri"/>
              </a:rPr>
              <a:t>Create a consumer group</a:t>
            </a:r>
          </a:p>
        </p:txBody>
      </p:sp>
      <p:sp>
        <p:nvSpPr>
          <p:cNvPr id="63" name="a2wd300_td62"/>
          <p:cNvSpPr/>
          <p:nvPr/>
        </p:nvSpPr>
        <p:spPr>
          <a:xfrm>
            <a:off x="6556248" y="2496312"/>
            <a:ext cx="123444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a2wd300_tdt63"/>
          <p:cNvSpPr txBox="1"/>
          <p:nvPr/>
        </p:nvSpPr>
        <p:spPr>
          <a:xfrm>
            <a:off x="6629400" y="2496312"/>
            <a:ext cx="112471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334155"/>
                </a:solidFill>
                <a:latin typeface="Calibri"/>
              </a:rPr>
              <a:t>Read as a group member</a:t>
            </a:r>
          </a:p>
        </p:txBody>
      </p:sp>
      <p:sp>
        <p:nvSpPr>
          <p:cNvPr id="65" name="a2wd375_td64"/>
          <p:cNvSpPr/>
          <p:nvPr/>
        </p:nvSpPr>
        <p:spPr>
          <a:xfrm>
            <a:off x="6556248" y="2743200"/>
            <a:ext cx="123444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a2wd375_tdt65"/>
          <p:cNvSpPr txBox="1"/>
          <p:nvPr/>
        </p:nvSpPr>
        <p:spPr>
          <a:xfrm>
            <a:off x="6629400" y="2743200"/>
            <a:ext cx="112471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334155"/>
                </a:solidFill>
                <a:latin typeface="Calibri"/>
              </a:rPr>
              <a:t>Mark an entry processed</a:t>
            </a:r>
          </a:p>
        </p:txBody>
      </p:sp>
      <p:sp>
        <p:nvSpPr>
          <p:cNvPr id="67" name="a2wd450_td66"/>
          <p:cNvSpPr/>
          <p:nvPr/>
        </p:nvSpPr>
        <p:spPr>
          <a:xfrm>
            <a:off x="6556248" y="2990088"/>
            <a:ext cx="123444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a2wd450_tdt67"/>
          <p:cNvSpPr txBox="1"/>
          <p:nvPr/>
        </p:nvSpPr>
        <p:spPr>
          <a:xfrm>
            <a:off x="6629400" y="2990088"/>
            <a:ext cx="112471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334155"/>
                </a:solidFill>
                <a:latin typeface="Calibri"/>
              </a:rPr>
              <a:t>Cap the stream length</a:t>
            </a:r>
          </a:p>
        </p:txBody>
      </p:sp>
      <p:sp>
        <p:nvSpPr>
          <p:cNvPr id="69" name="a2f_th68"/>
          <p:cNvSpPr/>
          <p:nvPr/>
        </p:nvSpPr>
        <p:spPr>
          <a:xfrm>
            <a:off x="7790688" y="1508760"/>
            <a:ext cx="694944" cy="24688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a2f_tht69"/>
          <p:cNvSpPr txBox="1"/>
          <p:nvPr/>
        </p:nvSpPr>
        <p:spPr>
          <a:xfrm>
            <a:off x="7863840" y="1508760"/>
            <a:ext cx="585216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71" name="a2wd75_td70"/>
          <p:cNvSpPr/>
          <p:nvPr/>
        </p:nvSpPr>
        <p:spPr>
          <a:xfrm>
            <a:off x="7790688" y="1755648"/>
            <a:ext cx="694944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a2wd75_tdt71"/>
          <p:cNvSpPr txBox="1"/>
          <p:nvPr/>
        </p:nvSpPr>
        <p:spPr>
          <a:xfrm>
            <a:off x="7863840" y="1755648"/>
            <a:ext cx="585216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73" name="a2wd150_td72"/>
          <p:cNvSpPr/>
          <p:nvPr/>
        </p:nvSpPr>
        <p:spPr>
          <a:xfrm>
            <a:off x="7790688" y="2002536"/>
            <a:ext cx="694944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a2wd150_tdt73"/>
          <p:cNvSpPr txBox="1"/>
          <p:nvPr/>
        </p:nvSpPr>
        <p:spPr>
          <a:xfrm>
            <a:off x="7863840" y="2002536"/>
            <a:ext cx="585216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334155"/>
                </a:solidFill>
                <a:latin typeface="Calibri"/>
              </a:rPr>
              <a:t>O(1)/O(n)</a:t>
            </a:r>
          </a:p>
        </p:txBody>
      </p:sp>
      <p:sp>
        <p:nvSpPr>
          <p:cNvPr id="75" name="a2wd225_td74"/>
          <p:cNvSpPr/>
          <p:nvPr/>
        </p:nvSpPr>
        <p:spPr>
          <a:xfrm>
            <a:off x="7790688" y="2249424"/>
            <a:ext cx="694944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a2wd225_tdt75"/>
          <p:cNvSpPr txBox="1"/>
          <p:nvPr/>
        </p:nvSpPr>
        <p:spPr>
          <a:xfrm>
            <a:off x="7863840" y="2249424"/>
            <a:ext cx="585216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77" name="a2wd300_td76"/>
          <p:cNvSpPr/>
          <p:nvPr/>
        </p:nvSpPr>
        <p:spPr>
          <a:xfrm>
            <a:off x="7790688" y="2496312"/>
            <a:ext cx="694944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a2wd300_tdt77"/>
          <p:cNvSpPr txBox="1"/>
          <p:nvPr/>
        </p:nvSpPr>
        <p:spPr>
          <a:xfrm>
            <a:off x="7863840" y="2496312"/>
            <a:ext cx="585216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334155"/>
                </a:solidFill>
                <a:latin typeface="Calibri"/>
              </a:rPr>
              <a:t>O(n)</a:t>
            </a:r>
          </a:p>
        </p:txBody>
      </p:sp>
      <p:sp>
        <p:nvSpPr>
          <p:cNvPr id="79" name="a2wd375_td78"/>
          <p:cNvSpPr/>
          <p:nvPr/>
        </p:nvSpPr>
        <p:spPr>
          <a:xfrm>
            <a:off x="7790688" y="2743200"/>
            <a:ext cx="694944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a2wd375_tdt79"/>
          <p:cNvSpPr txBox="1"/>
          <p:nvPr/>
        </p:nvSpPr>
        <p:spPr>
          <a:xfrm>
            <a:off x="7863840" y="2743200"/>
            <a:ext cx="585216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334155"/>
                </a:solidFill>
                <a:latin typeface="Calibri"/>
              </a:rPr>
              <a:t>O(1)</a:t>
            </a:r>
          </a:p>
        </p:txBody>
      </p:sp>
      <p:sp>
        <p:nvSpPr>
          <p:cNvPr id="81" name="a2wd450_td80"/>
          <p:cNvSpPr/>
          <p:nvPr/>
        </p:nvSpPr>
        <p:spPr>
          <a:xfrm>
            <a:off x="7790688" y="2990088"/>
            <a:ext cx="694944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a2wd450_tdt81"/>
          <p:cNvSpPr txBox="1"/>
          <p:nvPr/>
        </p:nvSpPr>
        <p:spPr>
          <a:xfrm>
            <a:off x="7863840" y="2990088"/>
            <a:ext cx="585216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334155"/>
                </a:solidFill>
                <a:latin typeface="Calibri"/>
              </a:rPr>
              <a:t>O(n)</a:t>
            </a:r>
          </a:p>
        </p:txBody>
      </p:sp>
      <p:sp>
        <p:nvSpPr>
          <p:cNvPr id="83" name="a3u_card82"/>
          <p:cNvSpPr/>
          <p:nvPr/>
        </p:nvSpPr>
        <p:spPr>
          <a:xfrm>
            <a:off x="457200" y="3429000"/>
            <a:ext cx="8229600" cy="96012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a3u_acc83"/>
          <p:cNvSpPr/>
          <p:nvPr/>
        </p:nvSpPr>
        <p:spPr>
          <a:xfrm>
            <a:off x="457200" y="3429000"/>
            <a:ext cx="50292" cy="9601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a3ud20_uh84"/>
          <p:cNvSpPr txBox="1"/>
          <p:nvPr/>
        </p:nvSpPr>
        <p:spPr>
          <a:xfrm>
            <a:off x="658368" y="3520440"/>
            <a:ext cx="782726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6D28D9"/>
                </a:solidFill>
                <a:latin typeface="Calibri"/>
              </a:rPr>
              <a:t>USE CASE · FRAUD ALERT FAN-OUT</a:t>
            </a:r>
          </a:p>
        </p:txBody>
      </p:sp>
      <p:sp>
        <p:nvSpPr>
          <p:cNvPr id="86" name="a3fd80_codebg85"/>
          <p:cNvSpPr/>
          <p:nvPr/>
        </p:nvSpPr>
        <p:spPr>
          <a:xfrm>
            <a:off x="658368" y="3776472"/>
            <a:ext cx="7827264" cy="772668"/>
          </a:xfrm>
          <a:prstGeom prst="roundRect">
            <a:avLst>
              <a:gd name="adj" fmla="val 946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a3wd80_code86"/>
          <p:cNvSpPr txBox="1"/>
          <p:nvPr/>
        </p:nvSpPr>
        <p:spPr>
          <a:xfrm>
            <a:off x="749808" y="3867911"/>
            <a:ext cx="7644384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4B5FD"/>
                </a:solidFill>
                <a:latin typeface="Courier New"/>
              </a:rPr>
              <a:t>XADD txn:stream * acct 9003 amt 250000 channel upi     # producer</a:t>
            </a:r>
          </a:p>
        </p:txBody>
      </p:sp>
      <p:sp>
        <p:nvSpPr>
          <p:cNvPr id="88" name="a3wd165_code87"/>
          <p:cNvSpPr txBox="1"/>
          <p:nvPr/>
        </p:nvSpPr>
        <p:spPr>
          <a:xfrm>
            <a:off x="749808" y="4064507"/>
            <a:ext cx="7644384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4B5FD"/>
                </a:solidFill>
                <a:latin typeface="Courier New"/>
              </a:rPr>
              <a:t>XREADGROUP GROUP fraud w1 COUNT 50 BLOCK 2000 STREAMS txn:stream &gt;</a:t>
            </a:r>
          </a:p>
        </p:txBody>
      </p:sp>
      <p:sp>
        <p:nvSpPr>
          <p:cNvPr id="89" name="a3wd250_code88"/>
          <p:cNvSpPr txBox="1"/>
          <p:nvPr/>
        </p:nvSpPr>
        <p:spPr>
          <a:xfrm>
            <a:off x="749808" y="4261103"/>
            <a:ext cx="7644384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4B5FD"/>
                </a:solidFill>
                <a:latin typeface="Courier New"/>
              </a:rPr>
              <a:t>XACK txn:stream fraud 1758412800123-0                  # after processing</a:t>
            </a:r>
          </a:p>
        </p:txBody>
      </p:sp>
      <p:sp>
        <p:nvSpPr>
          <p:cNvPr id="90" name="ft89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91" name="ft9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5 · Commands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0" nodeType="withEffect">
                                  <p:stCondLst>
                                    <p:cond delay="75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8" fill="hold" grpId="0" nodeType="withEffect">
                                  <p:stCondLst>
                                    <p:cond delay="75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8" fill="hold" grpId="0" nodeType="withEffect">
                                  <p:stCondLst>
                                    <p:cond delay="75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8" fill="hold" grpId="0" nodeType="withEffect">
                                  <p:stCondLst>
                                    <p:cond delay="75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8" fill="hold" grpId="0" nodeType="withEffect">
                                  <p:stCondLst>
                                    <p:cond delay="75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8" fill="hold" grpId="0" nodeType="withEffect">
                                  <p:stCondLst>
                                    <p:cond delay="75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8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8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8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2" presetClass="entr" presetSubtype="8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8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22" presetClass="entr" presetSubtype="8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22" presetClass="entr" presetSubtype="8" fill="hold" grpId="0" nodeType="withEffect">
                                  <p:stCondLst>
                                    <p:cond delay="375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22" presetClass="entr" presetSubtype="8" fill="hold" grpId="0" nodeType="withEffect">
                                  <p:stCondLst>
                                    <p:cond delay="375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22" presetClass="entr" presetSubtype="8" fill="hold" grpId="0" nodeType="withEffect">
                                  <p:stCondLst>
                                    <p:cond delay="375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22" presetClass="entr" presetSubtype="8" fill="hold" grpId="0" nodeType="withEffect">
                                  <p:stCondLst>
                                    <p:cond delay="375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22" presetClass="entr" presetSubtype="8" fill="hold" grpId="0" nodeType="withEffect">
                                  <p:stCondLst>
                                    <p:cond delay="375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22" presetClass="entr" presetSubtype="8" fill="hold" grpId="0" nodeType="withEffect">
                                  <p:stCondLst>
                                    <p:cond delay="375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2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2" presetClass="entr" presetSubtype="4" fill="hold" grpId="0" nodeType="with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Server and Admin Commands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What you run when something is wrong - or about to be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143000"/>
            <a:ext cx="2880360" cy="26517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143000"/>
            <a:ext cx="277063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Courier New"/>
              </a:rPr>
              <a:t>Command</a:t>
            </a:r>
          </a:p>
        </p:txBody>
      </p:sp>
      <p:sp>
        <p:nvSpPr>
          <p:cNvPr id="6" name="a1wd65_td5"/>
          <p:cNvSpPr/>
          <p:nvPr/>
        </p:nvSpPr>
        <p:spPr>
          <a:xfrm>
            <a:off x="457200" y="1408176"/>
            <a:ext cx="28803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65_tdt6"/>
          <p:cNvSpPr txBox="1"/>
          <p:nvPr/>
        </p:nvSpPr>
        <p:spPr>
          <a:xfrm>
            <a:off x="530352" y="1408176"/>
            <a:ext cx="277063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INFO [section]</a:t>
            </a:r>
          </a:p>
        </p:txBody>
      </p:sp>
      <p:sp>
        <p:nvSpPr>
          <p:cNvPr id="8" name="a1wd130_td7"/>
          <p:cNvSpPr/>
          <p:nvPr/>
        </p:nvSpPr>
        <p:spPr>
          <a:xfrm>
            <a:off x="457200" y="1673352"/>
            <a:ext cx="28803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130_tdt8"/>
          <p:cNvSpPr txBox="1"/>
          <p:nvPr/>
        </p:nvSpPr>
        <p:spPr>
          <a:xfrm>
            <a:off x="530352" y="1673352"/>
            <a:ext cx="277063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DBSIZE</a:t>
            </a:r>
          </a:p>
        </p:txBody>
      </p:sp>
      <p:sp>
        <p:nvSpPr>
          <p:cNvPr id="10" name="a1wd195_td9"/>
          <p:cNvSpPr/>
          <p:nvPr/>
        </p:nvSpPr>
        <p:spPr>
          <a:xfrm>
            <a:off x="457200" y="1938528"/>
            <a:ext cx="28803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195_tdt10"/>
          <p:cNvSpPr txBox="1"/>
          <p:nvPr/>
        </p:nvSpPr>
        <p:spPr>
          <a:xfrm>
            <a:off x="530352" y="1938528"/>
            <a:ext cx="277063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CONFIG GET/SET param</a:t>
            </a:r>
          </a:p>
        </p:txBody>
      </p:sp>
      <p:sp>
        <p:nvSpPr>
          <p:cNvPr id="12" name="a1wd260_td11"/>
          <p:cNvSpPr/>
          <p:nvPr/>
        </p:nvSpPr>
        <p:spPr>
          <a:xfrm>
            <a:off x="457200" y="2203704"/>
            <a:ext cx="28803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260_tdt12"/>
          <p:cNvSpPr txBox="1"/>
          <p:nvPr/>
        </p:nvSpPr>
        <p:spPr>
          <a:xfrm>
            <a:off x="530352" y="2203704"/>
            <a:ext cx="277063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CONFIG REWRITE</a:t>
            </a:r>
          </a:p>
        </p:txBody>
      </p:sp>
      <p:sp>
        <p:nvSpPr>
          <p:cNvPr id="14" name="a1wd325_td13"/>
          <p:cNvSpPr/>
          <p:nvPr/>
        </p:nvSpPr>
        <p:spPr>
          <a:xfrm>
            <a:off x="457200" y="2468880"/>
            <a:ext cx="28803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325_tdt14"/>
          <p:cNvSpPr txBox="1"/>
          <p:nvPr/>
        </p:nvSpPr>
        <p:spPr>
          <a:xfrm>
            <a:off x="530352" y="2468880"/>
            <a:ext cx="277063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CLIENT LIST / CLIENT KILL</a:t>
            </a:r>
          </a:p>
        </p:txBody>
      </p:sp>
      <p:sp>
        <p:nvSpPr>
          <p:cNvPr id="16" name="a1wd390_td15"/>
          <p:cNvSpPr/>
          <p:nvPr/>
        </p:nvSpPr>
        <p:spPr>
          <a:xfrm>
            <a:off x="457200" y="2734056"/>
            <a:ext cx="28803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390_tdt16"/>
          <p:cNvSpPr txBox="1"/>
          <p:nvPr/>
        </p:nvSpPr>
        <p:spPr>
          <a:xfrm>
            <a:off x="530352" y="2734056"/>
            <a:ext cx="277063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SLOWLOG GET n / SLOWLOG RESET</a:t>
            </a:r>
          </a:p>
        </p:txBody>
      </p:sp>
      <p:sp>
        <p:nvSpPr>
          <p:cNvPr id="18" name="a1wd455_td17"/>
          <p:cNvSpPr/>
          <p:nvPr/>
        </p:nvSpPr>
        <p:spPr>
          <a:xfrm>
            <a:off x="457200" y="2999232"/>
            <a:ext cx="28803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455_tdt18"/>
          <p:cNvSpPr txBox="1"/>
          <p:nvPr/>
        </p:nvSpPr>
        <p:spPr>
          <a:xfrm>
            <a:off x="530352" y="2999232"/>
            <a:ext cx="277063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MONITOR</a:t>
            </a:r>
          </a:p>
        </p:txBody>
      </p:sp>
      <p:sp>
        <p:nvSpPr>
          <p:cNvPr id="20" name="a1wd520_td19"/>
          <p:cNvSpPr/>
          <p:nvPr/>
        </p:nvSpPr>
        <p:spPr>
          <a:xfrm>
            <a:off x="457200" y="3264408"/>
            <a:ext cx="28803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520_tdt20"/>
          <p:cNvSpPr txBox="1"/>
          <p:nvPr/>
        </p:nvSpPr>
        <p:spPr>
          <a:xfrm>
            <a:off x="530352" y="3264408"/>
            <a:ext cx="277063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BGSAVE / BGREWRITEAOF</a:t>
            </a:r>
          </a:p>
        </p:txBody>
      </p:sp>
      <p:sp>
        <p:nvSpPr>
          <p:cNvPr id="22" name="a1wd585_td21"/>
          <p:cNvSpPr/>
          <p:nvPr/>
        </p:nvSpPr>
        <p:spPr>
          <a:xfrm>
            <a:off x="457200" y="3529584"/>
            <a:ext cx="28803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585_tdt22"/>
          <p:cNvSpPr txBox="1"/>
          <p:nvPr/>
        </p:nvSpPr>
        <p:spPr>
          <a:xfrm>
            <a:off x="530352" y="3529584"/>
            <a:ext cx="277063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LASTSAVE</a:t>
            </a:r>
          </a:p>
        </p:txBody>
      </p:sp>
      <p:sp>
        <p:nvSpPr>
          <p:cNvPr id="24" name="a1wd650_td23"/>
          <p:cNvSpPr/>
          <p:nvPr/>
        </p:nvSpPr>
        <p:spPr>
          <a:xfrm>
            <a:off x="457200" y="3794760"/>
            <a:ext cx="28803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wd650_tdt24"/>
          <p:cNvSpPr txBox="1"/>
          <p:nvPr/>
        </p:nvSpPr>
        <p:spPr>
          <a:xfrm>
            <a:off x="530352" y="3794760"/>
            <a:ext cx="277063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FLUSHDB / FLUSHALL</a:t>
            </a:r>
          </a:p>
        </p:txBody>
      </p:sp>
      <p:sp>
        <p:nvSpPr>
          <p:cNvPr id="26" name="a1wd715_td25"/>
          <p:cNvSpPr/>
          <p:nvPr/>
        </p:nvSpPr>
        <p:spPr>
          <a:xfrm>
            <a:off x="457200" y="4059935"/>
            <a:ext cx="28803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715_tdt26"/>
          <p:cNvSpPr txBox="1"/>
          <p:nvPr/>
        </p:nvSpPr>
        <p:spPr>
          <a:xfrm>
            <a:off x="530352" y="4059935"/>
            <a:ext cx="277063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SHUTDOWN [NOSAVE]</a:t>
            </a:r>
          </a:p>
        </p:txBody>
      </p:sp>
      <p:sp>
        <p:nvSpPr>
          <p:cNvPr id="28" name="a1f_th27"/>
          <p:cNvSpPr/>
          <p:nvPr/>
        </p:nvSpPr>
        <p:spPr>
          <a:xfrm>
            <a:off x="3337560" y="1143000"/>
            <a:ext cx="3703320" cy="265176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f_tht28"/>
          <p:cNvSpPr txBox="1"/>
          <p:nvPr/>
        </p:nvSpPr>
        <p:spPr>
          <a:xfrm>
            <a:off x="3410712" y="1143000"/>
            <a:ext cx="359359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30" name="a1wd65_td29"/>
          <p:cNvSpPr/>
          <p:nvPr/>
        </p:nvSpPr>
        <p:spPr>
          <a:xfrm>
            <a:off x="3337560" y="1408176"/>
            <a:ext cx="37033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65_tdt30"/>
          <p:cNvSpPr txBox="1"/>
          <p:nvPr/>
        </p:nvSpPr>
        <p:spPr>
          <a:xfrm>
            <a:off x="3410712" y="1408176"/>
            <a:ext cx="359359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Everything about server, memory, stats, replication</a:t>
            </a:r>
          </a:p>
        </p:txBody>
      </p:sp>
      <p:sp>
        <p:nvSpPr>
          <p:cNvPr id="32" name="a1wd130_td31"/>
          <p:cNvSpPr/>
          <p:nvPr/>
        </p:nvSpPr>
        <p:spPr>
          <a:xfrm>
            <a:off x="3337560" y="1673352"/>
            <a:ext cx="37033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wd130_tdt32"/>
          <p:cNvSpPr txBox="1"/>
          <p:nvPr/>
        </p:nvSpPr>
        <p:spPr>
          <a:xfrm>
            <a:off x="3410712" y="1673352"/>
            <a:ext cx="359359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Key count in the current database</a:t>
            </a:r>
          </a:p>
        </p:txBody>
      </p:sp>
      <p:sp>
        <p:nvSpPr>
          <p:cNvPr id="34" name="a1wd195_td33"/>
          <p:cNvSpPr/>
          <p:nvPr/>
        </p:nvSpPr>
        <p:spPr>
          <a:xfrm>
            <a:off x="3337560" y="1938528"/>
            <a:ext cx="37033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1wd195_tdt34"/>
          <p:cNvSpPr txBox="1"/>
          <p:nvPr/>
        </p:nvSpPr>
        <p:spPr>
          <a:xfrm>
            <a:off x="3410712" y="1938528"/>
            <a:ext cx="359359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Read or change a setting at runtime</a:t>
            </a:r>
          </a:p>
        </p:txBody>
      </p:sp>
      <p:sp>
        <p:nvSpPr>
          <p:cNvPr id="36" name="a1wd260_td35"/>
          <p:cNvSpPr/>
          <p:nvPr/>
        </p:nvSpPr>
        <p:spPr>
          <a:xfrm>
            <a:off x="3337560" y="2203704"/>
            <a:ext cx="37033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1wd260_tdt36"/>
          <p:cNvSpPr txBox="1"/>
          <p:nvPr/>
        </p:nvSpPr>
        <p:spPr>
          <a:xfrm>
            <a:off x="3410712" y="2203704"/>
            <a:ext cx="359359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Write the live config back to redis.conf</a:t>
            </a:r>
          </a:p>
        </p:txBody>
      </p:sp>
      <p:sp>
        <p:nvSpPr>
          <p:cNvPr id="38" name="a1wd325_td37"/>
          <p:cNvSpPr/>
          <p:nvPr/>
        </p:nvSpPr>
        <p:spPr>
          <a:xfrm>
            <a:off x="3337560" y="2468880"/>
            <a:ext cx="37033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1wd325_tdt38"/>
          <p:cNvSpPr txBox="1"/>
          <p:nvPr/>
        </p:nvSpPr>
        <p:spPr>
          <a:xfrm>
            <a:off x="3410712" y="2468880"/>
            <a:ext cx="359359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Who is connected; disconnect one</a:t>
            </a:r>
          </a:p>
        </p:txBody>
      </p:sp>
      <p:sp>
        <p:nvSpPr>
          <p:cNvPr id="40" name="a1wd390_td39"/>
          <p:cNvSpPr/>
          <p:nvPr/>
        </p:nvSpPr>
        <p:spPr>
          <a:xfrm>
            <a:off x="3337560" y="2734056"/>
            <a:ext cx="37033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1wd390_tdt40"/>
          <p:cNvSpPr txBox="1"/>
          <p:nvPr/>
        </p:nvSpPr>
        <p:spPr>
          <a:xfrm>
            <a:off x="3410712" y="2734056"/>
            <a:ext cx="359359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The slowest commands seen</a:t>
            </a:r>
          </a:p>
        </p:txBody>
      </p:sp>
      <p:sp>
        <p:nvSpPr>
          <p:cNvPr id="42" name="a1wd455_td41"/>
          <p:cNvSpPr/>
          <p:nvPr/>
        </p:nvSpPr>
        <p:spPr>
          <a:xfrm>
            <a:off x="3337560" y="2999232"/>
            <a:ext cx="37033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1wd455_tdt42"/>
          <p:cNvSpPr txBox="1"/>
          <p:nvPr/>
        </p:nvSpPr>
        <p:spPr>
          <a:xfrm>
            <a:off x="3410712" y="2999232"/>
            <a:ext cx="359359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Every command, live</a:t>
            </a:r>
          </a:p>
        </p:txBody>
      </p:sp>
      <p:sp>
        <p:nvSpPr>
          <p:cNvPr id="44" name="a1wd520_td43"/>
          <p:cNvSpPr/>
          <p:nvPr/>
        </p:nvSpPr>
        <p:spPr>
          <a:xfrm>
            <a:off x="3337560" y="3264408"/>
            <a:ext cx="37033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1wd520_tdt44"/>
          <p:cNvSpPr txBox="1"/>
          <p:nvPr/>
        </p:nvSpPr>
        <p:spPr>
          <a:xfrm>
            <a:off x="3410712" y="3264408"/>
            <a:ext cx="359359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Snapshot or compact the AOF in the background</a:t>
            </a:r>
          </a:p>
        </p:txBody>
      </p:sp>
      <p:sp>
        <p:nvSpPr>
          <p:cNvPr id="46" name="a1wd585_td45"/>
          <p:cNvSpPr/>
          <p:nvPr/>
        </p:nvSpPr>
        <p:spPr>
          <a:xfrm>
            <a:off x="3337560" y="3529584"/>
            <a:ext cx="37033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1wd585_tdt46"/>
          <p:cNvSpPr txBox="1"/>
          <p:nvPr/>
        </p:nvSpPr>
        <p:spPr>
          <a:xfrm>
            <a:off x="3410712" y="3529584"/>
            <a:ext cx="359359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Unix time of the last successful save</a:t>
            </a:r>
          </a:p>
        </p:txBody>
      </p:sp>
      <p:sp>
        <p:nvSpPr>
          <p:cNvPr id="48" name="a1wd650_td47"/>
          <p:cNvSpPr/>
          <p:nvPr/>
        </p:nvSpPr>
        <p:spPr>
          <a:xfrm>
            <a:off x="3337560" y="3794760"/>
            <a:ext cx="37033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1wd650_tdt48"/>
          <p:cNvSpPr txBox="1"/>
          <p:nvPr/>
        </p:nvSpPr>
        <p:spPr>
          <a:xfrm>
            <a:off x="3410712" y="3794760"/>
            <a:ext cx="359359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Delete this database / every database</a:t>
            </a:r>
          </a:p>
        </p:txBody>
      </p:sp>
      <p:sp>
        <p:nvSpPr>
          <p:cNvPr id="50" name="a1wd715_td49"/>
          <p:cNvSpPr/>
          <p:nvPr/>
        </p:nvSpPr>
        <p:spPr>
          <a:xfrm>
            <a:off x="3337560" y="4059935"/>
            <a:ext cx="37033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a1wd715_tdt50"/>
          <p:cNvSpPr txBox="1"/>
          <p:nvPr/>
        </p:nvSpPr>
        <p:spPr>
          <a:xfrm>
            <a:off x="3410712" y="4059935"/>
            <a:ext cx="3593591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Stop the server, optionally without saving</a:t>
            </a:r>
          </a:p>
        </p:txBody>
      </p:sp>
      <p:sp>
        <p:nvSpPr>
          <p:cNvPr id="52" name="a1f_th51"/>
          <p:cNvSpPr/>
          <p:nvPr/>
        </p:nvSpPr>
        <p:spPr>
          <a:xfrm>
            <a:off x="7040879" y="1143000"/>
            <a:ext cx="1645920" cy="265176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a1f_tht52"/>
          <p:cNvSpPr txBox="1"/>
          <p:nvPr/>
        </p:nvSpPr>
        <p:spPr>
          <a:xfrm>
            <a:off x="7114031" y="1143000"/>
            <a:ext cx="153619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Calibri"/>
              </a:rPr>
              <a:t>Careful</a:t>
            </a:r>
          </a:p>
        </p:txBody>
      </p:sp>
      <p:sp>
        <p:nvSpPr>
          <p:cNvPr id="54" name="a1wd65_td53"/>
          <p:cNvSpPr/>
          <p:nvPr/>
        </p:nvSpPr>
        <p:spPr>
          <a:xfrm>
            <a:off x="7040879" y="1408176"/>
            <a:ext cx="16459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a1wd65_tdt54"/>
          <p:cNvSpPr txBox="1"/>
          <p:nvPr/>
        </p:nvSpPr>
        <p:spPr>
          <a:xfrm>
            <a:off x="7114031" y="1408176"/>
            <a:ext cx="153619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56" name="a1wd130_td55"/>
          <p:cNvSpPr/>
          <p:nvPr/>
        </p:nvSpPr>
        <p:spPr>
          <a:xfrm>
            <a:off x="7040879" y="1673352"/>
            <a:ext cx="16459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a1wd130_tdt56"/>
          <p:cNvSpPr txBox="1"/>
          <p:nvPr/>
        </p:nvSpPr>
        <p:spPr>
          <a:xfrm>
            <a:off x="7114031" y="1673352"/>
            <a:ext cx="153619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58" name="a1wd195_td57"/>
          <p:cNvSpPr/>
          <p:nvPr/>
        </p:nvSpPr>
        <p:spPr>
          <a:xfrm>
            <a:off x="7040879" y="1938528"/>
            <a:ext cx="16459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a1wd195_tdt58"/>
          <p:cNvSpPr txBox="1"/>
          <p:nvPr/>
        </p:nvSpPr>
        <p:spPr>
          <a:xfrm>
            <a:off x="7114031" y="1938528"/>
            <a:ext cx="153619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SET is not persisted</a:t>
            </a:r>
          </a:p>
        </p:txBody>
      </p:sp>
      <p:sp>
        <p:nvSpPr>
          <p:cNvPr id="60" name="a1wd260_td59"/>
          <p:cNvSpPr/>
          <p:nvPr/>
        </p:nvSpPr>
        <p:spPr>
          <a:xfrm>
            <a:off x="7040879" y="2203704"/>
            <a:ext cx="16459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a1wd260_tdt60"/>
          <p:cNvSpPr txBox="1"/>
          <p:nvPr/>
        </p:nvSpPr>
        <p:spPr>
          <a:xfrm>
            <a:off x="7114031" y="2203704"/>
            <a:ext cx="153619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62" name="a1wd325_td61"/>
          <p:cNvSpPr/>
          <p:nvPr/>
        </p:nvSpPr>
        <p:spPr>
          <a:xfrm>
            <a:off x="7040879" y="2468880"/>
            <a:ext cx="16459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a1wd325_tdt62"/>
          <p:cNvSpPr txBox="1"/>
          <p:nvPr/>
        </p:nvSpPr>
        <p:spPr>
          <a:xfrm>
            <a:off x="7114031" y="2468880"/>
            <a:ext cx="153619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kills in-flight work</a:t>
            </a:r>
          </a:p>
        </p:txBody>
      </p:sp>
      <p:sp>
        <p:nvSpPr>
          <p:cNvPr id="64" name="a1wd390_td63"/>
          <p:cNvSpPr/>
          <p:nvPr/>
        </p:nvSpPr>
        <p:spPr>
          <a:xfrm>
            <a:off x="7040879" y="2734056"/>
            <a:ext cx="16459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a1wd390_tdt64"/>
          <p:cNvSpPr txBox="1"/>
          <p:nvPr/>
        </p:nvSpPr>
        <p:spPr>
          <a:xfrm>
            <a:off x="7114031" y="2734056"/>
            <a:ext cx="153619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66" name="a1wd455_td65"/>
          <p:cNvSpPr/>
          <p:nvPr/>
        </p:nvSpPr>
        <p:spPr>
          <a:xfrm>
            <a:off x="7040879" y="2999232"/>
            <a:ext cx="16459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a1wd455_tdt66"/>
          <p:cNvSpPr txBox="1"/>
          <p:nvPr/>
        </p:nvSpPr>
        <p:spPr>
          <a:xfrm>
            <a:off x="7114031" y="2999232"/>
            <a:ext cx="153619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throughput hit</a:t>
            </a:r>
          </a:p>
        </p:txBody>
      </p:sp>
      <p:sp>
        <p:nvSpPr>
          <p:cNvPr id="68" name="a1wd520_td67"/>
          <p:cNvSpPr/>
          <p:nvPr/>
        </p:nvSpPr>
        <p:spPr>
          <a:xfrm>
            <a:off x="7040879" y="3264408"/>
            <a:ext cx="16459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a1wd520_tdt68"/>
          <p:cNvSpPr txBox="1"/>
          <p:nvPr/>
        </p:nvSpPr>
        <p:spPr>
          <a:xfrm>
            <a:off x="7114031" y="3264408"/>
            <a:ext cx="153619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forks the process</a:t>
            </a:r>
          </a:p>
        </p:txBody>
      </p:sp>
      <p:sp>
        <p:nvSpPr>
          <p:cNvPr id="70" name="a1wd585_td69"/>
          <p:cNvSpPr/>
          <p:nvPr/>
        </p:nvSpPr>
        <p:spPr>
          <a:xfrm>
            <a:off x="7040879" y="3529584"/>
            <a:ext cx="16459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a1wd585_tdt70"/>
          <p:cNvSpPr txBox="1"/>
          <p:nvPr/>
        </p:nvSpPr>
        <p:spPr>
          <a:xfrm>
            <a:off x="7114031" y="3529584"/>
            <a:ext cx="153619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72" name="a1wd650_td71"/>
          <p:cNvSpPr/>
          <p:nvPr/>
        </p:nvSpPr>
        <p:spPr>
          <a:xfrm>
            <a:off x="7040879" y="3794760"/>
            <a:ext cx="16459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a1wd650_tdt72"/>
          <p:cNvSpPr txBox="1"/>
          <p:nvPr/>
        </p:nvSpPr>
        <p:spPr>
          <a:xfrm>
            <a:off x="7114031" y="3794760"/>
            <a:ext cx="153619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no undo</a:t>
            </a:r>
          </a:p>
        </p:txBody>
      </p:sp>
      <p:sp>
        <p:nvSpPr>
          <p:cNvPr id="74" name="a1wd715_td73"/>
          <p:cNvSpPr/>
          <p:nvPr/>
        </p:nvSpPr>
        <p:spPr>
          <a:xfrm>
            <a:off x="7040879" y="4059935"/>
            <a:ext cx="16459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a1wd715_tdt74"/>
          <p:cNvSpPr txBox="1"/>
          <p:nvPr/>
        </p:nvSpPr>
        <p:spPr>
          <a:xfrm>
            <a:off x="7114031" y="4059935"/>
            <a:ext cx="153619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no undo</a:t>
            </a:r>
          </a:p>
        </p:txBody>
      </p:sp>
      <p:sp>
        <p:nvSpPr>
          <p:cNvPr id="76" name="a2u_nb75"/>
          <p:cNvSpPr/>
          <p:nvPr/>
        </p:nvSpPr>
        <p:spPr>
          <a:xfrm>
            <a:off x="457200" y="4306824"/>
            <a:ext cx="8229600" cy="475488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a2u_nacc76"/>
          <p:cNvSpPr/>
          <p:nvPr/>
        </p:nvSpPr>
        <p:spPr>
          <a:xfrm>
            <a:off x="457200" y="4306824"/>
            <a:ext cx="50292" cy="475488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a2u_nt77"/>
          <p:cNvSpPr txBox="1"/>
          <p:nvPr/>
        </p:nvSpPr>
        <p:spPr>
          <a:xfrm>
            <a:off x="658368" y="4306824"/>
            <a:ext cx="782726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DC382C"/>
                </a:solidFill>
                <a:latin typeface="Calibri"/>
              </a:rPr>
              <a:t>!  </a:t>
            </a:r>
            <a:r>
              <a:rPr sz="1000" b="0">
                <a:solidFill>
                  <a:srgbClr val="334155"/>
                </a:solidFill>
                <a:latin typeface="Calibri"/>
              </a:rPr>
              <a:t>FLUSHALL on a shared cache is an outage. Rename it away in redis.conf, or use ACLs to keep it off the application user - rename-command FLUSHALL "".</a:t>
            </a:r>
          </a:p>
        </p:txBody>
      </p:sp>
      <p:sp>
        <p:nvSpPr>
          <p:cNvPr id="79" name="ft78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80" name="ft79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5 · Commands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22" presetClass="entr" presetSubtype="8" fill="hold" grpId="0" nodeType="withEffect">
                                  <p:stCondLst>
                                    <p:cond delay="715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2" presetClass="entr" presetSubtype="8" fill="hold" grpId="0" nodeType="withEffect">
                                  <p:stCondLst>
                                    <p:cond delay="715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2" presetClass="entr" presetSubtype="8" fill="hold" grpId="0" nodeType="withEffect">
                                  <p:stCondLst>
                                    <p:cond delay="715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22" presetClass="entr" presetSubtype="8" fill="hold" grpId="0" nodeType="withEffect">
                                  <p:stCondLst>
                                    <p:cond delay="715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22" presetClass="entr" presetSubtype="8" fill="hold" grpId="0" nodeType="withEffect">
                                  <p:stCondLst>
                                    <p:cond delay="715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22" presetClass="entr" presetSubtype="8" fill="hold" grpId="0" nodeType="withEffect">
                                  <p:stCondLst>
                                    <p:cond delay="715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A78BFA"/>
                </a:solidFill>
                <a:latin typeface="Calibri"/>
              </a:rPr>
              <a:t>05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Putting It Together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Three complete flows, typed end to end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Cache-aside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Session lifecycle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Invalidation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Flow 1 · Balance Enquiry, Cache-Aside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 pattern behind roughly 70% of retail banking API traffic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4937760" cy="3419856"/>
          </a:xfrm>
          <a:prstGeom prst="roundRect">
            <a:avLst>
              <a:gd name="adj" fmla="val 213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codeh4"/>
          <p:cNvSpPr txBox="1"/>
          <p:nvPr/>
        </p:nvSpPr>
        <p:spPr>
          <a:xfrm>
            <a:off x="621792" y="1197864"/>
            <a:ext cx="460857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cache-aside, end to end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621792" y="1581912"/>
            <a:ext cx="460857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urier New"/>
              </a:rPr>
              <a:t># ---- request 1: cold cache ----------------</a:t>
            </a:r>
          </a:p>
        </p:txBody>
      </p:sp>
      <p:sp>
        <p:nvSpPr>
          <p:cNvPr id="7" name="a1wd70_code6"/>
          <p:cNvSpPr txBox="1"/>
          <p:nvPr/>
        </p:nvSpPr>
        <p:spPr>
          <a:xfrm>
            <a:off x="621792" y="1783080"/>
            <a:ext cx="460857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GET icici:bal:9003</a:t>
            </a:r>
          </a:p>
        </p:txBody>
      </p:sp>
      <p:sp>
        <p:nvSpPr>
          <p:cNvPr id="8" name="a1wd140_code7"/>
          <p:cNvSpPr txBox="1"/>
          <p:nvPr/>
        </p:nvSpPr>
        <p:spPr>
          <a:xfrm>
            <a:off x="621792" y="1984248"/>
            <a:ext cx="460857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(nil)                       &lt;- MISS</a:t>
            </a:r>
          </a:p>
        </p:txBody>
      </p:sp>
      <p:sp>
        <p:nvSpPr>
          <p:cNvPr id="9" name="a1wd210_code8"/>
          <p:cNvSpPr txBox="1"/>
          <p:nvPr/>
        </p:nvSpPr>
        <p:spPr>
          <a:xfrm>
            <a:off x="621792" y="2185416"/>
            <a:ext cx="460857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urier New"/>
              </a:rPr>
              <a:t>#   app queries PostgreSQL: 341244.80</a:t>
            </a:r>
          </a:p>
        </p:txBody>
      </p:sp>
      <p:sp>
        <p:nvSpPr>
          <p:cNvPr id="10" name="a1wd280_code9"/>
          <p:cNvSpPr txBox="1"/>
          <p:nvPr/>
        </p:nvSpPr>
        <p:spPr>
          <a:xfrm>
            <a:off x="621792" y="2386584"/>
            <a:ext cx="460857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SET icici:bal:9003 341244.80 EX 300</a:t>
            </a:r>
          </a:p>
        </p:txBody>
      </p:sp>
      <p:sp>
        <p:nvSpPr>
          <p:cNvPr id="11" name="a1wd350_code10"/>
          <p:cNvSpPr txBox="1"/>
          <p:nvPr/>
        </p:nvSpPr>
        <p:spPr>
          <a:xfrm>
            <a:off x="621792" y="2587752"/>
            <a:ext cx="460857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OK</a:t>
            </a:r>
          </a:p>
        </p:txBody>
      </p:sp>
      <p:sp>
        <p:nvSpPr>
          <p:cNvPr id="12" name="a1wd420_code11"/>
          <p:cNvSpPr txBox="1"/>
          <p:nvPr/>
        </p:nvSpPr>
        <p:spPr>
          <a:xfrm>
            <a:off x="621792" y="2788920"/>
            <a:ext cx="460857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3" name="a1wd490_code12"/>
          <p:cNvSpPr txBox="1"/>
          <p:nvPr/>
        </p:nvSpPr>
        <p:spPr>
          <a:xfrm>
            <a:off x="621792" y="2990088"/>
            <a:ext cx="460857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urier New"/>
              </a:rPr>
              <a:t># ---- request 2..N: warm cache -------------</a:t>
            </a:r>
          </a:p>
        </p:txBody>
      </p:sp>
      <p:sp>
        <p:nvSpPr>
          <p:cNvPr id="14" name="a1wd560_code13"/>
          <p:cNvSpPr txBox="1"/>
          <p:nvPr/>
        </p:nvSpPr>
        <p:spPr>
          <a:xfrm>
            <a:off x="621792" y="3191256"/>
            <a:ext cx="460857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GET icici:bal:9003</a:t>
            </a:r>
          </a:p>
        </p:txBody>
      </p:sp>
      <p:sp>
        <p:nvSpPr>
          <p:cNvPr id="15" name="a1wd630_code14"/>
          <p:cNvSpPr txBox="1"/>
          <p:nvPr/>
        </p:nvSpPr>
        <p:spPr>
          <a:xfrm>
            <a:off x="621792" y="3392424"/>
            <a:ext cx="460857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"341244.80"                 &lt;- HIT, ~0.2 ms</a:t>
            </a:r>
          </a:p>
        </p:txBody>
      </p:sp>
      <p:sp>
        <p:nvSpPr>
          <p:cNvPr id="16" name="a1wd700_code15"/>
          <p:cNvSpPr txBox="1"/>
          <p:nvPr/>
        </p:nvSpPr>
        <p:spPr>
          <a:xfrm>
            <a:off x="621792" y="3593592"/>
            <a:ext cx="460857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7" name="a1wd770_code16"/>
          <p:cNvSpPr txBox="1"/>
          <p:nvPr/>
        </p:nvSpPr>
        <p:spPr>
          <a:xfrm>
            <a:off x="621792" y="3794760"/>
            <a:ext cx="460857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urier New"/>
              </a:rPr>
              <a:t># ---- a debit posts -------------------------</a:t>
            </a:r>
          </a:p>
        </p:txBody>
      </p:sp>
      <p:sp>
        <p:nvSpPr>
          <p:cNvPr id="18" name="a1wd840_code17"/>
          <p:cNvSpPr txBox="1"/>
          <p:nvPr/>
        </p:nvSpPr>
        <p:spPr>
          <a:xfrm>
            <a:off x="621792" y="3995928"/>
            <a:ext cx="460857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UNLINK icici:bal:9003         # invalidate</a:t>
            </a:r>
          </a:p>
        </p:txBody>
      </p:sp>
      <p:sp>
        <p:nvSpPr>
          <p:cNvPr id="19" name="a1wd910_code18"/>
          <p:cNvSpPr txBox="1"/>
          <p:nvPr/>
        </p:nvSpPr>
        <p:spPr>
          <a:xfrm>
            <a:off x="621792" y="4197096"/>
            <a:ext cx="460857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(integer) 1</a:t>
            </a:r>
          </a:p>
        </p:txBody>
      </p:sp>
      <p:sp>
        <p:nvSpPr>
          <p:cNvPr id="20" name="a2u_card19"/>
          <p:cNvSpPr/>
          <p:nvPr/>
        </p:nvSpPr>
        <p:spPr>
          <a:xfrm>
            <a:off x="5577840" y="1143000"/>
            <a:ext cx="31089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u_hh20"/>
          <p:cNvSpPr txBox="1"/>
          <p:nvPr/>
        </p:nvSpPr>
        <p:spPr>
          <a:xfrm>
            <a:off x="5760720" y="1252728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Calibri"/>
              </a:rPr>
              <a:t>THE FOUR RULES</a:t>
            </a:r>
          </a:p>
        </p:txBody>
      </p:sp>
      <p:sp>
        <p:nvSpPr>
          <p:cNvPr id="22" name="a2ud60_dot21"/>
          <p:cNvSpPr/>
          <p:nvPr/>
        </p:nvSpPr>
        <p:spPr>
          <a:xfrm>
            <a:off x="5760720" y="1609344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2ud60_b22"/>
          <p:cNvSpPr txBox="1"/>
          <p:nvPr/>
        </p:nvSpPr>
        <p:spPr>
          <a:xfrm>
            <a:off x="5980176" y="1508760"/>
            <a:ext cx="2523744" cy="228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Always set a TTL - it is your safety net</a:t>
            </a:r>
          </a:p>
        </p:txBody>
      </p:sp>
      <p:sp>
        <p:nvSpPr>
          <p:cNvPr id="24" name="a2ud150_dot23"/>
          <p:cNvSpPr/>
          <p:nvPr/>
        </p:nvSpPr>
        <p:spPr>
          <a:xfrm>
            <a:off x="5760720" y="1874519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2ud150_b24"/>
          <p:cNvSpPr txBox="1"/>
          <p:nvPr/>
        </p:nvSpPr>
        <p:spPr>
          <a:xfrm>
            <a:off x="5980176" y="1773936"/>
            <a:ext cx="2523744" cy="228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Invalidate on write, do not wait for the TTL</a:t>
            </a:r>
          </a:p>
        </p:txBody>
      </p:sp>
      <p:sp>
        <p:nvSpPr>
          <p:cNvPr id="26" name="a2ud240_dot25"/>
          <p:cNvSpPr/>
          <p:nvPr/>
        </p:nvSpPr>
        <p:spPr>
          <a:xfrm>
            <a:off x="5760720" y="2139696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2ud240_b26"/>
          <p:cNvSpPr txBox="1"/>
          <p:nvPr/>
        </p:nvSpPr>
        <p:spPr>
          <a:xfrm>
            <a:off x="5980176" y="2039112"/>
            <a:ext cx="2523744" cy="228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Delete rather than update the cache</a:t>
            </a:r>
          </a:p>
        </p:txBody>
      </p:sp>
      <p:sp>
        <p:nvSpPr>
          <p:cNvPr id="28" name="a2ud330_dot27"/>
          <p:cNvSpPr/>
          <p:nvPr/>
        </p:nvSpPr>
        <p:spPr>
          <a:xfrm>
            <a:off x="5760720" y="2404872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2ud330_b28"/>
          <p:cNvSpPr txBox="1"/>
          <p:nvPr/>
        </p:nvSpPr>
        <p:spPr>
          <a:xfrm>
            <a:off x="5980176" y="2304288"/>
            <a:ext cx="2523744" cy="228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Never let a cache error fail the request</a:t>
            </a:r>
          </a:p>
        </p:txBody>
      </p:sp>
      <p:sp>
        <p:nvSpPr>
          <p:cNvPr id="30" name="a3u_card29"/>
          <p:cNvSpPr/>
          <p:nvPr/>
        </p:nvSpPr>
        <p:spPr>
          <a:xfrm>
            <a:off x="5577840" y="2752344"/>
            <a:ext cx="3108960" cy="1691640"/>
          </a:xfrm>
          <a:prstGeom prst="roundRect">
            <a:avLst>
              <a:gd name="adj" fmla="val 5405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3u_hh30"/>
          <p:cNvSpPr txBox="1"/>
          <p:nvPr/>
        </p:nvSpPr>
        <p:spPr>
          <a:xfrm>
            <a:off x="5760720" y="2862072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DC382C"/>
                </a:solidFill>
                <a:latin typeface="Calibri"/>
              </a:rPr>
              <a:t>MEASURE IT</a:t>
            </a:r>
          </a:p>
        </p:txBody>
      </p:sp>
      <p:sp>
        <p:nvSpPr>
          <p:cNvPr id="32" name="a3fd60_codebg31"/>
          <p:cNvSpPr/>
          <p:nvPr/>
        </p:nvSpPr>
        <p:spPr>
          <a:xfrm>
            <a:off x="5760720" y="3118104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3wd60_code32"/>
          <p:cNvSpPr txBox="1"/>
          <p:nvPr/>
        </p:nvSpPr>
        <p:spPr>
          <a:xfrm>
            <a:off x="5852159" y="3209544"/>
            <a:ext cx="256032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C4B5FD"/>
                </a:solidFill>
                <a:latin typeface="Courier New"/>
              </a:rPr>
              <a:t>INFO stats</a:t>
            </a:r>
          </a:p>
        </p:txBody>
      </p:sp>
      <p:sp>
        <p:nvSpPr>
          <p:cNvPr id="34" name="a3wd160_code33"/>
          <p:cNvSpPr txBox="1"/>
          <p:nvPr/>
        </p:nvSpPr>
        <p:spPr>
          <a:xfrm>
            <a:off x="5852159" y="3392424"/>
            <a:ext cx="256032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4B8A6"/>
                </a:solidFill>
                <a:latin typeface="Courier New"/>
              </a:rPr>
              <a:t>  keyspace_hits:8412903</a:t>
            </a:r>
          </a:p>
        </p:txBody>
      </p:sp>
      <p:sp>
        <p:nvSpPr>
          <p:cNvPr id="35" name="a3wd260_code34"/>
          <p:cNvSpPr txBox="1"/>
          <p:nvPr/>
        </p:nvSpPr>
        <p:spPr>
          <a:xfrm>
            <a:off x="5852159" y="3575304"/>
            <a:ext cx="256032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4B8A6"/>
                </a:solidFill>
                <a:latin typeface="Courier New"/>
              </a:rPr>
              <a:t>  keyspace_misses:412088</a:t>
            </a:r>
          </a:p>
        </p:txBody>
      </p:sp>
      <p:sp>
        <p:nvSpPr>
          <p:cNvPr id="36" name="a3ud400_mn35"/>
          <p:cNvSpPr txBox="1"/>
          <p:nvPr/>
        </p:nvSpPr>
        <p:spPr>
          <a:xfrm>
            <a:off x="5760720" y="3959352"/>
            <a:ext cx="27432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CBD5E1"/>
                </a:solidFill>
                <a:latin typeface="Calibri"/>
              </a:rPr>
              <a:t>Hit rate = hits / (hits + misses) = 95.3%. Below 80%, your TTL or your key design is wrong.</a:t>
            </a:r>
          </a:p>
        </p:txBody>
      </p:sp>
      <p:sp>
        <p:nvSpPr>
          <p:cNvPr id="37" name="ft36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8" name="ft37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5 · Commands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Flow 2 · A Login Session, From Start to Finish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Six commands cover the entire lifecycle</a:t>
            </a:r>
          </a:p>
        </p:txBody>
      </p:sp>
      <p:sp>
        <p:nvSpPr>
          <p:cNvPr id="4" name="a1u_sn3"/>
          <p:cNvSpPr/>
          <p:nvPr/>
        </p:nvSpPr>
        <p:spPr>
          <a:xfrm>
            <a:off x="457200" y="1143000"/>
            <a:ext cx="329184" cy="32918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snt4"/>
          <p:cNvSpPr txBox="1"/>
          <p:nvPr/>
        </p:nvSpPr>
        <p:spPr>
          <a:xfrm>
            <a:off x="457200" y="114300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a1ud30_sl5"/>
          <p:cNvSpPr txBox="1"/>
          <p:nvPr/>
        </p:nvSpPr>
        <p:spPr>
          <a:xfrm>
            <a:off x="914400" y="1143000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Login succeeds</a:t>
            </a:r>
          </a:p>
        </p:txBody>
      </p:sp>
      <p:sp>
        <p:nvSpPr>
          <p:cNvPr id="7" name="a1wd60_sc6"/>
          <p:cNvSpPr/>
          <p:nvPr/>
        </p:nvSpPr>
        <p:spPr>
          <a:xfrm>
            <a:off x="3017520" y="1143000"/>
            <a:ext cx="5669280" cy="329184"/>
          </a:xfrm>
          <a:prstGeom prst="roundRect">
            <a:avLst>
              <a:gd name="adj" fmla="val 1388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a1wd60_sct7"/>
          <p:cNvSpPr txBox="1"/>
          <p:nvPr/>
        </p:nvSpPr>
        <p:spPr>
          <a:xfrm>
            <a:off x="3154680" y="1143000"/>
            <a:ext cx="5394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C4B5FD"/>
                </a:solidFill>
                <a:latin typeface="Courier New"/>
              </a:rPr>
              <a:t>HSET icici:sess:8f3a uid 9003 chan mobile ip 10.2.4.9</a:t>
            </a:r>
          </a:p>
        </p:txBody>
      </p:sp>
      <p:sp>
        <p:nvSpPr>
          <p:cNvPr id="9" name="a1ud130_sn8"/>
          <p:cNvSpPr/>
          <p:nvPr/>
        </p:nvSpPr>
        <p:spPr>
          <a:xfrm>
            <a:off x="457200" y="1655064"/>
            <a:ext cx="329184" cy="32918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ud130_snt9"/>
          <p:cNvSpPr txBox="1"/>
          <p:nvPr/>
        </p:nvSpPr>
        <p:spPr>
          <a:xfrm>
            <a:off x="457200" y="165506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a1ud160_sl10"/>
          <p:cNvSpPr txBox="1"/>
          <p:nvPr/>
        </p:nvSpPr>
        <p:spPr>
          <a:xfrm>
            <a:off x="914400" y="1655064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Set the window</a:t>
            </a:r>
          </a:p>
        </p:txBody>
      </p:sp>
      <p:sp>
        <p:nvSpPr>
          <p:cNvPr id="12" name="a1wd190_sc11"/>
          <p:cNvSpPr/>
          <p:nvPr/>
        </p:nvSpPr>
        <p:spPr>
          <a:xfrm>
            <a:off x="3017520" y="1655064"/>
            <a:ext cx="5669280" cy="329184"/>
          </a:xfrm>
          <a:prstGeom prst="roundRect">
            <a:avLst>
              <a:gd name="adj" fmla="val 1388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190_sct12"/>
          <p:cNvSpPr txBox="1"/>
          <p:nvPr/>
        </p:nvSpPr>
        <p:spPr>
          <a:xfrm>
            <a:off x="3154680" y="1655064"/>
            <a:ext cx="5394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C4B5FD"/>
                </a:solidFill>
                <a:latin typeface="Courier New"/>
              </a:rPr>
              <a:t>EXPIRE icici:sess:8f3a 1800</a:t>
            </a:r>
          </a:p>
        </p:txBody>
      </p:sp>
      <p:sp>
        <p:nvSpPr>
          <p:cNvPr id="14" name="a1ud260_sn13"/>
          <p:cNvSpPr/>
          <p:nvPr/>
        </p:nvSpPr>
        <p:spPr>
          <a:xfrm>
            <a:off x="457200" y="2167128"/>
            <a:ext cx="329184" cy="32918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ud260_snt14"/>
          <p:cNvSpPr txBox="1"/>
          <p:nvPr/>
        </p:nvSpPr>
        <p:spPr>
          <a:xfrm>
            <a:off x="457200" y="216712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a1ud290_sl15"/>
          <p:cNvSpPr txBox="1"/>
          <p:nvPr/>
        </p:nvSpPr>
        <p:spPr>
          <a:xfrm>
            <a:off x="914400" y="2167128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Each request</a:t>
            </a:r>
          </a:p>
        </p:txBody>
      </p:sp>
      <p:sp>
        <p:nvSpPr>
          <p:cNvPr id="17" name="a1wd320_sc16"/>
          <p:cNvSpPr/>
          <p:nvPr/>
        </p:nvSpPr>
        <p:spPr>
          <a:xfrm>
            <a:off x="3017520" y="2167128"/>
            <a:ext cx="5669280" cy="329184"/>
          </a:xfrm>
          <a:prstGeom prst="roundRect">
            <a:avLst>
              <a:gd name="adj" fmla="val 1388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1wd320_sct17"/>
          <p:cNvSpPr txBox="1"/>
          <p:nvPr/>
        </p:nvSpPr>
        <p:spPr>
          <a:xfrm>
            <a:off x="3154680" y="2167128"/>
            <a:ext cx="5394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C4B5FD"/>
                </a:solidFill>
                <a:latin typeface="Courier New"/>
              </a:rPr>
              <a:t>HGETALL icici:sess:8f3a     # nil means expired</a:t>
            </a:r>
          </a:p>
        </p:txBody>
      </p:sp>
      <p:sp>
        <p:nvSpPr>
          <p:cNvPr id="19" name="a1ud390_sn18"/>
          <p:cNvSpPr/>
          <p:nvPr/>
        </p:nvSpPr>
        <p:spPr>
          <a:xfrm>
            <a:off x="457200" y="2679192"/>
            <a:ext cx="329184" cy="32918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1ud390_snt19"/>
          <p:cNvSpPr txBox="1"/>
          <p:nvPr/>
        </p:nvSpPr>
        <p:spPr>
          <a:xfrm>
            <a:off x="457200" y="267919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a1ud420_sl20"/>
          <p:cNvSpPr txBox="1"/>
          <p:nvPr/>
        </p:nvSpPr>
        <p:spPr>
          <a:xfrm>
            <a:off x="914400" y="2679192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Slide the window</a:t>
            </a:r>
          </a:p>
        </p:txBody>
      </p:sp>
      <p:sp>
        <p:nvSpPr>
          <p:cNvPr id="22" name="a1wd450_sc21"/>
          <p:cNvSpPr/>
          <p:nvPr/>
        </p:nvSpPr>
        <p:spPr>
          <a:xfrm>
            <a:off x="3017520" y="2679192"/>
            <a:ext cx="5669280" cy="329184"/>
          </a:xfrm>
          <a:prstGeom prst="roundRect">
            <a:avLst>
              <a:gd name="adj" fmla="val 1388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450_sct22"/>
          <p:cNvSpPr txBox="1"/>
          <p:nvPr/>
        </p:nvSpPr>
        <p:spPr>
          <a:xfrm>
            <a:off x="3154680" y="2679192"/>
            <a:ext cx="5394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C4B5FD"/>
                </a:solidFill>
                <a:latin typeface="Courier New"/>
              </a:rPr>
              <a:t>EXPIRE icici:sess:8f3a 1800 GT</a:t>
            </a:r>
          </a:p>
        </p:txBody>
      </p:sp>
      <p:sp>
        <p:nvSpPr>
          <p:cNvPr id="24" name="a1ud520_sn23"/>
          <p:cNvSpPr/>
          <p:nvPr/>
        </p:nvSpPr>
        <p:spPr>
          <a:xfrm>
            <a:off x="457200" y="3191256"/>
            <a:ext cx="329184" cy="32918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ud520_snt24"/>
          <p:cNvSpPr txBox="1"/>
          <p:nvPr/>
        </p:nvSpPr>
        <p:spPr>
          <a:xfrm>
            <a:off x="457200" y="319125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a1ud550_sl25"/>
          <p:cNvSpPr txBox="1"/>
          <p:nvPr/>
        </p:nvSpPr>
        <p:spPr>
          <a:xfrm>
            <a:off x="914400" y="3191256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Track activity</a:t>
            </a:r>
          </a:p>
        </p:txBody>
      </p:sp>
      <p:sp>
        <p:nvSpPr>
          <p:cNvPr id="27" name="a1wd580_sc26"/>
          <p:cNvSpPr/>
          <p:nvPr/>
        </p:nvSpPr>
        <p:spPr>
          <a:xfrm>
            <a:off x="3017520" y="3191256"/>
            <a:ext cx="5669280" cy="329184"/>
          </a:xfrm>
          <a:prstGeom prst="roundRect">
            <a:avLst>
              <a:gd name="adj" fmla="val 1388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1wd580_sct27"/>
          <p:cNvSpPr txBox="1"/>
          <p:nvPr/>
        </p:nvSpPr>
        <p:spPr>
          <a:xfrm>
            <a:off x="3154680" y="3191256"/>
            <a:ext cx="5394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C4B5FD"/>
                </a:solidFill>
                <a:latin typeface="Courier New"/>
              </a:rPr>
              <a:t>HINCRBY icici:sess:8f3a hits 1</a:t>
            </a:r>
          </a:p>
        </p:txBody>
      </p:sp>
      <p:sp>
        <p:nvSpPr>
          <p:cNvPr id="29" name="a1ud650_sn28"/>
          <p:cNvSpPr/>
          <p:nvPr/>
        </p:nvSpPr>
        <p:spPr>
          <a:xfrm>
            <a:off x="457200" y="3703320"/>
            <a:ext cx="329184" cy="329184"/>
          </a:xfrm>
          <a:prstGeom prst="ellipse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1ud650_snt29"/>
          <p:cNvSpPr txBox="1"/>
          <p:nvPr/>
        </p:nvSpPr>
        <p:spPr>
          <a:xfrm>
            <a:off x="457200" y="370332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1" name="a1ud680_sl30"/>
          <p:cNvSpPr txBox="1"/>
          <p:nvPr/>
        </p:nvSpPr>
        <p:spPr>
          <a:xfrm>
            <a:off x="914400" y="3703320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Logout</a:t>
            </a:r>
          </a:p>
        </p:txBody>
      </p:sp>
      <p:sp>
        <p:nvSpPr>
          <p:cNvPr id="32" name="a1wd710_sc31"/>
          <p:cNvSpPr/>
          <p:nvPr/>
        </p:nvSpPr>
        <p:spPr>
          <a:xfrm>
            <a:off x="3017520" y="3703320"/>
            <a:ext cx="5669280" cy="329184"/>
          </a:xfrm>
          <a:prstGeom prst="roundRect">
            <a:avLst>
              <a:gd name="adj" fmla="val 1388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wd710_sct32"/>
          <p:cNvSpPr txBox="1"/>
          <p:nvPr/>
        </p:nvSpPr>
        <p:spPr>
          <a:xfrm>
            <a:off x="3154680" y="3703320"/>
            <a:ext cx="5394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C4B5FD"/>
                </a:solidFill>
                <a:latin typeface="Courier New"/>
              </a:rPr>
              <a:t>UNLINK icici:sess:8f3a</a:t>
            </a:r>
          </a:p>
        </p:txBody>
      </p:sp>
      <p:sp>
        <p:nvSpPr>
          <p:cNvPr id="34" name="a2u_nb33"/>
          <p:cNvSpPr/>
          <p:nvPr/>
        </p:nvSpPr>
        <p:spPr>
          <a:xfrm>
            <a:off x="457200" y="4270248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2u_nacc34"/>
          <p:cNvSpPr/>
          <p:nvPr/>
        </p:nvSpPr>
        <p:spPr>
          <a:xfrm>
            <a:off x="457200" y="4270248"/>
            <a:ext cx="50292" cy="5486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2u_nt35"/>
          <p:cNvSpPr txBox="1"/>
          <p:nvPr/>
        </p:nvSpPr>
        <p:spPr>
          <a:xfrm>
            <a:off x="658368" y="4270248"/>
            <a:ext cx="782726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1D4ED8"/>
                </a:solidFill>
                <a:latin typeface="Calibri"/>
              </a:rPr>
              <a:t>KEY  </a:t>
            </a:r>
            <a:r>
              <a:rPr sz="1150" b="0">
                <a:solidFill>
                  <a:srgbClr val="334155"/>
                </a:solidFill>
                <a:latin typeface="Calibri"/>
              </a:rPr>
              <a:t>Why a Hash and not a JSON string: HINCRBY updates the hit counter without deserialising, re-serialising and rewriting the whole session - and without losing a concurrent write from another node.</a:t>
            </a:r>
          </a:p>
        </p:txBody>
      </p:sp>
      <p:sp>
        <p:nvSpPr>
          <p:cNvPr id="37" name="ft36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8" name="ft37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5 · Commands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Flow 3 · Invalidation, and Its Two Bugs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 two failure modes every cache eventually hits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43000"/>
            <a:ext cx="3931920" cy="1874519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acc4"/>
          <p:cNvSpPr/>
          <p:nvPr/>
        </p:nvSpPr>
        <p:spPr>
          <a:xfrm>
            <a:off x="457200" y="1143000"/>
            <a:ext cx="50292" cy="1874519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_hh5"/>
          <p:cNvSpPr txBox="1"/>
          <p:nvPr/>
        </p:nvSpPr>
        <p:spPr>
          <a:xfrm>
            <a:off x="658368" y="1252728"/>
            <a:ext cx="35295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DC382C"/>
                </a:solidFill>
                <a:latin typeface="Calibri"/>
              </a:rPr>
              <a:t>STALE READ</a:t>
            </a:r>
          </a:p>
        </p:txBody>
      </p:sp>
      <p:sp>
        <p:nvSpPr>
          <p:cNvPr id="7" name="a1ud60_p6"/>
          <p:cNvSpPr txBox="1"/>
          <p:nvPr/>
        </p:nvSpPr>
        <p:spPr>
          <a:xfrm>
            <a:off x="658368" y="1527048"/>
            <a:ext cx="352958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A debit posts to PostgreSQL but nobody deletes the cached balance. For the next five minutes the app shows the old number.</a:t>
            </a:r>
          </a:p>
        </p:txBody>
      </p:sp>
      <p:sp>
        <p:nvSpPr>
          <p:cNvPr id="8" name="a1fd200_codebg7"/>
          <p:cNvSpPr/>
          <p:nvPr/>
        </p:nvSpPr>
        <p:spPr>
          <a:xfrm>
            <a:off x="658368" y="2130552"/>
            <a:ext cx="3529584" cy="585216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200_code8"/>
          <p:cNvSpPr txBox="1"/>
          <p:nvPr/>
        </p:nvSpPr>
        <p:spPr>
          <a:xfrm>
            <a:off x="749808" y="2221992"/>
            <a:ext cx="3346703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urier New"/>
              </a:rPr>
              <a:t># in the same code path as the write</a:t>
            </a:r>
          </a:p>
        </p:txBody>
      </p:sp>
      <p:sp>
        <p:nvSpPr>
          <p:cNvPr id="10" name="a1wd310_code9"/>
          <p:cNvSpPr txBox="1"/>
          <p:nvPr/>
        </p:nvSpPr>
        <p:spPr>
          <a:xfrm>
            <a:off x="749808" y="2423160"/>
            <a:ext cx="3346703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UNLINK icici:bal:9003</a:t>
            </a:r>
          </a:p>
        </p:txBody>
      </p:sp>
      <p:sp>
        <p:nvSpPr>
          <p:cNvPr id="11" name="a1fd500_fx10"/>
          <p:cNvSpPr txBox="1"/>
          <p:nvPr/>
        </p:nvSpPr>
        <p:spPr>
          <a:xfrm>
            <a:off x="658368" y="2752344"/>
            <a:ext cx="352958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Fix: invalidate where the write happens, not later.</a:t>
            </a:r>
          </a:p>
        </p:txBody>
      </p:sp>
      <p:sp>
        <p:nvSpPr>
          <p:cNvPr id="12" name="a2u_card11"/>
          <p:cNvSpPr/>
          <p:nvPr/>
        </p:nvSpPr>
        <p:spPr>
          <a:xfrm>
            <a:off x="4754880" y="1143000"/>
            <a:ext cx="3931920" cy="1874519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2u_acc12"/>
          <p:cNvSpPr/>
          <p:nvPr/>
        </p:nvSpPr>
        <p:spPr>
          <a:xfrm>
            <a:off x="4754880" y="1143000"/>
            <a:ext cx="50292" cy="1874519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2u_hh13"/>
          <p:cNvSpPr txBox="1"/>
          <p:nvPr/>
        </p:nvSpPr>
        <p:spPr>
          <a:xfrm>
            <a:off x="4956048" y="1252728"/>
            <a:ext cx="35295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B45309"/>
                </a:solidFill>
                <a:latin typeface="Calibri"/>
              </a:rPr>
              <a:t>CACHE STAMPEDE</a:t>
            </a:r>
          </a:p>
        </p:txBody>
      </p:sp>
      <p:sp>
        <p:nvSpPr>
          <p:cNvPr id="15" name="a2ud60_p14"/>
          <p:cNvSpPr txBox="1"/>
          <p:nvPr/>
        </p:nvSpPr>
        <p:spPr>
          <a:xfrm>
            <a:off x="4956048" y="1527048"/>
            <a:ext cx="352958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Ten thousand keys were written at the same moment, so they all expire at the same moment and every request goes to the database at once.</a:t>
            </a:r>
          </a:p>
        </p:txBody>
      </p:sp>
      <p:sp>
        <p:nvSpPr>
          <p:cNvPr id="16" name="a2fd200_codebg15"/>
          <p:cNvSpPr/>
          <p:nvPr/>
        </p:nvSpPr>
        <p:spPr>
          <a:xfrm>
            <a:off x="4956048" y="2130552"/>
            <a:ext cx="3529584" cy="585216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wd200_code16"/>
          <p:cNvSpPr txBox="1"/>
          <p:nvPr/>
        </p:nvSpPr>
        <p:spPr>
          <a:xfrm>
            <a:off x="5047488" y="2221992"/>
            <a:ext cx="3346703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urier New"/>
              </a:rPr>
              <a:t># add jitter: 300s plus 0-60 random</a:t>
            </a:r>
          </a:p>
        </p:txBody>
      </p:sp>
      <p:sp>
        <p:nvSpPr>
          <p:cNvPr id="18" name="a2wd310_code17"/>
          <p:cNvSpPr txBox="1"/>
          <p:nvPr/>
        </p:nvSpPr>
        <p:spPr>
          <a:xfrm>
            <a:off x="5047488" y="2423160"/>
            <a:ext cx="3346703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SET k v EX 327</a:t>
            </a:r>
          </a:p>
        </p:txBody>
      </p:sp>
      <p:sp>
        <p:nvSpPr>
          <p:cNvPr id="19" name="a2fd500_fx18"/>
          <p:cNvSpPr txBox="1"/>
          <p:nvPr/>
        </p:nvSpPr>
        <p:spPr>
          <a:xfrm>
            <a:off x="4956048" y="2752344"/>
            <a:ext cx="352958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Fix: randomise the TTL, and lock the refill.</a:t>
            </a:r>
          </a:p>
        </p:txBody>
      </p:sp>
      <p:sp>
        <p:nvSpPr>
          <p:cNvPr id="20" name="a3f_codebg19"/>
          <p:cNvSpPr/>
          <p:nvPr/>
        </p:nvSpPr>
        <p:spPr>
          <a:xfrm>
            <a:off x="457200" y="3154680"/>
            <a:ext cx="8229600" cy="1078992"/>
          </a:xfrm>
          <a:prstGeom prst="roundRect">
            <a:avLst>
              <a:gd name="adj" fmla="val 677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3w_code20"/>
          <p:cNvSpPr txBox="1"/>
          <p:nvPr/>
        </p:nvSpPr>
        <p:spPr>
          <a:xfrm>
            <a:off x="585216" y="3282696"/>
            <a:ext cx="797356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# guard the refill so only one worker hits the database</a:t>
            </a:r>
          </a:p>
        </p:txBody>
      </p:sp>
      <p:sp>
        <p:nvSpPr>
          <p:cNvPr id="22" name="a3wd110_code21"/>
          <p:cNvSpPr txBox="1"/>
          <p:nvPr/>
        </p:nvSpPr>
        <p:spPr>
          <a:xfrm>
            <a:off x="585216" y="3488436"/>
            <a:ext cx="797356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SET lock:refill:icici:bal:9003 &lt;token&gt; NX PX 5000</a:t>
            </a:r>
          </a:p>
        </p:txBody>
      </p:sp>
      <p:sp>
        <p:nvSpPr>
          <p:cNvPr id="23" name="a3wd220_code22"/>
          <p:cNvSpPr txBox="1"/>
          <p:nvPr/>
        </p:nvSpPr>
        <p:spPr>
          <a:xfrm>
            <a:off x="585216" y="3694176"/>
            <a:ext cx="797356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OK      -&gt; this caller queries PostgreSQL and repopulates</a:t>
            </a:r>
          </a:p>
        </p:txBody>
      </p:sp>
      <p:sp>
        <p:nvSpPr>
          <p:cNvPr id="24" name="a3wd330_code23"/>
          <p:cNvSpPr txBox="1"/>
          <p:nvPr/>
        </p:nvSpPr>
        <p:spPr>
          <a:xfrm>
            <a:off x="585216" y="3899916"/>
            <a:ext cx="797356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(nil)   -&gt; every other caller waits 50 ms and retries the GET</a:t>
            </a:r>
          </a:p>
        </p:txBody>
      </p:sp>
      <p:sp>
        <p:nvSpPr>
          <p:cNvPr id="25" name="ft24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26" name="ft25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5 · Commands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Commands You Should Never Run on Production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Five ways to take a shared cache down, and what to run instead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143000"/>
            <a:ext cx="2148840" cy="338328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143000"/>
            <a:ext cx="203911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urier New"/>
              </a:rPr>
              <a:t>Never</a:t>
            </a:r>
          </a:p>
        </p:txBody>
      </p:sp>
      <p:sp>
        <p:nvSpPr>
          <p:cNvPr id="6" name="a1wd100_td5"/>
          <p:cNvSpPr/>
          <p:nvPr/>
        </p:nvSpPr>
        <p:spPr>
          <a:xfrm>
            <a:off x="457200" y="1481328"/>
            <a:ext cx="2148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100_tdt6"/>
          <p:cNvSpPr txBox="1"/>
          <p:nvPr/>
        </p:nvSpPr>
        <p:spPr>
          <a:xfrm>
            <a:off x="530352" y="1481328"/>
            <a:ext cx="203911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KEYS pattern</a:t>
            </a:r>
          </a:p>
        </p:txBody>
      </p:sp>
      <p:sp>
        <p:nvSpPr>
          <p:cNvPr id="8" name="a1wd200_td7"/>
          <p:cNvSpPr/>
          <p:nvPr/>
        </p:nvSpPr>
        <p:spPr>
          <a:xfrm>
            <a:off x="457200" y="1819656"/>
            <a:ext cx="2148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200_tdt8"/>
          <p:cNvSpPr txBox="1"/>
          <p:nvPr/>
        </p:nvSpPr>
        <p:spPr>
          <a:xfrm>
            <a:off x="530352" y="1819656"/>
            <a:ext cx="203911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SMEMBERS bigset</a:t>
            </a:r>
          </a:p>
        </p:txBody>
      </p:sp>
      <p:sp>
        <p:nvSpPr>
          <p:cNvPr id="10" name="a1wd300_td9"/>
          <p:cNvSpPr/>
          <p:nvPr/>
        </p:nvSpPr>
        <p:spPr>
          <a:xfrm>
            <a:off x="457200" y="2157984"/>
            <a:ext cx="2148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300_tdt10"/>
          <p:cNvSpPr txBox="1"/>
          <p:nvPr/>
        </p:nvSpPr>
        <p:spPr>
          <a:xfrm>
            <a:off x="530352" y="2157984"/>
            <a:ext cx="203911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HGETALL bighash</a:t>
            </a:r>
          </a:p>
        </p:txBody>
      </p:sp>
      <p:sp>
        <p:nvSpPr>
          <p:cNvPr id="12" name="a1wd400_td11"/>
          <p:cNvSpPr/>
          <p:nvPr/>
        </p:nvSpPr>
        <p:spPr>
          <a:xfrm>
            <a:off x="457200" y="2496312"/>
            <a:ext cx="2148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400_tdt12"/>
          <p:cNvSpPr txBox="1"/>
          <p:nvPr/>
        </p:nvSpPr>
        <p:spPr>
          <a:xfrm>
            <a:off x="530352" y="2496312"/>
            <a:ext cx="203911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LRANGE key 0 -1</a:t>
            </a:r>
          </a:p>
        </p:txBody>
      </p:sp>
      <p:sp>
        <p:nvSpPr>
          <p:cNvPr id="14" name="a1wd500_td13"/>
          <p:cNvSpPr/>
          <p:nvPr/>
        </p:nvSpPr>
        <p:spPr>
          <a:xfrm>
            <a:off x="457200" y="2834640"/>
            <a:ext cx="2148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500_tdt14"/>
          <p:cNvSpPr txBox="1"/>
          <p:nvPr/>
        </p:nvSpPr>
        <p:spPr>
          <a:xfrm>
            <a:off x="530352" y="2834640"/>
            <a:ext cx="203911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FLUSHALL</a:t>
            </a:r>
          </a:p>
        </p:txBody>
      </p:sp>
      <p:sp>
        <p:nvSpPr>
          <p:cNvPr id="16" name="a1wd600_td15"/>
          <p:cNvSpPr/>
          <p:nvPr/>
        </p:nvSpPr>
        <p:spPr>
          <a:xfrm>
            <a:off x="457200" y="3172968"/>
            <a:ext cx="2148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600_tdt16"/>
          <p:cNvSpPr txBox="1"/>
          <p:nvPr/>
        </p:nvSpPr>
        <p:spPr>
          <a:xfrm>
            <a:off x="530352" y="3172968"/>
            <a:ext cx="203911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DEL hugekey</a:t>
            </a:r>
          </a:p>
        </p:txBody>
      </p:sp>
      <p:sp>
        <p:nvSpPr>
          <p:cNvPr id="18" name="a1wd700_td17"/>
          <p:cNvSpPr/>
          <p:nvPr/>
        </p:nvSpPr>
        <p:spPr>
          <a:xfrm>
            <a:off x="457200" y="3511296"/>
            <a:ext cx="2148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700_tdt18"/>
          <p:cNvSpPr txBox="1"/>
          <p:nvPr/>
        </p:nvSpPr>
        <p:spPr>
          <a:xfrm>
            <a:off x="530352" y="3511296"/>
            <a:ext cx="203911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MONITOR (left running)</a:t>
            </a:r>
          </a:p>
        </p:txBody>
      </p:sp>
      <p:sp>
        <p:nvSpPr>
          <p:cNvPr id="20" name="a1f_th19"/>
          <p:cNvSpPr/>
          <p:nvPr/>
        </p:nvSpPr>
        <p:spPr>
          <a:xfrm>
            <a:off x="2606040" y="1143000"/>
            <a:ext cx="3429000" cy="33832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f_tht20"/>
          <p:cNvSpPr txBox="1"/>
          <p:nvPr/>
        </p:nvSpPr>
        <p:spPr>
          <a:xfrm>
            <a:off x="2679192" y="1143000"/>
            <a:ext cx="33192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Why it hurts</a:t>
            </a:r>
          </a:p>
        </p:txBody>
      </p:sp>
      <p:sp>
        <p:nvSpPr>
          <p:cNvPr id="22" name="a1wd100_td21"/>
          <p:cNvSpPr/>
          <p:nvPr/>
        </p:nvSpPr>
        <p:spPr>
          <a:xfrm>
            <a:off x="2606040" y="1481328"/>
            <a:ext cx="34290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100_tdt22"/>
          <p:cNvSpPr txBox="1"/>
          <p:nvPr/>
        </p:nvSpPr>
        <p:spPr>
          <a:xfrm>
            <a:off x="2679192" y="1481328"/>
            <a:ext cx="33192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O(n) over every key, blocks the single thread</a:t>
            </a:r>
          </a:p>
        </p:txBody>
      </p:sp>
      <p:sp>
        <p:nvSpPr>
          <p:cNvPr id="24" name="a1wd200_td23"/>
          <p:cNvSpPr/>
          <p:nvPr/>
        </p:nvSpPr>
        <p:spPr>
          <a:xfrm>
            <a:off x="2606040" y="1819656"/>
            <a:ext cx="34290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wd200_tdt24"/>
          <p:cNvSpPr txBox="1"/>
          <p:nvPr/>
        </p:nvSpPr>
        <p:spPr>
          <a:xfrm>
            <a:off x="2679192" y="1819656"/>
            <a:ext cx="33192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Returns and serialises millions of members</a:t>
            </a:r>
          </a:p>
        </p:txBody>
      </p:sp>
      <p:sp>
        <p:nvSpPr>
          <p:cNvPr id="26" name="a1wd300_td25"/>
          <p:cNvSpPr/>
          <p:nvPr/>
        </p:nvSpPr>
        <p:spPr>
          <a:xfrm>
            <a:off x="2606040" y="2157984"/>
            <a:ext cx="34290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300_tdt26"/>
          <p:cNvSpPr txBox="1"/>
          <p:nvPr/>
        </p:nvSpPr>
        <p:spPr>
          <a:xfrm>
            <a:off x="2679192" y="2157984"/>
            <a:ext cx="33192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Same problem, one field at a time is cheaper</a:t>
            </a:r>
          </a:p>
        </p:txBody>
      </p:sp>
      <p:sp>
        <p:nvSpPr>
          <p:cNvPr id="28" name="a1wd400_td27"/>
          <p:cNvSpPr/>
          <p:nvPr/>
        </p:nvSpPr>
        <p:spPr>
          <a:xfrm>
            <a:off x="2606040" y="2496312"/>
            <a:ext cx="34290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wd400_tdt28"/>
          <p:cNvSpPr txBox="1"/>
          <p:nvPr/>
        </p:nvSpPr>
        <p:spPr>
          <a:xfrm>
            <a:off x="2679192" y="2496312"/>
            <a:ext cx="33192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Copies the entire list into the reply buffer</a:t>
            </a:r>
          </a:p>
        </p:txBody>
      </p:sp>
      <p:sp>
        <p:nvSpPr>
          <p:cNvPr id="30" name="a1wd500_td29"/>
          <p:cNvSpPr/>
          <p:nvPr/>
        </p:nvSpPr>
        <p:spPr>
          <a:xfrm>
            <a:off x="2606040" y="2834640"/>
            <a:ext cx="34290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500_tdt30"/>
          <p:cNvSpPr txBox="1"/>
          <p:nvPr/>
        </p:nvSpPr>
        <p:spPr>
          <a:xfrm>
            <a:off x="2679192" y="2834640"/>
            <a:ext cx="33192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Deletes every key in every database, instantly</a:t>
            </a:r>
          </a:p>
        </p:txBody>
      </p:sp>
      <p:sp>
        <p:nvSpPr>
          <p:cNvPr id="32" name="a1wd600_td31"/>
          <p:cNvSpPr/>
          <p:nvPr/>
        </p:nvSpPr>
        <p:spPr>
          <a:xfrm>
            <a:off x="2606040" y="3172968"/>
            <a:ext cx="34290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wd600_tdt32"/>
          <p:cNvSpPr txBox="1"/>
          <p:nvPr/>
        </p:nvSpPr>
        <p:spPr>
          <a:xfrm>
            <a:off x="2679192" y="3172968"/>
            <a:ext cx="33192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Frees memory inline - seconds of blocking</a:t>
            </a:r>
          </a:p>
        </p:txBody>
      </p:sp>
      <p:sp>
        <p:nvSpPr>
          <p:cNvPr id="34" name="a1wd700_td33"/>
          <p:cNvSpPr/>
          <p:nvPr/>
        </p:nvSpPr>
        <p:spPr>
          <a:xfrm>
            <a:off x="2606040" y="3511296"/>
            <a:ext cx="34290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1wd700_tdt34"/>
          <p:cNvSpPr txBox="1"/>
          <p:nvPr/>
        </p:nvSpPr>
        <p:spPr>
          <a:xfrm>
            <a:off x="2679192" y="3511296"/>
            <a:ext cx="331927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Every command is copied to your client</a:t>
            </a:r>
          </a:p>
        </p:txBody>
      </p:sp>
      <p:sp>
        <p:nvSpPr>
          <p:cNvPr id="36" name="a1f_th35"/>
          <p:cNvSpPr/>
          <p:nvPr/>
        </p:nvSpPr>
        <p:spPr>
          <a:xfrm>
            <a:off x="6035040" y="1143000"/>
            <a:ext cx="2651760" cy="3383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1f_tht36"/>
          <p:cNvSpPr txBox="1"/>
          <p:nvPr/>
        </p:nvSpPr>
        <p:spPr>
          <a:xfrm>
            <a:off x="6108192" y="1143000"/>
            <a:ext cx="254203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urier New"/>
              </a:rPr>
              <a:t>Instead</a:t>
            </a:r>
          </a:p>
        </p:txBody>
      </p:sp>
      <p:sp>
        <p:nvSpPr>
          <p:cNvPr id="38" name="a1wd100_td37"/>
          <p:cNvSpPr/>
          <p:nvPr/>
        </p:nvSpPr>
        <p:spPr>
          <a:xfrm>
            <a:off x="6035040" y="1481328"/>
            <a:ext cx="26517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1wd100_tdt38"/>
          <p:cNvSpPr txBox="1"/>
          <p:nvPr/>
        </p:nvSpPr>
        <p:spPr>
          <a:xfrm>
            <a:off x="6108192" y="1481328"/>
            <a:ext cx="254203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SCAN cursor MATCH p</a:t>
            </a:r>
          </a:p>
        </p:txBody>
      </p:sp>
      <p:sp>
        <p:nvSpPr>
          <p:cNvPr id="40" name="a1wd200_td39"/>
          <p:cNvSpPr/>
          <p:nvPr/>
        </p:nvSpPr>
        <p:spPr>
          <a:xfrm>
            <a:off x="6035040" y="1819656"/>
            <a:ext cx="26517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1wd200_tdt40"/>
          <p:cNvSpPr txBox="1"/>
          <p:nvPr/>
        </p:nvSpPr>
        <p:spPr>
          <a:xfrm>
            <a:off x="6108192" y="1819656"/>
            <a:ext cx="254203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SSCAN, or SINTERCARD</a:t>
            </a:r>
          </a:p>
        </p:txBody>
      </p:sp>
      <p:sp>
        <p:nvSpPr>
          <p:cNvPr id="42" name="a1wd300_td41"/>
          <p:cNvSpPr/>
          <p:nvPr/>
        </p:nvSpPr>
        <p:spPr>
          <a:xfrm>
            <a:off x="6035040" y="2157984"/>
            <a:ext cx="26517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1wd300_tdt42"/>
          <p:cNvSpPr txBox="1"/>
          <p:nvPr/>
        </p:nvSpPr>
        <p:spPr>
          <a:xfrm>
            <a:off x="6108192" y="2157984"/>
            <a:ext cx="254203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HSCAN or HMGET</a:t>
            </a:r>
          </a:p>
        </p:txBody>
      </p:sp>
      <p:sp>
        <p:nvSpPr>
          <p:cNvPr id="44" name="a1wd400_td43"/>
          <p:cNvSpPr/>
          <p:nvPr/>
        </p:nvSpPr>
        <p:spPr>
          <a:xfrm>
            <a:off x="6035040" y="2496312"/>
            <a:ext cx="26517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1wd400_tdt44"/>
          <p:cNvSpPr txBox="1"/>
          <p:nvPr/>
        </p:nvSpPr>
        <p:spPr>
          <a:xfrm>
            <a:off x="6108192" y="2496312"/>
            <a:ext cx="254203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LRANGE with a real window</a:t>
            </a:r>
          </a:p>
        </p:txBody>
      </p:sp>
      <p:sp>
        <p:nvSpPr>
          <p:cNvPr id="46" name="a1wd500_td45"/>
          <p:cNvSpPr/>
          <p:nvPr/>
        </p:nvSpPr>
        <p:spPr>
          <a:xfrm>
            <a:off x="6035040" y="2834640"/>
            <a:ext cx="26517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1wd500_tdt46"/>
          <p:cNvSpPr txBox="1"/>
          <p:nvPr/>
        </p:nvSpPr>
        <p:spPr>
          <a:xfrm>
            <a:off x="6108192" y="2834640"/>
            <a:ext cx="254203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UNLINK by prefix via SCAN</a:t>
            </a:r>
          </a:p>
        </p:txBody>
      </p:sp>
      <p:sp>
        <p:nvSpPr>
          <p:cNvPr id="48" name="a1wd600_td47"/>
          <p:cNvSpPr/>
          <p:nvPr/>
        </p:nvSpPr>
        <p:spPr>
          <a:xfrm>
            <a:off x="6035040" y="3172968"/>
            <a:ext cx="26517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1wd600_tdt48"/>
          <p:cNvSpPr txBox="1"/>
          <p:nvPr/>
        </p:nvSpPr>
        <p:spPr>
          <a:xfrm>
            <a:off x="6108192" y="3172968"/>
            <a:ext cx="254203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UNLINK hugekey</a:t>
            </a:r>
          </a:p>
        </p:txBody>
      </p:sp>
      <p:sp>
        <p:nvSpPr>
          <p:cNvPr id="50" name="a1wd700_td49"/>
          <p:cNvSpPr/>
          <p:nvPr/>
        </p:nvSpPr>
        <p:spPr>
          <a:xfrm>
            <a:off x="6035040" y="3511296"/>
            <a:ext cx="26517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a1wd700_tdt50"/>
          <p:cNvSpPr txBox="1"/>
          <p:nvPr/>
        </p:nvSpPr>
        <p:spPr>
          <a:xfrm>
            <a:off x="6108192" y="3511296"/>
            <a:ext cx="2542032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SLOWLOG GET</a:t>
            </a:r>
          </a:p>
        </p:txBody>
      </p:sp>
      <p:sp>
        <p:nvSpPr>
          <p:cNvPr id="52" name="a2u_nb51"/>
          <p:cNvSpPr/>
          <p:nvPr/>
        </p:nvSpPr>
        <p:spPr>
          <a:xfrm>
            <a:off x="457200" y="3849624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a2u_nacc52"/>
          <p:cNvSpPr/>
          <p:nvPr/>
        </p:nvSpPr>
        <p:spPr>
          <a:xfrm>
            <a:off x="457200" y="3849624"/>
            <a:ext cx="50292" cy="530352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a2u_nt53"/>
          <p:cNvSpPr txBox="1"/>
          <p:nvPr/>
        </p:nvSpPr>
        <p:spPr>
          <a:xfrm>
            <a:off x="658368" y="3849624"/>
            <a:ext cx="782726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DC382C"/>
                </a:solidFill>
                <a:latin typeface="Calibri"/>
              </a:rPr>
              <a:t>KEY  </a:t>
            </a:r>
            <a:r>
              <a:rPr sz="1050" b="0">
                <a:solidFill>
                  <a:srgbClr val="334155"/>
                </a:solidFill>
                <a:latin typeface="Calibri"/>
              </a:rPr>
              <a:t>Every one of these is O(n) and Redis is single-threaded. There is no "it will just be a bit slow" - while it runs, every other client is stopped.</a:t>
            </a:r>
          </a:p>
        </p:txBody>
      </p:sp>
      <p:sp>
        <p:nvSpPr>
          <p:cNvPr id="55" name="ft54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56" name="ft55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5 · Commands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The Cheat Sheet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One slide to keep beside you during the labs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43000"/>
            <a:ext cx="1956816" cy="1481328"/>
          </a:xfrm>
          <a:prstGeom prst="roundRect">
            <a:avLst>
              <a:gd name="adj" fmla="val 617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acc4"/>
          <p:cNvSpPr/>
          <p:nvPr/>
        </p:nvSpPr>
        <p:spPr>
          <a:xfrm>
            <a:off x="457200" y="1143000"/>
            <a:ext cx="1956816" cy="45720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d30_gn5"/>
          <p:cNvSpPr txBox="1"/>
          <p:nvPr/>
        </p:nvSpPr>
        <p:spPr>
          <a:xfrm>
            <a:off x="585216" y="1252728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DC382C"/>
                </a:solidFill>
                <a:latin typeface="Calibri"/>
              </a:rPr>
              <a:t>KEYS</a:t>
            </a:r>
          </a:p>
        </p:txBody>
      </p:sp>
      <p:sp>
        <p:nvSpPr>
          <p:cNvPr id="7" name="a1ud60_gc6"/>
          <p:cNvSpPr txBox="1"/>
          <p:nvPr/>
        </p:nvSpPr>
        <p:spPr>
          <a:xfrm>
            <a:off x="585216" y="1527048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EXISTS  TYPE  TTL</a:t>
            </a:r>
          </a:p>
        </p:txBody>
      </p:sp>
      <p:sp>
        <p:nvSpPr>
          <p:cNvPr id="8" name="a1ud110_gc7"/>
          <p:cNvSpPr txBox="1"/>
          <p:nvPr/>
        </p:nvSpPr>
        <p:spPr>
          <a:xfrm>
            <a:off x="585216" y="1783080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EXPIRE  PERSIST</a:t>
            </a:r>
          </a:p>
        </p:txBody>
      </p:sp>
      <p:sp>
        <p:nvSpPr>
          <p:cNvPr id="9" name="a1ud160_gc8"/>
          <p:cNvSpPr txBox="1"/>
          <p:nvPr/>
        </p:nvSpPr>
        <p:spPr>
          <a:xfrm>
            <a:off x="585216" y="2039112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DEL  UNLINK  RENAME</a:t>
            </a:r>
          </a:p>
        </p:txBody>
      </p:sp>
      <p:sp>
        <p:nvSpPr>
          <p:cNvPr id="10" name="a1ud210_gc9"/>
          <p:cNvSpPr txBox="1"/>
          <p:nvPr/>
        </p:nvSpPr>
        <p:spPr>
          <a:xfrm>
            <a:off x="585216" y="2295144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SCAN MATCH COUNT</a:t>
            </a:r>
          </a:p>
        </p:txBody>
      </p:sp>
      <p:sp>
        <p:nvSpPr>
          <p:cNvPr id="11" name="a1ud100_card10"/>
          <p:cNvSpPr/>
          <p:nvPr/>
        </p:nvSpPr>
        <p:spPr>
          <a:xfrm>
            <a:off x="2578608" y="1143000"/>
            <a:ext cx="1956816" cy="1481328"/>
          </a:xfrm>
          <a:prstGeom prst="roundRect">
            <a:avLst>
              <a:gd name="adj" fmla="val 617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ud100_acc11"/>
          <p:cNvSpPr/>
          <p:nvPr/>
        </p:nvSpPr>
        <p:spPr>
          <a:xfrm>
            <a:off x="2578608" y="1143000"/>
            <a:ext cx="1956816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ud130_gn12"/>
          <p:cNvSpPr txBox="1"/>
          <p:nvPr/>
        </p:nvSpPr>
        <p:spPr>
          <a:xfrm>
            <a:off x="2706624" y="1252728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8B5CF6"/>
                </a:solidFill>
                <a:latin typeface="Calibri"/>
              </a:rPr>
              <a:t>STRING</a:t>
            </a:r>
          </a:p>
        </p:txBody>
      </p:sp>
      <p:sp>
        <p:nvSpPr>
          <p:cNvPr id="14" name="a1ud160_gc13"/>
          <p:cNvSpPr txBox="1"/>
          <p:nvPr/>
        </p:nvSpPr>
        <p:spPr>
          <a:xfrm>
            <a:off x="2706624" y="1527048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SET k v EX n NX</a:t>
            </a:r>
          </a:p>
        </p:txBody>
      </p:sp>
      <p:sp>
        <p:nvSpPr>
          <p:cNvPr id="15" name="a1ud210_gc14"/>
          <p:cNvSpPr txBox="1"/>
          <p:nvPr/>
        </p:nvSpPr>
        <p:spPr>
          <a:xfrm>
            <a:off x="2706624" y="1783080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GET  MGET  MSET</a:t>
            </a:r>
          </a:p>
        </p:txBody>
      </p:sp>
      <p:sp>
        <p:nvSpPr>
          <p:cNvPr id="16" name="a1ud260_gc15"/>
          <p:cNvSpPr txBox="1"/>
          <p:nvPr/>
        </p:nvSpPr>
        <p:spPr>
          <a:xfrm>
            <a:off x="2706624" y="2039112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INCR  INCRBY</a:t>
            </a:r>
          </a:p>
        </p:txBody>
      </p:sp>
      <p:sp>
        <p:nvSpPr>
          <p:cNvPr id="17" name="a1ud310_gc16"/>
          <p:cNvSpPr txBox="1"/>
          <p:nvPr/>
        </p:nvSpPr>
        <p:spPr>
          <a:xfrm>
            <a:off x="2706624" y="2295144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GETDEL  GETEX</a:t>
            </a:r>
          </a:p>
        </p:txBody>
      </p:sp>
      <p:sp>
        <p:nvSpPr>
          <p:cNvPr id="18" name="a1ud200_card17"/>
          <p:cNvSpPr/>
          <p:nvPr/>
        </p:nvSpPr>
        <p:spPr>
          <a:xfrm>
            <a:off x="4700016" y="1143000"/>
            <a:ext cx="1956816" cy="1481328"/>
          </a:xfrm>
          <a:prstGeom prst="roundRect">
            <a:avLst>
              <a:gd name="adj" fmla="val 617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ud200_acc18"/>
          <p:cNvSpPr/>
          <p:nvPr/>
        </p:nvSpPr>
        <p:spPr>
          <a:xfrm>
            <a:off x="4700016" y="1143000"/>
            <a:ext cx="1956816" cy="457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1ud230_gn19"/>
          <p:cNvSpPr txBox="1"/>
          <p:nvPr/>
        </p:nvSpPr>
        <p:spPr>
          <a:xfrm>
            <a:off x="4828031" y="1252728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Calibri"/>
              </a:rPr>
              <a:t>HASH</a:t>
            </a:r>
          </a:p>
        </p:txBody>
      </p:sp>
      <p:sp>
        <p:nvSpPr>
          <p:cNvPr id="21" name="a1ud260_gc20"/>
          <p:cNvSpPr txBox="1"/>
          <p:nvPr/>
        </p:nvSpPr>
        <p:spPr>
          <a:xfrm>
            <a:off x="4828031" y="1527048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HSET  HGET  HMGET</a:t>
            </a:r>
          </a:p>
        </p:txBody>
      </p:sp>
      <p:sp>
        <p:nvSpPr>
          <p:cNvPr id="22" name="a1ud310_gc21"/>
          <p:cNvSpPr txBox="1"/>
          <p:nvPr/>
        </p:nvSpPr>
        <p:spPr>
          <a:xfrm>
            <a:off x="4828031" y="1783080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HGETALL  HDEL</a:t>
            </a:r>
          </a:p>
        </p:txBody>
      </p:sp>
      <p:sp>
        <p:nvSpPr>
          <p:cNvPr id="23" name="a1ud360_gc22"/>
          <p:cNvSpPr txBox="1"/>
          <p:nvPr/>
        </p:nvSpPr>
        <p:spPr>
          <a:xfrm>
            <a:off x="4828031" y="2039112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HINCRBY  HLEN</a:t>
            </a:r>
          </a:p>
        </p:txBody>
      </p:sp>
      <p:sp>
        <p:nvSpPr>
          <p:cNvPr id="24" name="a1ud410_gc23"/>
          <p:cNvSpPr txBox="1"/>
          <p:nvPr/>
        </p:nvSpPr>
        <p:spPr>
          <a:xfrm>
            <a:off x="4828031" y="2295144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HSCAN</a:t>
            </a:r>
          </a:p>
        </p:txBody>
      </p:sp>
      <p:sp>
        <p:nvSpPr>
          <p:cNvPr id="25" name="a1ud300_card24"/>
          <p:cNvSpPr/>
          <p:nvPr/>
        </p:nvSpPr>
        <p:spPr>
          <a:xfrm>
            <a:off x="6821423" y="1143000"/>
            <a:ext cx="1956816" cy="1481328"/>
          </a:xfrm>
          <a:prstGeom prst="roundRect">
            <a:avLst>
              <a:gd name="adj" fmla="val 617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1ud300_acc25"/>
          <p:cNvSpPr/>
          <p:nvPr/>
        </p:nvSpPr>
        <p:spPr>
          <a:xfrm>
            <a:off x="6821423" y="1143000"/>
            <a:ext cx="1956816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ud330_gn26"/>
          <p:cNvSpPr txBox="1"/>
          <p:nvPr/>
        </p:nvSpPr>
        <p:spPr>
          <a:xfrm>
            <a:off x="6949439" y="1252728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LIST</a:t>
            </a:r>
          </a:p>
        </p:txBody>
      </p:sp>
      <p:sp>
        <p:nvSpPr>
          <p:cNvPr id="28" name="a1ud360_gc27"/>
          <p:cNvSpPr txBox="1"/>
          <p:nvPr/>
        </p:nvSpPr>
        <p:spPr>
          <a:xfrm>
            <a:off x="6949439" y="1527048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LPUSH  RPUSH</a:t>
            </a:r>
          </a:p>
        </p:txBody>
      </p:sp>
      <p:sp>
        <p:nvSpPr>
          <p:cNvPr id="29" name="a1ud410_gc28"/>
          <p:cNvSpPr txBox="1"/>
          <p:nvPr/>
        </p:nvSpPr>
        <p:spPr>
          <a:xfrm>
            <a:off x="6949439" y="1783080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LPOP  RPOP  BRPOP</a:t>
            </a:r>
          </a:p>
        </p:txBody>
      </p:sp>
      <p:sp>
        <p:nvSpPr>
          <p:cNvPr id="30" name="a1ud460_gc29"/>
          <p:cNvSpPr txBox="1"/>
          <p:nvPr/>
        </p:nvSpPr>
        <p:spPr>
          <a:xfrm>
            <a:off x="6949439" y="2039112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LRANGE  LLEN  LTRIM</a:t>
            </a:r>
          </a:p>
        </p:txBody>
      </p:sp>
      <p:sp>
        <p:nvSpPr>
          <p:cNvPr id="31" name="a1ud510_gc30"/>
          <p:cNvSpPr txBox="1"/>
          <p:nvPr/>
        </p:nvSpPr>
        <p:spPr>
          <a:xfrm>
            <a:off x="6949439" y="2295144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LMOVE</a:t>
            </a:r>
          </a:p>
        </p:txBody>
      </p:sp>
      <p:sp>
        <p:nvSpPr>
          <p:cNvPr id="32" name="a2u_card31"/>
          <p:cNvSpPr/>
          <p:nvPr/>
        </p:nvSpPr>
        <p:spPr>
          <a:xfrm>
            <a:off x="457200" y="2788920"/>
            <a:ext cx="1956816" cy="1481328"/>
          </a:xfrm>
          <a:prstGeom prst="roundRect">
            <a:avLst>
              <a:gd name="adj" fmla="val 617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2u_acc32"/>
          <p:cNvSpPr/>
          <p:nvPr/>
        </p:nvSpPr>
        <p:spPr>
          <a:xfrm>
            <a:off x="457200" y="2788920"/>
            <a:ext cx="1956816" cy="457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2ud30_gn33"/>
          <p:cNvSpPr txBox="1"/>
          <p:nvPr/>
        </p:nvSpPr>
        <p:spPr>
          <a:xfrm>
            <a:off x="585216" y="2898648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B45309"/>
                </a:solidFill>
                <a:latin typeface="Calibri"/>
              </a:rPr>
              <a:t>SET</a:t>
            </a:r>
          </a:p>
        </p:txBody>
      </p:sp>
      <p:sp>
        <p:nvSpPr>
          <p:cNvPr id="35" name="a2ud60_gc34"/>
          <p:cNvSpPr txBox="1"/>
          <p:nvPr/>
        </p:nvSpPr>
        <p:spPr>
          <a:xfrm>
            <a:off x="585216" y="3172968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SADD  SREM  SCARD</a:t>
            </a:r>
          </a:p>
        </p:txBody>
      </p:sp>
      <p:sp>
        <p:nvSpPr>
          <p:cNvPr id="36" name="a2ud110_gc35"/>
          <p:cNvSpPr txBox="1"/>
          <p:nvPr/>
        </p:nvSpPr>
        <p:spPr>
          <a:xfrm>
            <a:off x="585216" y="3429000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SISMEMBER</a:t>
            </a:r>
          </a:p>
        </p:txBody>
      </p:sp>
      <p:sp>
        <p:nvSpPr>
          <p:cNvPr id="37" name="a2ud160_gc36"/>
          <p:cNvSpPr txBox="1"/>
          <p:nvPr/>
        </p:nvSpPr>
        <p:spPr>
          <a:xfrm>
            <a:off x="585216" y="3685031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SINTER  SUNION  SDIFF</a:t>
            </a:r>
          </a:p>
        </p:txBody>
      </p:sp>
      <p:sp>
        <p:nvSpPr>
          <p:cNvPr id="38" name="a2ud210_gc37"/>
          <p:cNvSpPr txBox="1"/>
          <p:nvPr/>
        </p:nvSpPr>
        <p:spPr>
          <a:xfrm>
            <a:off x="585216" y="3941063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SSCAN</a:t>
            </a:r>
          </a:p>
        </p:txBody>
      </p:sp>
      <p:sp>
        <p:nvSpPr>
          <p:cNvPr id="39" name="a2ud100_card38"/>
          <p:cNvSpPr/>
          <p:nvPr/>
        </p:nvSpPr>
        <p:spPr>
          <a:xfrm>
            <a:off x="2578608" y="2788920"/>
            <a:ext cx="1956816" cy="1481328"/>
          </a:xfrm>
          <a:prstGeom prst="roundRect">
            <a:avLst>
              <a:gd name="adj" fmla="val 617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2ud100_acc39"/>
          <p:cNvSpPr/>
          <p:nvPr/>
        </p:nvSpPr>
        <p:spPr>
          <a:xfrm>
            <a:off x="2578608" y="2788920"/>
            <a:ext cx="1956816" cy="45720"/>
          </a:xfrm>
          <a:prstGeom prst="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2ud130_gn40"/>
          <p:cNvSpPr txBox="1"/>
          <p:nvPr/>
        </p:nvSpPr>
        <p:spPr>
          <a:xfrm>
            <a:off x="2706624" y="2898648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BE185D"/>
                </a:solidFill>
                <a:latin typeface="Calibri"/>
              </a:rPr>
              <a:t>ZSET</a:t>
            </a:r>
          </a:p>
        </p:txBody>
      </p:sp>
      <p:sp>
        <p:nvSpPr>
          <p:cNvPr id="42" name="a2ud160_gc41"/>
          <p:cNvSpPr txBox="1"/>
          <p:nvPr/>
        </p:nvSpPr>
        <p:spPr>
          <a:xfrm>
            <a:off x="2706624" y="3172968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ZADD  ZINCRBY</a:t>
            </a:r>
          </a:p>
        </p:txBody>
      </p:sp>
      <p:sp>
        <p:nvSpPr>
          <p:cNvPr id="43" name="a2ud210_gc42"/>
          <p:cNvSpPr txBox="1"/>
          <p:nvPr/>
        </p:nvSpPr>
        <p:spPr>
          <a:xfrm>
            <a:off x="2706624" y="3429000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ZRANGE  ZREVRANGE</a:t>
            </a:r>
          </a:p>
        </p:txBody>
      </p:sp>
      <p:sp>
        <p:nvSpPr>
          <p:cNvPr id="44" name="a2ud260_gc43"/>
          <p:cNvSpPr txBox="1"/>
          <p:nvPr/>
        </p:nvSpPr>
        <p:spPr>
          <a:xfrm>
            <a:off x="2706624" y="3685031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ZRANK  ZSCORE</a:t>
            </a:r>
          </a:p>
        </p:txBody>
      </p:sp>
      <p:sp>
        <p:nvSpPr>
          <p:cNvPr id="45" name="a2ud310_gc44"/>
          <p:cNvSpPr txBox="1"/>
          <p:nvPr/>
        </p:nvSpPr>
        <p:spPr>
          <a:xfrm>
            <a:off x="2706624" y="3941063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ZRANGEBYSCORE</a:t>
            </a:r>
          </a:p>
        </p:txBody>
      </p:sp>
      <p:sp>
        <p:nvSpPr>
          <p:cNvPr id="46" name="a2ud200_card45"/>
          <p:cNvSpPr/>
          <p:nvPr/>
        </p:nvSpPr>
        <p:spPr>
          <a:xfrm>
            <a:off x="4700016" y="2788920"/>
            <a:ext cx="1956816" cy="1481328"/>
          </a:xfrm>
          <a:prstGeom prst="roundRect">
            <a:avLst>
              <a:gd name="adj" fmla="val 617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2ud200_acc46"/>
          <p:cNvSpPr/>
          <p:nvPr/>
        </p:nvSpPr>
        <p:spPr>
          <a:xfrm>
            <a:off x="4700016" y="2788920"/>
            <a:ext cx="1956816" cy="457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a2ud230_gn47"/>
          <p:cNvSpPr txBox="1"/>
          <p:nvPr/>
        </p:nvSpPr>
        <p:spPr>
          <a:xfrm>
            <a:off x="4828031" y="2898648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15803D"/>
                </a:solidFill>
                <a:latin typeface="Calibri"/>
              </a:rPr>
              <a:t>SERVER</a:t>
            </a:r>
          </a:p>
        </p:txBody>
      </p:sp>
      <p:sp>
        <p:nvSpPr>
          <p:cNvPr id="49" name="a2ud260_gc48"/>
          <p:cNvSpPr txBox="1"/>
          <p:nvPr/>
        </p:nvSpPr>
        <p:spPr>
          <a:xfrm>
            <a:off x="4828031" y="3172968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INFO  DBSIZE</a:t>
            </a:r>
          </a:p>
        </p:txBody>
      </p:sp>
      <p:sp>
        <p:nvSpPr>
          <p:cNvPr id="50" name="a2ud310_gc49"/>
          <p:cNvSpPr txBox="1"/>
          <p:nvPr/>
        </p:nvSpPr>
        <p:spPr>
          <a:xfrm>
            <a:off x="4828031" y="3429000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CONFIG GET/SET</a:t>
            </a:r>
          </a:p>
        </p:txBody>
      </p:sp>
      <p:sp>
        <p:nvSpPr>
          <p:cNvPr id="51" name="a2ud360_gc50"/>
          <p:cNvSpPr txBox="1"/>
          <p:nvPr/>
        </p:nvSpPr>
        <p:spPr>
          <a:xfrm>
            <a:off x="4828031" y="3685031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SLOWLOG GET</a:t>
            </a:r>
          </a:p>
        </p:txBody>
      </p:sp>
      <p:sp>
        <p:nvSpPr>
          <p:cNvPr id="52" name="a2ud410_gc51"/>
          <p:cNvSpPr txBox="1"/>
          <p:nvPr/>
        </p:nvSpPr>
        <p:spPr>
          <a:xfrm>
            <a:off x="4828031" y="3941063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CLIENT LIST</a:t>
            </a:r>
          </a:p>
        </p:txBody>
      </p:sp>
      <p:sp>
        <p:nvSpPr>
          <p:cNvPr id="53" name="a2ud300_card52"/>
          <p:cNvSpPr/>
          <p:nvPr/>
        </p:nvSpPr>
        <p:spPr>
          <a:xfrm>
            <a:off x="6821423" y="2788920"/>
            <a:ext cx="1956816" cy="1481328"/>
          </a:xfrm>
          <a:prstGeom prst="roundRect">
            <a:avLst>
              <a:gd name="adj" fmla="val 617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a2ud300_acc53"/>
          <p:cNvSpPr/>
          <p:nvPr/>
        </p:nvSpPr>
        <p:spPr>
          <a:xfrm>
            <a:off x="6821423" y="2788920"/>
            <a:ext cx="1956816" cy="457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a2ud330_gn54"/>
          <p:cNvSpPr txBox="1"/>
          <p:nvPr/>
        </p:nvSpPr>
        <p:spPr>
          <a:xfrm>
            <a:off x="6949439" y="2898648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6D28D9"/>
                </a:solidFill>
                <a:latin typeface="Calibri"/>
              </a:rPr>
              <a:t>ADVANCED</a:t>
            </a:r>
          </a:p>
        </p:txBody>
      </p:sp>
      <p:sp>
        <p:nvSpPr>
          <p:cNvPr id="56" name="a2ud360_gc55"/>
          <p:cNvSpPr txBox="1"/>
          <p:nvPr/>
        </p:nvSpPr>
        <p:spPr>
          <a:xfrm>
            <a:off x="6949439" y="3172968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MULTI  EXEC  WATCH</a:t>
            </a:r>
          </a:p>
        </p:txBody>
      </p:sp>
      <p:sp>
        <p:nvSpPr>
          <p:cNvPr id="57" name="a2ud410_gc56"/>
          <p:cNvSpPr txBox="1"/>
          <p:nvPr/>
        </p:nvSpPr>
        <p:spPr>
          <a:xfrm>
            <a:off x="6949439" y="3429000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EVAL  EVALSHA</a:t>
            </a:r>
          </a:p>
        </p:txBody>
      </p:sp>
      <p:sp>
        <p:nvSpPr>
          <p:cNvPr id="58" name="a2ud460_gc57"/>
          <p:cNvSpPr txBox="1"/>
          <p:nvPr/>
        </p:nvSpPr>
        <p:spPr>
          <a:xfrm>
            <a:off x="6949439" y="3685031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XADD  XREADGROUP</a:t>
            </a:r>
          </a:p>
        </p:txBody>
      </p:sp>
      <p:sp>
        <p:nvSpPr>
          <p:cNvPr id="59" name="a2ud510_gc58"/>
          <p:cNvSpPr txBox="1"/>
          <p:nvPr/>
        </p:nvSpPr>
        <p:spPr>
          <a:xfrm>
            <a:off x="6949439" y="3941063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Courier New"/>
              </a:rPr>
              <a:t>PUBLISH  SUBSCRIBE</a:t>
            </a:r>
          </a:p>
        </p:txBody>
      </p:sp>
      <p:sp>
        <p:nvSpPr>
          <p:cNvPr id="60" name="ft59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61" name="ft6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5 · Commands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" presetClass="entr" presetSubtype="4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" presetClass="entr" presetSubtype="4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grpId="0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" presetClass="entr" presetSubtype="4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" presetClass="entr" presetSubtype="4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" presetClass="entr" presetSubtype="4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2" presetClass="entr" presetSubtype="4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2" presetClass="entr" presetSubtype="4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2" presetClass="entr" presetSubtype="4" fill="hold" grpId="0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2" presetClass="entr" presetSubtype="4" fill="hold" grpId="0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2" presetClass="entr" presetSubtype="4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2" presetClass="entr" presetSubtype="4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2" presetClass="entr" presetSubtype="4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2" presetClass="entr" presetSubtype="4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2" presetClass="entr" presetSubtype="4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h1"/>
          <p:cNvSpPr txBox="1"/>
          <p:nvPr/>
        </p:nvSpPr>
        <p:spPr>
          <a:xfrm>
            <a:off x="548640" y="384048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3" name="a1u_n2"/>
          <p:cNvSpPr/>
          <p:nvPr/>
        </p:nvSpPr>
        <p:spPr>
          <a:xfrm>
            <a:off x="548640" y="129844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a1u_nt3"/>
          <p:cNvSpPr txBox="1"/>
          <p:nvPr/>
        </p:nvSpPr>
        <p:spPr>
          <a:xfrm>
            <a:off x="548640" y="129844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a1u_nb4"/>
          <p:cNvSpPr txBox="1"/>
          <p:nvPr/>
        </p:nvSpPr>
        <p:spPr>
          <a:xfrm>
            <a:off x="1152144" y="1252728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The key name is your schema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app:entity:id:attribute, decided once. Everything else - scanning, cleanup, dashboards - follows from it.</a:t>
            </a:r>
          </a:p>
        </p:txBody>
      </p:sp>
      <p:sp>
        <p:nvSpPr>
          <p:cNvPr id="6" name="a1ud200_n5"/>
          <p:cNvSpPr/>
          <p:nvPr/>
        </p:nvSpPr>
        <p:spPr>
          <a:xfrm>
            <a:off x="548640" y="2048255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ud200_nt6"/>
          <p:cNvSpPr txBox="1"/>
          <p:nvPr/>
        </p:nvSpPr>
        <p:spPr>
          <a:xfrm>
            <a:off x="548640" y="2048255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a1ud200_nb7"/>
          <p:cNvSpPr txBox="1"/>
          <p:nvPr/>
        </p:nvSpPr>
        <p:spPr>
          <a:xfrm>
            <a:off x="1152144" y="2002536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SCAN, never KEYS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And UNLINK, never DEL on anything large. One thread means one slow command stops everyone.</a:t>
            </a:r>
          </a:p>
        </p:txBody>
      </p:sp>
      <p:sp>
        <p:nvSpPr>
          <p:cNvPr id="9" name="a1ud400_n8"/>
          <p:cNvSpPr/>
          <p:nvPr/>
        </p:nvSpPr>
        <p:spPr>
          <a:xfrm>
            <a:off x="548640" y="2798063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ud400_nt9"/>
          <p:cNvSpPr txBox="1"/>
          <p:nvPr/>
        </p:nvSpPr>
        <p:spPr>
          <a:xfrm>
            <a:off x="548640" y="2798063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a1ud400_nb10"/>
          <p:cNvSpPr txBox="1"/>
          <p:nvPr/>
        </p:nvSpPr>
        <p:spPr>
          <a:xfrm>
            <a:off x="1152144" y="2752344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Learn the SET options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EX, NX, XX, KEEPTTL and GET turn one command into a cache write, a lock and a compare-and-set.</a:t>
            </a:r>
          </a:p>
        </p:txBody>
      </p:sp>
      <p:sp>
        <p:nvSpPr>
          <p:cNvPr id="12" name="a1ud600_n11"/>
          <p:cNvSpPr/>
          <p:nvPr/>
        </p:nvSpPr>
        <p:spPr>
          <a:xfrm>
            <a:off x="548640" y="3547871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ud600_nt12"/>
          <p:cNvSpPr txBox="1"/>
          <p:nvPr/>
        </p:nvSpPr>
        <p:spPr>
          <a:xfrm>
            <a:off x="548640" y="3547871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a1ud600_nb13"/>
          <p:cNvSpPr txBox="1"/>
          <p:nvPr/>
        </p:nvSpPr>
        <p:spPr>
          <a:xfrm>
            <a:off x="1152144" y="3502151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Pick the type, and the commands follow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Hash for records, List for queues, Set for membership, Sorted Set for ranking, Stream for replay.</a:t>
            </a:r>
          </a:p>
        </p:txBody>
      </p:sp>
      <p:sp>
        <p:nvSpPr>
          <p:cNvPr id="15" name="a1ud800_n14"/>
          <p:cNvSpPr/>
          <p:nvPr/>
        </p:nvSpPr>
        <p:spPr>
          <a:xfrm>
            <a:off x="548640" y="4297679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ud800_nt15"/>
          <p:cNvSpPr txBox="1"/>
          <p:nvPr/>
        </p:nvSpPr>
        <p:spPr>
          <a:xfrm>
            <a:off x="548640" y="4297679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a1ud800_nb16"/>
          <p:cNvSpPr txBox="1"/>
          <p:nvPr/>
        </p:nvSpPr>
        <p:spPr>
          <a:xfrm>
            <a:off x="1152144" y="4251959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Invalidate at the write, and add jitter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Stale reads and stampedes are the only two cache bugs that matter - both have one-line fixes.</a:t>
            </a:r>
          </a:p>
        </p:txBody>
      </p:sp>
      <p:sp>
        <p:nvSpPr>
          <p:cNvPr id="18" name="a2u_next17"/>
          <p:cNvSpPr/>
          <p:nvPr/>
        </p:nvSpPr>
        <p:spPr>
          <a:xfrm>
            <a:off x="6172200" y="3246120"/>
            <a:ext cx="2514600" cy="1005840"/>
          </a:xfrm>
          <a:prstGeom prst="roundRect">
            <a:avLst>
              <a:gd name="adj" fmla="val 909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u_nextt18"/>
          <p:cNvSpPr txBox="1"/>
          <p:nvPr/>
        </p:nvSpPr>
        <p:spPr>
          <a:xfrm>
            <a:off x="6355080" y="3364992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spc="220">
                <a:solidFill>
                  <a:srgbClr val="A78BFA"/>
                </a:solidFill>
                <a:latin typeface="Calibri"/>
              </a:rPr>
              <a:t>UP NEXT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Labs 7.1 to 7.10 · then the exercises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