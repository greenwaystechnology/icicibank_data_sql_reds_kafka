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Inside Redis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tools, the wire protocol, the keyspace and the configuration file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TOOLS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RESP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KEYSPACE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CONF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4 of 5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This Deck Covers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Everything between your keyboard and the bytes in RAM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1906524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Tools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PART 1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redis-server, redis-cli, benchmark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check-rdb, check-aof, sentinel, GUI</a:t>
            </a:r>
          </a:p>
        </p:txBody>
      </p:sp>
      <p:sp>
        <p:nvSpPr>
          <p:cNvPr id="12" name="a2u_card11"/>
          <p:cNvSpPr/>
          <p:nvPr/>
        </p:nvSpPr>
        <p:spPr>
          <a:xfrm>
            <a:off x="2564892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2564892" y="1216152"/>
            <a:ext cx="190652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272948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272948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2729484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Protocol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2729484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PART 2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2729484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RESP2 and RESP3 on the wire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2729484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Pipelining and why it matters</a:t>
            </a:r>
          </a:p>
        </p:txBody>
      </p:sp>
      <p:sp>
        <p:nvSpPr>
          <p:cNvPr id="20" name="a3u_card19"/>
          <p:cNvSpPr/>
          <p:nvPr/>
        </p:nvSpPr>
        <p:spPr>
          <a:xfrm>
            <a:off x="4672584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4672584" y="1216152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4837176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4837176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4837176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Storage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4837176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PART 3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4837176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Keyspace, dict, encodings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4837176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Expiry, eviction, persistence</a:t>
            </a:r>
          </a:p>
        </p:txBody>
      </p:sp>
      <p:sp>
        <p:nvSpPr>
          <p:cNvPr id="28" name="a4u_card27"/>
          <p:cNvSpPr/>
          <p:nvPr/>
        </p:nvSpPr>
        <p:spPr>
          <a:xfrm>
            <a:off x="6780276" y="1216152"/>
            <a:ext cx="1906524" cy="150876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acc28"/>
          <p:cNvSpPr/>
          <p:nvPr/>
        </p:nvSpPr>
        <p:spPr>
          <a:xfrm>
            <a:off x="6780276" y="1216152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d60_ic29"/>
          <p:cNvSpPr/>
          <p:nvPr/>
        </p:nvSpPr>
        <p:spPr>
          <a:xfrm>
            <a:off x="694486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4ud60_ict30"/>
          <p:cNvSpPr txBox="1"/>
          <p:nvPr/>
        </p:nvSpPr>
        <p:spPr>
          <a:xfrm>
            <a:off x="694486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a4ud90_ct31"/>
          <p:cNvSpPr txBox="1"/>
          <p:nvPr/>
        </p:nvSpPr>
        <p:spPr>
          <a:xfrm>
            <a:off x="6944868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Config</a:t>
            </a:r>
          </a:p>
        </p:txBody>
      </p:sp>
      <p:sp>
        <p:nvSpPr>
          <p:cNvPr id="33" name="a4ud120_cs32"/>
          <p:cNvSpPr txBox="1"/>
          <p:nvPr/>
        </p:nvSpPr>
        <p:spPr>
          <a:xfrm>
            <a:off x="6944868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PART 4</a:t>
            </a:r>
          </a:p>
        </p:txBody>
      </p:sp>
      <p:sp>
        <p:nvSpPr>
          <p:cNvPr id="34" name="a4ud150_cb33"/>
          <p:cNvSpPr txBox="1"/>
          <p:nvPr/>
        </p:nvSpPr>
        <p:spPr>
          <a:xfrm>
            <a:off x="6944868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redis.conf section by section</a:t>
            </a:r>
          </a:p>
        </p:txBody>
      </p:sp>
      <p:sp>
        <p:nvSpPr>
          <p:cNvPr id="35" name="a4ud220_cb34"/>
          <p:cNvSpPr txBox="1"/>
          <p:nvPr/>
        </p:nvSpPr>
        <p:spPr>
          <a:xfrm>
            <a:off x="6944868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 production baseline to copy</a:t>
            </a:r>
          </a:p>
        </p:txBody>
      </p:sp>
      <p:sp>
        <p:nvSpPr>
          <p:cNvPr id="36" name="a5u_nb35"/>
          <p:cNvSpPr/>
          <p:nvPr/>
        </p:nvSpPr>
        <p:spPr>
          <a:xfrm>
            <a:off x="457200" y="2907791"/>
            <a:ext cx="8229600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5u_nacc36"/>
          <p:cNvSpPr/>
          <p:nvPr/>
        </p:nvSpPr>
        <p:spPr>
          <a:xfrm>
            <a:off x="457200" y="2907791"/>
            <a:ext cx="50292" cy="6217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5u_nt37"/>
          <p:cNvSpPr txBox="1"/>
          <p:nvPr/>
        </p:nvSpPr>
        <p:spPr>
          <a:xfrm>
            <a:off x="658368" y="2907791"/>
            <a:ext cx="78272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8B5CF6"/>
                </a:solidFill>
                <a:latin typeface="Calibri"/>
              </a:rPr>
              <a:t>NOTE  </a:t>
            </a:r>
            <a:r>
              <a:rPr sz="1150" b="0">
                <a:solidFill>
                  <a:srgbClr val="334155"/>
                </a:solidFill>
                <a:latin typeface="Calibri"/>
              </a:rPr>
              <a:t>This is the deck that turns Redis from a black box into something you can reason about when it misbehaves at 2 a.m. Every section ends with commands you can run right now.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Tools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ships in the box, and which binary does what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redis-server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redis-cli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redis-benchmark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redis-check-*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RedisInsight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Ships With Redis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binaries - you will use two of them daily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114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89611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40_tn5"/>
          <p:cNvSpPr txBox="1"/>
          <p:nvPr/>
        </p:nvSpPr>
        <p:spPr>
          <a:xfrm>
            <a:off x="658368" y="123444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redis-server</a:t>
            </a:r>
          </a:p>
        </p:txBody>
      </p:sp>
      <p:sp>
        <p:nvSpPr>
          <p:cNvPr id="7" name="a1ud60_tt6"/>
          <p:cNvSpPr txBox="1"/>
          <p:nvPr/>
        </p:nvSpPr>
        <p:spPr>
          <a:xfrm>
            <a:off x="2798064" y="123444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DC382C"/>
                </a:solidFill>
                <a:latin typeface="Calibri"/>
              </a:rPr>
              <a:t>The database itself</a:t>
            </a:r>
          </a:p>
        </p:txBody>
      </p:sp>
      <p:sp>
        <p:nvSpPr>
          <p:cNvPr id="8" name="a1ud90_td7"/>
          <p:cNvSpPr txBox="1"/>
          <p:nvPr/>
        </p:nvSpPr>
        <p:spPr>
          <a:xfrm>
            <a:off x="658368" y="1508760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Starts the server. Takes a config file path and optional overrides on the command line.</a:t>
            </a:r>
          </a:p>
        </p:txBody>
      </p:sp>
      <p:sp>
        <p:nvSpPr>
          <p:cNvPr id="9" name="a1ud130_card8"/>
          <p:cNvSpPr/>
          <p:nvPr/>
        </p:nvSpPr>
        <p:spPr>
          <a:xfrm>
            <a:off x="4754880" y="1143000"/>
            <a:ext cx="4114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30_acc9"/>
          <p:cNvSpPr/>
          <p:nvPr/>
        </p:nvSpPr>
        <p:spPr>
          <a:xfrm>
            <a:off x="4754880" y="1143000"/>
            <a:ext cx="50292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ud170_tn10"/>
          <p:cNvSpPr txBox="1"/>
          <p:nvPr/>
        </p:nvSpPr>
        <p:spPr>
          <a:xfrm>
            <a:off x="4956048" y="1234440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redis-cli</a:t>
            </a:r>
          </a:p>
        </p:txBody>
      </p:sp>
      <p:sp>
        <p:nvSpPr>
          <p:cNvPr id="12" name="a1ud190_tt11"/>
          <p:cNvSpPr txBox="1"/>
          <p:nvPr/>
        </p:nvSpPr>
        <p:spPr>
          <a:xfrm>
            <a:off x="7095744" y="123444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Calibri"/>
              </a:rPr>
              <a:t>The client you live in</a:t>
            </a:r>
          </a:p>
        </p:txBody>
      </p:sp>
      <p:sp>
        <p:nvSpPr>
          <p:cNvPr id="13" name="a1ud220_td12"/>
          <p:cNvSpPr txBox="1"/>
          <p:nvPr/>
        </p:nvSpPr>
        <p:spPr>
          <a:xfrm>
            <a:off x="4956048" y="1508760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Interactive REPL and one-shot command runner. Also does monitoring, scanning and latency tests.</a:t>
            </a:r>
          </a:p>
        </p:txBody>
      </p:sp>
      <p:sp>
        <p:nvSpPr>
          <p:cNvPr id="14" name="a2u_card13"/>
          <p:cNvSpPr/>
          <p:nvPr/>
        </p:nvSpPr>
        <p:spPr>
          <a:xfrm>
            <a:off x="457200" y="2167128"/>
            <a:ext cx="4114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457200" y="2167128"/>
            <a:ext cx="50292" cy="89611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40_tn15"/>
          <p:cNvSpPr txBox="1"/>
          <p:nvPr/>
        </p:nvSpPr>
        <p:spPr>
          <a:xfrm>
            <a:off x="658368" y="225856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redis-benchmark</a:t>
            </a:r>
          </a:p>
        </p:txBody>
      </p:sp>
      <p:sp>
        <p:nvSpPr>
          <p:cNvPr id="17" name="a2ud60_tt16"/>
          <p:cNvSpPr txBox="1"/>
          <p:nvPr/>
        </p:nvSpPr>
        <p:spPr>
          <a:xfrm>
            <a:off x="2798064" y="225856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Calibri"/>
              </a:rPr>
              <a:t>Load generator</a:t>
            </a:r>
          </a:p>
        </p:txBody>
      </p:sp>
      <p:sp>
        <p:nvSpPr>
          <p:cNvPr id="18" name="a2ud90_td17"/>
          <p:cNvSpPr txBox="1"/>
          <p:nvPr/>
        </p:nvSpPr>
        <p:spPr>
          <a:xfrm>
            <a:off x="658368" y="2532888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Throws configurable traffic at the server and reports throughput and latency percentiles.</a:t>
            </a:r>
          </a:p>
        </p:txBody>
      </p:sp>
      <p:sp>
        <p:nvSpPr>
          <p:cNvPr id="19" name="a2ud130_card18"/>
          <p:cNvSpPr/>
          <p:nvPr/>
        </p:nvSpPr>
        <p:spPr>
          <a:xfrm>
            <a:off x="4754880" y="2167128"/>
            <a:ext cx="4114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d130_acc19"/>
          <p:cNvSpPr/>
          <p:nvPr/>
        </p:nvSpPr>
        <p:spPr>
          <a:xfrm>
            <a:off x="4754880" y="2167128"/>
            <a:ext cx="50292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170_tn20"/>
          <p:cNvSpPr txBox="1"/>
          <p:nvPr/>
        </p:nvSpPr>
        <p:spPr>
          <a:xfrm>
            <a:off x="4956048" y="2258568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redis-sentinel</a:t>
            </a:r>
          </a:p>
        </p:txBody>
      </p:sp>
      <p:sp>
        <p:nvSpPr>
          <p:cNvPr id="22" name="a2ud190_tt21"/>
          <p:cNvSpPr txBox="1"/>
          <p:nvPr/>
        </p:nvSpPr>
        <p:spPr>
          <a:xfrm>
            <a:off x="7095744" y="225856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B45309"/>
                </a:solidFill>
                <a:latin typeface="Calibri"/>
              </a:rPr>
              <a:t>High availability</a:t>
            </a:r>
          </a:p>
        </p:txBody>
      </p:sp>
      <p:sp>
        <p:nvSpPr>
          <p:cNvPr id="23" name="a2ud220_td22"/>
          <p:cNvSpPr txBox="1"/>
          <p:nvPr/>
        </p:nvSpPr>
        <p:spPr>
          <a:xfrm>
            <a:off x="4956048" y="2532888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Monitors a primary, elects a replacement on failure, tells clients the new address.</a:t>
            </a:r>
          </a:p>
        </p:txBody>
      </p:sp>
      <p:sp>
        <p:nvSpPr>
          <p:cNvPr id="24" name="a3u_card23"/>
          <p:cNvSpPr/>
          <p:nvPr/>
        </p:nvSpPr>
        <p:spPr>
          <a:xfrm>
            <a:off x="457200" y="3191256"/>
            <a:ext cx="4114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acc24"/>
          <p:cNvSpPr/>
          <p:nvPr/>
        </p:nvSpPr>
        <p:spPr>
          <a:xfrm>
            <a:off x="457200" y="3191256"/>
            <a:ext cx="50292" cy="89611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40_tn25"/>
          <p:cNvSpPr txBox="1"/>
          <p:nvPr/>
        </p:nvSpPr>
        <p:spPr>
          <a:xfrm>
            <a:off x="658368" y="328269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redis-check-rdb</a:t>
            </a:r>
          </a:p>
        </p:txBody>
      </p:sp>
      <p:sp>
        <p:nvSpPr>
          <p:cNvPr id="27" name="a3ud60_tt26"/>
          <p:cNvSpPr txBox="1"/>
          <p:nvPr/>
        </p:nvSpPr>
        <p:spPr>
          <a:xfrm>
            <a:off x="2798064" y="3282696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1D4ED8"/>
                </a:solidFill>
                <a:latin typeface="Calibri"/>
              </a:rPr>
              <a:t>Snapshot validator</a:t>
            </a:r>
          </a:p>
        </p:txBody>
      </p:sp>
      <p:sp>
        <p:nvSpPr>
          <p:cNvPr id="28" name="a3ud90_td27"/>
          <p:cNvSpPr txBox="1"/>
          <p:nvPr/>
        </p:nvSpPr>
        <p:spPr>
          <a:xfrm>
            <a:off x="658368" y="3557016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Verifies an RDB file is intact - run it before trusting a restore.</a:t>
            </a:r>
          </a:p>
        </p:txBody>
      </p:sp>
      <p:sp>
        <p:nvSpPr>
          <p:cNvPr id="29" name="a3ud130_card28"/>
          <p:cNvSpPr/>
          <p:nvPr/>
        </p:nvSpPr>
        <p:spPr>
          <a:xfrm>
            <a:off x="4754880" y="3191256"/>
            <a:ext cx="4114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d130_acc29"/>
          <p:cNvSpPr/>
          <p:nvPr/>
        </p:nvSpPr>
        <p:spPr>
          <a:xfrm>
            <a:off x="4754880" y="3191256"/>
            <a:ext cx="50292" cy="896112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d170_tn30"/>
          <p:cNvSpPr txBox="1"/>
          <p:nvPr/>
        </p:nvSpPr>
        <p:spPr>
          <a:xfrm>
            <a:off x="4956048" y="328269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redis-check-aof</a:t>
            </a:r>
          </a:p>
        </p:txBody>
      </p:sp>
      <p:sp>
        <p:nvSpPr>
          <p:cNvPr id="32" name="a3ud190_tt31"/>
          <p:cNvSpPr txBox="1"/>
          <p:nvPr/>
        </p:nvSpPr>
        <p:spPr>
          <a:xfrm>
            <a:off x="7095744" y="3282696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BE185D"/>
                </a:solidFill>
                <a:latin typeface="Calibri"/>
              </a:rPr>
              <a:t>Log repairer</a:t>
            </a:r>
          </a:p>
        </p:txBody>
      </p:sp>
      <p:sp>
        <p:nvSpPr>
          <p:cNvPr id="33" name="a3ud220_td32"/>
          <p:cNvSpPr txBox="1"/>
          <p:nvPr/>
        </p:nvSpPr>
        <p:spPr>
          <a:xfrm>
            <a:off x="4956048" y="3557016"/>
            <a:ext cx="374903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Validates and truncates a corrupt append-only file so the server can start.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redis-server · Starting the Server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ways to start it, and what each one is for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866644"/>
          </a:xfrm>
          <a:prstGeom prst="roundRect">
            <a:avLst>
              <a:gd name="adj" fmla="val 255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starting redis-server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1 - defaults, foreground, port 6379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621792" y="17876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redis-server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621792" y="199339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1991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2 - with a configuration file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621792" y="24048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redis-server /etc/redis/redis.conf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106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621792" y="28163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3 - config file plus overrides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621792" y="3022091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redis-server /etc/redis/redis.conf \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621792" y="32278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--port 6380 \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4335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--maxmemory 512mb \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621792" y="36393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--appendonly yes</a:t>
            </a:r>
          </a:p>
        </p:txBody>
      </p:sp>
      <p:sp>
        <p:nvSpPr>
          <p:cNvPr id="17" name="a2u_card16"/>
          <p:cNvSpPr/>
          <p:nvPr/>
        </p:nvSpPr>
        <p:spPr>
          <a:xfrm>
            <a:off x="4800600" y="1143000"/>
            <a:ext cx="388620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hh17"/>
          <p:cNvSpPr txBox="1"/>
          <p:nvPr/>
        </p:nvSpPr>
        <p:spPr>
          <a:xfrm>
            <a:off x="4983480" y="1252728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THE STARTUP SEQUENCE</a:t>
            </a:r>
          </a:p>
        </p:txBody>
      </p:sp>
      <p:sp>
        <p:nvSpPr>
          <p:cNvPr id="19" name="a2u_sn18"/>
          <p:cNvSpPr/>
          <p:nvPr/>
        </p:nvSpPr>
        <p:spPr>
          <a:xfrm>
            <a:off x="4983480" y="1545336"/>
            <a:ext cx="201168" cy="201168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snt19"/>
          <p:cNvSpPr txBox="1"/>
          <p:nvPr/>
        </p:nvSpPr>
        <p:spPr>
          <a:xfrm>
            <a:off x="4983480" y="1536192"/>
            <a:ext cx="20116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a2u_st20"/>
          <p:cNvSpPr txBox="1"/>
          <p:nvPr/>
        </p:nvSpPr>
        <p:spPr>
          <a:xfrm>
            <a:off x="5276088" y="1527048"/>
            <a:ext cx="32278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Read and validate the config file</a:t>
            </a:r>
          </a:p>
        </p:txBody>
      </p:sp>
      <p:sp>
        <p:nvSpPr>
          <p:cNvPr id="22" name="a2ud80_sn21"/>
          <p:cNvSpPr/>
          <p:nvPr/>
        </p:nvSpPr>
        <p:spPr>
          <a:xfrm>
            <a:off x="4983480" y="1792224"/>
            <a:ext cx="201168" cy="201168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80_snt22"/>
          <p:cNvSpPr txBox="1"/>
          <p:nvPr/>
        </p:nvSpPr>
        <p:spPr>
          <a:xfrm>
            <a:off x="4983480" y="1783080"/>
            <a:ext cx="20116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a2ud80_st23"/>
          <p:cNvSpPr txBox="1"/>
          <p:nvPr/>
        </p:nvSpPr>
        <p:spPr>
          <a:xfrm>
            <a:off x="5276088" y="1773936"/>
            <a:ext cx="32278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Bind the port, set up the event loop</a:t>
            </a:r>
          </a:p>
        </p:txBody>
      </p:sp>
      <p:sp>
        <p:nvSpPr>
          <p:cNvPr id="25" name="a2ud160_sn24"/>
          <p:cNvSpPr/>
          <p:nvPr/>
        </p:nvSpPr>
        <p:spPr>
          <a:xfrm>
            <a:off x="4983480" y="2039112"/>
            <a:ext cx="201168" cy="201168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160_snt25"/>
          <p:cNvSpPr txBox="1"/>
          <p:nvPr/>
        </p:nvSpPr>
        <p:spPr>
          <a:xfrm>
            <a:off x="4983480" y="2029967"/>
            <a:ext cx="20116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a2ud160_st26"/>
          <p:cNvSpPr txBox="1"/>
          <p:nvPr/>
        </p:nvSpPr>
        <p:spPr>
          <a:xfrm>
            <a:off x="5276088" y="2020824"/>
            <a:ext cx="32278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Load the RDB or AOF from disk into RAM</a:t>
            </a:r>
          </a:p>
        </p:txBody>
      </p:sp>
      <p:sp>
        <p:nvSpPr>
          <p:cNvPr id="28" name="a2ud240_sn27"/>
          <p:cNvSpPr/>
          <p:nvPr/>
        </p:nvSpPr>
        <p:spPr>
          <a:xfrm>
            <a:off x="4983480" y="2286000"/>
            <a:ext cx="201168" cy="201168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240_snt28"/>
          <p:cNvSpPr txBox="1"/>
          <p:nvPr/>
        </p:nvSpPr>
        <p:spPr>
          <a:xfrm>
            <a:off x="4983480" y="2276856"/>
            <a:ext cx="20116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a2ud240_st29"/>
          <p:cNvSpPr txBox="1"/>
          <p:nvPr/>
        </p:nvSpPr>
        <p:spPr>
          <a:xfrm>
            <a:off x="5276088" y="2267712"/>
            <a:ext cx="32278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Start accepting client connections</a:t>
            </a:r>
          </a:p>
        </p:txBody>
      </p:sp>
      <p:sp>
        <p:nvSpPr>
          <p:cNvPr id="31" name="a3u_card30"/>
          <p:cNvSpPr/>
          <p:nvPr/>
        </p:nvSpPr>
        <p:spPr>
          <a:xfrm>
            <a:off x="4800600" y="269748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_hh31"/>
          <p:cNvSpPr txBox="1"/>
          <p:nvPr/>
        </p:nvSpPr>
        <p:spPr>
          <a:xfrm>
            <a:off x="4983480" y="2807208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CHANGING CONFIG WITHOUT A RESTART</a:t>
            </a:r>
          </a:p>
        </p:txBody>
      </p:sp>
      <p:sp>
        <p:nvSpPr>
          <p:cNvPr id="33" name="a3fd60_codebg32"/>
          <p:cNvSpPr/>
          <p:nvPr/>
        </p:nvSpPr>
        <p:spPr>
          <a:xfrm>
            <a:off x="4983480" y="3063240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wd60_code33"/>
          <p:cNvSpPr txBox="1"/>
          <p:nvPr/>
        </p:nvSpPr>
        <p:spPr>
          <a:xfrm>
            <a:off x="5074920" y="3154680"/>
            <a:ext cx="333756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CONFIG GET maxmemory-policy</a:t>
            </a:r>
          </a:p>
        </p:txBody>
      </p:sp>
      <p:sp>
        <p:nvSpPr>
          <p:cNvPr id="35" name="a3wd160_code34"/>
          <p:cNvSpPr txBox="1"/>
          <p:nvPr/>
        </p:nvSpPr>
        <p:spPr>
          <a:xfrm>
            <a:off x="5074920" y="3355848"/>
            <a:ext cx="333756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CONFIG SET maxmemory 512mb</a:t>
            </a:r>
          </a:p>
        </p:txBody>
      </p:sp>
      <p:sp>
        <p:nvSpPr>
          <p:cNvPr id="36" name="a3wd260_code35"/>
          <p:cNvSpPr txBox="1"/>
          <p:nvPr/>
        </p:nvSpPr>
        <p:spPr>
          <a:xfrm>
            <a:off x="5074920" y="3557016"/>
            <a:ext cx="333756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CONFIG REWRITE   # persist to file</a:t>
            </a:r>
          </a:p>
        </p:txBody>
      </p:sp>
      <p:sp>
        <p:nvSpPr>
          <p:cNvPr id="37" name="a3ud400_cn36"/>
          <p:cNvSpPr txBox="1"/>
          <p:nvPr/>
        </p:nvSpPr>
        <p:spPr>
          <a:xfrm>
            <a:off x="4983480" y="3849624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Calibri"/>
              </a:rPr>
              <a:t>CONFIG SET is live. Without CONFIG REWRITE it is lost on restart.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redis-cli · The Tool You Will Live In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Far more than a REPL - it is also your profiler and your scanner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383280" cy="301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Invocation</a:t>
            </a:r>
          </a:p>
        </p:txBody>
      </p:sp>
      <p:sp>
        <p:nvSpPr>
          <p:cNvPr id="6" name="a1wd80_td5"/>
          <p:cNvSpPr/>
          <p:nvPr/>
        </p:nvSpPr>
        <p:spPr>
          <a:xfrm>
            <a:off x="457200" y="1444752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80_tdt6"/>
          <p:cNvSpPr txBox="1"/>
          <p:nvPr/>
        </p:nvSpPr>
        <p:spPr>
          <a:xfrm>
            <a:off x="530352" y="1444752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</a:t>
            </a:r>
          </a:p>
        </p:txBody>
      </p:sp>
      <p:sp>
        <p:nvSpPr>
          <p:cNvPr id="8" name="a1wd160_td7"/>
          <p:cNvSpPr/>
          <p:nvPr/>
        </p:nvSpPr>
        <p:spPr>
          <a:xfrm>
            <a:off x="457200" y="1746504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60_tdt8"/>
          <p:cNvSpPr txBox="1"/>
          <p:nvPr/>
        </p:nvSpPr>
        <p:spPr>
          <a:xfrm>
            <a:off x="530352" y="1746504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-h host -p 6380 -a pass</a:t>
            </a:r>
          </a:p>
        </p:txBody>
      </p:sp>
      <p:sp>
        <p:nvSpPr>
          <p:cNvPr id="10" name="a1wd240_td9"/>
          <p:cNvSpPr/>
          <p:nvPr/>
        </p:nvSpPr>
        <p:spPr>
          <a:xfrm>
            <a:off x="457200" y="2048256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40_tdt10"/>
          <p:cNvSpPr txBox="1"/>
          <p:nvPr/>
        </p:nvSpPr>
        <p:spPr>
          <a:xfrm>
            <a:off x="530352" y="2048256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-n 3 DBSIZE</a:t>
            </a:r>
          </a:p>
        </p:txBody>
      </p:sp>
      <p:sp>
        <p:nvSpPr>
          <p:cNvPr id="12" name="a1wd320_td11"/>
          <p:cNvSpPr/>
          <p:nvPr/>
        </p:nvSpPr>
        <p:spPr>
          <a:xfrm>
            <a:off x="457200" y="2350008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20_tdt12"/>
          <p:cNvSpPr txBox="1"/>
          <p:nvPr/>
        </p:nvSpPr>
        <p:spPr>
          <a:xfrm>
            <a:off x="530352" y="2350008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--scan --pattern 'icici:*'</a:t>
            </a:r>
          </a:p>
        </p:txBody>
      </p:sp>
      <p:sp>
        <p:nvSpPr>
          <p:cNvPr id="14" name="a1wd400_td13"/>
          <p:cNvSpPr/>
          <p:nvPr/>
        </p:nvSpPr>
        <p:spPr>
          <a:xfrm>
            <a:off x="457200" y="2651760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00_tdt14"/>
          <p:cNvSpPr txBox="1"/>
          <p:nvPr/>
        </p:nvSpPr>
        <p:spPr>
          <a:xfrm>
            <a:off x="530352" y="2651760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--bigkeys</a:t>
            </a:r>
          </a:p>
        </p:txBody>
      </p:sp>
      <p:sp>
        <p:nvSpPr>
          <p:cNvPr id="16" name="a1wd480_td15"/>
          <p:cNvSpPr/>
          <p:nvPr/>
        </p:nvSpPr>
        <p:spPr>
          <a:xfrm>
            <a:off x="457200" y="2953512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480_tdt16"/>
          <p:cNvSpPr txBox="1"/>
          <p:nvPr/>
        </p:nvSpPr>
        <p:spPr>
          <a:xfrm>
            <a:off x="530352" y="2953512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--memkeys</a:t>
            </a:r>
          </a:p>
        </p:txBody>
      </p:sp>
      <p:sp>
        <p:nvSpPr>
          <p:cNvPr id="18" name="a1wd560_td17"/>
          <p:cNvSpPr/>
          <p:nvPr/>
        </p:nvSpPr>
        <p:spPr>
          <a:xfrm>
            <a:off x="457200" y="3255264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560_tdt18"/>
          <p:cNvSpPr txBox="1"/>
          <p:nvPr/>
        </p:nvSpPr>
        <p:spPr>
          <a:xfrm>
            <a:off x="530352" y="3255264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--latency</a:t>
            </a:r>
          </a:p>
        </p:txBody>
      </p:sp>
      <p:sp>
        <p:nvSpPr>
          <p:cNvPr id="20" name="a1wd640_td19"/>
          <p:cNvSpPr/>
          <p:nvPr/>
        </p:nvSpPr>
        <p:spPr>
          <a:xfrm>
            <a:off x="457200" y="3557016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640_tdt20"/>
          <p:cNvSpPr txBox="1"/>
          <p:nvPr/>
        </p:nvSpPr>
        <p:spPr>
          <a:xfrm>
            <a:off x="530352" y="3557016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--stat</a:t>
            </a:r>
          </a:p>
        </p:txBody>
      </p:sp>
      <p:sp>
        <p:nvSpPr>
          <p:cNvPr id="22" name="a1wd720_td21"/>
          <p:cNvSpPr/>
          <p:nvPr/>
        </p:nvSpPr>
        <p:spPr>
          <a:xfrm>
            <a:off x="457200" y="3858768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720_tdt22"/>
          <p:cNvSpPr txBox="1"/>
          <p:nvPr/>
        </p:nvSpPr>
        <p:spPr>
          <a:xfrm>
            <a:off x="530352" y="3858768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MONITOR</a:t>
            </a:r>
          </a:p>
        </p:txBody>
      </p:sp>
      <p:sp>
        <p:nvSpPr>
          <p:cNvPr id="24" name="a1wd800_td23"/>
          <p:cNvSpPr/>
          <p:nvPr/>
        </p:nvSpPr>
        <p:spPr>
          <a:xfrm>
            <a:off x="457200" y="4160520"/>
            <a:ext cx="3383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800_tdt24"/>
          <p:cNvSpPr txBox="1"/>
          <p:nvPr/>
        </p:nvSpPr>
        <p:spPr>
          <a:xfrm>
            <a:off x="530352" y="4160520"/>
            <a:ext cx="327355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redis-cli --rdb dump.rdb</a:t>
            </a:r>
          </a:p>
        </p:txBody>
      </p:sp>
      <p:sp>
        <p:nvSpPr>
          <p:cNvPr id="26" name="a1f_th25"/>
          <p:cNvSpPr/>
          <p:nvPr/>
        </p:nvSpPr>
        <p:spPr>
          <a:xfrm>
            <a:off x="3840480" y="1143000"/>
            <a:ext cx="4846320" cy="30175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f_tht26"/>
          <p:cNvSpPr txBox="1"/>
          <p:nvPr/>
        </p:nvSpPr>
        <p:spPr>
          <a:xfrm>
            <a:off x="3913632" y="1143000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8" name="a1wd80_td27"/>
          <p:cNvSpPr/>
          <p:nvPr/>
        </p:nvSpPr>
        <p:spPr>
          <a:xfrm>
            <a:off x="3840480" y="1444752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80_tdt28"/>
          <p:cNvSpPr txBox="1"/>
          <p:nvPr/>
        </p:nvSpPr>
        <p:spPr>
          <a:xfrm>
            <a:off x="3913632" y="1444752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Interactive REPL against 127.0.0.1:6379</a:t>
            </a:r>
          </a:p>
        </p:txBody>
      </p:sp>
      <p:sp>
        <p:nvSpPr>
          <p:cNvPr id="30" name="a1wd160_td29"/>
          <p:cNvSpPr/>
          <p:nvPr/>
        </p:nvSpPr>
        <p:spPr>
          <a:xfrm>
            <a:off x="3840480" y="1746504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60_tdt30"/>
          <p:cNvSpPr txBox="1"/>
          <p:nvPr/>
        </p:nvSpPr>
        <p:spPr>
          <a:xfrm>
            <a:off x="3913632" y="1746504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Connect to another server, authenticated</a:t>
            </a:r>
          </a:p>
        </p:txBody>
      </p:sp>
      <p:sp>
        <p:nvSpPr>
          <p:cNvPr id="32" name="a1wd240_td31"/>
          <p:cNvSpPr/>
          <p:nvPr/>
        </p:nvSpPr>
        <p:spPr>
          <a:xfrm>
            <a:off x="3840480" y="2048256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40_tdt32"/>
          <p:cNvSpPr txBox="1"/>
          <p:nvPr/>
        </p:nvSpPr>
        <p:spPr>
          <a:xfrm>
            <a:off x="3913632" y="2048256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One-shot command against database 3</a:t>
            </a:r>
          </a:p>
        </p:txBody>
      </p:sp>
      <p:sp>
        <p:nvSpPr>
          <p:cNvPr id="34" name="a1wd320_td33"/>
          <p:cNvSpPr/>
          <p:nvPr/>
        </p:nvSpPr>
        <p:spPr>
          <a:xfrm>
            <a:off x="3840480" y="2350008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20_tdt34"/>
          <p:cNvSpPr txBox="1"/>
          <p:nvPr/>
        </p:nvSpPr>
        <p:spPr>
          <a:xfrm>
            <a:off x="3913632" y="2350008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Cursor-based key listing, safe on production</a:t>
            </a:r>
          </a:p>
        </p:txBody>
      </p:sp>
      <p:sp>
        <p:nvSpPr>
          <p:cNvPr id="36" name="a1wd400_td35"/>
          <p:cNvSpPr/>
          <p:nvPr/>
        </p:nvSpPr>
        <p:spPr>
          <a:xfrm>
            <a:off x="3840480" y="2651760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00_tdt36"/>
          <p:cNvSpPr txBox="1"/>
          <p:nvPr/>
        </p:nvSpPr>
        <p:spPr>
          <a:xfrm>
            <a:off x="3913632" y="2651760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Samples the keyspace and reports the largest keys per type</a:t>
            </a:r>
          </a:p>
        </p:txBody>
      </p:sp>
      <p:sp>
        <p:nvSpPr>
          <p:cNvPr id="38" name="a1wd480_td37"/>
          <p:cNvSpPr/>
          <p:nvPr/>
        </p:nvSpPr>
        <p:spPr>
          <a:xfrm>
            <a:off x="3840480" y="2953512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480_tdt38"/>
          <p:cNvSpPr txBox="1"/>
          <p:nvPr/>
        </p:nvSpPr>
        <p:spPr>
          <a:xfrm>
            <a:off x="3913632" y="2953512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Same idea, but ranked by memory instead of element count</a:t>
            </a:r>
          </a:p>
        </p:txBody>
      </p:sp>
      <p:sp>
        <p:nvSpPr>
          <p:cNvPr id="40" name="a1wd560_td39"/>
          <p:cNvSpPr/>
          <p:nvPr/>
        </p:nvSpPr>
        <p:spPr>
          <a:xfrm>
            <a:off x="3840480" y="3255264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560_tdt40"/>
          <p:cNvSpPr txBox="1"/>
          <p:nvPr/>
        </p:nvSpPr>
        <p:spPr>
          <a:xfrm>
            <a:off x="3913632" y="3255264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Continuous round-trip latency measurement</a:t>
            </a:r>
          </a:p>
        </p:txBody>
      </p:sp>
      <p:sp>
        <p:nvSpPr>
          <p:cNvPr id="42" name="a1wd640_td41"/>
          <p:cNvSpPr/>
          <p:nvPr/>
        </p:nvSpPr>
        <p:spPr>
          <a:xfrm>
            <a:off x="3840480" y="3557016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40_tdt42"/>
          <p:cNvSpPr txBox="1"/>
          <p:nvPr/>
        </p:nvSpPr>
        <p:spPr>
          <a:xfrm>
            <a:off x="3913632" y="3557016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 line per second: keys, memory, clients, ops/sec</a:t>
            </a:r>
          </a:p>
        </p:txBody>
      </p:sp>
      <p:sp>
        <p:nvSpPr>
          <p:cNvPr id="44" name="a1wd720_td43"/>
          <p:cNvSpPr/>
          <p:nvPr/>
        </p:nvSpPr>
        <p:spPr>
          <a:xfrm>
            <a:off x="3840480" y="3858768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720_tdt44"/>
          <p:cNvSpPr txBox="1"/>
          <p:nvPr/>
        </p:nvSpPr>
        <p:spPr>
          <a:xfrm>
            <a:off x="3913632" y="3858768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Live stream of every command - debugging only, it costs throughput</a:t>
            </a:r>
          </a:p>
        </p:txBody>
      </p:sp>
      <p:sp>
        <p:nvSpPr>
          <p:cNvPr id="46" name="a1wd800_td45"/>
          <p:cNvSpPr/>
          <p:nvPr/>
        </p:nvSpPr>
        <p:spPr>
          <a:xfrm>
            <a:off x="3840480" y="4160520"/>
            <a:ext cx="4846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800_tdt46"/>
          <p:cNvSpPr txBox="1"/>
          <p:nvPr/>
        </p:nvSpPr>
        <p:spPr>
          <a:xfrm>
            <a:off x="3913632" y="4160520"/>
            <a:ext cx="473659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Pull a snapshot from a live server over the wire</a:t>
            </a:r>
          </a:p>
        </p:txBody>
      </p:sp>
      <p:sp>
        <p:nvSpPr>
          <p:cNvPr id="48" name="a2u_nb47"/>
          <p:cNvSpPr/>
          <p:nvPr/>
        </p:nvSpPr>
        <p:spPr>
          <a:xfrm>
            <a:off x="457200" y="4343400"/>
            <a:ext cx="8229600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u_nacc48"/>
          <p:cNvSpPr/>
          <p:nvPr/>
        </p:nvSpPr>
        <p:spPr>
          <a:xfrm>
            <a:off x="457200" y="4343400"/>
            <a:ext cx="50292" cy="43891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u_nt49"/>
          <p:cNvSpPr txBox="1"/>
          <p:nvPr/>
        </p:nvSpPr>
        <p:spPr>
          <a:xfrm>
            <a:off x="658368" y="4343400"/>
            <a:ext cx="78272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--bigkeys and --memkeys are the first thing to run when memory climbs unexpectedly. MONITOR is the last - it slows every client down.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52" name="ft5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redis-benchmark and RedisInsight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tells you how fast it is; the other shows you what is in it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660904"/>
          </a:xfrm>
          <a:prstGeom prst="roundRect">
            <a:avLst>
              <a:gd name="adj" fmla="val 27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redis-benchmark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100k requests, 50 clients, GET + SET only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621792" y="17876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redis-benchmark -n 100000 -c 50 \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621792" y="199339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-t get,set -q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621792" y="21991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SET: 118906.02 requests per second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621792" y="24048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GET: 124533.01 requests per second</a:t>
            </a:r>
          </a:p>
        </p:txBody>
      </p:sp>
      <p:sp>
        <p:nvSpPr>
          <p:cNvPr id="11" name="a1wd425_code10"/>
          <p:cNvSpPr txBox="1"/>
          <p:nvPr/>
        </p:nvSpPr>
        <p:spPr>
          <a:xfrm>
            <a:off x="621792" y="26106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510_code11"/>
          <p:cNvSpPr txBox="1"/>
          <p:nvPr/>
        </p:nvSpPr>
        <p:spPr>
          <a:xfrm>
            <a:off x="621792" y="28163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realistic value size, and pipelining</a:t>
            </a:r>
          </a:p>
        </p:txBody>
      </p:sp>
      <p:sp>
        <p:nvSpPr>
          <p:cNvPr id="13" name="a1wd595_code12"/>
          <p:cNvSpPr txBox="1"/>
          <p:nvPr/>
        </p:nvSpPr>
        <p:spPr>
          <a:xfrm>
            <a:off x="621792" y="3022091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redis-benchmark -n 100000 -d 256 \</a:t>
            </a:r>
          </a:p>
        </p:txBody>
      </p:sp>
      <p:sp>
        <p:nvSpPr>
          <p:cNvPr id="14" name="a1wd680_code13"/>
          <p:cNvSpPr txBox="1"/>
          <p:nvPr/>
        </p:nvSpPr>
        <p:spPr>
          <a:xfrm>
            <a:off x="621792" y="32278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-P 16 -t get -q</a:t>
            </a:r>
          </a:p>
        </p:txBody>
      </p:sp>
      <p:sp>
        <p:nvSpPr>
          <p:cNvPr id="15" name="a1wd765_code14"/>
          <p:cNvSpPr txBox="1"/>
          <p:nvPr/>
        </p:nvSpPr>
        <p:spPr>
          <a:xfrm>
            <a:off x="621792" y="34335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GET: 892857.12 requests per second</a:t>
            </a:r>
          </a:p>
        </p:txBody>
      </p:sp>
      <p:sp>
        <p:nvSpPr>
          <p:cNvPr id="16" name="a2u_card15"/>
          <p:cNvSpPr/>
          <p:nvPr/>
        </p:nvSpPr>
        <p:spPr>
          <a:xfrm>
            <a:off x="4800600" y="114300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hh16"/>
          <p:cNvSpPr txBox="1"/>
          <p:nvPr/>
        </p:nvSpPr>
        <p:spPr>
          <a:xfrm>
            <a:off x="4983480" y="1252728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FLAGS WORTH KNOWING</a:t>
            </a:r>
          </a:p>
        </p:txBody>
      </p:sp>
      <p:sp>
        <p:nvSpPr>
          <p:cNvPr id="18" name="a2u_bf17"/>
          <p:cNvSpPr txBox="1"/>
          <p:nvPr/>
        </p:nvSpPr>
        <p:spPr>
          <a:xfrm>
            <a:off x="4983480" y="1527048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ourier New"/>
              </a:rPr>
              <a:t>-n</a:t>
            </a:r>
          </a:p>
        </p:txBody>
      </p:sp>
      <p:sp>
        <p:nvSpPr>
          <p:cNvPr id="19" name="a2u_bw18"/>
          <p:cNvSpPr txBox="1"/>
          <p:nvPr/>
        </p:nvSpPr>
        <p:spPr>
          <a:xfrm>
            <a:off x="5486400" y="1527048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total requests</a:t>
            </a:r>
          </a:p>
        </p:txBody>
      </p:sp>
      <p:sp>
        <p:nvSpPr>
          <p:cNvPr id="20" name="a2ud60_bf19"/>
          <p:cNvSpPr txBox="1"/>
          <p:nvPr/>
        </p:nvSpPr>
        <p:spPr>
          <a:xfrm>
            <a:off x="4983480" y="1719072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ourier New"/>
              </a:rPr>
              <a:t>-c</a:t>
            </a:r>
          </a:p>
        </p:txBody>
      </p:sp>
      <p:sp>
        <p:nvSpPr>
          <p:cNvPr id="21" name="a2ud60_bw20"/>
          <p:cNvSpPr txBox="1"/>
          <p:nvPr/>
        </p:nvSpPr>
        <p:spPr>
          <a:xfrm>
            <a:off x="5486400" y="1719072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parallel clients</a:t>
            </a:r>
          </a:p>
        </p:txBody>
      </p:sp>
      <p:sp>
        <p:nvSpPr>
          <p:cNvPr id="22" name="a2ud120_bf21"/>
          <p:cNvSpPr txBox="1"/>
          <p:nvPr/>
        </p:nvSpPr>
        <p:spPr>
          <a:xfrm>
            <a:off x="4983480" y="1911095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ourier New"/>
              </a:rPr>
              <a:t>-d</a:t>
            </a:r>
          </a:p>
        </p:txBody>
      </p:sp>
      <p:sp>
        <p:nvSpPr>
          <p:cNvPr id="23" name="a2ud120_bw22"/>
          <p:cNvSpPr txBox="1"/>
          <p:nvPr/>
        </p:nvSpPr>
        <p:spPr>
          <a:xfrm>
            <a:off x="5486400" y="1911095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value size in bytes</a:t>
            </a:r>
          </a:p>
        </p:txBody>
      </p:sp>
      <p:sp>
        <p:nvSpPr>
          <p:cNvPr id="24" name="a2ud180_bf23"/>
          <p:cNvSpPr txBox="1"/>
          <p:nvPr/>
        </p:nvSpPr>
        <p:spPr>
          <a:xfrm>
            <a:off x="4983480" y="2103120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ourier New"/>
              </a:rPr>
              <a:t>-P</a:t>
            </a:r>
          </a:p>
        </p:txBody>
      </p:sp>
      <p:sp>
        <p:nvSpPr>
          <p:cNvPr id="25" name="a2ud180_bw24"/>
          <p:cNvSpPr txBox="1"/>
          <p:nvPr/>
        </p:nvSpPr>
        <p:spPr>
          <a:xfrm>
            <a:off x="5486400" y="2103120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pipeline depth</a:t>
            </a:r>
          </a:p>
        </p:txBody>
      </p:sp>
      <p:sp>
        <p:nvSpPr>
          <p:cNvPr id="26" name="a2ud240_bf25"/>
          <p:cNvSpPr txBox="1"/>
          <p:nvPr/>
        </p:nvSpPr>
        <p:spPr>
          <a:xfrm>
            <a:off x="4983480" y="2295144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ourier New"/>
              </a:rPr>
              <a:t>-t</a:t>
            </a:r>
          </a:p>
        </p:txBody>
      </p:sp>
      <p:sp>
        <p:nvSpPr>
          <p:cNvPr id="27" name="a2ud240_bw26"/>
          <p:cNvSpPr txBox="1"/>
          <p:nvPr/>
        </p:nvSpPr>
        <p:spPr>
          <a:xfrm>
            <a:off x="5486400" y="2295144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which commands to test</a:t>
            </a:r>
          </a:p>
        </p:txBody>
      </p:sp>
      <p:sp>
        <p:nvSpPr>
          <p:cNvPr id="28" name="a2ud300_bf27"/>
          <p:cNvSpPr txBox="1"/>
          <p:nvPr/>
        </p:nvSpPr>
        <p:spPr>
          <a:xfrm>
            <a:off x="4983480" y="2487168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ourier New"/>
              </a:rPr>
              <a:t>-q</a:t>
            </a:r>
          </a:p>
        </p:txBody>
      </p:sp>
      <p:sp>
        <p:nvSpPr>
          <p:cNvPr id="29" name="a2ud300_bw28"/>
          <p:cNvSpPr txBox="1"/>
          <p:nvPr/>
        </p:nvSpPr>
        <p:spPr>
          <a:xfrm>
            <a:off x="5486400" y="2487168"/>
            <a:ext cx="301752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quiet - summary only</a:t>
            </a:r>
          </a:p>
        </p:txBody>
      </p:sp>
      <p:sp>
        <p:nvSpPr>
          <p:cNvPr id="30" name="a3u_card29"/>
          <p:cNvSpPr/>
          <p:nvPr/>
        </p:nvSpPr>
        <p:spPr>
          <a:xfrm>
            <a:off x="4800600" y="2843784"/>
            <a:ext cx="3886200" cy="132588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_hh30"/>
          <p:cNvSpPr txBox="1"/>
          <p:nvPr/>
        </p:nvSpPr>
        <p:spPr>
          <a:xfrm>
            <a:off x="4983480" y="2953512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REDISINSIGHT · THE OFFICIAL GUI</a:t>
            </a:r>
          </a:p>
        </p:txBody>
      </p:sp>
      <p:sp>
        <p:nvSpPr>
          <p:cNvPr id="32" name="a3ud60_dot31"/>
          <p:cNvSpPr/>
          <p:nvPr/>
        </p:nvSpPr>
        <p:spPr>
          <a:xfrm>
            <a:off x="4983480" y="3291839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d60_b32"/>
          <p:cNvSpPr txBox="1"/>
          <p:nvPr/>
        </p:nvSpPr>
        <p:spPr>
          <a:xfrm>
            <a:off x="5202936" y="3191256"/>
            <a:ext cx="33009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Browse keys as a tree, split on the colon</a:t>
            </a:r>
          </a:p>
        </p:txBody>
      </p:sp>
      <p:sp>
        <p:nvSpPr>
          <p:cNvPr id="34" name="a3ud150_dot33"/>
          <p:cNvSpPr/>
          <p:nvPr/>
        </p:nvSpPr>
        <p:spPr>
          <a:xfrm>
            <a:off x="4983480" y="3538727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d150_b34"/>
          <p:cNvSpPr txBox="1"/>
          <p:nvPr/>
        </p:nvSpPr>
        <p:spPr>
          <a:xfrm>
            <a:off x="5202936" y="3438144"/>
            <a:ext cx="33009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Inspect any type without typing commands</a:t>
            </a:r>
          </a:p>
        </p:txBody>
      </p:sp>
      <p:sp>
        <p:nvSpPr>
          <p:cNvPr id="36" name="a3ud240_dot35"/>
          <p:cNvSpPr/>
          <p:nvPr/>
        </p:nvSpPr>
        <p:spPr>
          <a:xfrm>
            <a:off x="4983480" y="3785615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3ud240_b36"/>
          <p:cNvSpPr txBox="1"/>
          <p:nvPr/>
        </p:nvSpPr>
        <p:spPr>
          <a:xfrm>
            <a:off x="5202936" y="3685032"/>
            <a:ext cx="33009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Built-in profiler and slow-log viewer</a:t>
            </a:r>
          </a:p>
        </p:txBody>
      </p:sp>
      <p:sp>
        <p:nvSpPr>
          <p:cNvPr id="38" name="a3ud330_dot37"/>
          <p:cNvSpPr/>
          <p:nvPr/>
        </p:nvSpPr>
        <p:spPr>
          <a:xfrm>
            <a:off x="4983480" y="4032504"/>
            <a:ext cx="82296" cy="82296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ud330_b38"/>
          <p:cNvSpPr txBox="1"/>
          <p:nvPr/>
        </p:nvSpPr>
        <p:spPr>
          <a:xfrm>
            <a:off x="5202936" y="3931920"/>
            <a:ext cx="3300984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Free, and it runs natively on Windows</a:t>
            </a:r>
          </a:p>
        </p:txBody>
      </p:sp>
      <p:sp>
        <p:nvSpPr>
          <p:cNvPr id="40" name="a4u_nb39"/>
          <p:cNvSpPr/>
          <p:nvPr/>
        </p:nvSpPr>
        <p:spPr>
          <a:xfrm>
            <a:off x="457200" y="352044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4u_nacc40"/>
          <p:cNvSpPr/>
          <p:nvPr/>
        </p:nvSpPr>
        <p:spPr>
          <a:xfrm>
            <a:off x="457200" y="3520440"/>
            <a:ext cx="50292" cy="6583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4u_nt41"/>
          <p:cNvSpPr txBox="1"/>
          <p:nvPr/>
        </p:nvSpPr>
        <p:spPr>
          <a:xfrm>
            <a:off x="658368" y="352044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Benchmark on hardware like production. A laptop number tells you the client and the loopback are fast, not much else.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RESP Protocol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REdis Serialization Protocol - what actually travels over TCP port 6379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Human readable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Binary safe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One TCP connection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RESP2 and RESP3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RESP Is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deliberately simple, text-based protocol over a plain TCP socket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11480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10607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40_pt5"/>
          <p:cNvSpPr txBox="1"/>
          <p:nvPr/>
        </p:nvSpPr>
        <p:spPr>
          <a:xfrm>
            <a:off x="658368" y="125272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Simple to parse</a:t>
            </a:r>
          </a:p>
        </p:txBody>
      </p:sp>
      <p:sp>
        <p:nvSpPr>
          <p:cNvPr id="7" name="a1ud80_pd6"/>
          <p:cNvSpPr txBox="1"/>
          <p:nvPr/>
        </p:nvSpPr>
        <p:spPr>
          <a:xfrm>
            <a:off x="658368" y="1527048"/>
            <a:ext cx="37490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first byte of every reply says what type it is. A client parser is a few hundred lines - which is why Redis has a client in every language.</a:t>
            </a:r>
          </a:p>
        </p:txBody>
      </p:sp>
      <p:sp>
        <p:nvSpPr>
          <p:cNvPr id="8" name="a1ud140_card7"/>
          <p:cNvSpPr/>
          <p:nvPr/>
        </p:nvSpPr>
        <p:spPr>
          <a:xfrm>
            <a:off x="4754880" y="1143000"/>
            <a:ext cx="411480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40_acc8"/>
          <p:cNvSpPr/>
          <p:nvPr/>
        </p:nvSpPr>
        <p:spPr>
          <a:xfrm>
            <a:off x="4754880" y="1143000"/>
            <a:ext cx="50292" cy="10607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80_pt9"/>
          <p:cNvSpPr txBox="1"/>
          <p:nvPr/>
        </p:nvSpPr>
        <p:spPr>
          <a:xfrm>
            <a:off x="4956048" y="125272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Human readable</a:t>
            </a:r>
          </a:p>
        </p:txBody>
      </p:sp>
      <p:sp>
        <p:nvSpPr>
          <p:cNvPr id="11" name="a1ud220_pd10"/>
          <p:cNvSpPr txBox="1"/>
          <p:nvPr/>
        </p:nvSpPr>
        <p:spPr>
          <a:xfrm>
            <a:off x="4956048" y="1527048"/>
            <a:ext cx="37490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You can talk to Redis with telnet or netcat and read the answers. Debugging a protocol problem never needs a packet decoder.</a:t>
            </a:r>
          </a:p>
        </p:txBody>
      </p:sp>
      <p:sp>
        <p:nvSpPr>
          <p:cNvPr id="12" name="a2u_card11"/>
          <p:cNvSpPr/>
          <p:nvPr/>
        </p:nvSpPr>
        <p:spPr>
          <a:xfrm>
            <a:off x="457200" y="2331720"/>
            <a:ext cx="411480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457200" y="2331720"/>
            <a:ext cx="50292" cy="10607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40_pt13"/>
          <p:cNvSpPr txBox="1"/>
          <p:nvPr/>
        </p:nvSpPr>
        <p:spPr>
          <a:xfrm>
            <a:off x="658368" y="244144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Binary safe</a:t>
            </a:r>
          </a:p>
        </p:txBody>
      </p:sp>
      <p:sp>
        <p:nvSpPr>
          <p:cNvPr id="15" name="a2ud80_pd14"/>
          <p:cNvSpPr txBox="1"/>
          <p:nvPr/>
        </p:nvSpPr>
        <p:spPr>
          <a:xfrm>
            <a:off x="658368" y="2715768"/>
            <a:ext cx="37490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Bulk strings carry an explicit length, so values may contain newlines, null bytes or a JPEG without any escaping.</a:t>
            </a:r>
          </a:p>
        </p:txBody>
      </p:sp>
      <p:sp>
        <p:nvSpPr>
          <p:cNvPr id="16" name="a2ud140_card15"/>
          <p:cNvSpPr/>
          <p:nvPr/>
        </p:nvSpPr>
        <p:spPr>
          <a:xfrm>
            <a:off x="4754880" y="2331720"/>
            <a:ext cx="4114800" cy="1060704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140_acc16"/>
          <p:cNvSpPr/>
          <p:nvPr/>
        </p:nvSpPr>
        <p:spPr>
          <a:xfrm>
            <a:off x="4754880" y="2331720"/>
            <a:ext cx="50292" cy="1060704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180_pt17"/>
          <p:cNvSpPr txBox="1"/>
          <p:nvPr/>
        </p:nvSpPr>
        <p:spPr>
          <a:xfrm>
            <a:off x="4956048" y="244144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Request/response, pipelined</a:t>
            </a:r>
          </a:p>
        </p:txBody>
      </p:sp>
      <p:sp>
        <p:nvSpPr>
          <p:cNvPr id="19" name="a2ud220_pd18"/>
          <p:cNvSpPr txBox="1"/>
          <p:nvPr/>
        </p:nvSpPr>
        <p:spPr>
          <a:xfrm>
            <a:off x="4956048" y="2715768"/>
            <a:ext cx="37490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One request, one reply, in order - but a client may send many requests before reading any reply. That is pipelining, and it changes the numbers.</a:t>
            </a:r>
          </a:p>
        </p:txBody>
      </p:sp>
      <p:sp>
        <p:nvSpPr>
          <p:cNvPr id="20" name="a3u_nb19"/>
          <p:cNvSpPr/>
          <p:nvPr/>
        </p:nvSpPr>
        <p:spPr>
          <a:xfrm>
            <a:off x="457200" y="3557016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nacc20"/>
          <p:cNvSpPr/>
          <p:nvPr/>
        </p:nvSpPr>
        <p:spPr>
          <a:xfrm>
            <a:off x="457200" y="3557016"/>
            <a:ext cx="50292" cy="5120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_nt21"/>
          <p:cNvSpPr txBox="1"/>
          <p:nvPr/>
        </p:nvSpPr>
        <p:spPr>
          <a:xfrm>
            <a:off x="658368" y="3557016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RESP2 shipped in Redis 2.0 and is still the default. RESP3 arrived in Redis 6 and adds typed replies - maps, sets, doubles, booleans - plus push messages for client-side caching. Opt in with the HELLO 3 command.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RESP2 Data Types on the Wire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Five reply types in RESP2 - the first byte tells the client which one it is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78308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" name="a1wd120_td5"/>
          <p:cNvSpPr/>
          <p:nvPr/>
        </p:nvSpPr>
        <p:spPr>
          <a:xfrm>
            <a:off x="457200" y="150876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20_tdt6"/>
          <p:cNvSpPr txBox="1"/>
          <p:nvPr/>
        </p:nvSpPr>
        <p:spPr>
          <a:xfrm>
            <a:off x="530352" y="150876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Simple string</a:t>
            </a:r>
          </a:p>
        </p:txBody>
      </p:sp>
      <p:sp>
        <p:nvSpPr>
          <p:cNvPr id="8" name="a1wd240_td7"/>
          <p:cNvSpPr/>
          <p:nvPr/>
        </p:nvSpPr>
        <p:spPr>
          <a:xfrm>
            <a:off x="457200" y="1874519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40_tdt8"/>
          <p:cNvSpPr txBox="1"/>
          <p:nvPr/>
        </p:nvSpPr>
        <p:spPr>
          <a:xfrm>
            <a:off x="530352" y="1874519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Error</a:t>
            </a:r>
          </a:p>
        </p:txBody>
      </p:sp>
      <p:sp>
        <p:nvSpPr>
          <p:cNvPr id="10" name="a1wd360_td9"/>
          <p:cNvSpPr/>
          <p:nvPr/>
        </p:nvSpPr>
        <p:spPr>
          <a:xfrm>
            <a:off x="457200" y="224028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60_tdt10"/>
          <p:cNvSpPr txBox="1"/>
          <p:nvPr/>
        </p:nvSpPr>
        <p:spPr>
          <a:xfrm>
            <a:off x="530352" y="224028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Integer</a:t>
            </a:r>
          </a:p>
        </p:txBody>
      </p:sp>
      <p:sp>
        <p:nvSpPr>
          <p:cNvPr id="12" name="a1wd480_td11"/>
          <p:cNvSpPr/>
          <p:nvPr/>
        </p:nvSpPr>
        <p:spPr>
          <a:xfrm>
            <a:off x="457200" y="260604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80_tdt12"/>
          <p:cNvSpPr txBox="1"/>
          <p:nvPr/>
        </p:nvSpPr>
        <p:spPr>
          <a:xfrm>
            <a:off x="530352" y="260604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Bulk string</a:t>
            </a:r>
          </a:p>
        </p:txBody>
      </p:sp>
      <p:sp>
        <p:nvSpPr>
          <p:cNvPr id="14" name="a1wd600_td13"/>
          <p:cNvSpPr/>
          <p:nvPr/>
        </p:nvSpPr>
        <p:spPr>
          <a:xfrm>
            <a:off x="457200" y="297180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600_tdt14"/>
          <p:cNvSpPr txBox="1"/>
          <p:nvPr/>
        </p:nvSpPr>
        <p:spPr>
          <a:xfrm>
            <a:off x="530352" y="297180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Null bulk string</a:t>
            </a:r>
          </a:p>
        </p:txBody>
      </p:sp>
      <p:sp>
        <p:nvSpPr>
          <p:cNvPr id="16" name="a1wd720_td15"/>
          <p:cNvSpPr/>
          <p:nvPr/>
        </p:nvSpPr>
        <p:spPr>
          <a:xfrm>
            <a:off x="457200" y="3337560"/>
            <a:ext cx="1783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720_tdt16"/>
          <p:cNvSpPr txBox="1"/>
          <p:nvPr/>
        </p:nvSpPr>
        <p:spPr>
          <a:xfrm>
            <a:off x="530352" y="3337560"/>
            <a:ext cx="1673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Array</a:t>
            </a:r>
          </a:p>
        </p:txBody>
      </p:sp>
      <p:sp>
        <p:nvSpPr>
          <p:cNvPr id="18" name="a1f_th17"/>
          <p:cNvSpPr/>
          <p:nvPr/>
        </p:nvSpPr>
        <p:spPr>
          <a:xfrm>
            <a:off x="2240280" y="1143000"/>
            <a:ext cx="640080" cy="36576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f_tht18"/>
          <p:cNvSpPr txBox="1"/>
          <p:nvPr/>
        </p:nvSpPr>
        <p:spPr>
          <a:xfrm>
            <a:off x="2313432" y="114300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Byte</a:t>
            </a:r>
          </a:p>
        </p:txBody>
      </p:sp>
      <p:sp>
        <p:nvSpPr>
          <p:cNvPr id="20" name="a1wd120_td19"/>
          <p:cNvSpPr/>
          <p:nvPr/>
        </p:nvSpPr>
        <p:spPr>
          <a:xfrm>
            <a:off x="2240280" y="150876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20_tdt20"/>
          <p:cNvSpPr txBox="1"/>
          <p:nvPr/>
        </p:nvSpPr>
        <p:spPr>
          <a:xfrm>
            <a:off x="2313432" y="150876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+</a:t>
            </a:r>
          </a:p>
        </p:txBody>
      </p:sp>
      <p:sp>
        <p:nvSpPr>
          <p:cNvPr id="22" name="a1wd240_td21"/>
          <p:cNvSpPr/>
          <p:nvPr/>
        </p:nvSpPr>
        <p:spPr>
          <a:xfrm>
            <a:off x="2240280" y="1874519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240_tdt22"/>
          <p:cNvSpPr txBox="1"/>
          <p:nvPr/>
        </p:nvSpPr>
        <p:spPr>
          <a:xfrm>
            <a:off x="2313432" y="1874519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</a:t>
            </a:r>
          </a:p>
        </p:txBody>
      </p:sp>
      <p:sp>
        <p:nvSpPr>
          <p:cNvPr id="24" name="a1wd360_td23"/>
          <p:cNvSpPr/>
          <p:nvPr/>
        </p:nvSpPr>
        <p:spPr>
          <a:xfrm>
            <a:off x="2240280" y="224028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360_tdt24"/>
          <p:cNvSpPr txBox="1"/>
          <p:nvPr/>
        </p:nvSpPr>
        <p:spPr>
          <a:xfrm>
            <a:off x="2313432" y="224028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</a:t>
            </a:r>
          </a:p>
        </p:txBody>
      </p:sp>
      <p:sp>
        <p:nvSpPr>
          <p:cNvPr id="26" name="a1wd480_td25"/>
          <p:cNvSpPr/>
          <p:nvPr/>
        </p:nvSpPr>
        <p:spPr>
          <a:xfrm>
            <a:off x="2240280" y="260604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480_tdt26"/>
          <p:cNvSpPr txBox="1"/>
          <p:nvPr/>
        </p:nvSpPr>
        <p:spPr>
          <a:xfrm>
            <a:off x="2313432" y="260604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$</a:t>
            </a:r>
          </a:p>
        </p:txBody>
      </p:sp>
      <p:sp>
        <p:nvSpPr>
          <p:cNvPr id="28" name="a1wd600_td27"/>
          <p:cNvSpPr/>
          <p:nvPr/>
        </p:nvSpPr>
        <p:spPr>
          <a:xfrm>
            <a:off x="2240280" y="297180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600_tdt28"/>
          <p:cNvSpPr txBox="1"/>
          <p:nvPr/>
        </p:nvSpPr>
        <p:spPr>
          <a:xfrm>
            <a:off x="2313432" y="297180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$</a:t>
            </a:r>
          </a:p>
        </p:txBody>
      </p:sp>
      <p:sp>
        <p:nvSpPr>
          <p:cNvPr id="30" name="a1wd720_td29"/>
          <p:cNvSpPr/>
          <p:nvPr/>
        </p:nvSpPr>
        <p:spPr>
          <a:xfrm>
            <a:off x="2240280" y="333756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720_tdt30"/>
          <p:cNvSpPr txBox="1"/>
          <p:nvPr/>
        </p:nvSpPr>
        <p:spPr>
          <a:xfrm>
            <a:off x="2313432" y="3337560"/>
            <a:ext cx="530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*</a:t>
            </a:r>
          </a:p>
        </p:txBody>
      </p:sp>
      <p:sp>
        <p:nvSpPr>
          <p:cNvPr id="32" name="a1f_th31"/>
          <p:cNvSpPr/>
          <p:nvPr/>
        </p:nvSpPr>
        <p:spPr>
          <a:xfrm>
            <a:off x="2880360" y="1143000"/>
            <a:ext cx="297180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f_tht32"/>
          <p:cNvSpPr txBox="1"/>
          <p:nvPr/>
        </p:nvSpPr>
        <p:spPr>
          <a:xfrm>
            <a:off x="2953512" y="11430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On the wire</a:t>
            </a:r>
          </a:p>
        </p:txBody>
      </p:sp>
      <p:sp>
        <p:nvSpPr>
          <p:cNvPr id="34" name="a1wd120_td33"/>
          <p:cNvSpPr/>
          <p:nvPr/>
        </p:nvSpPr>
        <p:spPr>
          <a:xfrm>
            <a:off x="2880360" y="1508760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120_tdt34"/>
          <p:cNvSpPr txBox="1"/>
          <p:nvPr/>
        </p:nvSpPr>
        <p:spPr>
          <a:xfrm>
            <a:off x="2953512" y="15087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+OK\r\n</a:t>
            </a:r>
          </a:p>
        </p:txBody>
      </p:sp>
      <p:sp>
        <p:nvSpPr>
          <p:cNvPr id="36" name="a1wd240_td35"/>
          <p:cNvSpPr/>
          <p:nvPr/>
        </p:nvSpPr>
        <p:spPr>
          <a:xfrm>
            <a:off x="2880360" y="1874519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240_tdt36"/>
          <p:cNvSpPr txBox="1"/>
          <p:nvPr/>
        </p:nvSpPr>
        <p:spPr>
          <a:xfrm>
            <a:off x="2953512" y="1874519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-ERR unknown command\r\n</a:t>
            </a:r>
          </a:p>
        </p:txBody>
      </p:sp>
      <p:sp>
        <p:nvSpPr>
          <p:cNvPr id="38" name="a1wd360_td37"/>
          <p:cNvSpPr/>
          <p:nvPr/>
        </p:nvSpPr>
        <p:spPr>
          <a:xfrm>
            <a:off x="2880360" y="2240280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360_tdt38"/>
          <p:cNvSpPr txBox="1"/>
          <p:nvPr/>
        </p:nvSpPr>
        <p:spPr>
          <a:xfrm>
            <a:off x="2953512" y="224028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:42\r\n</a:t>
            </a:r>
          </a:p>
        </p:txBody>
      </p:sp>
      <p:sp>
        <p:nvSpPr>
          <p:cNvPr id="40" name="a1wd480_td39"/>
          <p:cNvSpPr/>
          <p:nvPr/>
        </p:nvSpPr>
        <p:spPr>
          <a:xfrm>
            <a:off x="2880360" y="2606040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480_tdt40"/>
          <p:cNvSpPr txBox="1"/>
          <p:nvPr/>
        </p:nvSpPr>
        <p:spPr>
          <a:xfrm>
            <a:off x="2953512" y="260604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$5\r\nhello\r\n</a:t>
            </a:r>
          </a:p>
        </p:txBody>
      </p:sp>
      <p:sp>
        <p:nvSpPr>
          <p:cNvPr id="42" name="a1wd600_td41"/>
          <p:cNvSpPr/>
          <p:nvPr/>
        </p:nvSpPr>
        <p:spPr>
          <a:xfrm>
            <a:off x="2880360" y="2971800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600_tdt42"/>
          <p:cNvSpPr txBox="1"/>
          <p:nvPr/>
        </p:nvSpPr>
        <p:spPr>
          <a:xfrm>
            <a:off x="2953512" y="29718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$-1\r\n</a:t>
            </a:r>
          </a:p>
        </p:txBody>
      </p:sp>
      <p:sp>
        <p:nvSpPr>
          <p:cNvPr id="44" name="a1wd720_td43"/>
          <p:cNvSpPr/>
          <p:nvPr/>
        </p:nvSpPr>
        <p:spPr>
          <a:xfrm>
            <a:off x="2880360" y="3337560"/>
            <a:ext cx="2971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720_tdt44"/>
          <p:cNvSpPr txBox="1"/>
          <p:nvPr/>
        </p:nvSpPr>
        <p:spPr>
          <a:xfrm>
            <a:off x="2953512" y="33375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*2\r\n$3\r\nfoo\r\n$3\r\nbar\r\n</a:t>
            </a:r>
          </a:p>
        </p:txBody>
      </p:sp>
      <p:sp>
        <p:nvSpPr>
          <p:cNvPr id="46" name="a1f_th45"/>
          <p:cNvSpPr/>
          <p:nvPr/>
        </p:nvSpPr>
        <p:spPr>
          <a:xfrm>
            <a:off x="5852160" y="1143000"/>
            <a:ext cx="2834640" cy="365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f_tht46"/>
          <p:cNvSpPr txBox="1"/>
          <p:nvPr/>
        </p:nvSpPr>
        <p:spPr>
          <a:xfrm>
            <a:off x="5925312" y="114300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48" name="a1wd120_td47"/>
          <p:cNvSpPr/>
          <p:nvPr/>
        </p:nvSpPr>
        <p:spPr>
          <a:xfrm>
            <a:off x="5852160" y="150876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20_tdt48"/>
          <p:cNvSpPr txBox="1"/>
          <p:nvPr/>
        </p:nvSpPr>
        <p:spPr>
          <a:xfrm>
            <a:off x="5925312" y="150876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Short status, no newlines allowed</a:t>
            </a:r>
          </a:p>
        </p:txBody>
      </p:sp>
      <p:sp>
        <p:nvSpPr>
          <p:cNvPr id="50" name="a1wd240_td49"/>
          <p:cNvSpPr/>
          <p:nvPr/>
        </p:nvSpPr>
        <p:spPr>
          <a:xfrm>
            <a:off x="5852160" y="1874519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40_tdt50"/>
          <p:cNvSpPr txBox="1"/>
          <p:nvPr/>
        </p:nvSpPr>
        <p:spPr>
          <a:xfrm>
            <a:off x="5925312" y="1874519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Same shape, but it is a failure</a:t>
            </a:r>
          </a:p>
        </p:txBody>
      </p:sp>
      <p:sp>
        <p:nvSpPr>
          <p:cNvPr id="52" name="a1wd360_td51"/>
          <p:cNvSpPr/>
          <p:nvPr/>
        </p:nvSpPr>
        <p:spPr>
          <a:xfrm>
            <a:off x="5852160" y="224028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60_tdt52"/>
          <p:cNvSpPr txBox="1"/>
          <p:nvPr/>
        </p:nvSpPr>
        <p:spPr>
          <a:xfrm>
            <a:off x="5925312" y="224028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64-bit signed integer</a:t>
            </a:r>
          </a:p>
        </p:txBody>
      </p:sp>
      <p:sp>
        <p:nvSpPr>
          <p:cNvPr id="54" name="a1wd480_td53"/>
          <p:cNvSpPr/>
          <p:nvPr/>
        </p:nvSpPr>
        <p:spPr>
          <a:xfrm>
            <a:off x="5852160" y="260604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80_tdt54"/>
          <p:cNvSpPr txBox="1"/>
          <p:nvPr/>
        </p:nvSpPr>
        <p:spPr>
          <a:xfrm>
            <a:off x="5925312" y="260604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Length-prefixed, binary safe</a:t>
            </a:r>
          </a:p>
        </p:txBody>
      </p:sp>
      <p:sp>
        <p:nvSpPr>
          <p:cNvPr id="56" name="a1wd600_td55"/>
          <p:cNvSpPr/>
          <p:nvPr/>
        </p:nvSpPr>
        <p:spPr>
          <a:xfrm>
            <a:off x="5852160" y="297180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600_tdt56"/>
          <p:cNvSpPr txBox="1"/>
          <p:nvPr/>
        </p:nvSpPr>
        <p:spPr>
          <a:xfrm>
            <a:off x="5925312" y="297180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key does not exist</a:t>
            </a:r>
          </a:p>
        </p:txBody>
      </p:sp>
      <p:sp>
        <p:nvSpPr>
          <p:cNvPr id="58" name="a1wd720_td57"/>
          <p:cNvSpPr/>
          <p:nvPr/>
        </p:nvSpPr>
        <p:spPr>
          <a:xfrm>
            <a:off x="5852160" y="333756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720_tdt58"/>
          <p:cNvSpPr txBox="1"/>
          <p:nvPr/>
        </p:nvSpPr>
        <p:spPr>
          <a:xfrm>
            <a:off x="5925312" y="333756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Count, then that many elements</a:t>
            </a:r>
          </a:p>
        </p:txBody>
      </p:sp>
      <p:sp>
        <p:nvSpPr>
          <p:cNvPr id="60" name="a2u_nb59"/>
          <p:cNvSpPr/>
          <p:nvPr/>
        </p:nvSpPr>
        <p:spPr>
          <a:xfrm>
            <a:off x="457200" y="37307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2u_nacc60"/>
          <p:cNvSpPr/>
          <p:nvPr/>
        </p:nvSpPr>
        <p:spPr>
          <a:xfrm>
            <a:off x="457200" y="3730752"/>
            <a:ext cx="50292" cy="5303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a2u_nt61"/>
          <p:cNvSpPr txBox="1"/>
          <p:nvPr/>
        </p:nvSpPr>
        <p:spPr>
          <a:xfrm>
            <a:off x="658368" y="3730752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+  </a:t>
            </a:r>
            <a:r>
              <a:rPr sz="1050" b="0">
                <a:solidFill>
                  <a:srgbClr val="334155"/>
                </a:solidFill>
                <a:latin typeface="Calibri"/>
              </a:rPr>
              <a:t>Every line ends with CRLF. Arrays nest, so a reply to HGETALL is an array of bulk strings, and a reply to XRANGE is an array of arrays. RESP3 adds %  for maps, ~ for sets, , for doubles and # for booleans.</a:t>
            </a:r>
          </a:p>
        </p:txBody>
      </p:sp>
      <p:sp>
        <p:nvSpPr>
          <p:cNvPr id="63" name="ft6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4" name="ft6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Round Trip, Byte by Byte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SET and GET look like on the socket</a:t>
            </a:r>
          </a:p>
        </p:txBody>
      </p:sp>
      <p:sp>
        <p:nvSpPr>
          <p:cNvPr id="4" name="a1f_card3"/>
          <p:cNvSpPr/>
          <p:nvPr/>
        </p:nvSpPr>
        <p:spPr>
          <a:xfrm>
            <a:off x="457200" y="114300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14"/>
          <p:cNvSpPr txBox="1"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urier New"/>
              </a:rPr>
              <a:t>You type:   SET bal 341244.80</a:t>
            </a:r>
          </a:p>
        </p:txBody>
      </p:sp>
      <p:sp>
        <p:nvSpPr>
          <p:cNvPr id="6" name="a1fd80_codebg5"/>
          <p:cNvSpPr/>
          <p:nvPr/>
        </p:nvSpPr>
        <p:spPr>
          <a:xfrm>
            <a:off x="457200" y="1581912"/>
            <a:ext cx="3931920" cy="2043684"/>
          </a:xfrm>
          <a:prstGeom prst="roundRect">
            <a:avLst>
              <a:gd name="adj" fmla="val 35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fd80_codeh6"/>
          <p:cNvSpPr txBox="1"/>
          <p:nvPr/>
        </p:nvSpPr>
        <p:spPr>
          <a:xfrm>
            <a:off x="621792" y="1636776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client → server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21792" y="202082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*3\r\n</a:t>
            </a:r>
          </a:p>
        </p:txBody>
      </p:sp>
      <p:sp>
        <p:nvSpPr>
          <p:cNvPr id="9" name="a1wd170_code8"/>
          <p:cNvSpPr txBox="1"/>
          <p:nvPr/>
        </p:nvSpPr>
        <p:spPr>
          <a:xfrm>
            <a:off x="621792" y="222656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$3\r\n</a:t>
            </a:r>
          </a:p>
        </p:txBody>
      </p:sp>
      <p:sp>
        <p:nvSpPr>
          <p:cNvPr id="10" name="a1wd260_code9"/>
          <p:cNvSpPr txBox="1"/>
          <p:nvPr/>
        </p:nvSpPr>
        <p:spPr>
          <a:xfrm>
            <a:off x="621792" y="243230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SET\r\n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621792" y="263804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$3\r\n</a:t>
            </a:r>
          </a:p>
        </p:txBody>
      </p:sp>
      <p:sp>
        <p:nvSpPr>
          <p:cNvPr id="12" name="a1wd440_code11"/>
          <p:cNvSpPr txBox="1"/>
          <p:nvPr/>
        </p:nvSpPr>
        <p:spPr>
          <a:xfrm>
            <a:off x="621792" y="284378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bal\r\n</a:t>
            </a:r>
          </a:p>
        </p:txBody>
      </p:sp>
      <p:sp>
        <p:nvSpPr>
          <p:cNvPr id="13" name="a1wd530_code12"/>
          <p:cNvSpPr txBox="1"/>
          <p:nvPr/>
        </p:nvSpPr>
        <p:spPr>
          <a:xfrm>
            <a:off x="621792" y="304952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$9\r\n</a:t>
            </a:r>
          </a:p>
        </p:txBody>
      </p:sp>
      <p:sp>
        <p:nvSpPr>
          <p:cNvPr id="14" name="a1wd620_code13"/>
          <p:cNvSpPr txBox="1"/>
          <p:nvPr/>
        </p:nvSpPr>
        <p:spPr>
          <a:xfrm>
            <a:off x="621792" y="325526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341244.80\r\n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57200" y="3410712"/>
            <a:ext cx="3931920" cy="809243"/>
          </a:xfrm>
          <a:prstGeom prst="roundRect">
            <a:avLst>
              <a:gd name="adj" fmla="val 90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codeh15"/>
          <p:cNvSpPr txBox="1"/>
          <p:nvPr/>
        </p:nvSpPr>
        <p:spPr>
          <a:xfrm>
            <a:off x="621792" y="3465576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server → client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621792" y="384962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+OK\r\n</a:t>
            </a:r>
          </a:p>
        </p:txBody>
      </p:sp>
      <p:sp>
        <p:nvSpPr>
          <p:cNvPr id="18" name="a3f_card17"/>
          <p:cNvSpPr/>
          <p:nvPr/>
        </p:nvSpPr>
        <p:spPr>
          <a:xfrm>
            <a:off x="4754880" y="114300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3f_t218"/>
          <p:cNvSpPr txBox="1"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ourier New"/>
              </a:rPr>
              <a:t>You type:   GET bal</a:t>
            </a:r>
          </a:p>
        </p:txBody>
      </p:sp>
      <p:sp>
        <p:nvSpPr>
          <p:cNvPr id="20" name="a3fd80_codebg19"/>
          <p:cNvSpPr/>
          <p:nvPr/>
        </p:nvSpPr>
        <p:spPr>
          <a:xfrm>
            <a:off x="4754880" y="1581912"/>
            <a:ext cx="3931920" cy="1632204"/>
          </a:xfrm>
          <a:prstGeom prst="roundRect">
            <a:avLst>
              <a:gd name="adj" fmla="val 44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fd80_codeh20"/>
          <p:cNvSpPr txBox="1"/>
          <p:nvPr/>
        </p:nvSpPr>
        <p:spPr>
          <a:xfrm>
            <a:off x="4919472" y="1636776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client → server</a:t>
            </a:r>
          </a:p>
        </p:txBody>
      </p:sp>
      <p:sp>
        <p:nvSpPr>
          <p:cNvPr id="22" name="a3wd80_code21"/>
          <p:cNvSpPr txBox="1"/>
          <p:nvPr/>
        </p:nvSpPr>
        <p:spPr>
          <a:xfrm>
            <a:off x="4919472" y="202082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*2\r\n</a:t>
            </a:r>
          </a:p>
        </p:txBody>
      </p:sp>
      <p:sp>
        <p:nvSpPr>
          <p:cNvPr id="23" name="a3wd170_code22"/>
          <p:cNvSpPr txBox="1"/>
          <p:nvPr/>
        </p:nvSpPr>
        <p:spPr>
          <a:xfrm>
            <a:off x="4919472" y="222656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$3\r\n</a:t>
            </a:r>
          </a:p>
        </p:txBody>
      </p:sp>
      <p:sp>
        <p:nvSpPr>
          <p:cNvPr id="24" name="a3wd260_code23"/>
          <p:cNvSpPr txBox="1"/>
          <p:nvPr/>
        </p:nvSpPr>
        <p:spPr>
          <a:xfrm>
            <a:off x="4919472" y="243230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GET\r\n</a:t>
            </a:r>
          </a:p>
        </p:txBody>
      </p:sp>
      <p:sp>
        <p:nvSpPr>
          <p:cNvPr id="25" name="a3wd350_code24"/>
          <p:cNvSpPr txBox="1"/>
          <p:nvPr/>
        </p:nvSpPr>
        <p:spPr>
          <a:xfrm>
            <a:off x="4919472" y="263804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$3\r\n</a:t>
            </a:r>
          </a:p>
        </p:txBody>
      </p:sp>
      <p:sp>
        <p:nvSpPr>
          <p:cNvPr id="26" name="a3wd440_code25"/>
          <p:cNvSpPr txBox="1"/>
          <p:nvPr/>
        </p:nvSpPr>
        <p:spPr>
          <a:xfrm>
            <a:off x="4919472" y="2843784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bal\r\n</a:t>
            </a:r>
          </a:p>
        </p:txBody>
      </p:sp>
      <p:sp>
        <p:nvSpPr>
          <p:cNvPr id="27" name="a4f_codebg26"/>
          <p:cNvSpPr/>
          <p:nvPr/>
        </p:nvSpPr>
        <p:spPr>
          <a:xfrm>
            <a:off x="4754880" y="3008376"/>
            <a:ext cx="3931920" cy="1014983"/>
          </a:xfrm>
          <a:prstGeom prst="roundRect">
            <a:avLst>
              <a:gd name="adj" fmla="val 72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4f_codeh27"/>
          <p:cNvSpPr txBox="1"/>
          <p:nvPr/>
        </p:nvSpPr>
        <p:spPr>
          <a:xfrm>
            <a:off x="4919472" y="306324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server → client</a:t>
            </a:r>
          </a:p>
        </p:txBody>
      </p:sp>
      <p:sp>
        <p:nvSpPr>
          <p:cNvPr id="29" name="a4w_code28"/>
          <p:cNvSpPr txBox="1"/>
          <p:nvPr/>
        </p:nvSpPr>
        <p:spPr>
          <a:xfrm>
            <a:off x="4919472" y="3447288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$9\r\n</a:t>
            </a:r>
          </a:p>
        </p:txBody>
      </p:sp>
      <p:sp>
        <p:nvSpPr>
          <p:cNvPr id="30" name="a4wd90_code29"/>
          <p:cNvSpPr txBox="1"/>
          <p:nvPr/>
        </p:nvSpPr>
        <p:spPr>
          <a:xfrm>
            <a:off x="4919472" y="3653028"/>
            <a:ext cx="360273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341244.80\r\n</a:t>
            </a:r>
          </a:p>
        </p:txBody>
      </p:sp>
      <p:sp>
        <p:nvSpPr>
          <p:cNvPr id="31" name="a5u_nb30"/>
          <p:cNvSpPr/>
          <p:nvPr/>
        </p:nvSpPr>
        <p:spPr>
          <a:xfrm>
            <a:off x="4754880" y="37947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5u_nacc31"/>
          <p:cNvSpPr/>
          <p:nvPr/>
        </p:nvSpPr>
        <p:spPr>
          <a:xfrm>
            <a:off x="4754880" y="3794760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5u_nt32"/>
          <p:cNvSpPr txBox="1"/>
          <p:nvPr/>
        </p:nvSpPr>
        <p:spPr>
          <a:xfrm>
            <a:off x="4956048" y="3794760"/>
            <a:ext cx="35295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5CF6"/>
                </a:solidFill>
                <a:latin typeface="Calibri"/>
              </a:rPr>
              <a:t>i  </a:t>
            </a:r>
            <a:r>
              <a:rPr sz="950" b="0">
                <a:solidFill>
                  <a:srgbClr val="334155"/>
                </a:solidFill>
                <a:latin typeface="Calibri"/>
              </a:rPr>
              <a:t>Every command is sent as an array of bulk strings. That is the whole request format - there is no second one.</a:t>
            </a:r>
          </a:p>
        </p:txBody>
      </p:sp>
      <p:sp>
        <p:nvSpPr>
          <p:cNvPr id="34" name="a5ud60_nb33"/>
          <p:cNvSpPr/>
          <p:nvPr/>
        </p:nvSpPr>
        <p:spPr>
          <a:xfrm>
            <a:off x="457200" y="3959352"/>
            <a:ext cx="3931920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5ud60_nacc34"/>
          <p:cNvSpPr/>
          <p:nvPr/>
        </p:nvSpPr>
        <p:spPr>
          <a:xfrm>
            <a:off x="457200" y="3959352"/>
            <a:ext cx="5029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5ud60_nt35"/>
          <p:cNvSpPr txBox="1"/>
          <p:nvPr/>
        </p:nvSpPr>
        <p:spPr>
          <a:xfrm>
            <a:off x="658368" y="3959352"/>
            <a:ext cx="352958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&gt;  </a:t>
            </a:r>
            <a:r>
              <a:rPr sz="900" b="0">
                <a:solidFill>
                  <a:srgbClr val="334155"/>
                </a:solidFill>
                <a:latin typeface="Calibri"/>
              </a:rPr>
              <a:t>Try it: (printf 'PING\r\n'; sleep 1) | nc 127.0.0.1 6379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Pipelining · The Single Biggest Client-Side Win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Latency is per round trip, not per command - so stop waiting between them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WITHOUT PIPELINING · 3 ROUND TRIPS</a:t>
            </a:r>
          </a:p>
        </p:txBody>
      </p:sp>
      <p:cxnSp>
        <p:nvCxnSpPr>
          <p:cNvPr id="6" name="a1w_rq5"/>
          <p:cNvCxnSpPr/>
          <p:nvPr/>
        </p:nvCxnSpPr>
        <p:spPr>
          <a:xfrm>
            <a:off x="777240" y="1563624"/>
            <a:ext cx="2148840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1f_rl6"/>
          <p:cNvSpPr txBox="1"/>
          <p:nvPr/>
        </p:nvSpPr>
        <p:spPr>
          <a:xfrm>
            <a:off x="777240" y="13807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cmd 1</a:t>
            </a:r>
          </a:p>
        </p:txBody>
      </p:sp>
      <p:cxnSp>
        <p:nvCxnSpPr>
          <p:cNvPr id="8" name="a1wd60_rp7"/>
          <p:cNvCxnSpPr/>
          <p:nvPr/>
        </p:nvCxnSpPr>
        <p:spPr>
          <a:xfrm flipH="1">
            <a:off x="777240" y="1728216"/>
            <a:ext cx="21488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1wd120_rq8"/>
          <p:cNvCxnSpPr/>
          <p:nvPr/>
        </p:nvCxnSpPr>
        <p:spPr>
          <a:xfrm>
            <a:off x="777240" y="1965960"/>
            <a:ext cx="2148840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1fd120_rl9"/>
          <p:cNvSpPr txBox="1"/>
          <p:nvPr/>
        </p:nvSpPr>
        <p:spPr>
          <a:xfrm>
            <a:off x="777240" y="178308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cmd 2</a:t>
            </a:r>
          </a:p>
        </p:txBody>
      </p:sp>
      <p:cxnSp>
        <p:nvCxnSpPr>
          <p:cNvPr id="11" name="a1wd180_rp10"/>
          <p:cNvCxnSpPr/>
          <p:nvPr/>
        </p:nvCxnSpPr>
        <p:spPr>
          <a:xfrm flipH="1">
            <a:off x="777240" y="2130552"/>
            <a:ext cx="21488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1wd240_rq11"/>
          <p:cNvCxnSpPr/>
          <p:nvPr/>
        </p:nvCxnSpPr>
        <p:spPr>
          <a:xfrm>
            <a:off x="777240" y="2368296"/>
            <a:ext cx="2148840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1fd240_rl12"/>
          <p:cNvSpPr txBox="1"/>
          <p:nvPr/>
        </p:nvSpPr>
        <p:spPr>
          <a:xfrm>
            <a:off x="777240" y="2185415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cmd 3</a:t>
            </a:r>
          </a:p>
        </p:txBody>
      </p:sp>
      <p:cxnSp>
        <p:nvCxnSpPr>
          <p:cNvPr id="14" name="a1wd300_rp13"/>
          <p:cNvCxnSpPr/>
          <p:nvPr/>
        </p:nvCxnSpPr>
        <p:spPr>
          <a:xfrm flipH="1">
            <a:off x="777240" y="2532888"/>
            <a:ext cx="21488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1fd420_rt14"/>
          <p:cNvSpPr txBox="1"/>
          <p:nvPr/>
        </p:nvSpPr>
        <p:spPr>
          <a:xfrm>
            <a:off x="3063240" y="1563624"/>
            <a:ext cx="1143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DC382C"/>
                </a:solidFill>
                <a:latin typeface="Calibri"/>
              </a:rPr>
              <a:t>3 × RTT
~3 ms
on a LAN</a:t>
            </a:r>
          </a:p>
        </p:txBody>
      </p:sp>
      <p:sp>
        <p:nvSpPr>
          <p:cNvPr id="16" name="a2u_card15"/>
          <p:cNvSpPr/>
          <p:nvPr/>
        </p:nvSpPr>
        <p:spPr>
          <a:xfrm>
            <a:off x="4754880" y="114300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hh16"/>
          <p:cNvSpPr txBox="1"/>
          <p:nvPr/>
        </p:nvSpPr>
        <p:spPr>
          <a:xfrm>
            <a:off x="4937760" y="1252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WITH PIPELINING · 1 ROUND TRIP</a:t>
            </a:r>
          </a:p>
        </p:txBody>
      </p:sp>
      <p:cxnSp>
        <p:nvCxnSpPr>
          <p:cNvPr id="18" name="a2w_rq17"/>
          <p:cNvCxnSpPr/>
          <p:nvPr/>
        </p:nvCxnSpPr>
        <p:spPr>
          <a:xfrm>
            <a:off x="5074920" y="1581912"/>
            <a:ext cx="2148840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a2wd70_rq18"/>
          <p:cNvCxnSpPr/>
          <p:nvPr/>
        </p:nvCxnSpPr>
        <p:spPr>
          <a:xfrm>
            <a:off x="5074920" y="1700784"/>
            <a:ext cx="2148840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2wd140_rq19"/>
          <p:cNvCxnSpPr/>
          <p:nvPr/>
        </p:nvCxnSpPr>
        <p:spPr>
          <a:xfrm>
            <a:off x="5074920" y="1819656"/>
            <a:ext cx="2148840" cy="0"/>
          </a:xfrm>
          <a:prstGeom prst="line">
            <a:avLst/>
          </a:prstGeom>
          <a:ln w="19050">
            <a:solidFill>
              <a:srgbClr val="DC38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2wd220_rp20"/>
          <p:cNvCxnSpPr/>
          <p:nvPr/>
        </p:nvCxnSpPr>
        <p:spPr>
          <a:xfrm flipH="1">
            <a:off x="5074920" y="2130552"/>
            <a:ext cx="21488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2wd290_rp21"/>
          <p:cNvCxnSpPr/>
          <p:nvPr/>
        </p:nvCxnSpPr>
        <p:spPr>
          <a:xfrm flipH="1">
            <a:off x="5074920" y="2249424"/>
            <a:ext cx="21488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2wd360_rp22"/>
          <p:cNvCxnSpPr/>
          <p:nvPr/>
        </p:nvCxnSpPr>
        <p:spPr>
          <a:xfrm flipH="1">
            <a:off x="5074920" y="2368296"/>
            <a:ext cx="21488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2fd440_rt23"/>
          <p:cNvSpPr txBox="1"/>
          <p:nvPr/>
        </p:nvSpPr>
        <p:spPr>
          <a:xfrm>
            <a:off x="7360920" y="1581912"/>
            <a:ext cx="1143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F766E"/>
                </a:solidFill>
                <a:latin typeface="Calibri"/>
              </a:rPr>
              <a:t>1 × RTT
~1 ms
same work</a:t>
            </a:r>
          </a:p>
        </p:txBody>
      </p:sp>
      <p:sp>
        <p:nvSpPr>
          <p:cNvPr id="25" name="a3f_codebg24"/>
          <p:cNvSpPr/>
          <p:nvPr/>
        </p:nvSpPr>
        <p:spPr>
          <a:xfrm>
            <a:off x="457200" y="3063240"/>
            <a:ext cx="8229600" cy="1284732"/>
          </a:xfrm>
          <a:prstGeom prst="roundRect">
            <a:avLst>
              <a:gd name="adj" fmla="val 56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w_code25"/>
          <p:cNvSpPr txBox="1"/>
          <p:nvPr/>
        </p:nvSpPr>
        <p:spPr>
          <a:xfrm>
            <a:off x="585216" y="319125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// node.js - one round trip for all four commands</a:t>
            </a:r>
          </a:p>
        </p:txBody>
      </p:sp>
      <p:sp>
        <p:nvSpPr>
          <p:cNvPr id="27" name="a3wd110_code26"/>
          <p:cNvSpPr txBox="1"/>
          <p:nvPr/>
        </p:nvSpPr>
        <p:spPr>
          <a:xfrm>
            <a:off x="585216" y="339699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const results = await r.multi()</a:t>
            </a:r>
          </a:p>
        </p:txBody>
      </p:sp>
      <p:sp>
        <p:nvSpPr>
          <p:cNvPr id="28" name="a3wd220_code27"/>
          <p:cNvSpPr txBox="1"/>
          <p:nvPr/>
        </p:nvSpPr>
        <p:spPr>
          <a:xfrm>
            <a:off x="585216" y="360273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.set("icici:bal:9003", 341244.80).expire("icici:bal:9003", 300)</a:t>
            </a:r>
          </a:p>
        </p:txBody>
      </p:sp>
      <p:sp>
        <p:nvSpPr>
          <p:cNvPr id="29" name="a3wd330_code28"/>
          <p:cNvSpPr txBox="1"/>
          <p:nvPr/>
        </p:nvSpPr>
        <p:spPr>
          <a:xfrm>
            <a:off x="585216" y="380847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.incr("icici:cnt:reads").get("icici:bal:9003")</a:t>
            </a:r>
          </a:p>
        </p:txBody>
      </p:sp>
      <p:sp>
        <p:nvSpPr>
          <p:cNvPr id="30" name="a3wd440_code29"/>
          <p:cNvSpPr txBox="1"/>
          <p:nvPr/>
        </p:nvSpPr>
        <p:spPr>
          <a:xfrm>
            <a:off x="585216" y="401421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  .exec();          // ["OK", true, 918234, "341244.80"]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Storage Structure &amp; Model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How a key you SET becomes bytes in RAM - and what happens to it afterwards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Keyspace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Encodings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Expiry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Eviction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Persistence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Keyspace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server, sixteen logical databases, one hash table each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INSIDE ONE DATABASE</a:t>
            </a:r>
          </a:p>
        </p:txBody>
      </p:sp>
      <p:sp>
        <p:nvSpPr>
          <p:cNvPr id="6" name="a1ud40_d15"/>
          <p:cNvSpPr/>
          <p:nvPr/>
        </p:nvSpPr>
        <p:spPr>
          <a:xfrm>
            <a:off x="658368" y="1527048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40_d1t6"/>
          <p:cNvSpPr txBox="1"/>
          <p:nvPr/>
        </p:nvSpPr>
        <p:spPr>
          <a:xfrm>
            <a:off x="658368" y="1527048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ourier New"/>
              </a:rPr>
              <a:t>dict  (key → value)</a:t>
            </a:r>
          </a:p>
        </p:txBody>
      </p:sp>
      <p:sp>
        <p:nvSpPr>
          <p:cNvPr id="8" name="a1ud90_d27"/>
          <p:cNvSpPr/>
          <p:nvPr/>
        </p:nvSpPr>
        <p:spPr>
          <a:xfrm>
            <a:off x="3017520" y="1527048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90_d2t8"/>
          <p:cNvSpPr txBox="1"/>
          <p:nvPr/>
        </p:nvSpPr>
        <p:spPr>
          <a:xfrm>
            <a:off x="3017520" y="152704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expires  (key → timestamp)</a:t>
            </a:r>
          </a:p>
        </p:txBody>
      </p:sp>
      <p:sp>
        <p:nvSpPr>
          <p:cNvPr id="10" name="a1w_kb9"/>
          <p:cNvSpPr/>
          <p:nvPr/>
        </p:nvSpPr>
        <p:spPr>
          <a:xfrm>
            <a:off x="658368" y="1911095"/>
            <a:ext cx="1481328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_kt10"/>
          <p:cNvSpPr txBox="1"/>
          <p:nvPr/>
        </p:nvSpPr>
        <p:spPr>
          <a:xfrm>
            <a:off x="713232" y="1911095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Courier New"/>
              </a:rPr>
              <a:t>icici:bal:9003</a:t>
            </a:r>
          </a:p>
        </p:txBody>
      </p:sp>
      <p:sp>
        <p:nvSpPr>
          <p:cNvPr id="12" name="a1wd40_vb11"/>
          <p:cNvSpPr/>
          <p:nvPr/>
        </p:nvSpPr>
        <p:spPr>
          <a:xfrm>
            <a:off x="2212848" y="1911095"/>
            <a:ext cx="192024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_vt12"/>
          <p:cNvSpPr txBox="1"/>
          <p:nvPr/>
        </p:nvSpPr>
        <p:spPr>
          <a:xfrm>
            <a:off x="2267712" y="1911095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334155"/>
                </a:solidFill>
                <a:latin typeface="Courier New"/>
              </a:rPr>
              <a:t>redisObject → sds "341244.80"</a:t>
            </a:r>
          </a:p>
        </p:txBody>
      </p:sp>
      <p:sp>
        <p:nvSpPr>
          <p:cNvPr id="14" name="a1wd80_eb13"/>
          <p:cNvSpPr/>
          <p:nvPr/>
        </p:nvSpPr>
        <p:spPr>
          <a:xfrm>
            <a:off x="4206240" y="1911095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80_et14"/>
          <p:cNvSpPr txBox="1"/>
          <p:nvPr/>
        </p:nvSpPr>
        <p:spPr>
          <a:xfrm>
            <a:off x="4242816" y="1911095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B45309"/>
                </a:solidFill>
                <a:latin typeface="Courier New"/>
              </a:rPr>
              <a:t>1758412800123</a:t>
            </a:r>
          </a:p>
        </p:txBody>
      </p:sp>
      <p:sp>
        <p:nvSpPr>
          <p:cNvPr id="16" name="a1wd90_kb15"/>
          <p:cNvSpPr/>
          <p:nvPr/>
        </p:nvSpPr>
        <p:spPr>
          <a:xfrm>
            <a:off x="658368" y="2203703"/>
            <a:ext cx="1481328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90_kt16"/>
          <p:cNvSpPr txBox="1"/>
          <p:nvPr/>
        </p:nvSpPr>
        <p:spPr>
          <a:xfrm>
            <a:off x="713232" y="2203703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Courier New"/>
              </a:rPr>
              <a:t>icici:cust:9003</a:t>
            </a:r>
          </a:p>
        </p:txBody>
      </p:sp>
      <p:sp>
        <p:nvSpPr>
          <p:cNvPr id="18" name="a1wd130_vb17"/>
          <p:cNvSpPr/>
          <p:nvPr/>
        </p:nvSpPr>
        <p:spPr>
          <a:xfrm>
            <a:off x="2212848" y="2203703"/>
            <a:ext cx="192024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30_vt18"/>
          <p:cNvSpPr txBox="1"/>
          <p:nvPr/>
        </p:nvSpPr>
        <p:spPr>
          <a:xfrm>
            <a:off x="2267712" y="2203703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334155"/>
                </a:solidFill>
                <a:latin typeface="Courier New"/>
              </a:rPr>
              <a:t>redisObject → listpack</a:t>
            </a:r>
          </a:p>
        </p:txBody>
      </p:sp>
      <p:sp>
        <p:nvSpPr>
          <p:cNvPr id="20" name="a1wd170_eb19"/>
          <p:cNvSpPr/>
          <p:nvPr/>
        </p:nvSpPr>
        <p:spPr>
          <a:xfrm>
            <a:off x="4206240" y="2203703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170_et20"/>
          <p:cNvSpPr txBox="1"/>
          <p:nvPr/>
        </p:nvSpPr>
        <p:spPr>
          <a:xfrm>
            <a:off x="4242816" y="2203703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—</a:t>
            </a:r>
          </a:p>
        </p:txBody>
      </p:sp>
      <p:sp>
        <p:nvSpPr>
          <p:cNvPr id="22" name="a1wd180_kb21"/>
          <p:cNvSpPr/>
          <p:nvPr/>
        </p:nvSpPr>
        <p:spPr>
          <a:xfrm>
            <a:off x="658368" y="2496312"/>
            <a:ext cx="1481328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80_kt22"/>
          <p:cNvSpPr txBox="1"/>
          <p:nvPr/>
        </p:nvSpPr>
        <p:spPr>
          <a:xfrm>
            <a:off x="713232" y="2496312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Courier New"/>
              </a:rPr>
              <a:t>lb:branch</a:t>
            </a:r>
          </a:p>
        </p:txBody>
      </p:sp>
      <p:sp>
        <p:nvSpPr>
          <p:cNvPr id="24" name="a1wd220_vb23"/>
          <p:cNvSpPr/>
          <p:nvPr/>
        </p:nvSpPr>
        <p:spPr>
          <a:xfrm>
            <a:off x="2212848" y="2496312"/>
            <a:ext cx="192024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20_vt24"/>
          <p:cNvSpPr txBox="1"/>
          <p:nvPr/>
        </p:nvSpPr>
        <p:spPr>
          <a:xfrm>
            <a:off x="2267712" y="2496312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334155"/>
                </a:solidFill>
                <a:latin typeface="Courier New"/>
              </a:rPr>
              <a:t>redisObject → skiplist + dict</a:t>
            </a:r>
          </a:p>
        </p:txBody>
      </p:sp>
      <p:sp>
        <p:nvSpPr>
          <p:cNvPr id="26" name="a1wd260_eb25"/>
          <p:cNvSpPr/>
          <p:nvPr/>
        </p:nvSpPr>
        <p:spPr>
          <a:xfrm>
            <a:off x="4206240" y="2496312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260_et26"/>
          <p:cNvSpPr txBox="1"/>
          <p:nvPr/>
        </p:nvSpPr>
        <p:spPr>
          <a:xfrm>
            <a:off x="4242816" y="249631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—</a:t>
            </a:r>
          </a:p>
        </p:txBody>
      </p:sp>
      <p:sp>
        <p:nvSpPr>
          <p:cNvPr id="28" name="a1wd270_kb27"/>
          <p:cNvSpPr/>
          <p:nvPr/>
        </p:nvSpPr>
        <p:spPr>
          <a:xfrm>
            <a:off x="658368" y="2788920"/>
            <a:ext cx="1481328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70_kt28"/>
          <p:cNvSpPr txBox="1"/>
          <p:nvPr/>
        </p:nvSpPr>
        <p:spPr>
          <a:xfrm>
            <a:off x="713232" y="2788920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Courier New"/>
              </a:rPr>
              <a:t>sess:8f3a</a:t>
            </a:r>
          </a:p>
        </p:txBody>
      </p:sp>
      <p:sp>
        <p:nvSpPr>
          <p:cNvPr id="30" name="a1wd310_vb29"/>
          <p:cNvSpPr/>
          <p:nvPr/>
        </p:nvSpPr>
        <p:spPr>
          <a:xfrm>
            <a:off x="2212848" y="2788920"/>
            <a:ext cx="1920240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10_vt30"/>
          <p:cNvSpPr txBox="1"/>
          <p:nvPr/>
        </p:nvSpPr>
        <p:spPr>
          <a:xfrm>
            <a:off x="2267712" y="2788920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334155"/>
                </a:solidFill>
                <a:latin typeface="Courier New"/>
              </a:rPr>
              <a:t>redisObject → sds "{...}"</a:t>
            </a:r>
          </a:p>
        </p:txBody>
      </p:sp>
      <p:sp>
        <p:nvSpPr>
          <p:cNvPr id="32" name="a1wd350_eb31"/>
          <p:cNvSpPr/>
          <p:nvPr/>
        </p:nvSpPr>
        <p:spPr>
          <a:xfrm>
            <a:off x="4206240" y="2788920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50_et32"/>
          <p:cNvSpPr txBox="1"/>
          <p:nvPr/>
        </p:nvSpPr>
        <p:spPr>
          <a:xfrm>
            <a:off x="4242816" y="2788920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B45309"/>
                </a:solidFill>
                <a:latin typeface="Courier New"/>
              </a:rPr>
              <a:t>1758410400000</a:t>
            </a:r>
          </a:p>
        </p:txBody>
      </p:sp>
      <p:sp>
        <p:nvSpPr>
          <p:cNvPr id="34" name="a2u_card33"/>
          <p:cNvSpPr/>
          <p:nvPr/>
        </p:nvSpPr>
        <p:spPr>
          <a:xfrm>
            <a:off x="5760720" y="1143000"/>
            <a:ext cx="2926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u_hh34"/>
          <p:cNvSpPr txBox="1"/>
          <p:nvPr/>
        </p:nvSpPr>
        <p:spPr>
          <a:xfrm>
            <a:off x="5943600" y="125272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THE NUMBERED DATABASES</a:t>
            </a:r>
          </a:p>
        </p:txBody>
      </p:sp>
      <p:sp>
        <p:nvSpPr>
          <p:cNvPr id="36" name="a2w_db35"/>
          <p:cNvSpPr/>
          <p:nvPr/>
        </p:nvSpPr>
        <p:spPr>
          <a:xfrm>
            <a:off x="5943600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_dbt36"/>
          <p:cNvSpPr txBox="1"/>
          <p:nvPr/>
        </p:nvSpPr>
        <p:spPr>
          <a:xfrm>
            <a:off x="5943600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ourier New"/>
              </a:rPr>
              <a:t>0</a:t>
            </a:r>
          </a:p>
        </p:txBody>
      </p:sp>
      <p:sp>
        <p:nvSpPr>
          <p:cNvPr id="38" name="a2wd30_db37"/>
          <p:cNvSpPr/>
          <p:nvPr/>
        </p:nvSpPr>
        <p:spPr>
          <a:xfrm>
            <a:off x="6254496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30_dbt38"/>
          <p:cNvSpPr txBox="1"/>
          <p:nvPr/>
        </p:nvSpPr>
        <p:spPr>
          <a:xfrm>
            <a:off x="6254496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</a:t>
            </a:r>
          </a:p>
        </p:txBody>
      </p:sp>
      <p:sp>
        <p:nvSpPr>
          <p:cNvPr id="40" name="a2wd60_db39"/>
          <p:cNvSpPr/>
          <p:nvPr/>
        </p:nvSpPr>
        <p:spPr>
          <a:xfrm>
            <a:off x="6565392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wd60_dbt40"/>
          <p:cNvSpPr txBox="1"/>
          <p:nvPr/>
        </p:nvSpPr>
        <p:spPr>
          <a:xfrm>
            <a:off x="6565392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2</a:t>
            </a:r>
          </a:p>
        </p:txBody>
      </p:sp>
      <p:sp>
        <p:nvSpPr>
          <p:cNvPr id="42" name="a2wd90_db41"/>
          <p:cNvSpPr/>
          <p:nvPr/>
        </p:nvSpPr>
        <p:spPr>
          <a:xfrm>
            <a:off x="6876288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90_dbt42"/>
          <p:cNvSpPr txBox="1"/>
          <p:nvPr/>
        </p:nvSpPr>
        <p:spPr>
          <a:xfrm>
            <a:off x="6876288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3</a:t>
            </a:r>
          </a:p>
        </p:txBody>
      </p:sp>
      <p:sp>
        <p:nvSpPr>
          <p:cNvPr id="44" name="a2wd120_db43"/>
          <p:cNvSpPr/>
          <p:nvPr/>
        </p:nvSpPr>
        <p:spPr>
          <a:xfrm>
            <a:off x="7187184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120_dbt44"/>
          <p:cNvSpPr txBox="1"/>
          <p:nvPr/>
        </p:nvSpPr>
        <p:spPr>
          <a:xfrm>
            <a:off x="7187184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4</a:t>
            </a:r>
          </a:p>
        </p:txBody>
      </p:sp>
      <p:sp>
        <p:nvSpPr>
          <p:cNvPr id="46" name="a2wd150_db45"/>
          <p:cNvSpPr/>
          <p:nvPr/>
        </p:nvSpPr>
        <p:spPr>
          <a:xfrm>
            <a:off x="7498079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150_dbt46"/>
          <p:cNvSpPr txBox="1"/>
          <p:nvPr/>
        </p:nvSpPr>
        <p:spPr>
          <a:xfrm>
            <a:off x="7498079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5</a:t>
            </a:r>
          </a:p>
        </p:txBody>
      </p:sp>
      <p:sp>
        <p:nvSpPr>
          <p:cNvPr id="48" name="a2wd180_db47"/>
          <p:cNvSpPr/>
          <p:nvPr/>
        </p:nvSpPr>
        <p:spPr>
          <a:xfrm>
            <a:off x="7808975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wd180_dbt48"/>
          <p:cNvSpPr txBox="1"/>
          <p:nvPr/>
        </p:nvSpPr>
        <p:spPr>
          <a:xfrm>
            <a:off x="7808975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6</a:t>
            </a:r>
          </a:p>
        </p:txBody>
      </p:sp>
      <p:sp>
        <p:nvSpPr>
          <p:cNvPr id="50" name="a2wd210_db49"/>
          <p:cNvSpPr/>
          <p:nvPr/>
        </p:nvSpPr>
        <p:spPr>
          <a:xfrm>
            <a:off x="8119872" y="152704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2wd210_dbt50"/>
          <p:cNvSpPr txBox="1"/>
          <p:nvPr/>
        </p:nvSpPr>
        <p:spPr>
          <a:xfrm>
            <a:off x="8119872" y="152704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7</a:t>
            </a:r>
          </a:p>
        </p:txBody>
      </p:sp>
      <p:sp>
        <p:nvSpPr>
          <p:cNvPr id="52" name="a2wd240_db51"/>
          <p:cNvSpPr/>
          <p:nvPr/>
        </p:nvSpPr>
        <p:spPr>
          <a:xfrm>
            <a:off x="5943600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wd240_dbt52"/>
          <p:cNvSpPr txBox="1"/>
          <p:nvPr/>
        </p:nvSpPr>
        <p:spPr>
          <a:xfrm>
            <a:off x="5943600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8</a:t>
            </a:r>
          </a:p>
        </p:txBody>
      </p:sp>
      <p:sp>
        <p:nvSpPr>
          <p:cNvPr id="54" name="a2wd270_db53"/>
          <p:cNvSpPr/>
          <p:nvPr/>
        </p:nvSpPr>
        <p:spPr>
          <a:xfrm>
            <a:off x="6254496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wd270_dbt54"/>
          <p:cNvSpPr txBox="1"/>
          <p:nvPr/>
        </p:nvSpPr>
        <p:spPr>
          <a:xfrm>
            <a:off x="6254496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9</a:t>
            </a:r>
          </a:p>
        </p:txBody>
      </p:sp>
      <p:sp>
        <p:nvSpPr>
          <p:cNvPr id="56" name="a2wd300_db55"/>
          <p:cNvSpPr/>
          <p:nvPr/>
        </p:nvSpPr>
        <p:spPr>
          <a:xfrm>
            <a:off x="6565392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2wd300_dbt56"/>
          <p:cNvSpPr txBox="1"/>
          <p:nvPr/>
        </p:nvSpPr>
        <p:spPr>
          <a:xfrm>
            <a:off x="6565392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10</a:t>
            </a:r>
          </a:p>
        </p:txBody>
      </p:sp>
      <p:sp>
        <p:nvSpPr>
          <p:cNvPr id="58" name="a2wd330_db57"/>
          <p:cNvSpPr/>
          <p:nvPr/>
        </p:nvSpPr>
        <p:spPr>
          <a:xfrm>
            <a:off x="6876288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2wd330_dbt58"/>
          <p:cNvSpPr txBox="1"/>
          <p:nvPr/>
        </p:nvSpPr>
        <p:spPr>
          <a:xfrm>
            <a:off x="6876288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11</a:t>
            </a:r>
          </a:p>
        </p:txBody>
      </p:sp>
      <p:sp>
        <p:nvSpPr>
          <p:cNvPr id="60" name="a2wd360_db59"/>
          <p:cNvSpPr/>
          <p:nvPr/>
        </p:nvSpPr>
        <p:spPr>
          <a:xfrm>
            <a:off x="7187184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2wd360_dbt60"/>
          <p:cNvSpPr txBox="1"/>
          <p:nvPr/>
        </p:nvSpPr>
        <p:spPr>
          <a:xfrm>
            <a:off x="7187184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12</a:t>
            </a:r>
          </a:p>
        </p:txBody>
      </p:sp>
      <p:sp>
        <p:nvSpPr>
          <p:cNvPr id="62" name="a2wd390_db61"/>
          <p:cNvSpPr/>
          <p:nvPr/>
        </p:nvSpPr>
        <p:spPr>
          <a:xfrm>
            <a:off x="7498079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2wd390_dbt62"/>
          <p:cNvSpPr txBox="1"/>
          <p:nvPr/>
        </p:nvSpPr>
        <p:spPr>
          <a:xfrm>
            <a:off x="7498079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13</a:t>
            </a:r>
          </a:p>
        </p:txBody>
      </p:sp>
      <p:sp>
        <p:nvSpPr>
          <p:cNvPr id="64" name="a2wd420_db63"/>
          <p:cNvSpPr/>
          <p:nvPr/>
        </p:nvSpPr>
        <p:spPr>
          <a:xfrm>
            <a:off x="7808975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2wd420_dbt64"/>
          <p:cNvSpPr txBox="1"/>
          <p:nvPr/>
        </p:nvSpPr>
        <p:spPr>
          <a:xfrm>
            <a:off x="7808975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14</a:t>
            </a:r>
          </a:p>
        </p:txBody>
      </p:sp>
      <p:sp>
        <p:nvSpPr>
          <p:cNvPr id="66" name="a2wd450_db65"/>
          <p:cNvSpPr/>
          <p:nvPr/>
        </p:nvSpPr>
        <p:spPr>
          <a:xfrm>
            <a:off x="8119872" y="1837943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2wd450_dbt66"/>
          <p:cNvSpPr txBox="1"/>
          <p:nvPr/>
        </p:nvSpPr>
        <p:spPr>
          <a:xfrm>
            <a:off x="8119872" y="180136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Courier New"/>
              </a:rPr>
              <a:t>15</a:t>
            </a:r>
          </a:p>
        </p:txBody>
      </p:sp>
      <p:sp>
        <p:nvSpPr>
          <p:cNvPr id="68" name="a2ud500_dn67"/>
          <p:cNvSpPr txBox="1"/>
          <p:nvPr/>
        </p:nvSpPr>
        <p:spPr>
          <a:xfrm>
            <a:off x="5943600" y="2240280"/>
            <a:ext cx="2560320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SELECT n switches database. They share one process, one memory pool and one config - so they are namespaces, not isolation. Redis Cluster supports database 0 only. Use key prefixes instead.</a:t>
            </a:r>
          </a:p>
        </p:txBody>
      </p:sp>
      <p:sp>
        <p:nvSpPr>
          <p:cNvPr id="69" name="a3f_codebg68"/>
          <p:cNvSpPr/>
          <p:nvPr/>
        </p:nvSpPr>
        <p:spPr>
          <a:xfrm>
            <a:off x="457200" y="3337560"/>
            <a:ext cx="8229600" cy="1078992"/>
          </a:xfrm>
          <a:prstGeom prst="roundRect">
            <a:avLst>
              <a:gd name="adj" fmla="val 67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a3w_code69"/>
          <p:cNvSpPr txBox="1"/>
          <p:nvPr/>
        </p:nvSpPr>
        <p:spPr>
          <a:xfrm>
            <a:off x="585216" y="346557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DBSIZE            # keys in the current database</a:t>
            </a:r>
          </a:p>
        </p:txBody>
      </p:sp>
      <p:sp>
        <p:nvSpPr>
          <p:cNvPr id="71" name="a3wd110_code70"/>
          <p:cNvSpPr txBox="1"/>
          <p:nvPr/>
        </p:nvSpPr>
        <p:spPr>
          <a:xfrm>
            <a:off x="585216" y="3671315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INFO keyspace     # db0:keys=41823,expires=38104,avg_ttl=271044</a:t>
            </a:r>
          </a:p>
        </p:txBody>
      </p:sp>
      <p:sp>
        <p:nvSpPr>
          <p:cNvPr id="72" name="a3wd220_code71"/>
          <p:cNvSpPr txBox="1"/>
          <p:nvPr/>
        </p:nvSpPr>
        <p:spPr>
          <a:xfrm>
            <a:off x="585216" y="387705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OBJECT ENCODING icici:cust:9003    # "listpack"</a:t>
            </a:r>
          </a:p>
        </p:txBody>
      </p:sp>
      <p:sp>
        <p:nvSpPr>
          <p:cNvPr id="73" name="a3wd330_code72"/>
          <p:cNvSpPr txBox="1"/>
          <p:nvPr/>
        </p:nvSpPr>
        <p:spPr>
          <a:xfrm>
            <a:off x="585216" y="4082796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MEMORY USAGE icici:cust:9003       # (integer) 312</a:t>
            </a:r>
          </a:p>
        </p:txBody>
      </p:sp>
      <p:sp>
        <p:nvSpPr>
          <p:cNvPr id="74" name="ft7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5" name="ft7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Internal Encodings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type has a compact form and a scalable form - Redis switches for you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280160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6" name="a1wd105_td5"/>
          <p:cNvSpPr/>
          <p:nvPr/>
        </p:nvSpPr>
        <p:spPr>
          <a:xfrm>
            <a:off x="457200" y="1472184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5_tdt6"/>
          <p:cNvSpPr txBox="1"/>
          <p:nvPr/>
        </p:nvSpPr>
        <p:spPr>
          <a:xfrm>
            <a:off x="530352" y="1472184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String</a:t>
            </a:r>
          </a:p>
        </p:txBody>
      </p:sp>
      <p:sp>
        <p:nvSpPr>
          <p:cNvPr id="8" name="a1wd210_td7"/>
          <p:cNvSpPr/>
          <p:nvPr/>
        </p:nvSpPr>
        <p:spPr>
          <a:xfrm>
            <a:off x="457200" y="1801368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10_tdt8"/>
          <p:cNvSpPr txBox="1"/>
          <p:nvPr/>
        </p:nvSpPr>
        <p:spPr>
          <a:xfrm>
            <a:off x="530352" y="1801368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String</a:t>
            </a:r>
          </a:p>
        </p:txBody>
      </p:sp>
      <p:sp>
        <p:nvSpPr>
          <p:cNvPr id="10" name="a1wd315_td9"/>
          <p:cNvSpPr/>
          <p:nvPr/>
        </p:nvSpPr>
        <p:spPr>
          <a:xfrm>
            <a:off x="457200" y="2130552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15_tdt10"/>
          <p:cNvSpPr txBox="1"/>
          <p:nvPr/>
        </p:nvSpPr>
        <p:spPr>
          <a:xfrm>
            <a:off x="530352" y="2130552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List</a:t>
            </a:r>
          </a:p>
        </p:txBody>
      </p:sp>
      <p:sp>
        <p:nvSpPr>
          <p:cNvPr id="12" name="a1wd420_td11"/>
          <p:cNvSpPr/>
          <p:nvPr/>
        </p:nvSpPr>
        <p:spPr>
          <a:xfrm>
            <a:off x="457200" y="2459736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20_tdt12"/>
          <p:cNvSpPr txBox="1"/>
          <p:nvPr/>
        </p:nvSpPr>
        <p:spPr>
          <a:xfrm>
            <a:off x="530352" y="2459736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Set</a:t>
            </a:r>
          </a:p>
        </p:txBody>
      </p:sp>
      <p:sp>
        <p:nvSpPr>
          <p:cNvPr id="14" name="a1wd525_td13"/>
          <p:cNvSpPr/>
          <p:nvPr/>
        </p:nvSpPr>
        <p:spPr>
          <a:xfrm>
            <a:off x="457200" y="2788920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25_tdt14"/>
          <p:cNvSpPr txBox="1"/>
          <p:nvPr/>
        </p:nvSpPr>
        <p:spPr>
          <a:xfrm>
            <a:off x="530352" y="2788920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Set</a:t>
            </a:r>
          </a:p>
        </p:txBody>
      </p:sp>
      <p:sp>
        <p:nvSpPr>
          <p:cNvPr id="16" name="a1wd630_td15"/>
          <p:cNvSpPr/>
          <p:nvPr/>
        </p:nvSpPr>
        <p:spPr>
          <a:xfrm>
            <a:off x="457200" y="3118104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30_tdt16"/>
          <p:cNvSpPr txBox="1"/>
          <p:nvPr/>
        </p:nvSpPr>
        <p:spPr>
          <a:xfrm>
            <a:off x="530352" y="3118104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Hash</a:t>
            </a:r>
          </a:p>
        </p:txBody>
      </p:sp>
      <p:sp>
        <p:nvSpPr>
          <p:cNvPr id="18" name="a1wd735_td17"/>
          <p:cNvSpPr/>
          <p:nvPr/>
        </p:nvSpPr>
        <p:spPr>
          <a:xfrm>
            <a:off x="457200" y="3447288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735_tdt18"/>
          <p:cNvSpPr txBox="1"/>
          <p:nvPr/>
        </p:nvSpPr>
        <p:spPr>
          <a:xfrm>
            <a:off x="530352" y="3447288"/>
            <a:ext cx="117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Sorted Set</a:t>
            </a:r>
          </a:p>
        </p:txBody>
      </p:sp>
      <p:sp>
        <p:nvSpPr>
          <p:cNvPr id="20" name="a1f_th19"/>
          <p:cNvSpPr/>
          <p:nvPr/>
        </p:nvSpPr>
        <p:spPr>
          <a:xfrm>
            <a:off x="1737360" y="1143000"/>
            <a:ext cx="182880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1810512" y="114300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Compact encoding</a:t>
            </a:r>
          </a:p>
        </p:txBody>
      </p:sp>
      <p:sp>
        <p:nvSpPr>
          <p:cNvPr id="22" name="a1wd105_td21"/>
          <p:cNvSpPr/>
          <p:nvPr/>
        </p:nvSpPr>
        <p:spPr>
          <a:xfrm>
            <a:off x="1737360" y="147218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05_tdt22"/>
          <p:cNvSpPr txBox="1"/>
          <p:nvPr/>
        </p:nvSpPr>
        <p:spPr>
          <a:xfrm>
            <a:off x="1810512" y="1472184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int</a:t>
            </a:r>
          </a:p>
        </p:txBody>
      </p:sp>
      <p:sp>
        <p:nvSpPr>
          <p:cNvPr id="24" name="a1wd210_td23"/>
          <p:cNvSpPr/>
          <p:nvPr/>
        </p:nvSpPr>
        <p:spPr>
          <a:xfrm>
            <a:off x="1737360" y="180136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10_tdt24"/>
          <p:cNvSpPr txBox="1"/>
          <p:nvPr/>
        </p:nvSpPr>
        <p:spPr>
          <a:xfrm>
            <a:off x="1810512" y="1801368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embstr</a:t>
            </a:r>
          </a:p>
        </p:txBody>
      </p:sp>
      <p:sp>
        <p:nvSpPr>
          <p:cNvPr id="26" name="a1wd315_td25"/>
          <p:cNvSpPr/>
          <p:nvPr/>
        </p:nvSpPr>
        <p:spPr>
          <a:xfrm>
            <a:off x="1737360" y="213055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15_tdt26"/>
          <p:cNvSpPr txBox="1"/>
          <p:nvPr/>
        </p:nvSpPr>
        <p:spPr>
          <a:xfrm>
            <a:off x="1810512" y="2130552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listpack</a:t>
            </a:r>
          </a:p>
        </p:txBody>
      </p:sp>
      <p:sp>
        <p:nvSpPr>
          <p:cNvPr id="28" name="a1wd420_td27"/>
          <p:cNvSpPr/>
          <p:nvPr/>
        </p:nvSpPr>
        <p:spPr>
          <a:xfrm>
            <a:off x="1737360" y="245973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420_tdt28"/>
          <p:cNvSpPr txBox="1"/>
          <p:nvPr/>
        </p:nvSpPr>
        <p:spPr>
          <a:xfrm>
            <a:off x="1810512" y="2459736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intset</a:t>
            </a:r>
          </a:p>
        </p:txBody>
      </p:sp>
      <p:sp>
        <p:nvSpPr>
          <p:cNvPr id="30" name="a1wd525_td29"/>
          <p:cNvSpPr/>
          <p:nvPr/>
        </p:nvSpPr>
        <p:spPr>
          <a:xfrm>
            <a:off x="1737360" y="278892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525_tdt30"/>
          <p:cNvSpPr txBox="1"/>
          <p:nvPr/>
        </p:nvSpPr>
        <p:spPr>
          <a:xfrm>
            <a:off x="1810512" y="278892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listpack</a:t>
            </a:r>
          </a:p>
        </p:txBody>
      </p:sp>
      <p:sp>
        <p:nvSpPr>
          <p:cNvPr id="32" name="a1wd630_td31"/>
          <p:cNvSpPr/>
          <p:nvPr/>
        </p:nvSpPr>
        <p:spPr>
          <a:xfrm>
            <a:off x="1737360" y="311810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630_tdt32"/>
          <p:cNvSpPr txBox="1"/>
          <p:nvPr/>
        </p:nvSpPr>
        <p:spPr>
          <a:xfrm>
            <a:off x="1810512" y="3118104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listpack</a:t>
            </a:r>
          </a:p>
        </p:txBody>
      </p:sp>
      <p:sp>
        <p:nvSpPr>
          <p:cNvPr id="34" name="a1wd735_td33"/>
          <p:cNvSpPr/>
          <p:nvPr/>
        </p:nvSpPr>
        <p:spPr>
          <a:xfrm>
            <a:off x="1737360" y="344728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735_tdt34"/>
          <p:cNvSpPr txBox="1"/>
          <p:nvPr/>
        </p:nvSpPr>
        <p:spPr>
          <a:xfrm>
            <a:off x="1810512" y="3447288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listpack</a:t>
            </a:r>
          </a:p>
        </p:txBody>
      </p:sp>
      <p:sp>
        <p:nvSpPr>
          <p:cNvPr id="36" name="a1f_th35"/>
          <p:cNvSpPr/>
          <p:nvPr/>
        </p:nvSpPr>
        <p:spPr>
          <a:xfrm>
            <a:off x="3566160" y="1143000"/>
            <a:ext cx="2743200" cy="3291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f_tht36"/>
          <p:cNvSpPr txBox="1"/>
          <p:nvPr/>
        </p:nvSpPr>
        <p:spPr>
          <a:xfrm>
            <a:off x="3639312" y="1143000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Switches when</a:t>
            </a:r>
          </a:p>
        </p:txBody>
      </p:sp>
      <p:sp>
        <p:nvSpPr>
          <p:cNvPr id="38" name="a1wd105_td37"/>
          <p:cNvSpPr/>
          <p:nvPr/>
        </p:nvSpPr>
        <p:spPr>
          <a:xfrm>
            <a:off x="3566160" y="1472184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105_tdt38"/>
          <p:cNvSpPr txBox="1"/>
          <p:nvPr/>
        </p:nvSpPr>
        <p:spPr>
          <a:xfrm>
            <a:off x="3639312" y="1472184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value is not a 64-bit int</a:t>
            </a:r>
          </a:p>
        </p:txBody>
      </p:sp>
      <p:sp>
        <p:nvSpPr>
          <p:cNvPr id="40" name="a1wd210_td39"/>
          <p:cNvSpPr/>
          <p:nvPr/>
        </p:nvSpPr>
        <p:spPr>
          <a:xfrm>
            <a:off x="3566160" y="1801368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210_tdt40"/>
          <p:cNvSpPr txBox="1"/>
          <p:nvPr/>
        </p:nvSpPr>
        <p:spPr>
          <a:xfrm>
            <a:off x="3639312" y="1801368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longer than 44 bytes</a:t>
            </a:r>
          </a:p>
        </p:txBody>
      </p:sp>
      <p:sp>
        <p:nvSpPr>
          <p:cNvPr id="42" name="a1wd315_td41"/>
          <p:cNvSpPr/>
          <p:nvPr/>
        </p:nvSpPr>
        <p:spPr>
          <a:xfrm>
            <a:off x="3566160" y="2130552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315_tdt42"/>
          <p:cNvSpPr txBox="1"/>
          <p:nvPr/>
        </p:nvSpPr>
        <p:spPr>
          <a:xfrm>
            <a:off x="3639312" y="2130552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&gt; 128 entries or entry &gt; 64 B</a:t>
            </a:r>
          </a:p>
        </p:txBody>
      </p:sp>
      <p:sp>
        <p:nvSpPr>
          <p:cNvPr id="44" name="a1wd420_td43"/>
          <p:cNvSpPr/>
          <p:nvPr/>
        </p:nvSpPr>
        <p:spPr>
          <a:xfrm>
            <a:off x="3566160" y="2459736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420_tdt44"/>
          <p:cNvSpPr txBox="1"/>
          <p:nvPr/>
        </p:nvSpPr>
        <p:spPr>
          <a:xfrm>
            <a:off x="3639312" y="2459736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non-integer member is added</a:t>
            </a:r>
          </a:p>
        </p:txBody>
      </p:sp>
      <p:sp>
        <p:nvSpPr>
          <p:cNvPr id="46" name="a1wd525_td45"/>
          <p:cNvSpPr/>
          <p:nvPr/>
        </p:nvSpPr>
        <p:spPr>
          <a:xfrm>
            <a:off x="3566160" y="2788920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25_tdt46"/>
          <p:cNvSpPr txBox="1"/>
          <p:nvPr/>
        </p:nvSpPr>
        <p:spPr>
          <a:xfrm>
            <a:off x="3639312" y="2788920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&gt; 128 members or member &gt; 64 B</a:t>
            </a:r>
          </a:p>
        </p:txBody>
      </p:sp>
      <p:sp>
        <p:nvSpPr>
          <p:cNvPr id="48" name="a1wd630_td47"/>
          <p:cNvSpPr/>
          <p:nvPr/>
        </p:nvSpPr>
        <p:spPr>
          <a:xfrm>
            <a:off x="3566160" y="3118104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30_tdt48"/>
          <p:cNvSpPr txBox="1"/>
          <p:nvPr/>
        </p:nvSpPr>
        <p:spPr>
          <a:xfrm>
            <a:off x="3639312" y="3118104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&gt; 128 fields or value &gt; 64 B</a:t>
            </a:r>
          </a:p>
        </p:txBody>
      </p:sp>
      <p:sp>
        <p:nvSpPr>
          <p:cNvPr id="50" name="a1wd735_td49"/>
          <p:cNvSpPr/>
          <p:nvPr/>
        </p:nvSpPr>
        <p:spPr>
          <a:xfrm>
            <a:off x="3566160" y="3447288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35_tdt50"/>
          <p:cNvSpPr txBox="1"/>
          <p:nvPr/>
        </p:nvSpPr>
        <p:spPr>
          <a:xfrm>
            <a:off x="3639312" y="3447288"/>
            <a:ext cx="26334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&gt; 128 entries or member &gt; 64 B</a:t>
            </a:r>
          </a:p>
        </p:txBody>
      </p:sp>
      <p:sp>
        <p:nvSpPr>
          <p:cNvPr id="52" name="a1f_th51"/>
          <p:cNvSpPr/>
          <p:nvPr/>
        </p:nvSpPr>
        <p:spPr>
          <a:xfrm>
            <a:off x="6309360" y="1143000"/>
            <a:ext cx="2377440" cy="329184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f_tht52"/>
          <p:cNvSpPr txBox="1"/>
          <p:nvPr/>
        </p:nvSpPr>
        <p:spPr>
          <a:xfrm>
            <a:off x="6382512" y="1143000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Then becomes</a:t>
            </a:r>
          </a:p>
        </p:txBody>
      </p:sp>
      <p:sp>
        <p:nvSpPr>
          <p:cNvPr id="54" name="a1wd105_td53"/>
          <p:cNvSpPr/>
          <p:nvPr/>
        </p:nvSpPr>
        <p:spPr>
          <a:xfrm>
            <a:off x="6309360" y="1472184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105_tdt54"/>
          <p:cNvSpPr txBox="1"/>
          <p:nvPr/>
        </p:nvSpPr>
        <p:spPr>
          <a:xfrm>
            <a:off x="6382512" y="1472184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embstr / raw</a:t>
            </a:r>
          </a:p>
        </p:txBody>
      </p:sp>
      <p:sp>
        <p:nvSpPr>
          <p:cNvPr id="56" name="a1wd210_td55"/>
          <p:cNvSpPr/>
          <p:nvPr/>
        </p:nvSpPr>
        <p:spPr>
          <a:xfrm>
            <a:off x="6309360" y="1801368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210_tdt56"/>
          <p:cNvSpPr txBox="1"/>
          <p:nvPr/>
        </p:nvSpPr>
        <p:spPr>
          <a:xfrm>
            <a:off x="6382512" y="1801368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raw</a:t>
            </a:r>
          </a:p>
        </p:txBody>
      </p:sp>
      <p:sp>
        <p:nvSpPr>
          <p:cNvPr id="58" name="a1wd315_td57"/>
          <p:cNvSpPr/>
          <p:nvPr/>
        </p:nvSpPr>
        <p:spPr>
          <a:xfrm>
            <a:off x="6309360" y="2130552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315_tdt58"/>
          <p:cNvSpPr txBox="1"/>
          <p:nvPr/>
        </p:nvSpPr>
        <p:spPr>
          <a:xfrm>
            <a:off x="6382512" y="2130552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quicklist</a:t>
            </a:r>
          </a:p>
        </p:txBody>
      </p:sp>
      <p:sp>
        <p:nvSpPr>
          <p:cNvPr id="60" name="a1wd420_td59"/>
          <p:cNvSpPr/>
          <p:nvPr/>
        </p:nvSpPr>
        <p:spPr>
          <a:xfrm>
            <a:off x="6309360" y="2459736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420_tdt60"/>
          <p:cNvSpPr txBox="1"/>
          <p:nvPr/>
        </p:nvSpPr>
        <p:spPr>
          <a:xfrm>
            <a:off x="6382512" y="2459736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listpack / hashtable</a:t>
            </a:r>
          </a:p>
        </p:txBody>
      </p:sp>
      <p:sp>
        <p:nvSpPr>
          <p:cNvPr id="62" name="a1wd525_td61"/>
          <p:cNvSpPr/>
          <p:nvPr/>
        </p:nvSpPr>
        <p:spPr>
          <a:xfrm>
            <a:off x="6309360" y="2788920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525_tdt62"/>
          <p:cNvSpPr txBox="1"/>
          <p:nvPr/>
        </p:nvSpPr>
        <p:spPr>
          <a:xfrm>
            <a:off x="6382512" y="2788920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hashtable</a:t>
            </a:r>
          </a:p>
        </p:txBody>
      </p:sp>
      <p:sp>
        <p:nvSpPr>
          <p:cNvPr id="64" name="a1wd630_td63"/>
          <p:cNvSpPr/>
          <p:nvPr/>
        </p:nvSpPr>
        <p:spPr>
          <a:xfrm>
            <a:off x="6309360" y="3118104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wd630_tdt64"/>
          <p:cNvSpPr txBox="1"/>
          <p:nvPr/>
        </p:nvSpPr>
        <p:spPr>
          <a:xfrm>
            <a:off x="6382512" y="3118104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hashtable</a:t>
            </a:r>
          </a:p>
        </p:txBody>
      </p:sp>
      <p:sp>
        <p:nvSpPr>
          <p:cNvPr id="66" name="a1wd735_td65"/>
          <p:cNvSpPr/>
          <p:nvPr/>
        </p:nvSpPr>
        <p:spPr>
          <a:xfrm>
            <a:off x="6309360" y="3447288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735_tdt66"/>
          <p:cNvSpPr txBox="1"/>
          <p:nvPr/>
        </p:nvSpPr>
        <p:spPr>
          <a:xfrm>
            <a:off x="6382512" y="3447288"/>
            <a:ext cx="22677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skiplist</a:t>
            </a:r>
          </a:p>
        </p:txBody>
      </p:sp>
      <p:sp>
        <p:nvSpPr>
          <p:cNvPr id="68" name="a2f_codebg67"/>
          <p:cNvSpPr/>
          <p:nvPr/>
        </p:nvSpPr>
        <p:spPr>
          <a:xfrm>
            <a:off x="457200" y="3730752"/>
            <a:ext cx="8229600" cy="1078992"/>
          </a:xfrm>
          <a:prstGeom prst="roundRect">
            <a:avLst>
              <a:gd name="adj" fmla="val 67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2w_code68"/>
          <p:cNvSpPr txBox="1"/>
          <p:nvPr/>
        </p:nvSpPr>
        <p:spPr>
          <a:xfrm>
            <a:off x="585216" y="3858768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RPUSH q a b c            → OBJECT ENCODING q  → "listpack"</a:t>
            </a:r>
          </a:p>
        </p:txBody>
      </p:sp>
      <p:sp>
        <p:nvSpPr>
          <p:cNvPr id="70" name="a2wd120_code69"/>
          <p:cNvSpPr txBox="1"/>
          <p:nvPr/>
        </p:nvSpPr>
        <p:spPr>
          <a:xfrm>
            <a:off x="585216" y="4064507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... push 200 more entries ...</a:t>
            </a:r>
          </a:p>
        </p:txBody>
      </p:sp>
      <p:sp>
        <p:nvSpPr>
          <p:cNvPr id="71" name="a2wd240_code70"/>
          <p:cNvSpPr txBox="1"/>
          <p:nvPr/>
        </p:nvSpPr>
        <p:spPr>
          <a:xfrm>
            <a:off x="585216" y="4270248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RPUSH q ...              → OBJECT ENCODING q  → "quicklist"</a:t>
            </a:r>
          </a:p>
        </p:txBody>
      </p:sp>
      <p:sp>
        <p:nvSpPr>
          <p:cNvPr id="72" name="a2wd360_code71"/>
          <p:cNvSpPr txBox="1"/>
          <p:nvPr/>
        </p:nvSpPr>
        <p:spPr>
          <a:xfrm>
            <a:off x="585216" y="4475988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the switch is one-way: it never converts back</a:t>
            </a:r>
          </a:p>
        </p:txBody>
      </p:sp>
      <p:sp>
        <p:nvSpPr>
          <p:cNvPr id="73" name="ft7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4" name="ft7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Expiry · How a TTL Actually Fires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Redis does not run a timer per key - it uses two cheap mechanisms instead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hh4"/>
          <p:cNvSpPr txBox="1"/>
          <p:nvPr/>
        </p:nvSpPr>
        <p:spPr>
          <a:xfrm>
            <a:off x="640080" y="1252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LAZY EXPIRATION</a:t>
            </a:r>
          </a:p>
        </p:txBody>
      </p:sp>
      <p:sp>
        <p:nvSpPr>
          <p:cNvPr id="6" name="a1ud60_p5"/>
          <p:cNvSpPr txBox="1"/>
          <p:nvPr/>
        </p:nvSpPr>
        <p:spPr>
          <a:xfrm>
            <a:off x="640080" y="1527048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When a client touches a key, Redis checks the expires table first. If the timestamp has passed, the key is deleted right then and the client is told it does not exist.</a:t>
            </a:r>
          </a:p>
        </p:txBody>
      </p:sp>
      <p:sp>
        <p:nvSpPr>
          <p:cNvPr id="7" name="a1ud140_p26"/>
          <p:cNvSpPr txBox="1"/>
          <p:nvPr/>
        </p:nvSpPr>
        <p:spPr>
          <a:xfrm>
            <a:off x="640080" y="23317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Cost: zero until someone asks. Problem: a key nobody reads never frees its memory.</a:t>
            </a:r>
          </a:p>
        </p:txBody>
      </p:sp>
      <p:sp>
        <p:nvSpPr>
          <p:cNvPr id="8" name="a2u_card7"/>
          <p:cNvSpPr/>
          <p:nvPr/>
        </p:nvSpPr>
        <p:spPr>
          <a:xfrm>
            <a:off x="4754880" y="114300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u_hh8"/>
          <p:cNvSpPr txBox="1"/>
          <p:nvPr/>
        </p:nvSpPr>
        <p:spPr>
          <a:xfrm>
            <a:off x="4937760" y="1252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ACTIVE EXPIRATION</a:t>
            </a:r>
          </a:p>
        </p:txBody>
      </p:sp>
      <p:sp>
        <p:nvSpPr>
          <p:cNvPr id="10" name="a2ud60_p9"/>
          <p:cNvSpPr txBox="1"/>
          <p:nvPr/>
        </p:nvSpPr>
        <p:spPr>
          <a:xfrm>
            <a:off x="4937760" y="1527048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Ten times a second the server samples 20 random keys that have a TTL, deletes the expired ones, and repeats immediately if more than a quarter of the sample was expired.</a:t>
            </a:r>
          </a:p>
        </p:txBody>
      </p:sp>
      <p:sp>
        <p:nvSpPr>
          <p:cNvPr id="11" name="a2ud140_p210"/>
          <p:cNvSpPr txBox="1"/>
          <p:nvPr/>
        </p:nvSpPr>
        <p:spPr>
          <a:xfrm>
            <a:off x="4937760" y="23317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Cost: a small, bounded slice of CPU. Result: memory is reclaimed without anyone asking.</a:t>
            </a:r>
          </a:p>
        </p:txBody>
      </p:sp>
      <p:sp>
        <p:nvSpPr>
          <p:cNvPr id="12" name="a3f_codebg11"/>
          <p:cNvSpPr/>
          <p:nvPr/>
        </p:nvSpPr>
        <p:spPr>
          <a:xfrm>
            <a:off x="457200" y="2971800"/>
            <a:ext cx="4846320" cy="1284732"/>
          </a:xfrm>
          <a:prstGeom prst="roundRect">
            <a:avLst>
              <a:gd name="adj" fmla="val 56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3w_code12"/>
          <p:cNvSpPr txBox="1"/>
          <p:nvPr/>
        </p:nvSpPr>
        <p:spPr>
          <a:xfrm>
            <a:off x="585216" y="3099816"/>
            <a:ext cx="459028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sess:8f3a "{...}" EX 1800      # set with TTL</a:t>
            </a:r>
          </a:p>
        </p:txBody>
      </p:sp>
      <p:sp>
        <p:nvSpPr>
          <p:cNvPr id="14" name="a3wd100_code13"/>
          <p:cNvSpPr txBox="1"/>
          <p:nvPr/>
        </p:nvSpPr>
        <p:spPr>
          <a:xfrm>
            <a:off x="585216" y="3305556"/>
            <a:ext cx="459028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TTL  sess:8f3a                     # (integer) 1794</a:t>
            </a:r>
          </a:p>
        </p:txBody>
      </p:sp>
      <p:sp>
        <p:nvSpPr>
          <p:cNvPr id="15" name="a3wd200_code14"/>
          <p:cNvSpPr txBox="1"/>
          <p:nvPr/>
        </p:nvSpPr>
        <p:spPr>
          <a:xfrm>
            <a:off x="585216" y="3511296"/>
            <a:ext cx="459028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PERSIST sess:8f3a                  # remove the TTL</a:t>
            </a:r>
          </a:p>
        </p:txBody>
      </p:sp>
      <p:sp>
        <p:nvSpPr>
          <p:cNvPr id="16" name="a3wd300_code15"/>
          <p:cNvSpPr txBox="1"/>
          <p:nvPr/>
        </p:nvSpPr>
        <p:spPr>
          <a:xfrm>
            <a:off x="585216" y="3717036"/>
            <a:ext cx="459028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 sess:8f3a "new"               # TTL is DISCARDED</a:t>
            </a:r>
          </a:p>
        </p:txBody>
      </p:sp>
      <p:sp>
        <p:nvSpPr>
          <p:cNvPr id="17" name="a3wd400_code16"/>
          <p:cNvSpPr txBox="1"/>
          <p:nvPr/>
        </p:nvSpPr>
        <p:spPr>
          <a:xfrm>
            <a:off x="585216" y="3922776"/>
            <a:ext cx="459028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SET  sess:8f3a "new" KEEPTTL       # TTL is kept</a:t>
            </a:r>
          </a:p>
        </p:txBody>
      </p:sp>
      <p:sp>
        <p:nvSpPr>
          <p:cNvPr id="18" name="a4u_nb17"/>
          <p:cNvSpPr/>
          <p:nvPr/>
        </p:nvSpPr>
        <p:spPr>
          <a:xfrm>
            <a:off x="5440680" y="2971800"/>
            <a:ext cx="324612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4u_nacc18"/>
          <p:cNvSpPr/>
          <p:nvPr/>
        </p:nvSpPr>
        <p:spPr>
          <a:xfrm>
            <a:off x="5440680" y="2971800"/>
            <a:ext cx="50292" cy="1188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4u_nt19"/>
          <p:cNvSpPr txBox="1"/>
          <p:nvPr/>
        </p:nvSpPr>
        <p:spPr>
          <a:xfrm>
            <a:off x="5641848" y="2971800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trap: a plain SET on an existing key clears its TTL. A session that is refreshed with SET and no EX becomes immortal, and you find out when memory fills.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2" name="ft2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Eviction · What Happens When Memory Runs Out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Set maxmemory and a policy, or the server will start refusing writes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148840" cy="329184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Policy</a:t>
            </a:r>
          </a:p>
        </p:txBody>
      </p:sp>
      <p:sp>
        <p:nvSpPr>
          <p:cNvPr id="6" name="a1wd100_td5"/>
          <p:cNvSpPr/>
          <p:nvPr/>
        </p:nvSpPr>
        <p:spPr>
          <a:xfrm>
            <a:off x="457200" y="147218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00_tdt6"/>
          <p:cNvSpPr txBox="1"/>
          <p:nvPr/>
        </p:nvSpPr>
        <p:spPr>
          <a:xfrm>
            <a:off x="530352" y="1472184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noeviction</a:t>
            </a:r>
          </a:p>
        </p:txBody>
      </p:sp>
      <p:sp>
        <p:nvSpPr>
          <p:cNvPr id="8" name="a1wd200_td7"/>
          <p:cNvSpPr/>
          <p:nvPr/>
        </p:nvSpPr>
        <p:spPr>
          <a:xfrm>
            <a:off x="457200" y="180136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00_tdt8"/>
          <p:cNvSpPr txBox="1"/>
          <p:nvPr/>
        </p:nvSpPr>
        <p:spPr>
          <a:xfrm>
            <a:off x="530352" y="1801368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allkeys-lru</a:t>
            </a:r>
          </a:p>
        </p:txBody>
      </p:sp>
      <p:sp>
        <p:nvSpPr>
          <p:cNvPr id="10" name="a1wd300_td9"/>
          <p:cNvSpPr/>
          <p:nvPr/>
        </p:nvSpPr>
        <p:spPr>
          <a:xfrm>
            <a:off x="457200" y="2130552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00_tdt10"/>
          <p:cNvSpPr txBox="1"/>
          <p:nvPr/>
        </p:nvSpPr>
        <p:spPr>
          <a:xfrm>
            <a:off x="530352" y="2130552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allkeys-lfu</a:t>
            </a:r>
          </a:p>
        </p:txBody>
      </p:sp>
      <p:sp>
        <p:nvSpPr>
          <p:cNvPr id="12" name="a1wd400_td11"/>
          <p:cNvSpPr/>
          <p:nvPr/>
        </p:nvSpPr>
        <p:spPr>
          <a:xfrm>
            <a:off x="457200" y="2459736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00_tdt12"/>
          <p:cNvSpPr txBox="1"/>
          <p:nvPr/>
        </p:nvSpPr>
        <p:spPr>
          <a:xfrm>
            <a:off x="530352" y="2459736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allkeys-random</a:t>
            </a:r>
          </a:p>
        </p:txBody>
      </p:sp>
      <p:sp>
        <p:nvSpPr>
          <p:cNvPr id="14" name="a1wd500_td13"/>
          <p:cNvSpPr/>
          <p:nvPr/>
        </p:nvSpPr>
        <p:spPr>
          <a:xfrm>
            <a:off x="457200" y="2788920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00_tdt14"/>
          <p:cNvSpPr txBox="1"/>
          <p:nvPr/>
        </p:nvSpPr>
        <p:spPr>
          <a:xfrm>
            <a:off x="530352" y="2788920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volatile-lru</a:t>
            </a:r>
          </a:p>
        </p:txBody>
      </p:sp>
      <p:sp>
        <p:nvSpPr>
          <p:cNvPr id="16" name="a1wd600_td15"/>
          <p:cNvSpPr/>
          <p:nvPr/>
        </p:nvSpPr>
        <p:spPr>
          <a:xfrm>
            <a:off x="457200" y="311810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00_tdt16"/>
          <p:cNvSpPr txBox="1"/>
          <p:nvPr/>
        </p:nvSpPr>
        <p:spPr>
          <a:xfrm>
            <a:off x="530352" y="3118104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volatile-ttl</a:t>
            </a:r>
          </a:p>
        </p:txBody>
      </p:sp>
      <p:sp>
        <p:nvSpPr>
          <p:cNvPr id="18" name="a1wd700_td17"/>
          <p:cNvSpPr/>
          <p:nvPr/>
        </p:nvSpPr>
        <p:spPr>
          <a:xfrm>
            <a:off x="457200" y="344728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700_tdt18"/>
          <p:cNvSpPr txBox="1"/>
          <p:nvPr/>
        </p:nvSpPr>
        <p:spPr>
          <a:xfrm>
            <a:off x="530352" y="3447288"/>
            <a:ext cx="20391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volatile-random</a:t>
            </a:r>
          </a:p>
        </p:txBody>
      </p:sp>
      <p:sp>
        <p:nvSpPr>
          <p:cNvPr id="20" name="a1f_th19"/>
          <p:cNvSpPr/>
          <p:nvPr/>
        </p:nvSpPr>
        <p:spPr>
          <a:xfrm>
            <a:off x="2606040" y="1143000"/>
            <a:ext cx="3246120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2679192" y="1143000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What it evicts</a:t>
            </a:r>
          </a:p>
        </p:txBody>
      </p:sp>
      <p:sp>
        <p:nvSpPr>
          <p:cNvPr id="22" name="a1wd100_td21"/>
          <p:cNvSpPr/>
          <p:nvPr/>
        </p:nvSpPr>
        <p:spPr>
          <a:xfrm>
            <a:off x="2606040" y="1472184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00_tdt22"/>
          <p:cNvSpPr txBox="1"/>
          <p:nvPr/>
        </p:nvSpPr>
        <p:spPr>
          <a:xfrm>
            <a:off x="2679192" y="1472184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Nothing - writes return an OOM error</a:t>
            </a:r>
          </a:p>
        </p:txBody>
      </p:sp>
      <p:sp>
        <p:nvSpPr>
          <p:cNvPr id="24" name="a1wd200_td23"/>
          <p:cNvSpPr/>
          <p:nvPr/>
        </p:nvSpPr>
        <p:spPr>
          <a:xfrm>
            <a:off x="2606040" y="1801368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00_tdt24"/>
          <p:cNvSpPr txBox="1"/>
          <p:nvPr/>
        </p:nvSpPr>
        <p:spPr>
          <a:xfrm>
            <a:off x="2679192" y="1801368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Least recently used, from all keys</a:t>
            </a:r>
          </a:p>
        </p:txBody>
      </p:sp>
      <p:sp>
        <p:nvSpPr>
          <p:cNvPr id="26" name="a1wd300_td25"/>
          <p:cNvSpPr/>
          <p:nvPr/>
        </p:nvSpPr>
        <p:spPr>
          <a:xfrm>
            <a:off x="2606040" y="2130552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00_tdt26"/>
          <p:cNvSpPr txBox="1"/>
          <p:nvPr/>
        </p:nvSpPr>
        <p:spPr>
          <a:xfrm>
            <a:off x="2679192" y="2130552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Least frequently used, from all keys</a:t>
            </a:r>
          </a:p>
        </p:txBody>
      </p:sp>
      <p:sp>
        <p:nvSpPr>
          <p:cNvPr id="28" name="a1wd400_td27"/>
          <p:cNvSpPr/>
          <p:nvPr/>
        </p:nvSpPr>
        <p:spPr>
          <a:xfrm>
            <a:off x="2606040" y="2459736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400_tdt28"/>
          <p:cNvSpPr txBox="1"/>
          <p:nvPr/>
        </p:nvSpPr>
        <p:spPr>
          <a:xfrm>
            <a:off x="2679192" y="2459736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random key</a:t>
            </a:r>
          </a:p>
        </p:txBody>
      </p:sp>
      <p:sp>
        <p:nvSpPr>
          <p:cNvPr id="30" name="a1wd500_td29"/>
          <p:cNvSpPr/>
          <p:nvPr/>
        </p:nvSpPr>
        <p:spPr>
          <a:xfrm>
            <a:off x="2606040" y="2788920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500_tdt30"/>
          <p:cNvSpPr txBox="1"/>
          <p:nvPr/>
        </p:nvSpPr>
        <p:spPr>
          <a:xfrm>
            <a:off x="2679192" y="2788920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LRU, but only keys with a TTL</a:t>
            </a:r>
          </a:p>
        </p:txBody>
      </p:sp>
      <p:sp>
        <p:nvSpPr>
          <p:cNvPr id="32" name="a1wd600_td31"/>
          <p:cNvSpPr/>
          <p:nvPr/>
        </p:nvSpPr>
        <p:spPr>
          <a:xfrm>
            <a:off x="2606040" y="3118104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600_tdt32"/>
          <p:cNvSpPr txBox="1"/>
          <p:nvPr/>
        </p:nvSpPr>
        <p:spPr>
          <a:xfrm>
            <a:off x="2679192" y="3118104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key expiring soonest</a:t>
            </a:r>
          </a:p>
        </p:txBody>
      </p:sp>
      <p:sp>
        <p:nvSpPr>
          <p:cNvPr id="34" name="a1wd700_td33"/>
          <p:cNvSpPr/>
          <p:nvPr/>
        </p:nvSpPr>
        <p:spPr>
          <a:xfrm>
            <a:off x="2606040" y="3447288"/>
            <a:ext cx="3246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700_tdt34"/>
          <p:cNvSpPr txBox="1"/>
          <p:nvPr/>
        </p:nvSpPr>
        <p:spPr>
          <a:xfrm>
            <a:off x="2679192" y="3447288"/>
            <a:ext cx="31363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random key that has a TTL</a:t>
            </a:r>
          </a:p>
        </p:txBody>
      </p:sp>
      <p:sp>
        <p:nvSpPr>
          <p:cNvPr id="36" name="a1f_th35"/>
          <p:cNvSpPr/>
          <p:nvPr/>
        </p:nvSpPr>
        <p:spPr>
          <a:xfrm>
            <a:off x="5852160" y="1143000"/>
            <a:ext cx="2834640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f_tht36"/>
          <p:cNvSpPr txBox="1"/>
          <p:nvPr/>
        </p:nvSpPr>
        <p:spPr>
          <a:xfrm>
            <a:off x="5925312" y="1143000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Use it when</a:t>
            </a:r>
          </a:p>
        </p:txBody>
      </p:sp>
      <p:sp>
        <p:nvSpPr>
          <p:cNvPr id="38" name="a1wd100_td37"/>
          <p:cNvSpPr/>
          <p:nvPr/>
        </p:nvSpPr>
        <p:spPr>
          <a:xfrm>
            <a:off x="5852160" y="1472184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100_tdt38"/>
          <p:cNvSpPr txBox="1"/>
          <p:nvPr/>
        </p:nvSpPr>
        <p:spPr>
          <a:xfrm>
            <a:off x="5925312" y="1472184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Redis is a database, not a cache</a:t>
            </a:r>
          </a:p>
        </p:txBody>
      </p:sp>
      <p:sp>
        <p:nvSpPr>
          <p:cNvPr id="40" name="a1wd200_td39"/>
          <p:cNvSpPr/>
          <p:nvPr/>
        </p:nvSpPr>
        <p:spPr>
          <a:xfrm>
            <a:off x="5852160" y="1801368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200_tdt40"/>
          <p:cNvSpPr txBox="1"/>
          <p:nvPr/>
        </p:nvSpPr>
        <p:spPr>
          <a:xfrm>
            <a:off x="5925312" y="1801368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Pure cache - the usual choice</a:t>
            </a:r>
          </a:p>
        </p:txBody>
      </p:sp>
      <p:sp>
        <p:nvSpPr>
          <p:cNvPr id="42" name="a1wd300_td41"/>
          <p:cNvSpPr/>
          <p:nvPr/>
        </p:nvSpPr>
        <p:spPr>
          <a:xfrm>
            <a:off x="5852160" y="2130552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300_tdt42"/>
          <p:cNvSpPr txBox="1"/>
          <p:nvPr/>
        </p:nvSpPr>
        <p:spPr>
          <a:xfrm>
            <a:off x="5925312" y="2130552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Skewed access - a few hot keys</a:t>
            </a:r>
          </a:p>
        </p:txBody>
      </p:sp>
      <p:sp>
        <p:nvSpPr>
          <p:cNvPr id="44" name="a1wd400_td43"/>
          <p:cNvSpPr/>
          <p:nvPr/>
        </p:nvSpPr>
        <p:spPr>
          <a:xfrm>
            <a:off x="5852160" y="2459736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wd400_tdt44"/>
          <p:cNvSpPr txBox="1"/>
          <p:nvPr/>
        </p:nvSpPr>
        <p:spPr>
          <a:xfrm>
            <a:off x="5925312" y="2459736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Uniform access, lowest CPU cost</a:t>
            </a:r>
          </a:p>
        </p:txBody>
      </p:sp>
      <p:sp>
        <p:nvSpPr>
          <p:cNvPr id="46" name="a1wd500_td45"/>
          <p:cNvSpPr/>
          <p:nvPr/>
        </p:nvSpPr>
        <p:spPr>
          <a:xfrm>
            <a:off x="5852160" y="2788920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500_tdt46"/>
          <p:cNvSpPr txBox="1"/>
          <p:nvPr/>
        </p:nvSpPr>
        <p:spPr>
          <a:xfrm>
            <a:off x="5925312" y="2788920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Mixed cache and permanent data</a:t>
            </a:r>
          </a:p>
        </p:txBody>
      </p:sp>
      <p:sp>
        <p:nvSpPr>
          <p:cNvPr id="48" name="a1wd600_td47"/>
          <p:cNvSpPr/>
          <p:nvPr/>
        </p:nvSpPr>
        <p:spPr>
          <a:xfrm>
            <a:off x="5852160" y="3118104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600_tdt48"/>
          <p:cNvSpPr txBox="1"/>
          <p:nvPr/>
        </p:nvSpPr>
        <p:spPr>
          <a:xfrm>
            <a:off x="5925312" y="3118104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TTLs already express priority</a:t>
            </a:r>
          </a:p>
        </p:txBody>
      </p:sp>
      <p:sp>
        <p:nvSpPr>
          <p:cNvPr id="50" name="a1wd700_td49"/>
          <p:cNvSpPr/>
          <p:nvPr/>
        </p:nvSpPr>
        <p:spPr>
          <a:xfrm>
            <a:off x="5852160" y="3447288"/>
            <a:ext cx="28346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700_tdt50"/>
          <p:cNvSpPr txBox="1"/>
          <p:nvPr/>
        </p:nvSpPr>
        <p:spPr>
          <a:xfrm>
            <a:off x="5925312" y="3447288"/>
            <a:ext cx="272491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Rarely the right answer</a:t>
            </a:r>
          </a:p>
        </p:txBody>
      </p:sp>
      <p:sp>
        <p:nvSpPr>
          <p:cNvPr id="52" name="a2f_codebg51"/>
          <p:cNvSpPr/>
          <p:nvPr/>
        </p:nvSpPr>
        <p:spPr>
          <a:xfrm>
            <a:off x="457200" y="3666744"/>
            <a:ext cx="4160520" cy="1078992"/>
          </a:xfrm>
          <a:prstGeom prst="roundRect">
            <a:avLst>
              <a:gd name="adj" fmla="val 67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2w_code52"/>
          <p:cNvSpPr txBox="1"/>
          <p:nvPr/>
        </p:nvSpPr>
        <p:spPr>
          <a:xfrm>
            <a:off x="585216" y="3794759"/>
            <a:ext cx="3904487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CONFIG SET maxmemory 2gb</a:t>
            </a:r>
          </a:p>
        </p:txBody>
      </p:sp>
      <p:sp>
        <p:nvSpPr>
          <p:cNvPr id="54" name="a2wd110_code53"/>
          <p:cNvSpPr txBox="1"/>
          <p:nvPr/>
        </p:nvSpPr>
        <p:spPr>
          <a:xfrm>
            <a:off x="585216" y="4000499"/>
            <a:ext cx="3904487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CONFIG SET maxmemory-policy allkeys-lru</a:t>
            </a:r>
          </a:p>
        </p:txBody>
      </p:sp>
      <p:sp>
        <p:nvSpPr>
          <p:cNvPr id="55" name="a2wd220_code54"/>
          <p:cNvSpPr txBox="1"/>
          <p:nvPr/>
        </p:nvSpPr>
        <p:spPr>
          <a:xfrm>
            <a:off x="585216" y="4206240"/>
            <a:ext cx="3904487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INFO stats | grep evicted_keys</a:t>
            </a:r>
          </a:p>
        </p:txBody>
      </p:sp>
      <p:sp>
        <p:nvSpPr>
          <p:cNvPr id="56" name="a2wd330_code55"/>
          <p:cNvSpPr txBox="1"/>
          <p:nvPr/>
        </p:nvSpPr>
        <p:spPr>
          <a:xfrm>
            <a:off x="585216" y="4411979"/>
            <a:ext cx="3904487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evicted_keys:18422</a:t>
            </a:r>
          </a:p>
        </p:txBody>
      </p:sp>
      <p:sp>
        <p:nvSpPr>
          <p:cNvPr id="57" name="a3u_nb56"/>
          <p:cNvSpPr/>
          <p:nvPr/>
        </p:nvSpPr>
        <p:spPr>
          <a:xfrm>
            <a:off x="4800600" y="3666744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a3u_nacc57"/>
          <p:cNvSpPr/>
          <p:nvPr/>
        </p:nvSpPr>
        <p:spPr>
          <a:xfrm>
            <a:off x="4800600" y="3666744"/>
            <a:ext cx="50292" cy="9601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3u_nt58"/>
          <p:cNvSpPr txBox="1"/>
          <p:nvPr/>
        </p:nvSpPr>
        <p:spPr>
          <a:xfrm>
            <a:off x="5001768" y="3666744"/>
            <a:ext cx="3483864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default is noeviction. On a cache that is almost always wrong - you get OOM errors instead of a slightly smaller cache. Set maxmemory to about 70% of the box.</a:t>
            </a:r>
          </a:p>
        </p:txBody>
      </p:sp>
      <p:sp>
        <p:nvSpPr>
          <p:cNvPr id="60" name="ft5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61" name="ft6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Persistence · RDB, AOF, or Both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Memory is the storage. Disk is a durability decision you make on purpose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2609088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2609088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19656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RDB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093976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POINT-IN-TIME SNAPSHOT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500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Forks and writes the whole dataset to dump.rdb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3405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Compact file, very fast to restore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1810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You lose everything since the last save</a:t>
            </a:r>
          </a:p>
        </p:txBody>
      </p:sp>
      <p:sp>
        <p:nvSpPr>
          <p:cNvPr id="13" name="a1ud360_cb12"/>
          <p:cNvSpPr txBox="1"/>
          <p:nvPr/>
        </p:nvSpPr>
        <p:spPr>
          <a:xfrm>
            <a:off x="621792" y="350215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save 900 1 / save 300 10 / save 60 10000</a:t>
            </a:r>
          </a:p>
        </p:txBody>
      </p:sp>
      <p:sp>
        <p:nvSpPr>
          <p:cNvPr id="14" name="a2u_card13"/>
          <p:cNvSpPr/>
          <p:nvPr/>
        </p:nvSpPr>
        <p:spPr>
          <a:xfrm>
            <a:off x="3267456" y="1143000"/>
            <a:ext cx="2609088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_acc14"/>
          <p:cNvSpPr/>
          <p:nvPr/>
        </p:nvSpPr>
        <p:spPr>
          <a:xfrm>
            <a:off x="3267456" y="1143000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ud60_ic15"/>
          <p:cNvSpPr/>
          <p:nvPr/>
        </p:nvSpPr>
        <p:spPr>
          <a:xfrm>
            <a:off x="3432048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d60_ict16"/>
          <p:cNvSpPr txBox="1"/>
          <p:nvPr/>
        </p:nvSpPr>
        <p:spPr>
          <a:xfrm>
            <a:off x="3432048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8" name="a2ud90_ct17"/>
          <p:cNvSpPr txBox="1"/>
          <p:nvPr/>
        </p:nvSpPr>
        <p:spPr>
          <a:xfrm>
            <a:off x="3432048" y="1819656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AOF</a:t>
            </a:r>
          </a:p>
        </p:txBody>
      </p:sp>
      <p:sp>
        <p:nvSpPr>
          <p:cNvPr id="19" name="a2ud120_cs18"/>
          <p:cNvSpPr txBox="1"/>
          <p:nvPr/>
        </p:nvSpPr>
        <p:spPr>
          <a:xfrm>
            <a:off x="3432048" y="2093976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APPEND-ONLY COMMAND LOG</a:t>
            </a:r>
          </a:p>
        </p:txBody>
      </p:sp>
      <p:sp>
        <p:nvSpPr>
          <p:cNvPr id="20" name="a2ud150_cb19"/>
          <p:cNvSpPr txBox="1"/>
          <p:nvPr/>
        </p:nvSpPr>
        <p:spPr>
          <a:xfrm>
            <a:off x="3432048" y="23500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Every write command appended to the log</a:t>
            </a:r>
          </a:p>
        </p:txBody>
      </p:sp>
      <p:sp>
        <p:nvSpPr>
          <p:cNvPr id="21" name="a2ud220_cb20"/>
          <p:cNvSpPr txBox="1"/>
          <p:nvPr/>
        </p:nvSpPr>
        <p:spPr>
          <a:xfrm>
            <a:off x="3432048" y="273405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appendfsync everysec loses at most 1 second</a:t>
            </a:r>
          </a:p>
        </p:txBody>
      </p:sp>
      <p:sp>
        <p:nvSpPr>
          <p:cNvPr id="22" name="a2ud290_cb21"/>
          <p:cNvSpPr txBox="1"/>
          <p:nvPr/>
        </p:nvSpPr>
        <p:spPr>
          <a:xfrm>
            <a:off x="3432048" y="311810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Bigger file, slower restart, rewritten periodically</a:t>
            </a:r>
          </a:p>
        </p:txBody>
      </p:sp>
      <p:sp>
        <p:nvSpPr>
          <p:cNvPr id="23" name="a2ud360_cb22"/>
          <p:cNvSpPr txBox="1"/>
          <p:nvPr/>
        </p:nvSpPr>
        <p:spPr>
          <a:xfrm>
            <a:off x="3432048" y="350215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appendonly yes / appendfsync everysec</a:t>
            </a:r>
          </a:p>
        </p:txBody>
      </p:sp>
      <p:sp>
        <p:nvSpPr>
          <p:cNvPr id="24" name="a3u_card23"/>
          <p:cNvSpPr/>
          <p:nvPr/>
        </p:nvSpPr>
        <p:spPr>
          <a:xfrm>
            <a:off x="6077712" y="1143000"/>
            <a:ext cx="2609088" cy="233172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acc24"/>
          <p:cNvSpPr/>
          <p:nvPr/>
        </p:nvSpPr>
        <p:spPr>
          <a:xfrm>
            <a:off x="6077712" y="1143000"/>
            <a:ext cx="2609088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ud60_ic25"/>
          <p:cNvSpPr/>
          <p:nvPr/>
        </p:nvSpPr>
        <p:spPr>
          <a:xfrm>
            <a:off x="6242304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d60_ict26"/>
          <p:cNvSpPr txBox="1"/>
          <p:nvPr/>
        </p:nvSpPr>
        <p:spPr>
          <a:xfrm>
            <a:off x="6242304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a3ud90_ct27"/>
          <p:cNvSpPr txBox="1"/>
          <p:nvPr/>
        </p:nvSpPr>
        <p:spPr>
          <a:xfrm>
            <a:off x="6242304" y="1819656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Both</a:t>
            </a:r>
          </a:p>
        </p:txBody>
      </p:sp>
      <p:sp>
        <p:nvSpPr>
          <p:cNvPr id="29" name="a3ud120_cs28"/>
          <p:cNvSpPr txBox="1"/>
          <p:nvPr/>
        </p:nvSpPr>
        <p:spPr>
          <a:xfrm>
            <a:off x="6242304" y="2093976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THE PRODUCTION DEFAULT</a:t>
            </a:r>
          </a:p>
        </p:txBody>
      </p:sp>
      <p:sp>
        <p:nvSpPr>
          <p:cNvPr id="30" name="a3ud150_cb29"/>
          <p:cNvSpPr txBox="1"/>
          <p:nvPr/>
        </p:nvSpPr>
        <p:spPr>
          <a:xfrm>
            <a:off x="6242304" y="23500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AOF for durability, RDB for fast restore and backups</a:t>
            </a:r>
          </a:p>
        </p:txBody>
      </p:sp>
      <p:sp>
        <p:nvSpPr>
          <p:cNvPr id="31" name="a3ud220_cb30"/>
          <p:cNvSpPr txBox="1"/>
          <p:nvPr/>
        </p:nvSpPr>
        <p:spPr>
          <a:xfrm>
            <a:off x="6242304" y="2734056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Redis 7 writes a hybrid: RDB preamble + AOF tail</a:t>
            </a:r>
          </a:p>
        </p:txBody>
      </p:sp>
      <p:sp>
        <p:nvSpPr>
          <p:cNvPr id="32" name="a3ud290_cb31"/>
          <p:cNvSpPr txBox="1"/>
          <p:nvPr/>
        </p:nvSpPr>
        <p:spPr>
          <a:xfrm>
            <a:off x="6242304" y="3118104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Costs disk I/O and some throughput</a:t>
            </a:r>
          </a:p>
        </p:txBody>
      </p:sp>
      <p:sp>
        <p:nvSpPr>
          <p:cNvPr id="33" name="a3ud360_cb32"/>
          <p:cNvSpPr txBox="1"/>
          <p:nvPr/>
        </p:nvSpPr>
        <p:spPr>
          <a:xfrm>
            <a:off x="6242304" y="350215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This is what the bank runs</a:t>
            </a:r>
          </a:p>
        </p:txBody>
      </p:sp>
      <p:sp>
        <p:nvSpPr>
          <p:cNvPr id="34" name="a4u_nb33"/>
          <p:cNvSpPr/>
          <p:nvPr/>
        </p:nvSpPr>
        <p:spPr>
          <a:xfrm>
            <a:off x="457200" y="363931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4u_nacc34"/>
          <p:cNvSpPr/>
          <p:nvPr/>
        </p:nvSpPr>
        <p:spPr>
          <a:xfrm>
            <a:off x="457200" y="3639312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4u_nt35"/>
          <p:cNvSpPr txBox="1"/>
          <p:nvPr/>
        </p:nvSpPr>
        <p:spPr>
          <a:xfrm>
            <a:off x="658368" y="363931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KEY  </a:t>
            </a:r>
            <a:r>
              <a:rPr sz="1150" b="0">
                <a:solidFill>
                  <a:srgbClr val="334155"/>
                </a:solidFill>
                <a:latin typeface="Calibri"/>
              </a:rPr>
              <a:t>A cache does not need persistence at all - if Redis restarts empty, the next miss refills it. Turn persistence on when losing the contents would cost more than the I/O does. Sessions, yes. A balance cache, no.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Storage Model, End to End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SET command, from socket to RAM to disk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265176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40_sn5"/>
          <p:cNvSpPr txBox="1"/>
          <p:nvPr/>
        </p:nvSpPr>
        <p:spPr>
          <a:xfrm>
            <a:off x="621792" y="128930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1 · Socket</a:t>
            </a:r>
          </a:p>
        </p:txBody>
      </p:sp>
      <p:sp>
        <p:nvSpPr>
          <p:cNvPr id="7" name="a1ud80_sd6"/>
          <p:cNvSpPr txBox="1"/>
          <p:nvPr/>
        </p:nvSpPr>
        <p:spPr>
          <a:xfrm>
            <a:off x="621792" y="1563624"/>
            <a:ext cx="23225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RESP bytes arrive on port 6379</a:t>
            </a:r>
          </a:p>
        </p:txBody>
      </p:sp>
      <p:sp>
        <p:nvSpPr>
          <p:cNvPr id="8" name="a1ud120_card7"/>
          <p:cNvSpPr/>
          <p:nvPr/>
        </p:nvSpPr>
        <p:spPr>
          <a:xfrm>
            <a:off x="3291840" y="114300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20_acc8"/>
          <p:cNvSpPr/>
          <p:nvPr/>
        </p:nvSpPr>
        <p:spPr>
          <a:xfrm>
            <a:off x="3291840" y="114300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60_sn9"/>
          <p:cNvSpPr txBox="1"/>
          <p:nvPr/>
        </p:nvSpPr>
        <p:spPr>
          <a:xfrm>
            <a:off x="3456432" y="128930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2 · Parse</a:t>
            </a:r>
          </a:p>
        </p:txBody>
      </p:sp>
      <p:sp>
        <p:nvSpPr>
          <p:cNvPr id="11" name="a1ud200_sd10"/>
          <p:cNvSpPr txBox="1"/>
          <p:nvPr/>
        </p:nvSpPr>
        <p:spPr>
          <a:xfrm>
            <a:off x="3456432" y="1563624"/>
            <a:ext cx="23225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Command name and arguments extracted</a:t>
            </a:r>
          </a:p>
        </p:txBody>
      </p:sp>
      <p:sp>
        <p:nvSpPr>
          <p:cNvPr id="12" name="a1ud240_card11"/>
          <p:cNvSpPr/>
          <p:nvPr/>
        </p:nvSpPr>
        <p:spPr>
          <a:xfrm>
            <a:off x="6126480" y="114300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240_acc12"/>
          <p:cNvSpPr/>
          <p:nvPr/>
        </p:nvSpPr>
        <p:spPr>
          <a:xfrm>
            <a:off x="6126480" y="1143000"/>
            <a:ext cx="265176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280_sn13"/>
          <p:cNvSpPr txBox="1"/>
          <p:nvPr/>
        </p:nvSpPr>
        <p:spPr>
          <a:xfrm>
            <a:off x="6291072" y="128930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3 · Lookup</a:t>
            </a:r>
          </a:p>
        </p:txBody>
      </p:sp>
      <p:sp>
        <p:nvSpPr>
          <p:cNvPr id="15" name="a1ud320_sd14"/>
          <p:cNvSpPr txBox="1"/>
          <p:nvPr/>
        </p:nvSpPr>
        <p:spPr>
          <a:xfrm>
            <a:off x="6291072" y="1563624"/>
            <a:ext cx="23225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Key hashed into the database dict</a:t>
            </a:r>
          </a:p>
        </p:txBody>
      </p:sp>
      <p:sp>
        <p:nvSpPr>
          <p:cNvPr id="16" name="a2u_card15"/>
          <p:cNvSpPr/>
          <p:nvPr/>
        </p:nvSpPr>
        <p:spPr>
          <a:xfrm>
            <a:off x="457200" y="224028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acc16"/>
          <p:cNvSpPr/>
          <p:nvPr/>
        </p:nvSpPr>
        <p:spPr>
          <a:xfrm>
            <a:off x="457200" y="2240280"/>
            <a:ext cx="265176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40_sn17"/>
          <p:cNvSpPr txBox="1"/>
          <p:nvPr/>
        </p:nvSpPr>
        <p:spPr>
          <a:xfrm>
            <a:off x="621792" y="238658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4 · Object</a:t>
            </a:r>
          </a:p>
        </p:txBody>
      </p:sp>
      <p:sp>
        <p:nvSpPr>
          <p:cNvPr id="19" name="a2ud80_sd18"/>
          <p:cNvSpPr txBox="1"/>
          <p:nvPr/>
        </p:nvSpPr>
        <p:spPr>
          <a:xfrm>
            <a:off x="621792" y="2660904"/>
            <a:ext cx="23225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Value wrapped in a redisObject, encoding chosen</a:t>
            </a:r>
          </a:p>
        </p:txBody>
      </p:sp>
      <p:sp>
        <p:nvSpPr>
          <p:cNvPr id="20" name="a2ud120_card19"/>
          <p:cNvSpPr/>
          <p:nvPr/>
        </p:nvSpPr>
        <p:spPr>
          <a:xfrm>
            <a:off x="3291840" y="224028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120_acc20"/>
          <p:cNvSpPr/>
          <p:nvPr/>
        </p:nvSpPr>
        <p:spPr>
          <a:xfrm>
            <a:off x="3291840" y="2240280"/>
            <a:ext cx="265176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d160_sn21"/>
          <p:cNvSpPr txBox="1"/>
          <p:nvPr/>
        </p:nvSpPr>
        <p:spPr>
          <a:xfrm>
            <a:off x="3456432" y="238658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5 · Memory</a:t>
            </a:r>
          </a:p>
        </p:txBody>
      </p:sp>
      <p:sp>
        <p:nvSpPr>
          <p:cNvPr id="23" name="a2ud200_sd22"/>
          <p:cNvSpPr txBox="1"/>
          <p:nvPr/>
        </p:nvSpPr>
        <p:spPr>
          <a:xfrm>
            <a:off x="3456432" y="2660904"/>
            <a:ext cx="23225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Allocated by jemalloc, tracked against maxmemory</a:t>
            </a:r>
          </a:p>
        </p:txBody>
      </p:sp>
      <p:sp>
        <p:nvSpPr>
          <p:cNvPr id="24" name="a2ud240_card23"/>
          <p:cNvSpPr/>
          <p:nvPr/>
        </p:nvSpPr>
        <p:spPr>
          <a:xfrm>
            <a:off x="6126480" y="2240280"/>
            <a:ext cx="265176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240_acc24"/>
          <p:cNvSpPr/>
          <p:nvPr/>
        </p:nvSpPr>
        <p:spPr>
          <a:xfrm>
            <a:off x="6126480" y="2240280"/>
            <a:ext cx="2651760" cy="4572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280_sn25"/>
          <p:cNvSpPr txBox="1"/>
          <p:nvPr/>
        </p:nvSpPr>
        <p:spPr>
          <a:xfrm>
            <a:off x="6291072" y="238658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6 · Propagate</a:t>
            </a:r>
          </a:p>
        </p:txBody>
      </p:sp>
      <p:sp>
        <p:nvSpPr>
          <p:cNvPr id="27" name="a2ud320_sd26"/>
          <p:cNvSpPr txBox="1"/>
          <p:nvPr/>
        </p:nvSpPr>
        <p:spPr>
          <a:xfrm>
            <a:off x="6291072" y="2660904"/>
            <a:ext cx="2322576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Appended to AOF and sent to replicas</a:t>
            </a:r>
          </a:p>
        </p:txBody>
      </p:sp>
      <p:sp>
        <p:nvSpPr>
          <p:cNvPr id="28" name="a3u_nb27"/>
          <p:cNvSpPr/>
          <p:nvPr/>
        </p:nvSpPr>
        <p:spPr>
          <a:xfrm>
            <a:off x="457200" y="341071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nacc28"/>
          <p:cNvSpPr/>
          <p:nvPr/>
        </p:nvSpPr>
        <p:spPr>
          <a:xfrm>
            <a:off x="457200" y="3410712"/>
            <a:ext cx="50292" cy="56692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_nt29"/>
          <p:cNvSpPr txBox="1"/>
          <p:nvPr/>
        </p:nvSpPr>
        <p:spPr>
          <a:xfrm>
            <a:off x="658368" y="3410712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DC382C"/>
                </a:solidFill>
                <a:latin typeface="Calibri"/>
              </a:rPr>
              <a:t>KEY  </a:t>
            </a:r>
            <a:r>
              <a:rPr sz="1150" b="0">
                <a:solidFill>
                  <a:srgbClr val="334155"/>
                </a:solidFill>
                <a:latin typeface="Calibri"/>
              </a:rPr>
              <a:t>Steps 1 to 5 all happen on one thread, in order, with nothing else running. That is why every Redis command is atomic without a single lock - and why one slow command (KEYS *, a huge SMEMBERS) stalls every other client.</a:t>
            </a:r>
          </a:p>
        </p:txBody>
      </p:sp>
      <p:sp>
        <p:nvSpPr>
          <p:cNvPr id="31" name="a4f_codebg30"/>
          <p:cNvSpPr/>
          <p:nvPr/>
        </p:nvSpPr>
        <p:spPr>
          <a:xfrm>
            <a:off x="457200" y="4087368"/>
            <a:ext cx="8229600" cy="630936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4w_code31"/>
          <p:cNvSpPr txBox="1"/>
          <p:nvPr/>
        </p:nvSpPr>
        <p:spPr>
          <a:xfrm>
            <a:off x="566928" y="4197096"/>
            <a:ext cx="8010144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INFO memory     # used_memory, maxmemory, fragmentation ratio</a:t>
            </a:r>
          </a:p>
        </p:txBody>
      </p:sp>
      <p:sp>
        <p:nvSpPr>
          <p:cNvPr id="33" name="a4wd130_code32"/>
          <p:cNvSpPr txBox="1"/>
          <p:nvPr/>
        </p:nvSpPr>
        <p:spPr>
          <a:xfrm>
            <a:off x="566928" y="4402836"/>
            <a:ext cx="8010144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SLOWLOG GET 5   # the five slowest commands the server has seen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redis.conf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configuration file, section by section - and a baseline you can copy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NETWORK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GENERAL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SNAPSHOTTING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MEMORY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APPEND ONLY</a:t>
            </a:r>
          </a:p>
        </p:txBody>
      </p:sp>
      <p:sp>
        <p:nvSpPr>
          <p:cNvPr id="10" name="a0ud1350_pill9"/>
          <p:cNvSpPr/>
          <p:nvPr/>
        </p:nvSpPr>
        <p:spPr>
          <a:xfrm>
            <a:off x="5532120" y="37033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SECURITY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redis.conf · Network, General and Snapshotting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first three sections you will actually edit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3355848"/>
          </a:xfrm>
          <a:prstGeom prst="roundRect">
            <a:avLst>
              <a:gd name="adj" fmla="val 217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/etc/redis/redis.conf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################ NETWORK ################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621792" y="1778508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bind 127.0.0.1 -::1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621792" y="1975104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port 6379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621792" y="2171700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protected-mode yes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621792" y="2368296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tcp-backlog 511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621792" y="2564891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timeout 0            # 0 = never close idle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621792" y="2761488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tcp-keepalive 300</a:t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621792" y="2958084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154680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################ GENERAL ################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621792" y="3351276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daemonize no         # yes if not under systemd</a:t>
            </a:r>
          </a:p>
        </p:txBody>
      </p:sp>
      <p:sp>
        <p:nvSpPr>
          <p:cNvPr id="16" name="a1wd700_code15"/>
          <p:cNvSpPr txBox="1"/>
          <p:nvPr/>
        </p:nvSpPr>
        <p:spPr>
          <a:xfrm>
            <a:off x="621792" y="3547872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pidfile /var/run/redis/redis.pid</a:t>
            </a:r>
          </a:p>
        </p:txBody>
      </p:sp>
      <p:sp>
        <p:nvSpPr>
          <p:cNvPr id="17" name="a1wd770_code16"/>
          <p:cNvSpPr txBox="1"/>
          <p:nvPr/>
        </p:nvSpPr>
        <p:spPr>
          <a:xfrm>
            <a:off x="621792" y="3744468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loglevel notice</a:t>
            </a:r>
          </a:p>
        </p:txBody>
      </p:sp>
      <p:sp>
        <p:nvSpPr>
          <p:cNvPr id="18" name="a1wd840_code17"/>
          <p:cNvSpPr txBox="1"/>
          <p:nvPr/>
        </p:nvSpPr>
        <p:spPr>
          <a:xfrm>
            <a:off x="621792" y="3941064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logfile /var/log/redis/redis-server.log</a:t>
            </a:r>
          </a:p>
        </p:txBody>
      </p:sp>
      <p:sp>
        <p:nvSpPr>
          <p:cNvPr id="19" name="a1wd910_code18"/>
          <p:cNvSpPr txBox="1"/>
          <p:nvPr/>
        </p:nvSpPr>
        <p:spPr>
          <a:xfrm>
            <a:off x="621792" y="4137660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databases 16</a:t>
            </a:r>
          </a:p>
        </p:txBody>
      </p:sp>
      <p:sp>
        <p:nvSpPr>
          <p:cNvPr id="20" name="a2f_codebg19"/>
          <p:cNvSpPr/>
          <p:nvPr/>
        </p:nvSpPr>
        <p:spPr>
          <a:xfrm>
            <a:off x="4800600" y="1143000"/>
            <a:ext cx="3886200" cy="2962656"/>
          </a:xfrm>
          <a:prstGeom prst="roundRect">
            <a:avLst>
              <a:gd name="adj" fmla="val 24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codeh20"/>
          <p:cNvSpPr txBox="1"/>
          <p:nvPr/>
        </p:nvSpPr>
        <p:spPr>
          <a:xfrm>
            <a:off x="4965192" y="1197864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snapshot rules</a:t>
            </a:r>
          </a:p>
        </p:txBody>
      </p:sp>
      <p:sp>
        <p:nvSpPr>
          <p:cNvPr id="22" name="a2w_code21"/>
          <p:cNvSpPr txBox="1"/>
          <p:nvPr/>
        </p:nvSpPr>
        <p:spPr>
          <a:xfrm>
            <a:off x="4965192" y="1581912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 SNAPSHOTTING ##############</a:t>
            </a:r>
          </a:p>
        </p:txBody>
      </p:sp>
      <p:sp>
        <p:nvSpPr>
          <p:cNvPr id="23" name="a2wd70_code22"/>
          <p:cNvSpPr txBox="1"/>
          <p:nvPr/>
        </p:nvSpPr>
        <p:spPr>
          <a:xfrm>
            <a:off x="4965192" y="1778508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save 900 1        # 1 change  in 15 min</a:t>
            </a:r>
          </a:p>
        </p:txBody>
      </p:sp>
      <p:sp>
        <p:nvSpPr>
          <p:cNvPr id="24" name="a2wd140_code23"/>
          <p:cNvSpPr txBox="1"/>
          <p:nvPr/>
        </p:nvSpPr>
        <p:spPr>
          <a:xfrm>
            <a:off x="4965192" y="1975104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save 300 10       # 10 changes in 5 min</a:t>
            </a:r>
          </a:p>
        </p:txBody>
      </p:sp>
      <p:sp>
        <p:nvSpPr>
          <p:cNvPr id="25" name="a2wd210_code24"/>
          <p:cNvSpPr txBox="1"/>
          <p:nvPr/>
        </p:nvSpPr>
        <p:spPr>
          <a:xfrm>
            <a:off x="4965192" y="2171700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save 60 10000     # 10k changes in 1 min</a:t>
            </a:r>
          </a:p>
        </p:txBody>
      </p:sp>
      <p:sp>
        <p:nvSpPr>
          <p:cNvPr id="26" name="a2wd280_code25"/>
          <p:cNvSpPr txBox="1"/>
          <p:nvPr/>
        </p:nvSpPr>
        <p:spPr>
          <a:xfrm>
            <a:off x="4965192" y="2368296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7" name="a2wd350_code26"/>
          <p:cNvSpPr txBox="1"/>
          <p:nvPr/>
        </p:nvSpPr>
        <p:spPr>
          <a:xfrm>
            <a:off x="4965192" y="2564891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stop-writes-on-bgsave-error yes</a:t>
            </a:r>
          </a:p>
        </p:txBody>
      </p:sp>
      <p:sp>
        <p:nvSpPr>
          <p:cNvPr id="28" name="a2wd420_code27"/>
          <p:cNvSpPr txBox="1"/>
          <p:nvPr/>
        </p:nvSpPr>
        <p:spPr>
          <a:xfrm>
            <a:off x="4965192" y="2761488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rdbcompression yes</a:t>
            </a:r>
          </a:p>
        </p:txBody>
      </p:sp>
      <p:sp>
        <p:nvSpPr>
          <p:cNvPr id="29" name="a2wd490_code28"/>
          <p:cNvSpPr txBox="1"/>
          <p:nvPr/>
        </p:nvSpPr>
        <p:spPr>
          <a:xfrm>
            <a:off x="4965192" y="2958084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rdbchecksum yes</a:t>
            </a:r>
          </a:p>
        </p:txBody>
      </p:sp>
      <p:sp>
        <p:nvSpPr>
          <p:cNvPr id="30" name="a2wd560_code29"/>
          <p:cNvSpPr txBox="1"/>
          <p:nvPr/>
        </p:nvSpPr>
        <p:spPr>
          <a:xfrm>
            <a:off x="4965192" y="3154680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dbfilename dump.rdb</a:t>
            </a:r>
          </a:p>
        </p:txBody>
      </p:sp>
      <p:sp>
        <p:nvSpPr>
          <p:cNvPr id="31" name="a2wd630_code30"/>
          <p:cNvSpPr txBox="1"/>
          <p:nvPr/>
        </p:nvSpPr>
        <p:spPr>
          <a:xfrm>
            <a:off x="4965192" y="3351276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dir /var/lib/redis</a:t>
            </a:r>
          </a:p>
        </p:txBody>
      </p:sp>
      <p:sp>
        <p:nvSpPr>
          <p:cNvPr id="32" name="a2wd700_code31"/>
          <p:cNvSpPr txBox="1"/>
          <p:nvPr/>
        </p:nvSpPr>
        <p:spPr>
          <a:xfrm>
            <a:off x="4965192" y="3547872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3" name="a2wd770_code32"/>
          <p:cNvSpPr txBox="1"/>
          <p:nvPr/>
        </p:nvSpPr>
        <p:spPr>
          <a:xfrm>
            <a:off x="4965192" y="3744468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save ""   &lt;- this line disables RDB</a:t>
            </a:r>
          </a:p>
        </p:txBody>
      </p:sp>
      <p:sp>
        <p:nvSpPr>
          <p:cNvPr id="34" name="a3u_nb33"/>
          <p:cNvSpPr/>
          <p:nvPr/>
        </p:nvSpPr>
        <p:spPr>
          <a:xfrm>
            <a:off x="457200" y="42519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acc34"/>
          <p:cNvSpPr/>
          <p:nvPr/>
        </p:nvSpPr>
        <p:spPr>
          <a:xfrm>
            <a:off x="457200" y="4251960"/>
            <a:ext cx="50292" cy="53035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3u_nt35"/>
          <p:cNvSpPr txBox="1"/>
          <p:nvPr/>
        </p:nvSpPr>
        <p:spPr>
          <a:xfrm>
            <a:off x="658368" y="4251960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bind 127.0.0.1 and protected-mode yes are the two lines that keep an unsecured Redis off the internet. Unsecured Redis instances are one of the most commonly exploited misconfigurations on the public internet - never bind 0.0.0.0 without a password and a firewall.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redis.conf · Memory, AOF, Security and Clients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sections that decide whether it survives a bad day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962656"/>
          </a:xfrm>
          <a:prstGeom prst="roundRect">
            <a:avLst>
              <a:gd name="adj" fmla="val 24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memory and durability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############### MEMORY ##################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621792" y="1778508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 2gb</a:t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621792" y="1975104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maxmemory-policy allkeys-lru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621792" y="2171700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maxmemory-samples 5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621792" y="2368296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621792" y="2564891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 APPEND ONLY ###############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621792" y="2761488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appendonly yes</a:t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621792" y="2958084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appendfilename "appendonly.aof"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621792" y="3154680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appenddirname "appendonlydir"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621792" y="3351276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appendfsync everysec   # always|everysec|no</a:t>
            </a:r>
          </a:p>
        </p:txBody>
      </p:sp>
      <p:sp>
        <p:nvSpPr>
          <p:cNvPr id="16" name="a1wd700_code15"/>
          <p:cNvSpPr txBox="1"/>
          <p:nvPr/>
        </p:nvSpPr>
        <p:spPr>
          <a:xfrm>
            <a:off x="621792" y="3547872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auto-aof-rewrite-percentage 100</a:t>
            </a:r>
          </a:p>
        </p:txBody>
      </p:sp>
      <p:sp>
        <p:nvSpPr>
          <p:cNvPr id="17" name="a1wd770_code16"/>
          <p:cNvSpPr txBox="1"/>
          <p:nvPr/>
        </p:nvSpPr>
        <p:spPr>
          <a:xfrm>
            <a:off x="621792" y="3744468"/>
            <a:ext cx="383133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auto-aof-rewrite-min-size 64mb</a:t>
            </a:r>
          </a:p>
        </p:txBody>
      </p:sp>
      <p:sp>
        <p:nvSpPr>
          <p:cNvPr id="18" name="a2f_codebg17"/>
          <p:cNvSpPr/>
          <p:nvPr/>
        </p:nvSpPr>
        <p:spPr>
          <a:xfrm>
            <a:off x="4800600" y="1143000"/>
            <a:ext cx="3886200" cy="3159252"/>
          </a:xfrm>
          <a:prstGeom prst="roundRect">
            <a:avLst>
              <a:gd name="adj" fmla="val 231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codeh18"/>
          <p:cNvSpPr txBox="1"/>
          <p:nvPr/>
        </p:nvSpPr>
        <p:spPr>
          <a:xfrm>
            <a:off x="4965192" y="1197864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security and limits</a:t>
            </a:r>
          </a:p>
        </p:txBody>
      </p:sp>
      <p:sp>
        <p:nvSpPr>
          <p:cNvPr id="20" name="a2w_code19"/>
          <p:cNvSpPr txBox="1"/>
          <p:nvPr/>
        </p:nvSpPr>
        <p:spPr>
          <a:xfrm>
            <a:off x="4965192" y="1581912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############### SECURITY ################</a:t>
            </a:r>
          </a:p>
        </p:txBody>
      </p:sp>
      <p:sp>
        <p:nvSpPr>
          <p:cNvPr id="21" name="a2wd70_code20"/>
          <p:cNvSpPr txBox="1"/>
          <p:nvPr/>
        </p:nvSpPr>
        <p:spPr>
          <a:xfrm>
            <a:off x="4965192" y="1778508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requirepass &lt;strong-password&gt;</a:t>
            </a:r>
          </a:p>
        </p:txBody>
      </p:sp>
      <p:sp>
        <p:nvSpPr>
          <p:cNvPr id="22" name="a2wd140_code21"/>
          <p:cNvSpPr txBox="1"/>
          <p:nvPr/>
        </p:nvSpPr>
        <p:spPr>
          <a:xfrm>
            <a:off x="4965192" y="1975104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ACL - per user, since Redis 6</a:t>
            </a:r>
          </a:p>
        </p:txBody>
      </p:sp>
      <p:sp>
        <p:nvSpPr>
          <p:cNvPr id="23" name="a2wd210_code22"/>
          <p:cNvSpPr txBox="1"/>
          <p:nvPr/>
        </p:nvSpPr>
        <p:spPr>
          <a:xfrm>
            <a:off x="4965192" y="2171700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user app on &gt;pw ~icici:* +@read +@write</a:t>
            </a:r>
          </a:p>
        </p:txBody>
      </p:sp>
      <p:sp>
        <p:nvSpPr>
          <p:cNvPr id="24" name="a2wd280_code23"/>
          <p:cNvSpPr txBox="1"/>
          <p:nvPr/>
        </p:nvSpPr>
        <p:spPr>
          <a:xfrm>
            <a:off x="4965192" y="2368296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rename-command FLUSHALL ""</a:t>
            </a:r>
          </a:p>
        </p:txBody>
      </p:sp>
      <p:sp>
        <p:nvSpPr>
          <p:cNvPr id="25" name="a2wd350_code24"/>
          <p:cNvSpPr txBox="1"/>
          <p:nvPr/>
        </p:nvSpPr>
        <p:spPr>
          <a:xfrm>
            <a:off x="4965192" y="2564891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rename-command KEYS ""</a:t>
            </a:r>
          </a:p>
        </p:txBody>
      </p:sp>
      <p:sp>
        <p:nvSpPr>
          <p:cNvPr id="26" name="a2wd420_code25"/>
          <p:cNvSpPr txBox="1"/>
          <p:nvPr/>
        </p:nvSpPr>
        <p:spPr>
          <a:xfrm>
            <a:off x="4965192" y="2761488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7" name="a2wd490_code26"/>
          <p:cNvSpPr txBox="1"/>
          <p:nvPr/>
        </p:nvSpPr>
        <p:spPr>
          <a:xfrm>
            <a:off x="4965192" y="2958084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############### CLIENTS #################</a:t>
            </a:r>
          </a:p>
        </p:txBody>
      </p:sp>
      <p:sp>
        <p:nvSpPr>
          <p:cNvPr id="28" name="a2wd560_code27"/>
          <p:cNvSpPr txBox="1"/>
          <p:nvPr/>
        </p:nvSpPr>
        <p:spPr>
          <a:xfrm>
            <a:off x="4965192" y="3154680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maxclients 10000</a:t>
            </a:r>
          </a:p>
        </p:txBody>
      </p:sp>
      <p:sp>
        <p:nvSpPr>
          <p:cNvPr id="29" name="a2wd630_code28"/>
          <p:cNvSpPr txBox="1"/>
          <p:nvPr/>
        </p:nvSpPr>
        <p:spPr>
          <a:xfrm>
            <a:off x="4965192" y="3351276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0" name="a2wd700_code29"/>
          <p:cNvSpPr txBox="1"/>
          <p:nvPr/>
        </p:nvSpPr>
        <p:spPr>
          <a:xfrm>
            <a:off x="4965192" y="3547872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########## ADVANCED / ENCODINGS #########</a:t>
            </a:r>
          </a:p>
        </p:txBody>
      </p:sp>
      <p:sp>
        <p:nvSpPr>
          <p:cNvPr id="31" name="a2wd770_code30"/>
          <p:cNvSpPr txBox="1"/>
          <p:nvPr/>
        </p:nvSpPr>
        <p:spPr>
          <a:xfrm>
            <a:off x="4965192" y="3744468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hash-max-listpack-entries 128</a:t>
            </a:r>
          </a:p>
        </p:txBody>
      </p:sp>
      <p:sp>
        <p:nvSpPr>
          <p:cNvPr id="32" name="a2wd840_code31"/>
          <p:cNvSpPr txBox="1"/>
          <p:nvPr/>
        </p:nvSpPr>
        <p:spPr>
          <a:xfrm>
            <a:off x="4965192" y="3941064"/>
            <a:ext cx="3557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list-max-listpack-size 128</a:t>
            </a:r>
          </a:p>
        </p:txBody>
      </p:sp>
      <p:sp>
        <p:nvSpPr>
          <p:cNvPr id="33" name="a3u_nb32"/>
          <p:cNvSpPr/>
          <p:nvPr/>
        </p:nvSpPr>
        <p:spPr>
          <a:xfrm>
            <a:off x="457200" y="4142231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_nacc33"/>
          <p:cNvSpPr/>
          <p:nvPr/>
        </p:nvSpPr>
        <p:spPr>
          <a:xfrm>
            <a:off x="457200" y="4142231"/>
            <a:ext cx="50292" cy="5303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u_nt34"/>
          <p:cNvSpPr txBox="1"/>
          <p:nvPr/>
        </p:nvSpPr>
        <p:spPr>
          <a:xfrm>
            <a:off x="658368" y="4142231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Renaming FLUSHALL and KEYS to an empty string removes them entirely. On a shared bank cache that is cheap insurance against one careless redis-cli session.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Production Baseline for the Bank Cache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Copy this, change the password and the memory number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5029200" cy="3552444"/>
          </a:xfrm>
          <a:prstGeom prst="roundRect">
            <a:avLst>
              <a:gd name="adj" fmla="val 20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700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redis.conf · baseline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bind 127.0.0.1</a:t>
            </a:r>
          </a:p>
        </p:txBody>
      </p:sp>
      <p:sp>
        <p:nvSpPr>
          <p:cNvPr id="7" name="a1wd65_code6"/>
          <p:cNvSpPr txBox="1"/>
          <p:nvPr/>
        </p:nvSpPr>
        <p:spPr>
          <a:xfrm>
            <a:off x="621792" y="1778508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protected-mode yes</a:t>
            </a:r>
          </a:p>
        </p:txBody>
      </p:sp>
      <p:sp>
        <p:nvSpPr>
          <p:cNvPr id="8" name="a1wd130_code7"/>
          <p:cNvSpPr txBox="1"/>
          <p:nvPr/>
        </p:nvSpPr>
        <p:spPr>
          <a:xfrm>
            <a:off x="621792" y="1975104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port 6379</a:t>
            </a:r>
          </a:p>
        </p:txBody>
      </p:sp>
      <p:sp>
        <p:nvSpPr>
          <p:cNvPr id="9" name="a1wd195_code8"/>
          <p:cNvSpPr txBox="1"/>
          <p:nvPr/>
        </p:nvSpPr>
        <p:spPr>
          <a:xfrm>
            <a:off x="621792" y="2171700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requirepass ${REDIS_PASSWORD}</a:t>
            </a:r>
          </a:p>
        </p:txBody>
      </p:sp>
      <p:sp>
        <p:nvSpPr>
          <p:cNvPr id="10" name="a1wd260_code9"/>
          <p:cNvSpPr txBox="1"/>
          <p:nvPr/>
        </p:nvSpPr>
        <p:spPr>
          <a:xfrm>
            <a:off x="621792" y="2368296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1" name="a1wd325_code10"/>
          <p:cNvSpPr txBox="1"/>
          <p:nvPr/>
        </p:nvSpPr>
        <p:spPr>
          <a:xfrm>
            <a:off x="621792" y="2564891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 4gb                    # ~70% of the box</a:t>
            </a:r>
          </a:p>
        </p:txBody>
      </p:sp>
      <p:sp>
        <p:nvSpPr>
          <p:cNvPr id="12" name="a1wd390_code11"/>
          <p:cNvSpPr txBox="1"/>
          <p:nvPr/>
        </p:nvSpPr>
        <p:spPr>
          <a:xfrm>
            <a:off x="621792" y="2761488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maxmemory-policy allkeys-lru     # it is a cache</a:t>
            </a:r>
          </a:p>
        </p:txBody>
      </p:sp>
      <p:sp>
        <p:nvSpPr>
          <p:cNvPr id="13" name="a1wd455_code12"/>
          <p:cNvSpPr txBox="1"/>
          <p:nvPr/>
        </p:nvSpPr>
        <p:spPr>
          <a:xfrm>
            <a:off x="621792" y="2958084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520_code13"/>
          <p:cNvSpPr txBox="1"/>
          <p:nvPr/>
        </p:nvSpPr>
        <p:spPr>
          <a:xfrm>
            <a:off x="621792" y="3154680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appendonly yes                   # sessions must survive</a:t>
            </a:r>
          </a:p>
        </p:txBody>
      </p:sp>
      <p:sp>
        <p:nvSpPr>
          <p:cNvPr id="15" name="a1wd585_code14"/>
          <p:cNvSpPr txBox="1"/>
          <p:nvPr/>
        </p:nvSpPr>
        <p:spPr>
          <a:xfrm>
            <a:off x="621792" y="3351276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appendfsync everysec             # 1s worst-case loss</a:t>
            </a:r>
          </a:p>
        </p:txBody>
      </p:sp>
      <p:sp>
        <p:nvSpPr>
          <p:cNvPr id="16" name="a1wd650_code15"/>
          <p:cNvSpPr txBox="1"/>
          <p:nvPr/>
        </p:nvSpPr>
        <p:spPr>
          <a:xfrm>
            <a:off x="621792" y="3547872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save 900 1                       # RDB for fast restart</a:t>
            </a:r>
          </a:p>
        </p:txBody>
      </p:sp>
      <p:sp>
        <p:nvSpPr>
          <p:cNvPr id="17" name="a1wd715_code16"/>
          <p:cNvSpPr txBox="1"/>
          <p:nvPr/>
        </p:nvSpPr>
        <p:spPr>
          <a:xfrm>
            <a:off x="621792" y="3744468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8" name="a1wd780_code17"/>
          <p:cNvSpPr txBox="1"/>
          <p:nvPr/>
        </p:nvSpPr>
        <p:spPr>
          <a:xfrm>
            <a:off x="621792" y="3941064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rename-command FLUSHALL ""</a:t>
            </a:r>
          </a:p>
        </p:txBody>
      </p:sp>
      <p:sp>
        <p:nvSpPr>
          <p:cNvPr id="19" name="a1wd845_code18"/>
          <p:cNvSpPr txBox="1"/>
          <p:nvPr/>
        </p:nvSpPr>
        <p:spPr>
          <a:xfrm>
            <a:off x="621792" y="4137660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rename-command KEYS ""</a:t>
            </a:r>
          </a:p>
        </p:txBody>
      </p:sp>
      <p:sp>
        <p:nvSpPr>
          <p:cNvPr id="20" name="a1wd910_code19"/>
          <p:cNvSpPr txBox="1"/>
          <p:nvPr/>
        </p:nvSpPr>
        <p:spPr>
          <a:xfrm>
            <a:off x="621792" y="4334256"/>
            <a:ext cx="470001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slowlog-log-slower-than 10000    # log over 10 ms</a:t>
            </a:r>
          </a:p>
        </p:txBody>
      </p:sp>
      <p:sp>
        <p:nvSpPr>
          <p:cNvPr id="21" name="a2u_card20"/>
          <p:cNvSpPr/>
          <p:nvPr/>
        </p:nvSpPr>
        <p:spPr>
          <a:xfrm>
            <a:off x="5669280" y="1143000"/>
            <a:ext cx="3017520" cy="306324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_hh21"/>
          <p:cNvSpPr txBox="1"/>
          <p:nvPr/>
        </p:nvSpPr>
        <p:spPr>
          <a:xfrm>
            <a:off x="5852160" y="1252728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WHY EACH LINE</a:t>
            </a:r>
          </a:p>
        </p:txBody>
      </p:sp>
      <p:sp>
        <p:nvSpPr>
          <p:cNvPr id="23" name="a2u_wk22"/>
          <p:cNvSpPr txBox="1"/>
          <p:nvPr/>
        </p:nvSpPr>
        <p:spPr>
          <a:xfrm>
            <a:off x="5852160" y="1527048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bind + protected-mode</a:t>
            </a:r>
          </a:p>
        </p:txBody>
      </p:sp>
      <p:sp>
        <p:nvSpPr>
          <p:cNvPr id="24" name="a2u_wv23"/>
          <p:cNvSpPr txBox="1"/>
          <p:nvPr/>
        </p:nvSpPr>
        <p:spPr>
          <a:xfrm>
            <a:off x="5852160" y="1682495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never reachable from outside the host</a:t>
            </a:r>
          </a:p>
        </p:txBody>
      </p:sp>
      <p:sp>
        <p:nvSpPr>
          <p:cNvPr id="25" name="a2ud70_wk24"/>
          <p:cNvSpPr txBox="1"/>
          <p:nvPr/>
        </p:nvSpPr>
        <p:spPr>
          <a:xfrm>
            <a:off x="5852160" y="1856231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requirepass</a:t>
            </a:r>
          </a:p>
        </p:txBody>
      </p:sp>
      <p:sp>
        <p:nvSpPr>
          <p:cNvPr id="26" name="a2ud70_wv25"/>
          <p:cNvSpPr txBox="1"/>
          <p:nvPr/>
        </p:nvSpPr>
        <p:spPr>
          <a:xfrm>
            <a:off x="5852160" y="2011679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from an environment variable, never in git</a:t>
            </a:r>
          </a:p>
        </p:txBody>
      </p:sp>
      <p:sp>
        <p:nvSpPr>
          <p:cNvPr id="27" name="a2ud140_wk26"/>
          <p:cNvSpPr txBox="1"/>
          <p:nvPr/>
        </p:nvSpPr>
        <p:spPr>
          <a:xfrm>
            <a:off x="5852160" y="2185415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maxmemory</a:t>
            </a:r>
          </a:p>
        </p:txBody>
      </p:sp>
      <p:sp>
        <p:nvSpPr>
          <p:cNvPr id="28" name="a2ud140_wv27"/>
          <p:cNvSpPr txBox="1"/>
          <p:nvPr/>
        </p:nvSpPr>
        <p:spPr>
          <a:xfrm>
            <a:off x="5852160" y="2340863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leave headroom for fork during BGSAVE</a:t>
            </a:r>
          </a:p>
        </p:txBody>
      </p:sp>
      <p:sp>
        <p:nvSpPr>
          <p:cNvPr id="29" name="a2ud210_wk28"/>
          <p:cNvSpPr txBox="1"/>
          <p:nvPr/>
        </p:nvSpPr>
        <p:spPr>
          <a:xfrm>
            <a:off x="5852160" y="2514600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allkeys-lru</a:t>
            </a:r>
          </a:p>
        </p:txBody>
      </p:sp>
      <p:sp>
        <p:nvSpPr>
          <p:cNvPr id="30" name="a2ud210_wv29"/>
          <p:cNvSpPr txBox="1"/>
          <p:nvPr/>
        </p:nvSpPr>
        <p:spPr>
          <a:xfrm>
            <a:off x="5852160" y="2670048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evict cold keys rather than fail writes</a:t>
            </a:r>
          </a:p>
        </p:txBody>
      </p:sp>
      <p:sp>
        <p:nvSpPr>
          <p:cNvPr id="31" name="a2ud280_wk30"/>
          <p:cNvSpPr txBox="1"/>
          <p:nvPr/>
        </p:nvSpPr>
        <p:spPr>
          <a:xfrm>
            <a:off x="5852160" y="2843784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appendonly yes</a:t>
            </a:r>
          </a:p>
        </p:txBody>
      </p:sp>
      <p:sp>
        <p:nvSpPr>
          <p:cNvPr id="32" name="a2ud280_wv31"/>
          <p:cNvSpPr txBox="1"/>
          <p:nvPr/>
        </p:nvSpPr>
        <p:spPr>
          <a:xfrm>
            <a:off x="5852160" y="2999232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sessions and locks must survive a restart</a:t>
            </a:r>
          </a:p>
        </p:txBody>
      </p:sp>
      <p:sp>
        <p:nvSpPr>
          <p:cNvPr id="33" name="a2ud350_wk32"/>
          <p:cNvSpPr txBox="1"/>
          <p:nvPr/>
        </p:nvSpPr>
        <p:spPr>
          <a:xfrm>
            <a:off x="5852160" y="3172968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everysec</a:t>
            </a:r>
          </a:p>
        </p:txBody>
      </p:sp>
      <p:sp>
        <p:nvSpPr>
          <p:cNvPr id="34" name="a2ud350_wv33"/>
          <p:cNvSpPr txBox="1"/>
          <p:nvPr/>
        </p:nvSpPr>
        <p:spPr>
          <a:xfrm>
            <a:off x="5852160" y="3328415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the throughput/durability compromise</a:t>
            </a:r>
          </a:p>
        </p:txBody>
      </p:sp>
      <p:sp>
        <p:nvSpPr>
          <p:cNvPr id="35" name="a2ud420_wk34"/>
          <p:cNvSpPr txBox="1"/>
          <p:nvPr/>
        </p:nvSpPr>
        <p:spPr>
          <a:xfrm>
            <a:off x="5852160" y="3502152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rename-command</a:t>
            </a:r>
          </a:p>
        </p:txBody>
      </p:sp>
      <p:sp>
        <p:nvSpPr>
          <p:cNvPr id="36" name="a2ud420_wv35"/>
          <p:cNvSpPr txBox="1"/>
          <p:nvPr/>
        </p:nvSpPr>
        <p:spPr>
          <a:xfrm>
            <a:off x="5852160" y="3657600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remove the two footguns</a:t>
            </a:r>
          </a:p>
        </p:txBody>
      </p:sp>
      <p:sp>
        <p:nvSpPr>
          <p:cNvPr id="37" name="a2ud490_wk36"/>
          <p:cNvSpPr txBox="1"/>
          <p:nvPr/>
        </p:nvSpPr>
        <p:spPr>
          <a:xfrm>
            <a:off x="5852160" y="3831335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ourier New"/>
              </a:rPr>
              <a:t>slowlog</a:t>
            </a:r>
          </a:p>
        </p:txBody>
      </p:sp>
      <p:sp>
        <p:nvSpPr>
          <p:cNvPr id="38" name="a2ud490_wv37"/>
          <p:cNvSpPr txBox="1"/>
          <p:nvPr/>
        </p:nvSpPr>
        <p:spPr>
          <a:xfrm>
            <a:off x="5852160" y="3986783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evidence when latency spikes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9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84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Health Checks You Should Know By Heart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commands that answer "is it healthy?" in under a minute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320040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Command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9047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90472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INFO memory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837943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837943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INFO stats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18541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185416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INFO clients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53288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532888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INFO replication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88036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880360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SLOWLOG GET 10</a:t>
            </a:r>
          </a:p>
        </p:txBody>
      </p:sp>
      <p:sp>
        <p:nvSpPr>
          <p:cNvPr id="16" name="a1wd660_td15"/>
          <p:cNvSpPr/>
          <p:nvPr/>
        </p:nvSpPr>
        <p:spPr>
          <a:xfrm>
            <a:off x="457200" y="322783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660_tdt16"/>
          <p:cNvSpPr txBox="1"/>
          <p:nvPr/>
        </p:nvSpPr>
        <p:spPr>
          <a:xfrm>
            <a:off x="530352" y="3227832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CLIENT LIST</a:t>
            </a:r>
          </a:p>
        </p:txBody>
      </p:sp>
      <p:sp>
        <p:nvSpPr>
          <p:cNvPr id="18" name="a1wd770_td17"/>
          <p:cNvSpPr/>
          <p:nvPr/>
        </p:nvSpPr>
        <p:spPr>
          <a:xfrm>
            <a:off x="457200" y="357530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770_tdt18"/>
          <p:cNvSpPr txBox="1"/>
          <p:nvPr/>
        </p:nvSpPr>
        <p:spPr>
          <a:xfrm>
            <a:off x="530352" y="3575304"/>
            <a:ext cx="30906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LATENCY DOCTOR</a:t>
            </a:r>
          </a:p>
        </p:txBody>
      </p:sp>
      <p:sp>
        <p:nvSpPr>
          <p:cNvPr id="20" name="a1f_th19"/>
          <p:cNvSpPr/>
          <p:nvPr/>
        </p:nvSpPr>
        <p:spPr>
          <a:xfrm>
            <a:off x="3657600" y="1143000"/>
            <a:ext cx="5029200" cy="3474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f_tht20"/>
          <p:cNvSpPr txBox="1"/>
          <p:nvPr/>
        </p:nvSpPr>
        <p:spPr>
          <a:xfrm>
            <a:off x="3730752" y="1143000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Look for</a:t>
            </a:r>
          </a:p>
        </p:txBody>
      </p:sp>
      <p:sp>
        <p:nvSpPr>
          <p:cNvPr id="22" name="a1wd110_td21"/>
          <p:cNvSpPr/>
          <p:nvPr/>
        </p:nvSpPr>
        <p:spPr>
          <a:xfrm>
            <a:off x="3657600" y="149047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110_tdt22"/>
          <p:cNvSpPr txBox="1"/>
          <p:nvPr/>
        </p:nvSpPr>
        <p:spPr>
          <a:xfrm>
            <a:off x="3730752" y="1490472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used_memory_human vs maxmemory; mem_fragmentation_ratio near 1.0</a:t>
            </a:r>
          </a:p>
        </p:txBody>
      </p:sp>
      <p:sp>
        <p:nvSpPr>
          <p:cNvPr id="24" name="a1wd220_td23"/>
          <p:cNvSpPr/>
          <p:nvPr/>
        </p:nvSpPr>
        <p:spPr>
          <a:xfrm>
            <a:off x="3657600" y="1837943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220_tdt24"/>
          <p:cNvSpPr txBox="1"/>
          <p:nvPr/>
        </p:nvSpPr>
        <p:spPr>
          <a:xfrm>
            <a:off x="3730752" y="1837943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keyspace_hits vs keyspace_misses - your real hit rate</a:t>
            </a:r>
          </a:p>
        </p:txBody>
      </p:sp>
      <p:sp>
        <p:nvSpPr>
          <p:cNvPr id="26" name="a1wd330_td25"/>
          <p:cNvSpPr/>
          <p:nvPr/>
        </p:nvSpPr>
        <p:spPr>
          <a:xfrm>
            <a:off x="3657600" y="2185416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330_tdt26"/>
          <p:cNvSpPr txBox="1"/>
          <p:nvPr/>
        </p:nvSpPr>
        <p:spPr>
          <a:xfrm>
            <a:off x="3730752" y="2185416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connected_clients, blocked_clients, and any rejected ones</a:t>
            </a:r>
          </a:p>
        </p:txBody>
      </p:sp>
      <p:sp>
        <p:nvSpPr>
          <p:cNvPr id="28" name="a1wd440_td27"/>
          <p:cNvSpPr/>
          <p:nvPr/>
        </p:nvSpPr>
        <p:spPr>
          <a:xfrm>
            <a:off x="3657600" y="2532888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440_tdt28"/>
          <p:cNvSpPr txBox="1"/>
          <p:nvPr/>
        </p:nvSpPr>
        <p:spPr>
          <a:xfrm>
            <a:off x="3730752" y="2532888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role, connected_slaves, master_link_status:up</a:t>
            </a:r>
          </a:p>
        </p:txBody>
      </p:sp>
      <p:sp>
        <p:nvSpPr>
          <p:cNvPr id="30" name="a1wd550_td29"/>
          <p:cNvSpPr/>
          <p:nvPr/>
        </p:nvSpPr>
        <p:spPr>
          <a:xfrm>
            <a:off x="3657600" y="2880360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550_tdt30"/>
          <p:cNvSpPr txBox="1"/>
          <p:nvPr/>
        </p:nvSpPr>
        <p:spPr>
          <a:xfrm>
            <a:off x="3730752" y="2880360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Anything over 10 ms - usually KEYS, SMEMBERS or a big LRANGE</a:t>
            </a:r>
          </a:p>
        </p:txBody>
      </p:sp>
      <p:sp>
        <p:nvSpPr>
          <p:cNvPr id="32" name="a1wd660_td31"/>
          <p:cNvSpPr/>
          <p:nvPr/>
        </p:nvSpPr>
        <p:spPr>
          <a:xfrm>
            <a:off x="3657600" y="322783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660_tdt32"/>
          <p:cNvSpPr txBox="1"/>
          <p:nvPr/>
        </p:nvSpPr>
        <p:spPr>
          <a:xfrm>
            <a:off x="3730752" y="3227832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Long-idle connections and which commands they last ran</a:t>
            </a:r>
          </a:p>
        </p:txBody>
      </p:sp>
      <p:sp>
        <p:nvSpPr>
          <p:cNvPr id="34" name="a1wd770_td33"/>
          <p:cNvSpPr/>
          <p:nvPr/>
        </p:nvSpPr>
        <p:spPr>
          <a:xfrm>
            <a:off x="3657600" y="357530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770_tdt34"/>
          <p:cNvSpPr txBox="1"/>
          <p:nvPr/>
        </p:nvSpPr>
        <p:spPr>
          <a:xfrm>
            <a:off x="3730752" y="3575304"/>
            <a:ext cx="4919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 plain-English report on recorded latency spikes</a:t>
            </a:r>
          </a:p>
        </p:txBody>
      </p:sp>
      <p:sp>
        <p:nvSpPr>
          <p:cNvPr id="36" name="a2f_codebg35"/>
          <p:cNvSpPr/>
          <p:nvPr/>
        </p:nvSpPr>
        <p:spPr>
          <a:xfrm>
            <a:off x="457200" y="3776472"/>
            <a:ext cx="8229600" cy="873252"/>
          </a:xfrm>
          <a:prstGeom prst="roundRect">
            <a:avLst>
              <a:gd name="adj" fmla="val 837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_code36"/>
          <p:cNvSpPr txBox="1"/>
          <p:nvPr/>
        </p:nvSpPr>
        <p:spPr>
          <a:xfrm>
            <a:off x="585216" y="3904487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hit rate in one line</a:t>
            </a:r>
          </a:p>
        </p:txBody>
      </p:sp>
      <p:sp>
        <p:nvSpPr>
          <p:cNvPr id="38" name="a2wd130_code37"/>
          <p:cNvSpPr txBox="1"/>
          <p:nvPr/>
        </p:nvSpPr>
        <p:spPr>
          <a:xfrm>
            <a:off x="585216" y="4110227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INFO stats | grep -E "keyspace_(hits|misses)"</a:t>
            </a:r>
          </a:p>
        </p:txBody>
      </p:sp>
      <p:sp>
        <p:nvSpPr>
          <p:cNvPr id="39" name="a2wd260_code38"/>
          <p:cNvSpPr txBox="1"/>
          <p:nvPr/>
        </p:nvSpPr>
        <p:spPr>
          <a:xfrm>
            <a:off x="585216" y="4315968"/>
            <a:ext cx="7973568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keyspace_hits:8412903    keyspace_misses:412088     # 95.3% hit rate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 · Internals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Two binaries do the daily work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redis-server reads redis.conf and holds the data; redis-cli is REPL, scanner and profiler.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RESP is deliberately boring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First byte says the type, CRLF ends the line, commands are arrays of bulk strings.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Pipelining removes round trips, not work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Latency is per round trip. Batch the commands and the same work takes a fraction of the time.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keyspace is one hash table plus one expires table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Lazy plus active expiry reclaims memory; the encoding per value is chosen for you.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maxmemory and a policy are not optional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Default noeviction means writes fail when full. On a cache, set allkeys-lru and move on.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Deck 5 · Every command that matters, with real-time banking use cases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