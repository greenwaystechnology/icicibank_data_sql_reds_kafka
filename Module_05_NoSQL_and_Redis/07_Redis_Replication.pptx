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A78BFA"/>
                </a:solidFill>
                <a:latin typeface="Calibri"/>
              </a:rPr>
              <a:t>MODULE 07 · NOSQL &amp; REDIS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Redis Replication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One primary, many replicas - full sync, partial sync and failover, measured in Docker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PRIMARY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REPLICA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PSYNC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FAILOVER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Deck 7 of 8  ·  Module 07  ·  NoSQL &amp; Redis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Why Replicate at All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Persistence protects one process from a crash. Replication protects the service from one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216152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Reads scale, writes do not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HORIZONTAL READ CAPACITY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Every replica can serve GET/HGETALL/etc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One primary still takes every write</a:t>
            </a:r>
          </a:p>
        </p:txBody>
      </p:sp>
      <p:sp>
        <p:nvSpPr>
          <p:cNvPr id="12" name="a2u_card11"/>
          <p:cNvSpPr/>
          <p:nvPr/>
        </p:nvSpPr>
        <p:spPr>
          <a:xfrm>
            <a:off x="3267456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3267456" y="1216152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3432048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343204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3432048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 primary needs a standby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3432048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AVAILABILITY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3432048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replica already has (almost) all the data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3432048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Promote it in seconds, not restore-from-backup</a:t>
            </a:r>
          </a:p>
        </p:txBody>
      </p:sp>
      <p:sp>
        <p:nvSpPr>
          <p:cNvPr id="20" name="a3u_card19"/>
          <p:cNvSpPr/>
          <p:nvPr/>
        </p:nvSpPr>
        <p:spPr>
          <a:xfrm>
            <a:off x="6077712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acc20"/>
          <p:cNvSpPr/>
          <p:nvPr/>
        </p:nvSpPr>
        <p:spPr>
          <a:xfrm>
            <a:off x="6077712" y="1216152"/>
            <a:ext cx="2609088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60_ic21"/>
          <p:cNvSpPr/>
          <p:nvPr/>
        </p:nvSpPr>
        <p:spPr>
          <a:xfrm>
            <a:off x="6242304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60_ict22"/>
          <p:cNvSpPr txBox="1"/>
          <p:nvPr/>
        </p:nvSpPr>
        <p:spPr>
          <a:xfrm>
            <a:off x="624230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6242304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Not the same as a backup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6242304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READ THIS ONE TWICE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6242304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FLUSHALL replicates too - instantly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6242304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For "undo a mistake", see deck 6, RDB/AOF</a:t>
            </a:r>
          </a:p>
        </p:txBody>
      </p:sp>
      <p:sp>
        <p:nvSpPr>
          <p:cNvPr id="28" name="a4u_nb27"/>
          <p:cNvSpPr/>
          <p:nvPr/>
        </p:nvSpPr>
        <p:spPr>
          <a:xfrm>
            <a:off x="457200" y="34290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_nacc28"/>
          <p:cNvSpPr/>
          <p:nvPr/>
        </p:nvSpPr>
        <p:spPr>
          <a:xfrm>
            <a:off x="457200" y="3429000"/>
            <a:ext cx="5029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_nt29"/>
          <p:cNvSpPr txBox="1"/>
          <p:nvPr/>
        </p:nvSpPr>
        <p:spPr>
          <a:xfrm>
            <a:off x="658368" y="342900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8B5CF6"/>
                </a:solidFill>
                <a:latin typeface="Calibri"/>
              </a:rPr>
              <a:t>NOTE  </a:t>
            </a:r>
            <a:r>
              <a:rPr sz="1150" b="0">
                <a:solidFill>
                  <a:srgbClr val="334155"/>
                </a:solidFill>
                <a:latin typeface="Calibri"/>
              </a:rPr>
              <a:t>This deck answers three questions in order: how does a replica actually get its data, how do you wire containers together so it keeps working as they restart, and what does - and does not - happen when the primary dies.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How Replication Works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REPLICAOF, full sync, the backlog, and the replication ID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REPLICAOF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Full sync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Backlog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Replication ID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Primary and Replica, in One Command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REPLICAOF turns any Redis server into a replica of another - live, no restart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1993391"/>
          </a:xfrm>
          <a:prstGeom prst="roundRect">
            <a:avLst>
              <a:gd name="adj" fmla="val 36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66928" y="1197864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wire two containers together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66928" y="1527048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run -d --name redis-primary \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66928" y="1714500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--network icici-repl-net -p 7001:6379 \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66928" y="1901952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redis:7-alpine redis-server --save 60 1000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66928" y="2089404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66928" y="2276856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run -d --name redis-replica1 \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66928" y="2464308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--network icici-repl-net -p 7002:6379 \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66928" y="2651760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redis:7-alpine redis-server \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566928" y="2839211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--replicaof redis-primary 6379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709160" y="1143000"/>
            <a:ext cx="3977639" cy="1805939"/>
          </a:xfrm>
          <a:prstGeom prst="roundRect">
            <a:avLst>
              <a:gd name="adj" fmla="val 40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4818888" y="1197864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818888" y="1527048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redis-primary redis-cli \</a:t>
            </a:r>
          </a:p>
        </p:txBody>
      </p:sp>
      <p:sp>
        <p:nvSpPr>
          <p:cNvPr id="17" name="a2wd80_code16"/>
          <p:cNvSpPr txBox="1"/>
          <p:nvPr/>
        </p:nvSpPr>
        <p:spPr>
          <a:xfrm>
            <a:off x="4818888" y="1714500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INFO replication</a:t>
            </a:r>
          </a:p>
        </p:txBody>
      </p:sp>
      <p:sp>
        <p:nvSpPr>
          <p:cNvPr id="18" name="a2wd160_code17"/>
          <p:cNvSpPr txBox="1"/>
          <p:nvPr/>
        </p:nvSpPr>
        <p:spPr>
          <a:xfrm>
            <a:off x="4818888" y="1901952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role:master</a:t>
            </a:r>
          </a:p>
        </p:txBody>
      </p:sp>
      <p:sp>
        <p:nvSpPr>
          <p:cNvPr id="19" name="a2wd240_code18"/>
          <p:cNvSpPr txBox="1"/>
          <p:nvPr/>
        </p:nvSpPr>
        <p:spPr>
          <a:xfrm>
            <a:off x="4818888" y="2089404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connected_slaves:1</a:t>
            </a:r>
          </a:p>
        </p:txBody>
      </p:sp>
      <p:sp>
        <p:nvSpPr>
          <p:cNvPr id="20" name="a2wd320_code19"/>
          <p:cNvSpPr txBox="1"/>
          <p:nvPr/>
        </p:nvSpPr>
        <p:spPr>
          <a:xfrm>
            <a:off x="4818888" y="2276856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slave0:ip=172.18.0.3,port=6379,</a:t>
            </a:r>
          </a:p>
        </p:txBody>
      </p:sp>
      <p:sp>
        <p:nvSpPr>
          <p:cNvPr id="21" name="a2wd400_code20"/>
          <p:cNvSpPr txBox="1"/>
          <p:nvPr/>
        </p:nvSpPr>
        <p:spPr>
          <a:xfrm>
            <a:off x="4818888" y="2464308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  state=online,offset=14,lag=1</a:t>
            </a:r>
          </a:p>
        </p:txBody>
      </p:sp>
      <p:sp>
        <p:nvSpPr>
          <p:cNvPr id="22" name="a2wd480_code21"/>
          <p:cNvSpPr txBox="1"/>
          <p:nvPr/>
        </p:nvSpPr>
        <p:spPr>
          <a:xfrm>
            <a:off x="4818888" y="2651760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master_repl_offset:14</a:t>
            </a:r>
          </a:p>
        </p:txBody>
      </p:sp>
      <p:sp>
        <p:nvSpPr>
          <p:cNvPr id="23" name="a3u_nb22"/>
          <p:cNvSpPr/>
          <p:nvPr/>
        </p:nvSpPr>
        <p:spPr>
          <a:xfrm>
            <a:off x="457200" y="32461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acc23"/>
          <p:cNvSpPr/>
          <p:nvPr/>
        </p:nvSpPr>
        <p:spPr>
          <a:xfrm>
            <a:off x="457200" y="3246120"/>
            <a:ext cx="50292" cy="5303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_nt24"/>
          <p:cNvSpPr txBox="1"/>
          <p:nvPr/>
        </p:nvSpPr>
        <p:spPr>
          <a:xfrm>
            <a:off x="658368" y="3246120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i 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primary needs zero configuration to accept a replica - REPLICAOF is a command the REPLICA runs. A replica is read-only by default and stays that way for as long as the link is up.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Full Sync - What Actually Happens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The same fork-and-stream mechanism as BGSAVE, aimed at a socket instead of a file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8229600" cy="1417320"/>
          </a:xfrm>
          <a:prstGeom prst="roundRect">
            <a:avLst>
              <a:gd name="adj" fmla="val 645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621792" y="1271016"/>
            <a:ext cx="1783080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30_sn5"/>
          <p:cNvSpPr txBox="1"/>
          <p:nvPr/>
        </p:nvSpPr>
        <p:spPr>
          <a:xfrm>
            <a:off x="62179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 · Connect</a:t>
            </a:r>
          </a:p>
        </p:txBody>
      </p:sp>
      <p:sp>
        <p:nvSpPr>
          <p:cNvPr id="7" name="a1ud60_sd6"/>
          <p:cNvSpPr txBox="1"/>
          <p:nvPr/>
        </p:nvSpPr>
        <p:spPr>
          <a:xfrm>
            <a:off x="621792" y="1618488"/>
            <a:ext cx="1783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Calibri"/>
              </a:rPr>
              <a:t>Replica connects, PINGs, then sends PSYNC with its last known replication ID and offset.</a:t>
            </a:r>
          </a:p>
        </p:txBody>
      </p:sp>
      <p:sp>
        <p:nvSpPr>
          <p:cNvPr id="8" name="a1ud100_acc7"/>
          <p:cNvSpPr/>
          <p:nvPr/>
        </p:nvSpPr>
        <p:spPr>
          <a:xfrm>
            <a:off x="2633472" y="1271016"/>
            <a:ext cx="178308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130_sn8"/>
          <p:cNvSpPr txBox="1"/>
          <p:nvPr/>
        </p:nvSpPr>
        <p:spPr>
          <a:xfrm>
            <a:off x="263347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 · Decide</a:t>
            </a:r>
          </a:p>
        </p:txBody>
      </p:sp>
      <p:sp>
        <p:nvSpPr>
          <p:cNvPr id="10" name="a1ud160_sd9"/>
          <p:cNvSpPr txBox="1"/>
          <p:nvPr/>
        </p:nvSpPr>
        <p:spPr>
          <a:xfrm>
            <a:off x="2633472" y="1618488"/>
            <a:ext cx="1783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Calibri"/>
              </a:rPr>
              <a:t>Primary checks: does it still have that offset in its backlog? First time, it never does - full sync it is.</a:t>
            </a:r>
          </a:p>
        </p:txBody>
      </p:sp>
      <p:sp>
        <p:nvSpPr>
          <p:cNvPr id="11" name="a1ud200_acc10"/>
          <p:cNvSpPr/>
          <p:nvPr/>
        </p:nvSpPr>
        <p:spPr>
          <a:xfrm>
            <a:off x="4645152" y="1271016"/>
            <a:ext cx="17830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230_sn11"/>
          <p:cNvSpPr txBox="1"/>
          <p:nvPr/>
        </p:nvSpPr>
        <p:spPr>
          <a:xfrm>
            <a:off x="464515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 · Fork &amp; stream</a:t>
            </a:r>
          </a:p>
        </p:txBody>
      </p:sp>
      <p:sp>
        <p:nvSpPr>
          <p:cNvPr id="13" name="a1ud260_sd12"/>
          <p:cNvSpPr txBox="1"/>
          <p:nvPr/>
        </p:nvSpPr>
        <p:spPr>
          <a:xfrm>
            <a:off x="4645152" y="1618488"/>
            <a:ext cx="1783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Calibri"/>
              </a:rPr>
              <a:t>Primary forks (like BGSAVE) and streams the RDB straight over the replication socket - diskless, no dump.rdb written.</a:t>
            </a:r>
          </a:p>
        </p:txBody>
      </p:sp>
      <p:sp>
        <p:nvSpPr>
          <p:cNvPr id="14" name="a1ud300_acc13"/>
          <p:cNvSpPr/>
          <p:nvPr/>
        </p:nvSpPr>
        <p:spPr>
          <a:xfrm>
            <a:off x="6656832" y="1271016"/>
            <a:ext cx="178308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330_sn14"/>
          <p:cNvSpPr txBox="1"/>
          <p:nvPr/>
        </p:nvSpPr>
        <p:spPr>
          <a:xfrm>
            <a:off x="665683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 · Catch up</a:t>
            </a:r>
          </a:p>
        </p:txBody>
      </p:sp>
      <p:sp>
        <p:nvSpPr>
          <p:cNvPr id="16" name="a1ud360_sd15"/>
          <p:cNvSpPr txBox="1"/>
          <p:nvPr/>
        </p:nvSpPr>
        <p:spPr>
          <a:xfrm>
            <a:off x="6656832" y="1618488"/>
            <a:ext cx="1783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Calibri"/>
              </a:rPr>
              <a:t>Replica loads the RDB, then the primary streams every write that happened since the fork from its backlog buffer.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57200" y="2697480"/>
            <a:ext cx="8229600" cy="1453896"/>
          </a:xfrm>
          <a:prstGeom prst="roundRect">
            <a:avLst>
              <a:gd name="adj" fmla="val 5031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566928" y="2752344"/>
            <a:ext cx="80101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machine, 2026-09-23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566928" y="3081528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from redis-primary's own log - captured live</a:t>
            </a:r>
          </a:p>
        </p:txBody>
      </p:sp>
      <p:sp>
        <p:nvSpPr>
          <p:cNvPr id="20" name="a2wd90_code19"/>
          <p:cNvSpPr txBox="1"/>
          <p:nvPr/>
        </p:nvSpPr>
        <p:spPr>
          <a:xfrm>
            <a:off x="566928" y="3273552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Replica 172.18.0.3:6379 asks for synchronization</a:t>
            </a:r>
          </a:p>
        </p:txBody>
      </p:sp>
      <p:sp>
        <p:nvSpPr>
          <p:cNvPr id="21" name="a2wd180_code20"/>
          <p:cNvSpPr txBox="1"/>
          <p:nvPr/>
        </p:nvSpPr>
        <p:spPr>
          <a:xfrm>
            <a:off x="566928" y="3465576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Starting BGSAVE for SYNC with target: replicas sockets</a:t>
            </a:r>
          </a:p>
        </p:txBody>
      </p:sp>
      <p:sp>
        <p:nvSpPr>
          <p:cNvPr id="22" name="a2wd270_code21"/>
          <p:cNvSpPr txBox="1"/>
          <p:nvPr/>
        </p:nvSpPr>
        <p:spPr>
          <a:xfrm>
            <a:off x="566928" y="3657600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Diskless rdb transfer, done reading from pipe, 1 replicas still up.</a:t>
            </a:r>
          </a:p>
        </p:txBody>
      </p:sp>
      <p:sp>
        <p:nvSpPr>
          <p:cNvPr id="23" name="a2wd360_code22"/>
          <p:cNvSpPr txBox="1"/>
          <p:nvPr/>
        </p:nvSpPr>
        <p:spPr>
          <a:xfrm>
            <a:off x="566928" y="3849624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Synchronization with replica 172.18.0.3:6379 succeeded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Replication ID and Offset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numbers that answer "is this replica caught up, and with whom"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37744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2677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Field</a:t>
            </a:r>
          </a:p>
        </p:txBody>
      </p:sp>
      <p:sp>
        <p:nvSpPr>
          <p:cNvPr id="6" name="a1wd100_td5"/>
          <p:cNvSpPr/>
          <p:nvPr/>
        </p:nvSpPr>
        <p:spPr>
          <a:xfrm>
            <a:off x="457200" y="1490472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00_tdt6"/>
          <p:cNvSpPr txBox="1"/>
          <p:nvPr/>
        </p:nvSpPr>
        <p:spPr>
          <a:xfrm>
            <a:off x="530352" y="1490472"/>
            <a:ext cx="22677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master_replid</a:t>
            </a:r>
          </a:p>
        </p:txBody>
      </p:sp>
      <p:sp>
        <p:nvSpPr>
          <p:cNvPr id="8" name="a1wd200_td7"/>
          <p:cNvSpPr/>
          <p:nvPr/>
        </p:nvSpPr>
        <p:spPr>
          <a:xfrm>
            <a:off x="457200" y="1837943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00_tdt8"/>
          <p:cNvSpPr txBox="1"/>
          <p:nvPr/>
        </p:nvSpPr>
        <p:spPr>
          <a:xfrm>
            <a:off x="530352" y="1837943"/>
            <a:ext cx="22677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master_repl_offset</a:t>
            </a:r>
          </a:p>
        </p:txBody>
      </p:sp>
      <p:sp>
        <p:nvSpPr>
          <p:cNvPr id="10" name="a1wd300_td9"/>
          <p:cNvSpPr/>
          <p:nvPr/>
        </p:nvSpPr>
        <p:spPr>
          <a:xfrm>
            <a:off x="457200" y="218541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00_tdt10"/>
          <p:cNvSpPr txBox="1"/>
          <p:nvPr/>
        </p:nvSpPr>
        <p:spPr>
          <a:xfrm>
            <a:off x="530352" y="2185416"/>
            <a:ext cx="22677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slave_repl_offset</a:t>
            </a:r>
          </a:p>
        </p:txBody>
      </p:sp>
      <p:sp>
        <p:nvSpPr>
          <p:cNvPr id="12" name="a1wd400_td11"/>
          <p:cNvSpPr/>
          <p:nvPr/>
        </p:nvSpPr>
        <p:spPr>
          <a:xfrm>
            <a:off x="457200" y="2532888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00_tdt12"/>
          <p:cNvSpPr txBox="1"/>
          <p:nvPr/>
        </p:nvSpPr>
        <p:spPr>
          <a:xfrm>
            <a:off x="530352" y="2532888"/>
            <a:ext cx="22677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repl_backlog_size</a:t>
            </a:r>
          </a:p>
        </p:txBody>
      </p:sp>
      <p:sp>
        <p:nvSpPr>
          <p:cNvPr id="14" name="a1wd500_td13"/>
          <p:cNvSpPr/>
          <p:nvPr/>
        </p:nvSpPr>
        <p:spPr>
          <a:xfrm>
            <a:off x="457200" y="288036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00_tdt14"/>
          <p:cNvSpPr txBox="1"/>
          <p:nvPr/>
        </p:nvSpPr>
        <p:spPr>
          <a:xfrm>
            <a:off x="530352" y="2880360"/>
            <a:ext cx="22677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connected_slaves / slaveN</a:t>
            </a:r>
          </a:p>
        </p:txBody>
      </p:sp>
      <p:sp>
        <p:nvSpPr>
          <p:cNvPr id="16" name="a1f_th15"/>
          <p:cNvSpPr/>
          <p:nvPr/>
        </p:nvSpPr>
        <p:spPr>
          <a:xfrm>
            <a:off x="2834640" y="1143000"/>
            <a:ext cx="5852160" cy="3474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2907792" y="1143000"/>
            <a:ext cx="57424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8" name="a1wd100_td17"/>
          <p:cNvSpPr/>
          <p:nvPr/>
        </p:nvSpPr>
        <p:spPr>
          <a:xfrm>
            <a:off x="2834640" y="1490472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00_tdt18"/>
          <p:cNvSpPr txBox="1"/>
          <p:nvPr/>
        </p:nvSpPr>
        <p:spPr>
          <a:xfrm>
            <a:off x="2907792" y="1490472"/>
            <a:ext cx="57424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40-char ID the current primary generates - changes when a replica is promoted</a:t>
            </a:r>
          </a:p>
        </p:txBody>
      </p:sp>
      <p:sp>
        <p:nvSpPr>
          <p:cNvPr id="20" name="a1wd200_td19"/>
          <p:cNvSpPr/>
          <p:nvPr/>
        </p:nvSpPr>
        <p:spPr>
          <a:xfrm>
            <a:off x="2834640" y="1837943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00_tdt20"/>
          <p:cNvSpPr txBox="1"/>
          <p:nvPr/>
        </p:nvSpPr>
        <p:spPr>
          <a:xfrm>
            <a:off x="2907792" y="1837943"/>
            <a:ext cx="57424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Bytes of write-stream produced since the backlog began - always climbing</a:t>
            </a:r>
          </a:p>
        </p:txBody>
      </p:sp>
      <p:sp>
        <p:nvSpPr>
          <p:cNvPr id="22" name="a1wd300_td21"/>
          <p:cNvSpPr/>
          <p:nvPr/>
        </p:nvSpPr>
        <p:spPr>
          <a:xfrm>
            <a:off x="2834640" y="2185416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00_tdt22"/>
          <p:cNvSpPr txBox="1"/>
          <p:nvPr/>
        </p:nvSpPr>
        <p:spPr>
          <a:xfrm>
            <a:off x="2907792" y="2185416"/>
            <a:ext cx="57424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Bytes this replica has applied - compare to the primary's offset for lag</a:t>
            </a:r>
          </a:p>
        </p:txBody>
      </p:sp>
      <p:sp>
        <p:nvSpPr>
          <p:cNvPr id="24" name="a1wd400_td23"/>
          <p:cNvSpPr/>
          <p:nvPr/>
        </p:nvSpPr>
        <p:spPr>
          <a:xfrm>
            <a:off x="2834640" y="2532888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400_tdt24"/>
          <p:cNvSpPr txBox="1"/>
          <p:nvPr/>
        </p:nvSpPr>
        <p:spPr>
          <a:xfrm>
            <a:off x="2907792" y="2532888"/>
            <a:ext cx="57424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How much recent write-stream is kept in RAM for a replica to catch up from</a:t>
            </a:r>
          </a:p>
        </p:txBody>
      </p:sp>
      <p:sp>
        <p:nvSpPr>
          <p:cNvPr id="26" name="a1wd500_td25"/>
          <p:cNvSpPr/>
          <p:nvPr/>
        </p:nvSpPr>
        <p:spPr>
          <a:xfrm>
            <a:off x="2834640" y="2880360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500_tdt26"/>
          <p:cNvSpPr txBox="1"/>
          <p:nvPr/>
        </p:nvSpPr>
        <p:spPr>
          <a:xfrm>
            <a:off x="2907792" y="2880360"/>
            <a:ext cx="57424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How many replicas, and each one's IP, state and offset</a:t>
            </a:r>
          </a:p>
        </p:txBody>
      </p:sp>
      <p:sp>
        <p:nvSpPr>
          <p:cNvPr id="28" name="a2f_codebg27"/>
          <p:cNvSpPr/>
          <p:nvPr/>
        </p:nvSpPr>
        <p:spPr>
          <a:xfrm>
            <a:off x="457200" y="3337560"/>
            <a:ext cx="8229600" cy="781812"/>
          </a:xfrm>
          <a:prstGeom prst="roundRect">
            <a:avLst>
              <a:gd name="adj" fmla="val 935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_code28"/>
          <p:cNvSpPr txBox="1"/>
          <p:nvPr/>
        </p:nvSpPr>
        <p:spPr>
          <a:xfrm>
            <a:off x="566928" y="3447288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redis-primary redis-cli INFO replication | grep -E "replid|offset"</a:t>
            </a:r>
          </a:p>
        </p:txBody>
      </p:sp>
      <p:sp>
        <p:nvSpPr>
          <p:cNvPr id="30" name="a2wd100_code29"/>
          <p:cNvSpPr txBox="1"/>
          <p:nvPr/>
        </p:nvSpPr>
        <p:spPr>
          <a:xfrm>
            <a:off x="566928" y="3634740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master_replid:a889f6f57aaf179c8ca88d73e7860d4d05979525</a:t>
            </a:r>
          </a:p>
        </p:txBody>
      </p:sp>
      <p:sp>
        <p:nvSpPr>
          <p:cNvPr id="31" name="a2wd200_code30"/>
          <p:cNvSpPr txBox="1"/>
          <p:nvPr/>
        </p:nvSpPr>
        <p:spPr>
          <a:xfrm>
            <a:off x="566928" y="3822192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master_repl_offset:14        # measured - identical on both replicas at this moment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Partial Sync - Resuming Without Starting Over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brief blip does not mean a replica has to re-download the whole dataset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simulate a brief network blip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network disconnect icici-repl-net redis-replica2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37360"/>
            <a:ext cx="79918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redis-primary redis-cli SET icici:during:blip "..."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38528"/>
            <a:ext cx="79918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network connect icici-repl-net redis-replica2</a:t>
            </a:r>
          </a:p>
        </p:txBody>
      </p:sp>
      <p:sp>
        <p:nvSpPr>
          <p:cNvPr id="9" name="a2f_codebg8"/>
          <p:cNvSpPr/>
          <p:nvPr/>
        </p:nvSpPr>
        <p:spPr>
          <a:xfrm>
            <a:off x="457200" y="2350008"/>
            <a:ext cx="822960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f_codeh9"/>
          <p:cNvSpPr txBox="1"/>
          <p:nvPr/>
        </p:nvSpPr>
        <p:spPr>
          <a:xfrm>
            <a:off x="566928" y="2404872"/>
            <a:ext cx="80101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no RDB transfer at all</a:t>
            </a:r>
          </a:p>
        </p:txBody>
      </p:sp>
      <p:sp>
        <p:nvSpPr>
          <p:cNvPr id="11" name="a2w_code10"/>
          <p:cNvSpPr txBox="1"/>
          <p:nvPr/>
        </p:nvSpPr>
        <p:spPr>
          <a:xfrm>
            <a:off x="566928" y="2734056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from the primary's log, right after reconnecting</a:t>
            </a:r>
          </a:p>
        </p:txBody>
      </p:sp>
      <p:sp>
        <p:nvSpPr>
          <p:cNvPr id="12" name="a2wd90_code11"/>
          <p:cNvSpPr txBox="1"/>
          <p:nvPr/>
        </p:nvSpPr>
        <p:spPr>
          <a:xfrm>
            <a:off x="566928" y="2926080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Replica 172.18.0.4:6379 asks for synchronization</a:t>
            </a:r>
          </a:p>
        </p:txBody>
      </p:sp>
      <p:sp>
        <p:nvSpPr>
          <p:cNvPr id="13" name="a2wd180_code12"/>
          <p:cNvSpPr txBox="1"/>
          <p:nvPr/>
        </p:nvSpPr>
        <p:spPr>
          <a:xfrm>
            <a:off x="566928" y="3118104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Partial resynchronization request from 172.18.0.4:6379 accepted.</a:t>
            </a:r>
          </a:p>
        </p:txBody>
      </p:sp>
      <p:sp>
        <p:nvSpPr>
          <p:cNvPr id="14" name="a2wd270_code13"/>
          <p:cNvSpPr txBox="1"/>
          <p:nvPr/>
        </p:nvSpPr>
        <p:spPr>
          <a:xfrm>
            <a:off x="566928" y="3310128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Sending 0 bytes of backlog starting from offset 266.</a:t>
            </a:r>
          </a:p>
        </p:txBody>
      </p:sp>
      <p:sp>
        <p:nvSpPr>
          <p:cNvPr id="15" name="a3u_nb14"/>
          <p:cNvSpPr/>
          <p:nvPr/>
        </p:nvSpPr>
        <p:spPr>
          <a:xfrm>
            <a:off x="457200" y="3721608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3u_nacc15"/>
          <p:cNvSpPr/>
          <p:nvPr/>
        </p:nvSpPr>
        <p:spPr>
          <a:xfrm>
            <a:off x="457200" y="3721608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nt16"/>
          <p:cNvSpPr txBox="1"/>
          <p:nvPr/>
        </p:nvSpPr>
        <p:spPr>
          <a:xfrm>
            <a:off x="658368" y="3721608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"0 bytes of backlog" means every write during the blip was already delivered before the cut - the replica only had to confirm it was current. A longer gap sends exactly the bytes missed, not the whole dataset.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When Partial Sync Falls Back to Full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The one condition that forces a full RDB transfer even for a replica that was already synced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1664208"/>
          </a:xfrm>
          <a:prstGeom prst="roundRect">
            <a:avLst>
              <a:gd name="adj" fmla="val 4395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captured on this machine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a replica that was briefly its OWN primary tries to resync</a:t>
            </a:r>
          </a:p>
        </p:txBody>
      </p:sp>
      <p:sp>
        <p:nvSpPr>
          <p:cNvPr id="7" name="a1wd85_code6"/>
          <p:cNvSpPr txBox="1"/>
          <p:nvPr/>
        </p:nvSpPr>
        <p:spPr>
          <a:xfrm>
            <a:off x="576072" y="1728216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Trying a partial resynchronization (request 8506b36a...:266).</a:t>
            </a:r>
          </a:p>
        </p:txBody>
      </p:sp>
      <p:sp>
        <p:nvSpPr>
          <p:cNvPr id="8" name="a1wd170_code7"/>
          <p:cNvSpPr txBox="1"/>
          <p:nvPr/>
        </p:nvSpPr>
        <p:spPr>
          <a:xfrm>
            <a:off x="576072" y="1920240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Partial resynchronization not accepted: Replication ID mismatch</a:t>
            </a:r>
          </a:p>
        </p:txBody>
      </p:sp>
      <p:sp>
        <p:nvSpPr>
          <p:cNvPr id="9" name="a1wd255_code8"/>
          <p:cNvSpPr txBox="1"/>
          <p:nvPr/>
        </p:nvSpPr>
        <p:spPr>
          <a:xfrm>
            <a:off x="576072" y="2112264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(Replica asked for '8506b36a...', my replication IDs are</a:t>
            </a:r>
          </a:p>
        </p:txBody>
      </p:sp>
      <p:sp>
        <p:nvSpPr>
          <p:cNvPr id="10" name="a1wd340_code9"/>
          <p:cNvSpPr txBox="1"/>
          <p:nvPr/>
        </p:nvSpPr>
        <p:spPr>
          <a:xfrm>
            <a:off x="576072" y="2304288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 '91e667d0...' and 'a889f6f5...')</a:t>
            </a:r>
          </a:p>
        </p:txBody>
      </p:sp>
      <p:sp>
        <p:nvSpPr>
          <p:cNvPr id="11" name="a1wd425_code10"/>
          <p:cNvSpPr txBox="1"/>
          <p:nvPr/>
        </p:nvSpPr>
        <p:spPr>
          <a:xfrm>
            <a:off x="576072" y="2496312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Full resync from master: 91e667d00448d1597864c36e8d480603c61fe101:388</a:t>
            </a:r>
          </a:p>
        </p:txBody>
      </p:sp>
      <p:sp>
        <p:nvSpPr>
          <p:cNvPr id="12" name="a2u_nb11"/>
          <p:cNvSpPr/>
          <p:nvPr/>
        </p:nvSpPr>
        <p:spPr>
          <a:xfrm>
            <a:off x="457200" y="2916936"/>
            <a:ext cx="8229600" cy="676656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nacc12"/>
          <p:cNvSpPr/>
          <p:nvPr/>
        </p:nvSpPr>
        <p:spPr>
          <a:xfrm>
            <a:off x="457200" y="2916936"/>
            <a:ext cx="50292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nt13"/>
          <p:cNvSpPr txBox="1"/>
          <p:nvPr/>
        </p:nvSpPr>
        <p:spPr>
          <a:xfrm>
            <a:off x="658368" y="2916936"/>
            <a:ext cx="782726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E2E8F0"/>
                </a:solidFill>
                <a:latin typeface="Calibri"/>
              </a:rPr>
              <a:t>This container had been REPLICAOF NO ONE'd during a failover drill, which gave it its own, different replication ID the moment it started accepting writes as a primary. When it rejoined as a replica, its offset made no sense against the new primary's history - a full resync is the only correct answer, and Redis chose it automatically rather than risk serving stale or wrong data.</a:t>
            </a:r>
          </a:p>
        </p:txBody>
      </p:sp>
      <p:sp>
        <p:nvSpPr>
          <p:cNvPr id="15" name="ft1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6" name="ft1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Docker Topology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Container names instead of IPs, docker-compose, and a durability trade-off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Name-based DNS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docker-compose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Healthchecks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WAIT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Wire by Name, Never by IP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container's IP changes every time it is recreated - its name does not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192024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192024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hh5"/>
          <p:cNvSpPr txBox="1"/>
          <p:nvPr/>
        </p:nvSpPr>
        <p:spPr>
          <a:xfrm>
            <a:off x="65836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ourier New"/>
              </a:rPr>
              <a:t>WRONG · --replicaof 172.18.0.2 6379</a:t>
            </a:r>
          </a:p>
        </p:txBody>
      </p:sp>
      <p:sp>
        <p:nvSpPr>
          <p:cNvPr id="7" name="a1ud60_dot6"/>
          <p:cNvSpPr/>
          <p:nvPr/>
        </p:nvSpPr>
        <p:spPr>
          <a:xfrm>
            <a:off x="658368" y="1645920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60_b7"/>
          <p:cNvSpPr txBox="1"/>
          <p:nvPr/>
        </p:nvSpPr>
        <p:spPr>
          <a:xfrm>
            <a:off x="877824" y="1545336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Works until the primary container is recreated</a:t>
            </a:r>
          </a:p>
        </p:txBody>
      </p:sp>
      <p:sp>
        <p:nvSpPr>
          <p:cNvPr id="9" name="a1ud170_dot8"/>
          <p:cNvSpPr/>
          <p:nvPr/>
        </p:nvSpPr>
        <p:spPr>
          <a:xfrm>
            <a:off x="658368" y="1975103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70_b9"/>
          <p:cNvSpPr txBox="1"/>
          <p:nvPr/>
        </p:nvSpPr>
        <p:spPr>
          <a:xfrm>
            <a:off x="877824" y="1874519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new container gets a different IP on the network</a:t>
            </a:r>
          </a:p>
        </p:txBody>
      </p:sp>
      <p:sp>
        <p:nvSpPr>
          <p:cNvPr id="11" name="a1ud280_dot10"/>
          <p:cNvSpPr/>
          <p:nvPr/>
        </p:nvSpPr>
        <p:spPr>
          <a:xfrm>
            <a:off x="658368" y="2304287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280_b11"/>
          <p:cNvSpPr txBox="1"/>
          <p:nvPr/>
        </p:nvSpPr>
        <p:spPr>
          <a:xfrm>
            <a:off x="877824" y="2203703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replica keeps retrying a dead address forever</a:t>
            </a:r>
          </a:p>
        </p:txBody>
      </p:sp>
      <p:sp>
        <p:nvSpPr>
          <p:cNvPr id="13" name="a2u_card12"/>
          <p:cNvSpPr/>
          <p:nvPr/>
        </p:nvSpPr>
        <p:spPr>
          <a:xfrm>
            <a:off x="4754880" y="1143000"/>
            <a:ext cx="3931920" cy="192024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acc13"/>
          <p:cNvSpPr/>
          <p:nvPr/>
        </p:nvSpPr>
        <p:spPr>
          <a:xfrm>
            <a:off x="4754880" y="1143000"/>
            <a:ext cx="50292" cy="1920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hh14"/>
          <p:cNvSpPr txBox="1"/>
          <p:nvPr/>
        </p:nvSpPr>
        <p:spPr>
          <a:xfrm>
            <a:off x="495604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ourier New"/>
              </a:rPr>
              <a:t>RIGHT · --replicaof redis-primary 6379</a:t>
            </a:r>
          </a:p>
        </p:txBody>
      </p:sp>
      <p:sp>
        <p:nvSpPr>
          <p:cNvPr id="16" name="a2ud60_dot15"/>
          <p:cNvSpPr/>
          <p:nvPr/>
        </p:nvSpPr>
        <p:spPr>
          <a:xfrm>
            <a:off x="4956048" y="1645920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60_b16"/>
          <p:cNvSpPr txBox="1"/>
          <p:nvPr/>
        </p:nvSpPr>
        <p:spPr>
          <a:xfrm>
            <a:off x="5175504" y="1545336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Docker's embedded DNS resolves the name every time</a:t>
            </a:r>
          </a:p>
        </p:txBody>
      </p:sp>
      <p:sp>
        <p:nvSpPr>
          <p:cNvPr id="18" name="a2ud170_dot17"/>
          <p:cNvSpPr/>
          <p:nvPr/>
        </p:nvSpPr>
        <p:spPr>
          <a:xfrm>
            <a:off x="4956048" y="1975103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170_b18"/>
          <p:cNvSpPr txBox="1"/>
          <p:nvPr/>
        </p:nvSpPr>
        <p:spPr>
          <a:xfrm>
            <a:off x="5175504" y="1874519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user-defined network or docker-compose gives you this</a:t>
            </a:r>
          </a:p>
        </p:txBody>
      </p:sp>
      <p:sp>
        <p:nvSpPr>
          <p:cNvPr id="20" name="a2ud280_dot19"/>
          <p:cNvSpPr/>
          <p:nvPr/>
        </p:nvSpPr>
        <p:spPr>
          <a:xfrm>
            <a:off x="4956048" y="2304287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280_b20"/>
          <p:cNvSpPr txBox="1"/>
          <p:nvPr/>
        </p:nvSpPr>
        <p:spPr>
          <a:xfrm>
            <a:off x="5175504" y="2203703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Recreate the primary; the replica reconnects on its own</a:t>
            </a:r>
          </a:p>
        </p:txBody>
      </p:sp>
      <p:sp>
        <p:nvSpPr>
          <p:cNvPr id="22" name="a3u_nb21"/>
          <p:cNvSpPr/>
          <p:nvPr/>
        </p:nvSpPr>
        <p:spPr>
          <a:xfrm>
            <a:off x="457200" y="3172968"/>
            <a:ext cx="8229600" cy="493776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nacc22"/>
          <p:cNvSpPr/>
          <p:nvPr/>
        </p:nvSpPr>
        <p:spPr>
          <a:xfrm>
            <a:off x="457200" y="3172968"/>
            <a:ext cx="50292" cy="4937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t23"/>
          <p:cNvSpPr txBox="1"/>
          <p:nvPr/>
        </p:nvSpPr>
        <p:spPr>
          <a:xfrm>
            <a:off x="658368" y="3172968"/>
            <a:ext cx="782726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45309"/>
                </a:solidFill>
                <a:latin typeface="Calibri"/>
              </a:rPr>
              <a:t>!  </a:t>
            </a:r>
            <a:r>
              <a:rPr sz="950" b="0">
                <a:solidFill>
                  <a:srgbClr val="334155"/>
                </a:solidFill>
                <a:latin typeface="Calibri"/>
              </a:rPr>
              <a:t>This only works on a user-defined bridge network (docker network create ...) or under compose - the legacy default bridge does not do name resolution between containers.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docker-compose.yml, Explained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services, one file - verified to reach a fully replicated, healthy topology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892040" cy="2962656"/>
          </a:xfrm>
          <a:prstGeom prst="roundRect">
            <a:avLst>
              <a:gd name="adj" fmla="val 24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85216" y="1197864"/>
            <a:ext cx="46360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replication_docker/docker-compose.yml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85216" y="1545336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services:</a:t>
            </a:r>
          </a:p>
        </p:txBody>
      </p:sp>
      <p:sp>
        <p:nvSpPr>
          <p:cNvPr id="7" name="a1wd52_code6"/>
          <p:cNvSpPr txBox="1"/>
          <p:nvPr/>
        </p:nvSpPr>
        <p:spPr>
          <a:xfrm>
            <a:off x="585216" y="1719072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  redis-primary:</a:t>
            </a:r>
          </a:p>
        </p:txBody>
      </p:sp>
      <p:sp>
        <p:nvSpPr>
          <p:cNvPr id="8" name="a1wd104_code7"/>
          <p:cNvSpPr txBox="1"/>
          <p:nvPr/>
        </p:nvSpPr>
        <p:spPr>
          <a:xfrm>
            <a:off x="585216" y="1892807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image: redis:7-alpine</a:t>
            </a:r>
          </a:p>
        </p:txBody>
      </p:sp>
      <p:sp>
        <p:nvSpPr>
          <p:cNvPr id="9" name="a1wd156_code8"/>
          <p:cNvSpPr txBox="1"/>
          <p:nvPr/>
        </p:nvSpPr>
        <p:spPr>
          <a:xfrm>
            <a:off x="585216" y="2066543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command: redis-server --save 60 1000</a:t>
            </a:r>
          </a:p>
        </p:txBody>
      </p:sp>
      <p:sp>
        <p:nvSpPr>
          <p:cNvPr id="10" name="a1wd208_code9"/>
          <p:cNvSpPr txBox="1"/>
          <p:nvPr/>
        </p:nvSpPr>
        <p:spPr>
          <a:xfrm>
            <a:off x="585216" y="2240280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    healthcheck: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585216" y="2414015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  test: ["CMD", "redis-cli", "PING"]</a:t>
            </a:r>
          </a:p>
        </p:txBody>
      </p:sp>
      <p:sp>
        <p:nvSpPr>
          <p:cNvPr id="12" name="a1wd312_code11"/>
          <p:cNvSpPr txBox="1"/>
          <p:nvPr/>
        </p:nvSpPr>
        <p:spPr>
          <a:xfrm>
            <a:off x="585216" y="2587752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364_code12"/>
          <p:cNvSpPr txBox="1"/>
          <p:nvPr/>
        </p:nvSpPr>
        <p:spPr>
          <a:xfrm>
            <a:off x="585216" y="2761488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  redis-replica1:</a:t>
            </a:r>
          </a:p>
        </p:txBody>
      </p:sp>
      <p:sp>
        <p:nvSpPr>
          <p:cNvPr id="14" name="a1wd416_code13"/>
          <p:cNvSpPr txBox="1"/>
          <p:nvPr/>
        </p:nvSpPr>
        <p:spPr>
          <a:xfrm>
            <a:off x="585216" y="2935224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command: redis-server \</a:t>
            </a:r>
          </a:p>
        </p:txBody>
      </p:sp>
      <p:sp>
        <p:nvSpPr>
          <p:cNvPr id="15" name="a1wd468_code14"/>
          <p:cNvSpPr txBox="1"/>
          <p:nvPr/>
        </p:nvSpPr>
        <p:spPr>
          <a:xfrm>
            <a:off x="585216" y="3108960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  --replicaof redis-primary 6379</a:t>
            </a:r>
          </a:p>
        </p:txBody>
      </p:sp>
      <p:sp>
        <p:nvSpPr>
          <p:cNvPr id="16" name="a1wd520_code15"/>
          <p:cNvSpPr txBox="1"/>
          <p:nvPr/>
        </p:nvSpPr>
        <p:spPr>
          <a:xfrm>
            <a:off x="585216" y="3282696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C4B5FD"/>
                </a:solidFill>
                <a:latin typeface="Courier New"/>
              </a:rPr>
              <a:t>    depends_on:</a:t>
            </a:r>
          </a:p>
        </p:txBody>
      </p:sp>
      <p:sp>
        <p:nvSpPr>
          <p:cNvPr id="17" name="a1wd572_code16"/>
          <p:cNvSpPr txBox="1"/>
          <p:nvPr/>
        </p:nvSpPr>
        <p:spPr>
          <a:xfrm>
            <a:off x="585216" y="3456432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  redis-primary:</a:t>
            </a:r>
          </a:p>
        </p:txBody>
      </p:sp>
      <p:sp>
        <p:nvSpPr>
          <p:cNvPr id="18" name="a1wd624_code17"/>
          <p:cNvSpPr txBox="1"/>
          <p:nvPr/>
        </p:nvSpPr>
        <p:spPr>
          <a:xfrm>
            <a:off x="585216" y="3630168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E2E8F0"/>
                </a:solidFill>
                <a:latin typeface="Courier New"/>
              </a:rPr>
              <a:t>        condition: service_healthy</a:t>
            </a:r>
          </a:p>
        </p:txBody>
      </p:sp>
      <p:sp>
        <p:nvSpPr>
          <p:cNvPr id="19" name="a1wd676_code18"/>
          <p:cNvSpPr txBox="1"/>
          <p:nvPr/>
        </p:nvSpPr>
        <p:spPr>
          <a:xfrm>
            <a:off x="585216" y="3803904"/>
            <a:ext cx="46360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ourier New"/>
              </a:rPr>
              <a:t>  redis-replica2:  # same shape as replica1</a:t>
            </a:r>
          </a:p>
        </p:txBody>
      </p:sp>
      <p:sp>
        <p:nvSpPr>
          <p:cNvPr id="20" name="a2u_card19"/>
          <p:cNvSpPr/>
          <p:nvPr/>
        </p:nvSpPr>
        <p:spPr>
          <a:xfrm>
            <a:off x="5532120" y="1143000"/>
            <a:ext cx="3154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_hh20"/>
          <p:cNvSpPr txBox="1"/>
          <p:nvPr/>
        </p:nvSpPr>
        <p:spPr>
          <a:xfrm>
            <a:off x="5715000" y="1252728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WHY EACH PART IS THERE</a:t>
            </a:r>
          </a:p>
        </p:txBody>
      </p:sp>
      <p:sp>
        <p:nvSpPr>
          <p:cNvPr id="22" name="a2u_wk21"/>
          <p:cNvSpPr txBox="1"/>
          <p:nvPr/>
        </p:nvSpPr>
        <p:spPr>
          <a:xfrm>
            <a:off x="5715000" y="1508760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service name = hostname</a:t>
            </a:r>
          </a:p>
        </p:txBody>
      </p:sp>
      <p:sp>
        <p:nvSpPr>
          <p:cNvPr id="23" name="a2u_wv22"/>
          <p:cNvSpPr txBox="1"/>
          <p:nvPr/>
        </p:nvSpPr>
        <p:spPr>
          <a:xfrm>
            <a:off x="5715000" y="1682495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compose gives every service DNS for free</a:t>
            </a:r>
          </a:p>
        </p:txBody>
      </p:sp>
      <p:sp>
        <p:nvSpPr>
          <p:cNvPr id="24" name="a2ud80_wk23"/>
          <p:cNvSpPr txBox="1"/>
          <p:nvPr/>
        </p:nvSpPr>
        <p:spPr>
          <a:xfrm>
            <a:off x="5715000" y="1929384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depends_on + healthy</a:t>
            </a:r>
          </a:p>
        </p:txBody>
      </p:sp>
      <p:sp>
        <p:nvSpPr>
          <p:cNvPr id="25" name="a2ud80_wv24"/>
          <p:cNvSpPr txBox="1"/>
          <p:nvPr/>
        </p:nvSpPr>
        <p:spPr>
          <a:xfrm>
            <a:off x="5715000" y="2103120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a replica never races the primary's startup</a:t>
            </a:r>
          </a:p>
        </p:txBody>
      </p:sp>
      <p:sp>
        <p:nvSpPr>
          <p:cNvPr id="26" name="a2ud160_wk25"/>
          <p:cNvSpPr txBox="1"/>
          <p:nvPr/>
        </p:nvSpPr>
        <p:spPr>
          <a:xfrm>
            <a:off x="5715000" y="2350008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--replicaof at boot</a:t>
            </a:r>
          </a:p>
        </p:txBody>
      </p:sp>
      <p:sp>
        <p:nvSpPr>
          <p:cNvPr id="27" name="a2ud160_wv26"/>
          <p:cNvSpPr txBox="1"/>
          <p:nvPr/>
        </p:nvSpPr>
        <p:spPr>
          <a:xfrm>
            <a:off x="5715000" y="2523744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no manual REPLICAOF step after the container is up</a:t>
            </a:r>
          </a:p>
        </p:txBody>
      </p:sp>
      <p:sp>
        <p:nvSpPr>
          <p:cNvPr id="28" name="a2ud240_wk27"/>
          <p:cNvSpPr txBox="1"/>
          <p:nvPr/>
        </p:nvSpPr>
        <p:spPr>
          <a:xfrm>
            <a:off x="5715000" y="2770632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named volume per node</a:t>
            </a:r>
          </a:p>
        </p:txBody>
      </p:sp>
      <p:sp>
        <p:nvSpPr>
          <p:cNvPr id="29" name="a2ud240_wv28"/>
          <p:cNvSpPr txBox="1"/>
          <p:nvPr/>
        </p:nvSpPr>
        <p:spPr>
          <a:xfrm>
            <a:off x="5715000" y="2944368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each node keeps its own RDB on disk</a:t>
            </a:r>
          </a:p>
        </p:txBody>
      </p:sp>
      <p:sp>
        <p:nvSpPr>
          <p:cNvPr id="30" name="a2ud320_wk29"/>
          <p:cNvSpPr txBox="1"/>
          <p:nvPr/>
        </p:nvSpPr>
        <p:spPr>
          <a:xfrm>
            <a:off x="5715000" y="3191256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restart: unless-stopped</a:t>
            </a:r>
          </a:p>
        </p:txBody>
      </p:sp>
      <p:sp>
        <p:nvSpPr>
          <p:cNvPr id="31" name="a2ud320_wv30"/>
          <p:cNvSpPr txBox="1"/>
          <p:nvPr/>
        </p:nvSpPr>
        <p:spPr>
          <a:xfrm>
            <a:off x="5715000" y="3364992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Calibri"/>
              </a:rPr>
              <a:t>a replica reattaches after any restart</a:t>
            </a:r>
          </a:p>
        </p:txBody>
      </p:sp>
      <p:sp>
        <p:nvSpPr>
          <p:cNvPr id="32" name="a3f_codebg31"/>
          <p:cNvSpPr/>
          <p:nvPr/>
        </p:nvSpPr>
        <p:spPr>
          <a:xfrm>
            <a:off x="457200" y="41970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w_code32"/>
          <p:cNvSpPr txBox="1"/>
          <p:nvPr/>
        </p:nvSpPr>
        <p:spPr>
          <a:xfrm>
            <a:off x="548640" y="4288536"/>
            <a:ext cx="8046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compose up -d   &amp;&amp;   docker exec icici-redis-primary redis-cli INFO replication</a:t>
            </a:r>
          </a:p>
        </p:txBody>
      </p:sp>
      <p:sp>
        <p:nvSpPr>
          <p:cNvPr id="34" name="a3wd100_code33"/>
          <p:cNvSpPr txBox="1"/>
          <p:nvPr/>
        </p:nvSpPr>
        <p:spPr>
          <a:xfrm>
            <a:off x="548640" y="4489703"/>
            <a:ext cx="8046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role:master   connected_slaves:2      # measured, both replicas online within seconds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6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72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24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76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Proof: the Primary Can Be Recreated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Force-recreate it mid-session - no config change, no manual REPLICAOF, no downtime for replicas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recreate it - new container, new IP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compose up -d --force-recreate redis-primary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55648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Container icici-redis-primary Recreated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75104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Container icici-redis-primary Started</a:t>
            </a:r>
          </a:p>
        </p:txBody>
      </p:sp>
      <p:sp>
        <p:nvSpPr>
          <p:cNvPr id="9" name="a2f_codebg8"/>
          <p:cNvSpPr/>
          <p:nvPr/>
        </p:nvSpPr>
        <p:spPr>
          <a:xfrm>
            <a:off x="457200" y="2404872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f_codeh9"/>
          <p:cNvSpPr txBox="1"/>
          <p:nvPr/>
        </p:nvSpPr>
        <p:spPr>
          <a:xfrm>
            <a:off x="576072" y="2459736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no command was run against the replica</a:t>
            </a:r>
          </a:p>
        </p:txBody>
      </p:sp>
      <p:sp>
        <p:nvSpPr>
          <p:cNvPr id="11" name="a2w_code10"/>
          <p:cNvSpPr txBox="1"/>
          <p:nvPr/>
        </p:nvSpPr>
        <p:spPr>
          <a:xfrm>
            <a:off x="576072" y="2798064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icici-redis-replica1 redis-cli INFO replication | grep -E "role|master_link"</a:t>
            </a:r>
          </a:p>
        </p:txBody>
      </p:sp>
      <p:sp>
        <p:nvSpPr>
          <p:cNvPr id="12" name="a2wd90_code11"/>
          <p:cNvSpPr txBox="1"/>
          <p:nvPr/>
        </p:nvSpPr>
        <p:spPr>
          <a:xfrm>
            <a:off x="576072" y="3017520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  role:slave</a:t>
            </a:r>
          </a:p>
        </p:txBody>
      </p:sp>
      <p:sp>
        <p:nvSpPr>
          <p:cNvPr id="13" name="a2wd180_code12"/>
          <p:cNvSpPr txBox="1"/>
          <p:nvPr/>
        </p:nvSpPr>
        <p:spPr>
          <a:xfrm>
            <a:off x="576072" y="3236976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  master_link_status:up                    # measured - reattached on its own</a:t>
            </a:r>
          </a:p>
        </p:txBody>
      </p:sp>
      <p:sp>
        <p:nvSpPr>
          <p:cNvPr id="14" name="a3u_nb13"/>
          <p:cNvSpPr/>
          <p:nvPr/>
        </p:nvSpPr>
        <p:spPr>
          <a:xfrm>
            <a:off x="457200" y="3685032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3u_nacc14"/>
          <p:cNvSpPr/>
          <p:nvPr/>
        </p:nvSpPr>
        <p:spPr>
          <a:xfrm>
            <a:off x="457200" y="3685032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3u_nt15"/>
          <p:cNvSpPr txBox="1"/>
          <p:nvPr/>
        </p:nvSpPr>
        <p:spPr>
          <a:xfrm>
            <a:off x="658368" y="3685032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replica never stopped retrying "redis-primary" by name; the moment the new container answered on that name again, it resynced automatically. This is the entire reason to wire replication by name instead of IP.</a:t>
            </a:r>
          </a:p>
        </p:txBody>
      </p:sp>
      <p:sp>
        <p:nvSpPr>
          <p:cNvPr id="17" name="ft1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Read/Write Split - and Its One Rule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replica answers reads at full speed; it refuses every write, on purpose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1335024"/>
          </a:xfrm>
          <a:prstGeom prst="roundRect">
            <a:avLst>
              <a:gd name="adj" fmla="val 54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redis-replica1 redis-cli GET icici:bal:9003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41932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"341244.80"                                          # reads work fine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47672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redis-replica1 redis-cli SET icici:hack "should fail"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53412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  (error) READONLY You can't write against a read only replica.</a:t>
            </a:r>
          </a:p>
        </p:txBody>
      </p:sp>
      <p:sp>
        <p:nvSpPr>
          <p:cNvPr id="10" name="a2u_nb9"/>
          <p:cNvSpPr/>
          <p:nvPr/>
        </p:nvSpPr>
        <p:spPr>
          <a:xfrm>
            <a:off x="457200" y="25877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_nacc10"/>
          <p:cNvSpPr/>
          <p:nvPr/>
        </p:nvSpPr>
        <p:spPr>
          <a:xfrm>
            <a:off x="457200" y="2587752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u_nt11"/>
          <p:cNvSpPr txBox="1"/>
          <p:nvPr/>
        </p:nvSpPr>
        <p:spPr>
          <a:xfrm>
            <a:off x="658368" y="2587752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replica-read-only yes is the default and the reason replicas never silently diverge from the primary. Turning it off is almost always a mistake - a value written directly to a replica is overwritten the instant the primary's next write for that key arrives.</a:t>
            </a:r>
          </a:p>
        </p:txBody>
      </p:sp>
      <p:sp>
        <p:nvSpPr>
          <p:cNvPr id="13" name="ft1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4" name="ft1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WAIT · Trading Latency for Durability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Replication is asynchronous by default - WAIT lets a write ask how many replicas have it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1335024"/>
          </a:xfrm>
          <a:prstGeom prst="roundRect">
            <a:avLst>
              <a:gd name="adj" fmla="val 54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redis-primary redis-cli SET icici:wait:test "durable write"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41932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47672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redis-primary redis-cli WAIT 2 1000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53412"/>
            <a:ext cx="799185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  (integer) 2       # measured - both replicas had acknowledged it already</a:t>
            </a:r>
          </a:p>
        </p:txBody>
      </p:sp>
      <p:sp>
        <p:nvSpPr>
          <p:cNvPr id="10" name="a2f_th9"/>
          <p:cNvSpPr/>
          <p:nvPr/>
        </p:nvSpPr>
        <p:spPr>
          <a:xfrm>
            <a:off x="457200" y="2587752"/>
            <a:ext cx="2834640" cy="3291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f_tht10"/>
          <p:cNvSpPr txBox="1"/>
          <p:nvPr/>
        </p:nvSpPr>
        <p:spPr>
          <a:xfrm>
            <a:off x="530352" y="2587752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WAIT numreplicas timeout</a:t>
            </a:r>
          </a:p>
        </p:txBody>
      </p:sp>
      <p:sp>
        <p:nvSpPr>
          <p:cNvPr id="12" name="a2wd100_td11"/>
          <p:cNvSpPr/>
          <p:nvPr/>
        </p:nvSpPr>
        <p:spPr>
          <a:xfrm>
            <a:off x="457200" y="2916936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wd100_tdt12"/>
          <p:cNvSpPr txBox="1"/>
          <p:nvPr/>
        </p:nvSpPr>
        <p:spPr>
          <a:xfrm>
            <a:off x="530352" y="2916936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numreplicas</a:t>
            </a:r>
          </a:p>
        </p:txBody>
      </p:sp>
      <p:sp>
        <p:nvSpPr>
          <p:cNvPr id="14" name="a2wd200_td13"/>
          <p:cNvSpPr/>
          <p:nvPr/>
        </p:nvSpPr>
        <p:spPr>
          <a:xfrm>
            <a:off x="457200" y="3246120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wd200_tdt14"/>
          <p:cNvSpPr txBox="1"/>
          <p:nvPr/>
        </p:nvSpPr>
        <p:spPr>
          <a:xfrm>
            <a:off x="530352" y="3246120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timeout (ms)</a:t>
            </a:r>
          </a:p>
        </p:txBody>
      </p:sp>
      <p:sp>
        <p:nvSpPr>
          <p:cNvPr id="16" name="a2wd300_td15"/>
          <p:cNvSpPr/>
          <p:nvPr/>
        </p:nvSpPr>
        <p:spPr>
          <a:xfrm>
            <a:off x="457200" y="3575304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wd300_tdt16"/>
          <p:cNvSpPr txBox="1"/>
          <p:nvPr/>
        </p:nvSpPr>
        <p:spPr>
          <a:xfrm>
            <a:off x="530352" y="3575304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Return value</a:t>
            </a:r>
          </a:p>
        </p:txBody>
      </p:sp>
      <p:sp>
        <p:nvSpPr>
          <p:cNvPr id="18" name="a2f_th17"/>
          <p:cNvSpPr/>
          <p:nvPr/>
        </p:nvSpPr>
        <p:spPr>
          <a:xfrm>
            <a:off x="3291840" y="2587752"/>
            <a:ext cx="5394960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tht18"/>
          <p:cNvSpPr txBox="1"/>
          <p:nvPr/>
        </p:nvSpPr>
        <p:spPr>
          <a:xfrm>
            <a:off x="3364992" y="2587752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20" name="a2wd100_td19"/>
          <p:cNvSpPr/>
          <p:nvPr/>
        </p:nvSpPr>
        <p:spPr>
          <a:xfrm>
            <a:off x="3291840" y="2916936"/>
            <a:ext cx="5394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100_tdt20"/>
          <p:cNvSpPr txBox="1"/>
          <p:nvPr/>
        </p:nvSpPr>
        <p:spPr>
          <a:xfrm>
            <a:off x="3364992" y="2916936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How many replicas must acknowledge the offset before WAIT returns</a:t>
            </a:r>
          </a:p>
        </p:txBody>
      </p:sp>
      <p:sp>
        <p:nvSpPr>
          <p:cNvPr id="22" name="a2wd200_td21"/>
          <p:cNvSpPr/>
          <p:nvPr/>
        </p:nvSpPr>
        <p:spPr>
          <a:xfrm>
            <a:off x="3291840" y="3246120"/>
            <a:ext cx="5394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200_tdt22"/>
          <p:cNvSpPr txBox="1"/>
          <p:nvPr/>
        </p:nvSpPr>
        <p:spPr>
          <a:xfrm>
            <a:off x="3364992" y="3246120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Give up and return early if that many acks do not arrive in time - 0 waits forever</a:t>
            </a:r>
          </a:p>
        </p:txBody>
      </p:sp>
      <p:sp>
        <p:nvSpPr>
          <p:cNvPr id="24" name="a2wd300_td23"/>
          <p:cNvSpPr/>
          <p:nvPr/>
        </p:nvSpPr>
        <p:spPr>
          <a:xfrm>
            <a:off x="3291840" y="3575304"/>
            <a:ext cx="5394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300_tdt24"/>
          <p:cNvSpPr txBox="1"/>
          <p:nvPr/>
        </p:nvSpPr>
        <p:spPr>
          <a:xfrm>
            <a:off x="3364992" y="3575304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How many replicas actually acknowledged, which may be less than asked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Failover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What promoting a replica by hand actually involves - and what it does not give you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REPLICAOF NO ONE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Repoint the siblings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The limits of doing it by hand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Manual Failover, Step by Step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Four commands, run by hand, against the exact topology this deck has been measuring</a:t>
            </a:r>
          </a:p>
        </p:txBody>
      </p:sp>
      <p:sp>
        <p:nvSpPr>
          <p:cNvPr id="4" name="a1u_sn3"/>
          <p:cNvSpPr/>
          <p:nvPr/>
        </p:nvSpPr>
        <p:spPr>
          <a:xfrm>
            <a:off x="457200" y="1143000"/>
            <a:ext cx="329184" cy="329184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snt4"/>
          <p:cNvSpPr txBox="1"/>
          <p:nvPr/>
        </p:nvSpPr>
        <p:spPr>
          <a:xfrm>
            <a:off x="457200" y="11430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a1ud30_sl5"/>
          <p:cNvSpPr txBox="1"/>
          <p:nvPr/>
        </p:nvSpPr>
        <p:spPr>
          <a:xfrm>
            <a:off x="914400" y="114300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Primary dies</a:t>
            </a:r>
          </a:p>
        </p:txBody>
      </p:sp>
      <p:sp>
        <p:nvSpPr>
          <p:cNvPr id="7" name="a1wd60_sc6"/>
          <p:cNvSpPr/>
          <p:nvPr/>
        </p:nvSpPr>
        <p:spPr>
          <a:xfrm>
            <a:off x="3154680" y="1143000"/>
            <a:ext cx="553212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60_sct7"/>
          <p:cNvSpPr txBox="1"/>
          <p:nvPr/>
        </p:nvSpPr>
        <p:spPr>
          <a:xfrm>
            <a:off x="3291840" y="1143000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docker stop redis-primary</a:t>
            </a:r>
          </a:p>
        </p:txBody>
      </p:sp>
      <p:sp>
        <p:nvSpPr>
          <p:cNvPr id="9" name="a1ud110_sn8"/>
          <p:cNvSpPr/>
          <p:nvPr/>
        </p:nvSpPr>
        <p:spPr>
          <a:xfrm>
            <a:off x="457200" y="1600200"/>
            <a:ext cx="329184" cy="329184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10_snt9"/>
          <p:cNvSpPr txBox="1"/>
          <p:nvPr/>
        </p:nvSpPr>
        <p:spPr>
          <a:xfrm>
            <a:off x="457200" y="16002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a1ud140_sl10"/>
          <p:cNvSpPr txBox="1"/>
          <p:nvPr/>
        </p:nvSpPr>
        <p:spPr>
          <a:xfrm>
            <a:off x="914400" y="160020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 replica notices</a:t>
            </a:r>
          </a:p>
        </p:txBody>
      </p:sp>
      <p:sp>
        <p:nvSpPr>
          <p:cNvPr id="12" name="a1wd170_sc11"/>
          <p:cNvSpPr/>
          <p:nvPr/>
        </p:nvSpPr>
        <p:spPr>
          <a:xfrm>
            <a:off x="3154680" y="1600200"/>
            <a:ext cx="553212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170_sct12"/>
          <p:cNvSpPr txBox="1"/>
          <p:nvPr/>
        </p:nvSpPr>
        <p:spPr>
          <a:xfrm>
            <a:off x="3291840" y="1600200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INFO replication -&gt; master_link_status:down</a:t>
            </a:r>
          </a:p>
        </p:txBody>
      </p:sp>
      <p:sp>
        <p:nvSpPr>
          <p:cNvPr id="14" name="a1ud220_sn13"/>
          <p:cNvSpPr/>
          <p:nvPr/>
        </p:nvSpPr>
        <p:spPr>
          <a:xfrm>
            <a:off x="457200" y="2057400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220_snt14"/>
          <p:cNvSpPr txBox="1"/>
          <p:nvPr/>
        </p:nvSpPr>
        <p:spPr>
          <a:xfrm>
            <a:off x="457200" y="20574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a1ud250_sl15"/>
          <p:cNvSpPr txBox="1"/>
          <p:nvPr/>
        </p:nvSpPr>
        <p:spPr>
          <a:xfrm>
            <a:off x="914400" y="205740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Promote it</a:t>
            </a:r>
          </a:p>
        </p:txBody>
      </p:sp>
      <p:sp>
        <p:nvSpPr>
          <p:cNvPr id="17" name="a1wd280_sc16"/>
          <p:cNvSpPr/>
          <p:nvPr/>
        </p:nvSpPr>
        <p:spPr>
          <a:xfrm>
            <a:off x="3154680" y="2057400"/>
            <a:ext cx="553212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280_sct17"/>
          <p:cNvSpPr txBox="1"/>
          <p:nvPr/>
        </p:nvSpPr>
        <p:spPr>
          <a:xfrm>
            <a:off x="3291840" y="2057400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redis-cli REPLICAOF NO ONE</a:t>
            </a:r>
          </a:p>
        </p:txBody>
      </p:sp>
      <p:sp>
        <p:nvSpPr>
          <p:cNvPr id="19" name="a1ud330_sn18"/>
          <p:cNvSpPr/>
          <p:nvPr/>
        </p:nvSpPr>
        <p:spPr>
          <a:xfrm>
            <a:off x="457200" y="2514600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330_snt19"/>
          <p:cNvSpPr txBox="1"/>
          <p:nvPr/>
        </p:nvSpPr>
        <p:spPr>
          <a:xfrm>
            <a:off x="457200" y="25146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a1ud360_sl20"/>
          <p:cNvSpPr txBox="1"/>
          <p:nvPr/>
        </p:nvSpPr>
        <p:spPr>
          <a:xfrm>
            <a:off x="914400" y="251460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Repoint the sibling</a:t>
            </a:r>
          </a:p>
        </p:txBody>
      </p:sp>
      <p:sp>
        <p:nvSpPr>
          <p:cNvPr id="22" name="a1wd390_sc21"/>
          <p:cNvSpPr/>
          <p:nvPr/>
        </p:nvSpPr>
        <p:spPr>
          <a:xfrm>
            <a:off x="3154680" y="2514600"/>
            <a:ext cx="553212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90_sct22"/>
          <p:cNvSpPr txBox="1"/>
          <p:nvPr/>
        </p:nvSpPr>
        <p:spPr>
          <a:xfrm>
            <a:off x="3291840" y="2514600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redis-cli REPLICAOF redis-replica1 6379</a:t>
            </a:r>
          </a:p>
        </p:txBody>
      </p:sp>
      <p:sp>
        <p:nvSpPr>
          <p:cNvPr id="24" name="a1ud440_sn23"/>
          <p:cNvSpPr/>
          <p:nvPr/>
        </p:nvSpPr>
        <p:spPr>
          <a:xfrm>
            <a:off x="457200" y="2971800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ud440_snt24"/>
          <p:cNvSpPr txBox="1"/>
          <p:nvPr/>
        </p:nvSpPr>
        <p:spPr>
          <a:xfrm>
            <a:off x="457200" y="29718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a1ud470_sl25"/>
          <p:cNvSpPr txBox="1"/>
          <p:nvPr/>
        </p:nvSpPr>
        <p:spPr>
          <a:xfrm>
            <a:off x="914400" y="297180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Prove it works</a:t>
            </a:r>
          </a:p>
        </p:txBody>
      </p:sp>
      <p:sp>
        <p:nvSpPr>
          <p:cNvPr id="27" name="a1wd500_sc26"/>
          <p:cNvSpPr/>
          <p:nvPr/>
        </p:nvSpPr>
        <p:spPr>
          <a:xfrm>
            <a:off x="3154680" y="2971800"/>
            <a:ext cx="553212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500_sct27"/>
          <p:cNvSpPr txBox="1"/>
          <p:nvPr/>
        </p:nvSpPr>
        <p:spPr>
          <a:xfrm>
            <a:off x="3291840" y="2971800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SET on the new primary -&gt; GET on the sibling</a:t>
            </a:r>
          </a:p>
        </p:txBody>
      </p:sp>
      <p:sp>
        <p:nvSpPr>
          <p:cNvPr id="29" name="a2u_nb28"/>
          <p:cNvSpPr/>
          <p:nvPr/>
        </p:nvSpPr>
        <p:spPr>
          <a:xfrm>
            <a:off x="457200" y="348386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_nacc29"/>
          <p:cNvSpPr/>
          <p:nvPr/>
        </p:nvSpPr>
        <p:spPr>
          <a:xfrm>
            <a:off x="457200" y="3483864"/>
            <a:ext cx="5029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_nt30"/>
          <p:cNvSpPr txBox="1"/>
          <p:nvPr/>
        </p:nvSpPr>
        <p:spPr>
          <a:xfrm>
            <a:off x="658368" y="3483864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Measured, this exact sequence: redis-replica1 went role:master with 0 replicas, redis-replica2's REPLICAOF pointed it at redis-replica1, and a write made on redis-replica1 appeared on redis-replica2 one second later.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Old Primary Comes Back - as a Replica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Bringing a recovered node back in cleanly, and why it costs a full resync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rejoin the topology, under its new primary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start redis-primary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55648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redis-primary redis-cli REPLICAOF redis-replica1 6379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75104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9" name="a2f_codebg8"/>
          <p:cNvSpPr/>
          <p:nvPr/>
        </p:nvSpPr>
        <p:spPr>
          <a:xfrm>
            <a:off x="457200" y="2404872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f_codeh9"/>
          <p:cNvSpPr txBox="1"/>
          <p:nvPr/>
        </p:nvSpPr>
        <p:spPr>
          <a:xfrm>
            <a:off x="576072" y="2459736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measured, after the full resync</a:t>
            </a:r>
          </a:p>
        </p:txBody>
      </p:sp>
      <p:sp>
        <p:nvSpPr>
          <p:cNvPr id="11" name="a2w_code10"/>
          <p:cNvSpPr txBox="1"/>
          <p:nvPr/>
        </p:nvSpPr>
        <p:spPr>
          <a:xfrm>
            <a:off x="576072" y="2798064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redis-primary redis-cli INFO replication | grep -E "role|master_link_status"</a:t>
            </a:r>
          </a:p>
        </p:txBody>
      </p:sp>
      <p:sp>
        <p:nvSpPr>
          <p:cNvPr id="12" name="a2wd90_code11"/>
          <p:cNvSpPr txBox="1"/>
          <p:nvPr/>
        </p:nvSpPr>
        <p:spPr>
          <a:xfrm>
            <a:off x="576072" y="3017520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  role:slave</a:t>
            </a:r>
          </a:p>
        </p:txBody>
      </p:sp>
      <p:sp>
        <p:nvSpPr>
          <p:cNvPr id="13" name="a2wd180_code12"/>
          <p:cNvSpPr txBox="1"/>
          <p:nvPr/>
        </p:nvSpPr>
        <p:spPr>
          <a:xfrm>
            <a:off x="576072" y="3236976"/>
            <a:ext cx="79918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  master_link_status:up      # measured - full resync completed a few seconds later</a:t>
            </a:r>
          </a:p>
        </p:txBody>
      </p:sp>
      <p:sp>
        <p:nvSpPr>
          <p:cNvPr id="14" name="a3u_nb13"/>
          <p:cNvSpPr/>
          <p:nvPr/>
        </p:nvSpPr>
        <p:spPr>
          <a:xfrm>
            <a:off x="457200" y="3685032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3u_nacc14"/>
          <p:cNvSpPr/>
          <p:nvPr/>
        </p:nvSpPr>
        <p:spPr>
          <a:xfrm>
            <a:off x="457200" y="3685032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3u_nt15"/>
          <p:cNvSpPr txBox="1"/>
          <p:nvPr/>
        </p:nvSpPr>
        <p:spPr>
          <a:xfrm>
            <a:off x="658368" y="3685032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i  </a:t>
            </a:r>
            <a:r>
              <a:rPr sz="1000" b="0">
                <a:solidFill>
                  <a:srgbClr val="334155"/>
                </a:solidFill>
                <a:latin typeface="Calibri"/>
              </a:rPr>
              <a:t>It costs a full resync (see the earlier slide) precisely because it was briefly a primary itself, with its own replication ID. That is the price of having promoted it, or any node, even for a moment - not a bug.</a:t>
            </a:r>
          </a:p>
        </p:txBody>
      </p:sp>
      <p:sp>
        <p:nvSpPr>
          <p:cNvPr id="17" name="ft1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What Manual Failover Does Not Give You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Every step just now was typed by a human, watching a dashboard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8229600" cy="2103120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d60_dot4"/>
          <p:cNvSpPr/>
          <p:nvPr/>
        </p:nvSpPr>
        <p:spPr>
          <a:xfrm>
            <a:off x="658368" y="1389888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b5"/>
          <p:cNvSpPr txBox="1"/>
          <p:nvPr/>
        </p:nvSpPr>
        <p:spPr>
          <a:xfrm>
            <a:off x="877824" y="1289304"/>
            <a:ext cx="7644383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No automatic detection  </a:t>
            </a:r>
            <a:r>
              <a:rPr sz="1150" b="0">
                <a:solidFill>
                  <a:srgbClr val="E2E8F0"/>
                </a:solidFill>
                <a:latin typeface="Calibri"/>
              </a:rPr>
              <a:t>nobody paged you - you had to notice the primary was down</a:t>
            </a:r>
          </a:p>
        </p:txBody>
      </p:sp>
      <p:sp>
        <p:nvSpPr>
          <p:cNvPr id="7" name="a1ud190_dot6"/>
          <p:cNvSpPr/>
          <p:nvPr/>
        </p:nvSpPr>
        <p:spPr>
          <a:xfrm>
            <a:off x="658368" y="1865376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190_b7"/>
          <p:cNvSpPr txBox="1"/>
          <p:nvPr/>
        </p:nvSpPr>
        <p:spPr>
          <a:xfrm>
            <a:off x="877824" y="1764792"/>
            <a:ext cx="7644383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No automatic promotion  </a:t>
            </a:r>
            <a:r>
              <a:rPr sz="1150" b="0">
                <a:solidFill>
                  <a:srgbClr val="E2E8F0"/>
                </a:solidFill>
                <a:latin typeface="Calibri"/>
              </a:rPr>
              <a:t>REPLICAOF NO ONE was typed by hand, on the node you chose</a:t>
            </a:r>
          </a:p>
        </p:txBody>
      </p:sp>
      <p:sp>
        <p:nvSpPr>
          <p:cNvPr id="9" name="a1ud320_dot8"/>
          <p:cNvSpPr/>
          <p:nvPr/>
        </p:nvSpPr>
        <p:spPr>
          <a:xfrm>
            <a:off x="658368" y="2340863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320_b9"/>
          <p:cNvSpPr txBox="1"/>
          <p:nvPr/>
        </p:nvSpPr>
        <p:spPr>
          <a:xfrm>
            <a:off x="877824" y="2240279"/>
            <a:ext cx="7644383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No client redirection  </a:t>
            </a:r>
            <a:r>
              <a:rPr sz="1150" b="0">
                <a:solidFill>
                  <a:srgbClr val="E2E8F0"/>
                </a:solidFill>
                <a:latin typeface="Calibri"/>
              </a:rPr>
              <a:t>every application still has the old primary's address hard-coded</a:t>
            </a:r>
          </a:p>
        </p:txBody>
      </p:sp>
      <p:sp>
        <p:nvSpPr>
          <p:cNvPr id="11" name="a1ud450_dot10"/>
          <p:cNvSpPr/>
          <p:nvPr/>
        </p:nvSpPr>
        <p:spPr>
          <a:xfrm>
            <a:off x="658368" y="2816351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450_b11"/>
          <p:cNvSpPr txBox="1"/>
          <p:nvPr/>
        </p:nvSpPr>
        <p:spPr>
          <a:xfrm>
            <a:off x="877824" y="2715768"/>
            <a:ext cx="7644383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Split-brain risk  </a:t>
            </a:r>
            <a:r>
              <a:rPr sz="1150" b="0">
                <a:solidFill>
                  <a:srgbClr val="E2E8F0"/>
                </a:solidFill>
                <a:latin typeface="Calibri"/>
              </a:rPr>
              <a:t>if the old primary is not demoted first, two nodes can both accept writes</a:t>
            </a:r>
          </a:p>
        </p:txBody>
      </p:sp>
      <p:sp>
        <p:nvSpPr>
          <p:cNvPr id="13" name="a2u_nb12"/>
          <p:cNvSpPr/>
          <p:nvPr/>
        </p:nvSpPr>
        <p:spPr>
          <a:xfrm>
            <a:off x="457200" y="33375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nacc13"/>
          <p:cNvSpPr/>
          <p:nvPr/>
        </p:nvSpPr>
        <p:spPr>
          <a:xfrm>
            <a:off x="457200" y="3337560"/>
            <a:ext cx="50292" cy="5303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nt14"/>
          <p:cNvSpPr txBox="1"/>
          <p:nvPr/>
        </p:nvSpPr>
        <p:spPr>
          <a:xfrm>
            <a:off x="658368" y="3337560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NOTE  </a:t>
            </a:r>
            <a:r>
              <a:rPr sz="1000" b="0">
                <a:solidFill>
                  <a:srgbClr val="E2E8F0"/>
                </a:solidFill>
                <a:latin typeface="Calibri"/>
              </a:rPr>
              <a:t>This is exactly the gap Redis Sentinel closes - it watches the primary, elects a replacement, and tells clients the new address. Sentinel is its own topic with its own quorum and failure modes; this deck does not cover it - do not build it unless it is commissioned.</a:t>
            </a:r>
          </a:p>
        </p:txBody>
      </p:sp>
      <p:sp>
        <p:nvSpPr>
          <p:cNvPr id="16" name="ft1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7" name="ft1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Replication Is Not a Backup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single most important sentence in this entire deck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4663440" cy="36576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What propagates to every replica, instantly</a:t>
            </a:r>
          </a:p>
        </p:txBody>
      </p:sp>
      <p:sp>
        <p:nvSpPr>
          <p:cNvPr id="6" name="a1wd100_td5"/>
          <p:cNvSpPr/>
          <p:nvPr/>
        </p:nvSpPr>
        <p:spPr>
          <a:xfrm>
            <a:off x="457200" y="1508760"/>
            <a:ext cx="4663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00_tdt6"/>
          <p:cNvSpPr txBox="1"/>
          <p:nvPr/>
        </p:nvSpPr>
        <p:spPr>
          <a:xfrm>
            <a:off x="530352" y="1508760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FLUSHALL / FLUSHDB</a:t>
            </a:r>
          </a:p>
        </p:txBody>
      </p:sp>
      <p:sp>
        <p:nvSpPr>
          <p:cNvPr id="8" name="a1wd200_td7"/>
          <p:cNvSpPr/>
          <p:nvPr/>
        </p:nvSpPr>
        <p:spPr>
          <a:xfrm>
            <a:off x="457200" y="1874519"/>
            <a:ext cx="4663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00_tdt8"/>
          <p:cNvSpPr txBox="1"/>
          <p:nvPr/>
        </p:nvSpPr>
        <p:spPr>
          <a:xfrm>
            <a:off x="530352" y="1874519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DEL of the wrong key</a:t>
            </a:r>
          </a:p>
        </p:txBody>
      </p:sp>
      <p:sp>
        <p:nvSpPr>
          <p:cNvPr id="10" name="a1wd300_td9"/>
          <p:cNvSpPr/>
          <p:nvPr/>
        </p:nvSpPr>
        <p:spPr>
          <a:xfrm>
            <a:off x="457200" y="2240280"/>
            <a:ext cx="4663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00_tdt10"/>
          <p:cNvSpPr txBox="1"/>
          <p:nvPr/>
        </p:nvSpPr>
        <p:spPr>
          <a:xfrm>
            <a:off x="530352" y="2240280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key expiring</a:t>
            </a:r>
          </a:p>
        </p:txBody>
      </p:sp>
      <p:sp>
        <p:nvSpPr>
          <p:cNvPr id="12" name="a1wd400_td11"/>
          <p:cNvSpPr/>
          <p:nvPr/>
        </p:nvSpPr>
        <p:spPr>
          <a:xfrm>
            <a:off x="457200" y="2606040"/>
            <a:ext cx="4663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00_tdt12"/>
          <p:cNvSpPr txBox="1"/>
          <p:nvPr/>
        </p:nvSpPr>
        <p:spPr>
          <a:xfrm>
            <a:off x="530352" y="2606040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Corrupted data written by a bug</a:t>
            </a:r>
          </a:p>
        </p:txBody>
      </p:sp>
      <p:sp>
        <p:nvSpPr>
          <p:cNvPr id="14" name="a1f_th13"/>
          <p:cNvSpPr/>
          <p:nvPr/>
        </p:nvSpPr>
        <p:spPr>
          <a:xfrm>
            <a:off x="5120640" y="1143000"/>
            <a:ext cx="3566160" cy="3657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f_tht14"/>
          <p:cNvSpPr txBox="1"/>
          <p:nvPr/>
        </p:nvSpPr>
        <p:spPr>
          <a:xfrm>
            <a:off x="5193792" y="1143000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Why that is dangerous</a:t>
            </a:r>
          </a:p>
        </p:txBody>
      </p:sp>
      <p:sp>
        <p:nvSpPr>
          <p:cNvPr id="16" name="a1wd100_td15"/>
          <p:cNvSpPr/>
          <p:nvPr/>
        </p:nvSpPr>
        <p:spPr>
          <a:xfrm>
            <a:off x="5120640" y="150876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100_tdt16"/>
          <p:cNvSpPr txBox="1"/>
          <p:nvPr/>
        </p:nvSpPr>
        <p:spPr>
          <a:xfrm>
            <a:off x="5193792" y="1508760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Wipes every replica too - there is no delay to catch it in</a:t>
            </a:r>
          </a:p>
        </p:txBody>
      </p:sp>
      <p:sp>
        <p:nvSpPr>
          <p:cNvPr id="18" name="a1wd200_td17"/>
          <p:cNvSpPr/>
          <p:nvPr/>
        </p:nvSpPr>
        <p:spPr>
          <a:xfrm>
            <a:off x="5120640" y="1874519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200_tdt18"/>
          <p:cNvSpPr txBox="1"/>
          <p:nvPr/>
        </p:nvSpPr>
        <p:spPr>
          <a:xfrm>
            <a:off x="5193792" y="1874519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Gone everywhere, at the same offset, within milliseconds</a:t>
            </a:r>
          </a:p>
        </p:txBody>
      </p:sp>
      <p:sp>
        <p:nvSpPr>
          <p:cNvPr id="20" name="a1wd300_td19"/>
          <p:cNvSpPr/>
          <p:nvPr/>
        </p:nvSpPr>
        <p:spPr>
          <a:xfrm>
            <a:off x="5120640" y="224028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300_tdt20"/>
          <p:cNvSpPr txBox="1"/>
          <p:nvPr/>
        </p:nvSpPr>
        <p:spPr>
          <a:xfrm>
            <a:off x="5193792" y="2240280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Correct behaviour, but it means TTLs are not a safety net either</a:t>
            </a:r>
          </a:p>
        </p:txBody>
      </p:sp>
      <p:sp>
        <p:nvSpPr>
          <p:cNvPr id="22" name="a1wd400_td21"/>
          <p:cNvSpPr/>
          <p:nvPr/>
        </p:nvSpPr>
        <p:spPr>
          <a:xfrm>
            <a:off x="5120640" y="260604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400_tdt22"/>
          <p:cNvSpPr txBox="1"/>
          <p:nvPr/>
        </p:nvSpPr>
        <p:spPr>
          <a:xfrm>
            <a:off x="5193792" y="2606040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Replicated faithfully - replication does not validate</a:t>
            </a:r>
          </a:p>
        </p:txBody>
      </p:sp>
      <p:sp>
        <p:nvSpPr>
          <p:cNvPr id="24" name="a2u_nb23"/>
          <p:cNvSpPr/>
          <p:nvPr/>
        </p:nvSpPr>
        <p:spPr>
          <a:xfrm>
            <a:off x="457200" y="33375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_nacc24"/>
          <p:cNvSpPr/>
          <p:nvPr/>
        </p:nvSpPr>
        <p:spPr>
          <a:xfrm>
            <a:off x="457200" y="3337560"/>
            <a:ext cx="5029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nt25"/>
          <p:cNvSpPr txBox="1"/>
          <p:nvPr/>
        </p:nvSpPr>
        <p:spPr>
          <a:xfrm>
            <a:off x="658368" y="333756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KEY  </a:t>
            </a:r>
            <a:r>
              <a:rPr sz="1050" b="0">
                <a:solidFill>
                  <a:srgbClr val="334155"/>
                </a:solidFill>
                <a:latin typeface="Calibri"/>
              </a:rPr>
              <a:t>A replica protects you from a dead process or a dead host. Recovering from a mistake needs a point-in-time copy - an RDB snapshot or an AOF you can replay to before the bad command. See deck 6, Redis Persistence, for that half of the story.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Cheat Sheet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slide to keep beside you during the replication labs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1956816" cy="20116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1956816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30_gn5"/>
          <p:cNvSpPr txBox="1"/>
          <p:nvPr/>
        </p:nvSpPr>
        <p:spPr>
          <a:xfrm>
            <a:off x="585216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SET UP</a:t>
            </a:r>
          </a:p>
        </p:txBody>
      </p:sp>
      <p:sp>
        <p:nvSpPr>
          <p:cNvPr id="7" name="a1ud60_gc6"/>
          <p:cNvSpPr txBox="1"/>
          <p:nvPr/>
        </p:nvSpPr>
        <p:spPr>
          <a:xfrm>
            <a:off x="585216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REPLICAOF host port</a:t>
            </a:r>
          </a:p>
        </p:txBody>
      </p:sp>
      <p:sp>
        <p:nvSpPr>
          <p:cNvPr id="8" name="a1ud110_gc7"/>
          <p:cNvSpPr txBox="1"/>
          <p:nvPr/>
        </p:nvSpPr>
        <p:spPr>
          <a:xfrm>
            <a:off x="585216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REPLICAOF NO ONE</a:t>
            </a:r>
          </a:p>
        </p:txBody>
      </p:sp>
      <p:sp>
        <p:nvSpPr>
          <p:cNvPr id="9" name="a1ud160_gc8"/>
          <p:cNvSpPr txBox="1"/>
          <p:nvPr/>
        </p:nvSpPr>
        <p:spPr>
          <a:xfrm>
            <a:off x="585216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--replicaof (boot flag)</a:t>
            </a:r>
          </a:p>
        </p:txBody>
      </p:sp>
      <p:sp>
        <p:nvSpPr>
          <p:cNvPr id="10" name="a1ud210_gc9"/>
          <p:cNvSpPr txBox="1"/>
          <p:nvPr/>
        </p:nvSpPr>
        <p:spPr>
          <a:xfrm>
            <a:off x="585216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container NAME, not IP</a:t>
            </a:r>
          </a:p>
        </p:txBody>
      </p:sp>
      <p:sp>
        <p:nvSpPr>
          <p:cNvPr id="11" name="a1ud100_card10"/>
          <p:cNvSpPr/>
          <p:nvPr/>
        </p:nvSpPr>
        <p:spPr>
          <a:xfrm>
            <a:off x="2578608" y="1143000"/>
            <a:ext cx="1956816" cy="20116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100_acc11"/>
          <p:cNvSpPr/>
          <p:nvPr/>
        </p:nvSpPr>
        <p:spPr>
          <a:xfrm>
            <a:off x="2578608" y="1143000"/>
            <a:ext cx="1956816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130_gn12"/>
          <p:cNvSpPr txBox="1"/>
          <p:nvPr/>
        </p:nvSpPr>
        <p:spPr>
          <a:xfrm>
            <a:off x="2706624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INSPECT</a:t>
            </a:r>
          </a:p>
        </p:txBody>
      </p:sp>
      <p:sp>
        <p:nvSpPr>
          <p:cNvPr id="14" name="a1ud160_gc13"/>
          <p:cNvSpPr txBox="1"/>
          <p:nvPr/>
        </p:nvSpPr>
        <p:spPr>
          <a:xfrm>
            <a:off x="2706624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INFO replication</a:t>
            </a:r>
          </a:p>
        </p:txBody>
      </p:sp>
      <p:sp>
        <p:nvSpPr>
          <p:cNvPr id="15" name="a1ud210_gc14"/>
          <p:cNvSpPr txBox="1"/>
          <p:nvPr/>
        </p:nvSpPr>
        <p:spPr>
          <a:xfrm>
            <a:off x="2706624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role / connected_slaves</a:t>
            </a:r>
          </a:p>
        </p:txBody>
      </p:sp>
      <p:sp>
        <p:nvSpPr>
          <p:cNvPr id="16" name="a1ud260_gc15"/>
          <p:cNvSpPr txBox="1"/>
          <p:nvPr/>
        </p:nvSpPr>
        <p:spPr>
          <a:xfrm>
            <a:off x="2706624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master_repl_offset</a:t>
            </a:r>
          </a:p>
        </p:txBody>
      </p:sp>
      <p:sp>
        <p:nvSpPr>
          <p:cNvPr id="17" name="a1ud310_gc16"/>
          <p:cNvSpPr txBox="1"/>
          <p:nvPr/>
        </p:nvSpPr>
        <p:spPr>
          <a:xfrm>
            <a:off x="2706624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master_link_status</a:t>
            </a:r>
          </a:p>
        </p:txBody>
      </p:sp>
      <p:sp>
        <p:nvSpPr>
          <p:cNvPr id="18" name="a1ud200_card17"/>
          <p:cNvSpPr/>
          <p:nvPr/>
        </p:nvSpPr>
        <p:spPr>
          <a:xfrm>
            <a:off x="4700016" y="1143000"/>
            <a:ext cx="1956816" cy="20116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200_acc18"/>
          <p:cNvSpPr/>
          <p:nvPr/>
        </p:nvSpPr>
        <p:spPr>
          <a:xfrm>
            <a:off x="4700016" y="1143000"/>
            <a:ext cx="1956816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230_gn19"/>
          <p:cNvSpPr txBox="1"/>
          <p:nvPr/>
        </p:nvSpPr>
        <p:spPr>
          <a:xfrm>
            <a:off x="4828031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DURABILITY</a:t>
            </a:r>
          </a:p>
        </p:txBody>
      </p:sp>
      <p:sp>
        <p:nvSpPr>
          <p:cNvPr id="21" name="a1ud260_gc20"/>
          <p:cNvSpPr txBox="1"/>
          <p:nvPr/>
        </p:nvSpPr>
        <p:spPr>
          <a:xfrm>
            <a:off x="4828031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WAIT numreplicas ms</a:t>
            </a:r>
          </a:p>
        </p:txBody>
      </p:sp>
      <p:sp>
        <p:nvSpPr>
          <p:cNvPr id="22" name="a1ud310_gc21"/>
          <p:cNvSpPr txBox="1"/>
          <p:nvPr/>
        </p:nvSpPr>
        <p:spPr>
          <a:xfrm>
            <a:off x="4828031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repl-backlog-size</a:t>
            </a:r>
          </a:p>
        </p:txBody>
      </p:sp>
      <p:sp>
        <p:nvSpPr>
          <p:cNvPr id="23" name="a1ud360_gc22"/>
          <p:cNvSpPr txBox="1"/>
          <p:nvPr/>
        </p:nvSpPr>
        <p:spPr>
          <a:xfrm>
            <a:off x="4828031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sync_full / sync_partial_ok</a:t>
            </a:r>
          </a:p>
        </p:txBody>
      </p:sp>
      <p:sp>
        <p:nvSpPr>
          <p:cNvPr id="24" name="a1ud410_gc23"/>
          <p:cNvSpPr txBox="1"/>
          <p:nvPr/>
        </p:nvSpPr>
        <p:spPr>
          <a:xfrm>
            <a:off x="4828031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replica-read-only</a:t>
            </a:r>
          </a:p>
        </p:txBody>
      </p:sp>
      <p:sp>
        <p:nvSpPr>
          <p:cNvPr id="25" name="a1ud300_card24"/>
          <p:cNvSpPr/>
          <p:nvPr/>
        </p:nvSpPr>
        <p:spPr>
          <a:xfrm>
            <a:off x="6821423" y="1143000"/>
            <a:ext cx="1956816" cy="20116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ud300_acc25"/>
          <p:cNvSpPr/>
          <p:nvPr/>
        </p:nvSpPr>
        <p:spPr>
          <a:xfrm>
            <a:off x="6821423" y="1143000"/>
            <a:ext cx="1956816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ud330_gn26"/>
          <p:cNvSpPr txBox="1"/>
          <p:nvPr/>
        </p:nvSpPr>
        <p:spPr>
          <a:xfrm>
            <a:off x="6949439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C382C"/>
                </a:solidFill>
                <a:latin typeface="Calibri"/>
              </a:rPr>
              <a:t>DOCKER</a:t>
            </a:r>
          </a:p>
        </p:txBody>
      </p:sp>
      <p:sp>
        <p:nvSpPr>
          <p:cNvPr id="28" name="a1ud360_gc27"/>
          <p:cNvSpPr txBox="1"/>
          <p:nvPr/>
        </p:nvSpPr>
        <p:spPr>
          <a:xfrm>
            <a:off x="6949439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docker network create</a:t>
            </a:r>
          </a:p>
        </p:txBody>
      </p:sp>
      <p:sp>
        <p:nvSpPr>
          <p:cNvPr id="29" name="a1ud410_gc28"/>
          <p:cNvSpPr txBox="1"/>
          <p:nvPr/>
        </p:nvSpPr>
        <p:spPr>
          <a:xfrm>
            <a:off x="6949439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compose depends_on healthy</a:t>
            </a:r>
          </a:p>
        </p:txBody>
      </p:sp>
      <p:sp>
        <p:nvSpPr>
          <p:cNvPr id="30" name="a1ud460_gc29"/>
          <p:cNvSpPr txBox="1"/>
          <p:nvPr/>
        </p:nvSpPr>
        <p:spPr>
          <a:xfrm>
            <a:off x="6949439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force-recreate primary</a:t>
            </a:r>
          </a:p>
        </p:txBody>
      </p:sp>
      <p:sp>
        <p:nvSpPr>
          <p:cNvPr id="31" name="a1ud510_gc30"/>
          <p:cNvSpPr txBox="1"/>
          <p:nvPr/>
        </p:nvSpPr>
        <p:spPr>
          <a:xfrm>
            <a:off x="6949439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name-based DNS</a:t>
            </a:r>
          </a:p>
        </p:txBody>
      </p:sp>
      <p:sp>
        <p:nvSpPr>
          <p:cNvPr id="32" name="a2u_nb31"/>
          <p:cNvSpPr/>
          <p:nvPr/>
        </p:nvSpPr>
        <p:spPr>
          <a:xfrm>
            <a:off x="457200" y="328269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u_nacc32"/>
          <p:cNvSpPr/>
          <p:nvPr/>
        </p:nvSpPr>
        <p:spPr>
          <a:xfrm>
            <a:off x="457200" y="3282696"/>
            <a:ext cx="5029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u_nt33"/>
          <p:cNvSpPr txBox="1"/>
          <p:nvPr/>
        </p:nvSpPr>
        <p:spPr>
          <a:xfrm>
            <a:off x="658368" y="3282696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KEY  </a:t>
            </a:r>
            <a:r>
              <a:rPr sz="1050" b="0">
                <a:solidFill>
                  <a:srgbClr val="334155"/>
                </a:solidFill>
                <a:latin typeface="Calibri"/>
              </a:rPr>
              <a:t>If you remember one line from this whole deck: a replica is a live copy, not a snapshot in time. It gives you availability, not an undo button.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 ·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REPLICAOF is one command, on the replica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The primary needs no configuration to accept one - and a replica is read-only for as long as the link is up.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Full sync forks and streams; partial sync resumes from the backlog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 brief blip costs a few bytes from the backlog buffer, not a full RDB transfer - unless the replication ID no longer matches.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Wire containers by name, never by IP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Docker's embedded DNS is what lets a recreated primary reattach every replica automatically, with zero manual steps.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WAIT trades latency for a durability guarantee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Replication is async by default; WAIT numreplicas timeout lets one write confirm how many replicas actually have it.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42976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42976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52144" y="4251959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Manual failover works, but it is not Sentinel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No automatic detection, no client redirection, and a real split-brain risk if the old primary is not demoted first.</a:t>
            </a:r>
          </a:p>
        </p:txBody>
      </p:sp>
      <p:sp>
        <p:nvSpPr>
          <p:cNvPr id="18" name="a2u_next17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extt18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A78BFA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Lab R.1 to R.6 · build, break and fail over your own topology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