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AE09A-16F6-440D-92EA-BD44E6DC31C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1C522-8FD6-4A04-A153-60D59F19E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343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today builds this one deliverable. Refer back to it at each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Oracle's DATE including time is the single most common cross-dialect bug in migration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Get them to argue about which columns should be nullable. It is a design conversation, not a syntax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single most useful habit in this module. Emphasise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Build this live, line by line, asking the class to justify each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out that this table alone justifies Module 11 existing.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principle as never writing SELECT *. Logical data independence, from Module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last form is a preview of Module 3 subqueries. Do not dwell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genuinely common production bug. Make them write both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class to predict the counts before running. It lands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example today runs against their own seeded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exercise Q26. Let them hit the error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forward: this table is Module 10 and Module 11 in miniature.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out every concept from today that appears in this one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463040" cy="8229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058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SQL Fundamentals - DDL &amp; DML</a:t>
            </a:r>
          </a:p>
          <a:p>
            <a:pPr>
              <a:spcBef>
                <a:spcPts val="1600"/>
              </a:spcBef>
            </a:pPr>
            <a:r>
              <a:rPr sz="2000">
                <a:solidFill>
                  <a:srgbClr val="A9C6DA"/>
                </a:solidFill>
                <a:latin typeface="Segoe UI"/>
              </a:rPr>
              <a:t>Module 2  |  8 Hours  |  Enterprise Data Engineering with SQL, Redis &amp; Kafka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8FAAC0"/>
                </a:solidFill>
                <a:latin typeface="Segoe UI"/>
              </a:rPr>
              <a:t>ICICI Bank Learning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Where we left 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Module 1 gave you a running </a:t>
            </a:r>
            <a:r>
              <a:rPr sz="1800" b="0">
                <a:solidFill>
                  <a:srgbClr val="008C8C"/>
                </a:solidFill>
                <a:latin typeface="Consolas"/>
              </a:rPr>
              <a:t>icicibank</a:t>
            </a:r>
            <a:r>
              <a:rPr sz="1800" b="0">
                <a:solidFill>
                  <a:srgbClr val="1B2633"/>
                </a:solidFill>
                <a:latin typeface="Segoe UI"/>
              </a:rPr>
              <a:t> database with nine tables already built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You ran your first CRUD statements and proved ACID with your own hands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But somebody else created those tables. Today </a:t>
            </a:r>
            <a:r>
              <a:rPr sz="1800" b="1">
                <a:solidFill>
                  <a:srgbClr val="1B2633"/>
                </a:solidFill>
                <a:latin typeface="Segoe UI"/>
              </a:rPr>
              <a:t>you</a:t>
            </a:r>
            <a:r>
              <a:rPr sz="1800" b="0">
                <a:solidFill>
                  <a:srgbClr val="1B2633"/>
                </a:solidFill>
                <a:latin typeface="Segoe UI"/>
              </a:rPr>
              <a:t> create them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42032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542032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633472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By 5 pm you will have designed, built, populated and queried a brand-new banking product 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Today's ticket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314363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314363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8693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TICKET  ICICI-4482                                   Priority: HIGH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-----------------------------------------------------------------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Raised by : Head of Retail Products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Subject   : Launch "ICICI Smart Saver" fixed deposit - tables needed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Marketing launches Smart Saver on 1 April. Customers book a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deposit for a fixed term at a fixed rate, and choose whether 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auto-renews on maturity.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Needed from data engineering: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- a table to hold the deposits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- rules that stop bad data getting in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- the first 20 bookings loaded from the branch pilot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- a daily "maturing this week" list for the call centre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What you will be able to do by 5 pm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Choose the right </a:t>
            </a:r>
            <a:r>
              <a:rPr sz="1800" b="1">
                <a:solidFill>
                  <a:srgbClr val="1B2633"/>
                </a:solidFill>
                <a:latin typeface="Segoe UI"/>
              </a:rPr>
              <a:t>data type</a:t>
            </a:r>
            <a:r>
              <a:rPr sz="1800" b="0">
                <a:solidFill>
                  <a:srgbClr val="1B2633"/>
                </a:solidFill>
                <a:latin typeface="Segoe UI"/>
              </a:rPr>
              <a:t> for money, dates, identifiers and names, and say why </a:t>
            </a:r>
            <a:r>
              <a:rPr sz="1800" b="0">
                <a:solidFill>
                  <a:srgbClr val="008C8C"/>
                </a:solidFill>
                <a:latin typeface="Consolas"/>
              </a:rPr>
              <a:t>FLOAT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banned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Declare six kinds of </a:t>
            </a:r>
            <a:r>
              <a:rPr sz="1800" b="1">
                <a:solidFill>
                  <a:srgbClr val="1B2633"/>
                </a:solidFill>
                <a:latin typeface="Segoe UI"/>
              </a:rPr>
              <a:t>constraint</a:t>
            </a:r>
            <a:r>
              <a:rPr sz="1800" b="0">
                <a:solidFill>
                  <a:srgbClr val="1B2633"/>
                </a:solidFill>
                <a:latin typeface="Segoe UI"/>
              </a:rPr>
              <a:t> so the database rejects bad banking data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Write </a:t>
            </a:r>
            <a:r>
              <a:rPr sz="1800" b="0">
                <a:solidFill>
                  <a:srgbClr val="008C8C"/>
                </a:solidFill>
                <a:latin typeface="Consolas"/>
              </a:rPr>
              <a:t>CREATE</a:t>
            </a:r>
            <a:r>
              <a:rPr sz="1800" b="0">
                <a:solidFill>
                  <a:srgbClr val="1B2633"/>
                </a:solidFill>
                <a:latin typeface="Segoe UI"/>
              </a:rPr>
              <a:t>, </a:t>
            </a:r>
            <a:r>
              <a:rPr sz="1800" b="0">
                <a:solidFill>
                  <a:srgbClr val="008C8C"/>
                </a:solidFill>
                <a:latin typeface="Consolas"/>
              </a:rPr>
              <a:t>ALTER</a:t>
            </a:r>
            <a:r>
              <a:rPr sz="1800" b="0">
                <a:solidFill>
                  <a:srgbClr val="1B2633"/>
                </a:solidFill>
                <a:latin typeface="Segoe UI"/>
              </a:rPr>
              <a:t> and </a:t>
            </a:r>
            <a:r>
              <a:rPr sz="1800" b="0">
                <a:solidFill>
                  <a:srgbClr val="008C8C"/>
                </a:solidFill>
                <a:latin typeface="Consolas"/>
              </a:rPr>
              <a:t>DROP</a:t>
            </a:r>
            <a:r>
              <a:rPr sz="1800" b="0">
                <a:solidFill>
                  <a:srgbClr val="1B2633"/>
                </a:solidFill>
                <a:latin typeface="Segoe UI"/>
              </a:rPr>
              <a:t>, and know the difference between </a:t>
            </a:r>
            <a:r>
              <a:rPr sz="1800" b="0">
                <a:solidFill>
                  <a:srgbClr val="008C8C"/>
                </a:solidFill>
                <a:latin typeface="Consolas"/>
              </a:rPr>
              <a:t>DROP</a:t>
            </a:r>
            <a:r>
              <a:rPr sz="1800" b="0">
                <a:solidFill>
                  <a:srgbClr val="1B2633"/>
                </a:solidFill>
                <a:latin typeface="Segoe UI"/>
              </a:rPr>
              <a:t>, </a:t>
            </a:r>
            <a:r>
              <a:rPr sz="1800" b="0">
                <a:solidFill>
                  <a:srgbClr val="008C8C"/>
                </a:solidFill>
                <a:latin typeface="Consolas"/>
              </a:rPr>
              <a:t>DELETE</a:t>
            </a:r>
            <a:r>
              <a:rPr sz="1800" b="0">
                <a:solidFill>
                  <a:srgbClr val="1B2633"/>
                </a:solidFill>
                <a:latin typeface="Segoe UI"/>
              </a:rPr>
              <a:t> and </a:t>
            </a:r>
            <a:r>
              <a:rPr sz="1800" b="0">
                <a:solidFill>
                  <a:srgbClr val="008C8C"/>
                </a:solidFill>
                <a:latin typeface="Consolas"/>
              </a:rPr>
              <a:t>TRUNCATE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Write </a:t>
            </a:r>
            <a:r>
              <a:rPr sz="1800" b="0">
                <a:solidFill>
                  <a:srgbClr val="008C8C"/>
                </a:solidFill>
                <a:latin typeface="Consolas"/>
              </a:rPr>
              <a:t>INSERT</a:t>
            </a:r>
            <a:r>
              <a:rPr sz="1800" b="0">
                <a:solidFill>
                  <a:srgbClr val="1B2633"/>
                </a:solidFill>
                <a:latin typeface="Segoe UI"/>
              </a:rPr>
              <a:t>, </a:t>
            </a:r>
            <a:r>
              <a:rPr sz="1800" b="0">
                <a:solidFill>
                  <a:srgbClr val="008C8C"/>
                </a:solidFill>
                <a:latin typeface="Consolas"/>
              </a:rPr>
              <a:t>UPDATE</a:t>
            </a:r>
            <a:r>
              <a:rPr sz="1800" b="0">
                <a:solidFill>
                  <a:srgbClr val="1B2633"/>
                </a:solidFill>
                <a:latin typeface="Segoe UI"/>
              </a:rPr>
              <a:t> and </a:t>
            </a:r>
            <a:r>
              <a:rPr sz="1800" b="0">
                <a:solidFill>
                  <a:srgbClr val="008C8C"/>
                </a:solidFill>
                <a:latin typeface="Consolas"/>
              </a:rPr>
              <a:t>DELETE</a:t>
            </a:r>
            <a:r>
              <a:rPr sz="1800" b="0">
                <a:solidFill>
                  <a:srgbClr val="1B2633"/>
                </a:solidFill>
                <a:latin typeface="Segoe UI"/>
              </a:rPr>
              <a:t> safely, including the habit that prevents career-ending accidents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Write </a:t>
            </a:r>
            <a:r>
              <a:rPr sz="1800" b="0">
                <a:solidFill>
                  <a:srgbClr val="008C8C"/>
                </a:solidFill>
                <a:latin typeface="Consolas"/>
              </a:rPr>
              <a:t>SELECT</a:t>
            </a:r>
            <a:r>
              <a:rPr sz="1800" b="0">
                <a:solidFill>
                  <a:srgbClr val="1B2633"/>
                </a:solidFill>
                <a:latin typeface="Segoe UI"/>
              </a:rPr>
              <a:t> with </a:t>
            </a:r>
            <a:r>
              <a:rPr sz="1800" b="0">
                <a:solidFill>
                  <a:srgbClr val="008C8C"/>
                </a:solidFill>
                <a:latin typeface="Consolas"/>
              </a:rPr>
              <a:t>WHERE</a:t>
            </a:r>
            <a:r>
              <a:rPr sz="1800" b="0">
                <a:solidFill>
                  <a:srgbClr val="1B2633"/>
                </a:solidFill>
                <a:latin typeface="Segoe UI"/>
              </a:rPr>
              <a:t> and </a:t>
            </a:r>
            <a:r>
              <a:rPr sz="1800" b="0">
                <a:solidFill>
                  <a:srgbClr val="008C8C"/>
                </a:solidFill>
                <a:latin typeface="Consolas"/>
              </a:rPr>
              <a:t>ORDER BY</a:t>
            </a:r>
            <a:r>
              <a:rPr sz="1800" b="0">
                <a:solidFill>
                  <a:srgbClr val="1B2633"/>
                </a:solidFill>
                <a:latin typeface="Segoe UI"/>
              </a:rPr>
              <a:t>, and handle </a:t>
            </a:r>
            <a:r>
              <a:rPr sz="1800" b="0">
                <a:solidFill>
                  <a:srgbClr val="008C8C"/>
                </a:solidFill>
                <a:latin typeface="Consolas"/>
              </a:rPr>
              <a:t>NULL</a:t>
            </a:r>
            <a:r>
              <a:rPr sz="1800" b="0">
                <a:solidFill>
                  <a:srgbClr val="1B2633"/>
                </a:solidFill>
                <a:latin typeface="Segoe UI"/>
              </a:rPr>
              <a:t> correctly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1 - Data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SQL has two halves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210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7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0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0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DDL - Data Definition Language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DML - Data Manipulation Language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Define the </a:t>
                      </a:r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structure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Work with the </a:t>
                      </a:r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data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Statements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CREATE, ALTER, DROP, TRUNCATE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INSERT, UPDATE, DELETE, SELECT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Changes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The schema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The rows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Transactional?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Auto-commits on Oracle and MySQL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Always transactional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Who runs it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Data engineer, DBA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Applications, every second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495294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495294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586734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On Oracle and MySQL, a </a:t>
            </a:r>
            <a:r>
              <a:rPr sz="1450" b="0">
                <a:solidFill>
                  <a:srgbClr val="008C8C"/>
                </a:solidFill>
                <a:latin typeface="Consolas"/>
              </a:rPr>
              <a:t>CREATE</a:t>
            </a:r>
            <a:r>
              <a:rPr sz="1450" b="1">
                <a:solidFill>
                  <a:srgbClr val="6B4A00"/>
                </a:solidFill>
                <a:latin typeface="Segoe UI"/>
              </a:rPr>
              <a:t> or </a:t>
            </a:r>
            <a:r>
              <a:rPr sz="1450" b="0">
                <a:solidFill>
                  <a:srgbClr val="008C8C"/>
                </a:solidFill>
                <a:latin typeface="Consolas"/>
              </a:rPr>
              <a:t>ALTER</a:t>
            </a:r>
            <a:r>
              <a:rPr sz="1450" b="1">
                <a:solidFill>
                  <a:srgbClr val="6B4A00"/>
                </a:solidFill>
                <a:latin typeface="Segoe UI"/>
              </a:rPr>
              <a:t> silently commits your open transaction. On PostgreSQL and SQL Server it does 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Numeric 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210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2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Stores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Use at ICICI Bank for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SMALLINT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-32,768 to 32,767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tenure_months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branch counts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INTEGER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About +/- 2.1 billion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customer_id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account_id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branch_id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BIGINT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About +/- 9.2 quintillion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txn_id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a bank outgrows INTEGER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NUMERIC(p,s)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/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DECIMAL(p,s)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Exact decimal, p digits, s after the point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Every money column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REAL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/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DOUBLE PRECISION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Approximate binary floating point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Scientific data. </a:t>
                      </a:r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Never money.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49529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NUMERIC(15,2)</a:t>
            </a:r>
            <a:r>
              <a:rPr sz="1800" b="0">
                <a:solidFill>
                  <a:srgbClr val="1B2633"/>
                </a:solidFill>
                <a:latin typeface="Segoe UI"/>
              </a:rPr>
              <a:t> holds up to 9,999,999,999,999.99 - enough for any single ICICI balance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dirty="0">
                <a:solidFill>
                  <a:srgbClr val="0B2A4A"/>
                </a:solidFill>
                <a:latin typeface="Segoe UI"/>
              </a:rPr>
              <a:t>Why FLOAT is banned for money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70897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70897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6761466" cy="14003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dirty="0">
                <a:solidFill>
                  <a:srgbClr val="7F9BB0"/>
                </a:solidFill>
                <a:latin typeface="Consolas"/>
              </a:rPr>
              <a:t>-- Approximate binary floating point</a:t>
            </a:r>
          </a:p>
          <a:p>
            <a:pPr>
              <a:spcAft>
                <a:spcPts val="0"/>
              </a:spcAft>
            </a:pPr>
            <a:r>
              <a:rPr sz="1300" dirty="0">
                <a:solidFill>
                  <a:srgbClr val="DCE6F0"/>
                </a:solidFill>
                <a:latin typeface="Consolas"/>
              </a:rPr>
              <a:t>SELECT CAST(0.1 AS REAL) + CAST(0.2 AS REAL) = CAST(0.3 AS REAL);</a:t>
            </a:r>
          </a:p>
          <a:p>
            <a:pPr>
              <a:spcAft>
                <a:spcPts val="0"/>
              </a:spcAft>
            </a:pPr>
            <a:r>
              <a:rPr sz="1300" dirty="0">
                <a:solidFill>
                  <a:srgbClr val="7F9BB0"/>
                </a:solidFill>
                <a:latin typeface="Consolas"/>
              </a:rPr>
              <a:t>-- </a:t>
            </a:r>
            <a:r>
              <a:rPr lang="en-US" sz="1300">
                <a:solidFill>
                  <a:srgbClr val="7F9BB0"/>
                </a:solidFill>
                <a:latin typeface="Consolas"/>
              </a:rPr>
              <a:t>True – but don’t use</a:t>
            </a:r>
            <a:endParaRPr sz="1300" dirty="0">
              <a:solidFill>
                <a:srgbClr val="7F9BB0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300" dirty="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 dirty="0">
                <a:solidFill>
                  <a:srgbClr val="7F9BB0"/>
                </a:solidFill>
                <a:latin typeface="Consolas"/>
              </a:rPr>
              <a:t>-- Exact decimal</a:t>
            </a:r>
          </a:p>
          <a:p>
            <a:pPr>
              <a:spcAft>
                <a:spcPts val="0"/>
              </a:spcAft>
            </a:pPr>
            <a:r>
              <a:rPr sz="1300" dirty="0">
                <a:solidFill>
                  <a:srgbClr val="DCE6F0"/>
                </a:solidFill>
                <a:latin typeface="Consolas"/>
              </a:rPr>
              <a:t>SELECT CAST(0.1 AS NUMERIC) + CAST(0.2 AS NUMERIC) = CAST(0.3 AS NUMERIC);</a:t>
            </a:r>
          </a:p>
          <a:p>
            <a:pPr>
              <a:spcAft>
                <a:spcPts val="0"/>
              </a:spcAft>
            </a:pPr>
            <a:r>
              <a:rPr sz="1300" dirty="0">
                <a:solidFill>
                  <a:srgbClr val="7F9BB0"/>
                </a:solidFill>
                <a:latin typeface="Consolas"/>
              </a:rPr>
              <a:t>--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98865"/>
            <a:ext cx="1106424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 dirty="0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 dirty="0">
                <a:solidFill>
                  <a:srgbClr val="1B2633"/>
                </a:solidFill>
                <a:latin typeface="Segoe UI"/>
              </a:rPr>
              <a:t>Binary floating point cannot represent 0.1 exactly, any more than decimal can represent 1/3</a:t>
            </a:r>
          </a:p>
          <a:p>
            <a:pPr marL="219456" indent="-219456">
              <a:spcAft>
                <a:spcPts val="600"/>
              </a:spcAft>
            </a:pPr>
            <a:r>
              <a:rPr sz="1800" b="1" dirty="0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 dirty="0">
                <a:solidFill>
                  <a:srgbClr val="1B2633"/>
                </a:solidFill>
                <a:latin typeface="Segoe UI"/>
              </a:rPr>
              <a:t>Add a few crore of those errors together and the branch cash position does not balance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507041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4507041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4598481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0">
                <a:solidFill>
                  <a:srgbClr val="008C8C"/>
                </a:solidFill>
                <a:latin typeface="Consolas"/>
              </a:rPr>
              <a:t>NUMERIC(15,2)</a:t>
            </a:r>
            <a:r>
              <a:rPr sz="1450" b="1">
                <a:solidFill>
                  <a:srgbClr val="6B4A00"/>
                </a:solidFill>
                <a:latin typeface="Segoe UI"/>
              </a:rPr>
              <a:t> for every rupee amount. No exceptions. This is not a style preference.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Character 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140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7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Behaviour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Use for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CHAR(n)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Fixed length, </a:t>
                      </a:r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padded with spaces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ifsc_code CHAR(11)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currency CHAR(3)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genuinely fixed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VARCHAR(n)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Variable up to 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first_name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email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narration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TEXT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Unlimited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Long notes, complaint bodies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279349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CHAR</a:t>
            </a:r>
            <a:r>
              <a:rPr sz="1800" b="0">
                <a:solidFill>
                  <a:srgbClr val="1B2633"/>
                </a:solidFill>
                <a:latin typeface="Segoe UI"/>
              </a:rPr>
              <a:t> pads, and the padding bites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268980"/>
            <a:ext cx="11018520" cy="88917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3268980"/>
            <a:ext cx="50292" cy="88917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3406140"/>
            <a:ext cx="10698480" cy="6148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On a CHAR(14) column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account_number = 'ICIC0000009001' FROM account WHERE account_id = 9001;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comparison rules differ between engines when lengths differ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249593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249593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341033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Use </a:t>
            </a:r>
            <a:r>
              <a:rPr sz="1450" b="0">
                <a:solidFill>
                  <a:srgbClr val="008C8C"/>
                </a:solidFill>
                <a:latin typeface="Consolas"/>
              </a:rPr>
              <a:t>CHAR</a:t>
            </a:r>
            <a:r>
              <a:rPr sz="1450" b="1">
                <a:solidFill>
                  <a:srgbClr val="6B4A00"/>
                </a:solidFill>
                <a:latin typeface="Segoe UI"/>
              </a:rPr>
              <a:t> only when every value really is the same length. Otherwise </a:t>
            </a:r>
            <a:r>
              <a:rPr sz="1450" b="0">
                <a:solidFill>
                  <a:srgbClr val="008C8C"/>
                </a:solidFill>
                <a:latin typeface="Consolas"/>
              </a:rPr>
              <a:t>VARCHAR</a:t>
            </a:r>
            <a:r>
              <a:rPr sz="1450" b="1">
                <a:solidFill>
                  <a:srgbClr val="6B4A0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Date and time 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210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6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2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0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Stores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ICICI Bank column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DATE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Calendar date. Oracle also stores time.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opened_date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date_of_birth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due_date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TIME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Time of day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Branch opening hours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TIMESTAMP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Date and time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txn_date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a transaction happens at an instant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TIMESTAMP WITH TIME ZONE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Instant plus zone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Cross-border payments, cloud systems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INTERVAL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 duration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"90 days", "3 months"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49529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deposit </a:t>
            </a:r>
            <a:r>
              <a:rPr sz="1800" b="1">
                <a:solidFill>
                  <a:srgbClr val="1B2633"/>
                </a:solidFill>
                <a:latin typeface="Segoe UI"/>
              </a:rPr>
              <a:t>matures on a date</a:t>
            </a:r>
            <a:r>
              <a:rPr sz="1800" b="0">
                <a:solidFill>
                  <a:srgbClr val="1B2633"/>
                </a:solidFill>
                <a:latin typeface="Segoe UI"/>
              </a:rPr>
              <a:t>. A withdrawal </a:t>
            </a:r>
            <a:r>
              <a:rPr sz="1800" b="1">
                <a:solidFill>
                  <a:srgbClr val="1B2633"/>
                </a:solidFill>
                <a:latin typeface="Segoe UI"/>
              </a:rPr>
              <a:t>happens at an instant</a:t>
            </a:r>
            <a:r>
              <a:rPr sz="1800" b="0">
                <a:solidFill>
                  <a:srgbClr val="1B2633"/>
                </a:solidFill>
                <a:latin typeface="Segoe UI"/>
              </a:rPr>
              <a:t>. Pick accordingly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Choosing types for Smart Saver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3158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0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2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Column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Reasoning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deposit_id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INTEGER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Fewer than 2 billion deposits, ever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customer_id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INTEGER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Must match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customer.customer_id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exactly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principal_amount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NUMERIC(15,2)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Money. Exact decimal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interest_rate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NUMERIC(5,2)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7.25 percent. Two decimals is the product rule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tenure_days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SMALLINT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Maximum 3,650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booked_date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maturity_date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DATE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Calendar days, no time component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auto_renew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CHAR(1)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'Y' or 'N'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VARCHAR(12)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ACTIVE, MATURED, BROKEN, CLOSED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2 - Constraints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Constraints are the bank's rulebook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</a:t>
            </a:r>
            <a:r>
              <a:rPr sz="1800" b="1">
                <a:solidFill>
                  <a:srgbClr val="1B2633"/>
                </a:solidFill>
                <a:latin typeface="Segoe UI"/>
              </a:rPr>
              <a:t>constraint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a rule the engine enforces on every write, from every application, forever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Six kinds, and you will use all six today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432304"/>
          <a:ext cx="11018519" cy="2456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Constraint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Guarantees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NOT NULL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The value must be supplied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UNIQUE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 two rows share this value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PRIMARY KEY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Unique </a:t>
                      </a:r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and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not null - identifies the row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FOREIGN KEY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The value exists in the parent table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The value satisfies a condition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DEFAULT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 value is supplied if the caller omits it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4980051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4980051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5071491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A rule in the application protects one path. A rule in the database protects every path.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NOT NULL and DEFAULT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913928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913928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639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CREATE TABLE fixed_deposit (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deposit_id        INTEGER       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customer_id       INTEGER       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principal_amount  NUMERIC(15,2) 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booked_date       DATE           DEFAULT CURRENT_DATE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auto_renew        CHAR(1)        DEFAULT 'N'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status            VARCHAR(12)    DEFAULT 'ACTIVE' NOT NULL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03816"/>
            <a:ext cx="1106424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NOT NULL</a:t>
            </a:r>
            <a:r>
              <a:rPr sz="1800" b="0">
                <a:solidFill>
                  <a:srgbClr val="1B2633"/>
                </a:solidFill>
                <a:latin typeface="Segoe UI"/>
              </a:rPr>
              <a:t> asks: can this fact be genuinely unknown for a valid row?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deposit with no principal is not a deposit. A deposit with no nominee is perfectly normal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UNIQUE and PRIMARY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684222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684222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4099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CONSTRAINT pk_fixed_deposit  PRIMARY KEY (deposit_id),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CONSTRAINT uq_fd_receipt     UNIQUE (receipt_number)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074110"/>
          <a:ext cx="11018520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4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8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PRIMARY KEY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UNIQUE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Nulls allowed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Yes, usually many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How many per table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One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As many as you need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Creates an index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"This </a:t>
                      </a:r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is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the row's identity"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"This value never repeats"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3920055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deposit_id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the identity. </a:t>
            </a:r>
            <a:r>
              <a:rPr sz="1800" b="0">
                <a:solidFill>
                  <a:srgbClr val="008C8C"/>
                </a:solidFill>
                <a:latin typeface="Consolas"/>
              </a:rPr>
              <a:t>receipt_number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printed on the customer's receipt and must never repeat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FOREIGN KEY and referential integrity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684222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684222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4099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CONSTRAINT fk_fd_customer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FOREIGN KEY (customer_id) REFERENCES customer(customer_id)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74110"/>
            <a:ext cx="1106424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deposit must belong to a customer who exists. The engine checks on every insert and update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It also stops you deleting a customer who still holds a deposit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207966"/>
          <a:ext cx="11018519" cy="140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3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4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Effect on delete of the parent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NO ACTION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/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RESTRICT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Refuse the delete. </a:t>
                      </a:r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The banking default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ON DELETE CASCADE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Delete the children too. Dangerous on customer data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ON DELETE SET NULL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Blank the reference. Only if the column is nullable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CHECK constraints carry the product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504026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504026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2297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CONSTRAINT ck_fd_principal   CHECK (principal_amount &gt;= 10000),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CONSTRAINT ck_fd_tenure      CHECK (tenure_days BETWEEN 7 AND 3650),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CONSTRAINT ck_fd_rate        CHECK (interest_rate &gt; 0 AND interest_rate &lt;= 15),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CONSTRAINT ck_fd_renew       CHECK (auto_renew IN ('Y','N')),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CONSTRAINT ck_fd_status      CHECK (status IN ('ACTIVE','MATURED','BROKEN','CLOSED')),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CONSTRAINT ck_fd_maturity    CHECK (maturity_date &gt; booked_date)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9391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Smart Saver's minimum booking is 10,000 rupees. That rule now lives in the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643722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3643722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735162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0">
                <a:solidFill>
                  <a:srgbClr val="008C8C"/>
                </a:solidFill>
                <a:latin typeface="Consolas"/>
              </a:rPr>
              <a:t>ck_fd_maturity</a:t>
            </a:r>
            <a:r>
              <a:rPr sz="1450" b="1">
                <a:solidFill>
                  <a:srgbClr val="6B4A00"/>
                </a:solidFill>
                <a:latin typeface="Segoe UI"/>
              </a:rPr>
              <a:t> compares two columns of the same row. That is legal and very useful.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Where constraints can be declared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118879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118879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8445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Column level: applies to that one column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balance NUMERIC(15,2) NOT NULL CHECK (balance &gt;= 0)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Table level: required when more than one column is involved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CONSTRAINT ck_fd_maturity CHECK (maturity_date &gt; booked_date)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Added later, to an existing table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ALTER TABLE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ADD CONSTRAINT ck_fd_principal CHECK (principal_amount &gt;= 10000);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08767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Always name your constraints.</a:t>
            </a:r>
            <a:r>
              <a:rPr sz="1800" b="0">
                <a:solidFill>
                  <a:srgbClr val="1B2633"/>
                </a:solidFill>
                <a:latin typeface="Segoe UI"/>
              </a:rPr>
              <a:t> An error saying </a:t>
            </a:r>
            <a:r>
              <a:rPr sz="1800" b="0">
                <a:solidFill>
                  <a:srgbClr val="008C8C"/>
                </a:solidFill>
                <a:latin typeface="Consolas"/>
              </a:rPr>
              <a:t>ck_fd_principal</a:t>
            </a:r>
            <a:r>
              <a:rPr sz="1800" b="0">
                <a:solidFill>
                  <a:srgbClr val="1B2633"/>
                </a:solidFill>
                <a:latin typeface="Segoe UI"/>
              </a:rPr>
              <a:t> tells you the rule. An error saying </a:t>
            </a:r>
            <a:r>
              <a:rPr sz="1800" b="0">
                <a:solidFill>
                  <a:srgbClr val="008C8C"/>
                </a:solidFill>
                <a:latin typeface="Consolas"/>
              </a:rPr>
              <a:t>SYS_C0011482</a:t>
            </a:r>
            <a:r>
              <a:rPr sz="1800" b="0">
                <a:solidFill>
                  <a:srgbClr val="1B2633"/>
                </a:solidFill>
                <a:latin typeface="Segoe UI"/>
              </a:rPr>
              <a:t> tells you nothing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3 - DDL: CREATE, ALTER, DROP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Smart Saver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375848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375848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34841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CREATE TABLE fixed_deposit (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deposit_id        INTEGER       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customer_id       INTEGER       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branch_id         INTEGER       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receipt_number    VARCHAR(20)   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principal_amount  NUMERIC(15,2) 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interest_rate     NUMERIC(5,2)  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tenure_days       SMALLINT      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booked_date       DATE           DEFAULT CURRENT_DATE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maturity_date     DATE          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auto_renew        CHAR(1)        DEFAULT 'N'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status            VARCHAR(12)    DEFAULT 'ACTIVE'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CONSTRAINT pk_fixed_deposit PRIMARY KEY (deposit_id),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CONSTRAINT uq_fd_receipt    UNIQUE (receipt_number),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CONSTRAINT fk_fd_customer   FOREIGN KEY (customer_id) REFERENCES customer(customer_id),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CONSTRAINT fk_fd_branch     FOREIGN KEY (branch_id)   REFERENCES branch(branch_id)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ALTER TABLE - the product team changed its mind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93868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93868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6643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"Customers must be able to name a nominee."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ALTER TABLE fixed_deposit ADD COLUMN nominee_name VARCHAR(60);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"Rates go to three decimals for the NRI variant."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ALTER TABLE fixed_deposit ALTER COLUMN interest_rate TYPE NUMERIC(6,3);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"Minimum booking rises to 25,000 from April."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ALTER TABLE fixed_deposit DROP CONSTRAINT ck_fd_principal;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ALTER TABLE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ADD CONSTRAINT ck_fd_principal CHECK (principal_amount &gt;= 25000);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"Drop the pilot column."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ALTER TABLE fixed_deposit DROP COLUMN pilot_flag;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328571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328571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4420011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Adding a </a:t>
            </a:r>
            <a:r>
              <a:rPr sz="1450" b="0">
                <a:solidFill>
                  <a:srgbClr val="008C8C"/>
                </a:solidFill>
                <a:latin typeface="Consolas"/>
              </a:rPr>
              <a:t>NOT NULL</a:t>
            </a:r>
            <a:r>
              <a:rPr sz="1450" b="1">
                <a:solidFill>
                  <a:srgbClr val="6B4A00"/>
                </a:solidFill>
                <a:latin typeface="Segoe UI"/>
              </a:rPr>
              <a:t> column to a table that already has rows fails unless you supply a </a:t>
            </a:r>
            <a:r>
              <a:rPr sz="1450" b="0">
                <a:solidFill>
                  <a:srgbClr val="008C8C"/>
                </a:solidFill>
                <a:latin typeface="Consolas"/>
              </a:rPr>
              <a:t>DEFAULT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ALTER syntax differs by dialect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7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Task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PostgreSQL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Oracle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SQL Server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MySQL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Add a column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ADD COLUMN x INT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ADD (x NUMBER)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ADD x INT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ADD COLUMN x INT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Change a type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ALTER COLUMN x TYPE ...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MODIFY (x ...)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ALTER COLUMN x ...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MODIFY COLUMN x ...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Rename a column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RENAME COLUMN a TO b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RENAME COLUMN a TO b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sp_rename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CHANGE a b INT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Drop a column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DROP COLUMN x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DROP COLUMN x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DROP COLUMN x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DROP COLUMN x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DROP, DELETE and TRUNCATE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280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1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DELETE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TRUNCATE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DROP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Removes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Chosen rows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All rows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The whole table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DML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DDL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DDL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WHERE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allowed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Rollback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On PostgreSQL and SQL Server, yes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Rarely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Fires triggers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Speed on 10 million rows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Minutes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Instant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Instant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Table survives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197096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4197096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4288536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0">
                <a:solidFill>
                  <a:srgbClr val="008C8C"/>
                </a:solidFill>
                <a:latin typeface="Consolas"/>
              </a:rPr>
              <a:t>TRUNCATE</a:t>
            </a:r>
            <a:r>
              <a:rPr sz="1450" b="1">
                <a:solidFill>
                  <a:srgbClr val="6B4A00"/>
                </a:solidFill>
                <a:latin typeface="Segoe UI"/>
              </a:rPr>
              <a:t> on Oracle and MySQL cannot be rolled back. On a production table, that is permanent.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4 - DML: INSERT, UPDATE, DELETE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INSERT - always name your columns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323830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323830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0495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Do this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INSERT INTO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(deposit_id, customer_id, branch_id, receipt_number, principal_amount,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interest_rate, tenure_days, booked_date, maturity_date, auto_renew, status)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VALUES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(7001, 1001, 1, 'FD2026000001', 250000.00, 7.25, 365,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DATE '2026-03-01', DATE '2027-03-01', 'Y', 'ACTIVE');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Not this - it breaks the moment anyone adds a column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INSERT INTO fixed_deposit VALUES (7001, 1001, 1, ...);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Inserting many rows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70897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70897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4346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Multi-row VALUES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INSERT INTO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(deposit_id, customer_id, branch_id, receipt_number, principal_amount,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interest_rate, tenure_days, booked_date, maturity_date, auto_renew, status)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VALUES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(7002, 1002, 2, 'FD2026000002', 100000.00, 6.90,  180, DATE '2026-03-02', DATE '2026-08-29', 'N', 'ACTIVE'),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(7003, 1003, 3, 'FD2026000003', 500000.00, 7.40,  730, DATE '2026-03-02', DATE '2028-03-01', 'Y', 'ACTIVE');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98865"/>
            <a:ext cx="11018520" cy="1299075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3098865"/>
            <a:ext cx="50292" cy="1299075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3236025"/>
            <a:ext cx="10698480" cy="10247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INSERT ... SELECT : load from another table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INSERT INTO fd_high_value (deposit_id, customer_id, principal_amount)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deposit_id, customer_id, principal_amount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principal_amount &gt;= 1000000;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489380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4489380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5808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0">
                <a:solidFill>
                  <a:srgbClr val="008C8C"/>
                </a:solidFill>
                <a:latin typeface="Consolas"/>
              </a:rPr>
              <a:t>INSERT ... SELECT</a:t>
            </a:r>
            <a:r>
              <a:rPr sz="1450" b="1">
                <a:solidFill>
                  <a:srgbClr val="6B4A00"/>
                </a:solidFill>
                <a:latin typeface="Segoe UI"/>
              </a:rPr>
              <a:t> is how Module 11 moves millions of rows during migration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UPDATE - and the habit that saves careers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913928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913928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639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Step 1: SELECT first. Always.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deposit_id, status FROM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maturity_date &lt;= CURRENT_DATE AND status = 'ACTIVE';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Step 2: turn it into the UPDATE with the SAME WHERE clause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UPDATE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SET    status = 'MATURED'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maturity_date &lt;= CURRENT_DATE AND status = 'ACTIVE';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303816"/>
            <a:ext cx="11018520" cy="88917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3303816"/>
            <a:ext cx="50292" cy="88917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3440976"/>
            <a:ext cx="10698480" cy="6148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What happens without WHERE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UPDATE fixed_deposit SET status = 'MATURED';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UPDATE 20   &lt;-- every deposit in the bank, matured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84429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4284429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375869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Write the </a:t>
            </a:r>
            <a:r>
              <a:rPr sz="1450" b="0">
                <a:solidFill>
                  <a:srgbClr val="008C8C"/>
                </a:solidFill>
                <a:latin typeface="Consolas"/>
              </a:rPr>
              <a:t>WHERE</a:t>
            </a:r>
            <a:r>
              <a:rPr sz="1450" b="1">
                <a:solidFill>
                  <a:srgbClr val="6B4A00"/>
                </a:solidFill>
                <a:latin typeface="Segoe UI"/>
              </a:rPr>
              <a:t> clause before you write the </a:t>
            </a:r>
            <a:r>
              <a:rPr sz="1450" b="0">
                <a:solidFill>
                  <a:srgbClr val="008C8C"/>
                </a:solidFill>
                <a:latin typeface="Consolas"/>
              </a:rPr>
              <a:t>SET</a:t>
            </a:r>
            <a:r>
              <a:rPr sz="1450" b="1">
                <a:solidFill>
                  <a:srgbClr val="6B4A00"/>
                </a:solidFill>
                <a:latin typeface="Segoe UI"/>
              </a:rPr>
              <a:t> clause. Muscle memory matters here.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UPDATE patterns you will use constantly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733732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733732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4594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Relative, not absolute - never lose a concurrent change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UPDATE account SET balance = balance + 15000 WHERE account_id = 9046;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Several columns at once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UPDATE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SET    status = 'BROKEN', auto_renew = 'N'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deposit_id = 7003;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Value taken from another table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UPDATE fixed_deposit fd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SET    interest_rate = 7.75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fd.customer_id IN (SELECT customer_id FROM customer WHERE risk_rating = 'LOW');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DELETE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70897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70897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4346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Named, narrow, and checked first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* FROM fixed_deposit WHERE deposit_id = 7003;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DELETE FROM fixed_deposit WHERE deposit_id = 7003;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Delete driven by another table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DELETE FROM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customer_id IN (SELECT customer_id FROM customer WHERE kyc_status = 'REJECTED');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98865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In a bank, rows are rarely deleted. They are </a:t>
            </a:r>
            <a:r>
              <a:rPr sz="1800" b="1">
                <a:solidFill>
                  <a:srgbClr val="1B2633"/>
                </a:solidFill>
                <a:latin typeface="Segoe UI"/>
              </a:rPr>
              <a:t>closed</a:t>
            </a:r>
            <a:r>
              <a:rPr sz="1800" b="0">
                <a:solidFill>
                  <a:srgbClr val="1B2633"/>
                </a:solidFill>
                <a:latin typeface="Segoe UI"/>
              </a:rPr>
              <a:t>, and the history stays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574353"/>
            <a:ext cx="11018520" cy="479271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3574353"/>
            <a:ext cx="50292" cy="479271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3711513"/>
            <a:ext cx="10698480" cy="20495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UPDATE fixed_deposit SET status = 'CLOSED' WHERE deposit_id = 7003;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145064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4145064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4236504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Regulators require history. Prefer a status change to a DELETE on anything financial.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5 - SELECT, WHERE, ORDER BY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shape of a SELECT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70897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70897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4346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  deposit_id, principal_amount, maturity_date     -- 5. what to show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  fixed_deposit                                   -- 1. where from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  status = 'ACTIVE'                               -- 2. which rows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GROUP BY ...                                             -- 3. Module 3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HAVING   ...                                             -- 4. Module 3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BY maturity_date                                   -- 6. in what order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LIMIT    10;                                             -- 7. how 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98865"/>
            <a:ext cx="110642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You </a:t>
            </a:r>
            <a:r>
              <a:rPr sz="1800" b="1">
                <a:solidFill>
                  <a:srgbClr val="1B2633"/>
                </a:solidFill>
                <a:latin typeface="Segoe UI"/>
              </a:rPr>
              <a:t>write</a:t>
            </a:r>
            <a:r>
              <a:rPr sz="1800" b="0">
                <a:solidFill>
                  <a:srgbClr val="1B2633"/>
                </a:solidFill>
                <a:latin typeface="Segoe UI"/>
              </a:rPr>
              <a:t> it in this order, but the engine </a:t>
            </a:r>
            <a:r>
              <a:rPr sz="1800" b="1">
                <a:solidFill>
                  <a:srgbClr val="1B2633"/>
                </a:solidFill>
                <a:latin typeface="Segoe UI"/>
              </a:rPr>
              <a:t>evaluates</a:t>
            </a:r>
            <a:r>
              <a:rPr sz="1800" b="0">
                <a:solidFill>
                  <a:srgbClr val="1B2633"/>
                </a:solidFill>
                <a:latin typeface="Segoe UI"/>
              </a:rPr>
              <a:t> </a:t>
            </a:r>
            <a:r>
              <a:rPr sz="1800" b="0">
                <a:solidFill>
                  <a:srgbClr val="008C8C"/>
                </a:solidFill>
                <a:latin typeface="Consolas"/>
              </a:rPr>
              <a:t>FROM</a:t>
            </a:r>
            <a:r>
              <a:rPr sz="1800" b="0">
                <a:solidFill>
                  <a:srgbClr val="1B2633"/>
                </a:solidFill>
                <a:latin typeface="Segoe UI"/>
              </a:rPr>
              <a:t> and </a:t>
            </a:r>
            <a:r>
              <a:rPr sz="1800" b="0">
                <a:solidFill>
                  <a:srgbClr val="008C8C"/>
                </a:solidFill>
                <a:latin typeface="Consolas"/>
              </a:rPr>
              <a:t>WHERE</a:t>
            </a:r>
            <a:r>
              <a:rPr sz="1800" b="0">
                <a:solidFill>
                  <a:srgbClr val="1B2633"/>
                </a:solidFill>
                <a:latin typeface="Segoe UI"/>
              </a:rPr>
              <a:t> first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That is why a column alias defined in </a:t>
            </a:r>
            <a:r>
              <a:rPr sz="1800" b="0">
                <a:solidFill>
                  <a:srgbClr val="008C8C"/>
                </a:solidFill>
                <a:latin typeface="Consolas"/>
              </a:rPr>
              <a:t>SELECT</a:t>
            </a:r>
            <a:r>
              <a:rPr sz="1800" b="0">
                <a:solidFill>
                  <a:srgbClr val="1B2633"/>
                </a:solidFill>
                <a:latin typeface="Segoe UI"/>
              </a:rPr>
              <a:t> cannot be used in </a:t>
            </a:r>
            <a:r>
              <a:rPr sz="1800" b="0">
                <a:solidFill>
                  <a:srgbClr val="008C8C"/>
                </a:solidFill>
                <a:latin typeface="Consolas"/>
              </a:rPr>
              <a:t>WHERE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19" y="299514"/>
            <a:ext cx="11335119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dirty="0">
                <a:solidFill>
                  <a:srgbClr val="0B2A4A"/>
                </a:solidFill>
                <a:latin typeface="Segoe UI"/>
              </a:rPr>
              <a:t>Projection: choosing and shaping columns</a:t>
            </a:r>
            <a:r>
              <a:rPr lang="en-US" sz="2700" b="1" dirty="0">
                <a:solidFill>
                  <a:srgbClr val="0B2A4A"/>
                </a:solidFill>
                <a:latin typeface="Segoe UI"/>
              </a:rPr>
              <a:t>-</a:t>
            </a:r>
            <a:r>
              <a:rPr lang="en-IN" sz="2800" dirty="0"/>
              <a:t> is the operation used to select specific </a:t>
            </a:r>
            <a:r>
              <a:rPr lang="en-IN" dirty="0"/>
              <a:t>columns</a:t>
            </a:r>
            <a:r>
              <a:rPr lang="en-IN" sz="2800" dirty="0"/>
              <a:t> (attributes) from a table while discarding the rest</a:t>
            </a:r>
            <a:endParaRPr sz="2700" b="1" dirty="0">
              <a:solidFill>
                <a:srgbClr val="0B2A4A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70897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70897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4346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dirty="0">
                <a:solidFill>
                  <a:srgbClr val="DCE6F0"/>
                </a:solidFill>
                <a:latin typeface="Consolas"/>
              </a:rPr>
              <a:t>SELECT </a:t>
            </a:r>
            <a:r>
              <a:rPr sz="1300" dirty="0" err="1">
                <a:solidFill>
                  <a:srgbClr val="DCE6F0"/>
                </a:solidFill>
                <a:latin typeface="Consolas"/>
              </a:rPr>
              <a:t>deposit_id</a:t>
            </a:r>
            <a:r>
              <a:rPr sz="1300" dirty="0">
                <a:solidFill>
                  <a:srgbClr val="DCE6F0"/>
                </a:solidFill>
                <a:latin typeface="Consolas"/>
              </a:rPr>
              <a:t>,</a:t>
            </a:r>
          </a:p>
          <a:p>
            <a:pPr>
              <a:spcAft>
                <a:spcPts val="0"/>
              </a:spcAft>
            </a:pPr>
            <a:r>
              <a:rPr sz="1300" dirty="0">
                <a:solidFill>
                  <a:srgbClr val="DCE6F0"/>
                </a:solidFill>
                <a:latin typeface="Consolas"/>
              </a:rPr>
              <a:t>       </a:t>
            </a:r>
            <a:r>
              <a:rPr sz="1300" dirty="0" err="1">
                <a:solidFill>
                  <a:srgbClr val="DCE6F0"/>
                </a:solidFill>
                <a:latin typeface="Consolas"/>
              </a:rPr>
              <a:t>principal_amount</a:t>
            </a:r>
            <a:r>
              <a:rPr sz="1300" dirty="0">
                <a:solidFill>
                  <a:srgbClr val="DCE6F0"/>
                </a:solidFill>
                <a:latin typeface="Consolas"/>
              </a:rPr>
              <a:t>,</a:t>
            </a:r>
          </a:p>
          <a:p>
            <a:pPr>
              <a:spcAft>
                <a:spcPts val="0"/>
              </a:spcAft>
            </a:pPr>
            <a:r>
              <a:rPr sz="1300" dirty="0">
                <a:solidFill>
                  <a:srgbClr val="DCE6F0"/>
                </a:solidFill>
                <a:latin typeface="Consolas"/>
              </a:rPr>
              <a:t>       </a:t>
            </a:r>
            <a:r>
              <a:rPr sz="1300" dirty="0" err="1">
                <a:solidFill>
                  <a:srgbClr val="DCE6F0"/>
                </a:solidFill>
                <a:latin typeface="Consolas"/>
              </a:rPr>
              <a:t>principal_amount</a:t>
            </a:r>
            <a:r>
              <a:rPr sz="1300" dirty="0">
                <a:solidFill>
                  <a:srgbClr val="DCE6F0"/>
                </a:solidFill>
                <a:latin typeface="Consolas"/>
              </a:rPr>
              <a:t> * </a:t>
            </a:r>
            <a:r>
              <a:rPr sz="1300" dirty="0" err="1">
                <a:solidFill>
                  <a:srgbClr val="DCE6F0"/>
                </a:solidFill>
                <a:latin typeface="Consolas"/>
              </a:rPr>
              <a:t>interest_rate</a:t>
            </a:r>
            <a:r>
              <a:rPr sz="1300" dirty="0">
                <a:solidFill>
                  <a:srgbClr val="DCE6F0"/>
                </a:solidFill>
                <a:latin typeface="Consolas"/>
              </a:rPr>
              <a:t> / 100        AS </a:t>
            </a:r>
            <a:r>
              <a:rPr sz="1300" dirty="0" err="1">
                <a:solidFill>
                  <a:srgbClr val="DCE6F0"/>
                </a:solidFill>
                <a:latin typeface="Consolas"/>
              </a:rPr>
              <a:t>annual_interest</a:t>
            </a:r>
            <a:r>
              <a:rPr sz="1300" dirty="0">
                <a:solidFill>
                  <a:srgbClr val="DCE6F0"/>
                </a:solidFill>
                <a:latin typeface="Consolas"/>
              </a:rPr>
              <a:t>,</a:t>
            </a:r>
          </a:p>
          <a:p>
            <a:pPr>
              <a:spcAft>
                <a:spcPts val="0"/>
              </a:spcAft>
            </a:pPr>
            <a:r>
              <a:rPr sz="1300" dirty="0">
                <a:solidFill>
                  <a:srgbClr val="DCE6F0"/>
                </a:solidFill>
                <a:latin typeface="Consolas"/>
              </a:rPr>
              <a:t>       </a:t>
            </a:r>
            <a:r>
              <a:rPr sz="1300" dirty="0" err="1">
                <a:solidFill>
                  <a:srgbClr val="DCE6F0"/>
                </a:solidFill>
                <a:latin typeface="Consolas"/>
              </a:rPr>
              <a:t>first_name</a:t>
            </a:r>
            <a:r>
              <a:rPr sz="1300" dirty="0">
                <a:solidFill>
                  <a:srgbClr val="DCE6F0"/>
                </a:solidFill>
                <a:latin typeface="Consolas"/>
              </a:rPr>
              <a:t> || ' ' || </a:t>
            </a:r>
            <a:r>
              <a:rPr sz="1300" dirty="0" err="1">
                <a:solidFill>
                  <a:srgbClr val="DCE6F0"/>
                </a:solidFill>
                <a:latin typeface="Consolas"/>
              </a:rPr>
              <a:t>last_name</a:t>
            </a:r>
            <a:r>
              <a:rPr sz="1300" dirty="0">
                <a:solidFill>
                  <a:srgbClr val="DCE6F0"/>
                </a:solidFill>
                <a:latin typeface="Consolas"/>
              </a:rPr>
              <a:t>                AS </a:t>
            </a:r>
            <a:r>
              <a:rPr sz="1300" dirty="0" err="1">
                <a:solidFill>
                  <a:srgbClr val="DCE6F0"/>
                </a:solidFill>
                <a:latin typeface="Consolas"/>
              </a:rPr>
              <a:t>customer_name</a:t>
            </a:r>
            <a:r>
              <a:rPr sz="1300" dirty="0">
                <a:solidFill>
                  <a:srgbClr val="DCE6F0"/>
                </a:solidFill>
                <a:latin typeface="Consolas"/>
              </a:rPr>
              <a:t>,</a:t>
            </a:r>
          </a:p>
          <a:p>
            <a:pPr>
              <a:spcAft>
                <a:spcPts val="0"/>
              </a:spcAft>
            </a:pPr>
            <a:r>
              <a:rPr sz="1300" dirty="0">
                <a:solidFill>
                  <a:srgbClr val="DCE6F0"/>
                </a:solidFill>
                <a:latin typeface="Consolas"/>
              </a:rPr>
              <a:t>       UPPER(status)                                 AS status</a:t>
            </a:r>
          </a:p>
          <a:p>
            <a:pPr>
              <a:spcAft>
                <a:spcPts val="0"/>
              </a:spcAft>
            </a:pPr>
            <a:r>
              <a:rPr sz="1300" dirty="0">
                <a:solidFill>
                  <a:srgbClr val="DCE6F0"/>
                </a:solidFill>
                <a:latin typeface="Consolas"/>
              </a:rPr>
              <a:t>FROM   </a:t>
            </a:r>
            <a:r>
              <a:rPr sz="1300" dirty="0" err="1">
                <a:solidFill>
                  <a:srgbClr val="DCE6F0"/>
                </a:solidFill>
                <a:latin typeface="Consolas"/>
              </a:rPr>
              <a:t>fixed_deposit</a:t>
            </a:r>
            <a:r>
              <a:rPr sz="1300" dirty="0">
                <a:solidFill>
                  <a:srgbClr val="DCE6F0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DCE6F0"/>
                </a:solidFill>
                <a:latin typeface="Consolas"/>
              </a:rPr>
              <a:t>fd</a:t>
            </a:r>
            <a:endParaRPr sz="1300" dirty="0">
              <a:solidFill>
                <a:srgbClr val="DCE6F0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300" dirty="0">
                <a:solidFill>
                  <a:srgbClr val="DCE6F0"/>
                </a:solidFill>
                <a:latin typeface="Consolas"/>
              </a:rPr>
              <a:t>       JOIN customer c ON </a:t>
            </a:r>
            <a:r>
              <a:rPr sz="1300" dirty="0" err="1">
                <a:solidFill>
                  <a:srgbClr val="DCE6F0"/>
                </a:solidFill>
                <a:latin typeface="Consolas"/>
              </a:rPr>
              <a:t>c.customer_id</a:t>
            </a:r>
            <a:r>
              <a:rPr sz="1300" dirty="0">
                <a:solidFill>
                  <a:srgbClr val="DCE6F0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DCE6F0"/>
                </a:solidFill>
                <a:latin typeface="Consolas"/>
              </a:rPr>
              <a:t>fd.customer_id</a:t>
            </a:r>
            <a:r>
              <a:rPr sz="1300" dirty="0">
                <a:solidFill>
                  <a:srgbClr val="DCE6F0"/>
                </a:solidFill>
                <a:latin typeface="Consolas"/>
              </a:rPr>
              <a:t>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098865"/>
          <a:ext cx="11018518" cy="2200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9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Note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Expressions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Compute in the query, do not store what you can derive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AS alias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Names the output column. Use it on every expression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`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`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String concatenation. SQL Server uses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+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MySQL uses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CONCAT()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DISTINCT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Removes duplicate rows from the result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WHERE - the comparison operators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2456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7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Operator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ICICI Bank example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=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&lt;&gt;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!=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Equal, not equal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status = 'ACTIVE'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&lt;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&gt;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&lt;=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&gt;=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Ordering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principal_amount &gt;= 100000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BETWEEN a AND b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Inclusive range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booked_date BETWEEN DATE '2026-01-01' AND DATE '2026-03-31'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IN (...)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Matches any in a list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branch_id IN (1, 2, 5)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LIKE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Pattern match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receipt_number LIKE 'FD2026%'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IS NULL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/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IS NOT NULL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Missing value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nominee_name IS NULL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846195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846195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937635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0">
                <a:solidFill>
                  <a:srgbClr val="008C8C"/>
                </a:solidFill>
                <a:latin typeface="Consolas"/>
              </a:rPr>
              <a:t>BETWEEN</a:t>
            </a:r>
            <a:r>
              <a:rPr sz="1450" b="1">
                <a:solidFill>
                  <a:srgbClr val="6B4A00"/>
                </a:solidFill>
                <a:latin typeface="Segoe UI"/>
              </a:rPr>
              <a:t> includes both endpoints. For timestamps that is a trap - see the next slide.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BETWEEN trap with timestamps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913928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913928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639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WRONG: misses everything after midnight on 31 March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* FROM account_txn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txn_date BETWEEN DATE '2026-01-01' AND DATE '2026-03-31';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RIGHT: half-open range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* FROM account_txn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txn_date &gt;= DATE '2026-01-01'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AND  txn_date &lt;  DATE '2026-04-01';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03816"/>
            <a:ext cx="1106424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DATE '2026-03-31'</a:t>
            </a:r>
            <a:r>
              <a:rPr sz="1800" b="0">
                <a:solidFill>
                  <a:srgbClr val="1B2633"/>
                </a:solidFill>
                <a:latin typeface="Segoe UI"/>
              </a:rPr>
              <a:t> becomes </a:t>
            </a:r>
            <a:r>
              <a:rPr sz="1800" b="0">
                <a:solidFill>
                  <a:srgbClr val="008C8C"/>
                </a:solidFill>
                <a:latin typeface="Consolas"/>
              </a:rPr>
              <a:t>2026-03-31 00:00:00</a:t>
            </a:r>
            <a:r>
              <a:rPr sz="1800" b="0">
                <a:solidFill>
                  <a:srgbClr val="1B2633"/>
                </a:solidFill>
                <a:latin typeface="Segoe UI"/>
              </a:rPr>
              <a:t>, so a 10:15 transaction that day is excluded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whole day of transactions vanishes from the report and nobody notices for a month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LIKE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5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2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Pattern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Matches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'FD2026%'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Starts with FD2026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'%SWIGGY%'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Contains SWIGGY anywhere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'_____0001'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Any 5 characters then 0001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'UPI/%'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Narrations from the UPI channel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144393"/>
            <a:ext cx="11018520" cy="109412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144393"/>
            <a:ext cx="50292" cy="109412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3281553"/>
            <a:ext cx="10698480" cy="8198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txn_id, narration, amount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account_txn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narration LIKE 'UPI/%'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AND  amount &gt; 10000;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329957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%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any number of characters, </a:t>
            </a:r>
            <a:r>
              <a:rPr sz="1800" b="0">
                <a:solidFill>
                  <a:srgbClr val="008C8C"/>
                </a:solidFill>
                <a:latin typeface="Consolas"/>
              </a:rPr>
              <a:t>_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exactly 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05445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805445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896885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0">
                <a:solidFill>
                  <a:srgbClr val="008C8C"/>
                </a:solidFill>
                <a:latin typeface="Consolas"/>
              </a:rPr>
              <a:t>LIKE '%text%'</a:t>
            </a:r>
            <a:r>
              <a:rPr sz="1450" b="1">
                <a:solidFill>
                  <a:srgbClr val="6B4A00"/>
                </a:solidFill>
                <a:latin typeface="Segoe UI"/>
              </a:rPr>
              <a:t> cannot use a normal index. On a 40-million-row table that is a full scan. Module 5 explains the fix.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Combining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504026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504026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2297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AND binds tighter than OR. These are NOT the same query.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* FROM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branch_id = 1 OR branch_id = 2 AND principal_amount &gt; 500000;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* FROM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(branch_id = 1 OR branch_id = 2) AND principal_amount &gt; 500000;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93914"/>
            <a:ext cx="1106424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The first returns </a:t>
            </a:r>
            <a:r>
              <a:rPr sz="1800" b="1">
                <a:solidFill>
                  <a:srgbClr val="1B2633"/>
                </a:solidFill>
                <a:latin typeface="Segoe UI"/>
              </a:rPr>
              <a:t>every</a:t>
            </a:r>
            <a:r>
              <a:rPr sz="1800" b="0">
                <a:solidFill>
                  <a:srgbClr val="1B2633"/>
                </a:solidFill>
                <a:latin typeface="Segoe UI"/>
              </a:rPr>
              <a:t> deposit at branch 1, plus large ones at branch 2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The second returns large deposits at either branch - almost certainly what was meant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027770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4027770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4119210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When you mix </a:t>
            </a:r>
            <a:r>
              <a:rPr sz="1450" b="0">
                <a:solidFill>
                  <a:srgbClr val="008C8C"/>
                </a:solidFill>
                <a:latin typeface="Consolas"/>
              </a:rPr>
              <a:t>AND</a:t>
            </a:r>
            <a:r>
              <a:rPr sz="1450" b="1">
                <a:solidFill>
                  <a:srgbClr val="6B4A00"/>
                </a:solidFill>
                <a:latin typeface="Segoe UI"/>
              </a:rPr>
              <a:t> with </a:t>
            </a:r>
            <a:r>
              <a:rPr sz="1450" b="0">
                <a:solidFill>
                  <a:srgbClr val="008C8C"/>
                </a:solidFill>
                <a:latin typeface="Consolas"/>
              </a:rPr>
              <a:t>OR</a:t>
            </a:r>
            <a:r>
              <a:rPr sz="1450" b="1">
                <a:solidFill>
                  <a:srgbClr val="6B4A00"/>
                </a:solidFill>
                <a:latin typeface="Segoe UI"/>
              </a:rPr>
              <a:t>, use brackets. Even when you are sure. Especially when you are sure.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NULL is not a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NULL</a:t>
            </a:r>
            <a:r>
              <a:rPr sz="1800" b="0">
                <a:solidFill>
                  <a:srgbClr val="1B2633"/>
                </a:solidFill>
                <a:latin typeface="Segoe UI"/>
              </a:rPr>
              <a:t> means </a:t>
            </a:r>
            <a:r>
              <a:rPr sz="1800" b="1">
                <a:solidFill>
                  <a:srgbClr val="1B2633"/>
                </a:solidFill>
                <a:latin typeface="Segoe UI"/>
              </a:rPr>
              <a:t>unknown</a:t>
            </a:r>
            <a:r>
              <a:rPr sz="1800" b="0">
                <a:solidFill>
                  <a:srgbClr val="1B2633"/>
                </a:solidFill>
                <a:latin typeface="Segoe UI"/>
              </a:rPr>
              <a:t>, not zero and not empty string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Any arithmetic or comparison with </a:t>
            </a:r>
            <a:r>
              <a:rPr sz="1800" b="0">
                <a:solidFill>
                  <a:srgbClr val="008C8C"/>
                </a:solidFill>
                <a:latin typeface="Consolas"/>
              </a:rPr>
              <a:t>NULL</a:t>
            </a:r>
            <a:r>
              <a:rPr sz="1800" b="0">
                <a:solidFill>
                  <a:srgbClr val="1B2633"/>
                </a:solidFill>
                <a:latin typeface="Segoe UI"/>
              </a:rPr>
              <a:t> yields </a:t>
            </a:r>
            <a:r>
              <a:rPr sz="1800" b="0">
                <a:solidFill>
                  <a:srgbClr val="008C8C"/>
                </a:solidFill>
                <a:latin typeface="Consolas"/>
              </a:rPr>
              <a:t>NULL</a:t>
            </a:r>
            <a:r>
              <a:rPr sz="1800" b="0">
                <a:solidFill>
                  <a:srgbClr val="1B2633"/>
                </a:solidFill>
                <a:latin typeface="Segoe UI"/>
              </a:rPr>
              <a:t>, which is neither true nor false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32304"/>
            <a:ext cx="11018520" cy="109412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432304"/>
            <a:ext cx="50292" cy="109412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569464"/>
            <a:ext cx="10698480" cy="8198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NULL = NULL;          -- NULL, not true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50000 + NULL;         -- NULL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* FROM fixed_deposit WHERE nominee_name = NULL;   -- returns NOTHING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* FROM fixed_deposit WHERE nominee_name IS NULL;  -- correct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617868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3617868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709308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You cannot compare to NULL with </a:t>
            </a:r>
            <a:r>
              <a:rPr sz="1450" b="0">
                <a:solidFill>
                  <a:srgbClr val="008C8C"/>
                </a:solidFill>
                <a:latin typeface="Consolas"/>
              </a:rPr>
              <a:t>=</a:t>
            </a:r>
            <a:r>
              <a:rPr sz="1450" b="1">
                <a:solidFill>
                  <a:srgbClr val="6B4A00"/>
                </a:solidFill>
                <a:latin typeface="Segoe UI"/>
              </a:rPr>
              <a:t>. You must use </a:t>
            </a:r>
            <a:r>
              <a:rPr sz="1450" b="0">
                <a:solidFill>
                  <a:srgbClr val="008C8C"/>
                </a:solidFill>
                <a:latin typeface="Consolas"/>
              </a:rPr>
              <a:t>IS NULL</a:t>
            </a:r>
            <a:r>
              <a:rPr sz="1450" b="1">
                <a:solidFill>
                  <a:srgbClr val="6B4A0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Three-valued logic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7" cy="140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4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5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4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A AND B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A OR B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NULL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NULL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NULL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NULL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NULL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NULL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NULL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NULL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2793492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WHERE</a:t>
            </a:r>
            <a:r>
              <a:rPr sz="1800" b="0">
                <a:solidFill>
                  <a:srgbClr val="1B2633"/>
                </a:solidFill>
                <a:latin typeface="Segoe UI"/>
              </a:rPr>
              <a:t> keeps only rows where the condition is </a:t>
            </a:r>
            <a:r>
              <a:rPr sz="1800" b="1">
                <a:solidFill>
                  <a:srgbClr val="1B2633"/>
                </a:solidFill>
                <a:latin typeface="Segoe UI"/>
              </a:rPr>
              <a:t>TRUE</a:t>
            </a:r>
            <a:r>
              <a:rPr sz="1800" b="0">
                <a:solidFill>
                  <a:srgbClr val="1B2633"/>
                </a:solidFill>
                <a:latin typeface="Segoe UI"/>
              </a:rPr>
              <a:t>. NULL rows are dropped silently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43300"/>
            <a:ext cx="11018520" cy="109412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3543300"/>
            <a:ext cx="50292" cy="109412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3680460"/>
            <a:ext cx="10698480" cy="8198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Deposits NOT at branch 1. Rows with a NULL branch_id are excluded from BOTH queries.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COUNT(*) FROM fixed_deposit WHERE branch_id =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COUNT(*) FROM fixed_deposit WHERE branch_id &lt;&gt;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The two counts may not add up to the table total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Handling NULL deliberately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93868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93868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6643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Substitute a value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deposit_id, COALESCE(nominee_name, 'NOT NOMINATED') AS nominee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fixed_deposit;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Turn a value into NULL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NULLIF(interest_rate, 0) AS rate FROM fixed_deposit;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Conditional logic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deposit_id,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CASE WHEN nominee_name IS NULL THEN 'Follow up'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ELSE 'Complete'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END AS kyc_action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fixed_deposit;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28571"/>
            <a:ext cx="110642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COALESCE</a:t>
            </a:r>
            <a:r>
              <a:rPr sz="1800" b="0">
                <a:solidFill>
                  <a:srgbClr val="1B2633"/>
                </a:solidFill>
                <a:latin typeface="Segoe UI"/>
              </a:rPr>
              <a:t> returns the first non-null argument and works on every dialect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Oracle also has </a:t>
            </a:r>
            <a:r>
              <a:rPr sz="1800" b="0">
                <a:solidFill>
                  <a:srgbClr val="008C8C"/>
                </a:solidFill>
                <a:latin typeface="Consolas"/>
              </a:rPr>
              <a:t>NVL</a:t>
            </a:r>
            <a:r>
              <a:rPr sz="1800" b="0">
                <a:solidFill>
                  <a:srgbClr val="1B2633"/>
                </a:solidFill>
                <a:latin typeface="Segoe UI"/>
              </a:rPr>
              <a:t>, SQL Server has </a:t>
            </a:r>
            <a:r>
              <a:rPr sz="1800" b="0">
                <a:solidFill>
                  <a:srgbClr val="008C8C"/>
                </a:solidFill>
                <a:latin typeface="Consolas"/>
              </a:rPr>
              <a:t>ISNULL</a:t>
            </a:r>
            <a:r>
              <a:rPr sz="1800" b="0">
                <a:solidFill>
                  <a:srgbClr val="1B2633"/>
                </a:solidFill>
                <a:latin typeface="Segoe UI"/>
              </a:rPr>
              <a:t>. Prefer </a:t>
            </a:r>
            <a:r>
              <a:rPr sz="1800" b="0">
                <a:solidFill>
                  <a:srgbClr val="008C8C"/>
                </a:solidFill>
                <a:latin typeface="Consolas"/>
              </a:rPr>
              <a:t>COALESCE</a:t>
            </a:r>
            <a:r>
              <a:rPr sz="1800" b="0">
                <a:solidFill>
                  <a:srgbClr val="1B2633"/>
                </a:solidFill>
                <a:latin typeface="Segoe UI"/>
              </a:rPr>
              <a:t> for portable SQL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ORDER BY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09412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09412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8198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deposit_id, customer_id, principal_amount, maturity_date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status = 'ACTIVE'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maturity_date ASC, principal_amount DESC;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84012"/>
            <a:ext cx="1106424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Sorts by maturity soonest first, and within the same date, largest deposit first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Without </a:t>
            </a:r>
            <a:r>
              <a:rPr sz="1800" b="0">
                <a:solidFill>
                  <a:srgbClr val="008C8C"/>
                </a:solidFill>
                <a:latin typeface="Consolas"/>
              </a:rPr>
              <a:t>ORDER BY</a:t>
            </a:r>
            <a:r>
              <a:rPr sz="1800" b="0">
                <a:solidFill>
                  <a:srgbClr val="1B2633"/>
                </a:solidFill>
                <a:latin typeface="Segoe UI"/>
              </a:rPr>
              <a:t> the engine may return rows in </a:t>
            </a:r>
            <a:r>
              <a:rPr sz="1800" b="1">
                <a:solidFill>
                  <a:srgbClr val="1B2633"/>
                </a:solidFill>
                <a:latin typeface="Segoe UI"/>
              </a:rPr>
              <a:t>any</a:t>
            </a:r>
            <a:r>
              <a:rPr sz="1800" b="0">
                <a:solidFill>
                  <a:srgbClr val="1B2633"/>
                </a:solidFill>
                <a:latin typeface="Segoe UI"/>
              </a:rPr>
              <a:t> order. There is no natural order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892188"/>
          <a:ext cx="11018519" cy="140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6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1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Clause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Effect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ASC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Ascending. The default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DESC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Descending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NULLS FIRST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/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NULLS LAST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Where NULLs sort. Default differs by engine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Sorting details worth knowing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323830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323830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0495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Sort by an expression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BY principal_amount * interest_rate / 100 DESC;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Sort by a SELECT alias - allowed, because ORDER BY runs last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principal_amount * interest_rate / 100 AS annual_interest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annual_interest DESC;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Sort by column position - legal, but fragile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BY 3 DESC;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13718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3713718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805158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Never sort by position in code that others maintain. Adding a column silently changes the sort.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Limiting rows - four dialects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93868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93868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6643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PostgreSQL, MySQL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* FROM fixed_deposit ORDER BY principal_amount DESC LIMIT 10;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SQL Server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TOP 10 * FROM fixed_deposit ORDER BY principal_amount DESC;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Oracle 12c and later, and the ANSI standard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* FROM fixed_deposit ORDER BY principal_amount DESC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FETCH FIRST 10 ROWS ONLY;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Older Oracle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* FROM (SELECT * FROM fixed_deposit ORDER BY principal_amount DESC)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ROWNUM &lt;= 10;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328571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328571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4420011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"Top 10" without </a:t>
            </a:r>
            <a:r>
              <a:rPr sz="1450" b="0">
                <a:solidFill>
                  <a:srgbClr val="008C8C"/>
                </a:solidFill>
                <a:latin typeface="Consolas"/>
              </a:rPr>
              <a:t>ORDER BY</a:t>
            </a:r>
            <a:r>
              <a:rPr sz="1450" b="1">
                <a:solidFill>
                  <a:srgbClr val="6B4A00"/>
                </a:solidFill>
                <a:latin typeface="Segoe UI"/>
              </a:rPr>
              <a:t> is meaningless. The engine may hand you any 10 rows.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6 - Built-in functions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Why a bank lives on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Everything so far moved rows around </a:t>
            </a:r>
            <a:r>
              <a:rPr sz="1800" b="1">
                <a:solidFill>
                  <a:srgbClr val="1B2633"/>
                </a:solidFill>
                <a:latin typeface="Segoe UI"/>
              </a:rPr>
              <a:t>untouched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Functions transform the value on the way out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57984"/>
          <a:ext cx="11018519" cy="2456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0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8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The job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The function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Mask an account number on a contact centre screen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RIGHT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Print a statement date as 15-Jan-2026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TO_CHAR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Load a vendor amount that arrived as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"2,50,000"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REPLACE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then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CAST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Show NOT NOMINATED instead of a blank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COALESCE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Compute a month's interest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ROUND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Clean the trailing space off a branch name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TRIM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CAST - two spellings, one meaning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70897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70897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4346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CAST('250000' AS NUMERIC)   AS standard_form,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'250000'::NUMERIC           AS postgres_shorthand,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CAST(341244.80 AS INTEGER)  AS rounds_to_nearest;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standard_form | postgres_shorthand | rounds_to_nearest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---------------+--------------------+-------------------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250000 |             250000 |            341245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98865"/>
            <a:ext cx="110642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CAST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</a:t>
            </a:r>
            <a:r>
              <a:rPr sz="1800" b="1">
                <a:solidFill>
                  <a:srgbClr val="1B2633"/>
                </a:solidFill>
                <a:latin typeface="Segoe UI"/>
              </a:rPr>
              <a:t>standard SQL</a:t>
            </a:r>
            <a:r>
              <a:rPr sz="1800" b="0">
                <a:solidFill>
                  <a:srgbClr val="1B2633"/>
                </a:solidFill>
                <a:latin typeface="Segoe UI"/>
              </a:rPr>
              <a:t>. The double colon is PostgreSQL only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Write </a:t>
            </a:r>
            <a:r>
              <a:rPr sz="1800" b="0">
                <a:solidFill>
                  <a:srgbClr val="008C8C"/>
                </a:solidFill>
                <a:latin typeface="Consolas"/>
              </a:rPr>
              <a:t>CAST</a:t>
            </a:r>
            <a:r>
              <a:rPr sz="1800" b="0">
                <a:solidFill>
                  <a:srgbClr val="1B2633"/>
                </a:solidFill>
                <a:latin typeface="Segoe UI"/>
              </a:rPr>
              <a:t> and your SQL survives Module 11's migration untouched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58401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3958401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4049841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0">
                <a:solidFill>
                  <a:srgbClr val="008C8C"/>
                </a:solidFill>
                <a:latin typeface="Consolas"/>
              </a:rPr>
              <a:t>CAST</a:t>
            </a:r>
            <a:r>
              <a:rPr sz="1450" b="1">
                <a:solidFill>
                  <a:srgbClr val="6B4A00"/>
                </a:solidFill>
                <a:latin typeface="Segoe UI"/>
              </a:rPr>
              <a:t> to </a:t>
            </a:r>
            <a:r>
              <a:rPr sz="1450" b="0">
                <a:solidFill>
                  <a:srgbClr val="008C8C"/>
                </a:solidFill>
                <a:latin typeface="Consolas"/>
              </a:rPr>
              <a:t>INTEGER</a:t>
            </a:r>
            <a:r>
              <a:rPr sz="1450" b="1">
                <a:solidFill>
                  <a:srgbClr val="6B4A00"/>
                </a:solidFill>
                <a:latin typeface="Segoe UI"/>
              </a:rPr>
              <a:t> rounds. 341244.80 becomes 341245, not 341244. Use </a:t>
            </a:r>
            <a:r>
              <a:rPr sz="1450" b="0">
                <a:solidFill>
                  <a:srgbClr val="008C8C"/>
                </a:solidFill>
                <a:latin typeface="Consolas"/>
              </a:rPr>
              <a:t>TRUNC</a:t>
            </a:r>
            <a:r>
              <a:rPr sz="1450" b="1">
                <a:solidFill>
                  <a:srgbClr val="6B4A00"/>
                </a:solidFill>
                <a:latin typeface="Segoe UI"/>
              </a:rPr>
              <a:t> for rupees.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A cast fails loudly, and that is the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118879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118879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8445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CAST('2,50,000' AS NUMERIC);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ERROR:  invalid input syntax for type numeric: "2,50,000"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clean first, then cast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REPLACE('2,50,000', ',', '')::NUMERIC AS cleaned;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cleaned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250000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08767"/>
            <a:ext cx="110642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The vendor feed in your exercises sends amounts exactly like this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loud failure at load beats a wrong number in a regulatory report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TO_CHAR - the statement formatter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118879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118879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8445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TO_CHAR(balance, 'FM999999990.00')        AS amount_text,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TO_CHAR(DATE '2026-01-15', 'DD-Mon-YYYY') AS statement_date,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TO_CHAR(TIMESTAMP '2026-01-15 15:08:00',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'DD/MM/YYYY HH24:MI')             AS txn_stamp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 WHERE account_id = 9003;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amount_text | statement_date | txn_stamp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-------------+----------------+------------------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341244.80   | 15-Jan-2026    | 15/01/2026 15:08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08767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FM</a:t>
            </a:r>
            <a:r>
              <a:rPr sz="1800" b="0">
                <a:solidFill>
                  <a:srgbClr val="1B2633"/>
                </a:solidFill>
                <a:latin typeface="Segoe UI"/>
              </a:rPr>
              <a:t> strips padding, </a:t>
            </a:r>
            <a:r>
              <a:rPr sz="1800" b="0">
                <a:solidFill>
                  <a:srgbClr val="008C8C"/>
                </a:solidFill>
                <a:latin typeface="Consolas"/>
              </a:rPr>
              <a:t>0</a:t>
            </a:r>
            <a:r>
              <a:rPr sz="1800" b="0">
                <a:solidFill>
                  <a:srgbClr val="1B2633"/>
                </a:solidFill>
                <a:latin typeface="Segoe UI"/>
              </a:rPr>
              <a:t> forces a digit, </a:t>
            </a:r>
            <a:r>
              <a:rPr sz="1800" b="0">
                <a:solidFill>
                  <a:srgbClr val="008C8C"/>
                </a:solidFill>
                <a:latin typeface="Consolas"/>
              </a:rPr>
              <a:t>9</a:t>
            </a:r>
            <a:r>
              <a:rPr sz="1800" b="0">
                <a:solidFill>
                  <a:srgbClr val="1B2633"/>
                </a:solidFill>
                <a:latin typeface="Segoe UI"/>
              </a:rPr>
              <a:t> suppresses a leading blank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84255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3984255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4075695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0">
                <a:solidFill>
                  <a:srgbClr val="008C8C"/>
                </a:solidFill>
                <a:latin typeface="Consolas"/>
              </a:rPr>
              <a:t>TO_CHAR</a:t>
            </a:r>
            <a:r>
              <a:rPr sz="1450" b="1">
                <a:solidFill>
                  <a:srgbClr val="6B4A00"/>
                </a:solidFill>
                <a:latin typeface="Segoe UI"/>
              </a:rPr>
              <a:t> has no Indian lakh grouping. Do not fake it with a format string.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NULL handling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6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Function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Returns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Banking use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COALESCE(a, b)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First argument that is not NULL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Show NOT NOMINATED for a blank nominee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NULLIF(a, b)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NULL when equal, else a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Turn a zero divisor into NULL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GREATEST(a, b)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The larger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Charge the higher of a flat fee and a percentage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LEAST(a, b)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The smaller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Cap a cashback at a ceiling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144393"/>
            <a:ext cx="11018520" cy="684222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144393"/>
            <a:ext cx="50292" cy="684222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3281553"/>
            <a:ext cx="10698480" cy="4099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SUM(amount) / NULLIF(COUNT(*), 0) AS avg_safe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account_txn GROUP BY channel;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920055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Without </a:t>
            </a:r>
            <a:r>
              <a:rPr sz="1800" b="0">
                <a:solidFill>
                  <a:srgbClr val="008C8C"/>
                </a:solidFill>
                <a:latin typeface="Consolas"/>
              </a:rPr>
              <a:t>NULLIF</a:t>
            </a:r>
            <a:r>
              <a:rPr sz="1800" b="0">
                <a:solidFill>
                  <a:srgbClr val="1B2633"/>
                </a:solidFill>
                <a:latin typeface="Segoe UI"/>
              </a:rPr>
              <a:t> an empty group raises </a:t>
            </a:r>
            <a:r>
              <a:rPr sz="1800" b="0">
                <a:solidFill>
                  <a:srgbClr val="008C8C"/>
                </a:solidFill>
                <a:latin typeface="Consolas"/>
              </a:rPr>
              <a:t>division by zero</a:t>
            </a:r>
            <a:r>
              <a:rPr sz="1800" b="0">
                <a:solidFill>
                  <a:srgbClr val="1B2633"/>
                </a:solidFill>
                <a:latin typeface="Segoe UI"/>
              </a:rPr>
              <a:t> and the report dies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String functions the bank actually uses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280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9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9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Function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Example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LENGTH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LENGTH('ICIC0000009003')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RIGHT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RIGHT(account_number, 4)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9003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INITCAP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INITCAP('rohan iyer')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Rohan Iyer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TRIM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TRIM('Koramangala ')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Koramangala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REPLACE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REPLACE('2,50,000', ',', '')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250000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SPLIT_PART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SPLIT_PART('NEFT TFR MYNTRA', ' ', 3)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MYNTRA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LPAD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LPAD('42', 6, '0')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000042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197096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4197096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4288536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That trailing space in </a:t>
            </a:r>
            <a:r>
              <a:rPr sz="1450" b="0">
                <a:solidFill>
                  <a:srgbClr val="008C8C"/>
                </a:solidFill>
                <a:latin typeface="Consolas"/>
              </a:rPr>
              <a:t>Koramangala </a:t>
            </a:r>
            <a:r>
              <a:rPr sz="1450" b="1">
                <a:solidFill>
                  <a:srgbClr val="6B4A00"/>
                </a:solidFill>
                <a:latin typeface="Segoe UI"/>
              </a:rPr>
              <a:t> is one of the four spellings you meet in Module 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Masking, and the NULL trap in concatenation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70897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70897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4346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account_number,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'XXXXXXXXXX' || RIGHT(account_number, 4) AS masked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 WHERE account_id = 9003;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account_number |     masked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----------------+----------------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ICIC0000009003 | XXXXXXXXXX9003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98865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Double pipe is the standard operator. SQL Server uses </a:t>
            </a:r>
            <a:r>
              <a:rPr sz="1800" b="0">
                <a:solidFill>
                  <a:srgbClr val="008C8C"/>
                </a:solidFill>
                <a:latin typeface="Consolas"/>
              </a:rPr>
              <a:t>+</a:t>
            </a:r>
            <a:r>
              <a:rPr sz="1800" b="0">
                <a:solidFill>
                  <a:srgbClr val="1B2633"/>
                </a:solidFill>
                <a:latin typeface="Segoe UI"/>
              </a:rPr>
              <a:t>, MySQL wants </a:t>
            </a:r>
            <a:r>
              <a:rPr sz="1800" b="0">
                <a:solidFill>
                  <a:srgbClr val="008C8C"/>
                </a:solidFill>
                <a:latin typeface="Consolas"/>
              </a:rPr>
              <a:t>CONCAT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574353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3574353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665793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The operator returns NULL if any part is NULL. </a:t>
            </a:r>
            <a:r>
              <a:rPr sz="1450" b="0">
                <a:solidFill>
                  <a:srgbClr val="008C8C"/>
                </a:solidFill>
                <a:latin typeface="Consolas"/>
              </a:rPr>
              <a:t>CONCAT</a:t>
            </a:r>
            <a:r>
              <a:rPr sz="1450" b="1">
                <a:solidFill>
                  <a:srgbClr val="6B4A00"/>
                </a:solidFill>
                <a:latin typeface="Segoe UI"/>
              </a:rPr>
              <a:t> treats NULL as empty. This is why letters print blank names.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Numbers, and the paisa that breaks reconciliation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118879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118879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8445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ROUND(balance * interest_rate / 100 / 12, 2) AS monthly_interest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 WHERE account_id = 9003;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-- 341244.80 at 3.50 percent -&gt; 995.30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ROUND(995.297, 2) AS rounded, TRUNC(995.297, 2) AS truncated;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rounded | truncated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---------+-----------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995.30 |    995.29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08767"/>
            <a:ext cx="110642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Interest </a:t>
            </a:r>
            <a:r>
              <a:rPr sz="1800" b="1">
                <a:solidFill>
                  <a:srgbClr val="1B2633"/>
                </a:solidFill>
                <a:latin typeface="Segoe UI"/>
              </a:rPr>
              <a:t>credited</a:t>
            </a:r>
            <a:r>
              <a:rPr sz="1800" b="0">
                <a:solidFill>
                  <a:srgbClr val="1B2633"/>
                </a:solidFill>
                <a:latin typeface="Segoe UI"/>
              </a:rPr>
              <a:t> to a customer is usually rounded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fee </a:t>
            </a:r>
            <a:r>
              <a:rPr sz="1800" b="1">
                <a:solidFill>
                  <a:srgbClr val="1B2633"/>
                </a:solidFill>
                <a:latin typeface="Segoe UI"/>
              </a:rPr>
              <a:t>charged</a:t>
            </a:r>
            <a:r>
              <a:rPr sz="1800" b="0">
                <a:solidFill>
                  <a:srgbClr val="1B2633"/>
                </a:solidFill>
                <a:latin typeface="Segoe UI"/>
              </a:rPr>
              <a:t> to a customer is usually truncated in their favour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368303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4368303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4459743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Which one the product uses is a business decision, not a technical one. Write it down.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20" cy="2456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Function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Returns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CURRENT_DATE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Today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EXTRACT(YEAR FROM d)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One field: year, month, day, hour, dow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DATE_TRUNC('month', ts)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The timestamp flattened to the first of the month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AGE(dob)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Years, months and days since a date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 + 365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 date 365 days later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d1 - d2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Days between two dates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846195"/>
            <a:ext cx="11018520" cy="479271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846195"/>
            <a:ext cx="50292" cy="479271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3983355"/>
            <a:ext cx="10698480" cy="20495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DATE '2026-03-01' + 365 AS matures;   -- 2027-03-01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416906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4416906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4508346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Never compute age as </a:t>
            </a:r>
            <a:r>
              <a:rPr sz="1450" b="0">
                <a:solidFill>
                  <a:srgbClr val="008C8C"/>
                </a:solidFill>
                <a:latin typeface="Consolas"/>
              </a:rPr>
              <a:t>(CURRENT_DATE - dob) / 365</a:t>
            </a:r>
            <a:r>
              <a:rPr sz="1450" b="1">
                <a:solidFill>
                  <a:srgbClr val="6B4A00"/>
                </a:solidFill>
                <a:latin typeface="Segoe UI"/>
              </a:rPr>
              <a:t>. It drifts a day every four years and a customer turns 60 on the wrong date.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CASE - turning values into categories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528781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528781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2544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account_number, balance,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CASE WHEN balance &gt;= 100000 THEN 'PRIORITY'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WHEN balance &gt;=  50000 THEN 'GOLD'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ELSE                        'STANDARD'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END AS segment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 WHERE account_id IN (9003, 9010);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account_number |  balance  |  segment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----------------+-----------+-----------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ICIC0000009003 | 341244.80 | PRIORITY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ICIC0000009010 |  49313.33 |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18669"/>
            <a:ext cx="110642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First match wins, so order from the most restrictive down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No </a:t>
            </a:r>
            <a:r>
              <a:rPr sz="1800" b="0">
                <a:solidFill>
                  <a:srgbClr val="008C8C"/>
                </a:solidFill>
                <a:latin typeface="Consolas"/>
              </a:rPr>
              <a:t>ELSE</a:t>
            </a:r>
            <a:r>
              <a:rPr sz="1800" b="0">
                <a:solidFill>
                  <a:srgbClr val="1B2633"/>
                </a:solidFill>
                <a:latin typeface="Segoe UI"/>
              </a:rPr>
              <a:t> means an unmatched row returns </a:t>
            </a:r>
            <a:r>
              <a:rPr sz="1800" b="1">
                <a:solidFill>
                  <a:srgbClr val="1B2633"/>
                </a:solidFill>
                <a:latin typeface="Segoe UI"/>
              </a:rPr>
              <a:t>NULL</a:t>
            </a:r>
            <a:r>
              <a:rPr sz="1800" b="0">
                <a:solidFill>
                  <a:srgbClr val="1B2633"/>
                </a:solidFill>
                <a:latin typeface="Segoe UI"/>
              </a:rPr>
              <a:t>, not an error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same job in three dialects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2456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3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7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Job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PostgreSQL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Oracle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SQL Server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First non-null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COALESCE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NVL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ISNULL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Part of a string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SUBSTRING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SUBSTR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SUBSTRING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Today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CURRENT_DATE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SYSDATE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GETDATE()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Text to number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CAST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TO_NUMBER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TRY_CAST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Add days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Add an integer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Add an integer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DATEADD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Days between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Subtract the dates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Subtract the dates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DATEDIFF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846195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846195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937635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0">
                <a:solidFill>
                  <a:srgbClr val="008C8C"/>
                </a:solidFill>
                <a:latin typeface="Consolas"/>
              </a:rPr>
              <a:t>COALESCE</a:t>
            </a:r>
            <a:r>
              <a:rPr sz="1450" b="1">
                <a:solidFill>
                  <a:srgbClr val="6B4A00"/>
                </a:solidFill>
                <a:latin typeface="Segoe UI"/>
              </a:rPr>
              <a:t> and </a:t>
            </a:r>
            <a:r>
              <a:rPr sz="1450" b="0">
                <a:solidFill>
                  <a:srgbClr val="008C8C"/>
                </a:solidFill>
                <a:latin typeface="Consolas"/>
              </a:rPr>
              <a:t>CAST</a:t>
            </a:r>
            <a:r>
              <a:rPr sz="1450" b="1">
                <a:solidFill>
                  <a:srgbClr val="6B4A00"/>
                </a:solidFill>
                <a:latin typeface="Segoe UI"/>
              </a:rPr>
              <a:t> are in the standard. </a:t>
            </a:r>
            <a:r>
              <a:rPr sz="1450" b="0">
                <a:solidFill>
                  <a:srgbClr val="008C8C"/>
                </a:solidFill>
                <a:latin typeface="Consolas"/>
              </a:rPr>
              <a:t>NVL</a:t>
            </a:r>
            <a:r>
              <a:rPr sz="1450" b="1">
                <a:solidFill>
                  <a:srgbClr val="6B4A00"/>
                </a:solidFill>
                <a:latin typeface="Segoe UI"/>
              </a:rPr>
              <a:t>, </a:t>
            </a:r>
            <a:r>
              <a:rPr sz="1450" b="0">
                <a:solidFill>
                  <a:srgbClr val="008C8C"/>
                </a:solidFill>
                <a:latin typeface="Consolas"/>
              </a:rPr>
              <a:t>ISNULL</a:t>
            </a:r>
            <a:r>
              <a:rPr sz="1450" b="1">
                <a:solidFill>
                  <a:srgbClr val="6B4A00"/>
                </a:solidFill>
                <a:latin typeface="Segoe UI"/>
              </a:rPr>
              <a:t> and </a:t>
            </a:r>
            <a:r>
              <a:rPr sz="1450" b="0">
                <a:solidFill>
                  <a:srgbClr val="008C8C"/>
                </a:solidFill>
                <a:latin typeface="Consolas"/>
              </a:rPr>
              <a:t>SUBSTR</a:t>
            </a:r>
            <a:r>
              <a:rPr sz="1450" b="1">
                <a:solidFill>
                  <a:srgbClr val="6B4A00"/>
                </a:solidFill>
                <a:latin typeface="Segoe UI"/>
              </a:rPr>
              <a:t> are not.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7 - Putting it together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call centre's "maturing this week"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93868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93868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6643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  fd.receipt_number,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c.first_name || ' ' || c.last_name          AS customer_name,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c.phone,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fd.principal_amount,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fd.maturity_date,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fd.auto_renew,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COALESCE(fd.nominee_name, 'NOT NOMINATED')  AS nominee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  fixed_deposit fd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JOIN customer c ON c.customer_id = fd.customer_id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  fd.status = 'ACTIVE'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AND    fd.maturity_date &gt;= CURRENT_DATE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AND    fd.maturity_date &lt;  CURRENT_DATE + 7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  BY fd.maturity_date, fd.principal_amount DESC;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28571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Ticket ICICI-4482 is now complete: table, rules, data and the report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3127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DDL</a:t>
            </a:r>
            <a:r>
              <a:rPr sz="1800" b="0">
                <a:solidFill>
                  <a:srgbClr val="1B2633"/>
                </a:solidFill>
                <a:latin typeface="Segoe UI"/>
              </a:rPr>
              <a:t> defines structure, </a:t>
            </a:r>
            <a:r>
              <a:rPr sz="1800" b="1">
                <a:solidFill>
                  <a:srgbClr val="1B2633"/>
                </a:solidFill>
                <a:latin typeface="Segoe UI"/>
              </a:rPr>
              <a:t>DML</a:t>
            </a:r>
            <a:r>
              <a:rPr sz="1800" b="0">
                <a:solidFill>
                  <a:srgbClr val="1B2633"/>
                </a:solidFill>
                <a:latin typeface="Segoe UI"/>
              </a:rPr>
              <a:t> works with data, and on some engines DDL commits your transaction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NUMERIC(15,2)</a:t>
            </a:r>
            <a:r>
              <a:rPr sz="1800" b="0">
                <a:solidFill>
                  <a:srgbClr val="1B2633"/>
                </a:solidFill>
                <a:latin typeface="Segoe UI"/>
              </a:rPr>
              <a:t> for money, always. </a:t>
            </a:r>
            <a:r>
              <a:rPr sz="1800" b="0">
                <a:solidFill>
                  <a:srgbClr val="008C8C"/>
                </a:solidFill>
                <a:latin typeface="Consolas"/>
              </a:rPr>
              <a:t>FLOAT</a:t>
            </a:r>
            <a:r>
              <a:rPr sz="1800" b="0">
                <a:solidFill>
                  <a:srgbClr val="1B2633"/>
                </a:solidFill>
                <a:latin typeface="Segoe UI"/>
              </a:rPr>
              <a:t> loses rupees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Six constraints: </a:t>
            </a:r>
            <a:r>
              <a:rPr sz="1800" b="0">
                <a:solidFill>
                  <a:srgbClr val="008C8C"/>
                </a:solidFill>
                <a:latin typeface="Consolas"/>
              </a:rPr>
              <a:t>NOT NULL</a:t>
            </a:r>
            <a:r>
              <a:rPr sz="1800" b="0">
                <a:solidFill>
                  <a:srgbClr val="1B2633"/>
                </a:solidFill>
                <a:latin typeface="Segoe UI"/>
              </a:rPr>
              <a:t>, </a:t>
            </a:r>
            <a:r>
              <a:rPr sz="1800" b="0">
                <a:solidFill>
                  <a:srgbClr val="008C8C"/>
                </a:solidFill>
                <a:latin typeface="Consolas"/>
              </a:rPr>
              <a:t>UNIQUE</a:t>
            </a:r>
            <a:r>
              <a:rPr sz="1800" b="0">
                <a:solidFill>
                  <a:srgbClr val="1B2633"/>
                </a:solidFill>
                <a:latin typeface="Segoe UI"/>
              </a:rPr>
              <a:t>, </a:t>
            </a:r>
            <a:r>
              <a:rPr sz="1800" b="0">
                <a:solidFill>
                  <a:srgbClr val="008C8C"/>
                </a:solidFill>
                <a:latin typeface="Consolas"/>
              </a:rPr>
              <a:t>PRIMARY KEY</a:t>
            </a:r>
            <a:r>
              <a:rPr sz="1800" b="0">
                <a:solidFill>
                  <a:srgbClr val="1B2633"/>
                </a:solidFill>
                <a:latin typeface="Segoe UI"/>
              </a:rPr>
              <a:t>, </a:t>
            </a:r>
            <a:r>
              <a:rPr sz="1800" b="0">
                <a:solidFill>
                  <a:srgbClr val="008C8C"/>
                </a:solidFill>
                <a:latin typeface="Consolas"/>
              </a:rPr>
              <a:t>FOREIGN KEY</a:t>
            </a:r>
            <a:r>
              <a:rPr sz="1800" b="0">
                <a:solidFill>
                  <a:srgbClr val="1B2633"/>
                </a:solidFill>
                <a:latin typeface="Segoe UI"/>
              </a:rPr>
              <a:t>, </a:t>
            </a:r>
            <a:r>
              <a:rPr sz="1800" b="0">
                <a:solidFill>
                  <a:srgbClr val="008C8C"/>
                </a:solidFill>
                <a:latin typeface="Consolas"/>
              </a:rPr>
              <a:t>CHECK</a:t>
            </a:r>
            <a:r>
              <a:rPr sz="1800" b="0">
                <a:solidFill>
                  <a:srgbClr val="1B2633"/>
                </a:solidFill>
                <a:latin typeface="Segoe UI"/>
              </a:rPr>
              <a:t>, </a:t>
            </a:r>
            <a:r>
              <a:rPr sz="1800" b="0">
                <a:solidFill>
                  <a:srgbClr val="008C8C"/>
                </a:solidFill>
                <a:latin typeface="Consolas"/>
              </a:rPr>
              <a:t>DEFAULT</a:t>
            </a:r>
            <a:r>
              <a:rPr sz="1800" b="0">
                <a:solidFill>
                  <a:srgbClr val="1B2633"/>
                </a:solidFill>
                <a:latin typeface="Segoe UI"/>
              </a:rPr>
              <a:t> - and always name them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DELETE</a:t>
            </a:r>
            <a:r>
              <a:rPr sz="1800" b="0">
                <a:solidFill>
                  <a:srgbClr val="1B2633"/>
                </a:solidFill>
                <a:latin typeface="Segoe UI"/>
              </a:rPr>
              <a:t> removes rows, </a:t>
            </a:r>
            <a:r>
              <a:rPr sz="1800" b="0">
                <a:solidFill>
                  <a:srgbClr val="008C8C"/>
                </a:solidFill>
                <a:latin typeface="Consolas"/>
              </a:rPr>
              <a:t>TRUNCATE</a:t>
            </a:r>
            <a:r>
              <a:rPr sz="1800" b="0">
                <a:solidFill>
                  <a:srgbClr val="1B2633"/>
                </a:solidFill>
                <a:latin typeface="Segoe UI"/>
              </a:rPr>
              <a:t> empties the table, </a:t>
            </a:r>
            <a:r>
              <a:rPr sz="1800" b="0">
                <a:solidFill>
                  <a:srgbClr val="008C8C"/>
                </a:solidFill>
                <a:latin typeface="Consolas"/>
              </a:rPr>
              <a:t>DROP</a:t>
            </a:r>
            <a:r>
              <a:rPr sz="1800" b="0">
                <a:solidFill>
                  <a:srgbClr val="1B2633"/>
                </a:solidFill>
                <a:latin typeface="Segoe UI"/>
              </a:rPr>
              <a:t> removes the table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SELECT</a:t>
            </a:r>
            <a:r>
              <a:rPr sz="1800" b="0">
                <a:solidFill>
                  <a:srgbClr val="1B2633"/>
                </a:solidFill>
                <a:latin typeface="Segoe UI"/>
              </a:rPr>
              <a:t> before you </a:t>
            </a:r>
            <a:r>
              <a:rPr sz="1800" b="0">
                <a:solidFill>
                  <a:srgbClr val="008C8C"/>
                </a:solidFill>
                <a:latin typeface="Consolas"/>
              </a:rPr>
              <a:t>UPDATE</a:t>
            </a:r>
            <a:r>
              <a:rPr sz="1800" b="0">
                <a:solidFill>
                  <a:srgbClr val="1B2633"/>
                </a:solidFill>
                <a:latin typeface="Segoe UI"/>
              </a:rPr>
              <a:t> or </a:t>
            </a:r>
            <a:r>
              <a:rPr sz="1800" b="0">
                <a:solidFill>
                  <a:srgbClr val="008C8C"/>
                </a:solidFill>
                <a:latin typeface="Consolas"/>
              </a:rPr>
              <a:t>DELETE</a:t>
            </a:r>
            <a:r>
              <a:rPr sz="1800" b="0">
                <a:solidFill>
                  <a:srgbClr val="1B2633"/>
                </a:solidFill>
                <a:latin typeface="Segoe UI"/>
              </a:rPr>
              <a:t>, with the same </a:t>
            </a:r>
            <a:r>
              <a:rPr sz="1800" b="0">
                <a:solidFill>
                  <a:srgbClr val="008C8C"/>
                </a:solidFill>
                <a:latin typeface="Consolas"/>
              </a:rPr>
              <a:t>WHERE</a:t>
            </a:r>
            <a:r>
              <a:rPr sz="1800" b="0">
                <a:solidFill>
                  <a:srgbClr val="1B2633"/>
                </a:solidFill>
                <a:latin typeface="Segoe UI"/>
              </a:rPr>
              <a:t> clause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NULL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unknown: use </a:t>
            </a:r>
            <a:r>
              <a:rPr sz="1800" b="0">
                <a:solidFill>
                  <a:srgbClr val="008C8C"/>
                </a:solidFill>
                <a:latin typeface="Consolas"/>
              </a:rPr>
              <a:t>IS NULL</a:t>
            </a:r>
            <a:r>
              <a:rPr sz="1800" b="0">
                <a:solidFill>
                  <a:srgbClr val="1B2633"/>
                </a:solidFill>
                <a:latin typeface="Segoe UI"/>
              </a:rPr>
              <a:t>, bracket your </a:t>
            </a:r>
            <a:r>
              <a:rPr sz="1800" b="0">
                <a:solidFill>
                  <a:srgbClr val="008C8C"/>
                </a:solidFill>
                <a:latin typeface="Consolas"/>
              </a:rPr>
              <a:t>AND</a:t>
            </a:r>
            <a:r>
              <a:rPr sz="1800" b="0">
                <a:solidFill>
                  <a:srgbClr val="1B2633"/>
                </a:solidFill>
                <a:latin typeface="Segoe UI"/>
              </a:rPr>
              <a:t>/</a:t>
            </a:r>
            <a:r>
              <a:rPr sz="1800" b="0">
                <a:solidFill>
                  <a:srgbClr val="008C8C"/>
                </a:solidFill>
                <a:latin typeface="Consolas"/>
              </a:rPr>
              <a:t>OR</a:t>
            </a:r>
            <a:r>
              <a:rPr sz="1800" b="0">
                <a:solidFill>
                  <a:srgbClr val="1B2633"/>
                </a:solidFill>
                <a:latin typeface="Segoe UI"/>
              </a:rPr>
              <a:t>, and never trust </a:t>
            </a:r>
            <a:r>
              <a:rPr sz="1800" b="0">
                <a:solidFill>
                  <a:srgbClr val="008C8C"/>
                </a:solidFill>
                <a:latin typeface="Consolas"/>
              </a:rPr>
              <a:t>BETWEEN</a:t>
            </a:r>
            <a:r>
              <a:rPr sz="1800" b="0">
                <a:solidFill>
                  <a:srgbClr val="1B2633"/>
                </a:solidFill>
                <a:latin typeface="Segoe UI"/>
              </a:rPr>
              <a:t> on a timestamp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2 - SQL Fundamentals (DDL &amp; DML)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Next - Module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Today every query read </a:t>
            </a:r>
            <a:r>
              <a:rPr sz="1800" b="1">
                <a:solidFill>
                  <a:srgbClr val="1B2633"/>
                </a:solidFill>
                <a:latin typeface="Segoe UI"/>
              </a:rPr>
              <a:t>one</a:t>
            </a:r>
            <a:r>
              <a:rPr sz="1800" b="0">
                <a:solidFill>
                  <a:srgbClr val="1B2633"/>
                </a:solidFill>
                <a:latin typeface="Segoe UI"/>
              </a:rPr>
              <a:t> table. Real banking questions span several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Module 3 brings </a:t>
            </a:r>
            <a:r>
              <a:rPr sz="1800" b="0">
                <a:solidFill>
                  <a:srgbClr val="008C8C"/>
                </a:solidFill>
                <a:latin typeface="Consolas"/>
              </a:rPr>
              <a:t>JOIN</a:t>
            </a:r>
            <a:r>
              <a:rPr sz="1800" b="0">
                <a:solidFill>
                  <a:srgbClr val="1B2633"/>
                </a:solidFill>
                <a:latin typeface="Segoe UI"/>
              </a:rPr>
              <a:t>, so you can answer "which customers at which branches transacted how much"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You will also meet </a:t>
            </a:r>
            <a:r>
              <a:rPr sz="1800" b="0">
                <a:solidFill>
                  <a:srgbClr val="008C8C"/>
                </a:solidFill>
                <a:latin typeface="Consolas"/>
              </a:rPr>
              <a:t>GROUP BY</a:t>
            </a:r>
            <a:r>
              <a:rPr sz="1800" b="0">
                <a:solidFill>
                  <a:srgbClr val="1B2633"/>
                </a:solidFill>
                <a:latin typeface="Segoe UI"/>
              </a:rPr>
              <a:t>, aggregate functions and subqueries, and build the branch performance report the operations head has been asking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090672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090672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182112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Keep your </a:t>
            </a:r>
            <a:r>
              <a:rPr sz="1450" b="0">
                <a:solidFill>
                  <a:srgbClr val="008C8C"/>
                </a:solidFill>
                <a:latin typeface="Consolas"/>
              </a:rPr>
              <a:t>fixed_deposit</a:t>
            </a:r>
            <a:r>
              <a:rPr sz="1450" b="1">
                <a:solidFill>
                  <a:srgbClr val="6B4A00"/>
                </a:solidFill>
                <a:latin typeface="Segoe UI"/>
              </a:rPr>
              <a:t> table. Module 3 joins it to </a:t>
            </a:r>
            <a:r>
              <a:rPr sz="1450" b="0">
                <a:solidFill>
                  <a:srgbClr val="008C8C"/>
                </a:solidFill>
                <a:latin typeface="Consolas"/>
              </a:rPr>
              <a:t>customer</a:t>
            </a:r>
            <a:r>
              <a:rPr sz="1450" b="1">
                <a:solidFill>
                  <a:srgbClr val="6B4A00"/>
                </a:solidFill>
                <a:latin typeface="Segoe UI"/>
              </a:rPr>
              <a:t>, </a:t>
            </a:r>
            <a:r>
              <a:rPr sz="1450" b="0">
                <a:solidFill>
                  <a:srgbClr val="008C8C"/>
                </a:solidFill>
                <a:latin typeface="Consolas"/>
              </a:rPr>
              <a:t>branch</a:t>
            </a:r>
            <a:r>
              <a:rPr sz="1450" b="1">
                <a:solidFill>
                  <a:srgbClr val="6B4A00"/>
                </a:solidFill>
                <a:latin typeface="Segoe UI"/>
              </a:rPr>
              <a:t> and </a:t>
            </a:r>
            <a:r>
              <a:rPr sz="1450" b="0">
                <a:solidFill>
                  <a:srgbClr val="008C8C"/>
                </a:solidFill>
                <a:latin typeface="Consolas"/>
              </a:rPr>
              <a:t>account_txn</a:t>
            </a:r>
            <a:r>
              <a:rPr sz="1450" b="1">
                <a:solidFill>
                  <a:srgbClr val="6B4A0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6438</Words>
  <Application>Microsoft Office PowerPoint</Application>
  <PresentationFormat>Widescreen</PresentationFormat>
  <Paragraphs>886</Paragraphs>
  <Slides>58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Subramanian Murugan</cp:lastModifiedBy>
  <cp:revision>3</cp:revision>
  <dcterms:created xsi:type="dcterms:W3CDTF">2013-01-27T09:14:16Z</dcterms:created>
  <dcterms:modified xsi:type="dcterms:W3CDTF">2026-09-17T06:44:30Z</dcterms:modified>
  <cp:category/>
</cp:coreProperties>
</file>