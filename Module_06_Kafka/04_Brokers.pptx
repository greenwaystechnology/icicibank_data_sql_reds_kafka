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of the Kafka 101 series: brokers. So far the course has been about ideas - events, topics and partitions. This module is about the computers underneath that store and serve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 to now we have talked about events, topics and partitions without saying which computers actually do the work. From the infrastructure point of view, Kafka is a network of machines called brokers, and each broker is simply a machine running the Kafka server process. Brokers working together make up a Kafka cluster.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a broker, concretely? A Java process - Kafka is written in Java and Scala and runs on the JVM. Download the Apache Kafka tarball, unpack it, and there is a script that starts the process; in KRaft mode you format the storage directory once first. Or use the official apache/kafka Docker image, and put several in a Docker Compose file on a shared network so they can all see each other - that group is a set of Kafka brokers. The compose lines on the slide are shortened: each broker also needs a node id, listeners and the controller quorum settings, as in the lab kit.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Brokers can be physical servers with blinking lights in your own racks, instances in the cloud, containers, even Raspberry Pi compute modules - you have options. What has traditionally mattered is that a broker has local storage, tightly coupled to the processor and usually SSDs, because the partition logs are files on that disk: one directory per partition, named topic-partition, holding segment files named after their first offset. Trainer note: the lesson says 'historically' because tiered storage (KIP-405, production-ready in Kafka 3.9) lets brokers keep recent segments locally and move older ones to object storage.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word on scope: this course is about Apache Kafka, the open-source project. Even if you never run Kafka yourself and go straight to a fully managed service such as Confluent Cloud, the basic abstractions, tools and terms are worth knowing. In a modern cloud-native, serverless service you will almost never think about brokers - they work behind the curtain, and you think about topics, messages, connectors and the things that matter to you. Brokers matter when you are getting started, running locally, or operating Apache Kafka yourself - and they give you a way to think about how the system works.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brokers together and they form a Kafka cluster - here, three of them. Each broker hosts partitions. The thermostat_readings topic from the last module has three partitions, and they are spread over the three brokers, one each. That is how Kafka scales: a topic's partitions, and the work that comes with them, are shared out across the brokers of the cluster. Trainer note: Kafka places the partitions when the topic is created; they can be moved later with a partition reassignment.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a cluster never has just one topic. Here is another, in a different colour: hot_locations, the filtered topic from the Topics module. It has only two partitions, so only two of the brokers host it. Topics can have different numbers of partitions, depending on how much scale you expect each one to need - and so each broker ends up holding a mix of partitions from many topics.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a broker actually do? It handles requests from the client applications outside the cluster: requests to write new messages to partitions, and requests to read messages out of them. The brokers broker those requests, if you like - they do the actual I/O on the partition logs. They are also responsible for replication, which is the next module. Trainer note: in the Kafka protocol these are Produce and Fetch requests, and clients send them straight to the broker hosting the partition - there is no central gateway in between.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have seen an older version of this course, or read older docs, you may have met Apache ZooKeeper - a separate project that ran beside the brokers and maintained a consistent view of the cluster's metadata. You do not need it any more. As of Apache Kafka 4.0, ZooKeeper is not included, and there is no option to use it. Trainer note: the move took several releases - KRaft arrived as early access in 2.8, was ready for production in 3.3, ZooKeeper mode was deprecated in 3.5 and removed in 4.0 (March 2025). An existing ZooKeeper-based cluster has to migrate to KRaft on a 3.x release - 3.9 is the last one with ZooKeeper - before it can upgrade to 4.0.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consistent metadata database that ZooKeeper used to provide is now provided by Kafka itself, using its own implementation of the Raft consensus protocol - named, creatively, KRaft. The metadata - which topics exist, their partitions and where each one lives, configuration, which brokers are alive - is kept in a replicated log. On click one, a change is appended at the leader; on click two, it is copied to the others, so every node shares the same consistent view. Trainer note: the nodes that take part in the Raft quorum have the controller role. In our lab kit one node is both broker and controller (combined mode); production clusters usually run three (or five) dedicated controllers beside the brokers.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points to leave with. Quick check: ask where a partition's data physically lives (as files on a broker's local disk), and what replaced ZooKeeper (KRaft, built into Kafka - the only option since 4.0).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edge1"/>
          <p:cNvSpPr/>
          <p:nvPr/>
        </p:nvSpPr>
        <p:spPr>
          <a:xfrm>
            <a:off x="0" y="0"/>
            <a:ext cx="128016" cy="51435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a0f_kick2"/>
          <p:cNvSpPr txBox="1"/>
          <p:nvPr/>
        </p:nvSpPr>
        <p:spPr>
          <a:xfrm>
            <a:off x="548640" y="868680"/>
            <a:ext cx="4937760" cy="292608"/>
          </a:xfrm>
          <a:prstGeom prst="rect">
            <a:avLst/>
          </a:prstGeom>
          <a:noFill/>
        </p:spPr>
        <p:txBody>
          <a:bodyPr wrap="square" lIns="0" tIns="0" rIns="0" bIns="0" anchor="ctr">
            <a:spAutoFit/>
          </a:bodyPr>
          <a:lstStyle/>
          <a:p>
            <a:pPr algn="l"/>
            <a:r>
              <a:rPr sz="1050" b="1" spc="300">
                <a:solidFill>
                  <a:srgbClr val="FB923C"/>
                </a:solidFill>
                <a:latin typeface="Segoe UI"/>
              </a:rPr>
              <a:t>APACHE KAFKA 101</a:t>
            </a:r>
          </a:p>
        </p:txBody>
      </p:sp>
      <p:sp>
        <p:nvSpPr>
          <p:cNvPr id="4" name="a0ud200_t3"/>
          <p:cNvSpPr txBox="1"/>
          <p:nvPr/>
        </p:nvSpPr>
        <p:spPr>
          <a:xfrm>
            <a:off x="548640" y="1188720"/>
            <a:ext cx="5212080" cy="1417320"/>
          </a:xfrm>
          <a:prstGeom prst="rect">
            <a:avLst/>
          </a:prstGeom>
          <a:noFill/>
        </p:spPr>
        <p:txBody>
          <a:bodyPr wrap="square" lIns="0" tIns="0" rIns="0" bIns="0" anchor="ctr">
            <a:spAutoFit/>
          </a:bodyPr>
          <a:lstStyle/>
          <a:p>
            <a:pPr algn="l"/>
            <a:r>
              <a:rPr sz="4200" b="0">
                <a:solidFill>
                  <a:srgbClr val="FFFFFF"/>
                </a:solidFill>
                <a:latin typeface="Bahnschrift SemiBold"/>
              </a:rPr>
              <a:t>Apache Kafka 101</a:t>
            </a:r>
          </a:p>
        </p:txBody>
      </p:sp>
      <p:sp>
        <p:nvSpPr>
          <p:cNvPr id="5" name="a0fd500_sub4"/>
          <p:cNvSpPr txBox="1"/>
          <p:nvPr/>
        </p:nvSpPr>
        <p:spPr>
          <a:xfrm>
            <a:off x="548640" y="2670048"/>
            <a:ext cx="5029200" cy="457200"/>
          </a:xfrm>
          <a:prstGeom prst="rect">
            <a:avLst/>
          </a:prstGeom>
          <a:noFill/>
        </p:spPr>
        <p:txBody>
          <a:bodyPr wrap="square" lIns="0" tIns="0" rIns="0" bIns="0" anchor="ctr">
            <a:spAutoFit/>
          </a:bodyPr>
          <a:lstStyle/>
          <a:p>
            <a:pPr algn="l"/>
            <a:r>
              <a:rPr sz="1450" b="0">
                <a:solidFill>
                  <a:srgbClr val="D6D3D1"/>
                </a:solidFill>
                <a:latin typeface="Segoe UI"/>
              </a:rPr>
              <a:t>Brokers</a:t>
            </a:r>
          </a:p>
          <a:p>
            <a:pPr algn="l"/>
            <a:r>
              <a:rPr sz="1450" b="0">
                <a:solidFill>
                  <a:srgbClr val="D6D3D1"/>
                </a:solidFill>
                <a:latin typeface="Segoe UI"/>
              </a:rPr>
              <a:t>the machines that make up a Kafka cluster</a:t>
            </a:r>
          </a:p>
        </p:txBody>
      </p:sp>
      <p:sp>
        <p:nvSpPr>
          <p:cNvPr id="6" name="a0ud800_pill5"/>
          <p:cNvSpPr/>
          <p:nvPr/>
        </p:nvSpPr>
        <p:spPr>
          <a:xfrm>
            <a:off x="548640"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SERVERS</a:t>
            </a:r>
          </a:p>
        </p:txBody>
      </p:sp>
      <p:sp>
        <p:nvSpPr>
          <p:cNvPr id="7" name="a0ud950_pill6"/>
          <p:cNvSpPr/>
          <p:nvPr/>
        </p:nvSpPr>
        <p:spPr>
          <a:xfrm>
            <a:off x="1572768"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CLUSTER</a:t>
            </a:r>
          </a:p>
        </p:txBody>
      </p:sp>
      <p:sp>
        <p:nvSpPr>
          <p:cNvPr id="8" name="a0ud1100_pill7"/>
          <p:cNvSpPr/>
          <p:nvPr/>
        </p:nvSpPr>
        <p:spPr>
          <a:xfrm>
            <a:off x="2596896"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I/O</a:t>
            </a:r>
          </a:p>
        </p:txBody>
      </p:sp>
      <p:sp>
        <p:nvSpPr>
          <p:cNvPr id="9" name="a0ud1250_pill8"/>
          <p:cNvSpPr/>
          <p:nvPr/>
        </p:nvSpPr>
        <p:spPr>
          <a:xfrm>
            <a:off x="3621024"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KRAFT</a:t>
            </a:r>
          </a:p>
        </p:txBody>
      </p:sp>
      <p:sp>
        <p:nvSpPr>
          <p:cNvPr id="10" name="a0fd1400_nt9"/>
          <p:cNvSpPr txBox="1"/>
          <p:nvPr/>
        </p:nvSpPr>
        <p:spPr>
          <a:xfrm>
            <a:off x="548640" y="3950208"/>
            <a:ext cx="4937760" cy="457200"/>
          </a:xfrm>
          <a:prstGeom prst="rect">
            <a:avLst/>
          </a:prstGeom>
          <a:noFill/>
        </p:spPr>
        <p:txBody>
          <a:bodyPr wrap="square" lIns="0" tIns="0" rIns="0" bIns="0" anchor="ctr">
            <a:spAutoFit/>
          </a:bodyPr>
          <a:lstStyle/>
          <a:p>
            <a:pPr algn="l"/>
            <a:r>
              <a:rPr sz="1050" b="0">
                <a:solidFill>
                  <a:srgbClr val="A8A29E"/>
                </a:solidFill>
                <a:latin typeface="Segoe UI"/>
              </a:rPr>
              <a:t>Module 4  ·  Following the Kafka 101 Brokers lesson by Tim Berglund, Confluent</a:t>
            </a:r>
          </a:p>
        </p:txBody>
      </p:sp>
      <p:sp>
        <p:nvSpPr>
          <p:cNvPr id="11" name="a0fd1600_lc10"/>
          <p:cNvSpPr/>
          <p:nvPr/>
        </p:nvSpPr>
        <p:spPr>
          <a:xfrm>
            <a:off x="54864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d1600_lct11"/>
          <p:cNvSpPr txBox="1"/>
          <p:nvPr/>
        </p:nvSpPr>
        <p:spPr>
          <a:xfrm>
            <a:off x="54864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0</a:t>
            </a:r>
          </a:p>
        </p:txBody>
      </p:sp>
      <p:sp>
        <p:nvSpPr>
          <p:cNvPr id="13" name="a0fd1645_lc12"/>
          <p:cNvSpPr/>
          <p:nvPr/>
        </p:nvSpPr>
        <p:spPr>
          <a:xfrm>
            <a:off x="98755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fd1645_lct13"/>
          <p:cNvSpPr txBox="1"/>
          <p:nvPr/>
        </p:nvSpPr>
        <p:spPr>
          <a:xfrm>
            <a:off x="98755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a:t>
            </a:r>
          </a:p>
        </p:txBody>
      </p:sp>
      <p:sp>
        <p:nvSpPr>
          <p:cNvPr id="15" name="a0fd1690_lc14"/>
          <p:cNvSpPr/>
          <p:nvPr/>
        </p:nvSpPr>
        <p:spPr>
          <a:xfrm>
            <a:off x="142646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fd1690_lct15"/>
          <p:cNvSpPr txBox="1"/>
          <p:nvPr/>
        </p:nvSpPr>
        <p:spPr>
          <a:xfrm>
            <a:off x="142646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2</a:t>
            </a:r>
          </a:p>
        </p:txBody>
      </p:sp>
      <p:sp>
        <p:nvSpPr>
          <p:cNvPr id="17" name="a0fd1735_lc16"/>
          <p:cNvSpPr/>
          <p:nvPr/>
        </p:nvSpPr>
        <p:spPr>
          <a:xfrm>
            <a:off x="1865376"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0fd1735_lct17"/>
          <p:cNvSpPr txBox="1"/>
          <p:nvPr/>
        </p:nvSpPr>
        <p:spPr>
          <a:xfrm>
            <a:off x="1865376"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3</a:t>
            </a:r>
          </a:p>
        </p:txBody>
      </p:sp>
      <p:sp>
        <p:nvSpPr>
          <p:cNvPr id="19" name="a0fd1780_lc18"/>
          <p:cNvSpPr/>
          <p:nvPr/>
        </p:nvSpPr>
        <p:spPr>
          <a:xfrm>
            <a:off x="230428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fd1780_lct19"/>
          <p:cNvSpPr txBox="1"/>
          <p:nvPr/>
        </p:nvSpPr>
        <p:spPr>
          <a:xfrm>
            <a:off x="230428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4</a:t>
            </a:r>
          </a:p>
        </p:txBody>
      </p:sp>
      <p:sp>
        <p:nvSpPr>
          <p:cNvPr id="21" name="a0fd1825_lc20"/>
          <p:cNvSpPr/>
          <p:nvPr/>
        </p:nvSpPr>
        <p:spPr>
          <a:xfrm>
            <a:off x="274320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0fd1825_lct21"/>
          <p:cNvSpPr txBox="1"/>
          <p:nvPr/>
        </p:nvSpPr>
        <p:spPr>
          <a:xfrm>
            <a:off x="274320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5</a:t>
            </a:r>
          </a:p>
        </p:txBody>
      </p:sp>
      <p:sp>
        <p:nvSpPr>
          <p:cNvPr id="23" name="a0fd1870_lc22"/>
          <p:cNvSpPr/>
          <p:nvPr/>
        </p:nvSpPr>
        <p:spPr>
          <a:xfrm>
            <a:off x="318211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fd1870_lct23"/>
          <p:cNvSpPr txBox="1"/>
          <p:nvPr/>
        </p:nvSpPr>
        <p:spPr>
          <a:xfrm>
            <a:off x="318211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6</a:t>
            </a:r>
          </a:p>
        </p:txBody>
      </p:sp>
      <p:sp>
        <p:nvSpPr>
          <p:cNvPr id="25" name="a0fd1915_lc24"/>
          <p:cNvSpPr/>
          <p:nvPr/>
        </p:nvSpPr>
        <p:spPr>
          <a:xfrm>
            <a:off x="362102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0fd1915_lct25"/>
          <p:cNvSpPr txBox="1"/>
          <p:nvPr/>
        </p:nvSpPr>
        <p:spPr>
          <a:xfrm>
            <a:off x="362102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7</a:t>
            </a:r>
          </a:p>
        </p:txBody>
      </p:sp>
      <p:sp>
        <p:nvSpPr>
          <p:cNvPr id="27" name="a0fd1960_lc26"/>
          <p:cNvSpPr/>
          <p:nvPr/>
        </p:nvSpPr>
        <p:spPr>
          <a:xfrm>
            <a:off x="4059935"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0fd1960_lct27"/>
          <p:cNvSpPr txBox="1"/>
          <p:nvPr/>
        </p:nvSpPr>
        <p:spPr>
          <a:xfrm>
            <a:off x="4059935"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8</a:t>
            </a:r>
          </a:p>
        </p:txBody>
      </p:sp>
      <p:sp>
        <p:nvSpPr>
          <p:cNvPr id="29" name="a0fd2005_lc28"/>
          <p:cNvSpPr/>
          <p:nvPr/>
        </p:nvSpPr>
        <p:spPr>
          <a:xfrm>
            <a:off x="449884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0fd2005_lct29"/>
          <p:cNvSpPr txBox="1"/>
          <p:nvPr/>
        </p:nvSpPr>
        <p:spPr>
          <a:xfrm>
            <a:off x="449884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9</a:t>
            </a:r>
          </a:p>
        </p:txBody>
      </p:sp>
      <p:sp>
        <p:nvSpPr>
          <p:cNvPr id="31" name="a0fd2050_lc30"/>
          <p:cNvSpPr/>
          <p:nvPr/>
        </p:nvSpPr>
        <p:spPr>
          <a:xfrm>
            <a:off x="4937759"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0fd2050_lct31"/>
          <p:cNvSpPr txBox="1"/>
          <p:nvPr/>
        </p:nvSpPr>
        <p:spPr>
          <a:xfrm>
            <a:off x="4937759"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10</a:t>
            </a:r>
          </a:p>
        </p:txBody>
      </p:sp>
      <p:sp>
        <p:nvSpPr>
          <p:cNvPr id="33" name="a0fd2095_lc32"/>
          <p:cNvSpPr/>
          <p:nvPr/>
        </p:nvSpPr>
        <p:spPr>
          <a:xfrm>
            <a:off x="5376671"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0fd2095_lct33"/>
          <p:cNvSpPr txBox="1"/>
          <p:nvPr/>
        </p:nvSpPr>
        <p:spPr>
          <a:xfrm>
            <a:off x="5376671"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11</a:t>
            </a:r>
          </a:p>
        </p:txBody>
      </p:sp>
      <p:sp>
        <p:nvSpPr>
          <p:cNvPr id="35" name="a0fd2140_lc34"/>
          <p:cNvSpPr/>
          <p:nvPr/>
        </p:nvSpPr>
        <p:spPr>
          <a:xfrm>
            <a:off x="5815583"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0fd2140_lct35"/>
          <p:cNvSpPr txBox="1"/>
          <p:nvPr/>
        </p:nvSpPr>
        <p:spPr>
          <a:xfrm>
            <a:off x="5815583"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12</a:t>
            </a:r>
          </a:p>
        </p:txBody>
      </p:sp>
      <p:sp>
        <p:nvSpPr>
          <p:cNvPr id="37" name="a0fd2185_lc36"/>
          <p:cNvSpPr/>
          <p:nvPr/>
        </p:nvSpPr>
        <p:spPr>
          <a:xfrm>
            <a:off x="6254496" y="4553712"/>
            <a:ext cx="384048" cy="237744"/>
          </a:xfrm>
          <a:prstGeom prst="roundRect">
            <a:avLst>
              <a:gd name="adj" fmla="val 15384"/>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0fd2185_lct37"/>
          <p:cNvSpPr txBox="1"/>
          <p:nvPr/>
        </p:nvSpPr>
        <p:spPr>
          <a:xfrm>
            <a:off x="6254496"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13</a:t>
            </a:r>
          </a:p>
        </p:txBody>
      </p:sp>
      <p:sp>
        <p:nvSpPr>
          <p:cNvPr id="39" name="a0fd2230_lc38"/>
          <p:cNvSpPr/>
          <p:nvPr/>
        </p:nvSpPr>
        <p:spPr>
          <a:xfrm>
            <a:off x="6693407" y="4553712"/>
            <a:ext cx="384048" cy="237744"/>
          </a:xfrm>
          <a:prstGeom prst="roundRect">
            <a:avLst>
              <a:gd name="adj" fmla="val 15384"/>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0fd2230_lct39"/>
          <p:cNvSpPr txBox="1"/>
          <p:nvPr/>
        </p:nvSpPr>
        <p:spPr>
          <a:xfrm>
            <a:off x="6693407"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14</a:t>
            </a:r>
          </a:p>
        </p:txBody>
      </p:sp>
      <p:sp>
        <p:nvSpPr>
          <p:cNvPr id="41" name="a0fd2275_lc40"/>
          <p:cNvSpPr/>
          <p:nvPr/>
        </p:nvSpPr>
        <p:spPr>
          <a:xfrm>
            <a:off x="7132319" y="4553712"/>
            <a:ext cx="384048" cy="237744"/>
          </a:xfrm>
          <a:prstGeom prst="roundRect">
            <a:avLst>
              <a:gd name="adj" fmla="val 15384"/>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0fd2275_lct41"/>
          <p:cNvSpPr txBox="1"/>
          <p:nvPr/>
        </p:nvSpPr>
        <p:spPr>
          <a:xfrm>
            <a:off x="7132319"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15</a:t>
            </a:r>
          </a:p>
        </p:txBody>
      </p:sp>
      <p:sp>
        <p:nvSpPr>
          <p:cNvPr id="43" name="a0fd2320_lc42"/>
          <p:cNvSpPr/>
          <p:nvPr/>
        </p:nvSpPr>
        <p:spPr>
          <a:xfrm>
            <a:off x="7571231" y="4553712"/>
            <a:ext cx="384048" cy="237744"/>
          </a:xfrm>
          <a:prstGeom prst="roundRect">
            <a:avLst>
              <a:gd name="adj" fmla="val 15384"/>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0fd2320_lct43"/>
          <p:cNvSpPr txBox="1"/>
          <p:nvPr/>
        </p:nvSpPr>
        <p:spPr>
          <a:xfrm>
            <a:off x="7571231"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16</a:t>
            </a:r>
          </a:p>
        </p:txBody>
      </p:sp>
      <p:sp>
        <p:nvSpPr>
          <p:cNvPr id="45" name="a0fd2365_lc44"/>
          <p:cNvSpPr/>
          <p:nvPr/>
        </p:nvSpPr>
        <p:spPr>
          <a:xfrm>
            <a:off x="8010144" y="4553712"/>
            <a:ext cx="384048" cy="237744"/>
          </a:xfrm>
          <a:prstGeom prst="roundRect">
            <a:avLst>
              <a:gd name="adj" fmla="val 15384"/>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0fd2365_lct45"/>
          <p:cNvSpPr txBox="1"/>
          <p:nvPr/>
        </p:nvSpPr>
        <p:spPr>
          <a:xfrm>
            <a:off x="8010144"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17</a:t>
            </a:r>
          </a:p>
        </p:txBody>
      </p:sp>
      <p:cxnSp>
        <p:nvCxnSpPr>
          <p:cNvPr id="47" name="a0fd2410_la46"/>
          <p:cNvCxnSpPr/>
          <p:nvPr/>
        </p:nvCxnSpPr>
        <p:spPr>
          <a:xfrm>
            <a:off x="8449056" y="4672584"/>
            <a:ext cx="237744" cy="0"/>
          </a:xfrm>
          <a:prstGeom prst="line">
            <a:avLst/>
          </a:prstGeom>
          <a:ln w="19050">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a0fd900_lg47"/>
          <p:cNvSpPr/>
          <p:nvPr/>
        </p:nvSpPr>
        <p:spPr>
          <a:xfrm>
            <a:off x="5806440" y="1188720"/>
            <a:ext cx="2880360" cy="1783080"/>
          </a:xfrm>
          <a:prstGeom prst="roundRect">
            <a:avLst>
              <a:gd name="adj" fmla="val 410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0fd900_lgt48"/>
          <p:cNvSpPr txBox="1"/>
          <p:nvPr/>
        </p:nvSpPr>
        <p:spPr>
          <a:xfrm>
            <a:off x="5961888" y="1280160"/>
            <a:ext cx="2560320" cy="219456"/>
          </a:xfrm>
          <a:prstGeom prst="rect">
            <a:avLst/>
          </a:prstGeom>
          <a:noFill/>
        </p:spPr>
        <p:txBody>
          <a:bodyPr wrap="square" lIns="0" tIns="0" rIns="0" bIns="0" anchor="ctr">
            <a:spAutoFit/>
          </a:bodyPr>
          <a:lstStyle/>
          <a:p>
            <a:pPr algn="l"/>
            <a:r>
              <a:rPr sz="900" b="1">
                <a:solidFill>
                  <a:srgbClr val="A8A29E"/>
                </a:solidFill>
                <a:latin typeface="Consolas"/>
              </a:rPr>
              <a:t>kafka cluster  ·  3 brokers</a:t>
            </a:r>
          </a:p>
        </p:txBody>
      </p:sp>
      <p:sp>
        <p:nvSpPr>
          <p:cNvPr id="50" name="a0fd1100_tb49"/>
          <p:cNvSpPr/>
          <p:nvPr/>
        </p:nvSpPr>
        <p:spPr>
          <a:xfrm>
            <a:off x="5961888" y="1609344"/>
            <a:ext cx="795528" cy="1188720"/>
          </a:xfrm>
          <a:prstGeom prst="roundRect">
            <a:avLst>
              <a:gd name="adj" fmla="val 6896"/>
            </a:avLst>
          </a:prstGeom>
          <a:solidFill>
            <a:srgbClr val="18181B"/>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0fd1100_tbn50"/>
          <p:cNvSpPr txBox="1"/>
          <p:nvPr/>
        </p:nvSpPr>
        <p:spPr>
          <a:xfrm>
            <a:off x="5961888" y="1664208"/>
            <a:ext cx="795528" cy="219456"/>
          </a:xfrm>
          <a:prstGeom prst="rect">
            <a:avLst/>
          </a:prstGeom>
          <a:noFill/>
        </p:spPr>
        <p:txBody>
          <a:bodyPr wrap="square" lIns="0" tIns="0" rIns="0" bIns="0" anchor="ctr">
            <a:spAutoFit/>
          </a:bodyPr>
          <a:lstStyle/>
          <a:p>
            <a:pPr algn="ctr"/>
            <a:r>
              <a:rPr sz="950" b="1">
                <a:solidFill>
                  <a:srgbClr val="FDBA74"/>
                </a:solidFill>
                <a:latin typeface="Consolas"/>
              </a:rPr>
              <a:t>B1</a:t>
            </a:r>
          </a:p>
        </p:txBody>
      </p:sp>
      <p:sp>
        <p:nvSpPr>
          <p:cNvPr id="52" name="a0fd1200_tc51"/>
          <p:cNvSpPr/>
          <p:nvPr/>
        </p:nvSpPr>
        <p:spPr>
          <a:xfrm>
            <a:off x="6071616" y="1975104"/>
            <a:ext cx="576072" cy="219456"/>
          </a:xfrm>
          <a:prstGeom prst="roundRect">
            <a:avLst>
              <a:gd name="adj" fmla="val 125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0fd1200_tct52"/>
          <p:cNvSpPr txBox="1"/>
          <p:nvPr/>
        </p:nvSpPr>
        <p:spPr>
          <a:xfrm>
            <a:off x="6071616" y="1975104"/>
            <a:ext cx="576072" cy="219456"/>
          </a:xfrm>
          <a:prstGeom prst="rect">
            <a:avLst/>
          </a:prstGeom>
          <a:noFill/>
        </p:spPr>
        <p:txBody>
          <a:bodyPr wrap="square" lIns="0" tIns="0" rIns="0" bIns="0" anchor="ctr">
            <a:spAutoFit/>
          </a:bodyPr>
          <a:lstStyle/>
          <a:p>
            <a:pPr algn="ctr"/>
            <a:r>
              <a:rPr sz="750" b="0">
                <a:solidFill>
                  <a:srgbClr val="FFFFFF"/>
                </a:solidFill>
                <a:latin typeface="Consolas"/>
              </a:rPr>
              <a:t>P0</a:t>
            </a:r>
          </a:p>
        </p:txBody>
      </p:sp>
      <p:sp>
        <p:nvSpPr>
          <p:cNvPr id="54" name="a0fd1280_tc53"/>
          <p:cNvSpPr/>
          <p:nvPr/>
        </p:nvSpPr>
        <p:spPr>
          <a:xfrm>
            <a:off x="6071616" y="2267712"/>
            <a:ext cx="576072" cy="219456"/>
          </a:xfrm>
          <a:prstGeom prst="roundRect">
            <a:avLst>
              <a:gd name="adj" fmla="val 125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0fd1280_tct54"/>
          <p:cNvSpPr txBox="1"/>
          <p:nvPr/>
        </p:nvSpPr>
        <p:spPr>
          <a:xfrm>
            <a:off x="6071616" y="2267712"/>
            <a:ext cx="576072" cy="219456"/>
          </a:xfrm>
          <a:prstGeom prst="rect">
            <a:avLst/>
          </a:prstGeom>
          <a:noFill/>
        </p:spPr>
        <p:txBody>
          <a:bodyPr wrap="square" lIns="0" tIns="0" rIns="0" bIns="0" anchor="ctr">
            <a:spAutoFit/>
          </a:bodyPr>
          <a:lstStyle/>
          <a:p>
            <a:pPr algn="ctr"/>
            <a:r>
              <a:rPr sz="750" b="0">
                <a:solidFill>
                  <a:srgbClr val="FFFFFF"/>
                </a:solidFill>
                <a:latin typeface="Consolas"/>
              </a:rPr>
              <a:t>P0</a:t>
            </a:r>
          </a:p>
        </p:txBody>
      </p:sp>
      <p:sp>
        <p:nvSpPr>
          <p:cNvPr id="56" name="a0fd1100_td55"/>
          <p:cNvSpPr/>
          <p:nvPr/>
        </p:nvSpPr>
        <p:spPr>
          <a:xfrm>
            <a:off x="6071616" y="2615184"/>
            <a:ext cx="576072" cy="82296"/>
          </a:xfrm>
          <a:prstGeom prst="roundRect">
            <a:avLst>
              <a:gd name="adj" fmla="val 22222"/>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a0fd1350_tb56"/>
          <p:cNvSpPr/>
          <p:nvPr/>
        </p:nvSpPr>
        <p:spPr>
          <a:xfrm>
            <a:off x="6848855" y="1609344"/>
            <a:ext cx="795528" cy="1188720"/>
          </a:xfrm>
          <a:prstGeom prst="roundRect">
            <a:avLst>
              <a:gd name="adj" fmla="val 6896"/>
            </a:avLst>
          </a:prstGeom>
          <a:solidFill>
            <a:srgbClr val="18181B"/>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0fd1350_tbn57"/>
          <p:cNvSpPr txBox="1"/>
          <p:nvPr/>
        </p:nvSpPr>
        <p:spPr>
          <a:xfrm>
            <a:off x="6848855" y="1664208"/>
            <a:ext cx="795528" cy="219456"/>
          </a:xfrm>
          <a:prstGeom prst="rect">
            <a:avLst/>
          </a:prstGeom>
          <a:noFill/>
        </p:spPr>
        <p:txBody>
          <a:bodyPr wrap="square" lIns="0" tIns="0" rIns="0" bIns="0" anchor="ctr">
            <a:spAutoFit/>
          </a:bodyPr>
          <a:lstStyle/>
          <a:p>
            <a:pPr algn="ctr"/>
            <a:r>
              <a:rPr sz="950" b="1">
                <a:solidFill>
                  <a:srgbClr val="FDBA74"/>
                </a:solidFill>
                <a:latin typeface="Consolas"/>
              </a:rPr>
              <a:t>B2</a:t>
            </a:r>
          </a:p>
        </p:txBody>
      </p:sp>
      <p:sp>
        <p:nvSpPr>
          <p:cNvPr id="59" name="a0fd1450_tc58"/>
          <p:cNvSpPr/>
          <p:nvPr/>
        </p:nvSpPr>
        <p:spPr>
          <a:xfrm>
            <a:off x="6958583" y="1975104"/>
            <a:ext cx="576072" cy="219456"/>
          </a:xfrm>
          <a:prstGeom prst="roundRect">
            <a:avLst>
              <a:gd name="adj" fmla="val 125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0fd1450_tct59"/>
          <p:cNvSpPr txBox="1"/>
          <p:nvPr/>
        </p:nvSpPr>
        <p:spPr>
          <a:xfrm>
            <a:off x="6958583" y="1975104"/>
            <a:ext cx="576072" cy="219456"/>
          </a:xfrm>
          <a:prstGeom prst="rect">
            <a:avLst/>
          </a:prstGeom>
          <a:noFill/>
        </p:spPr>
        <p:txBody>
          <a:bodyPr wrap="square" lIns="0" tIns="0" rIns="0" bIns="0" anchor="ctr">
            <a:spAutoFit/>
          </a:bodyPr>
          <a:lstStyle/>
          <a:p>
            <a:pPr algn="ctr"/>
            <a:r>
              <a:rPr sz="750" b="0">
                <a:solidFill>
                  <a:srgbClr val="FFFFFF"/>
                </a:solidFill>
                <a:latin typeface="Consolas"/>
              </a:rPr>
              <a:t>P1</a:t>
            </a:r>
          </a:p>
        </p:txBody>
      </p:sp>
      <p:sp>
        <p:nvSpPr>
          <p:cNvPr id="61" name="a0fd1530_tc60"/>
          <p:cNvSpPr/>
          <p:nvPr/>
        </p:nvSpPr>
        <p:spPr>
          <a:xfrm>
            <a:off x="6958583" y="2267712"/>
            <a:ext cx="576072" cy="219456"/>
          </a:xfrm>
          <a:prstGeom prst="roundRect">
            <a:avLst>
              <a:gd name="adj" fmla="val 125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a0fd1530_tct61"/>
          <p:cNvSpPr txBox="1"/>
          <p:nvPr/>
        </p:nvSpPr>
        <p:spPr>
          <a:xfrm>
            <a:off x="6958583" y="2267712"/>
            <a:ext cx="576072" cy="219456"/>
          </a:xfrm>
          <a:prstGeom prst="rect">
            <a:avLst/>
          </a:prstGeom>
          <a:noFill/>
        </p:spPr>
        <p:txBody>
          <a:bodyPr wrap="square" lIns="0" tIns="0" rIns="0" bIns="0" anchor="ctr">
            <a:spAutoFit/>
          </a:bodyPr>
          <a:lstStyle/>
          <a:p>
            <a:pPr algn="ctr"/>
            <a:r>
              <a:rPr sz="750" b="0">
                <a:solidFill>
                  <a:srgbClr val="FFFFFF"/>
                </a:solidFill>
                <a:latin typeface="Consolas"/>
              </a:rPr>
              <a:t>P1</a:t>
            </a:r>
          </a:p>
        </p:txBody>
      </p:sp>
      <p:sp>
        <p:nvSpPr>
          <p:cNvPr id="63" name="a0fd1350_td62"/>
          <p:cNvSpPr/>
          <p:nvPr/>
        </p:nvSpPr>
        <p:spPr>
          <a:xfrm>
            <a:off x="6958583" y="2615184"/>
            <a:ext cx="576072" cy="82296"/>
          </a:xfrm>
          <a:prstGeom prst="roundRect">
            <a:avLst>
              <a:gd name="adj" fmla="val 22222"/>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a0fd1600_tb63"/>
          <p:cNvSpPr/>
          <p:nvPr/>
        </p:nvSpPr>
        <p:spPr>
          <a:xfrm>
            <a:off x="7735823" y="1609344"/>
            <a:ext cx="795528" cy="1188720"/>
          </a:xfrm>
          <a:prstGeom prst="roundRect">
            <a:avLst>
              <a:gd name="adj" fmla="val 6896"/>
            </a:avLst>
          </a:prstGeom>
          <a:solidFill>
            <a:srgbClr val="18181B"/>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a0fd1600_tbn64"/>
          <p:cNvSpPr txBox="1"/>
          <p:nvPr/>
        </p:nvSpPr>
        <p:spPr>
          <a:xfrm>
            <a:off x="7735823" y="1664208"/>
            <a:ext cx="795528" cy="219456"/>
          </a:xfrm>
          <a:prstGeom prst="rect">
            <a:avLst/>
          </a:prstGeom>
          <a:noFill/>
        </p:spPr>
        <p:txBody>
          <a:bodyPr wrap="square" lIns="0" tIns="0" rIns="0" bIns="0" anchor="ctr">
            <a:spAutoFit/>
          </a:bodyPr>
          <a:lstStyle/>
          <a:p>
            <a:pPr algn="ctr"/>
            <a:r>
              <a:rPr sz="950" b="1">
                <a:solidFill>
                  <a:srgbClr val="FDBA74"/>
                </a:solidFill>
                <a:latin typeface="Consolas"/>
              </a:rPr>
              <a:t>B3</a:t>
            </a:r>
          </a:p>
        </p:txBody>
      </p:sp>
      <p:sp>
        <p:nvSpPr>
          <p:cNvPr id="66" name="a0fd1700_tc65"/>
          <p:cNvSpPr/>
          <p:nvPr/>
        </p:nvSpPr>
        <p:spPr>
          <a:xfrm>
            <a:off x="7845551" y="1975104"/>
            <a:ext cx="576072" cy="219456"/>
          </a:xfrm>
          <a:prstGeom prst="roundRect">
            <a:avLst>
              <a:gd name="adj" fmla="val 125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a0fd1700_tct66"/>
          <p:cNvSpPr txBox="1"/>
          <p:nvPr/>
        </p:nvSpPr>
        <p:spPr>
          <a:xfrm>
            <a:off x="7845551" y="1975104"/>
            <a:ext cx="576072" cy="219456"/>
          </a:xfrm>
          <a:prstGeom prst="rect">
            <a:avLst/>
          </a:prstGeom>
          <a:noFill/>
        </p:spPr>
        <p:txBody>
          <a:bodyPr wrap="square" lIns="0" tIns="0" rIns="0" bIns="0" anchor="ctr">
            <a:spAutoFit/>
          </a:bodyPr>
          <a:lstStyle/>
          <a:p>
            <a:pPr algn="ctr"/>
            <a:r>
              <a:rPr sz="750" b="0">
                <a:solidFill>
                  <a:srgbClr val="FFFFFF"/>
                </a:solidFill>
                <a:latin typeface="Consolas"/>
              </a:rPr>
              <a:t>P2</a:t>
            </a:r>
          </a:p>
        </p:txBody>
      </p:sp>
      <p:sp>
        <p:nvSpPr>
          <p:cNvPr id="68" name="a0fd1600_td67"/>
          <p:cNvSpPr/>
          <p:nvPr/>
        </p:nvSpPr>
        <p:spPr>
          <a:xfrm>
            <a:off x="7845551" y="2615184"/>
            <a:ext cx="576072" cy="82296"/>
          </a:xfrm>
          <a:prstGeom prst="roundRect">
            <a:avLst>
              <a:gd name="adj" fmla="val 22222"/>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a0fd2100_cap68"/>
          <p:cNvSpPr txBox="1"/>
          <p:nvPr/>
        </p:nvSpPr>
        <p:spPr>
          <a:xfrm>
            <a:off x="5806440" y="3090672"/>
            <a:ext cx="2880360" cy="256032"/>
          </a:xfrm>
          <a:prstGeom prst="rect">
            <a:avLst/>
          </a:prstGeom>
          <a:noFill/>
        </p:spPr>
        <p:txBody>
          <a:bodyPr wrap="square" lIns="0" tIns="0" rIns="0" bIns="0" anchor="ctr">
            <a:spAutoFit/>
          </a:bodyPr>
          <a:lstStyle/>
          <a:p>
            <a:pPr algn="l"/>
            <a:r>
              <a:rPr sz="850" b="0">
                <a:solidFill>
                  <a:srgbClr val="A8A29E"/>
                </a:solidFill>
                <a:latin typeface="Segoe UI"/>
              </a:rPr>
              <a:t>two topics, three brokers, one cluster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12" presetID="2" presetClass="entr" presetSubtype="4" fill="hold" grpId="0" nodeType="withEffect">
                                  <p:stCondLst>
                                    <p:cond delay="20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ppt_x</p:attrName>
                                        </p:attrNameLst>
                                      </p:cBhvr>
                                      <p:tavLst>
                                        <p:tav tm="0">
                                          <p:val>
                                            <p:strVal val="#ppt_x"/>
                                          </p:val>
                                        </p:tav>
                                        <p:tav tm="100000">
                                          <p:val>
                                            <p:strVal val="#ppt_x"/>
                                          </p:val>
                                        </p:tav>
                                      </p:tavLst>
                                    </p:anim>
                                    <p:anim calcmode="lin" valueType="num">
                                      <p:cBhvr additive="base">
                                        <p:cTn id="10" dur="500" fill="hold"/>
                                        <p:tgtEl>
                                          <p:spTgt spid="4"/>
                                        </p:tgtEl>
                                        <p:attrNameLst>
                                          <p:attrName>ppt_y</p:attrName>
                                        </p:attrNameLst>
                                      </p:cBhvr>
                                      <p:tavLst>
                                        <p:tav tm="0">
                                          <p:val>
                                            <p:strVal val="#ppt_y+0.1"/>
                                          </p:val>
                                        </p:tav>
                                        <p:tav tm="100000">
                                          <p:val>
                                            <p:strVal val="#ppt_y"/>
                                          </p:val>
                                        </p:tav>
                                      </p:tavLst>
                                    </p:anim>
                                    <p:animEffect transition="in" filter="fade">
                                      <p:cBhvr>
                                        <p:cTn id="11" dur="500"/>
                                        <p:tgtEl>
                                          <p:spTgt spid="4"/>
                                        </p:tgtEl>
                                      </p:cBhvr>
                                    </p:animEffect>
                                  </p:childTnLst>
                                </p:cTn>
                              </p:par>
                              <p:par>
                                <p:cTn id="15" presetID="10" presetClass="entr" presetSubtype="0" fill="hold" grpId="0" nodeType="withEffect">
                                  <p:stCondLst>
                                    <p:cond delay="5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20" presetID="2" presetClass="entr" presetSubtype="4" fill="hold" grpId="0" nodeType="withEffect">
                                  <p:stCondLst>
                                    <p:cond delay="8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3" presetID="10" presetClass="entr" presetSubtype="0" fill="hold" grpId="0" nodeType="withEffect">
                                  <p:stCondLst>
                                    <p:cond delay="90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6" presetID="10" presetClass="entr" presetSubtype="0" fill="hold" grpId="0" nodeType="withEffect">
                                  <p:stCondLst>
                                    <p:cond delay="90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31" presetID="2" presetClass="entr" presetSubtype="4" fill="hold" grpId="0" nodeType="withEffect">
                                  <p:stCondLst>
                                    <p:cond delay="95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par>
                                <p:cTn id="36" presetID="2" presetClass="entr" presetSubtype="4" fill="hold" grpId="0" nodeType="withEffect">
                                  <p:stCondLst>
                                    <p:cond delay="110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ppt_y+0.1"/>
                                          </p:val>
                                        </p:tav>
                                        <p:tav tm="100000">
                                          <p:val>
                                            <p:strVal val="#ppt_y"/>
                                          </p:val>
                                        </p:tav>
                                      </p:tavLst>
                                    </p:anim>
                                    <p:animEffect transition="in" filter="fade">
                                      <p:cBhvr>
                                        <p:cTn id="35" dur="500"/>
                                        <p:tgtEl>
                                          <p:spTgt spid="8"/>
                                        </p:tgtEl>
                                      </p:cBhvr>
                                    </p:animEffect>
                                  </p:childTnLst>
                                </p:cTn>
                              </p:par>
                              <p:par>
                                <p:cTn id="39" presetID="10" presetClass="entr" presetSubtype="0" fill="hold" grpId="0" nodeType="withEffect">
                                  <p:stCondLst>
                                    <p:cond delay="1100"/>
                                  </p:stCondLst>
                                  <p:childTnLst>
                                    <p:set>
                                      <p:cBhvr>
                                        <p:cTn id="37" dur="1" fill="hold">
                                          <p:stCondLst>
                                            <p:cond delay="0"/>
                                          </p:stCondLst>
                                        </p:cTn>
                                        <p:tgtEl>
                                          <p:spTgt spid="50"/>
                                        </p:tgtEl>
                                        <p:attrNameLst>
                                          <p:attrName>style.visibility</p:attrName>
                                        </p:attrNameLst>
                                      </p:cBhvr>
                                      <p:to>
                                        <p:strVal val="visible"/>
                                      </p:to>
                                    </p:set>
                                    <p:animEffect transition="in" filter="fade">
                                      <p:cBhvr>
                                        <p:cTn id="38" dur="500"/>
                                        <p:tgtEl>
                                          <p:spTgt spid="50"/>
                                        </p:tgtEl>
                                      </p:cBhvr>
                                    </p:animEffect>
                                  </p:childTnLst>
                                </p:cTn>
                              </p:par>
                              <p:par>
                                <p:cTn id="42" presetID="10" presetClass="entr" presetSubtype="0" fill="hold" grpId="0" nodeType="withEffect">
                                  <p:stCondLst>
                                    <p:cond delay="1100"/>
                                  </p:stCondLst>
                                  <p:childTnLst>
                                    <p:set>
                                      <p:cBhvr>
                                        <p:cTn id="40" dur="1" fill="hold">
                                          <p:stCondLst>
                                            <p:cond delay="0"/>
                                          </p:stCondLst>
                                        </p:cTn>
                                        <p:tgtEl>
                                          <p:spTgt spid="51"/>
                                        </p:tgtEl>
                                        <p:attrNameLst>
                                          <p:attrName>style.visibility</p:attrName>
                                        </p:attrNameLst>
                                      </p:cBhvr>
                                      <p:to>
                                        <p:strVal val="visible"/>
                                      </p:to>
                                    </p:set>
                                    <p:animEffect transition="in" filter="fade">
                                      <p:cBhvr>
                                        <p:cTn id="41" dur="500"/>
                                        <p:tgtEl>
                                          <p:spTgt spid="51"/>
                                        </p:tgtEl>
                                      </p:cBhvr>
                                    </p:animEffect>
                                  </p:childTnLst>
                                </p:cTn>
                              </p:par>
                              <p:par>
                                <p:cTn id="45" presetID="10" presetClass="entr" presetSubtype="0" fill="hold" grpId="0" nodeType="withEffect">
                                  <p:stCondLst>
                                    <p:cond delay="1100"/>
                                  </p:stCondLst>
                                  <p:childTnLst>
                                    <p:set>
                                      <p:cBhvr>
                                        <p:cTn id="43" dur="1" fill="hold">
                                          <p:stCondLst>
                                            <p:cond delay="0"/>
                                          </p:stCondLst>
                                        </p:cTn>
                                        <p:tgtEl>
                                          <p:spTgt spid="56"/>
                                        </p:tgtEl>
                                        <p:attrNameLst>
                                          <p:attrName>style.visibility</p:attrName>
                                        </p:attrNameLst>
                                      </p:cBhvr>
                                      <p:to>
                                        <p:strVal val="visible"/>
                                      </p:to>
                                    </p:set>
                                    <p:animEffect transition="in" filter="fade">
                                      <p:cBhvr>
                                        <p:cTn id="44" dur="500"/>
                                        <p:tgtEl>
                                          <p:spTgt spid="56"/>
                                        </p:tgtEl>
                                      </p:cBhvr>
                                    </p:animEffect>
                                  </p:childTnLst>
                                </p:cTn>
                              </p:par>
                              <p:par>
                                <p:cTn id="48" presetID="10" presetClass="entr" presetSubtype="0" fill="hold" grpId="0" nodeType="withEffect">
                                  <p:stCondLst>
                                    <p:cond delay="1200"/>
                                  </p:stCondLst>
                                  <p:childTnLst>
                                    <p:set>
                                      <p:cBhvr>
                                        <p:cTn id="46" dur="1" fill="hold">
                                          <p:stCondLst>
                                            <p:cond delay="0"/>
                                          </p:stCondLst>
                                        </p:cTn>
                                        <p:tgtEl>
                                          <p:spTgt spid="52"/>
                                        </p:tgtEl>
                                        <p:attrNameLst>
                                          <p:attrName>style.visibility</p:attrName>
                                        </p:attrNameLst>
                                      </p:cBhvr>
                                      <p:to>
                                        <p:strVal val="visible"/>
                                      </p:to>
                                    </p:set>
                                    <p:animEffect transition="in" filter="fade">
                                      <p:cBhvr>
                                        <p:cTn id="47" dur="500"/>
                                        <p:tgtEl>
                                          <p:spTgt spid="52"/>
                                        </p:tgtEl>
                                      </p:cBhvr>
                                    </p:animEffect>
                                  </p:childTnLst>
                                </p:cTn>
                              </p:par>
                              <p:par>
                                <p:cTn id="51" presetID="10" presetClass="entr" presetSubtype="0" fill="hold" grpId="0" nodeType="withEffect">
                                  <p:stCondLst>
                                    <p:cond delay="1200"/>
                                  </p:stCondLst>
                                  <p:childTnLst>
                                    <p:set>
                                      <p:cBhvr>
                                        <p:cTn id="49" dur="1" fill="hold">
                                          <p:stCondLst>
                                            <p:cond delay="0"/>
                                          </p:stCondLst>
                                        </p:cTn>
                                        <p:tgtEl>
                                          <p:spTgt spid="53"/>
                                        </p:tgtEl>
                                        <p:attrNameLst>
                                          <p:attrName>style.visibility</p:attrName>
                                        </p:attrNameLst>
                                      </p:cBhvr>
                                      <p:to>
                                        <p:strVal val="visible"/>
                                      </p:to>
                                    </p:set>
                                    <p:animEffect transition="in" filter="fade">
                                      <p:cBhvr>
                                        <p:cTn id="50" dur="500"/>
                                        <p:tgtEl>
                                          <p:spTgt spid="53"/>
                                        </p:tgtEl>
                                      </p:cBhvr>
                                    </p:animEffect>
                                  </p:childTnLst>
                                </p:cTn>
                              </p:par>
                              <p:par>
                                <p:cTn id="56" presetID="2" presetClass="entr" presetSubtype="4" fill="hold" grpId="0" nodeType="withEffect">
                                  <p:stCondLst>
                                    <p:cond delay="1250"/>
                                  </p:stCondLst>
                                  <p:childTnLst>
                                    <p:set>
                                      <p:cBhvr>
                                        <p:cTn id="52" dur="1" fill="hold">
                                          <p:stCondLst>
                                            <p:cond delay="0"/>
                                          </p:stCondLst>
                                        </p:cTn>
                                        <p:tgtEl>
                                          <p:spTgt spid="9"/>
                                        </p:tgtEl>
                                        <p:attrNameLst>
                                          <p:attrName>style.visibility</p:attrName>
                                        </p:attrNameLst>
                                      </p:cBhvr>
                                      <p:to>
                                        <p:strVal val="visible"/>
                                      </p:to>
                                    </p:set>
                                    <p:anim calcmode="lin" valueType="num">
                                      <p:cBhvr additive="base">
                                        <p:cTn id="53" dur="500" fill="hold"/>
                                        <p:tgtEl>
                                          <p:spTgt spid="9"/>
                                        </p:tgtEl>
                                        <p:attrNameLst>
                                          <p:attrName>ppt_x</p:attrName>
                                        </p:attrNameLst>
                                      </p:cBhvr>
                                      <p:tavLst>
                                        <p:tav tm="0">
                                          <p:val>
                                            <p:strVal val="#ppt_x"/>
                                          </p:val>
                                        </p:tav>
                                        <p:tav tm="100000">
                                          <p:val>
                                            <p:strVal val="#ppt_x"/>
                                          </p:val>
                                        </p:tav>
                                      </p:tavLst>
                                    </p:anim>
                                    <p:anim calcmode="lin" valueType="num">
                                      <p:cBhvr additive="base">
                                        <p:cTn id="54" dur="500" fill="hold"/>
                                        <p:tgtEl>
                                          <p:spTgt spid="9"/>
                                        </p:tgtEl>
                                        <p:attrNameLst>
                                          <p:attrName>ppt_y</p:attrName>
                                        </p:attrNameLst>
                                      </p:cBhvr>
                                      <p:tavLst>
                                        <p:tav tm="0">
                                          <p:val>
                                            <p:strVal val="#ppt_y+0.1"/>
                                          </p:val>
                                        </p:tav>
                                        <p:tav tm="100000">
                                          <p:val>
                                            <p:strVal val="#ppt_y"/>
                                          </p:val>
                                        </p:tav>
                                      </p:tavLst>
                                    </p:anim>
                                    <p:animEffect transition="in" filter="fade">
                                      <p:cBhvr>
                                        <p:cTn id="55" dur="500"/>
                                        <p:tgtEl>
                                          <p:spTgt spid="9"/>
                                        </p:tgtEl>
                                      </p:cBhvr>
                                    </p:animEffect>
                                  </p:childTnLst>
                                </p:cTn>
                              </p:par>
                              <p:par>
                                <p:cTn id="59" presetID="10" presetClass="entr" presetSubtype="0" fill="hold" grpId="0" nodeType="withEffect">
                                  <p:stCondLst>
                                    <p:cond delay="1280"/>
                                  </p:stCondLst>
                                  <p:childTnLst>
                                    <p:set>
                                      <p:cBhvr>
                                        <p:cTn id="57" dur="1" fill="hold">
                                          <p:stCondLst>
                                            <p:cond delay="0"/>
                                          </p:stCondLst>
                                        </p:cTn>
                                        <p:tgtEl>
                                          <p:spTgt spid="54"/>
                                        </p:tgtEl>
                                        <p:attrNameLst>
                                          <p:attrName>style.visibility</p:attrName>
                                        </p:attrNameLst>
                                      </p:cBhvr>
                                      <p:to>
                                        <p:strVal val="visible"/>
                                      </p:to>
                                    </p:set>
                                    <p:animEffect transition="in" filter="fade">
                                      <p:cBhvr>
                                        <p:cTn id="58" dur="500"/>
                                        <p:tgtEl>
                                          <p:spTgt spid="54"/>
                                        </p:tgtEl>
                                      </p:cBhvr>
                                    </p:animEffect>
                                  </p:childTnLst>
                                </p:cTn>
                              </p:par>
                              <p:par>
                                <p:cTn id="62" presetID="10" presetClass="entr" presetSubtype="0" fill="hold" grpId="0" nodeType="withEffect">
                                  <p:stCondLst>
                                    <p:cond delay="1280"/>
                                  </p:stCondLst>
                                  <p:childTnLst>
                                    <p:set>
                                      <p:cBhvr>
                                        <p:cTn id="60" dur="1" fill="hold">
                                          <p:stCondLst>
                                            <p:cond delay="0"/>
                                          </p:stCondLst>
                                        </p:cTn>
                                        <p:tgtEl>
                                          <p:spTgt spid="55"/>
                                        </p:tgtEl>
                                        <p:attrNameLst>
                                          <p:attrName>style.visibility</p:attrName>
                                        </p:attrNameLst>
                                      </p:cBhvr>
                                      <p:to>
                                        <p:strVal val="visible"/>
                                      </p:to>
                                    </p:set>
                                    <p:animEffect transition="in" filter="fade">
                                      <p:cBhvr>
                                        <p:cTn id="61" dur="500"/>
                                        <p:tgtEl>
                                          <p:spTgt spid="55"/>
                                        </p:tgtEl>
                                      </p:cBhvr>
                                    </p:animEffect>
                                  </p:childTnLst>
                                </p:cTn>
                              </p:par>
                              <p:par>
                                <p:cTn id="65" presetID="10" presetClass="entr" presetSubtype="0" fill="hold" grpId="0" nodeType="withEffect">
                                  <p:stCondLst>
                                    <p:cond delay="1350"/>
                                  </p:stCondLst>
                                  <p:childTnLst>
                                    <p:set>
                                      <p:cBhvr>
                                        <p:cTn id="63" dur="1" fill="hold">
                                          <p:stCondLst>
                                            <p:cond delay="0"/>
                                          </p:stCondLst>
                                        </p:cTn>
                                        <p:tgtEl>
                                          <p:spTgt spid="57"/>
                                        </p:tgtEl>
                                        <p:attrNameLst>
                                          <p:attrName>style.visibility</p:attrName>
                                        </p:attrNameLst>
                                      </p:cBhvr>
                                      <p:to>
                                        <p:strVal val="visible"/>
                                      </p:to>
                                    </p:set>
                                    <p:animEffect transition="in" filter="fade">
                                      <p:cBhvr>
                                        <p:cTn id="64" dur="500"/>
                                        <p:tgtEl>
                                          <p:spTgt spid="57"/>
                                        </p:tgtEl>
                                      </p:cBhvr>
                                    </p:animEffect>
                                  </p:childTnLst>
                                </p:cTn>
                              </p:par>
                              <p:par>
                                <p:cTn id="68" presetID="10" presetClass="entr" presetSubtype="0" fill="hold" grpId="0" nodeType="withEffect">
                                  <p:stCondLst>
                                    <p:cond delay="1350"/>
                                  </p:stCondLst>
                                  <p:childTnLst>
                                    <p:set>
                                      <p:cBhvr>
                                        <p:cTn id="66" dur="1" fill="hold">
                                          <p:stCondLst>
                                            <p:cond delay="0"/>
                                          </p:stCondLst>
                                        </p:cTn>
                                        <p:tgtEl>
                                          <p:spTgt spid="58"/>
                                        </p:tgtEl>
                                        <p:attrNameLst>
                                          <p:attrName>style.visibility</p:attrName>
                                        </p:attrNameLst>
                                      </p:cBhvr>
                                      <p:to>
                                        <p:strVal val="visible"/>
                                      </p:to>
                                    </p:set>
                                    <p:animEffect transition="in" filter="fade">
                                      <p:cBhvr>
                                        <p:cTn id="67" dur="500"/>
                                        <p:tgtEl>
                                          <p:spTgt spid="58"/>
                                        </p:tgtEl>
                                      </p:cBhvr>
                                    </p:animEffect>
                                  </p:childTnLst>
                                </p:cTn>
                              </p:par>
                              <p:par>
                                <p:cTn id="71" presetID="10" presetClass="entr" presetSubtype="0" fill="hold" grpId="0" nodeType="withEffect">
                                  <p:stCondLst>
                                    <p:cond delay="1350"/>
                                  </p:stCondLst>
                                  <p:childTnLst>
                                    <p:set>
                                      <p:cBhvr>
                                        <p:cTn id="69" dur="1" fill="hold">
                                          <p:stCondLst>
                                            <p:cond delay="0"/>
                                          </p:stCondLst>
                                        </p:cTn>
                                        <p:tgtEl>
                                          <p:spTgt spid="63"/>
                                        </p:tgtEl>
                                        <p:attrNameLst>
                                          <p:attrName>style.visibility</p:attrName>
                                        </p:attrNameLst>
                                      </p:cBhvr>
                                      <p:to>
                                        <p:strVal val="visible"/>
                                      </p:to>
                                    </p:set>
                                    <p:animEffect transition="in" filter="fade">
                                      <p:cBhvr>
                                        <p:cTn id="70" dur="500"/>
                                        <p:tgtEl>
                                          <p:spTgt spid="63"/>
                                        </p:tgtEl>
                                      </p:cBhvr>
                                    </p:animEffect>
                                  </p:childTnLst>
                                </p:cTn>
                              </p:par>
                              <p:par>
                                <p:cTn id="74" presetID="10" presetClass="entr" presetSubtype="0" fill="hold" grpId="0" nodeType="withEffect">
                                  <p:stCondLst>
                                    <p:cond delay="1400"/>
                                  </p:stCondLst>
                                  <p:childTnLst>
                                    <p:set>
                                      <p:cBhvr>
                                        <p:cTn id="72" dur="1" fill="hold">
                                          <p:stCondLst>
                                            <p:cond delay="0"/>
                                          </p:stCondLst>
                                        </p:cTn>
                                        <p:tgtEl>
                                          <p:spTgt spid="10"/>
                                        </p:tgtEl>
                                        <p:attrNameLst>
                                          <p:attrName>style.visibility</p:attrName>
                                        </p:attrNameLst>
                                      </p:cBhvr>
                                      <p:to>
                                        <p:strVal val="visible"/>
                                      </p:to>
                                    </p:set>
                                    <p:animEffect transition="in" filter="fade">
                                      <p:cBhvr>
                                        <p:cTn id="73" dur="500"/>
                                        <p:tgtEl>
                                          <p:spTgt spid="10"/>
                                        </p:tgtEl>
                                      </p:cBhvr>
                                    </p:animEffect>
                                  </p:childTnLst>
                                </p:cTn>
                              </p:par>
                              <p:par>
                                <p:cTn id="77" presetID="10" presetClass="entr" presetSubtype="0" fill="hold" grpId="0" nodeType="withEffect">
                                  <p:stCondLst>
                                    <p:cond delay="1450"/>
                                  </p:stCondLst>
                                  <p:childTnLst>
                                    <p:set>
                                      <p:cBhvr>
                                        <p:cTn id="75" dur="1" fill="hold">
                                          <p:stCondLst>
                                            <p:cond delay="0"/>
                                          </p:stCondLst>
                                        </p:cTn>
                                        <p:tgtEl>
                                          <p:spTgt spid="59"/>
                                        </p:tgtEl>
                                        <p:attrNameLst>
                                          <p:attrName>style.visibility</p:attrName>
                                        </p:attrNameLst>
                                      </p:cBhvr>
                                      <p:to>
                                        <p:strVal val="visible"/>
                                      </p:to>
                                    </p:set>
                                    <p:animEffect transition="in" filter="fade">
                                      <p:cBhvr>
                                        <p:cTn id="76" dur="500"/>
                                        <p:tgtEl>
                                          <p:spTgt spid="59"/>
                                        </p:tgtEl>
                                      </p:cBhvr>
                                    </p:animEffect>
                                  </p:childTnLst>
                                </p:cTn>
                              </p:par>
                              <p:par>
                                <p:cTn id="80" presetID="10" presetClass="entr" presetSubtype="0" fill="hold" grpId="0" nodeType="withEffect">
                                  <p:stCondLst>
                                    <p:cond delay="1450"/>
                                  </p:stCondLst>
                                  <p:childTnLst>
                                    <p:set>
                                      <p:cBhvr>
                                        <p:cTn id="78" dur="1" fill="hold">
                                          <p:stCondLst>
                                            <p:cond delay="0"/>
                                          </p:stCondLst>
                                        </p:cTn>
                                        <p:tgtEl>
                                          <p:spTgt spid="60"/>
                                        </p:tgtEl>
                                        <p:attrNameLst>
                                          <p:attrName>style.visibility</p:attrName>
                                        </p:attrNameLst>
                                      </p:cBhvr>
                                      <p:to>
                                        <p:strVal val="visible"/>
                                      </p:to>
                                    </p:set>
                                    <p:animEffect transition="in" filter="fade">
                                      <p:cBhvr>
                                        <p:cTn id="79" dur="500"/>
                                        <p:tgtEl>
                                          <p:spTgt spid="60"/>
                                        </p:tgtEl>
                                      </p:cBhvr>
                                    </p:animEffect>
                                  </p:childTnLst>
                                </p:cTn>
                              </p:par>
                              <p:par>
                                <p:cTn id="83" presetID="10" presetClass="entr" presetSubtype="0" fill="hold" grpId="0" nodeType="withEffect">
                                  <p:stCondLst>
                                    <p:cond delay="1530"/>
                                  </p:stCondLst>
                                  <p:childTnLst>
                                    <p:set>
                                      <p:cBhvr>
                                        <p:cTn id="81" dur="1" fill="hold">
                                          <p:stCondLst>
                                            <p:cond delay="0"/>
                                          </p:stCondLst>
                                        </p:cTn>
                                        <p:tgtEl>
                                          <p:spTgt spid="61"/>
                                        </p:tgtEl>
                                        <p:attrNameLst>
                                          <p:attrName>style.visibility</p:attrName>
                                        </p:attrNameLst>
                                      </p:cBhvr>
                                      <p:to>
                                        <p:strVal val="visible"/>
                                      </p:to>
                                    </p:set>
                                    <p:animEffect transition="in" filter="fade">
                                      <p:cBhvr>
                                        <p:cTn id="82" dur="500"/>
                                        <p:tgtEl>
                                          <p:spTgt spid="61"/>
                                        </p:tgtEl>
                                      </p:cBhvr>
                                    </p:animEffect>
                                  </p:childTnLst>
                                </p:cTn>
                              </p:par>
                              <p:par>
                                <p:cTn id="86" presetID="10" presetClass="entr" presetSubtype="0" fill="hold" grpId="0" nodeType="withEffect">
                                  <p:stCondLst>
                                    <p:cond delay="1530"/>
                                  </p:stCondLst>
                                  <p:childTnLst>
                                    <p:set>
                                      <p:cBhvr>
                                        <p:cTn id="84" dur="1" fill="hold">
                                          <p:stCondLst>
                                            <p:cond delay="0"/>
                                          </p:stCondLst>
                                        </p:cTn>
                                        <p:tgtEl>
                                          <p:spTgt spid="62"/>
                                        </p:tgtEl>
                                        <p:attrNameLst>
                                          <p:attrName>style.visibility</p:attrName>
                                        </p:attrNameLst>
                                      </p:cBhvr>
                                      <p:to>
                                        <p:strVal val="visible"/>
                                      </p:to>
                                    </p:set>
                                    <p:animEffect transition="in" filter="fade">
                                      <p:cBhvr>
                                        <p:cTn id="85" dur="500"/>
                                        <p:tgtEl>
                                          <p:spTgt spid="62"/>
                                        </p:tgtEl>
                                      </p:cBhvr>
                                    </p:animEffect>
                                  </p:childTnLst>
                                </p:cTn>
                              </p:par>
                              <p:par>
                                <p:cTn id="89" presetID="10" presetClass="entr" presetSubtype="0" fill="hold" grpId="0" nodeType="withEffect">
                                  <p:stCondLst>
                                    <p:cond delay="1600"/>
                                  </p:stCondLst>
                                  <p:childTnLst>
                                    <p:set>
                                      <p:cBhvr>
                                        <p:cTn id="87" dur="1" fill="hold">
                                          <p:stCondLst>
                                            <p:cond delay="0"/>
                                          </p:stCondLst>
                                        </p:cTn>
                                        <p:tgtEl>
                                          <p:spTgt spid="11"/>
                                        </p:tgtEl>
                                        <p:attrNameLst>
                                          <p:attrName>style.visibility</p:attrName>
                                        </p:attrNameLst>
                                      </p:cBhvr>
                                      <p:to>
                                        <p:strVal val="visible"/>
                                      </p:to>
                                    </p:set>
                                    <p:animEffect transition="in" filter="fade">
                                      <p:cBhvr>
                                        <p:cTn id="88" dur="500"/>
                                        <p:tgtEl>
                                          <p:spTgt spid="11"/>
                                        </p:tgtEl>
                                      </p:cBhvr>
                                    </p:animEffect>
                                  </p:childTnLst>
                                </p:cTn>
                              </p:par>
                              <p:par>
                                <p:cTn id="92" presetID="10" presetClass="entr" presetSubtype="0" fill="hold" grpId="0" nodeType="withEffect">
                                  <p:stCondLst>
                                    <p:cond delay="1600"/>
                                  </p:stCondLst>
                                  <p:childTnLst>
                                    <p:set>
                                      <p:cBhvr>
                                        <p:cTn id="90" dur="1" fill="hold">
                                          <p:stCondLst>
                                            <p:cond delay="0"/>
                                          </p:stCondLst>
                                        </p:cTn>
                                        <p:tgtEl>
                                          <p:spTgt spid="12"/>
                                        </p:tgtEl>
                                        <p:attrNameLst>
                                          <p:attrName>style.visibility</p:attrName>
                                        </p:attrNameLst>
                                      </p:cBhvr>
                                      <p:to>
                                        <p:strVal val="visible"/>
                                      </p:to>
                                    </p:set>
                                    <p:animEffect transition="in" filter="fade">
                                      <p:cBhvr>
                                        <p:cTn id="91" dur="500"/>
                                        <p:tgtEl>
                                          <p:spTgt spid="12"/>
                                        </p:tgtEl>
                                      </p:cBhvr>
                                    </p:animEffect>
                                  </p:childTnLst>
                                </p:cTn>
                              </p:par>
                              <p:par>
                                <p:cTn id="95" presetID="10" presetClass="entr" presetSubtype="0" fill="hold" grpId="0" nodeType="withEffect">
                                  <p:stCondLst>
                                    <p:cond delay="1600"/>
                                  </p:stCondLst>
                                  <p:childTnLst>
                                    <p:set>
                                      <p:cBhvr>
                                        <p:cTn id="93" dur="1" fill="hold">
                                          <p:stCondLst>
                                            <p:cond delay="0"/>
                                          </p:stCondLst>
                                        </p:cTn>
                                        <p:tgtEl>
                                          <p:spTgt spid="64"/>
                                        </p:tgtEl>
                                        <p:attrNameLst>
                                          <p:attrName>style.visibility</p:attrName>
                                        </p:attrNameLst>
                                      </p:cBhvr>
                                      <p:to>
                                        <p:strVal val="visible"/>
                                      </p:to>
                                    </p:set>
                                    <p:animEffect transition="in" filter="fade">
                                      <p:cBhvr>
                                        <p:cTn id="94" dur="500"/>
                                        <p:tgtEl>
                                          <p:spTgt spid="64"/>
                                        </p:tgtEl>
                                      </p:cBhvr>
                                    </p:animEffect>
                                  </p:childTnLst>
                                </p:cTn>
                              </p:par>
                              <p:par>
                                <p:cTn id="98" presetID="10" presetClass="entr" presetSubtype="0" fill="hold" grpId="0" nodeType="withEffect">
                                  <p:stCondLst>
                                    <p:cond delay="1600"/>
                                  </p:stCondLst>
                                  <p:childTnLst>
                                    <p:set>
                                      <p:cBhvr>
                                        <p:cTn id="96" dur="1" fill="hold">
                                          <p:stCondLst>
                                            <p:cond delay="0"/>
                                          </p:stCondLst>
                                        </p:cTn>
                                        <p:tgtEl>
                                          <p:spTgt spid="65"/>
                                        </p:tgtEl>
                                        <p:attrNameLst>
                                          <p:attrName>style.visibility</p:attrName>
                                        </p:attrNameLst>
                                      </p:cBhvr>
                                      <p:to>
                                        <p:strVal val="visible"/>
                                      </p:to>
                                    </p:set>
                                    <p:animEffect transition="in" filter="fade">
                                      <p:cBhvr>
                                        <p:cTn id="97" dur="500"/>
                                        <p:tgtEl>
                                          <p:spTgt spid="65"/>
                                        </p:tgtEl>
                                      </p:cBhvr>
                                    </p:animEffect>
                                  </p:childTnLst>
                                </p:cTn>
                              </p:par>
                              <p:par>
                                <p:cTn id="101" presetID="10" presetClass="entr" presetSubtype="0" fill="hold" grpId="0" nodeType="withEffect">
                                  <p:stCondLst>
                                    <p:cond delay="1600"/>
                                  </p:stCondLst>
                                  <p:childTnLst>
                                    <p:set>
                                      <p:cBhvr>
                                        <p:cTn id="99" dur="1" fill="hold">
                                          <p:stCondLst>
                                            <p:cond delay="0"/>
                                          </p:stCondLst>
                                        </p:cTn>
                                        <p:tgtEl>
                                          <p:spTgt spid="68"/>
                                        </p:tgtEl>
                                        <p:attrNameLst>
                                          <p:attrName>style.visibility</p:attrName>
                                        </p:attrNameLst>
                                      </p:cBhvr>
                                      <p:to>
                                        <p:strVal val="visible"/>
                                      </p:to>
                                    </p:set>
                                    <p:animEffect transition="in" filter="fade">
                                      <p:cBhvr>
                                        <p:cTn id="100" dur="500"/>
                                        <p:tgtEl>
                                          <p:spTgt spid="68"/>
                                        </p:tgtEl>
                                      </p:cBhvr>
                                    </p:animEffect>
                                  </p:childTnLst>
                                </p:cTn>
                              </p:par>
                              <p:par>
                                <p:cTn id="104" presetID="10" presetClass="entr" presetSubtype="0" fill="hold" grpId="0" nodeType="withEffect">
                                  <p:stCondLst>
                                    <p:cond delay="1645"/>
                                  </p:stCondLst>
                                  <p:childTnLst>
                                    <p:set>
                                      <p:cBhvr>
                                        <p:cTn id="102" dur="1" fill="hold">
                                          <p:stCondLst>
                                            <p:cond delay="0"/>
                                          </p:stCondLst>
                                        </p:cTn>
                                        <p:tgtEl>
                                          <p:spTgt spid="13"/>
                                        </p:tgtEl>
                                        <p:attrNameLst>
                                          <p:attrName>style.visibility</p:attrName>
                                        </p:attrNameLst>
                                      </p:cBhvr>
                                      <p:to>
                                        <p:strVal val="visible"/>
                                      </p:to>
                                    </p:set>
                                    <p:animEffect transition="in" filter="fade">
                                      <p:cBhvr>
                                        <p:cTn id="103" dur="500"/>
                                        <p:tgtEl>
                                          <p:spTgt spid="13"/>
                                        </p:tgtEl>
                                      </p:cBhvr>
                                    </p:animEffect>
                                  </p:childTnLst>
                                </p:cTn>
                              </p:par>
                              <p:par>
                                <p:cTn id="107" presetID="10" presetClass="entr" presetSubtype="0" fill="hold" grpId="0" nodeType="withEffect">
                                  <p:stCondLst>
                                    <p:cond delay="1645"/>
                                  </p:stCondLst>
                                  <p:childTnLst>
                                    <p:set>
                                      <p:cBhvr>
                                        <p:cTn id="105" dur="1" fill="hold">
                                          <p:stCondLst>
                                            <p:cond delay="0"/>
                                          </p:stCondLst>
                                        </p:cTn>
                                        <p:tgtEl>
                                          <p:spTgt spid="14"/>
                                        </p:tgtEl>
                                        <p:attrNameLst>
                                          <p:attrName>style.visibility</p:attrName>
                                        </p:attrNameLst>
                                      </p:cBhvr>
                                      <p:to>
                                        <p:strVal val="visible"/>
                                      </p:to>
                                    </p:set>
                                    <p:animEffect transition="in" filter="fade">
                                      <p:cBhvr>
                                        <p:cTn id="106" dur="500"/>
                                        <p:tgtEl>
                                          <p:spTgt spid="14"/>
                                        </p:tgtEl>
                                      </p:cBhvr>
                                    </p:animEffect>
                                  </p:childTnLst>
                                </p:cTn>
                              </p:par>
                              <p:par>
                                <p:cTn id="110" presetID="10" presetClass="entr" presetSubtype="0" fill="hold" grpId="0" nodeType="withEffect">
                                  <p:stCondLst>
                                    <p:cond delay="1690"/>
                                  </p:stCondLst>
                                  <p:childTnLst>
                                    <p:set>
                                      <p:cBhvr>
                                        <p:cTn id="108" dur="1" fill="hold">
                                          <p:stCondLst>
                                            <p:cond delay="0"/>
                                          </p:stCondLst>
                                        </p:cTn>
                                        <p:tgtEl>
                                          <p:spTgt spid="15"/>
                                        </p:tgtEl>
                                        <p:attrNameLst>
                                          <p:attrName>style.visibility</p:attrName>
                                        </p:attrNameLst>
                                      </p:cBhvr>
                                      <p:to>
                                        <p:strVal val="visible"/>
                                      </p:to>
                                    </p:set>
                                    <p:animEffect transition="in" filter="fade">
                                      <p:cBhvr>
                                        <p:cTn id="109" dur="500"/>
                                        <p:tgtEl>
                                          <p:spTgt spid="15"/>
                                        </p:tgtEl>
                                      </p:cBhvr>
                                    </p:animEffect>
                                  </p:childTnLst>
                                </p:cTn>
                              </p:par>
                              <p:par>
                                <p:cTn id="113" presetID="10" presetClass="entr" presetSubtype="0" fill="hold" grpId="0" nodeType="withEffect">
                                  <p:stCondLst>
                                    <p:cond delay="1690"/>
                                  </p:stCondLst>
                                  <p:childTnLst>
                                    <p:set>
                                      <p:cBhvr>
                                        <p:cTn id="111" dur="1" fill="hold">
                                          <p:stCondLst>
                                            <p:cond delay="0"/>
                                          </p:stCondLst>
                                        </p:cTn>
                                        <p:tgtEl>
                                          <p:spTgt spid="16"/>
                                        </p:tgtEl>
                                        <p:attrNameLst>
                                          <p:attrName>style.visibility</p:attrName>
                                        </p:attrNameLst>
                                      </p:cBhvr>
                                      <p:to>
                                        <p:strVal val="visible"/>
                                      </p:to>
                                    </p:set>
                                    <p:animEffect transition="in" filter="fade">
                                      <p:cBhvr>
                                        <p:cTn id="112" dur="500"/>
                                        <p:tgtEl>
                                          <p:spTgt spid="16"/>
                                        </p:tgtEl>
                                      </p:cBhvr>
                                    </p:animEffect>
                                  </p:childTnLst>
                                </p:cTn>
                              </p:par>
                              <p:par>
                                <p:cTn id="116" presetID="10" presetClass="entr" presetSubtype="0" fill="hold" grpId="0" nodeType="withEffect">
                                  <p:stCondLst>
                                    <p:cond delay="1700"/>
                                  </p:stCondLst>
                                  <p:childTnLst>
                                    <p:set>
                                      <p:cBhvr>
                                        <p:cTn id="114" dur="1" fill="hold">
                                          <p:stCondLst>
                                            <p:cond delay="0"/>
                                          </p:stCondLst>
                                        </p:cTn>
                                        <p:tgtEl>
                                          <p:spTgt spid="66"/>
                                        </p:tgtEl>
                                        <p:attrNameLst>
                                          <p:attrName>style.visibility</p:attrName>
                                        </p:attrNameLst>
                                      </p:cBhvr>
                                      <p:to>
                                        <p:strVal val="visible"/>
                                      </p:to>
                                    </p:set>
                                    <p:animEffect transition="in" filter="fade">
                                      <p:cBhvr>
                                        <p:cTn id="115" dur="500"/>
                                        <p:tgtEl>
                                          <p:spTgt spid="66"/>
                                        </p:tgtEl>
                                      </p:cBhvr>
                                    </p:animEffect>
                                  </p:childTnLst>
                                </p:cTn>
                              </p:par>
                              <p:par>
                                <p:cTn id="119" presetID="10" presetClass="entr" presetSubtype="0" fill="hold" grpId="0" nodeType="withEffect">
                                  <p:stCondLst>
                                    <p:cond delay="1700"/>
                                  </p:stCondLst>
                                  <p:childTnLst>
                                    <p:set>
                                      <p:cBhvr>
                                        <p:cTn id="117" dur="1" fill="hold">
                                          <p:stCondLst>
                                            <p:cond delay="0"/>
                                          </p:stCondLst>
                                        </p:cTn>
                                        <p:tgtEl>
                                          <p:spTgt spid="67"/>
                                        </p:tgtEl>
                                        <p:attrNameLst>
                                          <p:attrName>style.visibility</p:attrName>
                                        </p:attrNameLst>
                                      </p:cBhvr>
                                      <p:to>
                                        <p:strVal val="visible"/>
                                      </p:to>
                                    </p:set>
                                    <p:animEffect transition="in" filter="fade">
                                      <p:cBhvr>
                                        <p:cTn id="118" dur="500"/>
                                        <p:tgtEl>
                                          <p:spTgt spid="67"/>
                                        </p:tgtEl>
                                      </p:cBhvr>
                                    </p:animEffect>
                                  </p:childTnLst>
                                </p:cTn>
                              </p:par>
                              <p:par>
                                <p:cTn id="122" presetID="10" presetClass="entr" presetSubtype="0" fill="hold" grpId="0" nodeType="withEffect">
                                  <p:stCondLst>
                                    <p:cond delay="1735"/>
                                  </p:stCondLst>
                                  <p:childTnLst>
                                    <p:set>
                                      <p:cBhvr>
                                        <p:cTn id="120" dur="1" fill="hold">
                                          <p:stCondLst>
                                            <p:cond delay="0"/>
                                          </p:stCondLst>
                                        </p:cTn>
                                        <p:tgtEl>
                                          <p:spTgt spid="17"/>
                                        </p:tgtEl>
                                        <p:attrNameLst>
                                          <p:attrName>style.visibility</p:attrName>
                                        </p:attrNameLst>
                                      </p:cBhvr>
                                      <p:to>
                                        <p:strVal val="visible"/>
                                      </p:to>
                                    </p:set>
                                    <p:animEffect transition="in" filter="fade">
                                      <p:cBhvr>
                                        <p:cTn id="121" dur="500"/>
                                        <p:tgtEl>
                                          <p:spTgt spid="17"/>
                                        </p:tgtEl>
                                      </p:cBhvr>
                                    </p:animEffect>
                                  </p:childTnLst>
                                </p:cTn>
                              </p:par>
                              <p:par>
                                <p:cTn id="125" presetID="10" presetClass="entr" presetSubtype="0" fill="hold" grpId="0" nodeType="withEffect">
                                  <p:stCondLst>
                                    <p:cond delay="1735"/>
                                  </p:stCondLst>
                                  <p:childTnLst>
                                    <p:set>
                                      <p:cBhvr>
                                        <p:cTn id="123" dur="1" fill="hold">
                                          <p:stCondLst>
                                            <p:cond delay="0"/>
                                          </p:stCondLst>
                                        </p:cTn>
                                        <p:tgtEl>
                                          <p:spTgt spid="18"/>
                                        </p:tgtEl>
                                        <p:attrNameLst>
                                          <p:attrName>style.visibility</p:attrName>
                                        </p:attrNameLst>
                                      </p:cBhvr>
                                      <p:to>
                                        <p:strVal val="visible"/>
                                      </p:to>
                                    </p:set>
                                    <p:animEffect transition="in" filter="fade">
                                      <p:cBhvr>
                                        <p:cTn id="124" dur="500"/>
                                        <p:tgtEl>
                                          <p:spTgt spid="18"/>
                                        </p:tgtEl>
                                      </p:cBhvr>
                                    </p:animEffect>
                                  </p:childTnLst>
                                </p:cTn>
                              </p:par>
                              <p:par>
                                <p:cTn id="128" presetID="10" presetClass="entr" presetSubtype="0" fill="hold" grpId="0" nodeType="withEffect">
                                  <p:stCondLst>
                                    <p:cond delay="1780"/>
                                  </p:stCondLst>
                                  <p:childTnLst>
                                    <p:set>
                                      <p:cBhvr>
                                        <p:cTn id="126" dur="1" fill="hold">
                                          <p:stCondLst>
                                            <p:cond delay="0"/>
                                          </p:stCondLst>
                                        </p:cTn>
                                        <p:tgtEl>
                                          <p:spTgt spid="19"/>
                                        </p:tgtEl>
                                        <p:attrNameLst>
                                          <p:attrName>style.visibility</p:attrName>
                                        </p:attrNameLst>
                                      </p:cBhvr>
                                      <p:to>
                                        <p:strVal val="visible"/>
                                      </p:to>
                                    </p:set>
                                    <p:animEffect transition="in" filter="fade">
                                      <p:cBhvr>
                                        <p:cTn id="127" dur="500"/>
                                        <p:tgtEl>
                                          <p:spTgt spid="19"/>
                                        </p:tgtEl>
                                      </p:cBhvr>
                                    </p:animEffect>
                                  </p:childTnLst>
                                </p:cTn>
                              </p:par>
                              <p:par>
                                <p:cTn id="131" presetID="10" presetClass="entr" presetSubtype="0" fill="hold" grpId="0" nodeType="withEffect">
                                  <p:stCondLst>
                                    <p:cond delay="1780"/>
                                  </p:stCondLst>
                                  <p:childTnLst>
                                    <p:set>
                                      <p:cBhvr>
                                        <p:cTn id="129" dur="1" fill="hold">
                                          <p:stCondLst>
                                            <p:cond delay="0"/>
                                          </p:stCondLst>
                                        </p:cTn>
                                        <p:tgtEl>
                                          <p:spTgt spid="20"/>
                                        </p:tgtEl>
                                        <p:attrNameLst>
                                          <p:attrName>style.visibility</p:attrName>
                                        </p:attrNameLst>
                                      </p:cBhvr>
                                      <p:to>
                                        <p:strVal val="visible"/>
                                      </p:to>
                                    </p:set>
                                    <p:animEffect transition="in" filter="fade">
                                      <p:cBhvr>
                                        <p:cTn id="130" dur="500"/>
                                        <p:tgtEl>
                                          <p:spTgt spid="20"/>
                                        </p:tgtEl>
                                      </p:cBhvr>
                                    </p:animEffect>
                                  </p:childTnLst>
                                </p:cTn>
                              </p:par>
                              <p:par>
                                <p:cTn id="134" presetID="10" presetClass="entr" presetSubtype="0" fill="hold" grpId="0" nodeType="withEffect">
                                  <p:stCondLst>
                                    <p:cond delay="1825"/>
                                  </p:stCondLst>
                                  <p:childTnLst>
                                    <p:set>
                                      <p:cBhvr>
                                        <p:cTn id="132" dur="1" fill="hold">
                                          <p:stCondLst>
                                            <p:cond delay="0"/>
                                          </p:stCondLst>
                                        </p:cTn>
                                        <p:tgtEl>
                                          <p:spTgt spid="21"/>
                                        </p:tgtEl>
                                        <p:attrNameLst>
                                          <p:attrName>style.visibility</p:attrName>
                                        </p:attrNameLst>
                                      </p:cBhvr>
                                      <p:to>
                                        <p:strVal val="visible"/>
                                      </p:to>
                                    </p:set>
                                    <p:animEffect transition="in" filter="fade">
                                      <p:cBhvr>
                                        <p:cTn id="133" dur="500"/>
                                        <p:tgtEl>
                                          <p:spTgt spid="21"/>
                                        </p:tgtEl>
                                      </p:cBhvr>
                                    </p:animEffect>
                                  </p:childTnLst>
                                </p:cTn>
                              </p:par>
                              <p:par>
                                <p:cTn id="137" presetID="10" presetClass="entr" presetSubtype="0" fill="hold" grpId="0" nodeType="withEffect">
                                  <p:stCondLst>
                                    <p:cond delay="1825"/>
                                  </p:stCondLst>
                                  <p:childTnLst>
                                    <p:set>
                                      <p:cBhvr>
                                        <p:cTn id="135" dur="1" fill="hold">
                                          <p:stCondLst>
                                            <p:cond delay="0"/>
                                          </p:stCondLst>
                                        </p:cTn>
                                        <p:tgtEl>
                                          <p:spTgt spid="22"/>
                                        </p:tgtEl>
                                        <p:attrNameLst>
                                          <p:attrName>style.visibility</p:attrName>
                                        </p:attrNameLst>
                                      </p:cBhvr>
                                      <p:to>
                                        <p:strVal val="visible"/>
                                      </p:to>
                                    </p:set>
                                    <p:animEffect transition="in" filter="fade">
                                      <p:cBhvr>
                                        <p:cTn id="136" dur="500"/>
                                        <p:tgtEl>
                                          <p:spTgt spid="22"/>
                                        </p:tgtEl>
                                      </p:cBhvr>
                                    </p:animEffect>
                                  </p:childTnLst>
                                </p:cTn>
                              </p:par>
                              <p:par>
                                <p:cTn id="140" presetID="10" presetClass="entr" presetSubtype="0" fill="hold" grpId="0" nodeType="withEffect">
                                  <p:stCondLst>
                                    <p:cond delay="1870"/>
                                  </p:stCondLst>
                                  <p:childTnLst>
                                    <p:set>
                                      <p:cBhvr>
                                        <p:cTn id="138" dur="1" fill="hold">
                                          <p:stCondLst>
                                            <p:cond delay="0"/>
                                          </p:stCondLst>
                                        </p:cTn>
                                        <p:tgtEl>
                                          <p:spTgt spid="23"/>
                                        </p:tgtEl>
                                        <p:attrNameLst>
                                          <p:attrName>style.visibility</p:attrName>
                                        </p:attrNameLst>
                                      </p:cBhvr>
                                      <p:to>
                                        <p:strVal val="visible"/>
                                      </p:to>
                                    </p:set>
                                    <p:animEffect transition="in" filter="fade">
                                      <p:cBhvr>
                                        <p:cTn id="139" dur="500"/>
                                        <p:tgtEl>
                                          <p:spTgt spid="23"/>
                                        </p:tgtEl>
                                      </p:cBhvr>
                                    </p:animEffect>
                                  </p:childTnLst>
                                </p:cTn>
                              </p:par>
                              <p:par>
                                <p:cTn id="143" presetID="10" presetClass="entr" presetSubtype="0" fill="hold" grpId="0" nodeType="withEffect">
                                  <p:stCondLst>
                                    <p:cond delay="1870"/>
                                  </p:stCondLst>
                                  <p:childTnLst>
                                    <p:set>
                                      <p:cBhvr>
                                        <p:cTn id="141" dur="1" fill="hold">
                                          <p:stCondLst>
                                            <p:cond delay="0"/>
                                          </p:stCondLst>
                                        </p:cTn>
                                        <p:tgtEl>
                                          <p:spTgt spid="24"/>
                                        </p:tgtEl>
                                        <p:attrNameLst>
                                          <p:attrName>style.visibility</p:attrName>
                                        </p:attrNameLst>
                                      </p:cBhvr>
                                      <p:to>
                                        <p:strVal val="visible"/>
                                      </p:to>
                                    </p:set>
                                    <p:animEffect transition="in" filter="fade">
                                      <p:cBhvr>
                                        <p:cTn id="142" dur="500"/>
                                        <p:tgtEl>
                                          <p:spTgt spid="24"/>
                                        </p:tgtEl>
                                      </p:cBhvr>
                                    </p:animEffect>
                                  </p:childTnLst>
                                </p:cTn>
                              </p:par>
                              <p:par>
                                <p:cTn id="146" presetID="10" presetClass="entr" presetSubtype="0" fill="hold" grpId="0" nodeType="withEffect">
                                  <p:stCondLst>
                                    <p:cond delay="1915"/>
                                  </p:stCondLst>
                                  <p:childTnLst>
                                    <p:set>
                                      <p:cBhvr>
                                        <p:cTn id="144" dur="1" fill="hold">
                                          <p:stCondLst>
                                            <p:cond delay="0"/>
                                          </p:stCondLst>
                                        </p:cTn>
                                        <p:tgtEl>
                                          <p:spTgt spid="25"/>
                                        </p:tgtEl>
                                        <p:attrNameLst>
                                          <p:attrName>style.visibility</p:attrName>
                                        </p:attrNameLst>
                                      </p:cBhvr>
                                      <p:to>
                                        <p:strVal val="visible"/>
                                      </p:to>
                                    </p:set>
                                    <p:animEffect transition="in" filter="fade">
                                      <p:cBhvr>
                                        <p:cTn id="145" dur="500"/>
                                        <p:tgtEl>
                                          <p:spTgt spid="25"/>
                                        </p:tgtEl>
                                      </p:cBhvr>
                                    </p:animEffect>
                                  </p:childTnLst>
                                </p:cTn>
                              </p:par>
                              <p:par>
                                <p:cTn id="149" presetID="10" presetClass="entr" presetSubtype="0" fill="hold" grpId="0" nodeType="withEffect">
                                  <p:stCondLst>
                                    <p:cond delay="1915"/>
                                  </p:stCondLst>
                                  <p:childTnLst>
                                    <p:set>
                                      <p:cBhvr>
                                        <p:cTn id="147" dur="1" fill="hold">
                                          <p:stCondLst>
                                            <p:cond delay="0"/>
                                          </p:stCondLst>
                                        </p:cTn>
                                        <p:tgtEl>
                                          <p:spTgt spid="26"/>
                                        </p:tgtEl>
                                        <p:attrNameLst>
                                          <p:attrName>style.visibility</p:attrName>
                                        </p:attrNameLst>
                                      </p:cBhvr>
                                      <p:to>
                                        <p:strVal val="visible"/>
                                      </p:to>
                                    </p:set>
                                    <p:animEffect transition="in" filter="fade">
                                      <p:cBhvr>
                                        <p:cTn id="148" dur="500"/>
                                        <p:tgtEl>
                                          <p:spTgt spid="26"/>
                                        </p:tgtEl>
                                      </p:cBhvr>
                                    </p:animEffect>
                                  </p:childTnLst>
                                </p:cTn>
                              </p:par>
                              <p:par>
                                <p:cTn id="152" presetID="10" presetClass="entr" presetSubtype="0" fill="hold" grpId="0" nodeType="withEffect">
                                  <p:stCondLst>
                                    <p:cond delay="1960"/>
                                  </p:stCondLst>
                                  <p:childTnLst>
                                    <p:set>
                                      <p:cBhvr>
                                        <p:cTn id="150" dur="1" fill="hold">
                                          <p:stCondLst>
                                            <p:cond delay="0"/>
                                          </p:stCondLst>
                                        </p:cTn>
                                        <p:tgtEl>
                                          <p:spTgt spid="27"/>
                                        </p:tgtEl>
                                        <p:attrNameLst>
                                          <p:attrName>style.visibility</p:attrName>
                                        </p:attrNameLst>
                                      </p:cBhvr>
                                      <p:to>
                                        <p:strVal val="visible"/>
                                      </p:to>
                                    </p:set>
                                    <p:animEffect transition="in" filter="fade">
                                      <p:cBhvr>
                                        <p:cTn id="151" dur="500"/>
                                        <p:tgtEl>
                                          <p:spTgt spid="27"/>
                                        </p:tgtEl>
                                      </p:cBhvr>
                                    </p:animEffect>
                                  </p:childTnLst>
                                </p:cTn>
                              </p:par>
                              <p:par>
                                <p:cTn id="155" presetID="10" presetClass="entr" presetSubtype="0" fill="hold" grpId="0" nodeType="withEffect">
                                  <p:stCondLst>
                                    <p:cond delay="1960"/>
                                  </p:stCondLst>
                                  <p:childTnLst>
                                    <p:set>
                                      <p:cBhvr>
                                        <p:cTn id="153" dur="1" fill="hold">
                                          <p:stCondLst>
                                            <p:cond delay="0"/>
                                          </p:stCondLst>
                                        </p:cTn>
                                        <p:tgtEl>
                                          <p:spTgt spid="28"/>
                                        </p:tgtEl>
                                        <p:attrNameLst>
                                          <p:attrName>style.visibility</p:attrName>
                                        </p:attrNameLst>
                                      </p:cBhvr>
                                      <p:to>
                                        <p:strVal val="visible"/>
                                      </p:to>
                                    </p:set>
                                    <p:animEffect transition="in" filter="fade">
                                      <p:cBhvr>
                                        <p:cTn id="154" dur="500"/>
                                        <p:tgtEl>
                                          <p:spTgt spid="28"/>
                                        </p:tgtEl>
                                      </p:cBhvr>
                                    </p:animEffect>
                                  </p:childTnLst>
                                </p:cTn>
                              </p:par>
                              <p:par>
                                <p:cTn id="158" presetID="10" presetClass="entr" presetSubtype="0" fill="hold" grpId="0" nodeType="withEffect">
                                  <p:stCondLst>
                                    <p:cond delay="2005"/>
                                  </p:stCondLst>
                                  <p:childTnLst>
                                    <p:set>
                                      <p:cBhvr>
                                        <p:cTn id="156" dur="1" fill="hold">
                                          <p:stCondLst>
                                            <p:cond delay="0"/>
                                          </p:stCondLst>
                                        </p:cTn>
                                        <p:tgtEl>
                                          <p:spTgt spid="29"/>
                                        </p:tgtEl>
                                        <p:attrNameLst>
                                          <p:attrName>style.visibility</p:attrName>
                                        </p:attrNameLst>
                                      </p:cBhvr>
                                      <p:to>
                                        <p:strVal val="visible"/>
                                      </p:to>
                                    </p:set>
                                    <p:animEffect transition="in" filter="fade">
                                      <p:cBhvr>
                                        <p:cTn id="157" dur="500"/>
                                        <p:tgtEl>
                                          <p:spTgt spid="29"/>
                                        </p:tgtEl>
                                      </p:cBhvr>
                                    </p:animEffect>
                                  </p:childTnLst>
                                </p:cTn>
                              </p:par>
                              <p:par>
                                <p:cTn id="161" presetID="10" presetClass="entr" presetSubtype="0" fill="hold" grpId="0" nodeType="withEffect">
                                  <p:stCondLst>
                                    <p:cond delay="2005"/>
                                  </p:stCondLst>
                                  <p:childTnLst>
                                    <p:set>
                                      <p:cBhvr>
                                        <p:cTn id="159" dur="1" fill="hold">
                                          <p:stCondLst>
                                            <p:cond delay="0"/>
                                          </p:stCondLst>
                                        </p:cTn>
                                        <p:tgtEl>
                                          <p:spTgt spid="30"/>
                                        </p:tgtEl>
                                        <p:attrNameLst>
                                          <p:attrName>style.visibility</p:attrName>
                                        </p:attrNameLst>
                                      </p:cBhvr>
                                      <p:to>
                                        <p:strVal val="visible"/>
                                      </p:to>
                                    </p:set>
                                    <p:animEffect transition="in" filter="fade">
                                      <p:cBhvr>
                                        <p:cTn id="160" dur="500"/>
                                        <p:tgtEl>
                                          <p:spTgt spid="30"/>
                                        </p:tgtEl>
                                      </p:cBhvr>
                                    </p:animEffect>
                                  </p:childTnLst>
                                </p:cTn>
                              </p:par>
                              <p:par>
                                <p:cTn id="164" presetID="10" presetClass="entr" presetSubtype="0" fill="hold" grpId="0" nodeType="withEffect">
                                  <p:stCondLst>
                                    <p:cond delay="2050"/>
                                  </p:stCondLst>
                                  <p:childTnLst>
                                    <p:set>
                                      <p:cBhvr>
                                        <p:cTn id="162" dur="1" fill="hold">
                                          <p:stCondLst>
                                            <p:cond delay="0"/>
                                          </p:stCondLst>
                                        </p:cTn>
                                        <p:tgtEl>
                                          <p:spTgt spid="31"/>
                                        </p:tgtEl>
                                        <p:attrNameLst>
                                          <p:attrName>style.visibility</p:attrName>
                                        </p:attrNameLst>
                                      </p:cBhvr>
                                      <p:to>
                                        <p:strVal val="visible"/>
                                      </p:to>
                                    </p:set>
                                    <p:animEffect transition="in" filter="fade">
                                      <p:cBhvr>
                                        <p:cTn id="163" dur="500"/>
                                        <p:tgtEl>
                                          <p:spTgt spid="31"/>
                                        </p:tgtEl>
                                      </p:cBhvr>
                                    </p:animEffect>
                                  </p:childTnLst>
                                </p:cTn>
                              </p:par>
                              <p:par>
                                <p:cTn id="167" presetID="10" presetClass="entr" presetSubtype="0" fill="hold" grpId="0" nodeType="withEffect">
                                  <p:stCondLst>
                                    <p:cond delay="2050"/>
                                  </p:stCondLst>
                                  <p:childTnLst>
                                    <p:set>
                                      <p:cBhvr>
                                        <p:cTn id="165" dur="1" fill="hold">
                                          <p:stCondLst>
                                            <p:cond delay="0"/>
                                          </p:stCondLst>
                                        </p:cTn>
                                        <p:tgtEl>
                                          <p:spTgt spid="32"/>
                                        </p:tgtEl>
                                        <p:attrNameLst>
                                          <p:attrName>style.visibility</p:attrName>
                                        </p:attrNameLst>
                                      </p:cBhvr>
                                      <p:to>
                                        <p:strVal val="visible"/>
                                      </p:to>
                                    </p:set>
                                    <p:animEffect transition="in" filter="fade">
                                      <p:cBhvr>
                                        <p:cTn id="166" dur="500"/>
                                        <p:tgtEl>
                                          <p:spTgt spid="32"/>
                                        </p:tgtEl>
                                      </p:cBhvr>
                                    </p:animEffect>
                                  </p:childTnLst>
                                </p:cTn>
                              </p:par>
                              <p:par>
                                <p:cTn id="170" presetID="10" presetClass="entr" presetSubtype="0" fill="hold" grpId="0" nodeType="withEffect">
                                  <p:stCondLst>
                                    <p:cond delay="2095"/>
                                  </p:stCondLst>
                                  <p:childTnLst>
                                    <p:set>
                                      <p:cBhvr>
                                        <p:cTn id="168" dur="1" fill="hold">
                                          <p:stCondLst>
                                            <p:cond delay="0"/>
                                          </p:stCondLst>
                                        </p:cTn>
                                        <p:tgtEl>
                                          <p:spTgt spid="33"/>
                                        </p:tgtEl>
                                        <p:attrNameLst>
                                          <p:attrName>style.visibility</p:attrName>
                                        </p:attrNameLst>
                                      </p:cBhvr>
                                      <p:to>
                                        <p:strVal val="visible"/>
                                      </p:to>
                                    </p:set>
                                    <p:animEffect transition="in" filter="fade">
                                      <p:cBhvr>
                                        <p:cTn id="169" dur="500"/>
                                        <p:tgtEl>
                                          <p:spTgt spid="33"/>
                                        </p:tgtEl>
                                      </p:cBhvr>
                                    </p:animEffect>
                                  </p:childTnLst>
                                </p:cTn>
                              </p:par>
                              <p:par>
                                <p:cTn id="173" presetID="10" presetClass="entr" presetSubtype="0" fill="hold" grpId="0" nodeType="withEffect">
                                  <p:stCondLst>
                                    <p:cond delay="2095"/>
                                  </p:stCondLst>
                                  <p:childTnLst>
                                    <p:set>
                                      <p:cBhvr>
                                        <p:cTn id="171" dur="1" fill="hold">
                                          <p:stCondLst>
                                            <p:cond delay="0"/>
                                          </p:stCondLst>
                                        </p:cTn>
                                        <p:tgtEl>
                                          <p:spTgt spid="34"/>
                                        </p:tgtEl>
                                        <p:attrNameLst>
                                          <p:attrName>style.visibility</p:attrName>
                                        </p:attrNameLst>
                                      </p:cBhvr>
                                      <p:to>
                                        <p:strVal val="visible"/>
                                      </p:to>
                                    </p:set>
                                    <p:animEffect transition="in" filter="fade">
                                      <p:cBhvr>
                                        <p:cTn id="172" dur="500"/>
                                        <p:tgtEl>
                                          <p:spTgt spid="34"/>
                                        </p:tgtEl>
                                      </p:cBhvr>
                                    </p:animEffect>
                                  </p:childTnLst>
                                </p:cTn>
                              </p:par>
                              <p:par>
                                <p:cTn id="176" presetID="10" presetClass="entr" presetSubtype="0" fill="hold" grpId="0" nodeType="withEffect">
                                  <p:stCondLst>
                                    <p:cond delay="2100"/>
                                  </p:stCondLst>
                                  <p:childTnLst>
                                    <p:set>
                                      <p:cBhvr>
                                        <p:cTn id="174" dur="1" fill="hold">
                                          <p:stCondLst>
                                            <p:cond delay="0"/>
                                          </p:stCondLst>
                                        </p:cTn>
                                        <p:tgtEl>
                                          <p:spTgt spid="69"/>
                                        </p:tgtEl>
                                        <p:attrNameLst>
                                          <p:attrName>style.visibility</p:attrName>
                                        </p:attrNameLst>
                                      </p:cBhvr>
                                      <p:to>
                                        <p:strVal val="visible"/>
                                      </p:to>
                                    </p:set>
                                    <p:animEffect transition="in" filter="fade">
                                      <p:cBhvr>
                                        <p:cTn id="175" dur="500"/>
                                        <p:tgtEl>
                                          <p:spTgt spid="69"/>
                                        </p:tgtEl>
                                      </p:cBhvr>
                                    </p:animEffect>
                                  </p:childTnLst>
                                </p:cTn>
                              </p:par>
                              <p:par>
                                <p:cTn id="179" presetID="10" presetClass="entr" presetSubtype="0" fill="hold" grpId="0" nodeType="withEffect">
                                  <p:stCondLst>
                                    <p:cond delay="2140"/>
                                  </p:stCondLst>
                                  <p:childTnLst>
                                    <p:set>
                                      <p:cBhvr>
                                        <p:cTn id="177" dur="1" fill="hold">
                                          <p:stCondLst>
                                            <p:cond delay="0"/>
                                          </p:stCondLst>
                                        </p:cTn>
                                        <p:tgtEl>
                                          <p:spTgt spid="35"/>
                                        </p:tgtEl>
                                        <p:attrNameLst>
                                          <p:attrName>style.visibility</p:attrName>
                                        </p:attrNameLst>
                                      </p:cBhvr>
                                      <p:to>
                                        <p:strVal val="visible"/>
                                      </p:to>
                                    </p:set>
                                    <p:animEffect transition="in" filter="fade">
                                      <p:cBhvr>
                                        <p:cTn id="178" dur="500"/>
                                        <p:tgtEl>
                                          <p:spTgt spid="35"/>
                                        </p:tgtEl>
                                      </p:cBhvr>
                                    </p:animEffect>
                                  </p:childTnLst>
                                </p:cTn>
                              </p:par>
                              <p:par>
                                <p:cTn id="182" presetID="10" presetClass="entr" presetSubtype="0" fill="hold" grpId="0" nodeType="withEffect">
                                  <p:stCondLst>
                                    <p:cond delay="2140"/>
                                  </p:stCondLst>
                                  <p:childTnLst>
                                    <p:set>
                                      <p:cBhvr>
                                        <p:cTn id="180" dur="1" fill="hold">
                                          <p:stCondLst>
                                            <p:cond delay="0"/>
                                          </p:stCondLst>
                                        </p:cTn>
                                        <p:tgtEl>
                                          <p:spTgt spid="36"/>
                                        </p:tgtEl>
                                        <p:attrNameLst>
                                          <p:attrName>style.visibility</p:attrName>
                                        </p:attrNameLst>
                                      </p:cBhvr>
                                      <p:to>
                                        <p:strVal val="visible"/>
                                      </p:to>
                                    </p:set>
                                    <p:animEffect transition="in" filter="fade">
                                      <p:cBhvr>
                                        <p:cTn id="181" dur="500"/>
                                        <p:tgtEl>
                                          <p:spTgt spid="36"/>
                                        </p:tgtEl>
                                      </p:cBhvr>
                                    </p:animEffect>
                                  </p:childTnLst>
                                </p:cTn>
                              </p:par>
                              <p:par>
                                <p:cTn id="185" presetID="10" presetClass="entr" presetSubtype="0" fill="hold" grpId="0" nodeType="withEffect">
                                  <p:stCondLst>
                                    <p:cond delay="2185"/>
                                  </p:stCondLst>
                                  <p:childTnLst>
                                    <p:set>
                                      <p:cBhvr>
                                        <p:cTn id="183" dur="1" fill="hold">
                                          <p:stCondLst>
                                            <p:cond delay="0"/>
                                          </p:stCondLst>
                                        </p:cTn>
                                        <p:tgtEl>
                                          <p:spTgt spid="37"/>
                                        </p:tgtEl>
                                        <p:attrNameLst>
                                          <p:attrName>style.visibility</p:attrName>
                                        </p:attrNameLst>
                                      </p:cBhvr>
                                      <p:to>
                                        <p:strVal val="visible"/>
                                      </p:to>
                                    </p:set>
                                    <p:animEffect transition="in" filter="fade">
                                      <p:cBhvr>
                                        <p:cTn id="184" dur="500"/>
                                        <p:tgtEl>
                                          <p:spTgt spid="37"/>
                                        </p:tgtEl>
                                      </p:cBhvr>
                                    </p:animEffect>
                                  </p:childTnLst>
                                </p:cTn>
                              </p:par>
                              <p:par>
                                <p:cTn id="188" presetID="10" presetClass="entr" presetSubtype="0" fill="hold" grpId="0" nodeType="withEffect">
                                  <p:stCondLst>
                                    <p:cond delay="2185"/>
                                  </p:stCondLst>
                                  <p:childTnLst>
                                    <p:set>
                                      <p:cBhvr>
                                        <p:cTn id="186" dur="1" fill="hold">
                                          <p:stCondLst>
                                            <p:cond delay="0"/>
                                          </p:stCondLst>
                                        </p:cTn>
                                        <p:tgtEl>
                                          <p:spTgt spid="38"/>
                                        </p:tgtEl>
                                        <p:attrNameLst>
                                          <p:attrName>style.visibility</p:attrName>
                                        </p:attrNameLst>
                                      </p:cBhvr>
                                      <p:to>
                                        <p:strVal val="visible"/>
                                      </p:to>
                                    </p:set>
                                    <p:animEffect transition="in" filter="fade">
                                      <p:cBhvr>
                                        <p:cTn id="187" dur="500"/>
                                        <p:tgtEl>
                                          <p:spTgt spid="38"/>
                                        </p:tgtEl>
                                      </p:cBhvr>
                                    </p:animEffect>
                                  </p:childTnLst>
                                </p:cTn>
                              </p:par>
                              <p:par>
                                <p:cTn id="191" presetID="10" presetClass="entr" presetSubtype="0" fill="hold" grpId="0" nodeType="withEffect">
                                  <p:stCondLst>
                                    <p:cond delay="2230"/>
                                  </p:stCondLst>
                                  <p:childTnLst>
                                    <p:set>
                                      <p:cBhvr>
                                        <p:cTn id="189" dur="1" fill="hold">
                                          <p:stCondLst>
                                            <p:cond delay="0"/>
                                          </p:stCondLst>
                                        </p:cTn>
                                        <p:tgtEl>
                                          <p:spTgt spid="39"/>
                                        </p:tgtEl>
                                        <p:attrNameLst>
                                          <p:attrName>style.visibility</p:attrName>
                                        </p:attrNameLst>
                                      </p:cBhvr>
                                      <p:to>
                                        <p:strVal val="visible"/>
                                      </p:to>
                                    </p:set>
                                    <p:animEffect transition="in" filter="fade">
                                      <p:cBhvr>
                                        <p:cTn id="190" dur="500"/>
                                        <p:tgtEl>
                                          <p:spTgt spid="39"/>
                                        </p:tgtEl>
                                      </p:cBhvr>
                                    </p:animEffect>
                                  </p:childTnLst>
                                </p:cTn>
                              </p:par>
                              <p:par>
                                <p:cTn id="194" presetID="10" presetClass="entr" presetSubtype="0" fill="hold" grpId="0" nodeType="withEffect">
                                  <p:stCondLst>
                                    <p:cond delay="2230"/>
                                  </p:stCondLst>
                                  <p:childTnLst>
                                    <p:set>
                                      <p:cBhvr>
                                        <p:cTn id="192" dur="1" fill="hold">
                                          <p:stCondLst>
                                            <p:cond delay="0"/>
                                          </p:stCondLst>
                                        </p:cTn>
                                        <p:tgtEl>
                                          <p:spTgt spid="40"/>
                                        </p:tgtEl>
                                        <p:attrNameLst>
                                          <p:attrName>style.visibility</p:attrName>
                                        </p:attrNameLst>
                                      </p:cBhvr>
                                      <p:to>
                                        <p:strVal val="visible"/>
                                      </p:to>
                                    </p:set>
                                    <p:animEffect transition="in" filter="fade">
                                      <p:cBhvr>
                                        <p:cTn id="193" dur="500"/>
                                        <p:tgtEl>
                                          <p:spTgt spid="40"/>
                                        </p:tgtEl>
                                      </p:cBhvr>
                                    </p:animEffect>
                                  </p:childTnLst>
                                </p:cTn>
                              </p:par>
                              <p:par>
                                <p:cTn id="197" presetID="10" presetClass="entr" presetSubtype="0" fill="hold" grpId="0" nodeType="withEffect">
                                  <p:stCondLst>
                                    <p:cond delay="2275"/>
                                  </p:stCondLst>
                                  <p:childTnLst>
                                    <p:set>
                                      <p:cBhvr>
                                        <p:cTn id="195" dur="1" fill="hold">
                                          <p:stCondLst>
                                            <p:cond delay="0"/>
                                          </p:stCondLst>
                                        </p:cTn>
                                        <p:tgtEl>
                                          <p:spTgt spid="41"/>
                                        </p:tgtEl>
                                        <p:attrNameLst>
                                          <p:attrName>style.visibility</p:attrName>
                                        </p:attrNameLst>
                                      </p:cBhvr>
                                      <p:to>
                                        <p:strVal val="visible"/>
                                      </p:to>
                                    </p:set>
                                    <p:animEffect transition="in" filter="fade">
                                      <p:cBhvr>
                                        <p:cTn id="196" dur="500"/>
                                        <p:tgtEl>
                                          <p:spTgt spid="41"/>
                                        </p:tgtEl>
                                      </p:cBhvr>
                                    </p:animEffect>
                                  </p:childTnLst>
                                </p:cTn>
                              </p:par>
                              <p:par>
                                <p:cTn id="200" presetID="10" presetClass="entr" presetSubtype="0" fill="hold" grpId="0" nodeType="withEffect">
                                  <p:stCondLst>
                                    <p:cond delay="2275"/>
                                  </p:stCondLst>
                                  <p:childTnLst>
                                    <p:set>
                                      <p:cBhvr>
                                        <p:cTn id="198" dur="1" fill="hold">
                                          <p:stCondLst>
                                            <p:cond delay="0"/>
                                          </p:stCondLst>
                                        </p:cTn>
                                        <p:tgtEl>
                                          <p:spTgt spid="42"/>
                                        </p:tgtEl>
                                        <p:attrNameLst>
                                          <p:attrName>style.visibility</p:attrName>
                                        </p:attrNameLst>
                                      </p:cBhvr>
                                      <p:to>
                                        <p:strVal val="visible"/>
                                      </p:to>
                                    </p:set>
                                    <p:animEffect transition="in" filter="fade">
                                      <p:cBhvr>
                                        <p:cTn id="199" dur="500"/>
                                        <p:tgtEl>
                                          <p:spTgt spid="42"/>
                                        </p:tgtEl>
                                      </p:cBhvr>
                                    </p:animEffect>
                                  </p:childTnLst>
                                </p:cTn>
                              </p:par>
                              <p:par>
                                <p:cTn id="203" presetID="10" presetClass="entr" presetSubtype="0" fill="hold" grpId="0" nodeType="withEffect">
                                  <p:stCondLst>
                                    <p:cond delay="2320"/>
                                  </p:stCondLst>
                                  <p:childTnLst>
                                    <p:set>
                                      <p:cBhvr>
                                        <p:cTn id="201" dur="1" fill="hold">
                                          <p:stCondLst>
                                            <p:cond delay="0"/>
                                          </p:stCondLst>
                                        </p:cTn>
                                        <p:tgtEl>
                                          <p:spTgt spid="43"/>
                                        </p:tgtEl>
                                        <p:attrNameLst>
                                          <p:attrName>style.visibility</p:attrName>
                                        </p:attrNameLst>
                                      </p:cBhvr>
                                      <p:to>
                                        <p:strVal val="visible"/>
                                      </p:to>
                                    </p:set>
                                    <p:animEffect transition="in" filter="fade">
                                      <p:cBhvr>
                                        <p:cTn id="202" dur="500"/>
                                        <p:tgtEl>
                                          <p:spTgt spid="43"/>
                                        </p:tgtEl>
                                      </p:cBhvr>
                                    </p:animEffect>
                                  </p:childTnLst>
                                </p:cTn>
                              </p:par>
                              <p:par>
                                <p:cTn id="206" presetID="10" presetClass="entr" presetSubtype="0" fill="hold" grpId="0" nodeType="withEffect">
                                  <p:stCondLst>
                                    <p:cond delay="2320"/>
                                  </p:stCondLst>
                                  <p:childTnLst>
                                    <p:set>
                                      <p:cBhvr>
                                        <p:cTn id="204" dur="1" fill="hold">
                                          <p:stCondLst>
                                            <p:cond delay="0"/>
                                          </p:stCondLst>
                                        </p:cTn>
                                        <p:tgtEl>
                                          <p:spTgt spid="44"/>
                                        </p:tgtEl>
                                        <p:attrNameLst>
                                          <p:attrName>style.visibility</p:attrName>
                                        </p:attrNameLst>
                                      </p:cBhvr>
                                      <p:to>
                                        <p:strVal val="visible"/>
                                      </p:to>
                                    </p:set>
                                    <p:animEffect transition="in" filter="fade">
                                      <p:cBhvr>
                                        <p:cTn id="205" dur="500"/>
                                        <p:tgtEl>
                                          <p:spTgt spid="44"/>
                                        </p:tgtEl>
                                      </p:cBhvr>
                                    </p:animEffect>
                                  </p:childTnLst>
                                </p:cTn>
                              </p:par>
                              <p:par>
                                <p:cTn id="209" presetID="10" presetClass="entr" presetSubtype="0" fill="hold" grpId="0" nodeType="withEffect">
                                  <p:stCondLst>
                                    <p:cond delay="2365"/>
                                  </p:stCondLst>
                                  <p:childTnLst>
                                    <p:set>
                                      <p:cBhvr>
                                        <p:cTn id="207" dur="1" fill="hold">
                                          <p:stCondLst>
                                            <p:cond delay="0"/>
                                          </p:stCondLst>
                                        </p:cTn>
                                        <p:tgtEl>
                                          <p:spTgt spid="45"/>
                                        </p:tgtEl>
                                        <p:attrNameLst>
                                          <p:attrName>style.visibility</p:attrName>
                                        </p:attrNameLst>
                                      </p:cBhvr>
                                      <p:to>
                                        <p:strVal val="visible"/>
                                      </p:to>
                                    </p:set>
                                    <p:animEffect transition="in" filter="fade">
                                      <p:cBhvr>
                                        <p:cTn id="208" dur="500"/>
                                        <p:tgtEl>
                                          <p:spTgt spid="45"/>
                                        </p:tgtEl>
                                      </p:cBhvr>
                                    </p:animEffect>
                                  </p:childTnLst>
                                </p:cTn>
                              </p:par>
                              <p:par>
                                <p:cTn id="212" presetID="10" presetClass="entr" presetSubtype="0" fill="hold" grpId="0" nodeType="withEffect">
                                  <p:stCondLst>
                                    <p:cond delay="2365"/>
                                  </p:stCondLst>
                                  <p:childTnLst>
                                    <p:set>
                                      <p:cBhvr>
                                        <p:cTn id="210" dur="1" fill="hold">
                                          <p:stCondLst>
                                            <p:cond delay="0"/>
                                          </p:stCondLst>
                                        </p:cTn>
                                        <p:tgtEl>
                                          <p:spTgt spid="46"/>
                                        </p:tgtEl>
                                        <p:attrNameLst>
                                          <p:attrName>style.visibility</p:attrName>
                                        </p:attrNameLst>
                                      </p:cBhvr>
                                      <p:to>
                                        <p:strVal val="visible"/>
                                      </p:to>
                                    </p:set>
                                    <p:animEffect transition="in" filter="fade">
                                      <p:cBhvr>
                                        <p:cTn id="211" dur="500"/>
                                        <p:tgtEl>
                                          <p:spTgt spid="46"/>
                                        </p:tgtEl>
                                      </p:cBhvr>
                                    </p:animEffect>
                                  </p:childTnLst>
                                </p:cTn>
                              </p:par>
                              <p:par>
                                <p:cTn id="215" presetID="10" presetClass="entr" presetSubtype="0" fill="hold" grpId="0" nodeType="withEffect">
                                  <p:stCondLst>
                                    <p:cond delay="2410"/>
                                  </p:stCondLst>
                                  <p:childTnLst>
                                    <p:set>
                                      <p:cBhvr>
                                        <p:cTn id="213" dur="1" fill="hold">
                                          <p:stCondLst>
                                            <p:cond delay="0"/>
                                          </p:stCondLst>
                                        </p:cTn>
                                        <p:tgtEl>
                                          <p:spTgt spid="47"/>
                                        </p:tgtEl>
                                        <p:attrNameLst>
                                          <p:attrName>style.visibility</p:attrName>
                                        </p:attrNameLst>
                                      </p:cBhvr>
                                      <p:to>
                                        <p:strVal val="visible"/>
                                      </p:to>
                                    </p:set>
                                    <p:animEffect transition="in" filter="fade">
                                      <p:cBhvr>
                                        <p:cTn id="214"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Brokers: The Computers Doing the Work</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Events, topics and partitions are ideas - brokers are the machines that hold them</a:t>
            </a:r>
          </a:p>
        </p:txBody>
      </p:sp>
      <p:sp>
        <p:nvSpPr>
          <p:cNvPr id="11" name="a1u_card10"/>
          <p:cNvSpPr/>
          <p:nvPr/>
        </p:nvSpPr>
        <p:spPr>
          <a:xfrm>
            <a:off x="457200" y="1280160"/>
            <a:ext cx="2788920" cy="2331720"/>
          </a:xfrm>
          <a:prstGeom prst="roundRect">
            <a:avLst>
              <a:gd name="adj" fmla="val 470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ch11"/>
          <p:cNvSpPr txBox="1"/>
          <p:nvPr/>
        </p:nvSpPr>
        <p:spPr>
          <a:xfrm>
            <a:off x="640080" y="1371600"/>
            <a:ext cx="2468880" cy="237744"/>
          </a:xfrm>
          <a:prstGeom prst="rect">
            <a:avLst/>
          </a:prstGeom>
          <a:noFill/>
        </p:spPr>
        <p:txBody>
          <a:bodyPr wrap="square" lIns="0" tIns="0" rIns="0" bIns="0" anchor="ctr">
            <a:spAutoFit/>
          </a:bodyPr>
          <a:lstStyle/>
          <a:p>
            <a:pPr algn="l"/>
            <a:r>
              <a:rPr sz="850" b="1" spc="140">
                <a:solidFill>
                  <a:srgbClr val="C2410C"/>
                </a:solidFill>
                <a:latin typeface="Segoe UI"/>
              </a:rPr>
              <a:t>SO FAR  ·  THE IDEAS</a:t>
            </a:r>
          </a:p>
        </p:txBody>
      </p:sp>
      <p:sp>
        <p:nvSpPr>
          <p:cNvPr id="13" name="a1ud120_nd12"/>
          <p:cNvSpPr/>
          <p:nvPr/>
        </p:nvSpPr>
        <p:spPr>
          <a:xfrm>
            <a:off x="640080" y="1682496"/>
            <a:ext cx="2423160" cy="530352"/>
          </a:xfrm>
          <a:prstGeom prst="roundRect">
            <a:avLst>
              <a:gd name="adj" fmla="val 13793"/>
            </a:avLst>
          </a:prstGeom>
          <a:solidFill>
            <a:srgbClr val="FFFFFF"/>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120_ndt13"/>
          <p:cNvSpPr txBox="1"/>
          <p:nvPr/>
        </p:nvSpPr>
        <p:spPr>
          <a:xfrm>
            <a:off x="685800" y="1719072"/>
            <a:ext cx="2331720" cy="246887"/>
          </a:xfrm>
          <a:prstGeom prst="rect">
            <a:avLst/>
          </a:prstGeom>
          <a:noFill/>
        </p:spPr>
        <p:txBody>
          <a:bodyPr wrap="square" lIns="0" tIns="0" rIns="0" bIns="0" anchor="b">
            <a:spAutoFit/>
          </a:bodyPr>
          <a:lstStyle/>
          <a:p>
            <a:pPr algn="ctr"/>
            <a:r>
              <a:rPr sz="1000" b="1">
                <a:solidFill>
                  <a:srgbClr val="1C1917"/>
                </a:solidFill>
                <a:latin typeface="Segoe UI"/>
              </a:rPr>
              <a:t>Events</a:t>
            </a:r>
          </a:p>
        </p:txBody>
      </p:sp>
      <p:sp>
        <p:nvSpPr>
          <p:cNvPr id="15" name="a1ud120_nds14"/>
          <p:cNvSpPr txBox="1"/>
          <p:nvPr/>
        </p:nvSpPr>
        <p:spPr>
          <a:xfrm>
            <a:off x="685800" y="1975103"/>
            <a:ext cx="2331720" cy="201167"/>
          </a:xfrm>
          <a:prstGeom prst="rect">
            <a:avLst/>
          </a:prstGeom>
          <a:noFill/>
        </p:spPr>
        <p:txBody>
          <a:bodyPr wrap="square" lIns="0" tIns="0" rIns="0" bIns="0" anchor="t">
            <a:spAutoFit/>
          </a:bodyPr>
          <a:lstStyle/>
          <a:p>
            <a:pPr algn="ctr"/>
            <a:r>
              <a:rPr sz="800" b="0">
                <a:solidFill>
                  <a:srgbClr val="EA580C"/>
                </a:solidFill>
                <a:latin typeface="Segoe UI"/>
              </a:rPr>
              <a:t>things that happened</a:t>
            </a:r>
          </a:p>
        </p:txBody>
      </p:sp>
      <p:sp>
        <p:nvSpPr>
          <p:cNvPr id="16" name="a1ud220_nd15"/>
          <p:cNvSpPr/>
          <p:nvPr/>
        </p:nvSpPr>
        <p:spPr>
          <a:xfrm>
            <a:off x="640080" y="2304288"/>
            <a:ext cx="2423160" cy="530352"/>
          </a:xfrm>
          <a:prstGeom prst="roundRect">
            <a:avLst>
              <a:gd name="adj" fmla="val 13793"/>
            </a:avLst>
          </a:prstGeom>
          <a:solidFill>
            <a:srgbClr val="FFFFFF"/>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220_ndt16"/>
          <p:cNvSpPr txBox="1"/>
          <p:nvPr/>
        </p:nvSpPr>
        <p:spPr>
          <a:xfrm>
            <a:off x="685800" y="2340864"/>
            <a:ext cx="2331720" cy="246887"/>
          </a:xfrm>
          <a:prstGeom prst="rect">
            <a:avLst/>
          </a:prstGeom>
          <a:noFill/>
        </p:spPr>
        <p:txBody>
          <a:bodyPr wrap="square" lIns="0" tIns="0" rIns="0" bIns="0" anchor="b">
            <a:spAutoFit/>
          </a:bodyPr>
          <a:lstStyle/>
          <a:p>
            <a:pPr algn="ctr"/>
            <a:r>
              <a:rPr sz="1000" b="1">
                <a:solidFill>
                  <a:srgbClr val="1C1917"/>
                </a:solidFill>
                <a:latin typeface="Segoe UI"/>
              </a:rPr>
              <a:t>Topics</a:t>
            </a:r>
          </a:p>
        </p:txBody>
      </p:sp>
      <p:sp>
        <p:nvSpPr>
          <p:cNvPr id="18" name="a1ud220_nds17"/>
          <p:cNvSpPr txBox="1"/>
          <p:nvPr/>
        </p:nvSpPr>
        <p:spPr>
          <a:xfrm>
            <a:off x="685800" y="2596896"/>
            <a:ext cx="2331720" cy="201167"/>
          </a:xfrm>
          <a:prstGeom prst="rect">
            <a:avLst/>
          </a:prstGeom>
          <a:noFill/>
        </p:spPr>
        <p:txBody>
          <a:bodyPr wrap="square" lIns="0" tIns="0" rIns="0" bIns="0" anchor="t">
            <a:spAutoFit/>
          </a:bodyPr>
          <a:lstStyle/>
          <a:p>
            <a:pPr algn="ctr"/>
            <a:r>
              <a:rPr sz="800" b="0">
                <a:solidFill>
                  <a:srgbClr val="EA580C"/>
                </a:solidFill>
                <a:latin typeface="Segoe UI"/>
              </a:rPr>
              <a:t>logs of events</a:t>
            </a:r>
          </a:p>
        </p:txBody>
      </p:sp>
      <p:sp>
        <p:nvSpPr>
          <p:cNvPr id="19" name="a1ud320_nd18"/>
          <p:cNvSpPr/>
          <p:nvPr/>
        </p:nvSpPr>
        <p:spPr>
          <a:xfrm>
            <a:off x="640080" y="2926080"/>
            <a:ext cx="2423160" cy="530352"/>
          </a:xfrm>
          <a:prstGeom prst="roundRect">
            <a:avLst>
              <a:gd name="adj" fmla="val 13793"/>
            </a:avLst>
          </a:prstGeom>
          <a:solidFill>
            <a:srgbClr val="FFFFFF"/>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320_ndt19"/>
          <p:cNvSpPr txBox="1"/>
          <p:nvPr/>
        </p:nvSpPr>
        <p:spPr>
          <a:xfrm>
            <a:off x="685800" y="2962656"/>
            <a:ext cx="2331720" cy="246887"/>
          </a:xfrm>
          <a:prstGeom prst="rect">
            <a:avLst/>
          </a:prstGeom>
          <a:noFill/>
        </p:spPr>
        <p:txBody>
          <a:bodyPr wrap="square" lIns="0" tIns="0" rIns="0" bIns="0" anchor="b">
            <a:spAutoFit/>
          </a:bodyPr>
          <a:lstStyle/>
          <a:p>
            <a:pPr algn="ctr"/>
            <a:r>
              <a:rPr sz="1000" b="1">
                <a:solidFill>
                  <a:srgbClr val="1C1917"/>
                </a:solidFill>
                <a:latin typeface="Segoe UI"/>
              </a:rPr>
              <a:t>Partitions</a:t>
            </a:r>
          </a:p>
        </p:txBody>
      </p:sp>
      <p:sp>
        <p:nvSpPr>
          <p:cNvPr id="21" name="a1ud320_nds20"/>
          <p:cNvSpPr txBox="1"/>
          <p:nvPr/>
        </p:nvSpPr>
        <p:spPr>
          <a:xfrm>
            <a:off x="685800" y="3218688"/>
            <a:ext cx="2331720" cy="201167"/>
          </a:xfrm>
          <a:prstGeom prst="rect">
            <a:avLst/>
          </a:prstGeom>
          <a:noFill/>
        </p:spPr>
        <p:txBody>
          <a:bodyPr wrap="square" lIns="0" tIns="0" rIns="0" bIns="0" anchor="t">
            <a:spAutoFit/>
          </a:bodyPr>
          <a:lstStyle/>
          <a:p>
            <a:pPr algn="ctr"/>
            <a:r>
              <a:rPr sz="800" b="0">
                <a:solidFill>
                  <a:srgbClr val="EA580C"/>
                </a:solidFill>
                <a:latin typeface="Segoe UI"/>
              </a:rPr>
              <a:t>a topic split into logs</a:t>
            </a:r>
          </a:p>
        </p:txBody>
      </p:sp>
      <p:cxnSp>
        <p:nvCxnSpPr>
          <p:cNvPr id="22" name="a2u_ar21"/>
          <p:cNvCxnSpPr/>
          <p:nvPr/>
        </p:nvCxnSpPr>
        <p:spPr>
          <a:xfrm>
            <a:off x="3328416" y="2441448"/>
            <a:ext cx="438912" cy="0"/>
          </a:xfrm>
          <a:prstGeom prst="line">
            <a:avLst/>
          </a:prstGeom>
          <a:ln w="2540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a2u_cl22"/>
          <p:cNvSpPr/>
          <p:nvPr/>
        </p:nvSpPr>
        <p:spPr>
          <a:xfrm>
            <a:off x="3840480" y="1280160"/>
            <a:ext cx="4846320" cy="2331720"/>
          </a:xfrm>
          <a:prstGeom prst="roundRect">
            <a:avLst>
              <a:gd name="adj" fmla="val 3921"/>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_ch23"/>
          <p:cNvSpPr txBox="1"/>
          <p:nvPr/>
        </p:nvSpPr>
        <p:spPr>
          <a:xfrm>
            <a:off x="4023360" y="1371600"/>
            <a:ext cx="4480560" cy="237744"/>
          </a:xfrm>
          <a:prstGeom prst="rect">
            <a:avLst/>
          </a:prstGeom>
          <a:noFill/>
        </p:spPr>
        <p:txBody>
          <a:bodyPr wrap="square" lIns="0" tIns="0" rIns="0" bIns="0" anchor="ctr">
            <a:spAutoFit/>
          </a:bodyPr>
          <a:lstStyle/>
          <a:p>
            <a:pPr algn="l"/>
            <a:r>
              <a:rPr sz="850" b="1" spc="140">
                <a:solidFill>
                  <a:srgbClr val="0E7490"/>
                </a:solidFill>
                <a:latin typeface="Segoe UI"/>
              </a:rPr>
              <a:t>NOW  ·  THE MACHINES</a:t>
            </a:r>
          </a:p>
        </p:txBody>
      </p:sp>
      <p:sp>
        <p:nvSpPr>
          <p:cNvPr id="25" name="a2ud150_nd24"/>
          <p:cNvSpPr/>
          <p:nvPr/>
        </p:nvSpPr>
        <p:spPr>
          <a:xfrm>
            <a:off x="4069080" y="1719072"/>
            <a:ext cx="1325880" cy="914400"/>
          </a:xfrm>
          <a:prstGeom prst="roundRect">
            <a:avLst>
              <a:gd name="adj" fmla="val 8000"/>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d150_ndt25"/>
          <p:cNvSpPr txBox="1"/>
          <p:nvPr/>
        </p:nvSpPr>
        <p:spPr>
          <a:xfrm>
            <a:off x="4114800" y="1755648"/>
            <a:ext cx="1234439" cy="438912"/>
          </a:xfrm>
          <a:prstGeom prst="rect">
            <a:avLst/>
          </a:prstGeom>
          <a:noFill/>
        </p:spPr>
        <p:txBody>
          <a:bodyPr wrap="square" lIns="0" tIns="0" rIns="0" bIns="0" anchor="b">
            <a:spAutoFit/>
          </a:bodyPr>
          <a:lstStyle/>
          <a:p>
            <a:pPr algn="ctr"/>
            <a:r>
              <a:rPr sz="1100" b="1">
                <a:solidFill>
                  <a:srgbClr val="1C1917"/>
                </a:solidFill>
                <a:latin typeface="Segoe UI"/>
              </a:rPr>
              <a:t>broker 1</a:t>
            </a:r>
          </a:p>
        </p:txBody>
      </p:sp>
      <p:sp>
        <p:nvSpPr>
          <p:cNvPr id="27" name="a2ud150_nds26"/>
          <p:cNvSpPr txBox="1"/>
          <p:nvPr/>
        </p:nvSpPr>
        <p:spPr>
          <a:xfrm>
            <a:off x="4114800" y="2203703"/>
            <a:ext cx="1234439" cy="393192"/>
          </a:xfrm>
          <a:prstGeom prst="rect">
            <a:avLst/>
          </a:prstGeom>
          <a:noFill/>
        </p:spPr>
        <p:txBody>
          <a:bodyPr wrap="square" lIns="0" tIns="0" rIns="0" bIns="0" anchor="t">
            <a:spAutoFit/>
          </a:bodyPr>
          <a:lstStyle/>
          <a:p>
            <a:pPr algn="ctr"/>
            <a:r>
              <a:rPr sz="800" b="0">
                <a:solidFill>
                  <a:srgbClr val="0E7490"/>
                </a:solidFill>
                <a:latin typeface="Segoe UI"/>
              </a:rPr>
              <a:t>runs the Kafka server</a:t>
            </a:r>
          </a:p>
        </p:txBody>
      </p:sp>
      <p:sp>
        <p:nvSpPr>
          <p:cNvPr id="28" name="a2ud250_nd27"/>
          <p:cNvSpPr/>
          <p:nvPr/>
        </p:nvSpPr>
        <p:spPr>
          <a:xfrm>
            <a:off x="5623560" y="1719072"/>
            <a:ext cx="1325880" cy="914400"/>
          </a:xfrm>
          <a:prstGeom prst="roundRect">
            <a:avLst>
              <a:gd name="adj" fmla="val 8000"/>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2ud250_ndt28"/>
          <p:cNvSpPr txBox="1"/>
          <p:nvPr/>
        </p:nvSpPr>
        <p:spPr>
          <a:xfrm>
            <a:off x="5669280" y="1755648"/>
            <a:ext cx="1234439" cy="438912"/>
          </a:xfrm>
          <a:prstGeom prst="rect">
            <a:avLst/>
          </a:prstGeom>
          <a:noFill/>
        </p:spPr>
        <p:txBody>
          <a:bodyPr wrap="square" lIns="0" tIns="0" rIns="0" bIns="0" anchor="b">
            <a:spAutoFit/>
          </a:bodyPr>
          <a:lstStyle/>
          <a:p>
            <a:pPr algn="ctr"/>
            <a:r>
              <a:rPr sz="1100" b="1">
                <a:solidFill>
                  <a:srgbClr val="1C1917"/>
                </a:solidFill>
                <a:latin typeface="Segoe UI"/>
              </a:rPr>
              <a:t>broker 2</a:t>
            </a:r>
          </a:p>
        </p:txBody>
      </p:sp>
      <p:sp>
        <p:nvSpPr>
          <p:cNvPr id="30" name="a2ud250_nds29"/>
          <p:cNvSpPr txBox="1"/>
          <p:nvPr/>
        </p:nvSpPr>
        <p:spPr>
          <a:xfrm>
            <a:off x="5669280" y="2203703"/>
            <a:ext cx="1234439" cy="393192"/>
          </a:xfrm>
          <a:prstGeom prst="rect">
            <a:avLst/>
          </a:prstGeom>
          <a:noFill/>
        </p:spPr>
        <p:txBody>
          <a:bodyPr wrap="square" lIns="0" tIns="0" rIns="0" bIns="0" anchor="t">
            <a:spAutoFit/>
          </a:bodyPr>
          <a:lstStyle/>
          <a:p>
            <a:pPr algn="ctr"/>
            <a:r>
              <a:rPr sz="800" b="0">
                <a:solidFill>
                  <a:srgbClr val="0E7490"/>
                </a:solidFill>
                <a:latin typeface="Segoe UI"/>
              </a:rPr>
              <a:t>runs the Kafka server</a:t>
            </a:r>
          </a:p>
        </p:txBody>
      </p:sp>
      <p:sp>
        <p:nvSpPr>
          <p:cNvPr id="31" name="a2ud350_nd30"/>
          <p:cNvSpPr/>
          <p:nvPr/>
        </p:nvSpPr>
        <p:spPr>
          <a:xfrm>
            <a:off x="7178040" y="1719072"/>
            <a:ext cx="1325880" cy="914400"/>
          </a:xfrm>
          <a:prstGeom prst="roundRect">
            <a:avLst>
              <a:gd name="adj" fmla="val 8000"/>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ud350_ndt31"/>
          <p:cNvSpPr txBox="1"/>
          <p:nvPr/>
        </p:nvSpPr>
        <p:spPr>
          <a:xfrm>
            <a:off x="7223759" y="1755648"/>
            <a:ext cx="1234439" cy="438912"/>
          </a:xfrm>
          <a:prstGeom prst="rect">
            <a:avLst/>
          </a:prstGeom>
          <a:noFill/>
        </p:spPr>
        <p:txBody>
          <a:bodyPr wrap="square" lIns="0" tIns="0" rIns="0" bIns="0" anchor="b">
            <a:spAutoFit/>
          </a:bodyPr>
          <a:lstStyle/>
          <a:p>
            <a:pPr algn="ctr"/>
            <a:r>
              <a:rPr sz="1100" b="1">
                <a:solidFill>
                  <a:srgbClr val="1C1917"/>
                </a:solidFill>
                <a:latin typeface="Segoe UI"/>
              </a:rPr>
              <a:t>broker 3</a:t>
            </a:r>
          </a:p>
        </p:txBody>
      </p:sp>
      <p:sp>
        <p:nvSpPr>
          <p:cNvPr id="33" name="a2ud350_nds32"/>
          <p:cNvSpPr txBox="1"/>
          <p:nvPr/>
        </p:nvSpPr>
        <p:spPr>
          <a:xfrm>
            <a:off x="7223759" y="2203703"/>
            <a:ext cx="1234439" cy="393192"/>
          </a:xfrm>
          <a:prstGeom prst="rect">
            <a:avLst/>
          </a:prstGeom>
          <a:noFill/>
        </p:spPr>
        <p:txBody>
          <a:bodyPr wrap="square" lIns="0" tIns="0" rIns="0" bIns="0" anchor="t">
            <a:spAutoFit/>
          </a:bodyPr>
          <a:lstStyle/>
          <a:p>
            <a:pPr algn="ctr"/>
            <a:r>
              <a:rPr sz="800" b="0">
                <a:solidFill>
                  <a:srgbClr val="0E7490"/>
                </a:solidFill>
                <a:latin typeface="Segoe UI"/>
              </a:rPr>
              <a:t>runs the Kafka server</a:t>
            </a:r>
          </a:p>
        </p:txBody>
      </p:sp>
      <p:cxnSp>
        <p:nvCxnSpPr>
          <p:cNvPr id="34" name="a3u_net33"/>
          <p:cNvCxnSpPr/>
          <p:nvPr/>
        </p:nvCxnSpPr>
        <p:spPr>
          <a:xfrm>
            <a:off x="4727448" y="2907792"/>
            <a:ext cx="3108960" cy="0"/>
          </a:xfrm>
          <a:prstGeom prst="line">
            <a:avLst/>
          </a:prstGeom>
          <a:ln w="19050">
            <a:solidFill>
              <a:srgbClr val="22D3EE"/>
            </a:solidFill>
          </a:ln>
        </p:spPr>
        <p:style>
          <a:lnRef idx="2">
            <a:schemeClr val="accent1"/>
          </a:lnRef>
          <a:fillRef idx="0">
            <a:schemeClr val="accent1"/>
          </a:fillRef>
          <a:effectRef idx="1">
            <a:schemeClr val="accent1"/>
          </a:effectRef>
          <a:fontRef idx="minor">
            <a:schemeClr val="tx1"/>
          </a:fontRef>
        </p:style>
      </p:cxnSp>
      <p:cxnSp>
        <p:nvCxnSpPr>
          <p:cNvPr id="35" name="a3u_wr34"/>
          <p:cNvCxnSpPr/>
          <p:nvPr/>
        </p:nvCxnSpPr>
        <p:spPr>
          <a:xfrm>
            <a:off x="4727448" y="2651760"/>
            <a:ext cx="0" cy="256032"/>
          </a:xfrm>
          <a:prstGeom prst="line">
            <a:avLst/>
          </a:prstGeom>
          <a:ln w="12700">
            <a:solidFill>
              <a:srgbClr val="22D3EE"/>
            </a:solidFill>
          </a:ln>
        </p:spPr>
        <p:style>
          <a:lnRef idx="2">
            <a:schemeClr val="accent1"/>
          </a:lnRef>
          <a:fillRef idx="0">
            <a:schemeClr val="accent1"/>
          </a:fillRef>
          <a:effectRef idx="1">
            <a:schemeClr val="accent1"/>
          </a:effectRef>
          <a:fontRef idx="minor">
            <a:schemeClr val="tx1"/>
          </a:fontRef>
        </p:style>
      </p:cxnSp>
      <p:cxnSp>
        <p:nvCxnSpPr>
          <p:cNvPr id="36" name="a3u_wr35"/>
          <p:cNvCxnSpPr/>
          <p:nvPr/>
        </p:nvCxnSpPr>
        <p:spPr>
          <a:xfrm>
            <a:off x="6281928" y="2651760"/>
            <a:ext cx="0" cy="256032"/>
          </a:xfrm>
          <a:prstGeom prst="line">
            <a:avLst/>
          </a:prstGeom>
          <a:ln w="12700">
            <a:solidFill>
              <a:srgbClr val="22D3EE"/>
            </a:solidFill>
          </a:ln>
        </p:spPr>
        <p:style>
          <a:lnRef idx="2">
            <a:schemeClr val="accent1"/>
          </a:lnRef>
          <a:fillRef idx="0">
            <a:schemeClr val="accent1"/>
          </a:fillRef>
          <a:effectRef idx="1">
            <a:schemeClr val="accent1"/>
          </a:effectRef>
          <a:fontRef idx="minor">
            <a:schemeClr val="tx1"/>
          </a:fontRef>
        </p:style>
      </p:cxnSp>
      <p:cxnSp>
        <p:nvCxnSpPr>
          <p:cNvPr id="37" name="a3u_wr36"/>
          <p:cNvCxnSpPr/>
          <p:nvPr/>
        </p:nvCxnSpPr>
        <p:spPr>
          <a:xfrm>
            <a:off x="7836408" y="2651760"/>
            <a:ext cx="0" cy="256032"/>
          </a:xfrm>
          <a:prstGeom prst="line">
            <a:avLst/>
          </a:prstGeom>
          <a:ln w="12700">
            <a:solidFill>
              <a:srgbClr val="22D3EE"/>
            </a:solidFill>
          </a:ln>
        </p:spPr>
        <p:style>
          <a:lnRef idx="2">
            <a:schemeClr val="accent1"/>
          </a:lnRef>
          <a:fillRef idx="0">
            <a:schemeClr val="accent1"/>
          </a:fillRef>
          <a:effectRef idx="1">
            <a:schemeClr val="accent1"/>
          </a:effectRef>
          <a:fontRef idx="minor">
            <a:schemeClr val="tx1"/>
          </a:fontRef>
        </p:style>
      </p:cxnSp>
      <p:sp>
        <p:nvSpPr>
          <p:cNvPr id="38" name="a3u_lb37"/>
          <p:cNvSpPr txBox="1"/>
          <p:nvPr/>
        </p:nvSpPr>
        <p:spPr>
          <a:xfrm>
            <a:off x="4023360" y="3063240"/>
            <a:ext cx="4480560" cy="201168"/>
          </a:xfrm>
          <a:prstGeom prst="rect">
            <a:avLst/>
          </a:prstGeom>
          <a:noFill/>
        </p:spPr>
        <p:txBody>
          <a:bodyPr wrap="square" lIns="0" tIns="0" rIns="0" bIns="0" anchor="ctr">
            <a:spAutoFit/>
          </a:bodyPr>
          <a:lstStyle/>
          <a:p>
            <a:pPr algn="ctr"/>
            <a:r>
              <a:rPr sz="850" b="1">
                <a:solidFill>
                  <a:srgbClr val="0E7490"/>
                </a:solidFill>
                <a:latin typeface="Segoe UI"/>
              </a:rPr>
              <a:t>a network of machines  =  a Kafka cluster</a:t>
            </a:r>
          </a:p>
        </p:txBody>
      </p:sp>
      <p:sp>
        <p:nvSpPr>
          <p:cNvPr id="39" name="a4u_nb38"/>
          <p:cNvSpPr/>
          <p:nvPr/>
        </p:nvSpPr>
        <p:spPr>
          <a:xfrm>
            <a:off x="457200" y="3840480"/>
            <a:ext cx="8229600" cy="603504"/>
          </a:xfrm>
          <a:prstGeom prst="roundRect">
            <a:avLst>
              <a:gd name="adj" fmla="val 12121"/>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4u_nacc39"/>
          <p:cNvSpPr/>
          <p:nvPr/>
        </p:nvSpPr>
        <p:spPr>
          <a:xfrm>
            <a:off x="457200" y="3840480"/>
            <a:ext cx="54864" cy="603504"/>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4u_nt40"/>
          <p:cNvSpPr txBox="1"/>
          <p:nvPr/>
        </p:nvSpPr>
        <p:spPr>
          <a:xfrm>
            <a:off x="658368" y="3840480"/>
            <a:ext cx="7827264" cy="603504"/>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A broker is a machine running the Kafka server process. Put brokers on a network together and they form a Kafka cluster.</a:t>
            </a:r>
          </a:p>
        </p:txBody>
      </p:sp>
      <p:sp>
        <p:nvSpPr>
          <p:cNvPr id="42" name="ft4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02</a:t>
            </a:r>
          </a:p>
        </p:txBody>
      </p:sp>
      <p:sp>
        <p:nvSpPr>
          <p:cNvPr id="43" name="ft4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ft4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Brokers</a:t>
            </a:r>
          </a:p>
        </p:txBody>
      </p:sp>
      <p:sp>
        <p:nvSpPr>
          <p:cNvPr id="45" name="ft4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12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2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2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22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22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2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32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32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32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6" presetID="2" presetClass="entr" presetSubtype="4"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15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15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15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25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25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25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par>
                                <p:cTn id="111" presetID="2" presetClass="entr" presetSubtype="4" fill="hold" grpId="0" nodeType="withEffect">
                                  <p:stCondLst>
                                    <p:cond delay="35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par>
                                <p:cTn id="116" presetID="2" presetClass="entr" presetSubtype="4" fill="hold" grpId="0" nodeType="withEffect">
                                  <p:stCondLst>
                                    <p:cond delay="35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35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childTnLst>
                          </p:cTn>
                        </p:par>
                      </p:childTnLst>
                    </p:cTn>
                  </p:par>
                  <p:par>
                    <p:cTn id="122" fill="hold">
                      <p:stCondLst>
                        <p:cond delay="indefinite"/>
                      </p:stCondLst>
                      <p:childTnLst>
                        <p:par>
                          <p:cTn id="123" fill="hold">
                            <p:stCondLst>
                              <p:cond delay="0"/>
                            </p:stCondLst>
                            <p:childTnLst>
                              <p:par>
                                <p:cTn id="128" presetID="2" presetClass="entr" presetSubtype="4" fill="hold" grpId="0" nodeType="clickEffect">
                                  <p:stCondLst>
                                    <p:cond delay="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par>
                                <p:cTn id="133" presetID="2" presetClass="entr" presetSubtype="4" fill="hold" grpId="0" nodeType="withEffect">
                                  <p:stCondLst>
                                    <p:cond delay="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par>
                                <p:cTn id="138" presetID="2" presetClass="entr" presetSubtype="4" fill="hold" grpId="0" nodeType="withEffect">
                                  <p:stCondLst>
                                    <p:cond delay="0"/>
                                  </p:stCondLst>
                                  <p:childTnLst>
                                    <p:set>
                                      <p:cBhvr>
                                        <p:cTn id="134" dur="1" fill="hold">
                                          <p:stCondLst>
                                            <p:cond delay="0"/>
                                          </p:stCondLst>
                                        </p:cTn>
                                        <p:tgtEl>
                                          <p:spTgt spid="36"/>
                                        </p:tgtEl>
                                        <p:attrNameLst>
                                          <p:attrName>style.visibility</p:attrName>
                                        </p:attrNameLst>
                                      </p:cBhvr>
                                      <p:to>
                                        <p:strVal val="visible"/>
                                      </p:to>
                                    </p:set>
                                    <p:anim calcmode="lin" valueType="num">
                                      <p:cBhvr additive="base">
                                        <p:cTn id="135" dur="500" fill="hold"/>
                                        <p:tgtEl>
                                          <p:spTgt spid="36"/>
                                        </p:tgtEl>
                                        <p:attrNameLst>
                                          <p:attrName>ppt_x</p:attrName>
                                        </p:attrNameLst>
                                      </p:cBhvr>
                                      <p:tavLst>
                                        <p:tav tm="0">
                                          <p:val>
                                            <p:strVal val="#ppt_x"/>
                                          </p:val>
                                        </p:tav>
                                        <p:tav tm="100000">
                                          <p:val>
                                            <p:strVal val="#ppt_x"/>
                                          </p:val>
                                        </p:tav>
                                      </p:tavLst>
                                    </p:anim>
                                    <p:anim calcmode="lin" valueType="num">
                                      <p:cBhvr additive="base">
                                        <p:cTn id="136" dur="500" fill="hold"/>
                                        <p:tgtEl>
                                          <p:spTgt spid="36"/>
                                        </p:tgtEl>
                                        <p:attrNameLst>
                                          <p:attrName>ppt_y</p:attrName>
                                        </p:attrNameLst>
                                      </p:cBhvr>
                                      <p:tavLst>
                                        <p:tav tm="0">
                                          <p:val>
                                            <p:strVal val="#ppt_y+0.1"/>
                                          </p:val>
                                        </p:tav>
                                        <p:tav tm="100000">
                                          <p:val>
                                            <p:strVal val="#ppt_y"/>
                                          </p:val>
                                        </p:tav>
                                      </p:tavLst>
                                    </p:anim>
                                    <p:animEffect transition="in" filter="fade">
                                      <p:cBhvr>
                                        <p:cTn id="137" dur="500"/>
                                        <p:tgtEl>
                                          <p:spTgt spid="36"/>
                                        </p:tgtEl>
                                      </p:cBhvr>
                                    </p:animEffect>
                                  </p:childTnLst>
                                </p:cTn>
                              </p:par>
                              <p:par>
                                <p:cTn id="143" presetID="2" presetClass="entr" presetSubtype="4" fill="hold" grpId="0" nodeType="withEffect">
                                  <p:stCondLst>
                                    <p:cond delay="0"/>
                                  </p:stCondLst>
                                  <p:childTnLst>
                                    <p:set>
                                      <p:cBhvr>
                                        <p:cTn id="139" dur="1" fill="hold">
                                          <p:stCondLst>
                                            <p:cond delay="0"/>
                                          </p:stCondLst>
                                        </p:cTn>
                                        <p:tgtEl>
                                          <p:spTgt spid="37"/>
                                        </p:tgtEl>
                                        <p:attrNameLst>
                                          <p:attrName>style.visibility</p:attrName>
                                        </p:attrNameLst>
                                      </p:cBhvr>
                                      <p:to>
                                        <p:strVal val="visible"/>
                                      </p:to>
                                    </p:set>
                                    <p:anim calcmode="lin" valueType="num">
                                      <p:cBhvr additive="base">
                                        <p:cTn id="140" dur="500" fill="hold"/>
                                        <p:tgtEl>
                                          <p:spTgt spid="37"/>
                                        </p:tgtEl>
                                        <p:attrNameLst>
                                          <p:attrName>ppt_x</p:attrName>
                                        </p:attrNameLst>
                                      </p:cBhvr>
                                      <p:tavLst>
                                        <p:tav tm="0">
                                          <p:val>
                                            <p:strVal val="#ppt_x"/>
                                          </p:val>
                                        </p:tav>
                                        <p:tav tm="100000">
                                          <p:val>
                                            <p:strVal val="#ppt_x"/>
                                          </p:val>
                                        </p:tav>
                                      </p:tavLst>
                                    </p:anim>
                                    <p:anim calcmode="lin" valueType="num">
                                      <p:cBhvr additive="base">
                                        <p:cTn id="141" dur="500" fill="hold"/>
                                        <p:tgtEl>
                                          <p:spTgt spid="37"/>
                                        </p:tgtEl>
                                        <p:attrNameLst>
                                          <p:attrName>ppt_y</p:attrName>
                                        </p:attrNameLst>
                                      </p:cBhvr>
                                      <p:tavLst>
                                        <p:tav tm="0">
                                          <p:val>
                                            <p:strVal val="#ppt_y+0.1"/>
                                          </p:val>
                                        </p:tav>
                                        <p:tav tm="100000">
                                          <p:val>
                                            <p:strVal val="#ppt_y"/>
                                          </p:val>
                                        </p:tav>
                                      </p:tavLst>
                                    </p:anim>
                                    <p:animEffect transition="in" filter="fade">
                                      <p:cBhvr>
                                        <p:cTn id="142" dur="500"/>
                                        <p:tgtEl>
                                          <p:spTgt spid="37"/>
                                        </p:tgtEl>
                                      </p:cBhvr>
                                    </p:animEffect>
                                  </p:childTnLst>
                                </p:cTn>
                              </p:par>
                              <p:par>
                                <p:cTn id="148" presetID="2" presetClass="entr" presetSubtype="4" fill="hold" grpId="0" nodeType="withEffect">
                                  <p:stCondLst>
                                    <p:cond delay="0"/>
                                  </p:stCondLst>
                                  <p:childTnLst>
                                    <p:set>
                                      <p:cBhvr>
                                        <p:cTn id="144" dur="1" fill="hold">
                                          <p:stCondLst>
                                            <p:cond delay="0"/>
                                          </p:stCondLst>
                                        </p:cTn>
                                        <p:tgtEl>
                                          <p:spTgt spid="38"/>
                                        </p:tgtEl>
                                        <p:attrNameLst>
                                          <p:attrName>style.visibility</p:attrName>
                                        </p:attrNameLst>
                                      </p:cBhvr>
                                      <p:to>
                                        <p:strVal val="visible"/>
                                      </p:to>
                                    </p:set>
                                    <p:anim calcmode="lin" valueType="num">
                                      <p:cBhvr additive="base">
                                        <p:cTn id="145" dur="500" fill="hold"/>
                                        <p:tgtEl>
                                          <p:spTgt spid="38"/>
                                        </p:tgtEl>
                                        <p:attrNameLst>
                                          <p:attrName>ppt_x</p:attrName>
                                        </p:attrNameLst>
                                      </p:cBhvr>
                                      <p:tavLst>
                                        <p:tav tm="0">
                                          <p:val>
                                            <p:strVal val="#ppt_x"/>
                                          </p:val>
                                        </p:tav>
                                        <p:tav tm="100000">
                                          <p:val>
                                            <p:strVal val="#ppt_x"/>
                                          </p:val>
                                        </p:tav>
                                      </p:tavLst>
                                    </p:anim>
                                    <p:anim calcmode="lin" valueType="num">
                                      <p:cBhvr additive="base">
                                        <p:cTn id="146" dur="500" fill="hold"/>
                                        <p:tgtEl>
                                          <p:spTgt spid="38"/>
                                        </p:tgtEl>
                                        <p:attrNameLst>
                                          <p:attrName>ppt_y</p:attrName>
                                        </p:attrNameLst>
                                      </p:cBhvr>
                                      <p:tavLst>
                                        <p:tav tm="0">
                                          <p:val>
                                            <p:strVal val="#ppt_y+0.1"/>
                                          </p:val>
                                        </p:tav>
                                        <p:tav tm="100000">
                                          <p:val>
                                            <p:strVal val="#ppt_y"/>
                                          </p:val>
                                        </p:tav>
                                      </p:tavLst>
                                    </p:anim>
                                    <p:animEffect transition="in" filter="fade">
                                      <p:cBhvr>
                                        <p:cTn id="147" dur="500"/>
                                        <p:tgtEl>
                                          <p:spTgt spid="38"/>
                                        </p:tgtEl>
                                      </p:cBhvr>
                                    </p:animEffect>
                                  </p:childTnLst>
                                </p:cTn>
                              </p:par>
                            </p:childTnLst>
                          </p:cTn>
                        </p:par>
                      </p:childTnLst>
                    </p:cTn>
                  </p:par>
                  <p:par>
                    <p:cTn id="149" fill="hold">
                      <p:stCondLst>
                        <p:cond delay="indefinite"/>
                      </p:stCondLst>
                      <p:childTnLst>
                        <p:par>
                          <p:cTn id="150" fill="hold">
                            <p:stCondLst>
                              <p:cond delay="0"/>
                            </p:stCondLst>
                            <p:childTnLst>
                              <p:par>
                                <p:cTn id="155" presetID="2" presetClass="entr" presetSubtype="4" fill="hold" grpId="0" nodeType="clickEffect">
                                  <p:stCondLst>
                                    <p:cond delay="0"/>
                                  </p:stCondLst>
                                  <p:childTnLst>
                                    <p:set>
                                      <p:cBhvr>
                                        <p:cTn id="151" dur="1" fill="hold">
                                          <p:stCondLst>
                                            <p:cond delay="0"/>
                                          </p:stCondLst>
                                        </p:cTn>
                                        <p:tgtEl>
                                          <p:spTgt spid="39"/>
                                        </p:tgtEl>
                                        <p:attrNameLst>
                                          <p:attrName>style.visibility</p:attrName>
                                        </p:attrNameLst>
                                      </p:cBhvr>
                                      <p:to>
                                        <p:strVal val="visible"/>
                                      </p:to>
                                    </p:set>
                                    <p:anim calcmode="lin" valueType="num">
                                      <p:cBhvr additive="base">
                                        <p:cTn id="152" dur="500" fill="hold"/>
                                        <p:tgtEl>
                                          <p:spTgt spid="39"/>
                                        </p:tgtEl>
                                        <p:attrNameLst>
                                          <p:attrName>ppt_x</p:attrName>
                                        </p:attrNameLst>
                                      </p:cBhvr>
                                      <p:tavLst>
                                        <p:tav tm="0">
                                          <p:val>
                                            <p:strVal val="#ppt_x"/>
                                          </p:val>
                                        </p:tav>
                                        <p:tav tm="100000">
                                          <p:val>
                                            <p:strVal val="#ppt_x"/>
                                          </p:val>
                                        </p:tav>
                                      </p:tavLst>
                                    </p:anim>
                                    <p:anim calcmode="lin" valueType="num">
                                      <p:cBhvr additive="base">
                                        <p:cTn id="153" dur="500" fill="hold"/>
                                        <p:tgtEl>
                                          <p:spTgt spid="39"/>
                                        </p:tgtEl>
                                        <p:attrNameLst>
                                          <p:attrName>ppt_y</p:attrName>
                                        </p:attrNameLst>
                                      </p:cBhvr>
                                      <p:tavLst>
                                        <p:tav tm="0">
                                          <p:val>
                                            <p:strVal val="#ppt_y+0.1"/>
                                          </p:val>
                                        </p:tav>
                                        <p:tav tm="100000">
                                          <p:val>
                                            <p:strVal val="#ppt_y"/>
                                          </p:val>
                                        </p:tav>
                                      </p:tavLst>
                                    </p:anim>
                                    <p:animEffect transition="in" filter="fade">
                                      <p:cBhvr>
                                        <p:cTn id="154" dur="500"/>
                                        <p:tgtEl>
                                          <p:spTgt spid="39"/>
                                        </p:tgtEl>
                                      </p:cBhvr>
                                    </p:animEffect>
                                  </p:childTnLst>
                                </p:cTn>
                              </p:par>
                              <p:par>
                                <p:cTn id="160" presetID="2" presetClass="entr" presetSubtype="4" fill="hold" grpId="0" nodeType="withEffect">
                                  <p:stCondLst>
                                    <p:cond delay="0"/>
                                  </p:stCondLst>
                                  <p:childTnLst>
                                    <p:set>
                                      <p:cBhvr>
                                        <p:cTn id="156" dur="1" fill="hold">
                                          <p:stCondLst>
                                            <p:cond delay="0"/>
                                          </p:stCondLst>
                                        </p:cTn>
                                        <p:tgtEl>
                                          <p:spTgt spid="40"/>
                                        </p:tgtEl>
                                        <p:attrNameLst>
                                          <p:attrName>style.visibility</p:attrName>
                                        </p:attrNameLst>
                                      </p:cBhvr>
                                      <p:to>
                                        <p:strVal val="visible"/>
                                      </p:to>
                                    </p:set>
                                    <p:anim calcmode="lin" valueType="num">
                                      <p:cBhvr additive="base">
                                        <p:cTn id="157" dur="500" fill="hold"/>
                                        <p:tgtEl>
                                          <p:spTgt spid="40"/>
                                        </p:tgtEl>
                                        <p:attrNameLst>
                                          <p:attrName>ppt_x</p:attrName>
                                        </p:attrNameLst>
                                      </p:cBhvr>
                                      <p:tavLst>
                                        <p:tav tm="0">
                                          <p:val>
                                            <p:strVal val="#ppt_x"/>
                                          </p:val>
                                        </p:tav>
                                        <p:tav tm="100000">
                                          <p:val>
                                            <p:strVal val="#ppt_x"/>
                                          </p:val>
                                        </p:tav>
                                      </p:tavLst>
                                    </p:anim>
                                    <p:anim calcmode="lin" valueType="num">
                                      <p:cBhvr additive="base">
                                        <p:cTn id="158" dur="500" fill="hold"/>
                                        <p:tgtEl>
                                          <p:spTgt spid="40"/>
                                        </p:tgtEl>
                                        <p:attrNameLst>
                                          <p:attrName>ppt_y</p:attrName>
                                        </p:attrNameLst>
                                      </p:cBhvr>
                                      <p:tavLst>
                                        <p:tav tm="0">
                                          <p:val>
                                            <p:strVal val="#ppt_y+0.1"/>
                                          </p:val>
                                        </p:tav>
                                        <p:tav tm="100000">
                                          <p:val>
                                            <p:strVal val="#ppt_y"/>
                                          </p:val>
                                        </p:tav>
                                      </p:tavLst>
                                    </p:anim>
                                    <p:animEffect transition="in" filter="fade">
                                      <p:cBhvr>
                                        <p:cTn id="159" dur="500"/>
                                        <p:tgtEl>
                                          <p:spTgt spid="40"/>
                                        </p:tgtEl>
                                      </p:cBhvr>
                                    </p:animEffect>
                                  </p:childTnLst>
                                </p:cTn>
                              </p:par>
                              <p:par>
                                <p:cTn id="165" presetID="2" presetClass="entr" presetSubtype="4" fill="hold" grpId="0" nodeType="withEffect">
                                  <p:stCondLst>
                                    <p:cond delay="0"/>
                                  </p:stCondLst>
                                  <p:childTnLst>
                                    <p:set>
                                      <p:cBhvr>
                                        <p:cTn id="161" dur="1" fill="hold">
                                          <p:stCondLst>
                                            <p:cond delay="0"/>
                                          </p:stCondLst>
                                        </p:cTn>
                                        <p:tgtEl>
                                          <p:spTgt spid="41"/>
                                        </p:tgtEl>
                                        <p:attrNameLst>
                                          <p:attrName>style.visibility</p:attrName>
                                        </p:attrNameLst>
                                      </p:cBhvr>
                                      <p:to>
                                        <p:strVal val="visible"/>
                                      </p:to>
                                    </p:set>
                                    <p:anim calcmode="lin" valueType="num">
                                      <p:cBhvr additive="base">
                                        <p:cTn id="162" dur="500" fill="hold"/>
                                        <p:tgtEl>
                                          <p:spTgt spid="41"/>
                                        </p:tgtEl>
                                        <p:attrNameLst>
                                          <p:attrName>ppt_x</p:attrName>
                                        </p:attrNameLst>
                                      </p:cBhvr>
                                      <p:tavLst>
                                        <p:tav tm="0">
                                          <p:val>
                                            <p:strVal val="#ppt_x"/>
                                          </p:val>
                                        </p:tav>
                                        <p:tav tm="100000">
                                          <p:val>
                                            <p:strVal val="#ppt_x"/>
                                          </p:val>
                                        </p:tav>
                                      </p:tavLst>
                                    </p:anim>
                                    <p:anim calcmode="lin" valueType="num">
                                      <p:cBhvr additive="base">
                                        <p:cTn id="163" dur="500" fill="hold"/>
                                        <p:tgtEl>
                                          <p:spTgt spid="41"/>
                                        </p:tgtEl>
                                        <p:attrNameLst>
                                          <p:attrName>ppt_y</p:attrName>
                                        </p:attrNameLst>
                                      </p:cBhvr>
                                      <p:tavLst>
                                        <p:tav tm="0">
                                          <p:val>
                                            <p:strVal val="#ppt_y+0.1"/>
                                          </p:val>
                                        </p:tav>
                                        <p:tav tm="100000">
                                          <p:val>
                                            <p:strVal val="#ppt_y"/>
                                          </p:val>
                                        </p:tav>
                                      </p:tavLst>
                                    </p:anim>
                                    <p:animEffect transition="in" filter="fade">
                                      <p:cBhvr>
                                        <p:cTn id="164"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A Broker Is a Kafka Server Process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JVM process - start it from the Apache Kafka download, or from a Docker image</a:t>
            </a:r>
          </a:p>
        </p:txBody>
      </p:sp>
      <p:sp>
        <p:nvSpPr>
          <p:cNvPr id="11" name="a1f_codebg10"/>
          <p:cNvSpPr/>
          <p:nvPr/>
        </p:nvSpPr>
        <p:spPr>
          <a:xfrm>
            <a:off x="457200" y="1280160"/>
            <a:ext cx="4023360" cy="1993392"/>
          </a:xfrm>
          <a:prstGeom prst="roundRect">
            <a:avLst>
              <a:gd name="adj" fmla="val 3669"/>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codeh11"/>
          <p:cNvSpPr txBox="1"/>
          <p:nvPr/>
        </p:nvSpPr>
        <p:spPr>
          <a:xfrm>
            <a:off x="585216" y="1335024"/>
            <a:ext cx="3767328" cy="219456"/>
          </a:xfrm>
          <a:prstGeom prst="rect">
            <a:avLst/>
          </a:prstGeom>
          <a:noFill/>
        </p:spPr>
        <p:txBody>
          <a:bodyPr wrap="square" lIns="0" tIns="0" rIns="0" bIns="0" anchor="ctr">
            <a:spAutoFit/>
          </a:bodyPr>
          <a:lstStyle/>
          <a:p>
            <a:pPr algn="l"/>
            <a:r>
              <a:rPr sz="950" b="1">
                <a:solidFill>
                  <a:srgbClr val="A8A29E"/>
                </a:solidFill>
                <a:latin typeface="Consolas"/>
              </a:rPr>
              <a:t>tarball  ·  the start script</a:t>
            </a:r>
          </a:p>
        </p:txBody>
      </p:sp>
      <p:sp>
        <p:nvSpPr>
          <p:cNvPr id="13" name="a1f_codesep12"/>
          <p:cNvSpPr/>
          <p:nvPr/>
        </p:nvSpPr>
        <p:spPr>
          <a:xfrm>
            <a:off x="585216" y="1609343"/>
            <a:ext cx="3767328"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_code13"/>
          <p:cNvSpPr txBox="1"/>
          <p:nvPr/>
        </p:nvSpPr>
        <p:spPr>
          <a:xfrm>
            <a:off x="585216" y="1682495"/>
            <a:ext cx="3767328" cy="182880"/>
          </a:xfrm>
          <a:prstGeom prst="rect">
            <a:avLst/>
          </a:prstGeom>
          <a:noFill/>
        </p:spPr>
        <p:txBody>
          <a:bodyPr wrap="none" lIns="0" tIns="0" rIns="0" bIns="0" anchor="ctr">
            <a:spAutoFit/>
          </a:bodyPr>
          <a:lstStyle/>
          <a:p>
            <a:pPr algn="l"/>
            <a:r>
              <a:rPr sz="850" b="0">
                <a:solidFill>
                  <a:srgbClr val="8A8580"/>
                </a:solidFill>
                <a:latin typeface="Consolas"/>
              </a:rPr>
              <a:t># unpack the Apache Kafka download</a:t>
            </a:r>
          </a:p>
        </p:txBody>
      </p:sp>
      <p:sp>
        <p:nvSpPr>
          <p:cNvPr id="15" name="a1wd90_code14"/>
          <p:cNvSpPr txBox="1"/>
          <p:nvPr/>
        </p:nvSpPr>
        <p:spPr>
          <a:xfrm>
            <a:off x="585216" y="1865376"/>
            <a:ext cx="3767328" cy="182880"/>
          </a:xfrm>
          <a:prstGeom prst="rect">
            <a:avLst/>
          </a:prstGeom>
          <a:noFill/>
        </p:spPr>
        <p:txBody>
          <a:bodyPr wrap="none" lIns="0" tIns="0" rIns="0" bIns="0" anchor="ctr">
            <a:spAutoFit/>
          </a:bodyPr>
          <a:lstStyle/>
          <a:p>
            <a:pPr algn="l"/>
            <a:r>
              <a:rPr sz="850" b="0">
                <a:solidFill>
                  <a:srgbClr val="E7E5E4"/>
                </a:solidFill>
                <a:latin typeface="Consolas"/>
              </a:rPr>
              <a:t>tar -xzf kafka_2.13-4.3.1.tgz &amp;&amp; cd kafka_2.13-4.3.1</a:t>
            </a:r>
          </a:p>
        </p:txBody>
      </p:sp>
      <p:sp>
        <p:nvSpPr>
          <p:cNvPr id="16" name="a1wd180_code15"/>
          <p:cNvSpPr txBox="1"/>
          <p:nvPr/>
        </p:nvSpPr>
        <p:spPr>
          <a:xfrm>
            <a:off x="585216" y="2048255"/>
            <a:ext cx="3767328" cy="182880"/>
          </a:xfrm>
          <a:prstGeom prst="rect">
            <a:avLst/>
          </a:prstGeom>
          <a:noFill/>
        </p:spPr>
        <p:txBody>
          <a:bodyPr wrap="none" lIns="0" tIns="0" rIns="0" bIns="0" anchor="ctr">
            <a:spAutoFit/>
          </a:bodyPr>
          <a:lstStyle/>
          <a:p>
            <a:pPr algn="l"/>
            <a:r>
              <a:rPr sz="850" b="0">
                <a:solidFill>
                  <a:srgbClr val="8A8580"/>
                </a:solidFill>
                <a:latin typeface="Consolas"/>
              </a:rPr>
              <a:t># KRaft: format the storage once</a:t>
            </a:r>
          </a:p>
        </p:txBody>
      </p:sp>
      <p:sp>
        <p:nvSpPr>
          <p:cNvPr id="17" name="a1wd270_code16"/>
          <p:cNvSpPr txBox="1"/>
          <p:nvPr/>
        </p:nvSpPr>
        <p:spPr>
          <a:xfrm>
            <a:off x="585216" y="2231136"/>
            <a:ext cx="3767328" cy="182880"/>
          </a:xfrm>
          <a:prstGeom prst="rect">
            <a:avLst/>
          </a:prstGeom>
          <a:noFill/>
        </p:spPr>
        <p:txBody>
          <a:bodyPr wrap="none" lIns="0" tIns="0" rIns="0" bIns="0" anchor="ctr">
            <a:spAutoFit/>
          </a:bodyPr>
          <a:lstStyle/>
          <a:p>
            <a:pPr algn="l"/>
            <a:r>
              <a:rPr sz="850" b="0">
                <a:solidFill>
                  <a:srgbClr val="E7E5E4"/>
                </a:solidFill>
                <a:latin typeface="Consolas"/>
              </a:rPr>
              <a:t>bin/kafka-storage.sh format --standalone \</a:t>
            </a:r>
          </a:p>
        </p:txBody>
      </p:sp>
      <p:sp>
        <p:nvSpPr>
          <p:cNvPr id="18" name="a1wd360_code17"/>
          <p:cNvSpPr txBox="1"/>
          <p:nvPr/>
        </p:nvSpPr>
        <p:spPr>
          <a:xfrm>
            <a:off x="585216" y="2414015"/>
            <a:ext cx="3767328" cy="182880"/>
          </a:xfrm>
          <a:prstGeom prst="rect">
            <a:avLst/>
          </a:prstGeom>
          <a:noFill/>
        </p:spPr>
        <p:txBody>
          <a:bodyPr wrap="none" lIns="0" tIns="0" rIns="0" bIns="0" anchor="ctr">
            <a:spAutoFit/>
          </a:bodyPr>
          <a:lstStyle/>
          <a:p>
            <a:pPr algn="l"/>
            <a:r>
              <a:rPr sz="850" b="0">
                <a:solidFill>
                  <a:srgbClr val="E7E5E4"/>
                </a:solidFill>
                <a:latin typeface="Consolas"/>
              </a:rPr>
              <a:t>  -t $(bin/kafka-storage.sh random-uuid) \</a:t>
            </a:r>
          </a:p>
        </p:txBody>
      </p:sp>
      <p:sp>
        <p:nvSpPr>
          <p:cNvPr id="19" name="a1wd450_code18"/>
          <p:cNvSpPr txBox="1"/>
          <p:nvPr/>
        </p:nvSpPr>
        <p:spPr>
          <a:xfrm>
            <a:off x="585216" y="2596896"/>
            <a:ext cx="3767328" cy="182880"/>
          </a:xfrm>
          <a:prstGeom prst="rect">
            <a:avLst/>
          </a:prstGeom>
          <a:noFill/>
        </p:spPr>
        <p:txBody>
          <a:bodyPr wrap="none" lIns="0" tIns="0" rIns="0" bIns="0" anchor="ctr">
            <a:spAutoFit/>
          </a:bodyPr>
          <a:lstStyle/>
          <a:p>
            <a:pPr algn="l"/>
            <a:r>
              <a:rPr sz="850" b="0">
                <a:solidFill>
                  <a:srgbClr val="E7E5E4"/>
                </a:solidFill>
                <a:latin typeface="Consolas"/>
              </a:rPr>
              <a:t>  -c config/server.properties</a:t>
            </a:r>
          </a:p>
        </p:txBody>
      </p:sp>
      <p:sp>
        <p:nvSpPr>
          <p:cNvPr id="20" name="a1wd540_code19"/>
          <p:cNvSpPr txBox="1"/>
          <p:nvPr/>
        </p:nvSpPr>
        <p:spPr>
          <a:xfrm>
            <a:off x="585216" y="2779776"/>
            <a:ext cx="3767328" cy="182880"/>
          </a:xfrm>
          <a:prstGeom prst="rect">
            <a:avLst/>
          </a:prstGeom>
          <a:noFill/>
        </p:spPr>
        <p:txBody>
          <a:bodyPr wrap="none" lIns="0" tIns="0" rIns="0" bIns="0" anchor="ctr">
            <a:spAutoFit/>
          </a:bodyPr>
          <a:lstStyle/>
          <a:p>
            <a:pPr algn="l"/>
            <a:r>
              <a:rPr sz="850" b="0">
                <a:solidFill>
                  <a:srgbClr val="8A8580"/>
                </a:solidFill>
                <a:latin typeface="Consolas"/>
              </a:rPr>
              <a:t># start the broker - a JVM process</a:t>
            </a:r>
          </a:p>
        </p:txBody>
      </p:sp>
      <p:sp>
        <p:nvSpPr>
          <p:cNvPr id="21" name="a1wd630_code20"/>
          <p:cNvSpPr txBox="1"/>
          <p:nvPr/>
        </p:nvSpPr>
        <p:spPr>
          <a:xfrm>
            <a:off x="585216" y="2962656"/>
            <a:ext cx="3767328" cy="182880"/>
          </a:xfrm>
          <a:prstGeom prst="rect">
            <a:avLst/>
          </a:prstGeom>
          <a:noFill/>
        </p:spPr>
        <p:txBody>
          <a:bodyPr wrap="none" lIns="0" tIns="0" rIns="0" bIns="0" anchor="ctr">
            <a:spAutoFit/>
          </a:bodyPr>
          <a:lstStyle/>
          <a:p>
            <a:pPr algn="l"/>
            <a:r>
              <a:rPr sz="850" b="1">
                <a:solidFill>
                  <a:srgbClr val="FDBA74"/>
                </a:solidFill>
                <a:latin typeface="Consolas"/>
              </a:rPr>
              <a:t>bin/kafka-server-start.sh config/server.properties</a:t>
            </a:r>
          </a:p>
        </p:txBody>
      </p:sp>
      <p:sp>
        <p:nvSpPr>
          <p:cNvPr id="22" name="a2f_codebg21"/>
          <p:cNvSpPr/>
          <p:nvPr/>
        </p:nvSpPr>
        <p:spPr>
          <a:xfrm>
            <a:off x="4663440" y="1280160"/>
            <a:ext cx="4023360" cy="1993392"/>
          </a:xfrm>
          <a:prstGeom prst="roundRect">
            <a:avLst>
              <a:gd name="adj" fmla="val 3669"/>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f_codeh22"/>
          <p:cNvSpPr txBox="1"/>
          <p:nvPr/>
        </p:nvSpPr>
        <p:spPr>
          <a:xfrm>
            <a:off x="4791455" y="1335024"/>
            <a:ext cx="3767328" cy="219456"/>
          </a:xfrm>
          <a:prstGeom prst="rect">
            <a:avLst/>
          </a:prstGeom>
          <a:noFill/>
        </p:spPr>
        <p:txBody>
          <a:bodyPr wrap="square" lIns="0" tIns="0" rIns="0" bIns="0" anchor="ctr">
            <a:spAutoFit/>
          </a:bodyPr>
          <a:lstStyle/>
          <a:p>
            <a:pPr algn="l"/>
            <a:r>
              <a:rPr sz="950" b="1">
                <a:solidFill>
                  <a:srgbClr val="A8A29E"/>
                </a:solidFill>
                <a:latin typeface="Consolas"/>
              </a:rPr>
              <a:t>docker  ·  image and compose</a:t>
            </a:r>
          </a:p>
        </p:txBody>
      </p:sp>
      <p:sp>
        <p:nvSpPr>
          <p:cNvPr id="24" name="a2f_codesep23"/>
          <p:cNvSpPr/>
          <p:nvPr/>
        </p:nvSpPr>
        <p:spPr>
          <a:xfrm>
            <a:off x="4791455" y="1609343"/>
            <a:ext cx="3767328"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w_code24"/>
          <p:cNvSpPr txBox="1"/>
          <p:nvPr/>
        </p:nvSpPr>
        <p:spPr>
          <a:xfrm>
            <a:off x="4791455" y="1682495"/>
            <a:ext cx="3767328" cy="182880"/>
          </a:xfrm>
          <a:prstGeom prst="rect">
            <a:avLst/>
          </a:prstGeom>
          <a:noFill/>
        </p:spPr>
        <p:txBody>
          <a:bodyPr wrap="none" lIns="0" tIns="0" rIns="0" bIns="0" anchor="ctr">
            <a:spAutoFit/>
          </a:bodyPr>
          <a:lstStyle/>
          <a:p>
            <a:pPr algn="l"/>
            <a:r>
              <a:rPr sz="850" b="0">
                <a:solidFill>
                  <a:srgbClr val="8A8580"/>
                </a:solidFill>
                <a:latin typeface="Consolas"/>
              </a:rPr>
              <a:t># one broker, one command</a:t>
            </a:r>
          </a:p>
        </p:txBody>
      </p:sp>
      <p:sp>
        <p:nvSpPr>
          <p:cNvPr id="26" name="a2wd90_code25"/>
          <p:cNvSpPr txBox="1"/>
          <p:nvPr/>
        </p:nvSpPr>
        <p:spPr>
          <a:xfrm>
            <a:off x="4791455" y="1865376"/>
            <a:ext cx="3767328" cy="182880"/>
          </a:xfrm>
          <a:prstGeom prst="rect">
            <a:avLst/>
          </a:prstGeom>
          <a:noFill/>
        </p:spPr>
        <p:txBody>
          <a:bodyPr wrap="none" lIns="0" tIns="0" rIns="0" bIns="0" anchor="ctr">
            <a:spAutoFit/>
          </a:bodyPr>
          <a:lstStyle/>
          <a:p>
            <a:pPr algn="l"/>
            <a:r>
              <a:rPr sz="850" b="1">
                <a:solidFill>
                  <a:srgbClr val="FDBA74"/>
                </a:solidFill>
                <a:latin typeface="Consolas"/>
              </a:rPr>
              <a:t>docker run -d -p 9092:9092 apache/kafka:4.3.1</a:t>
            </a:r>
          </a:p>
        </p:txBody>
      </p:sp>
      <p:sp>
        <p:nvSpPr>
          <p:cNvPr id="27" name="a2wd180_code26"/>
          <p:cNvSpPr txBox="1"/>
          <p:nvPr/>
        </p:nvSpPr>
        <p:spPr>
          <a:xfrm>
            <a:off x="4791455" y="2048255"/>
            <a:ext cx="3767328" cy="182880"/>
          </a:xfrm>
          <a:prstGeom prst="rect">
            <a:avLst/>
          </a:prstGeom>
          <a:noFill/>
        </p:spPr>
        <p:txBody>
          <a:bodyPr wrap="none" lIns="0" tIns="0" rIns="0" bIns="0" anchor="ctr">
            <a:spAutoFit/>
          </a:bodyPr>
          <a:lstStyle/>
          <a:p>
            <a:pPr algn="l"/>
            <a:r>
              <a:rPr sz="850" b="0">
                <a:solidFill>
                  <a:srgbClr val="8A8580"/>
                </a:solidFill>
                <a:latin typeface="Consolas"/>
              </a:rPr>
              <a:t># a group of brokers: docker-compose.yml</a:t>
            </a:r>
          </a:p>
        </p:txBody>
      </p:sp>
      <p:sp>
        <p:nvSpPr>
          <p:cNvPr id="28" name="a2wd270_code27"/>
          <p:cNvSpPr txBox="1"/>
          <p:nvPr/>
        </p:nvSpPr>
        <p:spPr>
          <a:xfrm>
            <a:off x="4791455" y="2231136"/>
            <a:ext cx="3767328" cy="182880"/>
          </a:xfrm>
          <a:prstGeom prst="rect">
            <a:avLst/>
          </a:prstGeom>
          <a:noFill/>
        </p:spPr>
        <p:txBody>
          <a:bodyPr wrap="none" lIns="0" tIns="0" rIns="0" bIns="0" anchor="ctr">
            <a:spAutoFit/>
          </a:bodyPr>
          <a:lstStyle/>
          <a:p>
            <a:pPr algn="l"/>
            <a:r>
              <a:rPr sz="850" b="0">
                <a:solidFill>
                  <a:srgbClr val="E7E5E4"/>
                </a:solidFill>
                <a:latin typeface="Consolas"/>
              </a:rPr>
              <a:t>services:</a:t>
            </a:r>
          </a:p>
        </p:txBody>
      </p:sp>
      <p:sp>
        <p:nvSpPr>
          <p:cNvPr id="29" name="a2wd360_code28"/>
          <p:cNvSpPr txBox="1"/>
          <p:nvPr/>
        </p:nvSpPr>
        <p:spPr>
          <a:xfrm>
            <a:off x="4791455" y="2414015"/>
            <a:ext cx="3767328" cy="182880"/>
          </a:xfrm>
          <a:prstGeom prst="rect">
            <a:avLst/>
          </a:prstGeom>
          <a:noFill/>
        </p:spPr>
        <p:txBody>
          <a:bodyPr wrap="none" lIns="0" tIns="0" rIns="0" bIns="0" anchor="ctr">
            <a:spAutoFit/>
          </a:bodyPr>
          <a:lstStyle/>
          <a:p>
            <a:pPr algn="l"/>
            <a:r>
              <a:rPr sz="850" b="0">
                <a:solidFill>
                  <a:srgbClr val="E7E5E4"/>
                </a:solidFill>
                <a:latin typeface="Consolas"/>
              </a:rPr>
              <a:t>  kafka-1: { image: apache/kafka:4.3.1 }</a:t>
            </a:r>
          </a:p>
        </p:txBody>
      </p:sp>
      <p:sp>
        <p:nvSpPr>
          <p:cNvPr id="30" name="a2wd450_code29"/>
          <p:cNvSpPr txBox="1"/>
          <p:nvPr/>
        </p:nvSpPr>
        <p:spPr>
          <a:xfrm>
            <a:off x="4791455" y="2596896"/>
            <a:ext cx="3767328" cy="182880"/>
          </a:xfrm>
          <a:prstGeom prst="rect">
            <a:avLst/>
          </a:prstGeom>
          <a:noFill/>
        </p:spPr>
        <p:txBody>
          <a:bodyPr wrap="none" lIns="0" tIns="0" rIns="0" bIns="0" anchor="ctr">
            <a:spAutoFit/>
          </a:bodyPr>
          <a:lstStyle/>
          <a:p>
            <a:pPr algn="l"/>
            <a:r>
              <a:rPr sz="850" b="0">
                <a:solidFill>
                  <a:srgbClr val="E7E5E4"/>
                </a:solidFill>
                <a:latin typeface="Consolas"/>
              </a:rPr>
              <a:t>  kafka-2: { image: apache/kafka:4.3.1 }</a:t>
            </a:r>
          </a:p>
        </p:txBody>
      </p:sp>
      <p:sp>
        <p:nvSpPr>
          <p:cNvPr id="31" name="a2wd540_code30"/>
          <p:cNvSpPr txBox="1"/>
          <p:nvPr/>
        </p:nvSpPr>
        <p:spPr>
          <a:xfrm>
            <a:off x="4791455" y="2779776"/>
            <a:ext cx="3767328" cy="182880"/>
          </a:xfrm>
          <a:prstGeom prst="rect">
            <a:avLst/>
          </a:prstGeom>
          <a:noFill/>
        </p:spPr>
        <p:txBody>
          <a:bodyPr wrap="none" lIns="0" tIns="0" rIns="0" bIns="0" anchor="ctr">
            <a:spAutoFit/>
          </a:bodyPr>
          <a:lstStyle/>
          <a:p>
            <a:pPr algn="l"/>
            <a:r>
              <a:rPr sz="850" b="0">
                <a:solidFill>
                  <a:srgbClr val="E7E5E4"/>
                </a:solidFill>
                <a:latin typeface="Consolas"/>
              </a:rPr>
              <a:t>  kafka-3: { image: apache/kafka:4.3.1 }</a:t>
            </a:r>
          </a:p>
        </p:txBody>
      </p:sp>
      <p:sp>
        <p:nvSpPr>
          <p:cNvPr id="32" name="a2wd630_code31"/>
          <p:cNvSpPr txBox="1"/>
          <p:nvPr/>
        </p:nvSpPr>
        <p:spPr>
          <a:xfrm>
            <a:off x="4791455" y="2962656"/>
            <a:ext cx="3767328" cy="182880"/>
          </a:xfrm>
          <a:prstGeom prst="rect">
            <a:avLst/>
          </a:prstGeom>
          <a:noFill/>
        </p:spPr>
        <p:txBody>
          <a:bodyPr wrap="none" lIns="0" tIns="0" rIns="0" bIns="0" anchor="ctr">
            <a:spAutoFit/>
          </a:bodyPr>
          <a:lstStyle/>
          <a:p>
            <a:pPr algn="l"/>
            <a:r>
              <a:rPr sz="850" b="0">
                <a:solidFill>
                  <a:srgbClr val="8A8580"/>
                </a:solidFill>
                <a:latin typeface="Consolas"/>
              </a:rPr>
              <a:t># + node ids, listeners, quorum settings</a:t>
            </a:r>
          </a:p>
        </p:txBody>
      </p:sp>
      <p:sp>
        <p:nvSpPr>
          <p:cNvPr id="33" name="a3u_dot32"/>
          <p:cNvSpPr/>
          <p:nvPr/>
        </p:nvSpPr>
        <p:spPr>
          <a:xfrm>
            <a:off x="457200" y="3534156"/>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3u_b33"/>
          <p:cNvSpPr txBox="1"/>
          <p:nvPr/>
        </p:nvSpPr>
        <p:spPr>
          <a:xfrm>
            <a:off x="676656" y="3438144"/>
            <a:ext cx="8010144" cy="274320"/>
          </a:xfrm>
          <a:prstGeom prst="rect">
            <a:avLst/>
          </a:prstGeom>
          <a:noFill/>
        </p:spPr>
        <p:txBody>
          <a:bodyPr wrap="square" lIns="0" tIns="0" rIns="0" bIns="0" anchor="t">
            <a:spAutoFit/>
          </a:bodyPr>
          <a:lstStyle/>
          <a:p>
            <a:pPr algn="l"/>
            <a:r>
              <a:rPr sz="950" b="1">
                <a:solidFill>
                  <a:srgbClr val="1C1917"/>
                </a:solidFill>
                <a:latin typeface="Segoe UI"/>
              </a:rPr>
              <a:t>Either way  </a:t>
            </a:r>
            <a:r>
              <a:rPr sz="950" b="0">
                <a:solidFill>
                  <a:srgbClr val="44403C"/>
                </a:solidFill>
                <a:latin typeface="Segoe UI"/>
              </a:rPr>
              <a:t>the result is the same - a Java process that is a Kafka broker</a:t>
            </a:r>
          </a:p>
        </p:txBody>
      </p:sp>
      <p:sp>
        <p:nvSpPr>
          <p:cNvPr id="35" name="a3ud120_dot34"/>
          <p:cNvSpPr/>
          <p:nvPr/>
        </p:nvSpPr>
        <p:spPr>
          <a:xfrm>
            <a:off x="457200" y="3845052"/>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3ud120_b35"/>
          <p:cNvSpPr txBox="1"/>
          <p:nvPr/>
        </p:nvSpPr>
        <p:spPr>
          <a:xfrm>
            <a:off x="676656" y="3749040"/>
            <a:ext cx="8010144" cy="274320"/>
          </a:xfrm>
          <a:prstGeom prst="rect">
            <a:avLst/>
          </a:prstGeom>
          <a:noFill/>
        </p:spPr>
        <p:txBody>
          <a:bodyPr wrap="square" lIns="0" tIns="0" rIns="0" bIns="0" anchor="t">
            <a:spAutoFit/>
          </a:bodyPr>
          <a:lstStyle/>
          <a:p>
            <a:pPr algn="l"/>
            <a:r>
              <a:rPr sz="950" b="1">
                <a:solidFill>
                  <a:srgbClr val="1C1917"/>
                </a:solidFill>
                <a:latin typeface="Segoe UI"/>
              </a:rPr>
              <a:t>On one network  </a:t>
            </a:r>
            <a:r>
              <a:rPr sz="950" b="0">
                <a:solidFill>
                  <a:srgbClr val="44403C"/>
                </a:solidFill>
                <a:latin typeface="Segoe UI"/>
              </a:rPr>
              <a:t>containers that can see each other form a cluster</a:t>
            </a:r>
          </a:p>
        </p:txBody>
      </p:sp>
      <p:sp>
        <p:nvSpPr>
          <p:cNvPr id="37" name="a4u_nb36"/>
          <p:cNvSpPr/>
          <p:nvPr/>
        </p:nvSpPr>
        <p:spPr>
          <a:xfrm>
            <a:off x="457200" y="4114800"/>
            <a:ext cx="8229600" cy="420624"/>
          </a:xfrm>
          <a:prstGeom prst="roundRect">
            <a:avLst>
              <a:gd name="adj" fmla="val 17391"/>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4u_nacc37"/>
          <p:cNvSpPr/>
          <p:nvPr/>
        </p:nvSpPr>
        <p:spPr>
          <a:xfrm>
            <a:off x="457200" y="4114800"/>
            <a:ext cx="54864" cy="420624"/>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4u_nt38"/>
          <p:cNvSpPr txBox="1"/>
          <p:nvPr/>
        </p:nvSpPr>
        <p:spPr>
          <a:xfrm>
            <a:off x="658368" y="4114800"/>
            <a:ext cx="7827264" cy="420624"/>
          </a:xfrm>
          <a:prstGeom prst="rect">
            <a:avLst/>
          </a:prstGeom>
          <a:noFill/>
        </p:spPr>
        <p:txBody>
          <a:bodyPr wrap="square" lIns="0" tIns="0" rIns="0" bIns="0" anchor="ctr">
            <a:spAutoFit/>
          </a:bodyPr>
          <a:lstStyle/>
          <a:p>
            <a:pPr algn="l"/>
            <a:r>
              <a:rPr sz="900" b="1">
                <a:solidFill>
                  <a:srgbClr val="4F46E5"/>
                </a:solidFill>
                <a:latin typeface="Segoe UI"/>
              </a:rPr>
              <a:t>LAB  </a:t>
            </a:r>
            <a:r>
              <a:rPr sz="900" b="0">
                <a:solidFill>
                  <a:srgbClr val="44403C"/>
                </a:solidFill>
                <a:latin typeface="Segoe UI"/>
              </a:rPr>
              <a:t>The lab kit's docker-compose.yml has the full settings for a one-node cluster.</a:t>
            </a:r>
          </a:p>
        </p:txBody>
      </p:sp>
      <p:sp>
        <p:nvSpPr>
          <p:cNvPr id="40" name="ft3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03</a:t>
            </a:r>
          </a:p>
        </p:txBody>
      </p:sp>
      <p:sp>
        <p:nvSpPr>
          <p:cNvPr id="41" name="ft4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ft4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Brokers</a:t>
            </a:r>
          </a:p>
        </p:txBody>
      </p:sp>
      <p:sp>
        <p:nvSpPr>
          <p:cNvPr id="43" name="ft4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9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18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27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8" presetID="22" presetClass="entr" presetSubtype="8" fill="hold" grpId="0" nodeType="withEffect">
                                  <p:stCondLst>
                                    <p:cond delay="36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31" presetID="22" presetClass="entr" presetSubtype="8" fill="hold" grpId="0" nodeType="withEffect">
                                  <p:stCondLst>
                                    <p:cond delay="45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4" presetID="22" presetClass="entr" presetSubtype="8" fill="hold" grpId="0" nodeType="withEffect">
                                  <p:stCondLst>
                                    <p:cond delay="54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par>
                                <p:cTn id="37" presetID="22" presetClass="entr" presetSubtype="8" fill="hold" grpId="0" nodeType="withEffect">
                                  <p:stCondLst>
                                    <p:cond delay="63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2"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par>
                                <p:cTn id="45" presetID="10"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500"/>
                                        <p:tgtEl>
                                          <p:spTgt spid="23"/>
                                        </p:tgtEl>
                                      </p:cBhvr>
                                    </p:animEffect>
                                  </p:childTnLst>
                                </p:cTn>
                              </p:par>
                              <p:par>
                                <p:cTn id="48" presetID="10"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par>
                                <p:cTn id="51" presetID="22" presetClass="entr" presetSubtype="8"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wipe(left)">
                                      <p:cBhvr>
                                        <p:cTn id="50" dur="500"/>
                                        <p:tgtEl>
                                          <p:spTgt spid="25"/>
                                        </p:tgtEl>
                                      </p:cBhvr>
                                    </p:animEffect>
                                  </p:childTnLst>
                                </p:cTn>
                              </p:par>
                              <p:par>
                                <p:cTn id="54" presetID="22" presetClass="entr" presetSubtype="8" fill="hold" grpId="0" nodeType="withEffect">
                                  <p:stCondLst>
                                    <p:cond delay="90"/>
                                  </p:stCondLst>
                                  <p:childTnLst>
                                    <p:set>
                                      <p:cBhvr>
                                        <p:cTn id="52" dur="1" fill="hold">
                                          <p:stCondLst>
                                            <p:cond delay="0"/>
                                          </p:stCondLst>
                                        </p:cTn>
                                        <p:tgtEl>
                                          <p:spTgt spid="26"/>
                                        </p:tgtEl>
                                        <p:attrNameLst>
                                          <p:attrName>style.visibility</p:attrName>
                                        </p:attrNameLst>
                                      </p:cBhvr>
                                      <p:to>
                                        <p:strVal val="visible"/>
                                      </p:to>
                                    </p:set>
                                    <p:animEffect transition="in" filter="wipe(left)">
                                      <p:cBhvr>
                                        <p:cTn id="53" dur="500"/>
                                        <p:tgtEl>
                                          <p:spTgt spid="26"/>
                                        </p:tgtEl>
                                      </p:cBhvr>
                                    </p:animEffect>
                                  </p:childTnLst>
                                </p:cTn>
                              </p:par>
                              <p:par>
                                <p:cTn id="57" presetID="22" presetClass="entr" presetSubtype="8" fill="hold" grpId="0" nodeType="withEffect">
                                  <p:stCondLst>
                                    <p:cond delay="180"/>
                                  </p:stCondLst>
                                  <p:childTnLst>
                                    <p:set>
                                      <p:cBhvr>
                                        <p:cTn id="55" dur="1" fill="hold">
                                          <p:stCondLst>
                                            <p:cond delay="0"/>
                                          </p:stCondLst>
                                        </p:cTn>
                                        <p:tgtEl>
                                          <p:spTgt spid="27"/>
                                        </p:tgtEl>
                                        <p:attrNameLst>
                                          <p:attrName>style.visibility</p:attrName>
                                        </p:attrNameLst>
                                      </p:cBhvr>
                                      <p:to>
                                        <p:strVal val="visible"/>
                                      </p:to>
                                    </p:set>
                                    <p:animEffect transition="in" filter="wipe(left)">
                                      <p:cBhvr>
                                        <p:cTn id="56" dur="500"/>
                                        <p:tgtEl>
                                          <p:spTgt spid="27"/>
                                        </p:tgtEl>
                                      </p:cBhvr>
                                    </p:animEffect>
                                  </p:childTnLst>
                                </p:cTn>
                              </p:par>
                              <p:par>
                                <p:cTn id="60" presetID="22" presetClass="entr" presetSubtype="8" fill="hold" grpId="0" nodeType="withEffect">
                                  <p:stCondLst>
                                    <p:cond delay="270"/>
                                  </p:stCondLst>
                                  <p:childTnLst>
                                    <p:set>
                                      <p:cBhvr>
                                        <p:cTn id="58" dur="1" fill="hold">
                                          <p:stCondLst>
                                            <p:cond delay="0"/>
                                          </p:stCondLst>
                                        </p:cTn>
                                        <p:tgtEl>
                                          <p:spTgt spid="28"/>
                                        </p:tgtEl>
                                        <p:attrNameLst>
                                          <p:attrName>style.visibility</p:attrName>
                                        </p:attrNameLst>
                                      </p:cBhvr>
                                      <p:to>
                                        <p:strVal val="visible"/>
                                      </p:to>
                                    </p:set>
                                    <p:animEffect transition="in" filter="wipe(left)">
                                      <p:cBhvr>
                                        <p:cTn id="59" dur="500"/>
                                        <p:tgtEl>
                                          <p:spTgt spid="28"/>
                                        </p:tgtEl>
                                      </p:cBhvr>
                                    </p:animEffect>
                                  </p:childTnLst>
                                </p:cTn>
                              </p:par>
                              <p:par>
                                <p:cTn id="63" presetID="22" presetClass="entr" presetSubtype="8" fill="hold" grpId="0" nodeType="withEffect">
                                  <p:stCondLst>
                                    <p:cond delay="360"/>
                                  </p:stCondLst>
                                  <p:childTnLst>
                                    <p:set>
                                      <p:cBhvr>
                                        <p:cTn id="61" dur="1" fill="hold">
                                          <p:stCondLst>
                                            <p:cond delay="0"/>
                                          </p:stCondLst>
                                        </p:cTn>
                                        <p:tgtEl>
                                          <p:spTgt spid="29"/>
                                        </p:tgtEl>
                                        <p:attrNameLst>
                                          <p:attrName>style.visibility</p:attrName>
                                        </p:attrNameLst>
                                      </p:cBhvr>
                                      <p:to>
                                        <p:strVal val="visible"/>
                                      </p:to>
                                    </p:set>
                                    <p:animEffect transition="in" filter="wipe(left)">
                                      <p:cBhvr>
                                        <p:cTn id="62" dur="500"/>
                                        <p:tgtEl>
                                          <p:spTgt spid="29"/>
                                        </p:tgtEl>
                                      </p:cBhvr>
                                    </p:animEffect>
                                  </p:childTnLst>
                                </p:cTn>
                              </p:par>
                              <p:par>
                                <p:cTn id="66" presetID="22" presetClass="entr" presetSubtype="8" fill="hold" grpId="0" nodeType="withEffect">
                                  <p:stCondLst>
                                    <p:cond delay="450"/>
                                  </p:stCondLst>
                                  <p:childTnLst>
                                    <p:set>
                                      <p:cBhvr>
                                        <p:cTn id="64" dur="1" fill="hold">
                                          <p:stCondLst>
                                            <p:cond delay="0"/>
                                          </p:stCondLst>
                                        </p:cTn>
                                        <p:tgtEl>
                                          <p:spTgt spid="30"/>
                                        </p:tgtEl>
                                        <p:attrNameLst>
                                          <p:attrName>style.visibility</p:attrName>
                                        </p:attrNameLst>
                                      </p:cBhvr>
                                      <p:to>
                                        <p:strVal val="visible"/>
                                      </p:to>
                                    </p:set>
                                    <p:animEffect transition="in" filter="wipe(left)">
                                      <p:cBhvr>
                                        <p:cTn id="65" dur="500"/>
                                        <p:tgtEl>
                                          <p:spTgt spid="30"/>
                                        </p:tgtEl>
                                      </p:cBhvr>
                                    </p:animEffect>
                                  </p:childTnLst>
                                </p:cTn>
                              </p:par>
                              <p:par>
                                <p:cTn id="69" presetID="22" presetClass="entr" presetSubtype="8" fill="hold" grpId="0" nodeType="withEffect">
                                  <p:stCondLst>
                                    <p:cond delay="540"/>
                                  </p:stCondLst>
                                  <p:childTnLst>
                                    <p:set>
                                      <p:cBhvr>
                                        <p:cTn id="67" dur="1" fill="hold">
                                          <p:stCondLst>
                                            <p:cond delay="0"/>
                                          </p:stCondLst>
                                        </p:cTn>
                                        <p:tgtEl>
                                          <p:spTgt spid="31"/>
                                        </p:tgtEl>
                                        <p:attrNameLst>
                                          <p:attrName>style.visibility</p:attrName>
                                        </p:attrNameLst>
                                      </p:cBhvr>
                                      <p:to>
                                        <p:strVal val="visible"/>
                                      </p:to>
                                    </p:set>
                                    <p:animEffect transition="in" filter="wipe(left)">
                                      <p:cBhvr>
                                        <p:cTn id="68" dur="500"/>
                                        <p:tgtEl>
                                          <p:spTgt spid="31"/>
                                        </p:tgtEl>
                                      </p:cBhvr>
                                    </p:animEffect>
                                  </p:childTnLst>
                                </p:cTn>
                              </p:par>
                              <p:par>
                                <p:cTn id="72" presetID="22" presetClass="entr" presetSubtype="8" fill="hold" grpId="0" nodeType="withEffect">
                                  <p:stCondLst>
                                    <p:cond delay="630"/>
                                  </p:stCondLst>
                                  <p:childTnLst>
                                    <p:set>
                                      <p:cBhvr>
                                        <p:cTn id="70" dur="1" fill="hold">
                                          <p:stCondLst>
                                            <p:cond delay="0"/>
                                          </p:stCondLst>
                                        </p:cTn>
                                        <p:tgtEl>
                                          <p:spTgt spid="32"/>
                                        </p:tgtEl>
                                        <p:attrNameLst>
                                          <p:attrName>style.visibility</p:attrName>
                                        </p:attrNameLst>
                                      </p:cBhvr>
                                      <p:to>
                                        <p:strVal val="visible"/>
                                      </p:to>
                                    </p:set>
                                    <p:animEffect transition="in" filter="wipe(left)">
                                      <p:cBhvr>
                                        <p:cTn id="71" dur="500"/>
                                        <p:tgtEl>
                                          <p:spTgt spid="32"/>
                                        </p:tgtEl>
                                      </p:cBhvr>
                                    </p:animEffect>
                                  </p:childTnLst>
                                </p:cTn>
                              </p:par>
                            </p:childTnLst>
                          </p:cTn>
                        </p:par>
                      </p:childTnLst>
                    </p:cTn>
                  </p:par>
                  <p:par>
                    <p:cTn id="73" fill="hold">
                      <p:stCondLst>
                        <p:cond delay="indefinite"/>
                      </p:stCondLst>
                      <p:childTnLst>
                        <p:par>
                          <p:cTn id="74" fill="hold">
                            <p:stCondLst>
                              <p:cond delay="0"/>
                            </p:stCondLst>
                            <p:childTnLst>
                              <p:par>
                                <p:cTn id="79" presetID="2" presetClass="entr" presetSubtype="4" fill="hold" grpId="0" nodeType="clickEffect">
                                  <p:stCondLst>
                                    <p:cond delay="0"/>
                                  </p:stCondLst>
                                  <p:childTnLst>
                                    <p:set>
                                      <p:cBhvr>
                                        <p:cTn id="75" dur="1" fill="hold">
                                          <p:stCondLst>
                                            <p:cond delay="0"/>
                                          </p:stCondLst>
                                        </p:cTn>
                                        <p:tgtEl>
                                          <p:spTgt spid="33"/>
                                        </p:tgtEl>
                                        <p:attrNameLst>
                                          <p:attrName>style.visibility</p:attrName>
                                        </p:attrNameLst>
                                      </p:cBhvr>
                                      <p:to>
                                        <p:strVal val="visible"/>
                                      </p:to>
                                    </p:set>
                                    <p:anim calcmode="lin" valueType="num">
                                      <p:cBhvr additive="base">
                                        <p:cTn id="76" dur="500" fill="hold"/>
                                        <p:tgtEl>
                                          <p:spTgt spid="33"/>
                                        </p:tgtEl>
                                        <p:attrNameLst>
                                          <p:attrName>ppt_x</p:attrName>
                                        </p:attrNameLst>
                                      </p:cBhvr>
                                      <p:tavLst>
                                        <p:tav tm="0">
                                          <p:val>
                                            <p:strVal val="#ppt_x"/>
                                          </p:val>
                                        </p:tav>
                                        <p:tav tm="100000">
                                          <p:val>
                                            <p:strVal val="#ppt_x"/>
                                          </p:val>
                                        </p:tav>
                                      </p:tavLst>
                                    </p:anim>
                                    <p:anim calcmode="lin" valueType="num">
                                      <p:cBhvr additive="base">
                                        <p:cTn id="77" dur="500" fill="hold"/>
                                        <p:tgtEl>
                                          <p:spTgt spid="33"/>
                                        </p:tgtEl>
                                        <p:attrNameLst>
                                          <p:attrName>ppt_y</p:attrName>
                                        </p:attrNameLst>
                                      </p:cBhvr>
                                      <p:tavLst>
                                        <p:tav tm="0">
                                          <p:val>
                                            <p:strVal val="#ppt_y+0.1"/>
                                          </p:val>
                                        </p:tav>
                                        <p:tav tm="100000">
                                          <p:val>
                                            <p:strVal val="#ppt_y"/>
                                          </p:val>
                                        </p:tav>
                                      </p:tavLst>
                                    </p:anim>
                                    <p:animEffect transition="in" filter="fade">
                                      <p:cBhvr>
                                        <p:cTn id="78" dur="500"/>
                                        <p:tgtEl>
                                          <p:spTgt spid="33"/>
                                        </p:tgtEl>
                                      </p:cBhvr>
                                    </p:animEffect>
                                  </p:childTnLst>
                                </p:cTn>
                              </p:par>
                              <p:par>
                                <p:cTn id="84" presetID="2" presetClass="entr" presetSubtype="4" fill="hold" grpId="0" nodeType="withEffect">
                                  <p:stCondLst>
                                    <p:cond delay="0"/>
                                  </p:stCondLst>
                                  <p:childTnLst>
                                    <p:set>
                                      <p:cBhvr>
                                        <p:cTn id="80" dur="1" fill="hold">
                                          <p:stCondLst>
                                            <p:cond delay="0"/>
                                          </p:stCondLst>
                                        </p:cTn>
                                        <p:tgtEl>
                                          <p:spTgt spid="34"/>
                                        </p:tgtEl>
                                        <p:attrNameLst>
                                          <p:attrName>style.visibility</p:attrName>
                                        </p:attrNameLst>
                                      </p:cBhvr>
                                      <p:to>
                                        <p:strVal val="visible"/>
                                      </p:to>
                                    </p:set>
                                    <p:anim calcmode="lin" valueType="num">
                                      <p:cBhvr additive="base">
                                        <p:cTn id="81" dur="500" fill="hold"/>
                                        <p:tgtEl>
                                          <p:spTgt spid="34"/>
                                        </p:tgtEl>
                                        <p:attrNameLst>
                                          <p:attrName>ppt_x</p:attrName>
                                        </p:attrNameLst>
                                      </p:cBhvr>
                                      <p:tavLst>
                                        <p:tav tm="0">
                                          <p:val>
                                            <p:strVal val="#ppt_x"/>
                                          </p:val>
                                        </p:tav>
                                        <p:tav tm="100000">
                                          <p:val>
                                            <p:strVal val="#ppt_x"/>
                                          </p:val>
                                        </p:tav>
                                      </p:tavLst>
                                    </p:anim>
                                    <p:anim calcmode="lin" valueType="num">
                                      <p:cBhvr additive="base">
                                        <p:cTn id="82" dur="500" fill="hold"/>
                                        <p:tgtEl>
                                          <p:spTgt spid="34"/>
                                        </p:tgtEl>
                                        <p:attrNameLst>
                                          <p:attrName>ppt_y</p:attrName>
                                        </p:attrNameLst>
                                      </p:cBhvr>
                                      <p:tavLst>
                                        <p:tav tm="0">
                                          <p:val>
                                            <p:strVal val="#ppt_y+0.1"/>
                                          </p:val>
                                        </p:tav>
                                        <p:tav tm="100000">
                                          <p:val>
                                            <p:strVal val="#ppt_y"/>
                                          </p:val>
                                        </p:tav>
                                      </p:tavLst>
                                    </p:anim>
                                    <p:animEffect transition="in" filter="fade">
                                      <p:cBhvr>
                                        <p:cTn id="83" dur="500"/>
                                        <p:tgtEl>
                                          <p:spTgt spid="34"/>
                                        </p:tgtEl>
                                      </p:cBhvr>
                                    </p:animEffect>
                                  </p:childTnLst>
                                </p:cTn>
                              </p:par>
                              <p:par>
                                <p:cTn id="89" presetID="2" presetClass="entr" presetSubtype="4" fill="hold" grpId="0" nodeType="withEffect">
                                  <p:stCondLst>
                                    <p:cond delay="120"/>
                                  </p:stCondLst>
                                  <p:childTnLst>
                                    <p:set>
                                      <p:cBhvr>
                                        <p:cTn id="85" dur="1" fill="hold">
                                          <p:stCondLst>
                                            <p:cond delay="0"/>
                                          </p:stCondLst>
                                        </p:cTn>
                                        <p:tgtEl>
                                          <p:spTgt spid="35"/>
                                        </p:tgtEl>
                                        <p:attrNameLst>
                                          <p:attrName>style.visibility</p:attrName>
                                        </p:attrNameLst>
                                      </p:cBhvr>
                                      <p:to>
                                        <p:strVal val="visible"/>
                                      </p:to>
                                    </p:set>
                                    <p:anim calcmode="lin" valueType="num">
                                      <p:cBhvr additive="base">
                                        <p:cTn id="86" dur="500" fill="hold"/>
                                        <p:tgtEl>
                                          <p:spTgt spid="35"/>
                                        </p:tgtEl>
                                        <p:attrNameLst>
                                          <p:attrName>ppt_x</p:attrName>
                                        </p:attrNameLst>
                                      </p:cBhvr>
                                      <p:tavLst>
                                        <p:tav tm="0">
                                          <p:val>
                                            <p:strVal val="#ppt_x"/>
                                          </p:val>
                                        </p:tav>
                                        <p:tav tm="100000">
                                          <p:val>
                                            <p:strVal val="#ppt_x"/>
                                          </p:val>
                                        </p:tav>
                                      </p:tavLst>
                                    </p:anim>
                                    <p:anim calcmode="lin" valueType="num">
                                      <p:cBhvr additive="base">
                                        <p:cTn id="87" dur="500" fill="hold"/>
                                        <p:tgtEl>
                                          <p:spTgt spid="35"/>
                                        </p:tgtEl>
                                        <p:attrNameLst>
                                          <p:attrName>ppt_y</p:attrName>
                                        </p:attrNameLst>
                                      </p:cBhvr>
                                      <p:tavLst>
                                        <p:tav tm="0">
                                          <p:val>
                                            <p:strVal val="#ppt_y+0.1"/>
                                          </p:val>
                                        </p:tav>
                                        <p:tav tm="100000">
                                          <p:val>
                                            <p:strVal val="#ppt_y"/>
                                          </p:val>
                                        </p:tav>
                                      </p:tavLst>
                                    </p:anim>
                                    <p:animEffect transition="in" filter="fade">
                                      <p:cBhvr>
                                        <p:cTn id="88" dur="500"/>
                                        <p:tgtEl>
                                          <p:spTgt spid="35"/>
                                        </p:tgtEl>
                                      </p:cBhvr>
                                    </p:animEffect>
                                  </p:childTnLst>
                                </p:cTn>
                              </p:par>
                              <p:par>
                                <p:cTn id="94" presetID="2" presetClass="entr" presetSubtype="4" fill="hold" grpId="0" nodeType="withEffect">
                                  <p:stCondLst>
                                    <p:cond delay="120"/>
                                  </p:stCondLst>
                                  <p:childTnLst>
                                    <p:set>
                                      <p:cBhvr>
                                        <p:cTn id="90" dur="1" fill="hold">
                                          <p:stCondLst>
                                            <p:cond delay="0"/>
                                          </p:stCondLst>
                                        </p:cTn>
                                        <p:tgtEl>
                                          <p:spTgt spid="36"/>
                                        </p:tgtEl>
                                        <p:attrNameLst>
                                          <p:attrName>style.visibility</p:attrName>
                                        </p:attrNameLst>
                                      </p:cBhvr>
                                      <p:to>
                                        <p:strVal val="visible"/>
                                      </p:to>
                                    </p:set>
                                    <p:anim calcmode="lin" valueType="num">
                                      <p:cBhvr additive="base">
                                        <p:cTn id="91" dur="500" fill="hold"/>
                                        <p:tgtEl>
                                          <p:spTgt spid="36"/>
                                        </p:tgtEl>
                                        <p:attrNameLst>
                                          <p:attrName>ppt_x</p:attrName>
                                        </p:attrNameLst>
                                      </p:cBhvr>
                                      <p:tavLst>
                                        <p:tav tm="0">
                                          <p:val>
                                            <p:strVal val="#ppt_x"/>
                                          </p:val>
                                        </p:tav>
                                        <p:tav tm="100000">
                                          <p:val>
                                            <p:strVal val="#ppt_x"/>
                                          </p:val>
                                        </p:tav>
                                      </p:tavLst>
                                    </p:anim>
                                    <p:anim calcmode="lin" valueType="num">
                                      <p:cBhvr additive="base">
                                        <p:cTn id="92" dur="500" fill="hold"/>
                                        <p:tgtEl>
                                          <p:spTgt spid="36"/>
                                        </p:tgtEl>
                                        <p:attrNameLst>
                                          <p:attrName>ppt_y</p:attrName>
                                        </p:attrNameLst>
                                      </p:cBhvr>
                                      <p:tavLst>
                                        <p:tav tm="0">
                                          <p:val>
                                            <p:strVal val="#ppt_y+0.1"/>
                                          </p:val>
                                        </p:tav>
                                        <p:tav tm="100000">
                                          <p:val>
                                            <p:strVal val="#ppt_y"/>
                                          </p:val>
                                        </p:tav>
                                      </p:tavLst>
                                    </p:anim>
                                    <p:animEffect transition="in" filter="fade">
                                      <p:cBhvr>
                                        <p:cTn id="93" dur="500"/>
                                        <p:tgtEl>
                                          <p:spTgt spid="36"/>
                                        </p:tgtEl>
                                      </p:cBhvr>
                                    </p:animEffect>
                                  </p:childTnLst>
                                </p:cTn>
                              </p:par>
                            </p:childTnLst>
                          </p:cTn>
                        </p:par>
                      </p:childTnLst>
                    </p:cTn>
                  </p:par>
                  <p:par>
                    <p:cTn id="95" fill="hold">
                      <p:stCondLst>
                        <p:cond delay="indefinite"/>
                      </p:stCondLst>
                      <p:childTnLst>
                        <p:par>
                          <p:cTn id="96" fill="hold">
                            <p:stCondLst>
                              <p:cond delay="0"/>
                            </p:stCondLst>
                            <p:childTnLst>
                              <p:par>
                                <p:cTn id="101" presetID="2" presetClass="entr" presetSubtype="4" fill="hold" grpId="0" nodeType="clickEffect">
                                  <p:stCondLst>
                                    <p:cond delay="0"/>
                                  </p:stCondLst>
                                  <p:childTnLst>
                                    <p:set>
                                      <p:cBhvr>
                                        <p:cTn id="97" dur="1" fill="hold">
                                          <p:stCondLst>
                                            <p:cond delay="0"/>
                                          </p:stCondLst>
                                        </p:cTn>
                                        <p:tgtEl>
                                          <p:spTgt spid="37"/>
                                        </p:tgtEl>
                                        <p:attrNameLst>
                                          <p:attrName>style.visibility</p:attrName>
                                        </p:attrNameLst>
                                      </p:cBhvr>
                                      <p:to>
                                        <p:strVal val="visible"/>
                                      </p:to>
                                    </p:set>
                                    <p:anim calcmode="lin" valueType="num">
                                      <p:cBhvr additive="base">
                                        <p:cTn id="98" dur="500" fill="hold"/>
                                        <p:tgtEl>
                                          <p:spTgt spid="37"/>
                                        </p:tgtEl>
                                        <p:attrNameLst>
                                          <p:attrName>ppt_x</p:attrName>
                                        </p:attrNameLst>
                                      </p:cBhvr>
                                      <p:tavLst>
                                        <p:tav tm="0">
                                          <p:val>
                                            <p:strVal val="#ppt_x"/>
                                          </p:val>
                                        </p:tav>
                                        <p:tav tm="100000">
                                          <p:val>
                                            <p:strVal val="#ppt_x"/>
                                          </p:val>
                                        </p:tav>
                                      </p:tavLst>
                                    </p:anim>
                                    <p:anim calcmode="lin" valueType="num">
                                      <p:cBhvr additive="base">
                                        <p:cTn id="99" dur="500" fill="hold"/>
                                        <p:tgtEl>
                                          <p:spTgt spid="37"/>
                                        </p:tgtEl>
                                        <p:attrNameLst>
                                          <p:attrName>ppt_y</p:attrName>
                                        </p:attrNameLst>
                                      </p:cBhvr>
                                      <p:tavLst>
                                        <p:tav tm="0">
                                          <p:val>
                                            <p:strVal val="#ppt_y+0.1"/>
                                          </p:val>
                                        </p:tav>
                                        <p:tav tm="100000">
                                          <p:val>
                                            <p:strVal val="#ppt_y"/>
                                          </p:val>
                                        </p:tav>
                                      </p:tavLst>
                                    </p:anim>
                                    <p:animEffect transition="in" filter="fade">
                                      <p:cBhvr>
                                        <p:cTn id="100" dur="500"/>
                                        <p:tgtEl>
                                          <p:spTgt spid="37"/>
                                        </p:tgtEl>
                                      </p:cBhvr>
                                    </p:animEffect>
                                  </p:childTnLst>
                                </p:cTn>
                              </p:par>
                              <p:par>
                                <p:cTn id="106" presetID="2" presetClass="entr" presetSubtype="4"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 calcmode="lin" valueType="num">
                                      <p:cBhvr additive="base">
                                        <p:cTn id="103" dur="500" fill="hold"/>
                                        <p:tgtEl>
                                          <p:spTgt spid="38"/>
                                        </p:tgtEl>
                                        <p:attrNameLst>
                                          <p:attrName>ppt_x</p:attrName>
                                        </p:attrNameLst>
                                      </p:cBhvr>
                                      <p:tavLst>
                                        <p:tav tm="0">
                                          <p:val>
                                            <p:strVal val="#ppt_x"/>
                                          </p:val>
                                        </p:tav>
                                        <p:tav tm="100000">
                                          <p:val>
                                            <p:strVal val="#ppt_x"/>
                                          </p:val>
                                        </p:tav>
                                      </p:tavLst>
                                    </p:anim>
                                    <p:anim calcmode="lin" valueType="num">
                                      <p:cBhvr additive="base">
                                        <p:cTn id="104" dur="500" fill="hold"/>
                                        <p:tgtEl>
                                          <p:spTgt spid="38"/>
                                        </p:tgtEl>
                                        <p:attrNameLst>
                                          <p:attrName>ppt_y</p:attrName>
                                        </p:attrNameLst>
                                      </p:cBhvr>
                                      <p:tavLst>
                                        <p:tav tm="0">
                                          <p:val>
                                            <p:strVal val="#ppt_y+0.1"/>
                                          </p:val>
                                        </p:tav>
                                        <p:tav tm="100000">
                                          <p:val>
                                            <p:strVal val="#ppt_y"/>
                                          </p:val>
                                        </p:tav>
                                      </p:tavLst>
                                    </p:anim>
                                    <p:animEffect transition="in" filter="fade">
                                      <p:cBhvr>
                                        <p:cTn id="105" dur="500"/>
                                        <p:tgtEl>
                                          <p:spTgt spid="38"/>
                                        </p:tgtEl>
                                      </p:cBhvr>
                                    </p:animEffect>
                                  </p:childTnLst>
                                </p:cTn>
                              </p:par>
                              <p:par>
                                <p:cTn id="111" presetID="2" presetClass="entr" presetSubtype="4"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 calcmode="lin" valueType="num">
                                      <p:cBhvr additive="base">
                                        <p:cTn id="108" dur="500" fill="hold"/>
                                        <p:tgtEl>
                                          <p:spTgt spid="39"/>
                                        </p:tgtEl>
                                        <p:attrNameLst>
                                          <p:attrName>ppt_x</p:attrName>
                                        </p:attrNameLst>
                                      </p:cBhvr>
                                      <p:tavLst>
                                        <p:tav tm="0">
                                          <p:val>
                                            <p:strVal val="#ppt_x"/>
                                          </p:val>
                                        </p:tav>
                                        <p:tav tm="100000">
                                          <p:val>
                                            <p:strVal val="#ppt_x"/>
                                          </p:val>
                                        </p:tav>
                                      </p:tavLst>
                                    </p:anim>
                                    <p:anim calcmode="lin" valueType="num">
                                      <p:cBhvr additive="base">
                                        <p:cTn id="109" dur="500" fill="hold"/>
                                        <p:tgtEl>
                                          <p:spTgt spid="39"/>
                                        </p:tgtEl>
                                        <p:attrNameLst>
                                          <p:attrName>ppt_y</p:attrName>
                                        </p:attrNameLst>
                                      </p:cBhvr>
                                      <p:tavLst>
                                        <p:tav tm="0">
                                          <p:val>
                                            <p:strVal val="#ppt_y+0.1"/>
                                          </p:val>
                                        </p:tav>
                                        <p:tav tm="100000">
                                          <p:val>
                                            <p:strVal val="#ppt_y"/>
                                          </p:val>
                                        </p:tav>
                                      </p:tavLst>
                                    </p:anim>
                                    <p:animEffect transition="in" filter="fade">
                                      <p:cBhvr>
                                        <p:cTn id="11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Brokers Run Almost Anywhere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What matters is the Kafka process - and, traditionally, fast local disks</a:t>
            </a:r>
          </a:p>
        </p:txBody>
      </p:sp>
      <p:sp>
        <p:nvSpPr>
          <p:cNvPr id="11" name="a1u_card10"/>
          <p:cNvSpPr/>
          <p:nvPr/>
        </p:nvSpPr>
        <p:spPr>
          <a:xfrm>
            <a:off x="457200" y="1280160"/>
            <a:ext cx="1956816" cy="1115568"/>
          </a:xfrm>
          <a:prstGeom prst="roundRect">
            <a:avLst>
              <a:gd name="adj" fmla="val 983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1956816"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tt12"/>
          <p:cNvSpPr txBox="1"/>
          <p:nvPr/>
        </p:nvSpPr>
        <p:spPr>
          <a:xfrm>
            <a:off x="603504" y="1389888"/>
            <a:ext cx="1682496" cy="256032"/>
          </a:xfrm>
          <a:prstGeom prst="rect">
            <a:avLst/>
          </a:prstGeom>
          <a:noFill/>
        </p:spPr>
        <p:txBody>
          <a:bodyPr wrap="square" lIns="0" tIns="0" rIns="0" bIns="0" anchor="ctr">
            <a:spAutoFit/>
          </a:bodyPr>
          <a:lstStyle/>
          <a:p>
            <a:pPr algn="l"/>
            <a:r>
              <a:rPr sz="1150" b="1">
                <a:solidFill>
                  <a:srgbClr val="1C1917"/>
                </a:solidFill>
                <a:latin typeface="Segoe UI"/>
              </a:rPr>
              <a:t>Physical servers</a:t>
            </a:r>
          </a:p>
        </p:txBody>
      </p:sp>
      <p:sp>
        <p:nvSpPr>
          <p:cNvPr id="14" name="a1ud60_tb13"/>
          <p:cNvSpPr txBox="1"/>
          <p:nvPr/>
        </p:nvSpPr>
        <p:spPr>
          <a:xfrm>
            <a:off x="603504" y="1682495"/>
            <a:ext cx="1682496" cy="658368"/>
          </a:xfrm>
          <a:prstGeom prst="rect">
            <a:avLst/>
          </a:prstGeom>
          <a:noFill/>
        </p:spPr>
        <p:txBody>
          <a:bodyPr wrap="square" lIns="0" tIns="0" rIns="0" bIns="0" anchor="t">
            <a:spAutoFit/>
          </a:bodyPr>
          <a:lstStyle/>
          <a:p>
            <a:pPr algn="l"/>
            <a:r>
              <a:rPr sz="900" b="0">
                <a:solidFill>
                  <a:srgbClr val="44403C"/>
                </a:solidFill>
                <a:latin typeface="Segoe UI"/>
              </a:rPr>
              <a:t>real machines with blinking lights, in your own racks</a:t>
            </a:r>
          </a:p>
        </p:txBody>
      </p:sp>
      <p:sp>
        <p:nvSpPr>
          <p:cNvPr id="15" name="a1u_card14"/>
          <p:cNvSpPr/>
          <p:nvPr/>
        </p:nvSpPr>
        <p:spPr>
          <a:xfrm>
            <a:off x="2551176" y="1280160"/>
            <a:ext cx="1956816" cy="1115568"/>
          </a:xfrm>
          <a:prstGeom prst="roundRect">
            <a:avLst>
              <a:gd name="adj" fmla="val 983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_acc15"/>
          <p:cNvSpPr/>
          <p:nvPr/>
        </p:nvSpPr>
        <p:spPr>
          <a:xfrm>
            <a:off x="2551176" y="1280160"/>
            <a:ext cx="1956816"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_tt16"/>
          <p:cNvSpPr txBox="1"/>
          <p:nvPr/>
        </p:nvSpPr>
        <p:spPr>
          <a:xfrm>
            <a:off x="2697480" y="1389888"/>
            <a:ext cx="1682496" cy="256032"/>
          </a:xfrm>
          <a:prstGeom prst="rect">
            <a:avLst/>
          </a:prstGeom>
          <a:noFill/>
        </p:spPr>
        <p:txBody>
          <a:bodyPr wrap="square" lIns="0" tIns="0" rIns="0" bIns="0" anchor="ctr">
            <a:spAutoFit/>
          </a:bodyPr>
          <a:lstStyle/>
          <a:p>
            <a:pPr algn="l"/>
            <a:r>
              <a:rPr sz="1150" b="1">
                <a:solidFill>
                  <a:srgbClr val="1C1917"/>
                </a:solidFill>
                <a:latin typeface="Segoe UI"/>
              </a:rPr>
              <a:t>Cloud instances</a:t>
            </a:r>
          </a:p>
        </p:txBody>
      </p:sp>
      <p:sp>
        <p:nvSpPr>
          <p:cNvPr id="18" name="a1ud60_tb17"/>
          <p:cNvSpPr txBox="1"/>
          <p:nvPr/>
        </p:nvSpPr>
        <p:spPr>
          <a:xfrm>
            <a:off x="2697480" y="1682495"/>
            <a:ext cx="1682496" cy="658368"/>
          </a:xfrm>
          <a:prstGeom prst="rect">
            <a:avLst/>
          </a:prstGeom>
          <a:noFill/>
        </p:spPr>
        <p:txBody>
          <a:bodyPr wrap="square" lIns="0" tIns="0" rIns="0" bIns="0" anchor="t">
            <a:spAutoFit/>
          </a:bodyPr>
          <a:lstStyle/>
          <a:p>
            <a:pPr algn="l"/>
            <a:r>
              <a:rPr sz="900" b="0">
                <a:solidFill>
                  <a:srgbClr val="44403C"/>
                </a:solidFill>
                <a:latin typeface="Segoe UI"/>
              </a:rPr>
              <a:t>virtual machines from any cloud provider</a:t>
            </a:r>
          </a:p>
        </p:txBody>
      </p:sp>
      <p:sp>
        <p:nvSpPr>
          <p:cNvPr id="19" name="a1u_card18"/>
          <p:cNvSpPr/>
          <p:nvPr/>
        </p:nvSpPr>
        <p:spPr>
          <a:xfrm>
            <a:off x="4645152" y="1280160"/>
            <a:ext cx="1956816" cy="1115568"/>
          </a:xfrm>
          <a:prstGeom prst="roundRect">
            <a:avLst>
              <a:gd name="adj" fmla="val 983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_acc19"/>
          <p:cNvSpPr/>
          <p:nvPr/>
        </p:nvSpPr>
        <p:spPr>
          <a:xfrm>
            <a:off x="4645152" y="1280160"/>
            <a:ext cx="1956816"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_tt20"/>
          <p:cNvSpPr txBox="1"/>
          <p:nvPr/>
        </p:nvSpPr>
        <p:spPr>
          <a:xfrm>
            <a:off x="4791456" y="1389888"/>
            <a:ext cx="1682496" cy="256032"/>
          </a:xfrm>
          <a:prstGeom prst="rect">
            <a:avLst/>
          </a:prstGeom>
          <a:noFill/>
        </p:spPr>
        <p:txBody>
          <a:bodyPr wrap="square" lIns="0" tIns="0" rIns="0" bIns="0" anchor="ctr">
            <a:spAutoFit/>
          </a:bodyPr>
          <a:lstStyle/>
          <a:p>
            <a:pPr algn="l"/>
            <a:r>
              <a:rPr sz="1150" b="1">
                <a:solidFill>
                  <a:srgbClr val="1C1917"/>
                </a:solidFill>
                <a:latin typeface="Segoe UI"/>
              </a:rPr>
              <a:t>Containers</a:t>
            </a:r>
          </a:p>
        </p:txBody>
      </p:sp>
      <p:sp>
        <p:nvSpPr>
          <p:cNvPr id="22" name="a1ud60_tb21"/>
          <p:cNvSpPr txBox="1"/>
          <p:nvPr/>
        </p:nvSpPr>
        <p:spPr>
          <a:xfrm>
            <a:off x="4791456" y="1682495"/>
            <a:ext cx="1682496" cy="658368"/>
          </a:xfrm>
          <a:prstGeom prst="rect">
            <a:avLst/>
          </a:prstGeom>
          <a:noFill/>
        </p:spPr>
        <p:txBody>
          <a:bodyPr wrap="square" lIns="0" tIns="0" rIns="0" bIns="0" anchor="t">
            <a:spAutoFit/>
          </a:bodyPr>
          <a:lstStyle/>
          <a:p>
            <a:pPr algn="l"/>
            <a:r>
              <a:rPr sz="900" b="0">
                <a:solidFill>
                  <a:srgbClr val="44403C"/>
                </a:solidFill>
                <a:latin typeface="Segoe UI"/>
              </a:rPr>
              <a:t>Docker, Docker Compose or Kubernetes</a:t>
            </a:r>
          </a:p>
        </p:txBody>
      </p:sp>
      <p:sp>
        <p:nvSpPr>
          <p:cNvPr id="23" name="a1u_card22"/>
          <p:cNvSpPr/>
          <p:nvPr/>
        </p:nvSpPr>
        <p:spPr>
          <a:xfrm>
            <a:off x="6739128" y="1280160"/>
            <a:ext cx="1956816" cy="1115568"/>
          </a:xfrm>
          <a:prstGeom prst="roundRect">
            <a:avLst>
              <a:gd name="adj" fmla="val 9836"/>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1u_acc23"/>
          <p:cNvSpPr/>
          <p:nvPr/>
        </p:nvSpPr>
        <p:spPr>
          <a:xfrm>
            <a:off x="6739128" y="1280160"/>
            <a:ext cx="1956816"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u_tt24"/>
          <p:cNvSpPr txBox="1"/>
          <p:nvPr/>
        </p:nvSpPr>
        <p:spPr>
          <a:xfrm>
            <a:off x="6885432" y="1389888"/>
            <a:ext cx="1682496" cy="256032"/>
          </a:xfrm>
          <a:prstGeom prst="rect">
            <a:avLst/>
          </a:prstGeom>
          <a:noFill/>
        </p:spPr>
        <p:txBody>
          <a:bodyPr wrap="square" lIns="0" tIns="0" rIns="0" bIns="0" anchor="ctr">
            <a:spAutoFit/>
          </a:bodyPr>
          <a:lstStyle/>
          <a:p>
            <a:pPr algn="l"/>
            <a:r>
              <a:rPr sz="1150" b="1">
                <a:solidFill>
                  <a:srgbClr val="1C1917"/>
                </a:solidFill>
                <a:latin typeface="Segoe UI"/>
              </a:rPr>
              <a:t>Raspberry Pi</a:t>
            </a:r>
          </a:p>
        </p:txBody>
      </p:sp>
      <p:sp>
        <p:nvSpPr>
          <p:cNvPr id="26" name="a1ud60_tb25"/>
          <p:cNvSpPr txBox="1"/>
          <p:nvPr/>
        </p:nvSpPr>
        <p:spPr>
          <a:xfrm>
            <a:off x="6885432" y="1682495"/>
            <a:ext cx="1682496" cy="658368"/>
          </a:xfrm>
          <a:prstGeom prst="rect">
            <a:avLst/>
          </a:prstGeom>
          <a:noFill/>
        </p:spPr>
        <p:txBody>
          <a:bodyPr wrap="square" lIns="0" tIns="0" rIns="0" bIns="0" anchor="t">
            <a:spAutoFit/>
          </a:bodyPr>
          <a:lstStyle/>
          <a:p>
            <a:pPr algn="l"/>
            <a:r>
              <a:rPr sz="900" b="0">
                <a:solidFill>
                  <a:srgbClr val="44403C"/>
                </a:solidFill>
                <a:latin typeface="Segoe UI"/>
              </a:rPr>
              <a:t>even small compute modules can run a broker</a:t>
            </a:r>
          </a:p>
        </p:txBody>
      </p:sp>
      <p:sp>
        <p:nvSpPr>
          <p:cNvPr id="27" name="a2f_codebg26"/>
          <p:cNvSpPr/>
          <p:nvPr/>
        </p:nvSpPr>
        <p:spPr>
          <a:xfrm>
            <a:off x="457200" y="2606040"/>
            <a:ext cx="3931920" cy="1261872"/>
          </a:xfrm>
          <a:prstGeom prst="roundRect">
            <a:avLst>
              <a:gd name="adj" fmla="val 5797"/>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f_codeh27"/>
          <p:cNvSpPr txBox="1"/>
          <p:nvPr/>
        </p:nvSpPr>
        <p:spPr>
          <a:xfrm>
            <a:off x="585216" y="2660904"/>
            <a:ext cx="3675887" cy="219456"/>
          </a:xfrm>
          <a:prstGeom prst="rect">
            <a:avLst/>
          </a:prstGeom>
          <a:noFill/>
        </p:spPr>
        <p:txBody>
          <a:bodyPr wrap="square" lIns="0" tIns="0" rIns="0" bIns="0" anchor="ctr">
            <a:spAutoFit/>
          </a:bodyPr>
          <a:lstStyle/>
          <a:p>
            <a:pPr algn="l"/>
            <a:r>
              <a:rPr sz="950" b="1">
                <a:solidFill>
                  <a:srgbClr val="A8A29E"/>
                </a:solidFill>
                <a:latin typeface="Consolas"/>
              </a:rPr>
              <a:t>local SSD  ·  a broker's log directory</a:t>
            </a:r>
          </a:p>
        </p:txBody>
      </p:sp>
      <p:sp>
        <p:nvSpPr>
          <p:cNvPr id="29" name="a2f_codesep28"/>
          <p:cNvSpPr/>
          <p:nvPr/>
        </p:nvSpPr>
        <p:spPr>
          <a:xfrm>
            <a:off x="585216" y="2935224"/>
            <a:ext cx="3675887"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2w_code29"/>
          <p:cNvSpPr txBox="1"/>
          <p:nvPr/>
        </p:nvSpPr>
        <p:spPr>
          <a:xfrm>
            <a:off x="585216" y="3008376"/>
            <a:ext cx="3675887" cy="182880"/>
          </a:xfrm>
          <a:prstGeom prst="rect">
            <a:avLst/>
          </a:prstGeom>
          <a:noFill/>
        </p:spPr>
        <p:txBody>
          <a:bodyPr wrap="none" lIns="0" tIns="0" rIns="0" bIns="0" anchor="ctr">
            <a:spAutoFit/>
          </a:bodyPr>
          <a:lstStyle/>
          <a:p>
            <a:pPr algn="l"/>
            <a:r>
              <a:rPr sz="900" b="0">
                <a:solidFill>
                  <a:srgbClr val="E7E5E4"/>
                </a:solidFill>
                <a:latin typeface="Consolas"/>
              </a:rPr>
              <a:t>/var/lib/kafka/data/</a:t>
            </a:r>
          </a:p>
        </p:txBody>
      </p:sp>
      <p:sp>
        <p:nvSpPr>
          <p:cNvPr id="31" name="a2wd120_code30"/>
          <p:cNvSpPr txBox="1"/>
          <p:nvPr/>
        </p:nvSpPr>
        <p:spPr>
          <a:xfrm>
            <a:off x="585216" y="3191256"/>
            <a:ext cx="3675887" cy="182880"/>
          </a:xfrm>
          <a:prstGeom prst="rect">
            <a:avLst/>
          </a:prstGeom>
          <a:noFill/>
        </p:spPr>
        <p:txBody>
          <a:bodyPr wrap="none" lIns="0" tIns="0" rIns="0" bIns="0" anchor="ctr">
            <a:spAutoFit/>
          </a:bodyPr>
          <a:lstStyle/>
          <a:p>
            <a:pPr algn="l"/>
            <a:r>
              <a:rPr sz="900" b="1">
                <a:solidFill>
                  <a:srgbClr val="FDBA74"/>
                </a:solidFill>
                <a:latin typeface="Consolas"/>
              </a:rPr>
              <a:t>  thermostat_readings-0/</a:t>
            </a:r>
          </a:p>
        </p:txBody>
      </p:sp>
      <p:sp>
        <p:nvSpPr>
          <p:cNvPr id="32" name="a2wd240_code31"/>
          <p:cNvSpPr txBox="1"/>
          <p:nvPr/>
        </p:nvSpPr>
        <p:spPr>
          <a:xfrm>
            <a:off x="585216" y="3374136"/>
            <a:ext cx="3675887" cy="182880"/>
          </a:xfrm>
          <a:prstGeom prst="rect">
            <a:avLst/>
          </a:prstGeom>
          <a:noFill/>
        </p:spPr>
        <p:txBody>
          <a:bodyPr wrap="none" lIns="0" tIns="0" rIns="0" bIns="0" anchor="ctr">
            <a:spAutoFit/>
          </a:bodyPr>
          <a:lstStyle/>
          <a:p>
            <a:pPr algn="l"/>
            <a:r>
              <a:rPr sz="900" b="0">
                <a:solidFill>
                  <a:srgbClr val="67E8F9"/>
                </a:solidFill>
                <a:latin typeface="Consolas"/>
              </a:rPr>
              <a:t>    00000000000000000000.log</a:t>
            </a:r>
          </a:p>
        </p:txBody>
      </p:sp>
      <p:sp>
        <p:nvSpPr>
          <p:cNvPr id="33" name="a2wd360_code32"/>
          <p:cNvSpPr txBox="1"/>
          <p:nvPr/>
        </p:nvSpPr>
        <p:spPr>
          <a:xfrm>
            <a:off x="585216" y="3557016"/>
            <a:ext cx="3675887" cy="182880"/>
          </a:xfrm>
          <a:prstGeom prst="rect">
            <a:avLst/>
          </a:prstGeom>
          <a:noFill/>
        </p:spPr>
        <p:txBody>
          <a:bodyPr wrap="none" lIns="0" tIns="0" rIns="0" bIns="0" anchor="ctr">
            <a:spAutoFit/>
          </a:bodyPr>
          <a:lstStyle/>
          <a:p>
            <a:pPr algn="l"/>
            <a:r>
              <a:rPr sz="900" b="0">
                <a:solidFill>
                  <a:srgbClr val="67E8F9"/>
                </a:solidFill>
                <a:latin typeface="Consolas"/>
              </a:rPr>
              <a:t>    00000000000000000000.index</a:t>
            </a:r>
          </a:p>
        </p:txBody>
      </p:sp>
      <p:sp>
        <p:nvSpPr>
          <p:cNvPr id="34" name="a2ud200_dot33"/>
          <p:cNvSpPr/>
          <p:nvPr/>
        </p:nvSpPr>
        <p:spPr>
          <a:xfrm>
            <a:off x="4663440" y="272948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2ud200_b34"/>
          <p:cNvSpPr txBox="1"/>
          <p:nvPr/>
        </p:nvSpPr>
        <p:spPr>
          <a:xfrm>
            <a:off x="4882896" y="2633472"/>
            <a:ext cx="3803904" cy="365760"/>
          </a:xfrm>
          <a:prstGeom prst="rect">
            <a:avLst/>
          </a:prstGeom>
          <a:noFill/>
        </p:spPr>
        <p:txBody>
          <a:bodyPr wrap="square" lIns="0" tIns="0" rIns="0" bIns="0" anchor="t">
            <a:spAutoFit/>
          </a:bodyPr>
          <a:lstStyle/>
          <a:p>
            <a:pPr algn="l"/>
            <a:r>
              <a:rPr sz="950" b="1">
                <a:solidFill>
                  <a:srgbClr val="1C1917"/>
                </a:solidFill>
                <a:latin typeface="Segoe UI"/>
              </a:rPr>
              <a:t>Local storage  </a:t>
            </a:r>
            <a:r>
              <a:rPr sz="950" b="0">
                <a:solidFill>
                  <a:srgbClr val="44403C"/>
                </a:solidFill>
                <a:latin typeface="Segoe UI"/>
              </a:rPr>
              <a:t>partition logs are plain files on the broker's own disks</a:t>
            </a:r>
          </a:p>
        </p:txBody>
      </p:sp>
      <p:sp>
        <p:nvSpPr>
          <p:cNvPr id="36" name="a2ud320_dot35"/>
          <p:cNvSpPr/>
          <p:nvPr/>
        </p:nvSpPr>
        <p:spPr>
          <a:xfrm>
            <a:off x="4663440" y="3131820"/>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2ud320_b36"/>
          <p:cNvSpPr txBox="1"/>
          <p:nvPr/>
        </p:nvSpPr>
        <p:spPr>
          <a:xfrm>
            <a:off x="4882896" y="3035808"/>
            <a:ext cx="3803904" cy="365760"/>
          </a:xfrm>
          <a:prstGeom prst="rect">
            <a:avLst/>
          </a:prstGeom>
          <a:noFill/>
        </p:spPr>
        <p:txBody>
          <a:bodyPr wrap="square" lIns="0" tIns="0" rIns="0" bIns="0" anchor="t">
            <a:spAutoFit/>
          </a:bodyPr>
          <a:lstStyle/>
          <a:p>
            <a:pPr algn="l"/>
            <a:r>
              <a:rPr sz="950" b="1">
                <a:solidFill>
                  <a:srgbClr val="1C1917"/>
                </a:solidFill>
                <a:latin typeface="Segoe UI"/>
              </a:rPr>
              <a:t>Usually SSDs  </a:t>
            </a:r>
            <a:r>
              <a:rPr sz="950" b="0">
                <a:solidFill>
                  <a:srgbClr val="44403C"/>
                </a:solidFill>
                <a:latin typeface="Segoe UI"/>
              </a:rPr>
              <a:t>tightly coupled - right next to the processor</a:t>
            </a:r>
          </a:p>
        </p:txBody>
      </p:sp>
      <p:sp>
        <p:nvSpPr>
          <p:cNvPr id="38" name="a2ud440_dot37"/>
          <p:cNvSpPr/>
          <p:nvPr/>
        </p:nvSpPr>
        <p:spPr>
          <a:xfrm>
            <a:off x="4663440" y="3534156"/>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2ud440_b38"/>
          <p:cNvSpPr txBox="1"/>
          <p:nvPr/>
        </p:nvSpPr>
        <p:spPr>
          <a:xfrm>
            <a:off x="4882896" y="3438144"/>
            <a:ext cx="3803904" cy="365760"/>
          </a:xfrm>
          <a:prstGeom prst="rect">
            <a:avLst/>
          </a:prstGeom>
          <a:noFill/>
        </p:spPr>
        <p:txBody>
          <a:bodyPr wrap="square" lIns="0" tIns="0" rIns="0" bIns="0" anchor="t">
            <a:spAutoFit/>
          </a:bodyPr>
          <a:lstStyle/>
          <a:p>
            <a:pPr algn="l"/>
            <a:r>
              <a:rPr sz="950" b="1">
                <a:solidFill>
                  <a:srgbClr val="1C1917"/>
                </a:solidFill>
                <a:latin typeface="Segoe UI"/>
              </a:rPr>
              <a:t>One folder per partition  </a:t>
            </a:r>
            <a:r>
              <a:rPr sz="950" b="0">
                <a:solidFill>
                  <a:srgbClr val="44403C"/>
                </a:solidFill>
                <a:latin typeface="Segoe UI"/>
              </a:rPr>
              <a:t>named topic-partition, holding segment files</a:t>
            </a:r>
          </a:p>
        </p:txBody>
      </p:sp>
      <p:sp>
        <p:nvSpPr>
          <p:cNvPr id="40" name="a3u_nb39"/>
          <p:cNvSpPr/>
          <p:nvPr/>
        </p:nvSpPr>
        <p:spPr>
          <a:xfrm>
            <a:off x="457200" y="4041648"/>
            <a:ext cx="8229600" cy="502920"/>
          </a:xfrm>
          <a:prstGeom prst="roundRect">
            <a:avLst>
              <a:gd name="adj" fmla="val 14545"/>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3u_nacc40"/>
          <p:cNvSpPr/>
          <p:nvPr/>
        </p:nvSpPr>
        <p:spPr>
          <a:xfrm>
            <a:off x="457200" y="4041648"/>
            <a:ext cx="54864" cy="5029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3u_nt41"/>
          <p:cNvSpPr txBox="1"/>
          <p:nvPr/>
        </p:nvSpPr>
        <p:spPr>
          <a:xfrm>
            <a:off x="658368" y="4041648"/>
            <a:ext cx="7827264" cy="502920"/>
          </a:xfrm>
          <a:prstGeom prst="rect">
            <a:avLst/>
          </a:prstGeom>
          <a:noFill/>
        </p:spPr>
        <p:txBody>
          <a:bodyPr wrap="square" lIns="0" tIns="0" rIns="0" bIns="0" anchor="ctr">
            <a:spAutoFit/>
          </a:bodyPr>
          <a:lstStyle/>
          <a:p>
            <a:pPr algn="l"/>
            <a:r>
              <a:rPr sz="900" b="1">
                <a:solidFill>
                  <a:srgbClr val="4F46E5"/>
                </a:solidFill>
                <a:latin typeface="Segoe UI"/>
              </a:rPr>
              <a:t>NOTE  </a:t>
            </a:r>
            <a:r>
              <a:rPr sz="900" b="0">
                <a:solidFill>
                  <a:srgbClr val="44403C"/>
                </a:solidFill>
                <a:latin typeface="Segoe UI"/>
              </a:rPr>
              <a:t>Why 'historically'? Tiered storage (production-ready since Kafka 3.9) can move older segments to object storage such as S3.</a:t>
            </a:r>
          </a:p>
        </p:txBody>
      </p:sp>
      <p:sp>
        <p:nvSpPr>
          <p:cNvPr id="43" name="ft42"/>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04</a:t>
            </a:r>
          </a:p>
        </p:txBody>
      </p:sp>
      <p:sp>
        <p:nvSpPr>
          <p:cNvPr id="44" name="ft43"/>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ft44"/>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Brokers</a:t>
            </a:r>
          </a:p>
        </p:txBody>
      </p:sp>
      <p:sp>
        <p:nvSpPr>
          <p:cNvPr id="46" name="ft45"/>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ppt_y+0.1"/>
                                          </p:val>
                                        </p:tav>
                                        <p:tav tm="100000">
                                          <p:val>
                                            <p:strVal val="#ppt_y"/>
                                          </p:val>
                                        </p:tav>
                                      </p:tavLst>
                                    </p:anim>
                                    <p:animEffect transition="in" filter="fade">
                                      <p:cBhvr>
                                        <p:cTn id="23" dur="500"/>
                                        <p:tgtEl>
                                          <p:spTgt spid="15"/>
                                        </p:tgtEl>
                                      </p:cBhvr>
                                    </p:animEffect>
                                  </p:childTnLst>
                                </p:cTn>
                              </p:par>
                              <p:par>
                                <p:cTn id="29" presetID="2" presetClass="entr" presetSubtype="4"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ppt_y+0.1"/>
                                          </p:val>
                                        </p:tav>
                                        <p:tav tm="100000">
                                          <p:val>
                                            <p:strVal val="#ppt_y"/>
                                          </p:val>
                                        </p:tav>
                                      </p:tavLst>
                                    </p:anim>
                                    <p:animEffect transition="in" filter="fade">
                                      <p:cBhvr>
                                        <p:cTn id="28" dur="500"/>
                                        <p:tgtEl>
                                          <p:spTgt spid="16"/>
                                        </p:tgtEl>
                                      </p:cBhvr>
                                    </p:animEffect>
                                  </p:childTnLst>
                                </p:cTn>
                              </p:par>
                              <p:par>
                                <p:cTn id="34" presetID="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ppt_y+0.1"/>
                                          </p:val>
                                        </p:tav>
                                        <p:tav tm="100000">
                                          <p:val>
                                            <p:strVal val="#ppt_y"/>
                                          </p:val>
                                        </p:tav>
                                      </p:tavLst>
                                    </p:anim>
                                    <p:animEffect transition="in" filter="fade">
                                      <p:cBhvr>
                                        <p:cTn id="33" dur="500"/>
                                        <p:tgtEl>
                                          <p:spTgt spid="17"/>
                                        </p:tgtEl>
                                      </p:cBhvr>
                                    </p:animEffect>
                                  </p:childTnLst>
                                </p:cTn>
                              </p:par>
                              <p:par>
                                <p:cTn id="39" presetID="2" presetClass="entr" presetSubtype="4"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 calcmode="lin" valueType="num">
                                      <p:cBhvr additive="base">
                                        <p:cTn id="36" dur="500" fill="hold"/>
                                        <p:tgtEl>
                                          <p:spTgt spid="19"/>
                                        </p:tgtEl>
                                        <p:attrNameLst>
                                          <p:attrName>ppt_x</p:attrName>
                                        </p:attrNameLst>
                                      </p:cBhvr>
                                      <p:tavLst>
                                        <p:tav tm="0">
                                          <p:val>
                                            <p:strVal val="#ppt_x"/>
                                          </p:val>
                                        </p:tav>
                                        <p:tav tm="100000">
                                          <p:val>
                                            <p:strVal val="#ppt_x"/>
                                          </p:val>
                                        </p:tav>
                                      </p:tavLst>
                                    </p:anim>
                                    <p:anim calcmode="lin" valueType="num">
                                      <p:cBhvr additive="base">
                                        <p:cTn id="37" dur="500" fill="hold"/>
                                        <p:tgtEl>
                                          <p:spTgt spid="19"/>
                                        </p:tgtEl>
                                        <p:attrNameLst>
                                          <p:attrName>ppt_y</p:attrName>
                                        </p:attrNameLst>
                                      </p:cBhvr>
                                      <p:tavLst>
                                        <p:tav tm="0">
                                          <p:val>
                                            <p:strVal val="#ppt_y+0.1"/>
                                          </p:val>
                                        </p:tav>
                                        <p:tav tm="100000">
                                          <p:val>
                                            <p:strVal val="#ppt_y"/>
                                          </p:val>
                                        </p:tav>
                                      </p:tavLst>
                                    </p:anim>
                                    <p:animEffect transition="in" filter="fade">
                                      <p:cBhvr>
                                        <p:cTn id="38" dur="500"/>
                                        <p:tgtEl>
                                          <p:spTgt spid="19"/>
                                        </p:tgtEl>
                                      </p:cBhvr>
                                    </p:animEffect>
                                  </p:childTnLst>
                                </p:cTn>
                              </p:par>
                              <p:par>
                                <p:cTn id="44" presetID="2" presetClass="entr" presetSubtype="4"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ppt_x"/>
                                          </p:val>
                                        </p:tav>
                                        <p:tav tm="100000">
                                          <p:val>
                                            <p:strVal val="#ppt_x"/>
                                          </p:val>
                                        </p:tav>
                                      </p:tavLst>
                                    </p:anim>
                                    <p:anim calcmode="lin" valueType="num">
                                      <p:cBhvr additive="base">
                                        <p:cTn id="42" dur="500" fill="hold"/>
                                        <p:tgtEl>
                                          <p:spTgt spid="20"/>
                                        </p:tgtEl>
                                        <p:attrNameLst>
                                          <p:attrName>ppt_y</p:attrName>
                                        </p:attrNameLst>
                                      </p:cBhvr>
                                      <p:tavLst>
                                        <p:tav tm="0">
                                          <p:val>
                                            <p:strVal val="#ppt_y+0.1"/>
                                          </p:val>
                                        </p:tav>
                                        <p:tav tm="100000">
                                          <p:val>
                                            <p:strVal val="#ppt_y"/>
                                          </p:val>
                                        </p:tav>
                                      </p:tavLst>
                                    </p:anim>
                                    <p:animEffect transition="in" filter="fade">
                                      <p:cBhvr>
                                        <p:cTn id="43" dur="500"/>
                                        <p:tgtEl>
                                          <p:spTgt spid="20"/>
                                        </p:tgtEl>
                                      </p:cBhvr>
                                    </p:animEffect>
                                  </p:childTnLst>
                                </p:cTn>
                              </p:par>
                              <p:par>
                                <p:cTn id="49" presetID="2" presetClass="entr" presetSubtype="4"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 calcmode="lin" valueType="num">
                                      <p:cBhvr additive="base">
                                        <p:cTn id="46" dur="500" fill="hold"/>
                                        <p:tgtEl>
                                          <p:spTgt spid="21"/>
                                        </p:tgtEl>
                                        <p:attrNameLst>
                                          <p:attrName>ppt_x</p:attrName>
                                        </p:attrNameLst>
                                      </p:cBhvr>
                                      <p:tavLst>
                                        <p:tav tm="0">
                                          <p:val>
                                            <p:strVal val="#ppt_x"/>
                                          </p:val>
                                        </p:tav>
                                        <p:tav tm="100000">
                                          <p:val>
                                            <p:strVal val="#ppt_x"/>
                                          </p:val>
                                        </p:tav>
                                      </p:tavLst>
                                    </p:anim>
                                    <p:anim calcmode="lin" valueType="num">
                                      <p:cBhvr additive="base">
                                        <p:cTn id="47" dur="500" fill="hold"/>
                                        <p:tgtEl>
                                          <p:spTgt spid="21"/>
                                        </p:tgtEl>
                                        <p:attrNameLst>
                                          <p:attrName>ppt_y</p:attrName>
                                        </p:attrNameLst>
                                      </p:cBhvr>
                                      <p:tavLst>
                                        <p:tav tm="0">
                                          <p:val>
                                            <p:strVal val="#ppt_y+0.1"/>
                                          </p:val>
                                        </p:tav>
                                        <p:tav tm="100000">
                                          <p:val>
                                            <p:strVal val="#ppt_y"/>
                                          </p:val>
                                        </p:tav>
                                      </p:tavLst>
                                    </p:anim>
                                    <p:animEffect transition="in" filter="fade">
                                      <p:cBhvr>
                                        <p:cTn id="48" dur="500"/>
                                        <p:tgtEl>
                                          <p:spTgt spid="21"/>
                                        </p:tgtEl>
                                      </p:cBhvr>
                                    </p:animEffect>
                                  </p:childTnLst>
                                </p:cTn>
                              </p:par>
                              <p:par>
                                <p:cTn id="54" presetID="2" presetClass="entr" presetSubtype="4"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500" fill="hold"/>
                                        <p:tgtEl>
                                          <p:spTgt spid="23"/>
                                        </p:tgtEl>
                                        <p:attrNameLst>
                                          <p:attrName>ppt_x</p:attrName>
                                        </p:attrNameLst>
                                      </p:cBhvr>
                                      <p:tavLst>
                                        <p:tav tm="0">
                                          <p:val>
                                            <p:strVal val="#ppt_x"/>
                                          </p:val>
                                        </p:tav>
                                        <p:tav tm="100000">
                                          <p:val>
                                            <p:strVal val="#ppt_x"/>
                                          </p:val>
                                        </p:tav>
                                      </p:tavLst>
                                    </p:anim>
                                    <p:anim calcmode="lin" valueType="num">
                                      <p:cBhvr additive="base">
                                        <p:cTn id="52" dur="500" fill="hold"/>
                                        <p:tgtEl>
                                          <p:spTgt spid="23"/>
                                        </p:tgtEl>
                                        <p:attrNameLst>
                                          <p:attrName>ppt_y</p:attrName>
                                        </p:attrNameLst>
                                      </p:cBhvr>
                                      <p:tavLst>
                                        <p:tav tm="0">
                                          <p:val>
                                            <p:strVal val="#ppt_y+0.1"/>
                                          </p:val>
                                        </p:tav>
                                        <p:tav tm="100000">
                                          <p:val>
                                            <p:strVal val="#ppt_y"/>
                                          </p:val>
                                        </p:tav>
                                      </p:tavLst>
                                    </p:anim>
                                    <p:animEffect transition="in" filter="fade">
                                      <p:cBhvr>
                                        <p:cTn id="53" dur="500"/>
                                        <p:tgtEl>
                                          <p:spTgt spid="23"/>
                                        </p:tgtEl>
                                      </p:cBhvr>
                                    </p:animEffect>
                                  </p:childTnLst>
                                </p:cTn>
                              </p:par>
                              <p:par>
                                <p:cTn id="59" presetID="2" presetClass="entr" presetSubtype="4"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 calcmode="lin" valueType="num">
                                      <p:cBhvr additive="base">
                                        <p:cTn id="56" dur="500" fill="hold"/>
                                        <p:tgtEl>
                                          <p:spTgt spid="24"/>
                                        </p:tgtEl>
                                        <p:attrNameLst>
                                          <p:attrName>ppt_x</p:attrName>
                                        </p:attrNameLst>
                                      </p:cBhvr>
                                      <p:tavLst>
                                        <p:tav tm="0">
                                          <p:val>
                                            <p:strVal val="#ppt_x"/>
                                          </p:val>
                                        </p:tav>
                                        <p:tav tm="100000">
                                          <p:val>
                                            <p:strVal val="#ppt_x"/>
                                          </p:val>
                                        </p:tav>
                                      </p:tavLst>
                                    </p:anim>
                                    <p:anim calcmode="lin" valueType="num">
                                      <p:cBhvr additive="base">
                                        <p:cTn id="57" dur="500" fill="hold"/>
                                        <p:tgtEl>
                                          <p:spTgt spid="24"/>
                                        </p:tgtEl>
                                        <p:attrNameLst>
                                          <p:attrName>ppt_y</p:attrName>
                                        </p:attrNameLst>
                                      </p:cBhvr>
                                      <p:tavLst>
                                        <p:tav tm="0">
                                          <p:val>
                                            <p:strVal val="#ppt_y+0.1"/>
                                          </p:val>
                                        </p:tav>
                                        <p:tav tm="100000">
                                          <p:val>
                                            <p:strVal val="#ppt_y"/>
                                          </p:val>
                                        </p:tav>
                                      </p:tavLst>
                                    </p:anim>
                                    <p:animEffect transition="in" filter="fade">
                                      <p:cBhvr>
                                        <p:cTn id="58" dur="500"/>
                                        <p:tgtEl>
                                          <p:spTgt spid="24"/>
                                        </p:tgtEl>
                                      </p:cBhvr>
                                    </p:animEffect>
                                  </p:childTnLst>
                                </p:cTn>
                              </p:par>
                              <p:par>
                                <p:cTn id="64" presetID="2" presetClass="entr" presetSubtype="4"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 calcmode="lin" valueType="num">
                                      <p:cBhvr additive="base">
                                        <p:cTn id="61" dur="500" fill="hold"/>
                                        <p:tgtEl>
                                          <p:spTgt spid="25"/>
                                        </p:tgtEl>
                                        <p:attrNameLst>
                                          <p:attrName>ppt_x</p:attrName>
                                        </p:attrNameLst>
                                      </p:cBhvr>
                                      <p:tavLst>
                                        <p:tav tm="0">
                                          <p:val>
                                            <p:strVal val="#ppt_x"/>
                                          </p:val>
                                        </p:tav>
                                        <p:tav tm="100000">
                                          <p:val>
                                            <p:strVal val="#ppt_x"/>
                                          </p:val>
                                        </p:tav>
                                      </p:tavLst>
                                    </p:anim>
                                    <p:anim calcmode="lin" valueType="num">
                                      <p:cBhvr additive="base">
                                        <p:cTn id="62" dur="500" fill="hold"/>
                                        <p:tgtEl>
                                          <p:spTgt spid="25"/>
                                        </p:tgtEl>
                                        <p:attrNameLst>
                                          <p:attrName>ppt_y</p:attrName>
                                        </p:attrNameLst>
                                      </p:cBhvr>
                                      <p:tavLst>
                                        <p:tav tm="0">
                                          <p:val>
                                            <p:strVal val="#ppt_y+0.1"/>
                                          </p:val>
                                        </p:tav>
                                        <p:tav tm="100000">
                                          <p:val>
                                            <p:strVal val="#ppt_y"/>
                                          </p:val>
                                        </p:tav>
                                      </p:tavLst>
                                    </p:anim>
                                    <p:animEffect transition="in" filter="fade">
                                      <p:cBhvr>
                                        <p:cTn id="63" dur="500"/>
                                        <p:tgtEl>
                                          <p:spTgt spid="25"/>
                                        </p:tgtEl>
                                      </p:cBhvr>
                                    </p:animEffect>
                                  </p:childTnLst>
                                </p:cTn>
                              </p:par>
                              <p:par>
                                <p:cTn id="69" presetID="2" presetClass="entr" presetSubtype="4" fill="hold" grpId="0" nodeType="withEffect">
                                  <p:stCondLst>
                                    <p:cond delay="60"/>
                                  </p:stCondLst>
                                  <p:childTnLst>
                                    <p:set>
                                      <p:cBhvr>
                                        <p:cTn id="65" dur="1" fill="hold">
                                          <p:stCondLst>
                                            <p:cond delay="0"/>
                                          </p:stCondLst>
                                        </p:cTn>
                                        <p:tgtEl>
                                          <p:spTgt spid="14"/>
                                        </p:tgtEl>
                                        <p:attrNameLst>
                                          <p:attrName>style.visibility</p:attrName>
                                        </p:attrNameLst>
                                      </p:cBhvr>
                                      <p:to>
                                        <p:strVal val="visible"/>
                                      </p:to>
                                    </p:set>
                                    <p:anim calcmode="lin" valueType="num">
                                      <p:cBhvr additive="base">
                                        <p:cTn id="66" dur="500" fill="hold"/>
                                        <p:tgtEl>
                                          <p:spTgt spid="14"/>
                                        </p:tgtEl>
                                        <p:attrNameLst>
                                          <p:attrName>ppt_x</p:attrName>
                                        </p:attrNameLst>
                                      </p:cBhvr>
                                      <p:tavLst>
                                        <p:tav tm="0">
                                          <p:val>
                                            <p:strVal val="#ppt_x"/>
                                          </p:val>
                                        </p:tav>
                                        <p:tav tm="100000">
                                          <p:val>
                                            <p:strVal val="#ppt_x"/>
                                          </p:val>
                                        </p:tav>
                                      </p:tavLst>
                                    </p:anim>
                                    <p:anim calcmode="lin" valueType="num">
                                      <p:cBhvr additive="base">
                                        <p:cTn id="67" dur="500" fill="hold"/>
                                        <p:tgtEl>
                                          <p:spTgt spid="14"/>
                                        </p:tgtEl>
                                        <p:attrNameLst>
                                          <p:attrName>ppt_y</p:attrName>
                                        </p:attrNameLst>
                                      </p:cBhvr>
                                      <p:tavLst>
                                        <p:tav tm="0">
                                          <p:val>
                                            <p:strVal val="#ppt_y+0.1"/>
                                          </p:val>
                                        </p:tav>
                                        <p:tav tm="100000">
                                          <p:val>
                                            <p:strVal val="#ppt_y"/>
                                          </p:val>
                                        </p:tav>
                                      </p:tavLst>
                                    </p:anim>
                                    <p:animEffect transition="in" filter="fade">
                                      <p:cBhvr>
                                        <p:cTn id="68" dur="500"/>
                                        <p:tgtEl>
                                          <p:spTgt spid="14"/>
                                        </p:tgtEl>
                                      </p:cBhvr>
                                    </p:animEffect>
                                  </p:childTnLst>
                                </p:cTn>
                              </p:par>
                              <p:par>
                                <p:cTn id="74" presetID="2" presetClass="entr" presetSubtype="4" fill="hold" grpId="0" nodeType="withEffect">
                                  <p:stCondLst>
                                    <p:cond delay="60"/>
                                  </p:stCondLst>
                                  <p:childTnLst>
                                    <p:set>
                                      <p:cBhvr>
                                        <p:cTn id="70" dur="1" fill="hold">
                                          <p:stCondLst>
                                            <p:cond delay="0"/>
                                          </p:stCondLst>
                                        </p:cTn>
                                        <p:tgtEl>
                                          <p:spTgt spid="18"/>
                                        </p:tgtEl>
                                        <p:attrNameLst>
                                          <p:attrName>style.visibility</p:attrName>
                                        </p:attrNameLst>
                                      </p:cBhvr>
                                      <p:to>
                                        <p:strVal val="visible"/>
                                      </p:to>
                                    </p:set>
                                    <p:anim calcmode="lin" valueType="num">
                                      <p:cBhvr additive="base">
                                        <p:cTn id="71" dur="500" fill="hold"/>
                                        <p:tgtEl>
                                          <p:spTgt spid="18"/>
                                        </p:tgtEl>
                                        <p:attrNameLst>
                                          <p:attrName>ppt_x</p:attrName>
                                        </p:attrNameLst>
                                      </p:cBhvr>
                                      <p:tavLst>
                                        <p:tav tm="0">
                                          <p:val>
                                            <p:strVal val="#ppt_x"/>
                                          </p:val>
                                        </p:tav>
                                        <p:tav tm="100000">
                                          <p:val>
                                            <p:strVal val="#ppt_x"/>
                                          </p:val>
                                        </p:tav>
                                      </p:tavLst>
                                    </p:anim>
                                    <p:anim calcmode="lin" valueType="num">
                                      <p:cBhvr additive="base">
                                        <p:cTn id="72" dur="500" fill="hold"/>
                                        <p:tgtEl>
                                          <p:spTgt spid="18"/>
                                        </p:tgtEl>
                                        <p:attrNameLst>
                                          <p:attrName>ppt_y</p:attrName>
                                        </p:attrNameLst>
                                      </p:cBhvr>
                                      <p:tavLst>
                                        <p:tav tm="0">
                                          <p:val>
                                            <p:strVal val="#ppt_y+0.1"/>
                                          </p:val>
                                        </p:tav>
                                        <p:tav tm="100000">
                                          <p:val>
                                            <p:strVal val="#ppt_y"/>
                                          </p:val>
                                        </p:tav>
                                      </p:tavLst>
                                    </p:anim>
                                    <p:animEffect transition="in" filter="fade">
                                      <p:cBhvr>
                                        <p:cTn id="73" dur="500"/>
                                        <p:tgtEl>
                                          <p:spTgt spid="18"/>
                                        </p:tgtEl>
                                      </p:cBhvr>
                                    </p:animEffect>
                                  </p:childTnLst>
                                </p:cTn>
                              </p:par>
                              <p:par>
                                <p:cTn id="79" presetID="2" presetClass="entr" presetSubtype="4" fill="hold" grpId="0" nodeType="withEffect">
                                  <p:stCondLst>
                                    <p:cond delay="60"/>
                                  </p:stCondLst>
                                  <p:childTnLst>
                                    <p:set>
                                      <p:cBhvr>
                                        <p:cTn id="75" dur="1" fill="hold">
                                          <p:stCondLst>
                                            <p:cond delay="0"/>
                                          </p:stCondLst>
                                        </p:cTn>
                                        <p:tgtEl>
                                          <p:spTgt spid="22"/>
                                        </p:tgtEl>
                                        <p:attrNameLst>
                                          <p:attrName>style.visibility</p:attrName>
                                        </p:attrNameLst>
                                      </p:cBhvr>
                                      <p:to>
                                        <p:strVal val="visible"/>
                                      </p:to>
                                    </p:set>
                                    <p:anim calcmode="lin" valueType="num">
                                      <p:cBhvr additive="base">
                                        <p:cTn id="76" dur="500" fill="hold"/>
                                        <p:tgtEl>
                                          <p:spTgt spid="22"/>
                                        </p:tgtEl>
                                        <p:attrNameLst>
                                          <p:attrName>ppt_x</p:attrName>
                                        </p:attrNameLst>
                                      </p:cBhvr>
                                      <p:tavLst>
                                        <p:tav tm="0">
                                          <p:val>
                                            <p:strVal val="#ppt_x"/>
                                          </p:val>
                                        </p:tav>
                                        <p:tav tm="100000">
                                          <p:val>
                                            <p:strVal val="#ppt_x"/>
                                          </p:val>
                                        </p:tav>
                                      </p:tavLst>
                                    </p:anim>
                                    <p:anim calcmode="lin" valueType="num">
                                      <p:cBhvr additive="base">
                                        <p:cTn id="77" dur="500" fill="hold"/>
                                        <p:tgtEl>
                                          <p:spTgt spid="22"/>
                                        </p:tgtEl>
                                        <p:attrNameLst>
                                          <p:attrName>ppt_y</p:attrName>
                                        </p:attrNameLst>
                                      </p:cBhvr>
                                      <p:tavLst>
                                        <p:tav tm="0">
                                          <p:val>
                                            <p:strVal val="#ppt_y+0.1"/>
                                          </p:val>
                                        </p:tav>
                                        <p:tav tm="100000">
                                          <p:val>
                                            <p:strVal val="#ppt_y"/>
                                          </p:val>
                                        </p:tav>
                                      </p:tavLst>
                                    </p:anim>
                                    <p:animEffect transition="in" filter="fade">
                                      <p:cBhvr>
                                        <p:cTn id="78" dur="500"/>
                                        <p:tgtEl>
                                          <p:spTgt spid="22"/>
                                        </p:tgtEl>
                                      </p:cBhvr>
                                    </p:animEffect>
                                  </p:childTnLst>
                                </p:cTn>
                              </p:par>
                              <p:par>
                                <p:cTn id="84" presetID="2" presetClass="entr" presetSubtype="4" fill="hold" grpId="0" nodeType="withEffect">
                                  <p:stCondLst>
                                    <p:cond delay="6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childTnLst>
                          </p:cTn>
                        </p:par>
                      </p:childTnLst>
                    </p:cTn>
                  </p:par>
                  <p:par>
                    <p:cTn id="85" fill="hold">
                      <p:stCondLst>
                        <p:cond delay="indefinite"/>
                      </p:stCondLst>
                      <p:childTnLst>
                        <p:par>
                          <p:cTn id="86" fill="hold">
                            <p:stCondLst>
                              <p:cond delay="0"/>
                            </p:stCondLst>
                            <p:childTnLst>
                              <p:par>
                                <p:cTn id="89" presetID="10" presetClass="entr" presetSubtype="0" fill="hold" grpId="0" nodeType="click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500"/>
                                        <p:tgtEl>
                                          <p:spTgt spid="27"/>
                                        </p:tgtEl>
                                      </p:cBhvr>
                                    </p:animEffect>
                                  </p:childTnLst>
                                </p:cTn>
                              </p:par>
                              <p:par>
                                <p:cTn id="92" presetID="10" presetClass="entr" presetSubtype="0"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fade">
                                      <p:cBhvr>
                                        <p:cTn id="91" dur="500"/>
                                        <p:tgtEl>
                                          <p:spTgt spid="28"/>
                                        </p:tgtEl>
                                      </p:cBhvr>
                                    </p:animEffect>
                                  </p:childTnLst>
                                </p:cTn>
                              </p:par>
                              <p:par>
                                <p:cTn id="95" presetID="10" presetClass="entr" presetSubtype="0" fill="hold" grpId="0" nodeType="withEffect">
                                  <p:stCondLst>
                                    <p:cond delay="0"/>
                                  </p:stCondLst>
                                  <p:childTnLst>
                                    <p:set>
                                      <p:cBhvr>
                                        <p:cTn id="93" dur="1" fill="hold">
                                          <p:stCondLst>
                                            <p:cond delay="0"/>
                                          </p:stCondLst>
                                        </p:cTn>
                                        <p:tgtEl>
                                          <p:spTgt spid="29"/>
                                        </p:tgtEl>
                                        <p:attrNameLst>
                                          <p:attrName>style.visibility</p:attrName>
                                        </p:attrNameLst>
                                      </p:cBhvr>
                                      <p:to>
                                        <p:strVal val="visible"/>
                                      </p:to>
                                    </p:set>
                                    <p:animEffect transition="in" filter="fade">
                                      <p:cBhvr>
                                        <p:cTn id="94" dur="500"/>
                                        <p:tgtEl>
                                          <p:spTgt spid="29"/>
                                        </p:tgtEl>
                                      </p:cBhvr>
                                    </p:animEffect>
                                  </p:childTnLst>
                                </p:cTn>
                              </p:par>
                              <p:par>
                                <p:cTn id="98" presetID="22" presetClass="entr" presetSubtype="8" fill="hold" grpId="0" nodeType="withEffect">
                                  <p:stCondLst>
                                    <p:cond delay="0"/>
                                  </p:stCondLst>
                                  <p:childTnLst>
                                    <p:set>
                                      <p:cBhvr>
                                        <p:cTn id="96" dur="1" fill="hold">
                                          <p:stCondLst>
                                            <p:cond delay="0"/>
                                          </p:stCondLst>
                                        </p:cTn>
                                        <p:tgtEl>
                                          <p:spTgt spid="30"/>
                                        </p:tgtEl>
                                        <p:attrNameLst>
                                          <p:attrName>style.visibility</p:attrName>
                                        </p:attrNameLst>
                                      </p:cBhvr>
                                      <p:to>
                                        <p:strVal val="visible"/>
                                      </p:to>
                                    </p:set>
                                    <p:animEffect transition="in" filter="wipe(left)">
                                      <p:cBhvr>
                                        <p:cTn id="97" dur="500"/>
                                        <p:tgtEl>
                                          <p:spTgt spid="30"/>
                                        </p:tgtEl>
                                      </p:cBhvr>
                                    </p:animEffect>
                                  </p:childTnLst>
                                </p:cTn>
                              </p:par>
                              <p:par>
                                <p:cTn id="101" presetID="22" presetClass="entr" presetSubtype="8" fill="hold" grpId="0" nodeType="withEffect">
                                  <p:stCondLst>
                                    <p:cond delay="120"/>
                                  </p:stCondLst>
                                  <p:childTnLst>
                                    <p:set>
                                      <p:cBhvr>
                                        <p:cTn id="99" dur="1" fill="hold">
                                          <p:stCondLst>
                                            <p:cond delay="0"/>
                                          </p:stCondLst>
                                        </p:cTn>
                                        <p:tgtEl>
                                          <p:spTgt spid="31"/>
                                        </p:tgtEl>
                                        <p:attrNameLst>
                                          <p:attrName>style.visibility</p:attrName>
                                        </p:attrNameLst>
                                      </p:cBhvr>
                                      <p:to>
                                        <p:strVal val="visible"/>
                                      </p:to>
                                    </p:set>
                                    <p:animEffect transition="in" filter="wipe(left)">
                                      <p:cBhvr>
                                        <p:cTn id="100" dur="500"/>
                                        <p:tgtEl>
                                          <p:spTgt spid="31"/>
                                        </p:tgtEl>
                                      </p:cBhvr>
                                    </p:animEffect>
                                  </p:childTnLst>
                                </p:cTn>
                              </p:par>
                              <p:par>
                                <p:cTn id="106" presetID="2" presetClass="entr" presetSubtype="4" fill="hold" grpId="0" nodeType="withEffect">
                                  <p:stCondLst>
                                    <p:cond delay="200"/>
                                  </p:stCondLst>
                                  <p:childTnLst>
                                    <p:set>
                                      <p:cBhvr>
                                        <p:cTn id="102" dur="1" fill="hold">
                                          <p:stCondLst>
                                            <p:cond delay="0"/>
                                          </p:stCondLst>
                                        </p:cTn>
                                        <p:tgtEl>
                                          <p:spTgt spid="34"/>
                                        </p:tgtEl>
                                        <p:attrNameLst>
                                          <p:attrName>style.visibility</p:attrName>
                                        </p:attrNameLst>
                                      </p:cBhvr>
                                      <p:to>
                                        <p:strVal val="visible"/>
                                      </p:to>
                                    </p:set>
                                    <p:anim calcmode="lin" valueType="num">
                                      <p:cBhvr additive="base">
                                        <p:cTn id="103" dur="500" fill="hold"/>
                                        <p:tgtEl>
                                          <p:spTgt spid="34"/>
                                        </p:tgtEl>
                                        <p:attrNameLst>
                                          <p:attrName>ppt_x</p:attrName>
                                        </p:attrNameLst>
                                      </p:cBhvr>
                                      <p:tavLst>
                                        <p:tav tm="0">
                                          <p:val>
                                            <p:strVal val="#ppt_x"/>
                                          </p:val>
                                        </p:tav>
                                        <p:tav tm="100000">
                                          <p:val>
                                            <p:strVal val="#ppt_x"/>
                                          </p:val>
                                        </p:tav>
                                      </p:tavLst>
                                    </p:anim>
                                    <p:anim calcmode="lin" valueType="num">
                                      <p:cBhvr additive="base">
                                        <p:cTn id="104" dur="500" fill="hold"/>
                                        <p:tgtEl>
                                          <p:spTgt spid="34"/>
                                        </p:tgtEl>
                                        <p:attrNameLst>
                                          <p:attrName>ppt_y</p:attrName>
                                        </p:attrNameLst>
                                      </p:cBhvr>
                                      <p:tavLst>
                                        <p:tav tm="0">
                                          <p:val>
                                            <p:strVal val="#ppt_y+0.1"/>
                                          </p:val>
                                        </p:tav>
                                        <p:tav tm="100000">
                                          <p:val>
                                            <p:strVal val="#ppt_y"/>
                                          </p:val>
                                        </p:tav>
                                      </p:tavLst>
                                    </p:anim>
                                    <p:animEffect transition="in" filter="fade">
                                      <p:cBhvr>
                                        <p:cTn id="105" dur="500"/>
                                        <p:tgtEl>
                                          <p:spTgt spid="34"/>
                                        </p:tgtEl>
                                      </p:cBhvr>
                                    </p:animEffect>
                                  </p:childTnLst>
                                </p:cTn>
                              </p:par>
                              <p:par>
                                <p:cTn id="111" presetID="2" presetClass="entr" presetSubtype="4" fill="hold" grpId="0" nodeType="withEffect">
                                  <p:stCondLst>
                                    <p:cond delay="200"/>
                                  </p:stCondLst>
                                  <p:childTnLst>
                                    <p:set>
                                      <p:cBhvr>
                                        <p:cTn id="107" dur="1" fill="hold">
                                          <p:stCondLst>
                                            <p:cond delay="0"/>
                                          </p:stCondLst>
                                        </p:cTn>
                                        <p:tgtEl>
                                          <p:spTgt spid="35"/>
                                        </p:tgtEl>
                                        <p:attrNameLst>
                                          <p:attrName>style.visibility</p:attrName>
                                        </p:attrNameLst>
                                      </p:cBhvr>
                                      <p:to>
                                        <p:strVal val="visible"/>
                                      </p:to>
                                    </p:set>
                                    <p:anim calcmode="lin" valueType="num">
                                      <p:cBhvr additive="base">
                                        <p:cTn id="108" dur="500" fill="hold"/>
                                        <p:tgtEl>
                                          <p:spTgt spid="35"/>
                                        </p:tgtEl>
                                        <p:attrNameLst>
                                          <p:attrName>ppt_x</p:attrName>
                                        </p:attrNameLst>
                                      </p:cBhvr>
                                      <p:tavLst>
                                        <p:tav tm="0">
                                          <p:val>
                                            <p:strVal val="#ppt_x"/>
                                          </p:val>
                                        </p:tav>
                                        <p:tav tm="100000">
                                          <p:val>
                                            <p:strVal val="#ppt_x"/>
                                          </p:val>
                                        </p:tav>
                                      </p:tavLst>
                                    </p:anim>
                                    <p:anim calcmode="lin" valueType="num">
                                      <p:cBhvr additive="base">
                                        <p:cTn id="109" dur="500" fill="hold"/>
                                        <p:tgtEl>
                                          <p:spTgt spid="35"/>
                                        </p:tgtEl>
                                        <p:attrNameLst>
                                          <p:attrName>ppt_y</p:attrName>
                                        </p:attrNameLst>
                                      </p:cBhvr>
                                      <p:tavLst>
                                        <p:tav tm="0">
                                          <p:val>
                                            <p:strVal val="#ppt_y+0.1"/>
                                          </p:val>
                                        </p:tav>
                                        <p:tav tm="100000">
                                          <p:val>
                                            <p:strVal val="#ppt_y"/>
                                          </p:val>
                                        </p:tav>
                                      </p:tavLst>
                                    </p:anim>
                                    <p:animEffect transition="in" filter="fade">
                                      <p:cBhvr>
                                        <p:cTn id="110" dur="500"/>
                                        <p:tgtEl>
                                          <p:spTgt spid="35"/>
                                        </p:tgtEl>
                                      </p:cBhvr>
                                    </p:animEffect>
                                  </p:childTnLst>
                                </p:cTn>
                              </p:par>
                              <p:par>
                                <p:cTn id="114" presetID="22" presetClass="entr" presetSubtype="8" fill="hold" grpId="0" nodeType="withEffect">
                                  <p:stCondLst>
                                    <p:cond delay="240"/>
                                  </p:stCondLst>
                                  <p:childTnLst>
                                    <p:set>
                                      <p:cBhvr>
                                        <p:cTn id="112" dur="1" fill="hold">
                                          <p:stCondLst>
                                            <p:cond delay="0"/>
                                          </p:stCondLst>
                                        </p:cTn>
                                        <p:tgtEl>
                                          <p:spTgt spid="32"/>
                                        </p:tgtEl>
                                        <p:attrNameLst>
                                          <p:attrName>style.visibility</p:attrName>
                                        </p:attrNameLst>
                                      </p:cBhvr>
                                      <p:to>
                                        <p:strVal val="visible"/>
                                      </p:to>
                                    </p:set>
                                    <p:animEffect transition="in" filter="wipe(left)">
                                      <p:cBhvr>
                                        <p:cTn id="113" dur="500"/>
                                        <p:tgtEl>
                                          <p:spTgt spid="32"/>
                                        </p:tgtEl>
                                      </p:cBhvr>
                                    </p:animEffect>
                                  </p:childTnLst>
                                </p:cTn>
                              </p:par>
                              <p:par>
                                <p:cTn id="119" presetID="2" presetClass="entr" presetSubtype="4" fill="hold" grpId="0" nodeType="withEffect">
                                  <p:stCondLst>
                                    <p:cond delay="320"/>
                                  </p:stCondLst>
                                  <p:childTnLst>
                                    <p:set>
                                      <p:cBhvr>
                                        <p:cTn id="115" dur="1" fill="hold">
                                          <p:stCondLst>
                                            <p:cond delay="0"/>
                                          </p:stCondLst>
                                        </p:cTn>
                                        <p:tgtEl>
                                          <p:spTgt spid="36"/>
                                        </p:tgtEl>
                                        <p:attrNameLst>
                                          <p:attrName>style.visibility</p:attrName>
                                        </p:attrNameLst>
                                      </p:cBhvr>
                                      <p:to>
                                        <p:strVal val="visible"/>
                                      </p:to>
                                    </p:set>
                                    <p:anim calcmode="lin" valueType="num">
                                      <p:cBhvr additive="base">
                                        <p:cTn id="116" dur="500" fill="hold"/>
                                        <p:tgtEl>
                                          <p:spTgt spid="36"/>
                                        </p:tgtEl>
                                        <p:attrNameLst>
                                          <p:attrName>ppt_x</p:attrName>
                                        </p:attrNameLst>
                                      </p:cBhvr>
                                      <p:tavLst>
                                        <p:tav tm="0">
                                          <p:val>
                                            <p:strVal val="#ppt_x"/>
                                          </p:val>
                                        </p:tav>
                                        <p:tav tm="100000">
                                          <p:val>
                                            <p:strVal val="#ppt_x"/>
                                          </p:val>
                                        </p:tav>
                                      </p:tavLst>
                                    </p:anim>
                                    <p:anim calcmode="lin" valueType="num">
                                      <p:cBhvr additive="base">
                                        <p:cTn id="117" dur="500" fill="hold"/>
                                        <p:tgtEl>
                                          <p:spTgt spid="36"/>
                                        </p:tgtEl>
                                        <p:attrNameLst>
                                          <p:attrName>ppt_y</p:attrName>
                                        </p:attrNameLst>
                                      </p:cBhvr>
                                      <p:tavLst>
                                        <p:tav tm="0">
                                          <p:val>
                                            <p:strVal val="#ppt_y+0.1"/>
                                          </p:val>
                                        </p:tav>
                                        <p:tav tm="100000">
                                          <p:val>
                                            <p:strVal val="#ppt_y"/>
                                          </p:val>
                                        </p:tav>
                                      </p:tavLst>
                                    </p:anim>
                                    <p:animEffect transition="in" filter="fade">
                                      <p:cBhvr>
                                        <p:cTn id="118" dur="500"/>
                                        <p:tgtEl>
                                          <p:spTgt spid="36"/>
                                        </p:tgtEl>
                                      </p:cBhvr>
                                    </p:animEffect>
                                  </p:childTnLst>
                                </p:cTn>
                              </p:par>
                              <p:par>
                                <p:cTn id="124" presetID="2" presetClass="entr" presetSubtype="4" fill="hold" grpId="0" nodeType="withEffect">
                                  <p:stCondLst>
                                    <p:cond delay="320"/>
                                  </p:stCondLst>
                                  <p:childTnLst>
                                    <p:set>
                                      <p:cBhvr>
                                        <p:cTn id="120" dur="1" fill="hold">
                                          <p:stCondLst>
                                            <p:cond delay="0"/>
                                          </p:stCondLst>
                                        </p:cTn>
                                        <p:tgtEl>
                                          <p:spTgt spid="37"/>
                                        </p:tgtEl>
                                        <p:attrNameLst>
                                          <p:attrName>style.visibility</p:attrName>
                                        </p:attrNameLst>
                                      </p:cBhvr>
                                      <p:to>
                                        <p:strVal val="visible"/>
                                      </p:to>
                                    </p:set>
                                    <p:anim calcmode="lin" valueType="num">
                                      <p:cBhvr additive="base">
                                        <p:cTn id="121" dur="500" fill="hold"/>
                                        <p:tgtEl>
                                          <p:spTgt spid="37"/>
                                        </p:tgtEl>
                                        <p:attrNameLst>
                                          <p:attrName>ppt_x</p:attrName>
                                        </p:attrNameLst>
                                      </p:cBhvr>
                                      <p:tavLst>
                                        <p:tav tm="0">
                                          <p:val>
                                            <p:strVal val="#ppt_x"/>
                                          </p:val>
                                        </p:tav>
                                        <p:tav tm="100000">
                                          <p:val>
                                            <p:strVal val="#ppt_x"/>
                                          </p:val>
                                        </p:tav>
                                      </p:tavLst>
                                    </p:anim>
                                    <p:anim calcmode="lin" valueType="num">
                                      <p:cBhvr additive="base">
                                        <p:cTn id="122" dur="500" fill="hold"/>
                                        <p:tgtEl>
                                          <p:spTgt spid="37"/>
                                        </p:tgtEl>
                                        <p:attrNameLst>
                                          <p:attrName>ppt_y</p:attrName>
                                        </p:attrNameLst>
                                      </p:cBhvr>
                                      <p:tavLst>
                                        <p:tav tm="0">
                                          <p:val>
                                            <p:strVal val="#ppt_y+0.1"/>
                                          </p:val>
                                        </p:tav>
                                        <p:tav tm="100000">
                                          <p:val>
                                            <p:strVal val="#ppt_y"/>
                                          </p:val>
                                        </p:tav>
                                      </p:tavLst>
                                    </p:anim>
                                    <p:animEffect transition="in" filter="fade">
                                      <p:cBhvr>
                                        <p:cTn id="123" dur="500"/>
                                        <p:tgtEl>
                                          <p:spTgt spid="37"/>
                                        </p:tgtEl>
                                      </p:cBhvr>
                                    </p:animEffect>
                                  </p:childTnLst>
                                </p:cTn>
                              </p:par>
                              <p:par>
                                <p:cTn id="127" presetID="22" presetClass="entr" presetSubtype="8" fill="hold" grpId="0" nodeType="withEffect">
                                  <p:stCondLst>
                                    <p:cond delay="360"/>
                                  </p:stCondLst>
                                  <p:childTnLst>
                                    <p:set>
                                      <p:cBhvr>
                                        <p:cTn id="125" dur="1" fill="hold">
                                          <p:stCondLst>
                                            <p:cond delay="0"/>
                                          </p:stCondLst>
                                        </p:cTn>
                                        <p:tgtEl>
                                          <p:spTgt spid="33"/>
                                        </p:tgtEl>
                                        <p:attrNameLst>
                                          <p:attrName>style.visibility</p:attrName>
                                        </p:attrNameLst>
                                      </p:cBhvr>
                                      <p:to>
                                        <p:strVal val="visible"/>
                                      </p:to>
                                    </p:set>
                                    <p:animEffect transition="in" filter="wipe(left)">
                                      <p:cBhvr>
                                        <p:cTn id="126" dur="500"/>
                                        <p:tgtEl>
                                          <p:spTgt spid="33"/>
                                        </p:tgtEl>
                                      </p:cBhvr>
                                    </p:animEffect>
                                  </p:childTnLst>
                                </p:cTn>
                              </p:par>
                              <p:par>
                                <p:cTn id="132" presetID="2" presetClass="entr" presetSubtype="4" fill="hold" grpId="0" nodeType="withEffect">
                                  <p:stCondLst>
                                    <p:cond delay="440"/>
                                  </p:stCondLst>
                                  <p:childTnLst>
                                    <p:set>
                                      <p:cBhvr>
                                        <p:cTn id="128" dur="1" fill="hold">
                                          <p:stCondLst>
                                            <p:cond delay="0"/>
                                          </p:stCondLst>
                                        </p:cTn>
                                        <p:tgtEl>
                                          <p:spTgt spid="38"/>
                                        </p:tgtEl>
                                        <p:attrNameLst>
                                          <p:attrName>style.visibility</p:attrName>
                                        </p:attrNameLst>
                                      </p:cBhvr>
                                      <p:to>
                                        <p:strVal val="visible"/>
                                      </p:to>
                                    </p:set>
                                    <p:anim calcmode="lin" valueType="num">
                                      <p:cBhvr additive="base">
                                        <p:cTn id="129" dur="500" fill="hold"/>
                                        <p:tgtEl>
                                          <p:spTgt spid="38"/>
                                        </p:tgtEl>
                                        <p:attrNameLst>
                                          <p:attrName>ppt_x</p:attrName>
                                        </p:attrNameLst>
                                      </p:cBhvr>
                                      <p:tavLst>
                                        <p:tav tm="0">
                                          <p:val>
                                            <p:strVal val="#ppt_x"/>
                                          </p:val>
                                        </p:tav>
                                        <p:tav tm="100000">
                                          <p:val>
                                            <p:strVal val="#ppt_x"/>
                                          </p:val>
                                        </p:tav>
                                      </p:tavLst>
                                    </p:anim>
                                    <p:anim calcmode="lin" valueType="num">
                                      <p:cBhvr additive="base">
                                        <p:cTn id="130" dur="500" fill="hold"/>
                                        <p:tgtEl>
                                          <p:spTgt spid="38"/>
                                        </p:tgtEl>
                                        <p:attrNameLst>
                                          <p:attrName>ppt_y</p:attrName>
                                        </p:attrNameLst>
                                      </p:cBhvr>
                                      <p:tavLst>
                                        <p:tav tm="0">
                                          <p:val>
                                            <p:strVal val="#ppt_y+0.1"/>
                                          </p:val>
                                        </p:tav>
                                        <p:tav tm="100000">
                                          <p:val>
                                            <p:strVal val="#ppt_y"/>
                                          </p:val>
                                        </p:tav>
                                      </p:tavLst>
                                    </p:anim>
                                    <p:animEffect transition="in" filter="fade">
                                      <p:cBhvr>
                                        <p:cTn id="131" dur="500"/>
                                        <p:tgtEl>
                                          <p:spTgt spid="38"/>
                                        </p:tgtEl>
                                      </p:cBhvr>
                                    </p:animEffect>
                                  </p:childTnLst>
                                </p:cTn>
                              </p:par>
                              <p:par>
                                <p:cTn id="137" presetID="2" presetClass="entr" presetSubtype="4" fill="hold" grpId="0" nodeType="withEffect">
                                  <p:stCondLst>
                                    <p:cond delay="440"/>
                                  </p:stCondLst>
                                  <p:childTnLst>
                                    <p:set>
                                      <p:cBhvr>
                                        <p:cTn id="133" dur="1" fill="hold">
                                          <p:stCondLst>
                                            <p:cond delay="0"/>
                                          </p:stCondLst>
                                        </p:cTn>
                                        <p:tgtEl>
                                          <p:spTgt spid="39"/>
                                        </p:tgtEl>
                                        <p:attrNameLst>
                                          <p:attrName>style.visibility</p:attrName>
                                        </p:attrNameLst>
                                      </p:cBhvr>
                                      <p:to>
                                        <p:strVal val="visible"/>
                                      </p:to>
                                    </p:set>
                                    <p:anim calcmode="lin" valueType="num">
                                      <p:cBhvr additive="base">
                                        <p:cTn id="134" dur="500" fill="hold"/>
                                        <p:tgtEl>
                                          <p:spTgt spid="39"/>
                                        </p:tgtEl>
                                        <p:attrNameLst>
                                          <p:attrName>ppt_x</p:attrName>
                                        </p:attrNameLst>
                                      </p:cBhvr>
                                      <p:tavLst>
                                        <p:tav tm="0">
                                          <p:val>
                                            <p:strVal val="#ppt_x"/>
                                          </p:val>
                                        </p:tav>
                                        <p:tav tm="100000">
                                          <p:val>
                                            <p:strVal val="#ppt_x"/>
                                          </p:val>
                                        </p:tav>
                                      </p:tavLst>
                                    </p:anim>
                                    <p:anim calcmode="lin" valueType="num">
                                      <p:cBhvr additive="base">
                                        <p:cTn id="135" dur="500" fill="hold"/>
                                        <p:tgtEl>
                                          <p:spTgt spid="39"/>
                                        </p:tgtEl>
                                        <p:attrNameLst>
                                          <p:attrName>ppt_y</p:attrName>
                                        </p:attrNameLst>
                                      </p:cBhvr>
                                      <p:tavLst>
                                        <p:tav tm="0">
                                          <p:val>
                                            <p:strVal val="#ppt_y+0.1"/>
                                          </p:val>
                                        </p:tav>
                                        <p:tav tm="100000">
                                          <p:val>
                                            <p:strVal val="#ppt_y"/>
                                          </p:val>
                                        </p:tav>
                                      </p:tavLst>
                                    </p:anim>
                                    <p:animEffect transition="in" filter="fade">
                                      <p:cBhvr>
                                        <p:cTn id="136" dur="500"/>
                                        <p:tgtEl>
                                          <p:spTgt spid="39"/>
                                        </p:tgtEl>
                                      </p:cBhvr>
                                    </p:animEffect>
                                  </p:childTnLst>
                                </p:cTn>
                              </p:par>
                            </p:childTnLst>
                          </p:cTn>
                        </p:par>
                      </p:childTnLst>
                    </p:cTn>
                  </p:par>
                  <p:par>
                    <p:cTn id="138" fill="hold">
                      <p:stCondLst>
                        <p:cond delay="indefinite"/>
                      </p:stCondLst>
                      <p:childTnLst>
                        <p:par>
                          <p:cTn id="139" fill="hold">
                            <p:stCondLst>
                              <p:cond delay="0"/>
                            </p:stCondLst>
                            <p:childTnLst>
                              <p:par>
                                <p:cTn id="144" presetID="2" presetClass="entr" presetSubtype="4" fill="hold" grpId="0" nodeType="clickEffect">
                                  <p:stCondLst>
                                    <p:cond delay="0"/>
                                  </p:stCondLst>
                                  <p:childTnLst>
                                    <p:set>
                                      <p:cBhvr>
                                        <p:cTn id="140" dur="1" fill="hold">
                                          <p:stCondLst>
                                            <p:cond delay="0"/>
                                          </p:stCondLst>
                                        </p:cTn>
                                        <p:tgtEl>
                                          <p:spTgt spid="40"/>
                                        </p:tgtEl>
                                        <p:attrNameLst>
                                          <p:attrName>style.visibility</p:attrName>
                                        </p:attrNameLst>
                                      </p:cBhvr>
                                      <p:to>
                                        <p:strVal val="visible"/>
                                      </p:to>
                                    </p:set>
                                    <p:anim calcmode="lin" valueType="num">
                                      <p:cBhvr additive="base">
                                        <p:cTn id="141" dur="500" fill="hold"/>
                                        <p:tgtEl>
                                          <p:spTgt spid="40"/>
                                        </p:tgtEl>
                                        <p:attrNameLst>
                                          <p:attrName>ppt_x</p:attrName>
                                        </p:attrNameLst>
                                      </p:cBhvr>
                                      <p:tavLst>
                                        <p:tav tm="0">
                                          <p:val>
                                            <p:strVal val="#ppt_x"/>
                                          </p:val>
                                        </p:tav>
                                        <p:tav tm="100000">
                                          <p:val>
                                            <p:strVal val="#ppt_x"/>
                                          </p:val>
                                        </p:tav>
                                      </p:tavLst>
                                    </p:anim>
                                    <p:anim calcmode="lin" valueType="num">
                                      <p:cBhvr additive="base">
                                        <p:cTn id="142" dur="500" fill="hold"/>
                                        <p:tgtEl>
                                          <p:spTgt spid="40"/>
                                        </p:tgtEl>
                                        <p:attrNameLst>
                                          <p:attrName>ppt_y</p:attrName>
                                        </p:attrNameLst>
                                      </p:cBhvr>
                                      <p:tavLst>
                                        <p:tav tm="0">
                                          <p:val>
                                            <p:strVal val="#ppt_y+0.1"/>
                                          </p:val>
                                        </p:tav>
                                        <p:tav tm="100000">
                                          <p:val>
                                            <p:strVal val="#ppt_y"/>
                                          </p:val>
                                        </p:tav>
                                      </p:tavLst>
                                    </p:anim>
                                    <p:animEffect transition="in" filter="fade">
                                      <p:cBhvr>
                                        <p:cTn id="143" dur="500"/>
                                        <p:tgtEl>
                                          <p:spTgt spid="40"/>
                                        </p:tgtEl>
                                      </p:cBhvr>
                                    </p:animEffect>
                                  </p:childTnLst>
                                </p:cTn>
                              </p:par>
                              <p:par>
                                <p:cTn id="149" presetID="2" presetClass="entr" presetSubtype="4" fill="hold" grpId="0" nodeType="withEffect">
                                  <p:stCondLst>
                                    <p:cond delay="0"/>
                                  </p:stCondLst>
                                  <p:childTnLst>
                                    <p:set>
                                      <p:cBhvr>
                                        <p:cTn id="145" dur="1" fill="hold">
                                          <p:stCondLst>
                                            <p:cond delay="0"/>
                                          </p:stCondLst>
                                        </p:cTn>
                                        <p:tgtEl>
                                          <p:spTgt spid="41"/>
                                        </p:tgtEl>
                                        <p:attrNameLst>
                                          <p:attrName>style.visibility</p:attrName>
                                        </p:attrNameLst>
                                      </p:cBhvr>
                                      <p:to>
                                        <p:strVal val="visible"/>
                                      </p:to>
                                    </p:set>
                                    <p:anim calcmode="lin" valueType="num">
                                      <p:cBhvr additive="base">
                                        <p:cTn id="146" dur="500" fill="hold"/>
                                        <p:tgtEl>
                                          <p:spTgt spid="41"/>
                                        </p:tgtEl>
                                        <p:attrNameLst>
                                          <p:attrName>ppt_x</p:attrName>
                                        </p:attrNameLst>
                                      </p:cBhvr>
                                      <p:tavLst>
                                        <p:tav tm="0">
                                          <p:val>
                                            <p:strVal val="#ppt_x"/>
                                          </p:val>
                                        </p:tav>
                                        <p:tav tm="100000">
                                          <p:val>
                                            <p:strVal val="#ppt_x"/>
                                          </p:val>
                                        </p:tav>
                                      </p:tavLst>
                                    </p:anim>
                                    <p:anim calcmode="lin" valueType="num">
                                      <p:cBhvr additive="base">
                                        <p:cTn id="147" dur="500" fill="hold"/>
                                        <p:tgtEl>
                                          <p:spTgt spid="41"/>
                                        </p:tgtEl>
                                        <p:attrNameLst>
                                          <p:attrName>ppt_y</p:attrName>
                                        </p:attrNameLst>
                                      </p:cBhvr>
                                      <p:tavLst>
                                        <p:tav tm="0">
                                          <p:val>
                                            <p:strVal val="#ppt_y+0.1"/>
                                          </p:val>
                                        </p:tav>
                                        <p:tav tm="100000">
                                          <p:val>
                                            <p:strVal val="#ppt_y"/>
                                          </p:val>
                                        </p:tav>
                                      </p:tavLst>
                                    </p:anim>
                                    <p:animEffect transition="in" filter="fade">
                                      <p:cBhvr>
                                        <p:cTn id="148" dur="500"/>
                                        <p:tgtEl>
                                          <p:spTgt spid="41"/>
                                        </p:tgtEl>
                                      </p:cBhvr>
                                    </p:animEffect>
                                  </p:childTnLst>
                                </p:cTn>
                              </p:par>
                              <p:par>
                                <p:cTn id="154" presetID="2" presetClass="entr" presetSubtype="4" fill="hold" grpId="0" nodeType="withEffect">
                                  <p:stCondLst>
                                    <p:cond delay="0"/>
                                  </p:stCondLst>
                                  <p:childTnLst>
                                    <p:set>
                                      <p:cBhvr>
                                        <p:cTn id="150" dur="1" fill="hold">
                                          <p:stCondLst>
                                            <p:cond delay="0"/>
                                          </p:stCondLst>
                                        </p:cTn>
                                        <p:tgtEl>
                                          <p:spTgt spid="42"/>
                                        </p:tgtEl>
                                        <p:attrNameLst>
                                          <p:attrName>style.visibility</p:attrName>
                                        </p:attrNameLst>
                                      </p:cBhvr>
                                      <p:to>
                                        <p:strVal val="visible"/>
                                      </p:to>
                                    </p:set>
                                    <p:anim calcmode="lin" valueType="num">
                                      <p:cBhvr additive="base">
                                        <p:cTn id="151" dur="500" fill="hold"/>
                                        <p:tgtEl>
                                          <p:spTgt spid="42"/>
                                        </p:tgtEl>
                                        <p:attrNameLst>
                                          <p:attrName>ppt_x</p:attrName>
                                        </p:attrNameLst>
                                      </p:cBhvr>
                                      <p:tavLst>
                                        <p:tav tm="0">
                                          <p:val>
                                            <p:strVal val="#ppt_x"/>
                                          </p:val>
                                        </p:tav>
                                        <p:tav tm="100000">
                                          <p:val>
                                            <p:strVal val="#ppt_x"/>
                                          </p:val>
                                        </p:tav>
                                      </p:tavLst>
                                    </p:anim>
                                    <p:anim calcmode="lin" valueType="num">
                                      <p:cBhvr additive="base">
                                        <p:cTn id="152" dur="500" fill="hold"/>
                                        <p:tgtEl>
                                          <p:spTgt spid="42"/>
                                        </p:tgtEl>
                                        <p:attrNameLst>
                                          <p:attrName>ppt_y</p:attrName>
                                        </p:attrNameLst>
                                      </p:cBhvr>
                                      <p:tavLst>
                                        <p:tav tm="0">
                                          <p:val>
                                            <p:strVal val="#ppt_y+0.1"/>
                                          </p:val>
                                        </p:tav>
                                        <p:tav tm="100000">
                                          <p:val>
                                            <p:strVal val="#ppt_y"/>
                                          </p:val>
                                        </p:tav>
                                      </p:tavLst>
                                    </p:anim>
                                    <p:animEffect transition="in" filter="fade">
                                      <p:cBhvr>
                                        <p:cTn id="15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Using a Managed Service? The Brokers Are Hidden</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This course is about Apache Kafka - and its basics matter wherever Kafka runs</a:t>
            </a:r>
          </a:p>
        </p:txBody>
      </p:sp>
      <p:sp>
        <p:nvSpPr>
          <p:cNvPr id="11" name="a1u_card10"/>
          <p:cNvSpPr/>
          <p:nvPr/>
        </p:nvSpPr>
        <p:spPr>
          <a:xfrm>
            <a:off x="457200" y="1280160"/>
            <a:ext cx="3977639" cy="2331720"/>
          </a:xfrm>
          <a:prstGeom prst="roundRect">
            <a:avLst>
              <a:gd name="adj" fmla="val 470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ph11"/>
          <p:cNvSpPr txBox="1"/>
          <p:nvPr/>
        </p:nvSpPr>
        <p:spPr>
          <a:xfrm>
            <a:off x="640080" y="1371600"/>
            <a:ext cx="3657600" cy="237744"/>
          </a:xfrm>
          <a:prstGeom prst="rect">
            <a:avLst/>
          </a:prstGeom>
          <a:noFill/>
        </p:spPr>
        <p:txBody>
          <a:bodyPr wrap="square" lIns="0" tIns="0" rIns="0" bIns="0" anchor="ctr">
            <a:spAutoFit/>
          </a:bodyPr>
          <a:lstStyle/>
          <a:p>
            <a:pPr algn="l"/>
            <a:r>
              <a:rPr sz="850" b="1" spc="120">
                <a:solidFill>
                  <a:srgbClr val="0E7490"/>
                </a:solidFill>
                <a:latin typeface="Segoe UI"/>
              </a:rPr>
              <a:t>APACHE KAFKA  ·  YOU RUN IT</a:t>
            </a:r>
          </a:p>
        </p:txBody>
      </p:sp>
      <p:sp>
        <p:nvSpPr>
          <p:cNvPr id="13" name="a1ud80_lb12"/>
          <p:cNvSpPr txBox="1"/>
          <p:nvPr/>
        </p:nvSpPr>
        <p:spPr>
          <a:xfrm>
            <a:off x="640080" y="1682496"/>
            <a:ext cx="3657600" cy="201168"/>
          </a:xfrm>
          <a:prstGeom prst="rect">
            <a:avLst/>
          </a:prstGeom>
          <a:noFill/>
        </p:spPr>
        <p:txBody>
          <a:bodyPr wrap="square" lIns="0" tIns="0" rIns="0" bIns="0" anchor="ctr">
            <a:spAutoFit/>
          </a:bodyPr>
          <a:lstStyle/>
          <a:p>
            <a:pPr algn="l"/>
            <a:r>
              <a:rPr sz="800" b="0">
                <a:solidFill>
                  <a:srgbClr val="78716C"/>
                </a:solidFill>
                <a:latin typeface="Segoe UI"/>
              </a:rPr>
              <a:t>you work with</a:t>
            </a:r>
          </a:p>
        </p:txBody>
      </p:sp>
      <p:sp>
        <p:nvSpPr>
          <p:cNvPr id="14" name="a1ud120_pill13"/>
          <p:cNvSpPr/>
          <p:nvPr/>
        </p:nvSpPr>
        <p:spPr>
          <a:xfrm>
            <a:off x="640080" y="1901952"/>
            <a:ext cx="1124712" cy="292608"/>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topics</a:t>
            </a:r>
          </a:p>
        </p:txBody>
      </p:sp>
      <p:sp>
        <p:nvSpPr>
          <p:cNvPr id="15" name="a1ud200_pill14"/>
          <p:cNvSpPr/>
          <p:nvPr/>
        </p:nvSpPr>
        <p:spPr>
          <a:xfrm>
            <a:off x="1856232" y="1901952"/>
            <a:ext cx="1124712" cy="292608"/>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messages</a:t>
            </a:r>
          </a:p>
        </p:txBody>
      </p:sp>
      <p:sp>
        <p:nvSpPr>
          <p:cNvPr id="16" name="a1ud280_pill15"/>
          <p:cNvSpPr/>
          <p:nvPr/>
        </p:nvSpPr>
        <p:spPr>
          <a:xfrm>
            <a:off x="3072384" y="1901952"/>
            <a:ext cx="1124712" cy="292608"/>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0E7490"/>
                </a:solidFill>
                <a:latin typeface="Consolas"/>
              </a:rPr>
              <a:t>connectors</a:t>
            </a:r>
          </a:p>
        </p:txBody>
      </p:sp>
      <p:sp>
        <p:nvSpPr>
          <p:cNvPr id="17" name="a1ud300_lb16"/>
          <p:cNvSpPr txBox="1"/>
          <p:nvPr/>
        </p:nvSpPr>
        <p:spPr>
          <a:xfrm>
            <a:off x="640080" y="2359152"/>
            <a:ext cx="3657600" cy="201168"/>
          </a:xfrm>
          <a:prstGeom prst="rect">
            <a:avLst/>
          </a:prstGeom>
          <a:noFill/>
        </p:spPr>
        <p:txBody>
          <a:bodyPr wrap="square" lIns="0" tIns="0" rIns="0" bIns="0" anchor="ctr">
            <a:spAutoFit/>
          </a:bodyPr>
          <a:lstStyle/>
          <a:p>
            <a:pPr algn="l"/>
            <a:r>
              <a:rPr sz="800" b="0">
                <a:solidFill>
                  <a:srgbClr val="78716C"/>
                </a:solidFill>
                <a:latin typeface="Segoe UI"/>
              </a:rPr>
              <a:t>you also run and look after</a:t>
            </a:r>
          </a:p>
        </p:txBody>
      </p:sp>
      <p:sp>
        <p:nvSpPr>
          <p:cNvPr id="18" name="a1ud360_nd17"/>
          <p:cNvSpPr/>
          <p:nvPr/>
        </p:nvSpPr>
        <p:spPr>
          <a:xfrm>
            <a:off x="640080" y="2596896"/>
            <a:ext cx="1124712" cy="566928"/>
          </a:xfrm>
          <a:prstGeom prst="roundRect">
            <a:avLst>
              <a:gd name="adj" fmla="val 12903"/>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360_ndt18"/>
          <p:cNvSpPr txBox="1"/>
          <p:nvPr/>
        </p:nvSpPr>
        <p:spPr>
          <a:xfrm>
            <a:off x="685800" y="2633472"/>
            <a:ext cx="1033271" cy="265176"/>
          </a:xfrm>
          <a:prstGeom prst="rect">
            <a:avLst/>
          </a:prstGeom>
          <a:noFill/>
        </p:spPr>
        <p:txBody>
          <a:bodyPr wrap="square" lIns="0" tIns="0" rIns="0" bIns="0" anchor="b">
            <a:spAutoFit/>
          </a:bodyPr>
          <a:lstStyle/>
          <a:p>
            <a:pPr algn="ctr"/>
            <a:r>
              <a:rPr sz="900" b="1">
                <a:solidFill>
                  <a:srgbClr val="1C1917"/>
                </a:solidFill>
                <a:latin typeface="Segoe UI"/>
              </a:rPr>
              <a:t>broker 1</a:t>
            </a:r>
          </a:p>
        </p:txBody>
      </p:sp>
      <p:sp>
        <p:nvSpPr>
          <p:cNvPr id="20" name="a1ud360_nds19"/>
          <p:cNvSpPr txBox="1"/>
          <p:nvPr/>
        </p:nvSpPr>
        <p:spPr>
          <a:xfrm>
            <a:off x="685800" y="2907791"/>
            <a:ext cx="1033271" cy="219456"/>
          </a:xfrm>
          <a:prstGeom prst="rect">
            <a:avLst/>
          </a:prstGeom>
          <a:noFill/>
        </p:spPr>
        <p:txBody>
          <a:bodyPr wrap="square" lIns="0" tIns="0" rIns="0" bIns="0" anchor="t">
            <a:spAutoFit/>
          </a:bodyPr>
          <a:lstStyle/>
          <a:p>
            <a:pPr algn="ctr"/>
            <a:r>
              <a:rPr sz="750" b="0">
                <a:solidFill>
                  <a:srgbClr val="0E7490"/>
                </a:solidFill>
                <a:latin typeface="Segoe UI"/>
              </a:rPr>
              <a:t>disks · JVM</a:t>
            </a:r>
          </a:p>
        </p:txBody>
      </p:sp>
      <p:sp>
        <p:nvSpPr>
          <p:cNvPr id="21" name="a1ud440_nd20"/>
          <p:cNvSpPr/>
          <p:nvPr/>
        </p:nvSpPr>
        <p:spPr>
          <a:xfrm>
            <a:off x="1856232" y="2596896"/>
            <a:ext cx="1124712" cy="566928"/>
          </a:xfrm>
          <a:prstGeom prst="roundRect">
            <a:avLst>
              <a:gd name="adj" fmla="val 12903"/>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1ud440_ndt21"/>
          <p:cNvSpPr txBox="1"/>
          <p:nvPr/>
        </p:nvSpPr>
        <p:spPr>
          <a:xfrm>
            <a:off x="1901952" y="2633472"/>
            <a:ext cx="1033271" cy="265176"/>
          </a:xfrm>
          <a:prstGeom prst="rect">
            <a:avLst/>
          </a:prstGeom>
          <a:noFill/>
        </p:spPr>
        <p:txBody>
          <a:bodyPr wrap="square" lIns="0" tIns="0" rIns="0" bIns="0" anchor="b">
            <a:spAutoFit/>
          </a:bodyPr>
          <a:lstStyle/>
          <a:p>
            <a:pPr algn="ctr"/>
            <a:r>
              <a:rPr sz="900" b="1">
                <a:solidFill>
                  <a:srgbClr val="1C1917"/>
                </a:solidFill>
                <a:latin typeface="Segoe UI"/>
              </a:rPr>
              <a:t>broker 2</a:t>
            </a:r>
          </a:p>
        </p:txBody>
      </p:sp>
      <p:sp>
        <p:nvSpPr>
          <p:cNvPr id="23" name="a1ud440_nds22"/>
          <p:cNvSpPr txBox="1"/>
          <p:nvPr/>
        </p:nvSpPr>
        <p:spPr>
          <a:xfrm>
            <a:off x="1901952" y="2907791"/>
            <a:ext cx="1033271" cy="219456"/>
          </a:xfrm>
          <a:prstGeom prst="rect">
            <a:avLst/>
          </a:prstGeom>
          <a:noFill/>
        </p:spPr>
        <p:txBody>
          <a:bodyPr wrap="square" lIns="0" tIns="0" rIns="0" bIns="0" anchor="t">
            <a:spAutoFit/>
          </a:bodyPr>
          <a:lstStyle/>
          <a:p>
            <a:pPr algn="ctr"/>
            <a:r>
              <a:rPr sz="750" b="0">
                <a:solidFill>
                  <a:srgbClr val="0E7490"/>
                </a:solidFill>
                <a:latin typeface="Segoe UI"/>
              </a:rPr>
              <a:t>disks · JVM</a:t>
            </a:r>
          </a:p>
        </p:txBody>
      </p:sp>
      <p:sp>
        <p:nvSpPr>
          <p:cNvPr id="24" name="a1ud520_nd23"/>
          <p:cNvSpPr/>
          <p:nvPr/>
        </p:nvSpPr>
        <p:spPr>
          <a:xfrm>
            <a:off x="3072384" y="2596896"/>
            <a:ext cx="1124712" cy="566928"/>
          </a:xfrm>
          <a:prstGeom prst="roundRect">
            <a:avLst>
              <a:gd name="adj" fmla="val 12903"/>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ud520_ndt24"/>
          <p:cNvSpPr txBox="1"/>
          <p:nvPr/>
        </p:nvSpPr>
        <p:spPr>
          <a:xfrm>
            <a:off x="3118104" y="2633472"/>
            <a:ext cx="1033271" cy="265176"/>
          </a:xfrm>
          <a:prstGeom prst="rect">
            <a:avLst/>
          </a:prstGeom>
          <a:noFill/>
        </p:spPr>
        <p:txBody>
          <a:bodyPr wrap="square" lIns="0" tIns="0" rIns="0" bIns="0" anchor="b">
            <a:spAutoFit/>
          </a:bodyPr>
          <a:lstStyle/>
          <a:p>
            <a:pPr algn="ctr"/>
            <a:r>
              <a:rPr sz="900" b="1">
                <a:solidFill>
                  <a:srgbClr val="1C1917"/>
                </a:solidFill>
                <a:latin typeface="Segoe UI"/>
              </a:rPr>
              <a:t>broker 3</a:t>
            </a:r>
          </a:p>
        </p:txBody>
      </p:sp>
      <p:sp>
        <p:nvSpPr>
          <p:cNvPr id="26" name="a1ud520_nds25"/>
          <p:cNvSpPr txBox="1"/>
          <p:nvPr/>
        </p:nvSpPr>
        <p:spPr>
          <a:xfrm>
            <a:off x="3118104" y="2907791"/>
            <a:ext cx="1033271" cy="219456"/>
          </a:xfrm>
          <a:prstGeom prst="rect">
            <a:avLst/>
          </a:prstGeom>
          <a:noFill/>
        </p:spPr>
        <p:txBody>
          <a:bodyPr wrap="square" lIns="0" tIns="0" rIns="0" bIns="0" anchor="t">
            <a:spAutoFit/>
          </a:bodyPr>
          <a:lstStyle/>
          <a:p>
            <a:pPr algn="ctr"/>
            <a:r>
              <a:rPr sz="750" b="0">
                <a:solidFill>
                  <a:srgbClr val="0E7490"/>
                </a:solidFill>
                <a:latin typeface="Segoe UI"/>
              </a:rPr>
              <a:t>disks · JVM</a:t>
            </a:r>
          </a:p>
        </p:txBody>
      </p:sp>
      <p:sp>
        <p:nvSpPr>
          <p:cNvPr id="27" name="a2u_card26"/>
          <p:cNvSpPr/>
          <p:nvPr/>
        </p:nvSpPr>
        <p:spPr>
          <a:xfrm>
            <a:off x="4709160" y="1280160"/>
            <a:ext cx="3977639" cy="2331720"/>
          </a:xfrm>
          <a:prstGeom prst="roundRect">
            <a:avLst>
              <a:gd name="adj" fmla="val 4705"/>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2u_ph27"/>
          <p:cNvSpPr txBox="1"/>
          <p:nvPr/>
        </p:nvSpPr>
        <p:spPr>
          <a:xfrm>
            <a:off x="4892040" y="1371600"/>
            <a:ext cx="3657600" cy="237744"/>
          </a:xfrm>
          <a:prstGeom prst="rect">
            <a:avLst/>
          </a:prstGeom>
          <a:noFill/>
        </p:spPr>
        <p:txBody>
          <a:bodyPr wrap="square" lIns="0" tIns="0" rIns="0" bIns="0" anchor="ctr">
            <a:spAutoFit/>
          </a:bodyPr>
          <a:lstStyle/>
          <a:p>
            <a:pPr algn="l"/>
            <a:r>
              <a:rPr sz="850" b="1" spc="120">
                <a:solidFill>
                  <a:srgbClr val="4F46E5"/>
                </a:solidFill>
                <a:latin typeface="Segoe UI"/>
              </a:rPr>
              <a:t>FULLY MANAGED  ·  e.g. CONFLUENT CLOUD</a:t>
            </a:r>
          </a:p>
        </p:txBody>
      </p:sp>
      <p:sp>
        <p:nvSpPr>
          <p:cNvPr id="29" name="a2ud80_lb28"/>
          <p:cNvSpPr txBox="1"/>
          <p:nvPr/>
        </p:nvSpPr>
        <p:spPr>
          <a:xfrm>
            <a:off x="4892040" y="1682496"/>
            <a:ext cx="3657600" cy="201168"/>
          </a:xfrm>
          <a:prstGeom prst="rect">
            <a:avLst/>
          </a:prstGeom>
          <a:noFill/>
        </p:spPr>
        <p:txBody>
          <a:bodyPr wrap="square" lIns="0" tIns="0" rIns="0" bIns="0" anchor="ctr">
            <a:spAutoFit/>
          </a:bodyPr>
          <a:lstStyle/>
          <a:p>
            <a:pPr algn="l"/>
            <a:r>
              <a:rPr sz="800" b="0">
                <a:solidFill>
                  <a:srgbClr val="78716C"/>
                </a:solidFill>
                <a:latin typeface="Segoe UI"/>
              </a:rPr>
              <a:t>you work with</a:t>
            </a:r>
          </a:p>
        </p:txBody>
      </p:sp>
      <p:sp>
        <p:nvSpPr>
          <p:cNvPr id="30" name="a2ud120_pill29"/>
          <p:cNvSpPr/>
          <p:nvPr/>
        </p:nvSpPr>
        <p:spPr>
          <a:xfrm>
            <a:off x="4892040" y="1901952"/>
            <a:ext cx="1124712" cy="292608"/>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4F46E5"/>
                </a:solidFill>
                <a:latin typeface="Consolas"/>
              </a:rPr>
              <a:t>topics</a:t>
            </a:r>
          </a:p>
        </p:txBody>
      </p:sp>
      <p:sp>
        <p:nvSpPr>
          <p:cNvPr id="31" name="a2ud200_pill30"/>
          <p:cNvSpPr/>
          <p:nvPr/>
        </p:nvSpPr>
        <p:spPr>
          <a:xfrm>
            <a:off x="6108192" y="1901952"/>
            <a:ext cx="1124712" cy="292608"/>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4F46E5"/>
                </a:solidFill>
                <a:latin typeface="Consolas"/>
              </a:rPr>
              <a:t>messages</a:t>
            </a:r>
          </a:p>
        </p:txBody>
      </p:sp>
      <p:sp>
        <p:nvSpPr>
          <p:cNvPr id="32" name="a2ud280_pill31"/>
          <p:cNvSpPr/>
          <p:nvPr/>
        </p:nvSpPr>
        <p:spPr>
          <a:xfrm>
            <a:off x="7324344" y="1901952"/>
            <a:ext cx="1124712" cy="292608"/>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4F46E5"/>
                </a:solidFill>
                <a:latin typeface="Consolas"/>
              </a:rPr>
              <a:t>connectors</a:t>
            </a:r>
          </a:p>
        </p:txBody>
      </p:sp>
      <p:sp>
        <p:nvSpPr>
          <p:cNvPr id="33" name="a2ud300_lb32"/>
          <p:cNvSpPr txBox="1"/>
          <p:nvPr/>
        </p:nvSpPr>
        <p:spPr>
          <a:xfrm>
            <a:off x="4892040" y="2359152"/>
            <a:ext cx="3657600" cy="201168"/>
          </a:xfrm>
          <a:prstGeom prst="rect">
            <a:avLst/>
          </a:prstGeom>
          <a:noFill/>
        </p:spPr>
        <p:txBody>
          <a:bodyPr wrap="square" lIns="0" tIns="0" rIns="0" bIns="0" anchor="ctr">
            <a:spAutoFit/>
          </a:bodyPr>
          <a:lstStyle/>
          <a:p>
            <a:pPr algn="l"/>
            <a:r>
              <a:rPr sz="800" b="0">
                <a:solidFill>
                  <a:srgbClr val="A8A29E"/>
                </a:solidFill>
                <a:latin typeface="Segoe UI"/>
              </a:rPr>
              <a:t>run for you - out of sight</a:t>
            </a:r>
          </a:p>
        </p:txBody>
      </p:sp>
      <p:sp>
        <p:nvSpPr>
          <p:cNvPr id="34" name="a2ud360_hb33"/>
          <p:cNvSpPr/>
          <p:nvPr/>
        </p:nvSpPr>
        <p:spPr>
          <a:xfrm>
            <a:off x="4892040" y="2596896"/>
            <a:ext cx="1124712" cy="566928"/>
          </a:xfrm>
          <a:prstGeom prst="roundRect">
            <a:avLst>
              <a:gd name="adj" fmla="val 9677"/>
            </a:avLst>
          </a:prstGeom>
          <a:noFill/>
          <a:ln w="12700">
            <a:solidFill>
              <a:srgbClr val="A8A29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2ud360_hbt34"/>
          <p:cNvSpPr txBox="1"/>
          <p:nvPr/>
        </p:nvSpPr>
        <p:spPr>
          <a:xfrm>
            <a:off x="4892040" y="2596896"/>
            <a:ext cx="1124712" cy="566928"/>
          </a:xfrm>
          <a:prstGeom prst="rect">
            <a:avLst/>
          </a:prstGeom>
          <a:noFill/>
        </p:spPr>
        <p:txBody>
          <a:bodyPr wrap="square" lIns="0" tIns="0" rIns="0" bIns="0" anchor="ctr">
            <a:spAutoFit/>
          </a:bodyPr>
          <a:lstStyle/>
          <a:p>
            <a:pPr algn="ctr"/>
            <a:r>
              <a:rPr sz="850" b="0">
                <a:solidFill>
                  <a:srgbClr val="A8A29E"/>
                </a:solidFill>
                <a:latin typeface="Segoe UI"/>
              </a:rPr>
              <a:t>broker</a:t>
            </a:r>
          </a:p>
        </p:txBody>
      </p:sp>
      <p:sp>
        <p:nvSpPr>
          <p:cNvPr id="36" name="a2ud440_hb35"/>
          <p:cNvSpPr/>
          <p:nvPr/>
        </p:nvSpPr>
        <p:spPr>
          <a:xfrm>
            <a:off x="6108192" y="2596896"/>
            <a:ext cx="1124712" cy="566928"/>
          </a:xfrm>
          <a:prstGeom prst="roundRect">
            <a:avLst>
              <a:gd name="adj" fmla="val 9677"/>
            </a:avLst>
          </a:prstGeom>
          <a:noFill/>
          <a:ln w="12700">
            <a:solidFill>
              <a:srgbClr val="A8A29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2ud440_hbt36"/>
          <p:cNvSpPr txBox="1"/>
          <p:nvPr/>
        </p:nvSpPr>
        <p:spPr>
          <a:xfrm>
            <a:off x="6108192" y="2596896"/>
            <a:ext cx="1124712" cy="566928"/>
          </a:xfrm>
          <a:prstGeom prst="rect">
            <a:avLst/>
          </a:prstGeom>
          <a:noFill/>
        </p:spPr>
        <p:txBody>
          <a:bodyPr wrap="square" lIns="0" tIns="0" rIns="0" bIns="0" anchor="ctr">
            <a:spAutoFit/>
          </a:bodyPr>
          <a:lstStyle/>
          <a:p>
            <a:pPr algn="ctr"/>
            <a:r>
              <a:rPr sz="850" b="0">
                <a:solidFill>
                  <a:srgbClr val="A8A29E"/>
                </a:solidFill>
                <a:latin typeface="Segoe UI"/>
              </a:rPr>
              <a:t>broker</a:t>
            </a:r>
          </a:p>
        </p:txBody>
      </p:sp>
      <p:sp>
        <p:nvSpPr>
          <p:cNvPr id="38" name="a2ud520_hb37"/>
          <p:cNvSpPr/>
          <p:nvPr/>
        </p:nvSpPr>
        <p:spPr>
          <a:xfrm>
            <a:off x="7324344" y="2596896"/>
            <a:ext cx="1124712" cy="566928"/>
          </a:xfrm>
          <a:prstGeom prst="roundRect">
            <a:avLst>
              <a:gd name="adj" fmla="val 9677"/>
            </a:avLst>
          </a:prstGeom>
          <a:noFill/>
          <a:ln w="12700">
            <a:solidFill>
              <a:srgbClr val="A8A29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2ud520_hbt38"/>
          <p:cNvSpPr txBox="1"/>
          <p:nvPr/>
        </p:nvSpPr>
        <p:spPr>
          <a:xfrm>
            <a:off x="7324344" y="2596896"/>
            <a:ext cx="1124712" cy="566928"/>
          </a:xfrm>
          <a:prstGeom prst="rect">
            <a:avLst/>
          </a:prstGeom>
          <a:noFill/>
        </p:spPr>
        <p:txBody>
          <a:bodyPr wrap="square" lIns="0" tIns="0" rIns="0" bIns="0" anchor="ctr">
            <a:spAutoFit/>
          </a:bodyPr>
          <a:lstStyle/>
          <a:p>
            <a:pPr algn="ctr"/>
            <a:r>
              <a:rPr sz="850" b="0">
                <a:solidFill>
                  <a:srgbClr val="A8A29E"/>
                </a:solidFill>
                <a:latin typeface="Segoe UI"/>
              </a:rPr>
              <a:t>broker</a:t>
            </a:r>
          </a:p>
        </p:txBody>
      </p:sp>
      <p:sp>
        <p:nvSpPr>
          <p:cNvPr id="40" name="a2ud600_cur39"/>
          <p:cNvSpPr/>
          <p:nvPr/>
        </p:nvSpPr>
        <p:spPr>
          <a:xfrm>
            <a:off x="4818888" y="3273552"/>
            <a:ext cx="3758184" cy="237744"/>
          </a:xfrm>
          <a:prstGeom prst="roundRect">
            <a:avLst>
              <a:gd name="adj" fmla="val 1923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2ud600_curt40"/>
          <p:cNvSpPr txBox="1"/>
          <p:nvPr/>
        </p:nvSpPr>
        <p:spPr>
          <a:xfrm>
            <a:off x="4818888" y="3273552"/>
            <a:ext cx="3758184" cy="237744"/>
          </a:xfrm>
          <a:prstGeom prst="rect">
            <a:avLst/>
          </a:prstGeom>
          <a:noFill/>
        </p:spPr>
        <p:txBody>
          <a:bodyPr wrap="square" lIns="0" tIns="0" rIns="0" bIns="0" anchor="ctr">
            <a:spAutoFit/>
          </a:bodyPr>
          <a:lstStyle/>
          <a:p>
            <a:pPr algn="ctr"/>
            <a:r>
              <a:rPr sz="800" b="1">
                <a:solidFill>
                  <a:srgbClr val="4F46E5"/>
                </a:solidFill>
                <a:latin typeface="Segoe UI"/>
              </a:rPr>
              <a:t>behind the curtain: brokers are abstracted away</a:t>
            </a:r>
          </a:p>
        </p:txBody>
      </p:sp>
      <p:sp>
        <p:nvSpPr>
          <p:cNvPr id="42" name="a3u_nb41"/>
          <p:cNvSpPr/>
          <p:nvPr/>
        </p:nvSpPr>
        <p:spPr>
          <a:xfrm>
            <a:off x="457200" y="3840480"/>
            <a:ext cx="8229600" cy="603504"/>
          </a:xfrm>
          <a:prstGeom prst="roundRect">
            <a:avLst>
              <a:gd name="adj" fmla="val 12121"/>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3u_nacc42"/>
          <p:cNvSpPr/>
          <p:nvPr/>
        </p:nvSpPr>
        <p:spPr>
          <a:xfrm>
            <a:off x="457200" y="3840480"/>
            <a:ext cx="54864" cy="60350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3u_nt43"/>
          <p:cNvSpPr txBox="1"/>
          <p:nvPr/>
        </p:nvSpPr>
        <p:spPr>
          <a:xfrm>
            <a:off x="658368" y="3840480"/>
            <a:ext cx="7827264" cy="603504"/>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Brokers matter when you are getting started, running Kafka locally or running Apache Kafka yourself - and knowing them helps you reason about Kafka everywhere.</a:t>
            </a:r>
          </a:p>
        </p:txBody>
      </p:sp>
      <p:sp>
        <p:nvSpPr>
          <p:cNvPr id="45" name="ft4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05</a:t>
            </a:r>
          </a:p>
        </p:txBody>
      </p:sp>
      <p:sp>
        <p:nvSpPr>
          <p:cNvPr id="46" name="ft4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ft4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Brokers</a:t>
            </a:r>
          </a:p>
        </p:txBody>
      </p:sp>
      <p:sp>
        <p:nvSpPr>
          <p:cNvPr id="48" name="ft4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8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2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2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28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30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36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36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36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44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44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44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52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52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52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par>
                                <p:cTn id="101" presetID="2" presetClass="entr" presetSubtype="4" fill="hold" grpId="0" nodeType="withEffect">
                                  <p:stCondLst>
                                    <p:cond delay="80"/>
                                  </p:stCondLst>
                                  <p:childTnLst>
                                    <p:set>
                                      <p:cBhvr>
                                        <p:cTn id="97" dur="1" fill="hold">
                                          <p:stCondLst>
                                            <p:cond delay="0"/>
                                          </p:stCondLst>
                                        </p:cTn>
                                        <p:tgtEl>
                                          <p:spTgt spid="29"/>
                                        </p:tgtEl>
                                        <p:attrNameLst>
                                          <p:attrName>style.visibility</p:attrName>
                                        </p:attrNameLst>
                                      </p:cBhvr>
                                      <p:to>
                                        <p:strVal val="visible"/>
                                      </p:to>
                                    </p:set>
                                    <p:anim calcmode="lin" valueType="num">
                                      <p:cBhvr additive="base">
                                        <p:cTn id="98" dur="500" fill="hold"/>
                                        <p:tgtEl>
                                          <p:spTgt spid="29"/>
                                        </p:tgtEl>
                                        <p:attrNameLst>
                                          <p:attrName>ppt_x</p:attrName>
                                        </p:attrNameLst>
                                      </p:cBhvr>
                                      <p:tavLst>
                                        <p:tav tm="0">
                                          <p:val>
                                            <p:strVal val="#ppt_x"/>
                                          </p:val>
                                        </p:tav>
                                        <p:tav tm="100000">
                                          <p:val>
                                            <p:strVal val="#ppt_x"/>
                                          </p:val>
                                        </p:tav>
                                      </p:tavLst>
                                    </p:anim>
                                    <p:anim calcmode="lin" valueType="num">
                                      <p:cBhvr additive="base">
                                        <p:cTn id="99" dur="500" fill="hold"/>
                                        <p:tgtEl>
                                          <p:spTgt spid="29"/>
                                        </p:tgtEl>
                                        <p:attrNameLst>
                                          <p:attrName>ppt_y</p:attrName>
                                        </p:attrNameLst>
                                      </p:cBhvr>
                                      <p:tavLst>
                                        <p:tav tm="0">
                                          <p:val>
                                            <p:strVal val="#ppt_y+0.1"/>
                                          </p:val>
                                        </p:tav>
                                        <p:tav tm="100000">
                                          <p:val>
                                            <p:strVal val="#ppt_y"/>
                                          </p:val>
                                        </p:tav>
                                      </p:tavLst>
                                    </p:anim>
                                    <p:animEffect transition="in" filter="fade">
                                      <p:cBhvr>
                                        <p:cTn id="100" dur="500"/>
                                        <p:tgtEl>
                                          <p:spTgt spid="29"/>
                                        </p:tgtEl>
                                      </p:cBhvr>
                                    </p:animEffect>
                                  </p:childTnLst>
                                </p:cTn>
                              </p:par>
                              <p:par>
                                <p:cTn id="106" presetID="2" presetClass="entr" presetSubtype="4" fill="hold" grpId="0" nodeType="withEffect">
                                  <p:stCondLst>
                                    <p:cond delay="120"/>
                                  </p:stCondLst>
                                  <p:childTnLst>
                                    <p:set>
                                      <p:cBhvr>
                                        <p:cTn id="102" dur="1" fill="hold">
                                          <p:stCondLst>
                                            <p:cond delay="0"/>
                                          </p:stCondLst>
                                        </p:cTn>
                                        <p:tgtEl>
                                          <p:spTgt spid="30"/>
                                        </p:tgtEl>
                                        <p:attrNameLst>
                                          <p:attrName>style.visibility</p:attrName>
                                        </p:attrNameLst>
                                      </p:cBhvr>
                                      <p:to>
                                        <p:strVal val="visible"/>
                                      </p:to>
                                    </p:set>
                                    <p:anim calcmode="lin" valueType="num">
                                      <p:cBhvr additive="base">
                                        <p:cTn id="103" dur="500" fill="hold"/>
                                        <p:tgtEl>
                                          <p:spTgt spid="30"/>
                                        </p:tgtEl>
                                        <p:attrNameLst>
                                          <p:attrName>ppt_x</p:attrName>
                                        </p:attrNameLst>
                                      </p:cBhvr>
                                      <p:tavLst>
                                        <p:tav tm="0">
                                          <p:val>
                                            <p:strVal val="#ppt_x"/>
                                          </p:val>
                                        </p:tav>
                                        <p:tav tm="100000">
                                          <p:val>
                                            <p:strVal val="#ppt_x"/>
                                          </p:val>
                                        </p:tav>
                                      </p:tavLst>
                                    </p:anim>
                                    <p:anim calcmode="lin" valueType="num">
                                      <p:cBhvr additive="base">
                                        <p:cTn id="104" dur="500" fill="hold"/>
                                        <p:tgtEl>
                                          <p:spTgt spid="30"/>
                                        </p:tgtEl>
                                        <p:attrNameLst>
                                          <p:attrName>ppt_y</p:attrName>
                                        </p:attrNameLst>
                                      </p:cBhvr>
                                      <p:tavLst>
                                        <p:tav tm="0">
                                          <p:val>
                                            <p:strVal val="#ppt_y+0.1"/>
                                          </p:val>
                                        </p:tav>
                                        <p:tav tm="100000">
                                          <p:val>
                                            <p:strVal val="#ppt_y"/>
                                          </p:val>
                                        </p:tav>
                                      </p:tavLst>
                                    </p:anim>
                                    <p:animEffect transition="in" filter="fade">
                                      <p:cBhvr>
                                        <p:cTn id="105" dur="500"/>
                                        <p:tgtEl>
                                          <p:spTgt spid="30"/>
                                        </p:tgtEl>
                                      </p:cBhvr>
                                    </p:animEffect>
                                  </p:childTnLst>
                                </p:cTn>
                              </p:par>
                              <p:par>
                                <p:cTn id="111" presetID="2" presetClass="entr" presetSubtype="4" fill="hold" grpId="0" nodeType="withEffect">
                                  <p:stCondLst>
                                    <p:cond delay="20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par>
                                <p:cTn id="116" presetID="2" presetClass="entr" presetSubtype="4" fill="hold" grpId="0" nodeType="withEffect">
                                  <p:stCondLst>
                                    <p:cond delay="28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30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par>
                                <p:cTn id="126" presetID="2" presetClass="entr" presetSubtype="4" fill="hold" grpId="0" nodeType="withEffect">
                                  <p:stCondLst>
                                    <p:cond delay="36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par>
                                <p:cTn id="131" presetID="2" presetClass="entr" presetSubtype="4" fill="hold" grpId="0" nodeType="withEffect">
                                  <p:stCondLst>
                                    <p:cond delay="360"/>
                                  </p:stCondLst>
                                  <p:childTnLst>
                                    <p:set>
                                      <p:cBhvr>
                                        <p:cTn id="127" dur="1" fill="hold">
                                          <p:stCondLst>
                                            <p:cond delay="0"/>
                                          </p:stCondLst>
                                        </p:cTn>
                                        <p:tgtEl>
                                          <p:spTgt spid="35"/>
                                        </p:tgtEl>
                                        <p:attrNameLst>
                                          <p:attrName>style.visibility</p:attrName>
                                        </p:attrNameLst>
                                      </p:cBhvr>
                                      <p:to>
                                        <p:strVal val="visible"/>
                                      </p:to>
                                    </p:set>
                                    <p:anim calcmode="lin" valueType="num">
                                      <p:cBhvr additive="base">
                                        <p:cTn id="128" dur="500" fill="hold"/>
                                        <p:tgtEl>
                                          <p:spTgt spid="35"/>
                                        </p:tgtEl>
                                        <p:attrNameLst>
                                          <p:attrName>ppt_x</p:attrName>
                                        </p:attrNameLst>
                                      </p:cBhvr>
                                      <p:tavLst>
                                        <p:tav tm="0">
                                          <p:val>
                                            <p:strVal val="#ppt_x"/>
                                          </p:val>
                                        </p:tav>
                                        <p:tav tm="100000">
                                          <p:val>
                                            <p:strVal val="#ppt_x"/>
                                          </p:val>
                                        </p:tav>
                                      </p:tavLst>
                                    </p:anim>
                                    <p:anim calcmode="lin" valueType="num">
                                      <p:cBhvr additive="base">
                                        <p:cTn id="129" dur="500" fill="hold"/>
                                        <p:tgtEl>
                                          <p:spTgt spid="35"/>
                                        </p:tgtEl>
                                        <p:attrNameLst>
                                          <p:attrName>ppt_y</p:attrName>
                                        </p:attrNameLst>
                                      </p:cBhvr>
                                      <p:tavLst>
                                        <p:tav tm="0">
                                          <p:val>
                                            <p:strVal val="#ppt_y+0.1"/>
                                          </p:val>
                                        </p:tav>
                                        <p:tav tm="100000">
                                          <p:val>
                                            <p:strVal val="#ppt_y"/>
                                          </p:val>
                                        </p:tav>
                                      </p:tavLst>
                                    </p:anim>
                                    <p:animEffect transition="in" filter="fade">
                                      <p:cBhvr>
                                        <p:cTn id="130" dur="500"/>
                                        <p:tgtEl>
                                          <p:spTgt spid="35"/>
                                        </p:tgtEl>
                                      </p:cBhvr>
                                    </p:animEffect>
                                  </p:childTnLst>
                                </p:cTn>
                              </p:par>
                              <p:par>
                                <p:cTn id="136" presetID="2" presetClass="entr" presetSubtype="4" fill="hold" grpId="0" nodeType="withEffect">
                                  <p:stCondLst>
                                    <p:cond delay="440"/>
                                  </p:stCondLst>
                                  <p:childTnLst>
                                    <p:set>
                                      <p:cBhvr>
                                        <p:cTn id="132" dur="1" fill="hold">
                                          <p:stCondLst>
                                            <p:cond delay="0"/>
                                          </p:stCondLst>
                                        </p:cTn>
                                        <p:tgtEl>
                                          <p:spTgt spid="36"/>
                                        </p:tgtEl>
                                        <p:attrNameLst>
                                          <p:attrName>style.visibility</p:attrName>
                                        </p:attrNameLst>
                                      </p:cBhvr>
                                      <p:to>
                                        <p:strVal val="visible"/>
                                      </p:to>
                                    </p:set>
                                    <p:anim calcmode="lin" valueType="num">
                                      <p:cBhvr additive="base">
                                        <p:cTn id="133" dur="500" fill="hold"/>
                                        <p:tgtEl>
                                          <p:spTgt spid="36"/>
                                        </p:tgtEl>
                                        <p:attrNameLst>
                                          <p:attrName>ppt_x</p:attrName>
                                        </p:attrNameLst>
                                      </p:cBhvr>
                                      <p:tavLst>
                                        <p:tav tm="0">
                                          <p:val>
                                            <p:strVal val="#ppt_x"/>
                                          </p:val>
                                        </p:tav>
                                        <p:tav tm="100000">
                                          <p:val>
                                            <p:strVal val="#ppt_x"/>
                                          </p:val>
                                        </p:tav>
                                      </p:tavLst>
                                    </p:anim>
                                    <p:anim calcmode="lin" valueType="num">
                                      <p:cBhvr additive="base">
                                        <p:cTn id="134" dur="500" fill="hold"/>
                                        <p:tgtEl>
                                          <p:spTgt spid="36"/>
                                        </p:tgtEl>
                                        <p:attrNameLst>
                                          <p:attrName>ppt_y</p:attrName>
                                        </p:attrNameLst>
                                      </p:cBhvr>
                                      <p:tavLst>
                                        <p:tav tm="0">
                                          <p:val>
                                            <p:strVal val="#ppt_y+0.1"/>
                                          </p:val>
                                        </p:tav>
                                        <p:tav tm="100000">
                                          <p:val>
                                            <p:strVal val="#ppt_y"/>
                                          </p:val>
                                        </p:tav>
                                      </p:tavLst>
                                    </p:anim>
                                    <p:animEffect transition="in" filter="fade">
                                      <p:cBhvr>
                                        <p:cTn id="135" dur="500"/>
                                        <p:tgtEl>
                                          <p:spTgt spid="36"/>
                                        </p:tgtEl>
                                      </p:cBhvr>
                                    </p:animEffect>
                                  </p:childTnLst>
                                </p:cTn>
                              </p:par>
                              <p:par>
                                <p:cTn id="141" presetID="2" presetClass="entr" presetSubtype="4" fill="hold" grpId="0" nodeType="withEffect">
                                  <p:stCondLst>
                                    <p:cond delay="440"/>
                                  </p:stCondLst>
                                  <p:childTnLst>
                                    <p:set>
                                      <p:cBhvr>
                                        <p:cTn id="137" dur="1" fill="hold">
                                          <p:stCondLst>
                                            <p:cond delay="0"/>
                                          </p:stCondLst>
                                        </p:cTn>
                                        <p:tgtEl>
                                          <p:spTgt spid="37"/>
                                        </p:tgtEl>
                                        <p:attrNameLst>
                                          <p:attrName>style.visibility</p:attrName>
                                        </p:attrNameLst>
                                      </p:cBhvr>
                                      <p:to>
                                        <p:strVal val="visible"/>
                                      </p:to>
                                    </p:set>
                                    <p:anim calcmode="lin" valueType="num">
                                      <p:cBhvr additive="base">
                                        <p:cTn id="138" dur="500" fill="hold"/>
                                        <p:tgtEl>
                                          <p:spTgt spid="37"/>
                                        </p:tgtEl>
                                        <p:attrNameLst>
                                          <p:attrName>ppt_x</p:attrName>
                                        </p:attrNameLst>
                                      </p:cBhvr>
                                      <p:tavLst>
                                        <p:tav tm="0">
                                          <p:val>
                                            <p:strVal val="#ppt_x"/>
                                          </p:val>
                                        </p:tav>
                                        <p:tav tm="100000">
                                          <p:val>
                                            <p:strVal val="#ppt_x"/>
                                          </p:val>
                                        </p:tav>
                                      </p:tavLst>
                                    </p:anim>
                                    <p:anim calcmode="lin" valueType="num">
                                      <p:cBhvr additive="base">
                                        <p:cTn id="139" dur="500" fill="hold"/>
                                        <p:tgtEl>
                                          <p:spTgt spid="37"/>
                                        </p:tgtEl>
                                        <p:attrNameLst>
                                          <p:attrName>ppt_y</p:attrName>
                                        </p:attrNameLst>
                                      </p:cBhvr>
                                      <p:tavLst>
                                        <p:tav tm="0">
                                          <p:val>
                                            <p:strVal val="#ppt_y+0.1"/>
                                          </p:val>
                                        </p:tav>
                                        <p:tav tm="100000">
                                          <p:val>
                                            <p:strVal val="#ppt_y"/>
                                          </p:val>
                                        </p:tav>
                                      </p:tavLst>
                                    </p:anim>
                                    <p:animEffect transition="in" filter="fade">
                                      <p:cBhvr>
                                        <p:cTn id="140" dur="500"/>
                                        <p:tgtEl>
                                          <p:spTgt spid="37"/>
                                        </p:tgtEl>
                                      </p:cBhvr>
                                    </p:animEffect>
                                  </p:childTnLst>
                                </p:cTn>
                              </p:par>
                              <p:par>
                                <p:cTn id="146" presetID="2" presetClass="entr" presetSubtype="4" fill="hold" grpId="0" nodeType="withEffect">
                                  <p:stCondLst>
                                    <p:cond delay="520"/>
                                  </p:stCondLst>
                                  <p:childTnLst>
                                    <p:set>
                                      <p:cBhvr>
                                        <p:cTn id="142" dur="1" fill="hold">
                                          <p:stCondLst>
                                            <p:cond delay="0"/>
                                          </p:stCondLst>
                                        </p:cTn>
                                        <p:tgtEl>
                                          <p:spTgt spid="38"/>
                                        </p:tgtEl>
                                        <p:attrNameLst>
                                          <p:attrName>style.visibility</p:attrName>
                                        </p:attrNameLst>
                                      </p:cBhvr>
                                      <p:to>
                                        <p:strVal val="visible"/>
                                      </p:to>
                                    </p:set>
                                    <p:anim calcmode="lin" valueType="num">
                                      <p:cBhvr additive="base">
                                        <p:cTn id="143" dur="500" fill="hold"/>
                                        <p:tgtEl>
                                          <p:spTgt spid="38"/>
                                        </p:tgtEl>
                                        <p:attrNameLst>
                                          <p:attrName>ppt_x</p:attrName>
                                        </p:attrNameLst>
                                      </p:cBhvr>
                                      <p:tavLst>
                                        <p:tav tm="0">
                                          <p:val>
                                            <p:strVal val="#ppt_x"/>
                                          </p:val>
                                        </p:tav>
                                        <p:tav tm="100000">
                                          <p:val>
                                            <p:strVal val="#ppt_x"/>
                                          </p:val>
                                        </p:tav>
                                      </p:tavLst>
                                    </p:anim>
                                    <p:anim calcmode="lin" valueType="num">
                                      <p:cBhvr additive="base">
                                        <p:cTn id="144" dur="500" fill="hold"/>
                                        <p:tgtEl>
                                          <p:spTgt spid="38"/>
                                        </p:tgtEl>
                                        <p:attrNameLst>
                                          <p:attrName>ppt_y</p:attrName>
                                        </p:attrNameLst>
                                      </p:cBhvr>
                                      <p:tavLst>
                                        <p:tav tm="0">
                                          <p:val>
                                            <p:strVal val="#ppt_y+0.1"/>
                                          </p:val>
                                        </p:tav>
                                        <p:tav tm="100000">
                                          <p:val>
                                            <p:strVal val="#ppt_y"/>
                                          </p:val>
                                        </p:tav>
                                      </p:tavLst>
                                    </p:anim>
                                    <p:animEffect transition="in" filter="fade">
                                      <p:cBhvr>
                                        <p:cTn id="145" dur="500"/>
                                        <p:tgtEl>
                                          <p:spTgt spid="38"/>
                                        </p:tgtEl>
                                      </p:cBhvr>
                                    </p:animEffect>
                                  </p:childTnLst>
                                </p:cTn>
                              </p:par>
                              <p:par>
                                <p:cTn id="151" presetID="2" presetClass="entr" presetSubtype="4" fill="hold" grpId="0" nodeType="withEffect">
                                  <p:stCondLst>
                                    <p:cond delay="520"/>
                                  </p:stCondLst>
                                  <p:childTnLst>
                                    <p:set>
                                      <p:cBhvr>
                                        <p:cTn id="147" dur="1" fill="hold">
                                          <p:stCondLst>
                                            <p:cond delay="0"/>
                                          </p:stCondLst>
                                        </p:cTn>
                                        <p:tgtEl>
                                          <p:spTgt spid="39"/>
                                        </p:tgtEl>
                                        <p:attrNameLst>
                                          <p:attrName>style.visibility</p:attrName>
                                        </p:attrNameLst>
                                      </p:cBhvr>
                                      <p:to>
                                        <p:strVal val="visible"/>
                                      </p:to>
                                    </p:set>
                                    <p:anim calcmode="lin" valueType="num">
                                      <p:cBhvr additive="base">
                                        <p:cTn id="148" dur="500" fill="hold"/>
                                        <p:tgtEl>
                                          <p:spTgt spid="39"/>
                                        </p:tgtEl>
                                        <p:attrNameLst>
                                          <p:attrName>ppt_x</p:attrName>
                                        </p:attrNameLst>
                                      </p:cBhvr>
                                      <p:tavLst>
                                        <p:tav tm="0">
                                          <p:val>
                                            <p:strVal val="#ppt_x"/>
                                          </p:val>
                                        </p:tav>
                                        <p:tav tm="100000">
                                          <p:val>
                                            <p:strVal val="#ppt_x"/>
                                          </p:val>
                                        </p:tav>
                                      </p:tavLst>
                                    </p:anim>
                                    <p:anim calcmode="lin" valueType="num">
                                      <p:cBhvr additive="base">
                                        <p:cTn id="149" dur="500" fill="hold"/>
                                        <p:tgtEl>
                                          <p:spTgt spid="39"/>
                                        </p:tgtEl>
                                        <p:attrNameLst>
                                          <p:attrName>ppt_y</p:attrName>
                                        </p:attrNameLst>
                                      </p:cBhvr>
                                      <p:tavLst>
                                        <p:tav tm="0">
                                          <p:val>
                                            <p:strVal val="#ppt_y+0.1"/>
                                          </p:val>
                                        </p:tav>
                                        <p:tav tm="100000">
                                          <p:val>
                                            <p:strVal val="#ppt_y"/>
                                          </p:val>
                                        </p:tav>
                                      </p:tavLst>
                                    </p:anim>
                                    <p:animEffect transition="in" filter="fade">
                                      <p:cBhvr>
                                        <p:cTn id="150" dur="500"/>
                                        <p:tgtEl>
                                          <p:spTgt spid="39"/>
                                        </p:tgtEl>
                                      </p:cBhvr>
                                    </p:animEffect>
                                  </p:childTnLst>
                                </p:cTn>
                              </p:par>
                              <p:par>
                                <p:cTn id="156" presetID="2" presetClass="entr" presetSubtype="4" fill="hold" grpId="0" nodeType="withEffect">
                                  <p:stCondLst>
                                    <p:cond delay="600"/>
                                  </p:stCondLst>
                                  <p:childTnLst>
                                    <p:set>
                                      <p:cBhvr>
                                        <p:cTn id="152" dur="1" fill="hold">
                                          <p:stCondLst>
                                            <p:cond delay="0"/>
                                          </p:stCondLst>
                                        </p:cTn>
                                        <p:tgtEl>
                                          <p:spTgt spid="40"/>
                                        </p:tgtEl>
                                        <p:attrNameLst>
                                          <p:attrName>style.visibility</p:attrName>
                                        </p:attrNameLst>
                                      </p:cBhvr>
                                      <p:to>
                                        <p:strVal val="visible"/>
                                      </p:to>
                                    </p:set>
                                    <p:anim calcmode="lin" valueType="num">
                                      <p:cBhvr additive="base">
                                        <p:cTn id="153" dur="500" fill="hold"/>
                                        <p:tgtEl>
                                          <p:spTgt spid="40"/>
                                        </p:tgtEl>
                                        <p:attrNameLst>
                                          <p:attrName>ppt_x</p:attrName>
                                        </p:attrNameLst>
                                      </p:cBhvr>
                                      <p:tavLst>
                                        <p:tav tm="0">
                                          <p:val>
                                            <p:strVal val="#ppt_x"/>
                                          </p:val>
                                        </p:tav>
                                        <p:tav tm="100000">
                                          <p:val>
                                            <p:strVal val="#ppt_x"/>
                                          </p:val>
                                        </p:tav>
                                      </p:tavLst>
                                    </p:anim>
                                    <p:anim calcmode="lin" valueType="num">
                                      <p:cBhvr additive="base">
                                        <p:cTn id="154" dur="500" fill="hold"/>
                                        <p:tgtEl>
                                          <p:spTgt spid="40"/>
                                        </p:tgtEl>
                                        <p:attrNameLst>
                                          <p:attrName>ppt_y</p:attrName>
                                        </p:attrNameLst>
                                      </p:cBhvr>
                                      <p:tavLst>
                                        <p:tav tm="0">
                                          <p:val>
                                            <p:strVal val="#ppt_y+0.1"/>
                                          </p:val>
                                        </p:tav>
                                        <p:tav tm="100000">
                                          <p:val>
                                            <p:strVal val="#ppt_y"/>
                                          </p:val>
                                        </p:tav>
                                      </p:tavLst>
                                    </p:anim>
                                    <p:animEffect transition="in" filter="fade">
                                      <p:cBhvr>
                                        <p:cTn id="155" dur="500"/>
                                        <p:tgtEl>
                                          <p:spTgt spid="40"/>
                                        </p:tgtEl>
                                      </p:cBhvr>
                                    </p:animEffect>
                                  </p:childTnLst>
                                </p:cTn>
                              </p:par>
                              <p:par>
                                <p:cTn id="161" presetID="2" presetClass="entr" presetSubtype="4" fill="hold" grpId="0" nodeType="withEffect">
                                  <p:stCondLst>
                                    <p:cond delay="600"/>
                                  </p:stCondLst>
                                  <p:childTnLst>
                                    <p:set>
                                      <p:cBhvr>
                                        <p:cTn id="157" dur="1" fill="hold">
                                          <p:stCondLst>
                                            <p:cond delay="0"/>
                                          </p:stCondLst>
                                        </p:cTn>
                                        <p:tgtEl>
                                          <p:spTgt spid="41"/>
                                        </p:tgtEl>
                                        <p:attrNameLst>
                                          <p:attrName>style.visibility</p:attrName>
                                        </p:attrNameLst>
                                      </p:cBhvr>
                                      <p:to>
                                        <p:strVal val="visible"/>
                                      </p:to>
                                    </p:set>
                                    <p:anim calcmode="lin" valueType="num">
                                      <p:cBhvr additive="base">
                                        <p:cTn id="158" dur="500" fill="hold"/>
                                        <p:tgtEl>
                                          <p:spTgt spid="41"/>
                                        </p:tgtEl>
                                        <p:attrNameLst>
                                          <p:attrName>ppt_x</p:attrName>
                                        </p:attrNameLst>
                                      </p:cBhvr>
                                      <p:tavLst>
                                        <p:tav tm="0">
                                          <p:val>
                                            <p:strVal val="#ppt_x"/>
                                          </p:val>
                                        </p:tav>
                                        <p:tav tm="100000">
                                          <p:val>
                                            <p:strVal val="#ppt_x"/>
                                          </p:val>
                                        </p:tav>
                                      </p:tavLst>
                                    </p:anim>
                                    <p:anim calcmode="lin" valueType="num">
                                      <p:cBhvr additive="base">
                                        <p:cTn id="159" dur="500" fill="hold"/>
                                        <p:tgtEl>
                                          <p:spTgt spid="41"/>
                                        </p:tgtEl>
                                        <p:attrNameLst>
                                          <p:attrName>ppt_y</p:attrName>
                                        </p:attrNameLst>
                                      </p:cBhvr>
                                      <p:tavLst>
                                        <p:tav tm="0">
                                          <p:val>
                                            <p:strVal val="#ppt_y+0.1"/>
                                          </p:val>
                                        </p:tav>
                                        <p:tav tm="100000">
                                          <p:val>
                                            <p:strVal val="#ppt_y"/>
                                          </p:val>
                                        </p:tav>
                                      </p:tavLst>
                                    </p:anim>
                                    <p:animEffect transition="in" filter="fade">
                                      <p:cBhvr>
                                        <p:cTn id="160" dur="500"/>
                                        <p:tgtEl>
                                          <p:spTgt spid="41"/>
                                        </p:tgtEl>
                                      </p:cBhvr>
                                    </p:animEffect>
                                  </p:childTnLst>
                                </p:cTn>
                              </p:par>
                            </p:childTnLst>
                          </p:cTn>
                        </p:par>
                      </p:childTnLst>
                    </p:cTn>
                  </p:par>
                  <p:par>
                    <p:cTn id="162" fill="hold">
                      <p:stCondLst>
                        <p:cond delay="indefinite"/>
                      </p:stCondLst>
                      <p:childTnLst>
                        <p:par>
                          <p:cTn id="163" fill="hold">
                            <p:stCondLst>
                              <p:cond delay="0"/>
                            </p:stCondLst>
                            <p:childTnLst>
                              <p:par>
                                <p:cTn id="168" presetID="2" presetClass="entr" presetSubtype="4" fill="hold" grpId="0" nodeType="clickEffect">
                                  <p:stCondLst>
                                    <p:cond delay="0"/>
                                  </p:stCondLst>
                                  <p:childTnLst>
                                    <p:set>
                                      <p:cBhvr>
                                        <p:cTn id="164" dur="1" fill="hold">
                                          <p:stCondLst>
                                            <p:cond delay="0"/>
                                          </p:stCondLst>
                                        </p:cTn>
                                        <p:tgtEl>
                                          <p:spTgt spid="42"/>
                                        </p:tgtEl>
                                        <p:attrNameLst>
                                          <p:attrName>style.visibility</p:attrName>
                                        </p:attrNameLst>
                                      </p:cBhvr>
                                      <p:to>
                                        <p:strVal val="visible"/>
                                      </p:to>
                                    </p:set>
                                    <p:anim calcmode="lin" valueType="num">
                                      <p:cBhvr additive="base">
                                        <p:cTn id="165" dur="500" fill="hold"/>
                                        <p:tgtEl>
                                          <p:spTgt spid="42"/>
                                        </p:tgtEl>
                                        <p:attrNameLst>
                                          <p:attrName>ppt_x</p:attrName>
                                        </p:attrNameLst>
                                      </p:cBhvr>
                                      <p:tavLst>
                                        <p:tav tm="0">
                                          <p:val>
                                            <p:strVal val="#ppt_x"/>
                                          </p:val>
                                        </p:tav>
                                        <p:tav tm="100000">
                                          <p:val>
                                            <p:strVal val="#ppt_x"/>
                                          </p:val>
                                        </p:tav>
                                      </p:tavLst>
                                    </p:anim>
                                    <p:anim calcmode="lin" valueType="num">
                                      <p:cBhvr additive="base">
                                        <p:cTn id="166" dur="500" fill="hold"/>
                                        <p:tgtEl>
                                          <p:spTgt spid="42"/>
                                        </p:tgtEl>
                                        <p:attrNameLst>
                                          <p:attrName>ppt_y</p:attrName>
                                        </p:attrNameLst>
                                      </p:cBhvr>
                                      <p:tavLst>
                                        <p:tav tm="0">
                                          <p:val>
                                            <p:strVal val="#ppt_y+0.1"/>
                                          </p:val>
                                        </p:tav>
                                        <p:tav tm="100000">
                                          <p:val>
                                            <p:strVal val="#ppt_y"/>
                                          </p:val>
                                        </p:tav>
                                      </p:tavLst>
                                    </p:anim>
                                    <p:animEffect transition="in" filter="fade">
                                      <p:cBhvr>
                                        <p:cTn id="167" dur="500"/>
                                        <p:tgtEl>
                                          <p:spTgt spid="42"/>
                                        </p:tgtEl>
                                      </p:cBhvr>
                                    </p:animEffect>
                                  </p:childTnLst>
                                </p:cTn>
                              </p:par>
                              <p:par>
                                <p:cTn id="173" presetID="2" presetClass="entr" presetSubtype="4" fill="hold" grpId="0" nodeType="withEffect">
                                  <p:stCondLst>
                                    <p:cond delay="0"/>
                                  </p:stCondLst>
                                  <p:childTnLst>
                                    <p:set>
                                      <p:cBhvr>
                                        <p:cTn id="169" dur="1" fill="hold">
                                          <p:stCondLst>
                                            <p:cond delay="0"/>
                                          </p:stCondLst>
                                        </p:cTn>
                                        <p:tgtEl>
                                          <p:spTgt spid="43"/>
                                        </p:tgtEl>
                                        <p:attrNameLst>
                                          <p:attrName>style.visibility</p:attrName>
                                        </p:attrNameLst>
                                      </p:cBhvr>
                                      <p:to>
                                        <p:strVal val="visible"/>
                                      </p:to>
                                    </p:set>
                                    <p:anim calcmode="lin" valueType="num">
                                      <p:cBhvr additive="base">
                                        <p:cTn id="170" dur="500" fill="hold"/>
                                        <p:tgtEl>
                                          <p:spTgt spid="43"/>
                                        </p:tgtEl>
                                        <p:attrNameLst>
                                          <p:attrName>ppt_x</p:attrName>
                                        </p:attrNameLst>
                                      </p:cBhvr>
                                      <p:tavLst>
                                        <p:tav tm="0">
                                          <p:val>
                                            <p:strVal val="#ppt_x"/>
                                          </p:val>
                                        </p:tav>
                                        <p:tav tm="100000">
                                          <p:val>
                                            <p:strVal val="#ppt_x"/>
                                          </p:val>
                                        </p:tav>
                                      </p:tavLst>
                                    </p:anim>
                                    <p:anim calcmode="lin" valueType="num">
                                      <p:cBhvr additive="base">
                                        <p:cTn id="171" dur="500" fill="hold"/>
                                        <p:tgtEl>
                                          <p:spTgt spid="43"/>
                                        </p:tgtEl>
                                        <p:attrNameLst>
                                          <p:attrName>ppt_y</p:attrName>
                                        </p:attrNameLst>
                                      </p:cBhvr>
                                      <p:tavLst>
                                        <p:tav tm="0">
                                          <p:val>
                                            <p:strVal val="#ppt_y+0.1"/>
                                          </p:val>
                                        </p:tav>
                                        <p:tav tm="100000">
                                          <p:val>
                                            <p:strVal val="#ppt_y"/>
                                          </p:val>
                                        </p:tav>
                                      </p:tavLst>
                                    </p:anim>
                                    <p:animEffect transition="in" filter="fade">
                                      <p:cBhvr>
                                        <p:cTn id="172" dur="500"/>
                                        <p:tgtEl>
                                          <p:spTgt spid="43"/>
                                        </p:tgtEl>
                                      </p:cBhvr>
                                    </p:animEffect>
                                  </p:childTnLst>
                                </p:cTn>
                              </p:par>
                              <p:par>
                                <p:cTn id="178" presetID="2" presetClass="entr" presetSubtype="4" fill="hold" grpId="0" nodeType="withEffect">
                                  <p:stCondLst>
                                    <p:cond delay="0"/>
                                  </p:stCondLst>
                                  <p:childTnLst>
                                    <p:set>
                                      <p:cBhvr>
                                        <p:cTn id="174" dur="1" fill="hold">
                                          <p:stCondLst>
                                            <p:cond delay="0"/>
                                          </p:stCondLst>
                                        </p:cTn>
                                        <p:tgtEl>
                                          <p:spTgt spid="44"/>
                                        </p:tgtEl>
                                        <p:attrNameLst>
                                          <p:attrName>style.visibility</p:attrName>
                                        </p:attrNameLst>
                                      </p:cBhvr>
                                      <p:to>
                                        <p:strVal val="visible"/>
                                      </p:to>
                                    </p:set>
                                    <p:anim calcmode="lin" valueType="num">
                                      <p:cBhvr additive="base">
                                        <p:cTn id="175" dur="500" fill="hold"/>
                                        <p:tgtEl>
                                          <p:spTgt spid="44"/>
                                        </p:tgtEl>
                                        <p:attrNameLst>
                                          <p:attrName>ppt_x</p:attrName>
                                        </p:attrNameLst>
                                      </p:cBhvr>
                                      <p:tavLst>
                                        <p:tav tm="0">
                                          <p:val>
                                            <p:strVal val="#ppt_x"/>
                                          </p:val>
                                        </p:tav>
                                        <p:tav tm="100000">
                                          <p:val>
                                            <p:strVal val="#ppt_x"/>
                                          </p:val>
                                        </p:tav>
                                      </p:tavLst>
                                    </p:anim>
                                    <p:anim calcmode="lin" valueType="num">
                                      <p:cBhvr additive="base">
                                        <p:cTn id="176" dur="500" fill="hold"/>
                                        <p:tgtEl>
                                          <p:spTgt spid="44"/>
                                        </p:tgtEl>
                                        <p:attrNameLst>
                                          <p:attrName>ppt_y</p:attrName>
                                        </p:attrNameLst>
                                      </p:cBhvr>
                                      <p:tavLst>
                                        <p:tav tm="0">
                                          <p:val>
                                            <p:strVal val="#ppt_y+0.1"/>
                                          </p:val>
                                        </p:tav>
                                        <p:tav tm="100000">
                                          <p:val>
                                            <p:strVal val="#ppt_y"/>
                                          </p:val>
                                        </p:tav>
                                      </p:tavLst>
                                    </p:anim>
                                    <p:animEffect transition="in" filter="fade">
                                      <p:cBhvr>
                                        <p:cTn id="17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Brokers Form a Cluster</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Each broker hosts partitions - thermostat_readings' three, one per broker</a:t>
            </a:r>
          </a:p>
        </p:txBody>
      </p:sp>
      <p:sp>
        <p:nvSpPr>
          <p:cNvPr id="11" name="a1u_cl10"/>
          <p:cNvSpPr/>
          <p:nvPr/>
        </p:nvSpPr>
        <p:spPr>
          <a:xfrm>
            <a:off x="457200" y="1280160"/>
            <a:ext cx="5486400" cy="2487168"/>
          </a:xfrm>
          <a:prstGeom prst="roundRect">
            <a:avLst>
              <a:gd name="adj" fmla="val 3676"/>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clh11"/>
          <p:cNvSpPr txBox="1"/>
          <p:nvPr/>
        </p:nvSpPr>
        <p:spPr>
          <a:xfrm>
            <a:off x="640080" y="1371600"/>
            <a:ext cx="1645920" cy="237744"/>
          </a:xfrm>
          <a:prstGeom prst="rect">
            <a:avLst/>
          </a:prstGeom>
          <a:noFill/>
        </p:spPr>
        <p:txBody>
          <a:bodyPr wrap="square" lIns="0" tIns="0" rIns="0" bIns="0" anchor="ctr">
            <a:spAutoFit/>
          </a:bodyPr>
          <a:lstStyle/>
          <a:p>
            <a:pPr algn="l"/>
            <a:r>
              <a:rPr sz="850" b="1" spc="160">
                <a:solidFill>
                  <a:srgbClr val="0E7490"/>
                </a:solidFill>
                <a:latin typeface="Segoe UI"/>
              </a:rPr>
              <a:t>KAFKA CLUSTER</a:t>
            </a:r>
          </a:p>
        </p:txBody>
      </p:sp>
      <p:sp>
        <p:nvSpPr>
          <p:cNvPr id="13" name="a2u_lg12"/>
          <p:cNvSpPr/>
          <p:nvPr/>
        </p:nvSpPr>
        <p:spPr>
          <a:xfrm>
            <a:off x="2148840" y="1399032"/>
            <a:ext cx="146304" cy="146304"/>
          </a:xfrm>
          <a:prstGeom prst="roundRect">
            <a:avLst>
              <a:gd name="adj" fmla="val 18750"/>
            </a:avLst>
          </a:prstGeom>
          <a:solidFill>
            <a:srgbClr val="FFEDD5"/>
          </a:solidFill>
          <a:ln w="1270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2u_lgt13"/>
          <p:cNvSpPr txBox="1"/>
          <p:nvPr/>
        </p:nvSpPr>
        <p:spPr>
          <a:xfrm>
            <a:off x="2368296" y="1353312"/>
            <a:ext cx="2194560" cy="237744"/>
          </a:xfrm>
          <a:prstGeom prst="rect">
            <a:avLst/>
          </a:prstGeom>
          <a:noFill/>
        </p:spPr>
        <p:txBody>
          <a:bodyPr wrap="square" lIns="0" tIns="0" rIns="0" bIns="0" anchor="ctr">
            <a:spAutoFit/>
          </a:bodyPr>
          <a:lstStyle/>
          <a:p>
            <a:pPr algn="l"/>
            <a:r>
              <a:rPr sz="900" b="1">
                <a:solidFill>
                  <a:srgbClr val="C2410C"/>
                </a:solidFill>
                <a:latin typeface="Consolas"/>
              </a:rPr>
              <a:t>thermostat_readings</a:t>
            </a:r>
          </a:p>
        </p:txBody>
      </p:sp>
      <p:sp>
        <p:nvSpPr>
          <p:cNvPr id="15" name="a1ud100_bk14"/>
          <p:cNvSpPr/>
          <p:nvPr/>
        </p:nvSpPr>
        <p:spPr>
          <a:xfrm>
            <a:off x="640080" y="1719072"/>
            <a:ext cx="1600200" cy="1847088"/>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100_bkn15"/>
          <p:cNvSpPr txBox="1"/>
          <p:nvPr/>
        </p:nvSpPr>
        <p:spPr>
          <a:xfrm>
            <a:off x="768096"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1</a:t>
            </a:r>
          </a:p>
        </p:txBody>
      </p:sp>
      <p:sp>
        <p:nvSpPr>
          <p:cNvPr id="17" name="a1ud100_bks16"/>
          <p:cNvSpPr txBox="1"/>
          <p:nvPr/>
        </p:nvSpPr>
        <p:spPr>
          <a:xfrm>
            <a:off x="768096" y="2020824"/>
            <a:ext cx="1344168" cy="201168"/>
          </a:xfrm>
          <a:prstGeom prst="rect">
            <a:avLst/>
          </a:prstGeom>
          <a:noFill/>
        </p:spPr>
        <p:txBody>
          <a:bodyPr wrap="square" lIns="0" tIns="0" rIns="0" bIns="0" anchor="ctr">
            <a:spAutoFit/>
          </a:bodyPr>
          <a:lstStyle/>
          <a:p>
            <a:pPr algn="l"/>
            <a:r>
              <a:rPr sz="800" b="0">
                <a:solidFill>
                  <a:srgbClr val="0E7490"/>
                </a:solidFill>
                <a:latin typeface="Segoe UI"/>
              </a:rPr>
              <a:t>Kafka server</a:t>
            </a:r>
          </a:p>
        </p:txBody>
      </p:sp>
      <p:sp>
        <p:nvSpPr>
          <p:cNvPr id="18" name="a1ud100_dk17"/>
          <p:cNvSpPr/>
          <p:nvPr/>
        </p:nvSpPr>
        <p:spPr>
          <a:xfrm>
            <a:off x="768096" y="3291840"/>
            <a:ext cx="1344168" cy="164592"/>
          </a:xfrm>
          <a:prstGeom prst="roundRect">
            <a:avLst>
              <a:gd name="adj" fmla="val 22222"/>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100_dkt18"/>
          <p:cNvSpPr txBox="1"/>
          <p:nvPr/>
        </p:nvSpPr>
        <p:spPr>
          <a:xfrm>
            <a:off x="768096" y="3291840"/>
            <a:ext cx="1344168" cy="164592"/>
          </a:xfrm>
          <a:prstGeom prst="rect">
            <a:avLst/>
          </a:prstGeom>
          <a:noFill/>
        </p:spPr>
        <p:txBody>
          <a:bodyPr wrap="square" lIns="0" tIns="0" rIns="0" bIns="0" anchor="ctr">
            <a:spAutoFit/>
          </a:bodyPr>
          <a:lstStyle/>
          <a:p>
            <a:pPr algn="ctr"/>
            <a:r>
              <a:rPr sz="750" b="0">
                <a:solidFill>
                  <a:srgbClr val="78716C"/>
                </a:solidFill>
                <a:latin typeface="Consolas"/>
              </a:rPr>
              <a:t>local SSD</a:t>
            </a:r>
          </a:p>
        </p:txBody>
      </p:sp>
      <p:sp>
        <p:nvSpPr>
          <p:cNvPr id="20" name="a2u_pt19"/>
          <p:cNvSpPr/>
          <p:nvPr/>
        </p:nvSpPr>
        <p:spPr>
          <a:xfrm>
            <a:off x="768096" y="2322576"/>
            <a:ext cx="1344168" cy="365760"/>
          </a:xfrm>
          <a:prstGeom prst="roundRect">
            <a:avLst>
              <a:gd name="adj" fmla="val 12500"/>
            </a:avLst>
          </a:prstGeom>
          <a:solidFill>
            <a:srgbClr val="FFEDD5"/>
          </a:solidFill>
          <a:ln w="1270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_ptn20"/>
          <p:cNvSpPr txBox="1"/>
          <p:nvPr/>
        </p:nvSpPr>
        <p:spPr>
          <a:xfrm>
            <a:off x="859536" y="2322576"/>
            <a:ext cx="365760" cy="365760"/>
          </a:xfrm>
          <a:prstGeom prst="rect">
            <a:avLst/>
          </a:prstGeom>
          <a:noFill/>
        </p:spPr>
        <p:txBody>
          <a:bodyPr wrap="square" lIns="0" tIns="0" rIns="0" bIns="0" anchor="ctr">
            <a:spAutoFit/>
          </a:bodyPr>
          <a:lstStyle/>
          <a:p>
            <a:pPr algn="l"/>
            <a:r>
              <a:rPr sz="1000" b="1">
                <a:solidFill>
                  <a:srgbClr val="C2410C"/>
                </a:solidFill>
                <a:latin typeface="Consolas"/>
              </a:rPr>
              <a:t>P0</a:t>
            </a:r>
          </a:p>
        </p:txBody>
      </p:sp>
      <p:sp>
        <p:nvSpPr>
          <p:cNvPr id="22" name="a2u_pc21"/>
          <p:cNvSpPr/>
          <p:nvPr/>
        </p:nvSpPr>
        <p:spPr>
          <a:xfrm>
            <a:off x="1289303"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_pc22"/>
          <p:cNvSpPr/>
          <p:nvPr/>
        </p:nvSpPr>
        <p:spPr>
          <a:xfrm>
            <a:off x="1481327"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2u_pc23"/>
          <p:cNvSpPr/>
          <p:nvPr/>
        </p:nvSpPr>
        <p:spPr>
          <a:xfrm>
            <a:off x="1673351"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2u_pc24"/>
          <p:cNvSpPr/>
          <p:nvPr/>
        </p:nvSpPr>
        <p:spPr>
          <a:xfrm>
            <a:off x="1865376" y="2423160"/>
            <a:ext cx="155448" cy="164592"/>
          </a:xfrm>
          <a:prstGeom prst="rect">
            <a:avLst/>
          </a:prstGeom>
          <a:solidFill>
            <a:srgbClr val="C2410C"/>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1ud220_bk25"/>
          <p:cNvSpPr/>
          <p:nvPr/>
        </p:nvSpPr>
        <p:spPr>
          <a:xfrm>
            <a:off x="2423160" y="1719072"/>
            <a:ext cx="1600200" cy="1847088"/>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ud220_bkn26"/>
          <p:cNvSpPr txBox="1"/>
          <p:nvPr/>
        </p:nvSpPr>
        <p:spPr>
          <a:xfrm>
            <a:off x="2551176"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2</a:t>
            </a:r>
          </a:p>
        </p:txBody>
      </p:sp>
      <p:sp>
        <p:nvSpPr>
          <p:cNvPr id="28" name="a1ud220_bks27"/>
          <p:cNvSpPr txBox="1"/>
          <p:nvPr/>
        </p:nvSpPr>
        <p:spPr>
          <a:xfrm>
            <a:off x="2551176" y="2020824"/>
            <a:ext cx="1344168" cy="201168"/>
          </a:xfrm>
          <a:prstGeom prst="rect">
            <a:avLst/>
          </a:prstGeom>
          <a:noFill/>
        </p:spPr>
        <p:txBody>
          <a:bodyPr wrap="square" lIns="0" tIns="0" rIns="0" bIns="0" anchor="ctr">
            <a:spAutoFit/>
          </a:bodyPr>
          <a:lstStyle/>
          <a:p>
            <a:pPr algn="l"/>
            <a:r>
              <a:rPr sz="800" b="0">
                <a:solidFill>
                  <a:srgbClr val="0E7490"/>
                </a:solidFill>
                <a:latin typeface="Segoe UI"/>
              </a:rPr>
              <a:t>Kafka server</a:t>
            </a:r>
          </a:p>
        </p:txBody>
      </p:sp>
      <p:sp>
        <p:nvSpPr>
          <p:cNvPr id="29" name="a1ud220_dk28"/>
          <p:cNvSpPr/>
          <p:nvPr/>
        </p:nvSpPr>
        <p:spPr>
          <a:xfrm>
            <a:off x="2551176" y="3291840"/>
            <a:ext cx="1344168" cy="164592"/>
          </a:xfrm>
          <a:prstGeom prst="roundRect">
            <a:avLst>
              <a:gd name="adj" fmla="val 22222"/>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1ud220_dkt29"/>
          <p:cNvSpPr txBox="1"/>
          <p:nvPr/>
        </p:nvSpPr>
        <p:spPr>
          <a:xfrm>
            <a:off x="2551176" y="3291840"/>
            <a:ext cx="1344168" cy="164592"/>
          </a:xfrm>
          <a:prstGeom prst="rect">
            <a:avLst/>
          </a:prstGeom>
          <a:noFill/>
        </p:spPr>
        <p:txBody>
          <a:bodyPr wrap="square" lIns="0" tIns="0" rIns="0" bIns="0" anchor="ctr">
            <a:spAutoFit/>
          </a:bodyPr>
          <a:lstStyle/>
          <a:p>
            <a:pPr algn="ctr"/>
            <a:r>
              <a:rPr sz="750" b="0">
                <a:solidFill>
                  <a:srgbClr val="78716C"/>
                </a:solidFill>
                <a:latin typeface="Consolas"/>
              </a:rPr>
              <a:t>local SSD</a:t>
            </a:r>
          </a:p>
        </p:txBody>
      </p:sp>
      <p:sp>
        <p:nvSpPr>
          <p:cNvPr id="31" name="a2ud150_pt30"/>
          <p:cNvSpPr/>
          <p:nvPr/>
        </p:nvSpPr>
        <p:spPr>
          <a:xfrm>
            <a:off x="2551176" y="2322576"/>
            <a:ext cx="1344168" cy="365760"/>
          </a:xfrm>
          <a:prstGeom prst="roundRect">
            <a:avLst>
              <a:gd name="adj" fmla="val 12500"/>
            </a:avLst>
          </a:prstGeom>
          <a:solidFill>
            <a:srgbClr val="FFEDD5"/>
          </a:solidFill>
          <a:ln w="1270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2ud150_ptn31"/>
          <p:cNvSpPr txBox="1"/>
          <p:nvPr/>
        </p:nvSpPr>
        <p:spPr>
          <a:xfrm>
            <a:off x="2642616" y="2322576"/>
            <a:ext cx="365760" cy="365760"/>
          </a:xfrm>
          <a:prstGeom prst="rect">
            <a:avLst/>
          </a:prstGeom>
          <a:noFill/>
        </p:spPr>
        <p:txBody>
          <a:bodyPr wrap="square" lIns="0" tIns="0" rIns="0" bIns="0" anchor="ctr">
            <a:spAutoFit/>
          </a:bodyPr>
          <a:lstStyle/>
          <a:p>
            <a:pPr algn="l"/>
            <a:r>
              <a:rPr sz="1000" b="1">
                <a:solidFill>
                  <a:srgbClr val="C2410C"/>
                </a:solidFill>
                <a:latin typeface="Consolas"/>
              </a:rPr>
              <a:t>P1</a:t>
            </a:r>
          </a:p>
        </p:txBody>
      </p:sp>
      <p:sp>
        <p:nvSpPr>
          <p:cNvPr id="33" name="a2ud150_pc32"/>
          <p:cNvSpPr/>
          <p:nvPr/>
        </p:nvSpPr>
        <p:spPr>
          <a:xfrm>
            <a:off x="3072384"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2ud150_pc33"/>
          <p:cNvSpPr/>
          <p:nvPr/>
        </p:nvSpPr>
        <p:spPr>
          <a:xfrm>
            <a:off x="3264408"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2ud150_pc34"/>
          <p:cNvSpPr/>
          <p:nvPr/>
        </p:nvSpPr>
        <p:spPr>
          <a:xfrm>
            <a:off x="3456432"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2ud150_pc35"/>
          <p:cNvSpPr/>
          <p:nvPr/>
        </p:nvSpPr>
        <p:spPr>
          <a:xfrm>
            <a:off x="3648456" y="2423160"/>
            <a:ext cx="155448" cy="164592"/>
          </a:xfrm>
          <a:prstGeom prst="rect">
            <a:avLst/>
          </a:prstGeom>
          <a:solidFill>
            <a:srgbClr val="C2410C"/>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1ud340_bk36"/>
          <p:cNvSpPr/>
          <p:nvPr/>
        </p:nvSpPr>
        <p:spPr>
          <a:xfrm>
            <a:off x="4206240" y="1719072"/>
            <a:ext cx="1600200" cy="1847088"/>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1ud340_bkn37"/>
          <p:cNvSpPr txBox="1"/>
          <p:nvPr/>
        </p:nvSpPr>
        <p:spPr>
          <a:xfrm>
            <a:off x="4334255"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3</a:t>
            </a:r>
          </a:p>
        </p:txBody>
      </p:sp>
      <p:sp>
        <p:nvSpPr>
          <p:cNvPr id="39" name="a1ud340_bks38"/>
          <p:cNvSpPr txBox="1"/>
          <p:nvPr/>
        </p:nvSpPr>
        <p:spPr>
          <a:xfrm>
            <a:off x="4334255" y="2020824"/>
            <a:ext cx="1344168" cy="201168"/>
          </a:xfrm>
          <a:prstGeom prst="rect">
            <a:avLst/>
          </a:prstGeom>
          <a:noFill/>
        </p:spPr>
        <p:txBody>
          <a:bodyPr wrap="square" lIns="0" tIns="0" rIns="0" bIns="0" anchor="ctr">
            <a:spAutoFit/>
          </a:bodyPr>
          <a:lstStyle/>
          <a:p>
            <a:pPr algn="l"/>
            <a:r>
              <a:rPr sz="800" b="0">
                <a:solidFill>
                  <a:srgbClr val="0E7490"/>
                </a:solidFill>
                <a:latin typeface="Segoe UI"/>
              </a:rPr>
              <a:t>Kafka server</a:t>
            </a:r>
          </a:p>
        </p:txBody>
      </p:sp>
      <p:sp>
        <p:nvSpPr>
          <p:cNvPr id="40" name="a1ud340_dk39"/>
          <p:cNvSpPr/>
          <p:nvPr/>
        </p:nvSpPr>
        <p:spPr>
          <a:xfrm>
            <a:off x="4334255" y="3291840"/>
            <a:ext cx="1344168" cy="164592"/>
          </a:xfrm>
          <a:prstGeom prst="roundRect">
            <a:avLst>
              <a:gd name="adj" fmla="val 22222"/>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1ud340_dkt40"/>
          <p:cNvSpPr txBox="1"/>
          <p:nvPr/>
        </p:nvSpPr>
        <p:spPr>
          <a:xfrm>
            <a:off x="4334255" y="3291840"/>
            <a:ext cx="1344168" cy="164592"/>
          </a:xfrm>
          <a:prstGeom prst="rect">
            <a:avLst/>
          </a:prstGeom>
          <a:noFill/>
        </p:spPr>
        <p:txBody>
          <a:bodyPr wrap="square" lIns="0" tIns="0" rIns="0" bIns="0" anchor="ctr">
            <a:spAutoFit/>
          </a:bodyPr>
          <a:lstStyle/>
          <a:p>
            <a:pPr algn="ctr"/>
            <a:r>
              <a:rPr sz="750" b="0">
                <a:solidFill>
                  <a:srgbClr val="78716C"/>
                </a:solidFill>
                <a:latin typeface="Consolas"/>
              </a:rPr>
              <a:t>local SSD</a:t>
            </a:r>
          </a:p>
        </p:txBody>
      </p:sp>
      <p:sp>
        <p:nvSpPr>
          <p:cNvPr id="42" name="a2ud300_pt41"/>
          <p:cNvSpPr/>
          <p:nvPr/>
        </p:nvSpPr>
        <p:spPr>
          <a:xfrm>
            <a:off x="4334255" y="2322576"/>
            <a:ext cx="1344168" cy="365760"/>
          </a:xfrm>
          <a:prstGeom prst="roundRect">
            <a:avLst>
              <a:gd name="adj" fmla="val 12500"/>
            </a:avLst>
          </a:prstGeom>
          <a:solidFill>
            <a:srgbClr val="FFEDD5"/>
          </a:solidFill>
          <a:ln w="1270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2ud300_ptn42"/>
          <p:cNvSpPr txBox="1"/>
          <p:nvPr/>
        </p:nvSpPr>
        <p:spPr>
          <a:xfrm>
            <a:off x="4425695" y="2322576"/>
            <a:ext cx="365760" cy="365760"/>
          </a:xfrm>
          <a:prstGeom prst="rect">
            <a:avLst/>
          </a:prstGeom>
          <a:noFill/>
        </p:spPr>
        <p:txBody>
          <a:bodyPr wrap="square" lIns="0" tIns="0" rIns="0" bIns="0" anchor="ctr">
            <a:spAutoFit/>
          </a:bodyPr>
          <a:lstStyle/>
          <a:p>
            <a:pPr algn="l"/>
            <a:r>
              <a:rPr sz="1000" b="1">
                <a:solidFill>
                  <a:srgbClr val="C2410C"/>
                </a:solidFill>
                <a:latin typeface="Consolas"/>
              </a:rPr>
              <a:t>P2</a:t>
            </a:r>
          </a:p>
        </p:txBody>
      </p:sp>
      <p:sp>
        <p:nvSpPr>
          <p:cNvPr id="44" name="a2ud300_pc43"/>
          <p:cNvSpPr/>
          <p:nvPr/>
        </p:nvSpPr>
        <p:spPr>
          <a:xfrm>
            <a:off x="4855464"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2ud300_pc44"/>
          <p:cNvSpPr/>
          <p:nvPr/>
        </p:nvSpPr>
        <p:spPr>
          <a:xfrm>
            <a:off x="5047488"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2ud300_pc45"/>
          <p:cNvSpPr/>
          <p:nvPr/>
        </p:nvSpPr>
        <p:spPr>
          <a:xfrm>
            <a:off x="5239512"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2ud300_pc46"/>
          <p:cNvSpPr/>
          <p:nvPr/>
        </p:nvSpPr>
        <p:spPr>
          <a:xfrm>
            <a:off x="5431536" y="2423160"/>
            <a:ext cx="155448" cy="164592"/>
          </a:xfrm>
          <a:prstGeom prst="rect">
            <a:avLst/>
          </a:prstGeom>
          <a:solidFill>
            <a:srgbClr val="C2410C"/>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3u_dot47"/>
          <p:cNvSpPr/>
          <p:nvPr/>
        </p:nvSpPr>
        <p:spPr>
          <a:xfrm>
            <a:off x="6217920" y="144932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3u_b48"/>
          <p:cNvSpPr txBox="1"/>
          <p:nvPr/>
        </p:nvSpPr>
        <p:spPr>
          <a:xfrm>
            <a:off x="6437376" y="1353312"/>
            <a:ext cx="2249424" cy="566928"/>
          </a:xfrm>
          <a:prstGeom prst="rect">
            <a:avLst/>
          </a:prstGeom>
          <a:noFill/>
        </p:spPr>
        <p:txBody>
          <a:bodyPr wrap="square" lIns="0" tIns="0" rIns="0" bIns="0" anchor="t">
            <a:spAutoFit/>
          </a:bodyPr>
          <a:lstStyle/>
          <a:p>
            <a:pPr algn="l"/>
            <a:r>
              <a:rPr sz="950" b="1">
                <a:solidFill>
                  <a:srgbClr val="1C1917"/>
                </a:solidFill>
                <a:latin typeface="Segoe UI"/>
              </a:rPr>
              <a:t>3 brokers  </a:t>
            </a:r>
            <a:r>
              <a:rPr sz="950" b="0">
                <a:solidFill>
                  <a:srgbClr val="44403C"/>
                </a:solidFill>
                <a:latin typeface="Segoe UI"/>
              </a:rPr>
              <a:t>together form one Kafka cluster</a:t>
            </a:r>
          </a:p>
        </p:txBody>
      </p:sp>
      <p:sp>
        <p:nvSpPr>
          <p:cNvPr id="50" name="a3ud120_dot49"/>
          <p:cNvSpPr/>
          <p:nvPr/>
        </p:nvSpPr>
        <p:spPr>
          <a:xfrm>
            <a:off x="6217920" y="2052828"/>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3ud120_b50"/>
          <p:cNvSpPr txBox="1"/>
          <p:nvPr/>
        </p:nvSpPr>
        <p:spPr>
          <a:xfrm>
            <a:off x="6437376" y="1956816"/>
            <a:ext cx="2249424" cy="566928"/>
          </a:xfrm>
          <a:prstGeom prst="rect">
            <a:avLst/>
          </a:prstGeom>
          <a:noFill/>
        </p:spPr>
        <p:txBody>
          <a:bodyPr wrap="square" lIns="0" tIns="0" rIns="0" bIns="0" anchor="t">
            <a:spAutoFit/>
          </a:bodyPr>
          <a:lstStyle/>
          <a:p>
            <a:pPr algn="l"/>
            <a:r>
              <a:rPr sz="950" b="1">
                <a:solidFill>
                  <a:srgbClr val="1C1917"/>
                </a:solidFill>
                <a:latin typeface="Segoe UI"/>
              </a:rPr>
              <a:t>3 partitions  </a:t>
            </a:r>
            <a:r>
              <a:rPr sz="950" b="0">
                <a:solidFill>
                  <a:srgbClr val="44403C"/>
                </a:solidFill>
                <a:latin typeface="Segoe UI"/>
              </a:rPr>
              <a:t>thermostat_readings, one on each broker</a:t>
            </a:r>
          </a:p>
        </p:txBody>
      </p:sp>
      <p:sp>
        <p:nvSpPr>
          <p:cNvPr id="52" name="a3ud240_dot51"/>
          <p:cNvSpPr/>
          <p:nvPr/>
        </p:nvSpPr>
        <p:spPr>
          <a:xfrm>
            <a:off x="6217920" y="2656332"/>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3ud240_b52"/>
          <p:cNvSpPr txBox="1"/>
          <p:nvPr/>
        </p:nvSpPr>
        <p:spPr>
          <a:xfrm>
            <a:off x="6437376" y="2560320"/>
            <a:ext cx="2249424" cy="566928"/>
          </a:xfrm>
          <a:prstGeom prst="rect">
            <a:avLst/>
          </a:prstGeom>
          <a:noFill/>
        </p:spPr>
        <p:txBody>
          <a:bodyPr wrap="square" lIns="0" tIns="0" rIns="0" bIns="0" anchor="t">
            <a:spAutoFit/>
          </a:bodyPr>
          <a:lstStyle/>
          <a:p>
            <a:pPr algn="l"/>
            <a:r>
              <a:rPr sz="950" b="1">
                <a:solidFill>
                  <a:srgbClr val="1C1917"/>
                </a:solidFill>
                <a:latin typeface="Segoe UI"/>
              </a:rPr>
              <a:t>Need more?  </a:t>
            </a:r>
            <a:r>
              <a:rPr sz="950" b="0">
                <a:solidFill>
                  <a:srgbClr val="44403C"/>
                </a:solidFill>
                <a:latin typeface="Segoe UI"/>
              </a:rPr>
              <a:t>add brokers and spread partitions over them</a:t>
            </a:r>
          </a:p>
        </p:txBody>
      </p:sp>
      <p:sp>
        <p:nvSpPr>
          <p:cNvPr id="54" name="a4u_nb53"/>
          <p:cNvSpPr/>
          <p:nvPr/>
        </p:nvSpPr>
        <p:spPr>
          <a:xfrm>
            <a:off x="457200" y="3931920"/>
            <a:ext cx="8229600" cy="548640"/>
          </a:xfrm>
          <a:prstGeom prst="roundRect">
            <a:avLst>
              <a:gd name="adj" fmla="val 1333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4u_nacc54"/>
          <p:cNvSpPr/>
          <p:nvPr/>
        </p:nvSpPr>
        <p:spPr>
          <a:xfrm>
            <a:off x="457200" y="3931920"/>
            <a:ext cx="54864" cy="54864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4u_nt55"/>
          <p:cNvSpPr txBox="1"/>
          <p:nvPr/>
        </p:nvSpPr>
        <p:spPr>
          <a:xfrm>
            <a:off x="658368" y="3931920"/>
            <a:ext cx="7827264" cy="548640"/>
          </a:xfrm>
          <a:prstGeom prst="rect">
            <a:avLst/>
          </a:prstGeom>
          <a:noFill/>
        </p:spPr>
        <p:txBody>
          <a:bodyPr wrap="square" lIns="0" tIns="0" rIns="0" bIns="0" anchor="ctr">
            <a:spAutoFit/>
          </a:bodyPr>
          <a:lstStyle/>
          <a:p>
            <a:pPr algn="l"/>
            <a:r>
              <a:rPr sz="950" b="1">
                <a:solidFill>
                  <a:srgbClr val="0E7490"/>
                </a:solidFill>
                <a:latin typeface="Segoe UI"/>
              </a:rPr>
              <a:t>SCALE  </a:t>
            </a:r>
            <a:r>
              <a:rPr sz="950" b="0">
                <a:solidFill>
                  <a:srgbClr val="44403C"/>
                </a:solidFill>
                <a:latin typeface="Segoe UI"/>
              </a:rPr>
              <a:t>Spreading a topic's partitions over many brokers - that is how Kafka scales.</a:t>
            </a:r>
          </a:p>
        </p:txBody>
      </p:sp>
      <p:sp>
        <p:nvSpPr>
          <p:cNvPr id="57" name="ft56"/>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06</a:t>
            </a:r>
          </a:p>
        </p:txBody>
      </p:sp>
      <p:sp>
        <p:nvSpPr>
          <p:cNvPr id="58" name="ft57"/>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ft58"/>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Brokers</a:t>
            </a:r>
          </a:p>
        </p:txBody>
      </p:sp>
      <p:sp>
        <p:nvSpPr>
          <p:cNvPr id="60" name="ft59"/>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10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fill="hold"/>
                                        <p:tgtEl>
                                          <p:spTgt spid="15"/>
                                        </p:tgtEl>
                                        <p:attrNameLst>
                                          <p:attrName>ppt_x</p:attrName>
                                        </p:attrNameLst>
                                      </p:cBhvr>
                                      <p:tavLst>
                                        <p:tav tm="0">
                                          <p:val>
                                            <p:strVal val="#ppt_x"/>
                                          </p:val>
                                        </p:tav>
                                        <p:tav tm="100000">
                                          <p:val>
                                            <p:strVal val="#ppt_x"/>
                                          </p:val>
                                        </p:tav>
                                      </p:tavLst>
                                    </p:anim>
                                    <p:anim calcmode="lin" valueType="num">
                                      <p:cBhvr additive="base">
                                        <p:cTn id="17" dur="500" fill="hold"/>
                                        <p:tgtEl>
                                          <p:spTgt spid="15"/>
                                        </p:tgtEl>
                                        <p:attrNameLst>
                                          <p:attrName>ppt_y</p:attrName>
                                        </p:attrNameLst>
                                      </p:cBhvr>
                                      <p:tavLst>
                                        <p:tav tm="0">
                                          <p:val>
                                            <p:strVal val="#ppt_y+0.1"/>
                                          </p:val>
                                        </p:tav>
                                        <p:tav tm="100000">
                                          <p:val>
                                            <p:strVal val="#ppt_y"/>
                                          </p:val>
                                        </p:tav>
                                      </p:tavLst>
                                    </p:anim>
                                    <p:animEffect transition="in" filter="fade">
                                      <p:cBhvr>
                                        <p:cTn id="18" dur="500"/>
                                        <p:tgtEl>
                                          <p:spTgt spid="15"/>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ppt_x"/>
                                          </p:val>
                                        </p:tav>
                                        <p:tav tm="100000">
                                          <p:val>
                                            <p:strVal val="#ppt_x"/>
                                          </p:val>
                                        </p:tav>
                                      </p:tavLst>
                                    </p:anim>
                                    <p:anim calcmode="lin" valueType="num">
                                      <p:cBhvr additive="base">
                                        <p:cTn id="22" dur="500" fill="hold"/>
                                        <p:tgtEl>
                                          <p:spTgt spid="16"/>
                                        </p:tgtEl>
                                        <p:attrNameLst>
                                          <p:attrName>ppt_y</p:attrName>
                                        </p:attrNameLst>
                                      </p:cBhvr>
                                      <p:tavLst>
                                        <p:tav tm="0">
                                          <p:val>
                                            <p:strVal val="#ppt_y+0.1"/>
                                          </p:val>
                                        </p:tav>
                                        <p:tav tm="100000">
                                          <p:val>
                                            <p:strVal val="#ppt_y"/>
                                          </p:val>
                                        </p:tav>
                                      </p:tavLst>
                                    </p:anim>
                                    <p:animEffect transition="in" filter="fade">
                                      <p:cBhvr>
                                        <p:cTn id="23" dur="500"/>
                                        <p:tgtEl>
                                          <p:spTgt spid="16"/>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500" fill="hold"/>
                                        <p:tgtEl>
                                          <p:spTgt spid="17"/>
                                        </p:tgtEl>
                                        <p:attrNameLst>
                                          <p:attrName>ppt_x</p:attrName>
                                        </p:attrNameLst>
                                      </p:cBhvr>
                                      <p:tavLst>
                                        <p:tav tm="0">
                                          <p:val>
                                            <p:strVal val="#ppt_x"/>
                                          </p:val>
                                        </p:tav>
                                        <p:tav tm="100000">
                                          <p:val>
                                            <p:strVal val="#ppt_x"/>
                                          </p:val>
                                        </p:tav>
                                      </p:tavLst>
                                    </p:anim>
                                    <p:anim calcmode="lin" valueType="num">
                                      <p:cBhvr additive="base">
                                        <p:cTn id="27" dur="500" fill="hold"/>
                                        <p:tgtEl>
                                          <p:spTgt spid="17"/>
                                        </p:tgtEl>
                                        <p:attrNameLst>
                                          <p:attrName>ppt_y</p:attrName>
                                        </p:attrNameLst>
                                      </p:cBhvr>
                                      <p:tavLst>
                                        <p:tav tm="0">
                                          <p:val>
                                            <p:strVal val="#ppt_y+0.1"/>
                                          </p:val>
                                        </p:tav>
                                        <p:tav tm="100000">
                                          <p:val>
                                            <p:strVal val="#ppt_y"/>
                                          </p:val>
                                        </p:tav>
                                      </p:tavLst>
                                    </p:anim>
                                    <p:animEffect transition="in" filter="fade">
                                      <p:cBhvr>
                                        <p:cTn id="28" dur="500"/>
                                        <p:tgtEl>
                                          <p:spTgt spid="17"/>
                                        </p:tgtEl>
                                      </p:cBhvr>
                                    </p:animEffect>
                                  </p:childTnLst>
                                </p:cTn>
                              </p:par>
                              <p:par>
                                <p:cTn id="34" presetID="2" presetClass="entr" presetSubtype="4" fill="hold" grpId="0" nodeType="withEffect">
                                  <p:stCondLst>
                                    <p:cond delay="10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ppt_y+0.1"/>
                                          </p:val>
                                        </p:tav>
                                        <p:tav tm="100000">
                                          <p:val>
                                            <p:strVal val="#ppt_y"/>
                                          </p:val>
                                        </p:tav>
                                      </p:tavLst>
                                    </p:anim>
                                    <p:animEffect transition="in" filter="fade">
                                      <p:cBhvr>
                                        <p:cTn id="33" dur="500"/>
                                        <p:tgtEl>
                                          <p:spTgt spid="18"/>
                                        </p:tgtEl>
                                      </p:cBhvr>
                                    </p:animEffect>
                                  </p:childTnLst>
                                </p:cTn>
                              </p:par>
                              <p:par>
                                <p:cTn id="39" presetID="2" presetClass="entr" presetSubtype="4" fill="hold" grpId="0" nodeType="withEffect">
                                  <p:stCondLst>
                                    <p:cond delay="100"/>
                                  </p:stCondLst>
                                  <p:childTnLst>
                                    <p:set>
                                      <p:cBhvr>
                                        <p:cTn id="35" dur="1" fill="hold">
                                          <p:stCondLst>
                                            <p:cond delay="0"/>
                                          </p:stCondLst>
                                        </p:cTn>
                                        <p:tgtEl>
                                          <p:spTgt spid="19"/>
                                        </p:tgtEl>
                                        <p:attrNameLst>
                                          <p:attrName>style.visibility</p:attrName>
                                        </p:attrNameLst>
                                      </p:cBhvr>
                                      <p:to>
                                        <p:strVal val="visible"/>
                                      </p:to>
                                    </p:set>
                                    <p:anim calcmode="lin" valueType="num">
                                      <p:cBhvr additive="base">
                                        <p:cTn id="36" dur="500" fill="hold"/>
                                        <p:tgtEl>
                                          <p:spTgt spid="19"/>
                                        </p:tgtEl>
                                        <p:attrNameLst>
                                          <p:attrName>ppt_x</p:attrName>
                                        </p:attrNameLst>
                                      </p:cBhvr>
                                      <p:tavLst>
                                        <p:tav tm="0">
                                          <p:val>
                                            <p:strVal val="#ppt_x"/>
                                          </p:val>
                                        </p:tav>
                                        <p:tav tm="100000">
                                          <p:val>
                                            <p:strVal val="#ppt_x"/>
                                          </p:val>
                                        </p:tav>
                                      </p:tavLst>
                                    </p:anim>
                                    <p:anim calcmode="lin" valueType="num">
                                      <p:cBhvr additive="base">
                                        <p:cTn id="37" dur="500" fill="hold"/>
                                        <p:tgtEl>
                                          <p:spTgt spid="19"/>
                                        </p:tgtEl>
                                        <p:attrNameLst>
                                          <p:attrName>ppt_y</p:attrName>
                                        </p:attrNameLst>
                                      </p:cBhvr>
                                      <p:tavLst>
                                        <p:tav tm="0">
                                          <p:val>
                                            <p:strVal val="#ppt_y+0.1"/>
                                          </p:val>
                                        </p:tav>
                                        <p:tav tm="100000">
                                          <p:val>
                                            <p:strVal val="#ppt_y"/>
                                          </p:val>
                                        </p:tav>
                                      </p:tavLst>
                                    </p:anim>
                                    <p:animEffect transition="in" filter="fade">
                                      <p:cBhvr>
                                        <p:cTn id="38" dur="500"/>
                                        <p:tgtEl>
                                          <p:spTgt spid="19"/>
                                        </p:tgtEl>
                                      </p:cBhvr>
                                    </p:animEffect>
                                  </p:childTnLst>
                                </p:cTn>
                              </p:par>
                              <p:par>
                                <p:cTn id="44" presetID="2" presetClass="entr" presetSubtype="4" fill="hold" grpId="0" nodeType="withEffect">
                                  <p:stCondLst>
                                    <p:cond delay="220"/>
                                  </p:stCondLst>
                                  <p:childTnLst>
                                    <p:set>
                                      <p:cBhvr>
                                        <p:cTn id="40" dur="1" fill="hold">
                                          <p:stCondLst>
                                            <p:cond delay="0"/>
                                          </p:stCondLst>
                                        </p:cTn>
                                        <p:tgtEl>
                                          <p:spTgt spid="26"/>
                                        </p:tgtEl>
                                        <p:attrNameLst>
                                          <p:attrName>style.visibility</p:attrName>
                                        </p:attrNameLst>
                                      </p:cBhvr>
                                      <p:to>
                                        <p:strVal val="visible"/>
                                      </p:to>
                                    </p:set>
                                    <p:anim calcmode="lin" valueType="num">
                                      <p:cBhvr additive="base">
                                        <p:cTn id="41" dur="500" fill="hold"/>
                                        <p:tgtEl>
                                          <p:spTgt spid="26"/>
                                        </p:tgtEl>
                                        <p:attrNameLst>
                                          <p:attrName>ppt_x</p:attrName>
                                        </p:attrNameLst>
                                      </p:cBhvr>
                                      <p:tavLst>
                                        <p:tav tm="0">
                                          <p:val>
                                            <p:strVal val="#ppt_x"/>
                                          </p:val>
                                        </p:tav>
                                        <p:tav tm="100000">
                                          <p:val>
                                            <p:strVal val="#ppt_x"/>
                                          </p:val>
                                        </p:tav>
                                      </p:tavLst>
                                    </p:anim>
                                    <p:anim calcmode="lin" valueType="num">
                                      <p:cBhvr additive="base">
                                        <p:cTn id="42" dur="500" fill="hold"/>
                                        <p:tgtEl>
                                          <p:spTgt spid="26"/>
                                        </p:tgtEl>
                                        <p:attrNameLst>
                                          <p:attrName>ppt_y</p:attrName>
                                        </p:attrNameLst>
                                      </p:cBhvr>
                                      <p:tavLst>
                                        <p:tav tm="0">
                                          <p:val>
                                            <p:strVal val="#ppt_y+0.1"/>
                                          </p:val>
                                        </p:tav>
                                        <p:tav tm="100000">
                                          <p:val>
                                            <p:strVal val="#ppt_y"/>
                                          </p:val>
                                        </p:tav>
                                      </p:tavLst>
                                    </p:anim>
                                    <p:animEffect transition="in" filter="fade">
                                      <p:cBhvr>
                                        <p:cTn id="43" dur="500"/>
                                        <p:tgtEl>
                                          <p:spTgt spid="26"/>
                                        </p:tgtEl>
                                      </p:cBhvr>
                                    </p:animEffect>
                                  </p:childTnLst>
                                </p:cTn>
                              </p:par>
                              <p:par>
                                <p:cTn id="49" presetID="2" presetClass="entr" presetSubtype="4" fill="hold" grpId="0" nodeType="withEffect">
                                  <p:stCondLst>
                                    <p:cond delay="220"/>
                                  </p:stCondLst>
                                  <p:childTnLst>
                                    <p:set>
                                      <p:cBhvr>
                                        <p:cTn id="45" dur="1" fill="hold">
                                          <p:stCondLst>
                                            <p:cond delay="0"/>
                                          </p:stCondLst>
                                        </p:cTn>
                                        <p:tgtEl>
                                          <p:spTgt spid="27"/>
                                        </p:tgtEl>
                                        <p:attrNameLst>
                                          <p:attrName>style.visibility</p:attrName>
                                        </p:attrNameLst>
                                      </p:cBhvr>
                                      <p:to>
                                        <p:strVal val="visible"/>
                                      </p:to>
                                    </p:set>
                                    <p:anim calcmode="lin" valueType="num">
                                      <p:cBhvr additive="base">
                                        <p:cTn id="46" dur="500" fill="hold"/>
                                        <p:tgtEl>
                                          <p:spTgt spid="27"/>
                                        </p:tgtEl>
                                        <p:attrNameLst>
                                          <p:attrName>ppt_x</p:attrName>
                                        </p:attrNameLst>
                                      </p:cBhvr>
                                      <p:tavLst>
                                        <p:tav tm="0">
                                          <p:val>
                                            <p:strVal val="#ppt_x"/>
                                          </p:val>
                                        </p:tav>
                                        <p:tav tm="100000">
                                          <p:val>
                                            <p:strVal val="#ppt_x"/>
                                          </p:val>
                                        </p:tav>
                                      </p:tavLst>
                                    </p:anim>
                                    <p:anim calcmode="lin" valueType="num">
                                      <p:cBhvr additive="base">
                                        <p:cTn id="47" dur="500" fill="hold"/>
                                        <p:tgtEl>
                                          <p:spTgt spid="27"/>
                                        </p:tgtEl>
                                        <p:attrNameLst>
                                          <p:attrName>ppt_y</p:attrName>
                                        </p:attrNameLst>
                                      </p:cBhvr>
                                      <p:tavLst>
                                        <p:tav tm="0">
                                          <p:val>
                                            <p:strVal val="#ppt_y+0.1"/>
                                          </p:val>
                                        </p:tav>
                                        <p:tav tm="100000">
                                          <p:val>
                                            <p:strVal val="#ppt_y"/>
                                          </p:val>
                                        </p:tav>
                                      </p:tavLst>
                                    </p:anim>
                                    <p:animEffect transition="in" filter="fade">
                                      <p:cBhvr>
                                        <p:cTn id="48" dur="500"/>
                                        <p:tgtEl>
                                          <p:spTgt spid="27"/>
                                        </p:tgtEl>
                                      </p:cBhvr>
                                    </p:animEffect>
                                  </p:childTnLst>
                                </p:cTn>
                              </p:par>
                              <p:par>
                                <p:cTn id="54" presetID="2" presetClass="entr" presetSubtype="4" fill="hold" grpId="0" nodeType="withEffect">
                                  <p:stCondLst>
                                    <p:cond delay="220"/>
                                  </p:stCondLst>
                                  <p:childTnLst>
                                    <p:set>
                                      <p:cBhvr>
                                        <p:cTn id="50" dur="1" fill="hold">
                                          <p:stCondLst>
                                            <p:cond delay="0"/>
                                          </p:stCondLst>
                                        </p:cTn>
                                        <p:tgtEl>
                                          <p:spTgt spid="28"/>
                                        </p:tgtEl>
                                        <p:attrNameLst>
                                          <p:attrName>style.visibility</p:attrName>
                                        </p:attrNameLst>
                                      </p:cBhvr>
                                      <p:to>
                                        <p:strVal val="visible"/>
                                      </p:to>
                                    </p:set>
                                    <p:anim calcmode="lin" valueType="num">
                                      <p:cBhvr additive="base">
                                        <p:cTn id="51" dur="500" fill="hold"/>
                                        <p:tgtEl>
                                          <p:spTgt spid="28"/>
                                        </p:tgtEl>
                                        <p:attrNameLst>
                                          <p:attrName>ppt_x</p:attrName>
                                        </p:attrNameLst>
                                      </p:cBhvr>
                                      <p:tavLst>
                                        <p:tav tm="0">
                                          <p:val>
                                            <p:strVal val="#ppt_x"/>
                                          </p:val>
                                        </p:tav>
                                        <p:tav tm="100000">
                                          <p:val>
                                            <p:strVal val="#ppt_x"/>
                                          </p:val>
                                        </p:tav>
                                      </p:tavLst>
                                    </p:anim>
                                    <p:anim calcmode="lin" valueType="num">
                                      <p:cBhvr additive="base">
                                        <p:cTn id="52" dur="500" fill="hold"/>
                                        <p:tgtEl>
                                          <p:spTgt spid="28"/>
                                        </p:tgtEl>
                                        <p:attrNameLst>
                                          <p:attrName>ppt_y</p:attrName>
                                        </p:attrNameLst>
                                      </p:cBhvr>
                                      <p:tavLst>
                                        <p:tav tm="0">
                                          <p:val>
                                            <p:strVal val="#ppt_y+0.1"/>
                                          </p:val>
                                        </p:tav>
                                        <p:tav tm="100000">
                                          <p:val>
                                            <p:strVal val="#ppt_y"/>
                                          </p:val>
                                        </p:tav>
                                      </p:tavLst>
                                    </p:anim>
                                    <p:animEffect transition="in" filter="fade">
                                      <p:cBhvr>
                                        <p:cTn id="53" dur="500"/>
                                        <p:tgtEl>
                                          <p:spTgt spid="28"/>
                                        </p:tgtEl>
                                      </p:cBhvr>
                                    </p:animEffect>
                                  </p:childTnLst>
                                </p:cTn>
                              </p:par>
                              <p:par>
                                <p:cTn id="59" presetID="2" presetClass="entr" presetSubtype="4" fill="hold" grpId="0" nodeType="withEffect">
                                  <p:stCondLst>
                                    <p:cond delay="220"/>
                                  </p:stCondLst>
                                  <p:childTnLst>
                                    <p:set>
                                      <p:cBhvr>
                                        <p:cTn id="55" dur="1" fill="hold">
                                          <p:stCondLst>
                                            <p:cond delay="0"/>
                                          </p:stCondLst>
                                        </p:cTn>
                                        <p:tgtEl>
                                          <p:spTgt spid="29"/>
                                        </p:tgtEl>
                                        <p:attrNameLst>
                                          <p:attrName>style.visibility</p:attrName>
                                        </p:attrNameLst>
                                      </p:cBhvr>
                                      <p:to>
                                        <p:strVal val="visible"/>
                                      </p:to>
                                    </p:set>
                                    <p:anim calcmode="lin" valueType="num">
                                      <p:cBhvr additive="base">
                                        <p:cTn id="56" dur="500" fill="hold"/>
                                        <p:tgtEl>
                                          <p:spTgt spid="29"/>
                                        </p:tgtEl>
                                        <p:attrNameLst>
                                          <p:attrName>ppt_x</p:attrName>
                                        </p:attrNameLst>
                                      </p:cBhvr>
                                      <p:tavLst>
                                        <p:tav tm="0">
                                          <p:val>
                                            <p:strVal val="#ppt_x"/>
                                          </p:val>
                                        </p:tav>
                                        <p:tav tm="100000">
                                          <p:val>
                                            <p:strVal val="#ppt_x"/>
                                          </p:val>
                                        </p:tav>
                                      </p:tavLst>
                                    </p:anim>
                                    <p:anim calcmode="lin" valueType="num">
                                      <p:cBhvr additive="base">
                                        <p:cTn id="57" dur="500" fill="hold"/>
                                        <p:tgtEl>
                                          <p:spTgt spid="29"/>
                                        </p:tgtEl>
                                        <p:attrNameLst>
                                          <p:attrName>ppt_y</p:attrName>
                                        </p:attrNameLst>
                                      </p:cBhvr>
                                      <p:tavLst>
                                        <p:tav tm="0">
                                          <p:val>
                                            <p:strVal val="#ppt_y+0.1"/>
                                          </p:val>
                                        </p:tav>
                                        <p:tav tm="100000">
                                          <p:val>
                                            <p:strVal val="#ppt_y"/>
                                          </p:val>
                                        </p:tav>
                                      </p:tavLst>
                                    </p:anim>
                                    <p:animEffect transition="in" filter="fade">
                                      <p:cBhvr>
                                        <p:cTn id="58" dur="500"/>
                                        <p:tgtEl>
                                          <p:spTgt spid="29"/>
                                        </p:tgtEl>
                                      </p:cBhvr>
                                    </p:animEffect>
                                  </p:childTnLst>
                                </p:cTn>
                              </p:par>
                              <p:par>
                                <p:cTn id="64" presetID="2" presetClass="entr" presetSubtype="4" fill="hold" grpId="0" nodeType="withEffect">
                                  <p:stCondLst>
                                    <p:cond delay="220"/>
                                  </p:stCondLst>
                                  <p:childTnLst>
                                    <p:set>
                                      <p:cBhvr>
                                        <p:cTn id="60" dur="1" fill="hold">
                                          <p:stCondLst>
                                            <p:cond delay="0"/>
                                          </p:stCondLst>
                                        </p:cTn>
                                        <p:tgtEl>
                                          <p:spTgt spid="30"/>
                                        </p:tgtEl>
                                        <p:attrNameLst>
                                          <p:attrName>style.visibility</p:attrName>
                                        </p:attrNameLst>
                                      </p:cBhvr>
                                      <p:to>
                                        <p:strVal val="visible"/>
                                      </p:to>
                                    </p:set>
                                    <p:anim calcmode="lin" valueType="num">
                                      <p:cBhvr additive="base">
                                        <p:cTn id="61" dur="500" fill="hold"/>
                                        <p:tgtEl>
                                          <p:spTgt spid="30"/>
                                        </p:tgtEl>
                                        <p:attrNameLst>
                                          <p:attrName>ppt_x</p:attrName>
                                        </p:attrNameLst>
                                      </p:cBhvr>
                                      <p:tavLst>
                                        <p:tav tm="0">
                                          <p:val>
                                            <p:strVal val="#ppt_x"/>
                                          </p:val>
                                        </p:tav>
                                        <p:tav tm="100000">
                                          <p:val>
                                            <p:strVal val="#ppt_x"/>
                                          </p:val>
                                        </p:tav>
                                      </p:tavLst>
                                    </p:anim>
                                    <p:anim calcmode="lin" valueType="num">
                                      <p:cBhvr additive="base">
                                        <p:cTn id="62" dur="500" fill="hold"/>
                                        <p:tgtEl>
                                          <p:spTgt spid="30"/>
                                        </p:tgtEl>
                                        <p:attrNameLst>
                                          <p:attrName>ppt_y</p:attrName>
                                        </p:attrNameLst>
                                      </p:cBhvr>
                                      <p:tavLst>
                                        <p:tav tm="0">
                                          <p:val>
                                            <p:strVal val="#ppt_y+0.1"/>
                                          </p:val>
                                        </p:tav>
                                        <p:tav tm="100000">
                                          <p:val>
                                            <p:strVal val="#ppt_y"/>
                                          </p:val>
                                        </p:tav>
                                      </p:tavLst>
                                    </p:anim>
                                    <p:animEffect transition="in" filter="fade">
                                      <p:cBhvr>
                                        <p:cTn id="63" dur="500"/>
                                        <p:tgtEl>
                                          <p:spTgt spid="30"/>
                                        </p:tgtEl>
                                      </p:cBhvr>
                                    </p:animEffect>
                                  </p:childTnLst>
                                </p:cTn>
                              </p:par>
                              <p:par>
                                <p:cTn id="69" presetID="2" presetClass="entr" presetSubtype="4" fill="hold" grpId="0" nodeType="withEffect">
                                  <p:stCondLst>
                                    <p:cond delay="340"/>
                                  </p:stCondLst>
                                  <p:childTnLst>
                                    <p:set>
                                      <p:cBhvr>
                                        <p:cTn id="65" dur="1" fill="hold">
                                          <p:stCondLst>
                                            <p:cond delay="0"/>
                                          </p:stCondLst>
                                        </p:cTn>
                                        <p:tgtEl>
                                          <p:spTgt spid="37"/>
                                        </p:tgtEl>
                                        <p:attrNameLst>
                                          <p:attrName>style.visibility</p:attrName>
                                        </p:attrNameLst>
                                      </p:cBhvr>
                                      <p:to>
                                        <p:strVal val="visible"/>
                                      </p:to>
                                    </p:set>
                                    <p:anim calcmode="lin" valueType="num">
                                      <p:cBhvr additive="base">
                                        <p:cTn id="66" dur="500" fill="hold"/>
                                        <p:tgtEl>
                                          <p:spTgt spid="37"/>
                                        </p:tgtEl>
                                        <p:attrNameLst>
                                          <p:attrName>ppt_x</p:attrName>
                                        </p:attrNameLst>
                                      </p:cBhvr>
                                      <p:tavLst>
                                        <p:tav tm="0">
                                          <p:val>
                                            <p:strVal val="#ppt_x"/>
                                          </p:val>
                                        </p:tav>
                                        <p:tav tm="100000">
                                          <p:val>
                                            <p:strVal val="#ppt_x"/>
                                          </p:val>
                                        </p:tav>
                                      </p:tavLst>
                                    </p:anim>
                                    <p:anim calcmode="lin" valueType="num">
                                      <p:cBhvr additive="base">
                                        <p:cTn id="67" dur="500" fill="hold"/>
                                        <p:tgtEl>
                                          <p:spTgt spid="37"/>
                                        </p:tgtEl>
                                        <p:attrNameLst>
                                          <p:attrName>ppt_y</p:attrName>
                                        </p:attrNameLst>
                                      </p:cBhvr>
                                      <p:tavLst>
                                        <p:tav tm="0">
                                          <p:val>
                                            <p:strVal val="#ppt_y+0.1"/>
                                          </p:val>
                                        </p:tav>
                                        <p:tav tm="100000">
                                          <p:val>
                                            <p:strVal val="#ppt_y"/>
                                          </p:val>
                                        </p:tav>
                                      </p:tavLst>
                                    </p:anim>
                                    <p:animEffect transition="in" filter="fade">
                                      <p:cBhvr>
                                        <p:cTn id="68" dur="500"/>
                                        <p:tgtEl>
                                          <p:spTgt spid="37"/>
                                        </p:tgtEl>
                                      </p:cBhvr>
                                    </p:animEffect>
                                  </p:childTnLst>
                                </p:cTn>
                              </p:par>
                              <p:par>
                                <p:cTn id="74" presetID="2" presetClass="entr" presetSubtype="4" fill="hold" grpId="0" nodeType="withEffect">
                                  <p:stCondLst>
                                    <p:cond delay="340"/>
                                  </p:stCondLst>
                                  <p:childTnLst>
                                    <p:set>
                                      <p:cBhvr>
                                        <p:cTn id="70" dur="1" fill="hold">
                                          <p:stCondLst>
                                            <p:cond delay="0"/>
                                          </p:stCondLst>
                                        </p:cTn>
                                        <p:tgtEl>
                                          <p:spTgt spid="38"/>
                                        </p:tgtEl>
                                        <p:attrNameLst>
                                          <p:attrName>style.visibility</p:attrName>
                                        </p:attrNameLst>
                                      </p:cBhvr>
                                      <p:to>
                                        <p:strVal val="visible"/>
                                      </p:to>
                                    </p:set>
                                    <p:anim calcmode="lin" valueType="num">
                                      <p:cBhvr additive="base">
                                        <p:cTn id="71" dur="500" fill="hold"/>
                                        <p:tgtEl>
                                          <p:spTgt spid="38"/>
                                        </p:tgtEl>
                                        <p:attrNameLst>
                                          <p:attrName>ppt_x</p:attrName>
                                        </p:attrNameLst>
                                      </p:cBhvr>
                                      <p:tavLst>
                                        <p:tav tm="0">
                                          <p:val>
                                            <p:strVal val="#ppt_x"/>
                                          </p:val>
                                        </p:tav>
                                        <p:tav tm="100000">
                                          <p:val>
                                            <p:strVal val="#ppt_x"/>
                                          </p:val>
                                        </p:tav>
                                      </p:tavLst>
                                    </p:anim>
                                    <p:anim calcmode="lin" valueType="num">
                                      <p:cBhvr additive="base">
                                        <p:cTn id="72" dur="500" fill="hold"/>
                                        <p:tgtEl>
                                          <p:spTgt spid="38"/>
                                        </p:tgtEl>
                                        <p:attrNameLst>
                                          <p:attrName>ppt_y</p:attrName>
                                        </p:attrNameLst>
                                      </p:cBhvr>
                                      <p:tavLst>
                                        <p:tav tm="0">
                                          <p:val>
                                            <p:strVal val="#ppt_y+0.1"/>
                                          </p:val>
                                        </p:tav>
                                        <p:tav tm="100000">
                                          <p:val>
                                            <p:strVal val="#ppt_y"/>
                                          </p:val>
                                        </p:tav>
                                      </p:tavLst>
                                    </p:anim>
                                    <p:animEffect transition="in" filter="fade">
                                      <p:cBhvr>
                                        <p:cTn id="73" dur="500"/>
                                        <p:tgtEl>
                                          <p:spTgt spid="38"/>
                                        </p:tgtEl>
                                      </p:cBhvr>
                                    </p:animEffect>
                                  </p:childTnLst>
                                </p:cTn>
                              </p:par>
                              <p:par>
                                <p:cTn id="79" presetID="2" presetClass="entr" presetSubtype="4" fill="hold" grpId="0" nodeType="withEffect">
                                  <p:stCondLst>
                                    <p:cond delay="340"/>
                                  </p:stCondLst>
                                  <p:childTnLst>
                                    <p:set>
                                      <p:cBhvr>
                                        <p:cTn id="75" dur="1" fill="hold">
                                          <p:stCondLst>
                                            <p:cond delay="0"/>
                                          </p:stCondLst>
                                        </p:cTn>
                                        <p:tgtEl>
                                          <p:spTgt spid="39"/>
                                        </p:tgtEl>
                                        <p:attrNameLst>
                                          <p:attrName>style.visibility</p:attrName>
                                        </p:attrNameLst>
                                      </p:cBhvr>
                                      <p:to>
                                        <p:strVal val="visible"/>
                                      </p:to>
                                    </p:set>
                                    <p:anim calcmode="lin" valueType="num">
                                      <p:cBhvr additive="base">
                                        <p:cTn id="76" dur="500" fill="hold"/>
                                        <p:tgtEl>
                                          <p:spTgt spid="39"/>
                                        </p:tgtEl>
                                        <p:attrNameLst>
                                          <p:attrName>ppt_x</p:attrName>
                                        </p:attrNameLst>
                                      </p:cBhvr>
                                      <p:tavLst>
                                        <p:tav tm="0">
                                          <p:val>
                                            <p:strVal val="#ppt_x"/>
                                          </p:val>
                                        </p:tav>
                                        <p:tav tm="100000">
                                          <p:val>
                                            <p:strVal val="#ppt_x"/>
                                          </p:val>
                                        </p:tav>
                                      </p:tavLst>
                                    </p:anim>
                                    <p:anim calcmode="lin" valueType="num">
                                      <p:cBhvr additive="base">
                                        <p:cTn id="77" dur="500" fill="hold"/>
                                        <p:tgtEl>
                                          <p:spTgt spid="39"/>
                                        </p:tgtEl>
                                        <p:attrNameLst>
                                          <p:attrName>ppt_y</p:attrName>
                                        </p:attrNameLst>
                                      </p:cBhvr>
                                      <p:tavLst>
                                        <p:tav tm="0">
                                          <p:val>
                                            <p:strVal val="#ppt_y+0.1"/>
                                          </p:val>
                                        </p:tav>
                                        <p:tav tm="100000">
                                          <p:val>
                                            <p:strVal val="#ppt_y"/>
                                          </p:val>
                                        </p:tav>
                                      </p:tavLst>
                                    </p:anim>
                                    <p:animEffect transition="in" filter="fade">
                                      <p:cBhvr>
                                        <p:cTn id="78" dur="500"/>
                                        <p:tgtEl>
                                          <p:spTgt spid="39"/>
                                        </p:tgtEl>
                                      </p:cBhvr>
                                    </p:animEffect>
                                  </p:childTnLst>
                                </p:cTn>
                              </p:par>
                              <p:par>
                                <p:cTn id="84" presetID="2" presetClass="entr" presetSubtype="4" fill="hold" grpId="0" nodeType="withEffect">
                                  <p:stCondLst>
                                    <p:cond delay="340"/>
                                  </p:stCondLst>
                                  <p:childTnLst>
                                    <p:set>
                                      <p:cBhvr>
                                        <p:cTn id="80" dur="1" fill="hold">
                                          <p:stCondLst>
                                            <p:cond delay="0"/>
                                          </p:stCondLst>
                                        </p:cTn>
                                        <p:tgtEl>
                                          <p:spTgt spid="40"/>
                                        </p:tgtEl>
                                        <p:attrNameLst>
                                          <p:attrName>style.visibility</p:attrName>
                                        </p:attrNameLst>
                                      </p:cBhvr>
                                      <p:to>
                                        <p:strVal val="visible"/>
                                      </p:to>
                                    </p:set>
                                    <p:anim calcmode="lin" valueType="num">
                                      <p:cBhvr additive="base">
                                        <p:cTn id="81" dur="500" fill="hold"/>
                                        <p:tgtEl>
                                          <p:spTgt spid="40"/>
                                        </p:tgtEl>
                                        <p:attrNameLst>
                                          <p:attrName>ppt_x</p:attrName>
                                        </p:attrNameLst>
                                      </p:cBhvr>
                                      <p:tavLst>
                                        <p:tav tm="0">
                                          <p:val>
                                            <p:strVal val="#ppt_x"/>
                                          </p:val>
                                        </p:tav>
                                        <p:tav tm="100000">
                                          <p:val>
                                            <p:strVal val="#ppt_x"/>
                                          </p:val>
                                        </p:tav>
                                      </p:tavLst>
                                    </p:anim>
                                    <p:anim calcmode="lin" valueType="num">
                                      <p:cBhvr additive="base">
                                        <p:cTn id="82" dur="500" fill="hold"/>
                                        <p:tgtEl>
                                          <p:spTgt spid="40"/>
                                        </p:tgtEl>
                                        <p:attrNameLst>
                                          <p:attrName>ppt_y</p:attrName>
                                        </p:attrNameLst>
                                      </p:cBhvr>
                                      <p:tavLst>
                                        <p:tav tm="0">
                                          <p:val>
                                            <p:strVal val="#ppt_y+0.1"/>
                                          </p:val>
                                        </p:tav>
                                        <p:tav tm="100000">
                                          <p:val>
                                            <p:strVal val="#ppt_y"/>
                                          </p:val>
                                        </p:tav>
                                      </p:tavLst>
                                    </p:anim>
                                    <p:animEffect transition="in" filter="fade">
                                      <p:cBhvr>
                                        <p:cTn id="83" dur="500"/>
                                        <p:tgtEl>
                                          <p:spTgt spid="40"/>
                                        </p:tgtEl>
                                      </p:cBhvr>
                                    </p:animEffect>
                                  </p:childTnLst>
                                </p:cTn>
                              </p:par>
                              <p:par>
                                <p:cTn id="89" presetID="2" presetClass="entr" presetSubtype="4" fill="hold" grpId="0" nodeType="withEffect">
                                  <p:stCondLst>
                                    <p:cond delay="340"/>
                                  </p:stCondLst>
                                  <p:childTnLst>
                                    <p:set>
                                      <p:cBhvr>
                                        <p:cTn id="85" dur="1" fill="hold">
                                          <p:stCondLst>
                                            <p:cond delay="0"/>
                                          </p:stCondLst>
                                        </p:cTn>
                                        <p:tgtEl>
                                          <p:spTgt spid="41"/>
                                        </p:tgtEl>
                                        <p:attrNameLst>
                                          <p:attrName>style.visibility</p:attrName>
                                        </p:attrNameLst>
                                      </p:cBhvr>
                                      <p:to>
                                        <p:strVal val="visible"/>
                                      </p:to>
                                    </p:set>
                                    <p:anim calcmode="lin" valueType="num">
                                      <p:cBhvr additive="base">
                                        <p:cTn id="86" dur="500" fill="hold"/>
                                        <p:tgtEl>
                                          <p:spTgt spid="41"/>
                                        </p:tgtEl>
                                        <p:attrNameLst>
                                          <p:attrName>ppt_x</p:attrName>
                                        </p:attrNameLst>
                                      </p:cBhvr>
                                      <p:tavLst>
                                        <p:tav tm="0">
                                          <p:val>
                                            <p:strVal val="#ppt_x"/>
                                          </p:val>
                                        </p:tav>
                                        <p:tav tm="100000">
                                          <p:val>
                                            <p:strVal val="#ppt_x"/>
                                          </p:val>
                                        </p:tav>
                                      </p:tavLst>
                                    </p:anim>
                                    <p:anim calcmode="lin" valueType="num">
                                      <p:cBhvr additive="base">
                                        <p:cTn id="87" dur="500" fill="hold"/>
                                        <p:tgtEl>
                                          <p:spTgt spid="41"/>
                                        </p:tgtEl>
                                        <p:attrNameLst>
                                          <p:attrName>ppt_y</p:attrName>
                                        </p:attrNameLst>
                                      </p:cBhvr>
                                      <p:tavLst>
                                        <p:tav tm="0">
                                          <p:val>
                                            <p:strVal val="#ppt_y+0.1"/>
                                          </p:val>
                                        </p:tav>
                                        <p:tav tm="100000">
                                          <p:val>
                                            <p:strVal val="#ppt_y"/>
                                          </p:val>
                                        </p:tav>
                                      </p:tavLst>
                                    </p:anim>
                                    <p:animEffect transition="in" filter="fade">
                                      <p:cBhvr>
                                        <p:cTn id="88" dur="500"/>
                                        <p:tgtEl>
                                          <p:spTgt spid="41"/>
                                        </p:tgtEl>
                                      </p:cBhvr>
                                    </p:animEffect>
                                  </p:childTnLst>
                                </p:cTn>
                              </p:par>
                            </p:childTnLst>
                          </p:cTn>
                        </p:par>
                      </p:childTnLst>
                    </p:cTn>
                  </p:par>
                  <p:par>
                    <p:cTn id="90" fill="hold">
                      <p:stCondLst>
                        <p:cond delay="indefinite"/>
                      </p:stCondLst>
                      <p:childTnLst>
                        <p:par>
                          <p:cTn id="91" fill="hold">
                            <p:stCondLst>
                              <p:cond delay="0"/>
                            </p:stCondLst>
                            <p:childTnLst>
                              <p:par>
                                <p:cTn id="96" presetID="2" presetClass="entr" presetSubtype="4" fill="hold" grpId="0" nodeType="clickEffect">
                                  <p:stCondLst>
                                    <p:cond delay="0"/>
                                  </p:stCondLst>
                                  <p:childTnLst>
                                    <p:set>
                                      <p:cBhvr>
                                        <p:cTn id="92" dur="1" fill="hold">
                                          <p:stCondLst>
                                            <p:cond delay="0"/>
                                          </p:stCondLst>
                                        </p:cTn>
                                        <p:tgtEl>
                                          <p:spTgt spid="13"/>
                                        </p:tgtEl>
                                        <p:attrNameLst>
                                          <p:attrName>style.visibility</p:attrName>
                                        </p:attrNameLst>
                                      </p:cBhvr>
                                      <p:to>
                                        <p:strVal val="visible"/>
                                      </p:to>
                                    </p:set>
                                    <p:anim calcmode="lin" valueType="num">
                                      <p:cBhvr additive="base">
                                        <p:cTn id="93" dur="500" fill="hold"/>
                                        <p:tgtEl>
                                          <p:spTgt spid="13"/>
                                        </p:tgtEl>
                                        <p:attrNameLst>
                                          <p:attrName>ppt_x</p:attrName>
                                        </p:attrNameLst>
                                      </p:cBhvr>
                                      <p:tavLst>
                                        <p:tav tm="0">
                                          <p:val>
                                            <p:strVal val="#ppt_x"/>
                                          </p:val>
                                        </p:tav>
                                        <p:tav tm="100000">
                                          <p:val>
                                            <p:strVal val="#ppt_x"/>
                                          </p:val>
                                        </p:tav>
                                      </p:tavLst>
                                    </p:anim>
                                    <p:anim calcmode="lin" valueType="num">
                                      <p:cBhvr additive="base">
                                        <p:cTn id="94" dur="500" fill="hold"/>
                                        <p:tgtEl>
                                          <p:spTgt spid="13"/>
                                        </p:tgtEl>
                                        <p:attrNameLst>
                                          <p:attrName>ppt_y</p:attrName>
                                        </p:attrNameLst>
                                      </p:cBhvr>
                                      <p:tavLst>
                                        <p:tav tm="0">
                                          <p:val>
                                            <p:strVal val="#ppt_y+0.1"/>
                                          </p:val>
                                        </p:tav>
                                        <p:tav tm="100000">
                                          <p:val>
                                            <p:strVal val="#ppt_y"/>
                                          </p:val>
                                        </p:tav>
                                      </p:tavLst>
                                    </p:anim>
                                    <p:animEffect transition="in" filter="fade">
                                      <p:cBhvr>
                                        <p:cTn id="95" dur="500"/>
                                        <p:tgtEl>
                                          <p:spTgt spid="13"/>
                                        </p:tgtEl>
                                      </p:cBhvr>
                                    </p:animEffect>
                                  </p:childTnLst>
                                </p:cTn>
                              </p:par>
                              <p:par>
                                <p:cTn id="101" presetID="2" presetClass="entr" presetSubtype="4" fill="hold" grpId="0" nodeType="withEffect">
                                  <p:stCondLst>
                                    <p:cond delay="0"/>
                                  </p:stCondLst>
                                  <p:childTnLst>
                                    <p:set>
                                      <p:cBhvr>
                                        <p:cTn id="97" dur="1" fill="hold">
                                          <p:stCondLst>
                                            <p:cond delay="0"/>
                                          </p:stCondLst>
                                        </p:cTn>
                                        <p:tgtEl>
                                          <p:spTgt spid="14"/>
                                        </p:tgtEl>
                                        <p:attrNameLst>
                                          <p:attrName>style.visibility</p:attrName>
                                        </p:attrNameLst>
                                      </p:cBhvr>
                                      <p:to>
                                        <p:strVal val="visible"/>
                                      </p:to>
                                    </p:set>
                                    <p:anim calcmode="lin" valueType="num">
                                      <p:cBhvr additive="base">
                                        <p:cTn id="98" dur="500" fill="hold"/>
                                        <p:tgtEl>
                                          <p:spTgt spid="14"/>
                                        </p:tgtEl>
                                        <p:attrNameLst>
                                          <p:attrName>ppt_x</p:attrName>
                                        </p:attrNameLst>
                                      </p:cBhvr>
                                      <p:tavLst>
                                        <p:tav tm="0">
                                          <p:val>
                                            <p:strVal val="#ppt_x"/>
                                          </p:val>
                                        </p:tav>
                                        <p:tav tm="100000">
                                          <p:val>
                                            <p:strVal val="#ppt_x"/>
                                          </p:val>
                                        </p:tav>
                                      </p:tavLst>
                                    </p:anim>
                                    <p:anim calcmode="lin" valueType="num">
                                      <p:cBhvr additive="base">
                                        <p:cTn id="99" dur="500" fill="hold"/>
                                        <p:tgtEl>
                                          <p:spTgt spid="14"/>
                                        </p:tgtEl>
                                        <p:attrNameLst>
                                          <p:attrName>ppt_y</p:attrName>
                                        </p:attrNameLst>
                                      </p:cBhvr>
                                      <p:tavLst>
                                        <p:tav tm="0">
                                          <p:val>
                                            <p:strVal val="#ppt_y+0.1"/>
                                          </p:val>
                                        </p:tav>
                                        <p:tav tm="100000">
                                          <p:val>
                                            <p:strVal val="#ppt_y"/>
                                          </p:val>
                                        </p:tav>
                                      </p:tavLst>
                                    </p:anim>
                                    <p:animEffect transition="in" filter="fade">
                                      <p:cBhvr>
                                        <p:cTn id="100" dur="500"/>
                                        <p:tgtEl>
                                          <p:spTgt spid="14"/>
                                        </p:tgtEl>
                                      </p:cBhvr>
                                    </p:animEffect>
                                  </p:childTnLst>
                                </p:cTn>
                              </p:par>
                              <p:par>
                                <p:cTn id="106" presetID="2" presetClass="entr" presetSubtype="4" fill="hold" grpId="0" nodeType="withEffect">
                                  <p:stCondLst>
                                    <p:cond delay="0"/>
                                  </p:stCondLst>
                                  <p:childTnLst>
                                    <p:set>
                                      <p:cBhvr>
                                        <p:cTn id="102" dur="1" fill="hold">
                                          <p:stCondLst>
                                            <p:cond delay="0"/>
                                          </p:stCondLst>
                                        </p:cTn>
                                        <p:tgtEl>
                                          <p:spTgt spid="20"/>
                                        </p:tgtEl>
                                        <p:attrNameLst>
                                          <p:attrName>style.visibility</p:attrName>
                                        </p:attrNameLst>
                                      </p:cBhvr>
                                      <p:to>
                                        <p:strVal val="visible"/>
                                      </p:to>
                                    </p:set>
                                    <p:anim calcmode="lin" valueType="num">
                                      <p:cBhvr additive="base">
                                        <p:cTn id="103" dur="500" fill="hold"/>
                                        <p:tgtEl>
                                          <p:spTgt spid="20"/>
                                        </p:tgtEl>
                                        <p:attrNameLst>
                                          <p:attrName>ppt_x</p:attrName>
                                        </p:attrNameLst>
                                      </p:cBhvr>
                                      <p:tavLst>
                                        <p:tav tm="0">
                                          <p:val>
                                            <p:strVal val="#ppt_x"/>
                                          </p:val>
                                        </p:tav>
                                        <p:tav tm="100000">
                                          <p:val>
                                            <p:strVal val="#ppt_x"/>
                                          </p:val>
                                        </p:tav>
                                      </p:tavLst>
                                    </p:anim>
                                    <p:anim calcmode="lin" valueType="num">
                                      <p:cBhvr additive="base">
                                        <p:cTn id="104" dur="500" fill="hold"/>
                                        <p:tgtEl>
                                          <p:spTgt spid="20"/>
                                        </p:tgtEl>
                                        <p:attrNameLst>
                                          <p:attrName>ppt_y</p:attrName>
                                        </p:attrNameLst>
                                      </p:cBhvr>
                                      <p:tavLst>
                                        <p:tav tm="0">
                                          <p:val>
                                            <p:strVal val="#ppt_y+0.1"/>
                                          </p:val>
                                        </p:tav>
                                        <p:tav tm="100000">
                                          <p:val>
                                            <p:strVal val="#ppt_y"/>
                                          </p:val>
                                        </p:tav>
                                      </p:tavLst>
                                    </p:anim>
                                    <p:animEffect transition="in" filter="fade">
                                      <p:cBhvr>
                                        <p:cTn id="105" dur="500"/>
                                        <p:tgtEl>
                                          <p:spTgt spid="20"/>
                                        </p:tgtEl>
                                      </p:cBhvr>
                                    </p:animEffect>
                                  </p:childTnLst>
                                </p:cTn>
                              </p:par>
                              <p:par>
                                <p:cTn id="111" presetID="2" presetClass="entr" presetSubtype="4" fill="hold" grpId="0" nodeType="withEffect">
                                  <p:stCondLst>
                                    <p:cond delay="0"/>
                                  </p:stCondLst>
                                  <p:childTnLst>
                                    <p:set>
                                      <p:cBhvr>
                                        <p:cTn id="107" dur="1" fill="hold">
                                          <p:stCondLst>
                                            <p:cond delay="0"/>
                                          </p:stCondLst>
                                        </p:cTn>
                                        <p:tgtEl>
                                          <p:spTgt spid="21"/>
                                        </p:tgtEl>
                                        <p:attrNameLst>
                                          <p:attrName>style.visibility</p:attrName>
                                        </p:attrNameLst>
                                      </p:cBhvr>
                                      <p:to>
                                        <p:strVal val="visible"/>
                                      </p:to>
                                    </p:set>
                                    <p:anim calcmode="lin" valueType="num">
                                      <p:cBhvr additive="base">
                                        <p:cTn id="108" dur="500" fill="hold"/>
                                        <p:tgtEl>
                                          <p:spTgt spid="21"/>
                                        </p:tgtEl>
                                        <p:attrNameLst>
                                          <p:attrName>ppt_x</p:attrName>
                                        </p:attrNameLst>
                                      </p:cBhvr>
                                      <p:tavLst>
                                        <p:tav tm="0">
                                          <p:val>
                                            <p:strVal val="#ppt_x"/>
                                          </p:val>
                                        </p:tav>
                                        <p:tav tm="100000">
                                          <p:val>
                                            <p:strVal val="#ppt_x"/>
                                          </p:val>
                                        </p:tav>
                                      </p:tavLst>
                                    </p:anim>
                                    <p:anim calcmode="lin" valueType="num">
                                      <p:cBhvr additive="base">
                                        <p:cTn id="109" dur="500" fill="hold"/>
                                        <p:tgtEl>
                                          <p:spTgt spid="21"/>
                                        </p:tgtEl>
                                        <p:attrNameLst>
                                          <p:attrName>ppt_y</p:attrName>
                                        </p:attrNameLst>
                                      </p:cBhvr>
                                      <p:tavLst>
                                        <p:tav tm="0">
                                          <p:val>
                                            <p:strVal val="#ppt_y+0.1"/>
                                          </p:val>
                                        </p:tav>
                                        <p:tav tm="100000">
                                          <p:val>
                                            <p:strVal val="#ppt_y"/>
                                          </p:val>
                                        </p:tav>
                                      </p:tavLst>
                                    </p:anim>
                                    <p:animEffect transition="in" filter="fade">
                                      <p:cBhvr>
                                        <p:cTn id="110" dur="500"/>
                                        <p:tgtEl>
                                          <p:spTgt spid="21"/>
                                        </p:tgtEl>
                                      </p:cBhvr>
                                    </p:animEffect>
                                  </p:childTnLst>
                                </p:cTn>
                              </p:par>
                              <p:par>
                                <p:cTn id="116" presetID="2" presetClass="entr" presetSubtype="4" fill="hold" grpId="0" nodeType="withEffect">
                                  <p:stCondLst>
                                    <p:cond delay="0"/>
                                  </p:stCondLst>
                                  <p:childTnLst>
                                    <p:set>
                                      <p:cBhvr>
                                        <p:cTn id="112" dur="1" fill="hold">
                                          <p:stCondLst>
                                            <p:cond delay="0"/>
                                          </p:stCondLst>
                                        </p:cTn>
                                        <p:tgtEl>
                                          <p:spTgt spid="22"/>
                                        </p:tgtEl>
                                        <p:attrNameLst>
                                          <p:attrName>style.visibility</p:attrName>
                                        </p:attrNameLst>
                                      </p:cBhvr>
                                      <p:to>
                                        <p:strVal val="visible"/>
                                      </p:to>
                                    </p:set>
                                    <p:anim calcmode="lin" valueType="num">
                                      <p:cBhvr additive="base">
                                        <p:cTn id="113" dur="500" fill="hold"/>
                                        <p:tgtEl>
                                          <p:spTgt spid="22"/>
                                        </p:tgtEl>
                                        <p:attrNameLst>
                                          <p:attrName>ppt_x</p:attrName>
                                        </p:attrNameLst>
                                      </p:cBhvr>
                                      <p:tavLst>
                                        <p:tav tm="0">
                                          <p:val>
                                            <p:strVal val="#ppt_x"/>
                                          </p:val>
                                        </p:tav>
                                        <p:tav tm="100000">
                                          <p:val>
                                            <p:strVal val="#ppt_x"/>
                                          </p:val>
                                        </p:tav>
                                      </p:tavLst>
                                    </p:anim>
                                    <p:anim calcmode="lin" valueType="num">
                                      <p:cBhvr additive="base">
                                        <p:cTn id="114" dur="500" fill="hold"/>
                                        <p:tgtEl>
                                          <p:spTgt spid="22"/>
                                        </p:tgtEl>
                                        <p:attrNameLst>
                                          <p:attrName>ppt_y</p:attrName>
                                        </p:attrNameLst>
                                      </p:cBhvr>
                                      <p:tavLst>
                                        <p:tav tm="0">
                                          <p:val>
                                            <p:strVal val="#ppt_y+0.1"/>
                                          </p:val>
                                        </p:tav>
                                        <p:tav tm="100000">
                                          <p:val>
                                            <p:strVal val="#ppt_y"/>
                                          </p:val>
                                        </p:tav>
                                      </p:tavLst>
                                    </p:anim>
                                    <p:animEffect transition="in" filter="fade">
                                      <p:cBhvr>
                                        <p:cTn id="115" dur="500"/>
                                        <p:tgtEl>
                                          <p:spTgt spid="22"/>
                                        </p:tgtEl>
                                      </p:cBhvr>
                                    </p:animEffect>
                                  </p:childTnLst>
                                </p:cTn>
                              </p:par>
                              <p:par>
                                <p:cTn id="121" presetID="2" presetClass="entr" presetSubtype="4" fill="hold" grpId="0" nodeType="withEffect">
                                  <p:stCondLst>
                                    <p:cond delay="0"/>
                                  </p:stCondLst>
                                  <p:childTnLst>
                                    <p:set>
                                      <p:cBhvr>
                                        <p:cTn id="117" dur="1" fill="hold">
                                          <p:stCondLst>
                                            <p:cond delay="0"/>
                                          </p:stCondLst>
                                        </p:cTn>
                                        <p:tgtEl>
                                          <p:spTgt spid="23"/>
                                        </p:tgtEl>
                                        <p:attrNameLst>
                                          <p:attrName>style.visibility</p:attrName>
                                        </p:attrNameLst>
                                      </p:cBhvr>
                                      <p:to>
                                        <p:strVal val="visible"/>
                                      </p:to>
                                    </p:set>
                                    <p:anim calcmode="lin" valueType="num">
                                      <p:cBhvr additive="base">
                                        <p:cTn id="118" dur="500" fill="hold"/>
                                        <p:tgtEl>
                                          <p:spTgt spid="23"/>
                                        </p:tgtEl>
                                        <p:attrNameLst>
                                          <p:attrName>ppt_x</p:attrName>
                                        </p:attrNameLst>
                                      </p:cBhvr>
                                      <p:tavLst>
                                        <p:tav tm="0">
                                          <p:val>
                                            <p:strVal val="#ppt_x"/>
                                          </p:val>
                                        </p:tav>
                                        <p:tav tm="100000">
                                          <p:val>
                                            <p:strVal val="#ppt_x"/>
                                          </p:val>
                                        </p:tav>
                                      </p:tavLst>
                                    </p:anim>
                                    <p:anim calcmode="lin" valueType="num">
                                      <p:cBhvr additive="base">
                                        <p:cTn id="119" dur="500" fill="hold"/>
                                        <p:tgtEl>
                                          <p:spTgt spid="23"/>
                                        </p:tgtEl>
                                        <p:attrNameLst>
                                          <p:attrName>ppt_y</p:attrName>
                                        </p:attrNameLst>
                                      </p:cBhvr>
                                      <p:tavLst>
                                        <p:tav tm="0">
                                          <p:val>
                                            <p:strVal val="#ppt_y+0.1"/>
                                          </p:val>
                                        </p:tav>
                                        <p:tav tm="100000">
                                          <p:val>
                                            <p:strVal val="#ppt_y"/>
                                          </p:val>
                                        </p:tav>
                                      </p:tavLst>
                                    </p:anim>
                                    <p:animEffect transition="in" filter="fade">
                                      <p:cBhvr>
                                        <p:cTn id="120" dur="500"/>
                                        <p:tgtEl>
                                          <p:spTgt spid="23"/>
                                        </p:tgtEl>
                                      </p:cBhvr>
                                    </p:animEffect>
                                  </p:childTnLst>
                                </p:cTn>
                              </p:par>
                              <p:par>
                                <p:cTn id="126" presetID="2" presetClass="entr" presetSubtype="4" fill="hold" grpId="0" nodeType="withEffect">
                                  <p:stCondLst>
                                    <p:cond delay="0"/>
                                  </p:stCondLst>
                                  <p:childTnLst>
                                    <p:set>
                                      <p:cBhvr>
                                        <p:cTn id="122" dur="1" fill="hold">
                                          <p:stCondLst>
                                            <p:cond delay="0"/>
                                          </p:stCondLst>
                                        </p:cTn>
                                        <p:tgtEl>
                                          <p:spTgt spid="24"/>
                                        </p:tgtEl>
                                        <p:attrNameLst>
                                          <p:attrName>style.visibility</p:attrName>
                                        </p:attrNameLst>
                                      </p:cBhvr>
                                      <p:to>
                                        <p:strVal val="visible"/>
                                      </p:to>
                                    </p:set>
                                    <p:anim calcmode="lin" valueType="num">
                                      <p:cBhvr additive="base">
                                        <p:cTn id="123" dur="500" fill="hold"/>
                                        <p:tgtEl>
                                          <p:spTgt spid="24"/>
                                        </p:tgtEl>
                                        <p:attrNameLst>
                                          <p:attrName>ppt_x</p:attrName>
                                        </p:attrNameLst>
                                      </p:cBhvr>
                                      <p:tavLst>
                                        <p:tav tm="0">
                                          <p:val>
                                            <p:strVal val="#ppt_x"/>
                                          </p:val>
                                        </p:tav>
                                        <p:tav tm="100000">
                                          <p:val>
                                            <p:strVal val="#ppt_x"/>
                                          </p:val>
                                        </p:tav>
                                      </p:tavLst>
                                    </p:anim>
                                    <p:anim calcmode="lin" valueType="num">
                                      <p:cBhvr additive="base">
                                        <p:cTn id="124" dur="500" fill="hold"/>
                                        <p:tgtEl>
                                          <p:spTgt spid="24"/>
                                        </p:tgtEl>
                                        <p:attrNameLst>
                                          <p:attrName>ppt_y</p:attrName>
                                        </p:attrNameLst>
                                      </p:cBhvr>
                                      <p:tavLst>
                                        <p:tav tm="0">
                                          <p:val>
                                            <p:strVal val="#ppt_y+0.1"/>
                                          </p:val>
                                        </p:tav>
                                        <p:tav tm="100000">
                                          <p:val>
                                            <p:strVal val="#ppt_y"/>
                                          </p:val>
                                        </p:tav>
                                      </p:tavLst>
                                    </p:anim>
                                    <p:animEffect transition="in" filter="fade">
                                      <p:cBhvr>
                                        <p:cTn id="125" dur="500"/>
                                        <p:tgtEl>
                                          <p:spTgt spid="24"/>
                                        </p:tgtEl>
                                      </p:cBhvr>
                                    </p:animEffect>
                                  </p:childTnLst>
                                </p:cTn>
                              </p:par>
                              <p:par>
                                <p:cTn id="131" presetID="2" presetClass="entr" presetSubtype="4" fill="hold" grpId="0" nodeType="withEffect">
                                  <p:stCondLst>
                                    <p:cond delay="0"/>
                                  </p:stCondLst>
                                  <p:childTnLst>
                                    <p:set>
                                      <p:cBhvr>
                                        <p:cTn id="127" dur="1" fill="hold">
                                          <p:stCondLst>
                                            <p:cond delay="0"/>
                                          </p:stCondLst>
                                        </p:cTn>
                                        <p:tgtEl>
                                          <p:spTgt spid="25"/>
                                        </p:tgtEl>
                                        <p:attrNameLst>
                                          <p:attrName>style.visibility</p:attrName>
                                        </p:attrNameLst>
                                      </p:cBhvr>
                                      <p:to>
                                        <p:strVal val="visible"/>
                                      </p:to>
                                    </p:set>
                                    <p:anim calcmode="lin" valueType="num">
                                      <p:cBhvr additive="base">
                                        <p:cTn id="128" dur="500" fill="hold"/>
                                        <p:tgtEl>
                                          <p:spTgt spid="25"/>
                                        </p:tgtEl>
                                        <p:attrNameLst>
                                          <p:attrName>ppt_x</p:attrName>
                                        </p:attrNameLst>
                                      </p:cBhvr>
                                      <p:tavLst>
                                        <p:tav tm="0">
                                          <p:val>
                                            <p:strVal val="#ppt_x"/>
                                          </p:val>
                                        </p:tav>
                                        <p:tav tm="100000">
                                          <p:val>
                                            <p:strVal val="#ppt_x"/>
                                          </p:val>
                                        </p:tav>
                                      </p:tavLst>
                                    </p:anim>
                                    <p:anim calcmode="lin" valueType="num">
                                      <p:cBhvr additive="base">
                                        <p:cTn id="129" dur="500" fill="hold"/>
                                        <p:tgtEl>
                                          <p:spTgt spid="25"/>
                                        </p:tgtEl>
                                        <p:attrNameLst>
                                          <p:attrName>ppt_y</p:attrName>
                                        </p:attrNameLst>
                                      </p:cBhvr>
                                      <p:tavLst>
                                        <p:tav tm="0">
                                          <p:val>
                                            <p:strVal val="#ppt_y+0.1"/>
                                          </p:val>
                                        </p:tav>
                                        <p:tav tm="100000">
                                          <p:val>
                                            <p:strVal val="#ppt_y"/>
                                          </p:val>
                                        </p:tav>
                                      </p:tavLst>
                                    </p:anim>
                                    <p:animEffect transition="in" filter="fade">
                                      <p:cBhvr>
                                        <p:cTn id="130" dur="500"/>
                                        <p:tgtEl>
                                          <p:spTgt spid="25"/>
                                        </p:tgtEl>
                                      </p:cBhvr>
                                    </p:animEffect>
                                  </p:childTnLst>
                                </p:cTn>
                              </p:par>
                              <p:par>
                                <p:cTn id="136" presetID="2" presetClass="entr" presetSubtype="4" fill="hold" grpId="0" nodeType="withEffect">
                                  <p:stCondLst>
                                    <p:cond delay="150"/>
                                  </p:stCondLst>
                                  <p:childTnLst>
                                    <p:set>
                                      <p:cBhvr>
                                        <p:cTn id="132" dur="1" fill="hold">
                                          <p:stCondLst>
                                            <p:cond delay="0"/>
                                          </p:stCondLst>
                                        </p:cTn>
                                        <p:tgtEl>
                                          <p:spTgt spid="31"/>
                                        </p:tgtEl>
                                        <p:attrNameLst>
                                          <p:attrName>style.visibility</p:attrName>
                                        </p:attrNameLst>
                                      </p:cBhvr>
                                      <p:to>
                                        <p:strVal val="visible"/>
                                      </p:to>
                                    </p:set>
                                    <p:anim calcmode="lin" valueType="num">
                                      <p:cBhvr additive="base">
                                        <p:cTn id="133" dur="500" fill="hold"/>
                                        <p:tgtEl>
                                          <p:spTgt spid="31"/>
                                        </p:tgtEl>
                                        <p:attrNameLst>
                                          <p:attrName>ppt_x</p:attrName>
                                        </p:attrNameLst>
                                      </p:cBhvr>
                                      <p:tavLst>
                                        <p:tav tm="0">
                                          <p:val>
                                            <p:strVal val="#ppt_x"/>
                                          </p:val>
                                        </p:tav>
                                        <p:tav tm="100000">
                                          <p:val>
                                            <p:strVal val="#ppt_x"/>
                                          </p:val>
                                        </p:tav>
                                      </p:tavLst>
                                    </p:anim>
                                    <p:anim calcmode="lin" valueType="num">
                                      <p:cBhvr additive="base">
                                        <p:cTn id="134" dur="500" fill="hold"/>
                                        <p:tgtEl>
                                          <p:spTgt spid="31"/>
                                        </p:tgtEl>
                                        <p:attrNameLst>
                                          <p:attrName>ppt_y</p:attrName>
                                        </p:attrNameLst>
                                      </p:cBhvr>
                                      <p:tavLst>
                                        <p:tav tm="0">
                                          <p:val>
                                            <p:strVal val="#ppt_y+0.1"/>
                                          </p:val>
                                        </p:tav>
                                        <p:tav tm="100000">
                                          <p:val>
                                            <p:strVal val="#ppt_y"/>
                                          </p:val>
                                        </p:tav>
                                      </p:tavLst>
                                    </p:anim>
                                    <p:animEffect transition="in" filter="fade">
                                      <p:cBhvr>
                                        <p:cTn id="135" dur="500"/>
                                        <p:tgtEl>
                                          <p:spTgt spid="31"/>
                                        </p:tgtEl>
                                      </p:cBhvr>
                                    </p:animEffect>
                                  </p:childTnLst>
                                </p:cTn>
                              </p:par>
                              <p:par>
                                <p:cTn id="141" presetID="2" presetClass="entr" presetSubtype="4" fill="hold" grpId="0" nodeType="withEffect">
                                  <p:stCondLst>
                                    <p:cond delay="150"/>
                                  </p:stCondLst>
                                  <p:childTnLst>
                                    <p:set>
                                      <p:cBhvr>
                                        <p:cTn id="137" dur="1" fill="hold">
                                          <p:stCondLst>
                                            <p:cond delay="0"/>
                                          </p:stCondLst>
                                        </p:cTn>
                                        <p:tgtEl>
                                          <p:spTgt spid="32"/>
                                        </p:tgtEl>
                                        <p:attrNameLst>
                                          <p:attrName>style.visibility</p:attrName>
                                        </p:attrNameLst>
                                      </p:cBhvr>
                                      <p:to>
                                        <p:strVal val="visible"/>
                                      </p:to>
                                    </p:set>
                                    <p:anim calcmode="lin" valueType="num">
                                      <p:cBhvr additive="base">
                                        <p:cTn id="138" dur="500" fill="hold"/>
                                        <p:tgtEl>
                                          <p:spTgt spid="32"/>
                                        </p:tgtEl>
                                        <p:attrNameLst>
                                          <p:attrName>ppt_x</p:attrName>
                                        </p:attrNameLst>
                                      </p:cBhvr>
                                      <p:tavLst>
                                        <p:tav tm="0">
                                          <p:val>
                                            <p:strVal val="#ppt_x"/>
                                          </p:val>
                                        </p:tav>
                                        <p:tav tm="100000">
                                          <p:val>
                                            <p:strVal val="#ppt_x"/>
                                          </p:val>
                                        </p:tav>
                                      </p:tavLst>
                                    </p:anim>
                                    <p:anim calcmode="lin" valueType="num">
                                      <p:cBhvr additive="base">
                                        <p:cTn id="139" dur="500" fill="hold"/>
                                        <p:tgtEl>
                                          <p:spTgt spid="32"/>
                                        </p:tgtEl>
                                        <p:attrNameLst>
                                          <p:attrName>ppt_y</p:attrName>
                                        </p:attrNameLst>
                                      </p:cBhvr>
                                      <p:tavLst>
                                        <p:tav tm="0">
                                          <p:val>
                                            <p:strVal val="#ppt_y+0.1"/>
                                          </p:val>
                                        </p:tav>
                                        <p:tav tm="100000">
                                          <p:val>
                                            <p:strVal val="#ppt_y"/>
                                          </p:val>
                                        </p:tav>
                                      </p:tavLst>
                                    </p:anim>
                                    <p:animEffect transition="in" filter="fade">
                                      <p:cBhvr>
                                        <p:cTn id="140" dur="500"/>
                                        <p:tgtEl>
                                          <p:spTgt spid="32"/>
                                        </p:tgtEl>
                                      </p:cBhvr>
                                    </p:animEffect>
                                  </p:childTnLst>
                                </p:cTn>
                              </p:par>
                              <p:par>
                                <p:cTn id="146" presetID="2" presetClass="entr" presetSubtype="4" fill="hold" grpId="0" nodeType="withEffect">
                                  <p:stCondLst>
                                    <p:cond delay="150"/>
                                  </p:stCondLst>
                                  <p:childTnLst>
                                    <p:set>
                                      <p:cBhvr>
                                        <p:cTn id="142" dur="1" fill="hold">
                                          <p:stCondLst>
                                            <p:cond delay="0"/>
                                          </p:stCondLst>
                                        </p:cTn>
                                        <p:tgtEl>
                                          <p:spTgt spid="33"/>
                                        </p:tgtEl>
                                        <p:attrNameLst>
                                          <p:attrName>style.visibility</p:attrName>
                                        </p:attrNameLst>
                                      </p:cBhvr>
                                      <p:to>
                                        <p:strVal val="visible"/>
                                      </p:to>
                                    </p:set>
                                    <p:anim calcmode="lin" valueType="num">
                                      <p:cBhvr additive="base">
                                        <p:cTn id="143" dur="500" fill="hold"/>
                                        <p:tgtEl>
                                          <p:spTgt spid="33"/>
                                        </p:tgtEl>
                                        <p:attrNameLst>
                                          <p:attrName>ppt_x</p:attrName>
                                        </p:attrNameLst>
                                      </p:cBhvr>
                                      <p:tavLst>
                                        <p:tav tm="0">
                                          <p:val>
                                            <p:strVal val="#ppt_x"/>
                                          </p:val>
                                        </p:tav>
                                        <p:tav tm="100000">
                                          <p:val>
                                            <p:strVal val="#ppt_x"/>
                                          </p:val>
                                        </p:tav>
                                      </p:tavLst>
                                    </p:anim>
                                    <p:anim calcmode="lin" valueType="num">
                                      <p:cBhvr additive="base">
                                        <p:cTn id="144" dur="500" fill="hold"/>
                                        <p:tgtEl>
                                          <p:spTgt spid="33"/>
                                        </p:tgtEl>
                                        <p:attrNameLst>
                                          <p:attrName>ppt_y</p:attrName>
                                        </p:attrNameLst>
                                      </p:cBhvr>
                                      <p:tavLst>
                                        <p:tav tm="0">
                                          <p:val>
                                            <p:strVal val="#ppt_y+0.1"/>
                                          </p:val>
                                        </p:tav>
                                        <p:tav tm="100000">
                                          <p:val>
                                            <p:strVal val="#ppt_y"/>
                                          </p:val>
                                        </p:tav>
                                      </p:tavLst>
                                    </p:anim>
                                    <p:animEffect transition="in" filter="fade">
                                      <p:cBhvr>
                                        <p:cTn id="145" dur="500"/>
                                        <p:tgtEl>
                                          <p:spTgt spid="33"/>
                                        </p:tgtEl>
                                      </p:cBhvr>
                                    </p:animEffect>
                                  </p:childTnLst>
                                </p:cTn>
                              </p:par>
                              <p:par>
                                <p:cTn id="151" presetID="2" presetClass="entr" presetSubtype="4" fill="hold" grpId="0" nodeType="withEffect">
                                  <p:stCondLst>
                                    <p:cond delay="150"/>
                                  </p:stCondLst>
                                  <p:childTnLst>
                                    <p:set>
                                      <p:cBhvr>
                                        <p:cTn id="147" dur="1" fill="hold">
                                          <p:stCondLst>
                                            <p:cond delay="0"/>
                                          </p:stCondLst>
                                        </p:cTn>
                                        <p:tgtEl>
                                          <p:spTgt spid="34"/>
                                        </p:tgtEl>
                                        <p:attrNameLst>
                                          <p:attrName>style.visibility</p:attrName>
                                        </p:attrNameLst>
                                      </p:cBhvr>
                                      <p:to>
                                        <p:strVal val="visible"/>
                                      </p:to>
                                    </p:set>
                                    <p:anim calcmode="lin" valueType="num">
                                      <p:cBhvr additive="base">
                                        <p:cTn id="148" dur="500" fill="hold"/>
                                        <p:tgtEl>
                                          <p:spTgt spid="34"/>
                                        </p:tgtEl>
                                        <p:attrNameLst>
                                          <p:attrName>ppt_x</p:attrName>
                                        </p:attrNameLst>
                                      </p:cBhvr>
                                      <p:tavLst>
                                        <p:tav tm="0">
                                          <p:val>
                                            <p:strVal val="#ppt_x"/>
                                          </p:val>
                                        </p:tav>
                                        <p:tav tm="100000">
                                          <p:val>
                                            <p:strVal val="#ppt_x"/>
                                          </p:val>
                                        </p:tav>
                                      </p:tavLst>
                                    </p:anim>
                                    <p:anim calcmode="lin" valueType="num">
                                      <p:cBhvr additive="base">
                                        <p:cTn id="149" dur="500" fill="hold"/>
                                        <p:tgtEl>
                                          <p:spTgt spid="34"/>
                                        </p:tgtEl>
                                        <p:attrNameLst>
                                          <p:attrName>ppt_y</p:attrName>
                                        </p:attrNameLst>
                                      </p:cBhvr>
                                      <p:tavLst>
                                        <p:tav tm="0">
                                          <p:val>
                                            <p:strVal val="#ppt_y+0.1"/>
                                          </p:val>
                                        </p:tav>
                                        <p:tav tm="100000">
                                          <p:val>
                                            <p:strVal val="#ppt_y"/>
                                          </p:val>
                                        </p:tav>
                                      </p:tavLst>
                                    </p:anim>
                                    <p:animEffect transition="in" filter="fade">
                                      <p:cBhvr>
                                        <p:cTn id="150" dur="500"/>
                                        <p:tgtEl>
                                          <p:spTgt spid="34"/>
                                        </p:tgtEl>
                                      </p:cBhvr>
                                    </p:animEffect>
                                  </p:childTnLst>
                                </p:cTn>
                              </p:par>
                              <p:par>
                                <p:cTn id="156" presetID="2" presetClass="entr" presetSubtype="4" fill="hold" grpId="0" nodeType="withEffect">
                                  <p:stCondLst>
                                    <p:cond delay="150"/>
                                  </p:stCondLst>
                                  <p:childTnLst>
                                    <p:set>
                                      <p:cBhvr>
                                        <p:cTn id="152" dur="1" fill="hold">
                                          <p:stCondLst>
                                            <p:cond delay="0"/>
                                          </p:stCondLst>
                                        </p:cTn>
                                        <p:tgtEl>
                                          <p:spTgt spid="35"/>
                                        </p:tgtEl>
                                        <p:attrNameLst>
                                          <p:attrName>style.visibility</p:attrName>
                                        </p:attrNameLst>
                                      </p:cBhvr>
                                      <p:to>
                                        <p:strVal val="visible"/>
                                      </p:to>
                                    </p:set>
                                    <p:anim calcmode="lin" valueType="num">
                                      <p:cBhvr additive="base">
                                        <p:cTn id="153" dur="500" fill="hold"/>
                                        <p:tgtEl>
                                          <p:spTgt spid="35"/>
                                        </p:tgtEl>
                                        <p:attrNameLst>
                                          <p:attrName>ppt_x</p:attrName>
                                        </p:attrNameLst>
                                      </p:cBhvr>
                                      <p:tavLst>
                                        <p:tav tm="0">
                                          <p:val>
                                            <p:strVal val="#ppt_x"/>
                                          </p:val>
                                        </p:tav>
                                        <p:tav tm="100000">
                                          <p:val>
                                            <p:strVal val="#ppt_x"/>
                                          </p:val>
                                        </p:tav>
                                      </p:tavLst>
                                    </p:anim>
                                    <p:anim calcmode="lin" valueType="num">
                                      <p:cBhvr additive="base">
                                        <p:cTn id="154" dur="500" fill="hold"/>
                                        <p:tgtEl>
                                          <p:spTgt spid="35"/>
                                        </p:tgtEl>
                                        <p:attrNameLst>
                                          <p:attrName>ppt_y</p:attrName>
                                        </p:attrNameLst>
                                      </p:cBhvr>
                                      <p:tavLst>
                                        <p:tav tm="0">
                                          <p:val>
                                            <p:strVal val="#ppt_y+0.1"/>
                                          </p:val>
                                        </p:tav>
                                        <p:tav tm="100000">
                                          <p:val>
                                            <p:strVal val="#ppt_y"/>
                                          </p:val>
                                        </p:tav>
                                      </p:tavLst>
                                    </p:anim>
                                    <p:animEffect transition="in" filter="fade">
                                      <p:cBhvr>
                                        <p:cTn id="155" dur="500"/>
                                        <p:tgtEl>
                                          <p:spTgt spid="35"/>
                                        </p:tgtEl>
                                      </p:cBhvr>
                                    </p:animEffect>
                                  </p:childTnLst>
                                </p:cTn>
                              </p:par>
                              <p:par>
                                <p:cTn id="161" presetID="2" presetClass="entr" presetSubtype="4" fill="hold" grpId="0" nodeType="withEffect">
                                  <p:stCondLst>
                                    <p:cond delay="150"/>
                                  </p:stCondLst>
                                  <p:childTnLst>
                                    <p:set>
                                      <p:cBhvr>
                                        <p:cTn id="157" dur="1" fill="hold">
                                          <p:stCondLst>
                                            <p:cond delay="0"/>
                                          </p:stCondLst>
                                        </p:cTn>
                                        <p:tgtEl>
                                          <p:spTgt spid="36"/>
                                        </p:tgtEl>
                                        <p:attrNameLst>
                                          <p:attrName>style.visibility</p:attrName>
                                        </p:attrNameLst>
                                      </p:cBhvr>
                                      <p:to>
                                        <p:strVal val="visible"/>
                                      </p:to>
                                    </p:set>
                                    <p:anim calcmode="lin" valueType="num">
                                      <p:cBhvr additive="base">
                                        <p:cTn id="158" dur="500" fill="hold"/>
                                        <p:tgtEl>
                                          <p:spTgt spid="36"/>
                                        </p:tgtEl>
                                        <p:attrNameLst>
                                          <p:attrName>ppt_x</p:attrName>
                                        </p:attrNameLst>
                                      </p:cBhvr>
                                      <p:tavLst>
                                        <p:tav tm="0">
                                          <p:val>
                                            <p:strVal val="#ppt_x"/>
                                          </p:val>
                                        </p:tav>
                                        <p:tav tm="100000">
                                          <p:val>
                                            <p:strVal val="#ppt_x"/>
                                          </p:val>
                                        </p:tav>
                                      </p:tavLst>
                                    </p:anim>
                                    <p:anim calcmode="lin" valueType="num">
                                      <p:cBhvr additive="base">
                                        <p:cTn id="159" dur="500" fill="hold"/>
                                        <p:tgtEl>
                                          <p:spTgt spid="36"/>
                                        </p:tgtEl>
                                        <p:attrNameLst>
                                          <p:attrName>ppt_y</p:attrName>
                                        </p:attrNameLst>
                                      </p:cBhvr>
                                      <p:tavLst>
                                        <p:tav tm="0">
                                          <p:val>
                                            <p:strVal val="#ppt_y+0.1"/>
                                          </p:val>
                                        </p:tav>
                                        <p:tav tm="100000">
                                          <p:val>
                                            <p:strVal val="#ppt_y"/>
                                          </p:val>
                                        </p:tav>
                                      </p:tavLst>
                                    </p:anim>
                                    <p:animEffect transition="in" filter="fade">
                                      <p:cBhvr>
                                        <p:cTn id="160" dur="500"/>
                                        <p:tgtEl>
                                          <p:spTgt spid="36"/>
                                        </p:tgtEl>
                                      </p:cBhvr>
                                    </p:animEffect>
                                  </p:childTnLst>
                                </p:cTn>
                              </p:par>
                              <p:par>
                                <p:cTn id="166" presetID="2" presetClass="entr" presetSubtype="4" fill="hold" grpId="0" nodeType="withEffect">
                                  <p:stCondLst>
                                    <p:cond delay="300"/>
                                  </p:stCondLst>
                                  <p:childTnLst>
                                    <p:set>
                                      <p:cBhvr>
                                        <p:cTn id="162" dur="1" fill="hold">
                                          <p:stCondLst>
                                            <p:cond delay="0"/>
                                          </p:stCondLst>
                                        </p:cTn>
                                        <p:tgtEl>
                                          <p:spTgt spid="42"/>
                                        </p:tgtEl>
                                        <p:attrNameLst>
                                          <p:attrName>style.visibility</p:attrName>
                                        </p:attrNameLst>
                                      </p:cBhvr>
                                      <p:to>
                                        <p:strVal val="visible"/>
                                      </p:to>
                                    </p:set>
                                    <p:anim calcmode="lin" valueType="num">
                                      <p:cBhvr additive="base">
                                        <p:cTn id="163" dur="500" fill="hold"/>
                                        <p:tgtEl>
                                          <p:spTgt spid="42"/>
                                        </p:tgtEl>
                                        <p:attrNameLst>
                                          <p:attrName>ppt_x</p:attrName>
                                        </p:attrNameLst>
                                      </p:cBhvr>
                                      <p:tavLst>
                                        <p:tav tm="0">
                                          <p:val>
                                            <p:strVal val="#ppt_x"/>
                                          </p:val>
                                        </p:tav>
                                        <p:tav tm="100000">
                                          <p:val>
                                            <p:strVal val="#ppt_x"/>
                                          </p:val>
                                        </p:tav>
                                      </p:tavLst>
                                    </p:anim>
                                    <p:anim calcmode="lin" valueType="num">
                                      <p:cBhvr additive="base">
                                        <p:cTn id="164" dur="500" fill="hold"/>
                                        <p:tgtEl>
                                          <p:spTgt spid="42"/>
                                        </p:tgtEl>
                                        <p:attrNameLst>
                                          <p:attrName>ppt_y</p:attrName>
                                        </p:attrNameLst>
                                      </p:cBhvr>
                                      <p:tavLst>
                                        <p:tav tm="0">
                                          <p:val>
                                            <p:strVal val="#ppt_y+0.1"/>
                                          </p:val>
                                        </p:tav>
                                        <p:tav tm="100000">
                                          <p:val>
                                            <p:strVal val="#ppt_y"/>
                                          </p:val>
                                        </p:tav>
                                      </p:tavLst>
                                    </p:anim>
                                    <p:animEffect transition="in" filter="fade">
                                      <p:cBhvr>
                                        <p:cTn id="165" dur="500"/>
                                        <p:tgtEl>
                                          <p:spTgt spid="42"/>
                                        </p:tgtEl>
                                      </p:cBhvr>
                                    </p:animEffect>
                                  </p:childTnLst>
                                </p:cTn>
                              </p:par>
                              <p:par>
                                <p:cTn id="171" presetID="2" presetClass="entr" presetSubtype="4" fill="hold" grpId="0" nodeType="withEffect">
                                  <p:stCondLst>
                                    <p:cond delay="300"/>
                                  </p:stCondLst>
                                  <p:childTnLst>
                                    <p:set>
                                      <p:cBhvr>
                                        <p:cTn id="167" dur="1" fill="hold">
                                          <p:stCondLst>
                                            <p:cond delay="0"/>
                                          </p:stCondLst>
                                        </p:cTn>
                                        <p:tgtEl>
                                          <p:spTgt spid="43"/>
                                        </p:tgtEl>
                                        <p:attrNameLst>
                                          <p:attrName>style.visibility</p:attrName>
                                        </p:attrNameLst>
                                      </p:cBhvr>
                                      <p:to>
                                        <p:strVal val="visible"/>
                                      </p:to>
                                    </p:set>
                                    <p:anim calcmode="lin" valueType="num">
                                      <p:cBhvr additive="base">
                                        <p:cTn id="168" dur="500" fill="hold"/>
                                        <p:tgtEl>
                                          <p:spTgt spid="43"/>
                                        </p:tgtEl>
                                        <p:attrNameLst>
                                          <p:attrName>ppt_x</p:attrName>
                                        </p:attrNameLst>
                                      </p:cBhvr>
                                      <p:tavLst>
                                        <p:tav tm="0">
                                          <p:val>
                                            <p:strVal val="#ppt_x"/>
                                          </p:val>
                                        </p:tav>
                                        <p:tav tm="100000">
                                          <p:val>
                                            <p:strVal val="#ppt_x"/>
                                          </p:val>
                                        </p:tav>
                                      </p:tavLst>
                                    </p:anim>
                                    <p:anim calcmode="lin" valueType="num">
                                      <p:cBhvr additive="base">
                                        <p:cTn id="169" dur="500" fill="hold"/>
                                        <p:tgtEl>
                                          <p:spTgt spid="43"/>
                                        </p:tgtEl>
                                        <p:attrNameLst>
                                          <p:attrName>ppt_y</p:attrName>
                                        </p:attrNameLst>
                                      </p:cBhvr>
                                      <p:tavLst>
                                        <p:tav tm="0">
                                          <p:val>
                                            <p:strVal val="#ppt_y+0.1"/>
                                          </p:val>
                                        </p:tav>
                                        <p:tav tm="100000">
                                          <p:val>
                                            <p:strVal val="#ppt_y"/>
                                          </p:val>
                                        </p:tav>
                                      </p:tavLst>
                                    </p:anim>
                                    <p:animEffect transition="in" filter="fade">
                                      <p:cBhvr>
                                        <p:cTn id="170" dur="500"/>
                                        <p:tgtEl>
                                          <p:spTgt spid="43"/>
                                        </p:tgtEl>
                                      </p:cBhvr>
                                    </p:animEffect>
                                  </p:childTnLst>
                                </p:cTn>
                              </p:par>
                              <p:par>
                                <p:cTn id="176" presetID="2" presetClass="entr" presetSubtype="4" fill="hold" grpId="0" nodeType="withEffect">
                                  <p:stCondLst>
                                    <p:cond delay="300"/>
                                  </p:stCondLst>
                                  <p:childTnLst>
                                    <p:set>
                                      <p:cBhvr>
                                        <p:cTn id="172" dur="1" fill="hold">
                                          <p:stCondLst>
                                            <p:cond delay="0"/>
                                          </p:stCondLst>
                                        </p:cTn>
                                        <p:tgtEl>
                                          <p:spTgt spid="44"/>
                                        </p:tgtEl>
                                        <p:attrNameLst>
                                          <p:attrName>style.visibility</p:attrName>
                                        </p:attrNameLst>
                                      </p:cBhvr>
                                      <p:to>
                                        <p:strVal val="visible"/>
                                      </p:to>
                                    </p:set>
                                    <p:anim calcmode="lin" valueType="num">
                                      <p:cBhvr additive="base">
                                        <p:cTn id="173" dur="500" fill="hold"/>
                                        <p:tgtEl>
                                          <p:spTgt spid="44"/>
                                        </p:tgtEl>
                                        <p:attrNameLst>
                                          <p:attrName>ppt_x</p:attrName>
                                        </p:attrNameLst>
                                      </p:cBhvr>
                                      <p:tavLst>
                                        <p:tav tm="0">
                                          <p:val>
                                            <p:strVal val="#ppt_x"/>
                                          </p:val>
                                        </p:tav>
                                        <p:tav tm="100000">
                                          <p:val>
                                            <p:strVal val="#ppt_x"/>
                                          </p:val>
                                        </p:tav>
                                      </p:tavLst>
                                    </p:anim>
                                    <p:anim calcmode="lin" valueType="num">
                                      <p:cBhvr additive="base">
                                        <p:cTn id="174" dur="500" fill="hold"/>
                                        <p:tgtEl>
                                          <p:spTgt spid="44"/>
                                        </p:tgtEl>
                                        <p:attrNameLst>
                                          <p:attrName>ppt_y</p:attrName>
                                        </p:attrNameLst>
                                      </p:cBhvr>
                                      <p:tavLst>
                                        <p:tav tm="0">
                                          <p:val>
                                            <p:strVal val="#ppt_y+0.1"/>
                                          </p:val>
                                        </p:tav>
                                        <p:tav tm="100000">
                                          <p:val>
                                            <p:strVal val="#ppt_y"/>
                                          </p:val>
                                        </p:tav>
                                      </p:tavLst>
                                    </p:anim>
                                    <p:animEffect transition="in" filter="fade">
                                      <p:cBhvr>
                                        <p:cTn id="175" dur="500"/>
                                        <p:tgtEl>
                                          <p:spTgt spid="44"/>
                                        </p:tgtEl>
                                      </p:cBhvr>
                                    </p:animEffect>
                                  </p:childTnLst>
                                </p:cTn>
                              </p:par>
                              <p:par>
                                <p:cTn id="181" presetID="2" presetClass="entr" presetSubtype="4" fill="hold" grpId="0" nodeType="withEffect">
                                  <p:stCondLst>
                                    <p:cond delay="300"/>
                                  </p:stCondLst>
                                  <p:childTnLst>
                                    <p:set>
                                      <p:cBhvr>
                                        <p:cTn id="177" dur="1" fill="hold">
                                          <p:stCondLst>
                                            <p:cond delay="0"/>
                                          </p:stCondLst>
                                        </p:cTn>
                                        <p:tgtEl>
                                          <p:spTgt spid="45"/>
                                        </p:tgtEl>
                                        <p:attrNameLst>
                                          <p:attrName>style.visibility</p:attrName>
                                        </p:attrNameLst>
                                      </p:cBhvr>
                                      <p:to>
                                        <p:strVal val="visible"/>
                                      </p:to>
                                    </p:set>
                                    <p:anim calcmode="lin" valueType="num">
                                      <p:cBhvr additive="base">
                                        <p:cTn id="178" dur="500" fill="hold"/>
                                        <p:tgtEl>
                                          <p:spTgt spid="45"/>
                                        </p:tgtEl>
                                        <p:attrNameLst>
                                          <p:attrName>ppt_x</p:attrName>
                                        </p:attrNameLst>
                                      </p:cBhvr>
                                      <p:tavLst>
                                        <p:tav tm="0">
                                          <p:val>
                                            <p:strVal val="#ppt_x"/>
                                          </p:val>
                                        </p:tav>
                                        <p:tav tm="100000">
                                          <p:val>
                                            <p:strVal val="#ppt_x"/>
                                          </p:val>
                                        </p:tav>
                                      </p:tavLst>
                                    </p:anim>
                                    <p:anim calcmode="lin" valueType="num">
                                      <p:cBhvr additive="base">
                                        <p:cTn id="179" dur="500" fill="hold"/>
                                        <p:tgtEl>
                                          <p:spTgt spid="45"/>
                                        </p:tgtEl>
                                        <p:attrNameLst>
                                          <p:attrName>ppt_y</p:attrName>
                                        </p:attrNameLst>
                                      </p:cBhvr>
                                      <p:tavLst>
                                        <p:tav tm="0">
                                          <p:val>
                                            <p:strVal val="#ppt_y+0.1"/>
                                          </p:val>
                                        </p:tav>
                                        <p:tav tm="100000">
                                          <p:val>
                                            <p:strVal val="#ppt_y"/>
                                          </p:val>
                                        </p:tav>
                                      </p:tavLst>
                                    </p:anim>
                                    <p:animEffect transition="in" filter="fade">
                                      <p:cBhvr>
                                        <p:cTn id="180" dur="500"/>
                                        <p:tgtEl>
                                          <p:spTgt spid="45"/>
                                        </p:tgtEl>
                                      </p:cBhvr>
                                    </p:animEffect>
                                  </p:childTnLst>
                                </p:cTn>
                              </p:par>
                              <p:par>
                                <p:cTn id="186" presetID="2" presetClass="entr" presetSubtype="4" fill="hold" grpId="0" nodeType="withEffect">
                                  <p:stCondLst>
                                    <p:cond delay="300"/>
                                  </p:stCondLst>
                                  <p:childTnLst>
                                    <p:set>
                                      <p:cBhvr>
                                        <p:cTn id="182" dur="1" fill="hold">
                                          <p:stCondLst>
                                            <p:cond delay="0"/>
                                          </p:stCondLst>
                                        </p:cTn>
                                        <p:tgtEl>
                                          <p:spTgt spid="46"/>
                                        </p:tgtEl>
                                        <p:attrNameLst>
                                          <p:attrName>style.visibility</p:attrName>
                                        </p:attrNameLst>
                                      </p:cBhvr>
                                      <p:to>
                                        <p:strVal val="visible"/>
                                      </p:to>
                                    </p:set>
                                    <p:anim calcmode="lin" valueType="num">
                                      <p:cBhvr additive="base">
                                        <p:cTn id="183" dur="500" fill="hold"/>
                                        <p:tgtEl>
                                          <p:spTgt spid="46"/>
                                        </p:tgtEl>
                                        <p:attrNameLst>
                                          <p:attrName>ppt_x</p:attrName>
                                        </p:attrNameLst>
                                      </p:cBhvr>
                                      <p:tavLst>
                                        <p:tav tm="0">
                                          <p:val>
                                            <p:strVal val="#ppt_x"/>
                                          </p:val>
                                        </p:tav>
                                        <p:tav tm="100000">
                                          <p:val>
                                            <p:strVal val="#ppt_x"/>
                                          </p:val>
                                        </p:tav>
                                      </p:tavLst>
                                    </p:anim>
                                    <p:anim calcmode="lin" valueType="num">
                                      <p:cBhvr additive="base">
                                        <p:cTn id="184" dur="500" fill="hold"/>
                                        <p:tgtEl>
                                          <p:spTgt spid="46"/>
                                        </p:tgtEl>
                                        <p:attrNameLst>
                                          <p:attrName>ppt_y</p:attrName>
                                        </p:attrNameLst>
                                      </p:cBhvr>
                                      <p:tavLst>
                                        <p:tav tm="0">
                                          <p:val>
                                            <p:strVal val="#ppt_y+0.1"/>
                                          </p:val>
                                        </p:tav>
                                        <p:tav tm="100000">
                                          <p:val>
                                            <p:strVal val="#ppt_y"/>
                                          </p:val>
                                        </p:tav>
                                      </p:tavLst>
                                    </p:anim>
                                    <p:animEffect transition="in" filter="fade">
                                      <p:cBhvr>
                                        <p:cTn id="185" dur="500"/>
                                        <p:tgtEl>
                                          <p:spTgt spid="46"/>
                                        </p:tgtEl>
                                      </p:cBhvr>
                                    </p:animEffect>
                                  </p:childTnLst>
                                </p:cTn>
                              </p:par>
                              <p:par>
                                <p:cTn id="191" presetID="2" presetClass="entr" presetSubtype="4" fill="hold" grpId="0" nodeType="withEffect">
                                  <p:stCondLst>
                                    <p:cond delay="300"/>
                                  </p:stCondLst>
                                  <p:childTnLst>
                                    <p:set>
                                      <p:cBhvr>
                                        <p:cTn id="187" dur="1" fill="hold">
                                          <p:stCondLst>
                                            <p:cond delay="0"/>
                                          </p:stCondLst>
                                        </p:cTn>
                                        <p:tgtEl>
                                          <p:spTgt spid="47"/>
                                        </p:tgtEl>
                                        <p:attrNameLst>
                                          <p:attrName>style.visibility</p:attrName>
                                        </p:attrNameLst>
                                      </p:cBhvr>
                                      <p:to>
                                        <p:strVal val="visible"/>
                                      </p:to>
                                    </p:set>
                                    <p:anim calcmode="lin" valueType="num">
                                      <p:cBhvr additive="base">
                                        <p:cTn id="188" dur="500" fill="hold"/>
                                        <p:tgtEl>
                                          <p:spTgt spid="47"/>
                                        </p:tgtEl>
                                        <p:attrNameLst>
                                          <p:attrName>ppt_x</p:attrName>
                                        </p:attrNameLst>
                                      </p:cBhvr>
                                      <p:tavLst>
                                        <p:tav tm="0">
                                          <p:val>
                                            <p:strVal val="#ppt_x"/>
                                          </p:val>
                                        </p:tav>
                                        <p:tav tm="100000">
                                          <p:val>
                                            <p:strVal val="#ppt_x"/>
                                          </p:val>
                                        </p:tav>
                                      </p:tavLst>
                                    </p:anim>
                                    <p:anim calcmode="lin" valueType="num">
                                      <p:cBhvr additive="base">
                                        <p:cTn id="189" dur="500" fill="hold"/>
                                        <p:tgtEl>
                                          <p:spTgt spid="47"/>
                                        </p:tgtEl>
                                        <p:attrNameLst>
                                          <p:attrName>ppt_y</p:attrName>
                                        </p:attrNameLst>
                                      </p:cBhvr>
                                      <p:tavLst>
                                        <p:tav tm="0">
                                          <p:val>
                                            <p:strVal val="#ppt_y+0.1"/>
                                          </p:val>
                                        </p:tav>
                                        <p:tav tm="100000">
                                          <p:val>
                                            <p:strVal val="#ppt_y"/>
                                          </p:val>
                                        </p:tav>
                                      </p:tavLst>
                                    </p:anim>
                                    <p:animEffect transition="in" filter="fade">
                                      <p:cBhvr>
                                        <p:cTn id="190" dur="500"/>
                                        <p:tgtEl>
                                          <p:spTgt spid="47"/>
                                        </p:tgtEl>
                                      </p:cBhvr>
                                    </p:animEffect>
                                  </p:childTnLst>
                                </p:cTn>
                              </p:par>
                            </p:childTnLst>
                          </p:cTn>
                        </p:par>
                      </p:childTnLst>
                    </p:cTn>
                  </p:par>
                  <p:par>
                    <p:cTn id="192" fill="hold">
                      <p:stCondLst>
                        <p:cond delay="indefinite"/>
                      </p:stCondLst>
                      <p:childTnLst>
                        <p:par>
                          <p:cTn id="193" fill="hold">
                            <p:stCondLst>
                              <p:cond delay="0"/>
                            </p:stCondLst>
                            <p:childTnLst>
                              <p:par>
                                <p:cTn id="198" presetID="2" presetClass="entr" presetSubtype="4" fill="hold" grpId="0" nodeType="clickEffect">
                                  <p:stCondLst>
                                    <p:cond delay="0"/>
                                  </p:stCondLst>
                                  <p:childTnLst>
                                    <p:set>
                                      <p:cBhvr>
                                        <p:cTn id="194" dur="1" fill="hold">
                                          <p:stCondLst>
                                            <p:cond delay="0"/>
                                          </p:stCondLst>
                                        </p:cTn>
                                        <p:tgtEl>
                                          <p:spTgt spid="48"/>
                                        </p:tgtEl>
                                        <p:attrNameLst>
                                          <p:attrName>style.visibility</p:attrName>
                                        </p:attrNameLst>
                                      </p:cBhvr>
                                      <p:to>
                                        <p:strVal val="visible"/>
                                      </p:to>
                                    </p:set>
                                    <p:anim calcmode="lin" valueType="num">
                                      <p:cBhvr additive="base">
                                        <p:cTn id="195" dur="500" fill="hold"/>
                                        <p:tgtEl>
                                          <p:spTgt spid="48"/>
                                        </p:tgtEl>
                                        <p:attrNameLst>
                                          <p:attrName>ppt_x</p:attrName>
                                        </p:attrNameLst>
                                      </p:cBhvr>
                                      <p:tavLst>
                                        <p:tav tm="0">
                                          <p:val>
                                            <p:strVal val="#ppt_x"/>
                                          </p:val>
                                        </p:tav>
                                        <p:tav tm="100000">
                                          <p:val>
                                            <p:strVal val="#ppt_x"/>
                                          </p:val>
                                        </p:tav>
                                      </p:tavLst>
                                    </p:anim>
                                    <p:anim calcmode="lin" valueType="num">
                                      <p:cBhvr additive="base">
                                        <p:cTn id="196" dur="500" fill="hold"/>
                                        <p:tgtEl>
                                          <p:spTgt spid="48"/>
                                        </p:tgtEl>
                                        <p:attrNameLst>
                                          <p:attrName>ppt_y</p:attrName>
                                        </p:attrNameLst>
                                      </p:cBhvr>
                                      <p:tavLst>
                                        <p:tav tm="0">
                                          <p:val>
                                            <p:strVal val="#ppt_y+0.1"/>
                                          </p:val>
                                        </p:tav>
                                        <p:tav tm="100000">
                                          <p:val>
                                            <p:strVal val="#ppt_y"/>
                                          </p:val>
                                        </p:tav>
                                      </p:tavLst>
                                    </p:anim>
                                    <p:animEffect transition="in" filter="fade">
                                      <p:cBhvr>
                                        <p:cTn id="197" dur="500"/>
                                        <p:tgtEl>
                                          <p:spTgt spid="48"/>
                                        </p:tgtEl>
                                      </p:cBhvr>
                                    </p:animEffect>
                                  </p:childTnLst>
                                </p:cTn>
                              </p:par>
                              <p:par>
                                <p:cTn id="203" presetID="2" presetClass="entr" presetSubtype="4" fill="hold" grpId="0" nodeType="withEffect">
                                  <p:stCondLst>
                                    <p:cond delay="0"/>
                                  </p:stCondLst>
                                  <p:childTnLst>
                                    <p:set>
                                      <p:cBhvr>
                                        <p:cTn id="199" dur="1" fill="hold">
                                          <p:stCondLst>
                                            <p:cond delay="0"/>
                                          </p:stCondLst>
                                        </p:cTn>
                                        <p:tgtEl>
                                          <p:spTgt spid="49"/>
                                        </p:tgtEl>
                                        <p:attrNameLst>
                                          <p:attrName>style.visibility</p:attrName>
                                        </p:attrNameLst>
                                      </p:cBhvr>
                                      <p:to>
                                        <p:strVal val="visible"/>
                                      </p:to>
                                    </p:set>
                                    <p:anim calcmode="lin" valueType="num">
                                      <p:cBhvr additive="base">
                                        <p:cTn id="200" dur="500" fill="hold"/>
                                        <p:tgtEl>
                                          <p:spTgt spid="49"/>
                                        </p:tgtEl>
                                        <p:attrNameLst>
                                          <p:attrName>ppt_x</p:attrName>
                                        </p:attrNameLst>
                                      </p:cBhvr>
                                      <p:tavLst>
                                        <p:tav tm="0">
                                          <p:val>
                                            <p:strVal val="#ppt_x"/>
                                          </p:val>
                                        </p:tav>
                                        <p:tav tm="100000">
                                          <p:val>
                                            <p:strVal val="#ppt_x"/>
                                          </p:val>
                                        </p:tav>
                                      </p:tavLst>
                                    </p:anim>
                                    <p:anim calcmode="lin" valueType="num">
                                      <p:cBhvr additive="base">
                                        <p:cTn id="201" dur="500" fill="hold"/>
                                        <p:tgtEl>
                                          <p:spTgt spid="49"/>
                                        </p:tgtEl>
                                        <p:attrNameLst>
                                          <p:attrName>ppt_y</p:attrName>
                                        </p:attrNameLst>
                                      </p:cBhvr>
                                      <p:tavLst>
                                        <p:tav tm="0">
                                          <p:val>
                                            <p:strVal val="#ppt_y+0.1"/>
                                          </p:val>
                                        </p:tav>
                                        <p:tav tm="100000">
                                          <p:val>
                                            <p:strVal val="#ppt_y"/>
                                          </p:val>
                                        </p:tav>
                                      </p:tavLst>
                                    </p:anim>
                                    <p:animEffect transition="in" filter="fade">
                                      <p:cBhvr>
                                        <p:cTn id="202" dur="500"/>
                                        <p:tgtEl>
                                          <p:spTgt spid="49"/>
                                        </p:tgtEl>
                                      </p:cBhvr>
                                    </p:animEffect>
                                  </p:childTnLst>
                                </p:cTn>
                              </p:par>
                              <p:par>
                                <p:cTn id="208" presetID="2" presetClass="entr" presetSubtype="4" fill="hold" grpId="0" nodeType="withEffect">
                                  <p:stCondLst>
                                    <p:cond delay="120"/>
                                  </p:stCondLst>
                                  <p:childTnLst>
                                    <p:set>
                                      <p:cBhvr>
                                        <p:cTn id="204" dur="1" fill="hold">
                                          <p:stCondLst>
                                            <p:cond delay="0"/>
                                          </p:stCondLst>
                                        </p:cTn>
                                        <p:tgtEl>
                                          <p:spTgt spid="50"/>
                                        </p:tgtEl>
                                        <p:attrNameLst>
                                          <p:attrName>style.visibility</p:attrName>
                                        </p:attrNameLst>
                                      </p:cBhvr>
                                      <p:to>
                                        <p:strVal val="visible"/>
                                      </p:to>
                                    </p:set>
                                    <p:anim calcmode="lin" valueType="num">
                                      <p:cBhvr additive="base">
                                        <p:cTn id="205" dur="500" fill="hold"/>
                                        <p:tgtEl>
                                          <p:spTgt spid="50"/>
                                        </p:tgtEl>
                                        <p:attrNameLst>
                                          <p:attrName>ppt_x</p:attrName>
                                        </p:attrNameLst>
                                      </p:cBhvr>
                                      <p:tavLst>
                                        <p:tav tm="0">
                                          <p:val>
                                            <p:strVal val="#ppt_x"/>
                                          </p:val>
                                        </p:tav>
                                        <p:tav tm="100000">
                                          <p:val>
                                            <p:strVal val="#ppt_x"/>
                                          </p:val>
                                        </p:tav>
                                      </p:tavLst>
                                    </p:anim>
                                    <p:anim calcmode="lin" valueType="num">
                                      <p:cBhvr additive="base">
                                        <p:cTn id="206" dur="500" fill="hold"/>
                                        <p:tgtEl>
                                          <p:spTgt spid="50"/>
                                        </p:tgtEl>
                                        <p:attrNameLst>
                                          <p:attrName>ppt_y</p:attrName>
                                        </p:attrNameLst>
                                      </p:cBhvr>
                                      <p:tavLst>
                                        <p:tav tm="0">
                                          <p:val>
                                            <p:strVal val="#ppt_y+0.1"/>
                                          </p:val>
                                        </p:tav>
                                        <p:tav tm="100000">
                                          <p:val>
                                            <p:strVal val="#ppt_y"/>
                                          </p:val>
                                        </p:tav>
                                      </p:tavLst>
                                    </p:anim>
                                    <p:animEffect transition="in" filter="fade">
                                      <p:cBhvr>
                                        <p:cTn id="207" dur="500"/>
                                        <p:tgtEl>
                                          <p:spTgt spid="50"/>
                                        </p:tgtEl>
                                      </p:cBhvr>
                                    </p:animEffect>
                                  </p:childTnLst>
                                </p:cTn>
                              </p:par>
                              <p:par>
                                <p:cTn id="213" presetID="2" presetClass="entr" presetSubtype="4" fill="hold" grpId="0" nodeType="withEffect">
                                  <p:stCondLst>
                                    <p:cond delay="120"/>
                                  </p:stCondLst>
                                  <p:childTnLst>
                                    <p:set>
                                      <p:cBhvr>
                                        <p:cTn id="209" dur="1" fill="hold">
                                          <p:stCondLst>
                                            <p:cond delay="0"/>
                                          </p:stCondLst>
                                        </p:cTn>
                                        <p:tgtEl>
                                          <p:spTgt spid="51"/>
                                        </p:tgtEl>
                                        <p:attrNameLst>
                                          <p:attrName>style.visibility</p:attrName>
                                        </p:attrNameLst>
                                      </p:cBhvr>
                                      <p:to>
                                        <p:strVal val="visible"/>
                                      </p:to>
                                    </p:set>
                                    <p:anim calcmode="lin" valueType="num">
                                      <p:cBhvr additive="base">
                                        <p:cTn id="210" dur="500" fill="hold"/>
                                        <p:tgtEl>
                                          <p:spTgt spid="51"/>
                                        </p:tgtEl>
                                        <p:attrNameLst>
                                          <p:attrName>ppt_x</p:attrName>
                                        </p:attrNameLst>
                                      </p:cBhvr>
                                      <p:tavLst>
                                        <p:tav tm="0">
                                          <p:val>
                                            <p:strVal val="#ppt_x"/>
                                          </p:val>
                                        </p:tav>
                                        <p:tav tm="100000">
                                          <p:val>
                                            <p:strVal val="#ppt_x"/>
                                          </p:val>
                                        </p:tav>
                                      </p:tavLst>
                                    </p:anim>
                                    <p:anim calcmode="lin" valueType="num">
                                      <p:cBhvr additive="base">
                                        <p:cTn id="211" dur="500" fill="hold"/>
                                        <p:tgtEl>
                                          <p:spTgt spid="51"/>
                                        </p:tgtEl>
                                        <p:attrNameLst>
                                          <p:attrName>ppt_y</p:attrName>
                                        </p:attrNameLst>
                                      </p:cBhvr>
                                      <p:tavLst>
                                        <p:tav tm="0">
                                          <p:val>
                                            <p:strVal val="#ppt_y+0.1"/>
                                          </p:val>
                                        </p:tav>
                                        <p:tav tm="100000">
                                          <p:val>
                                            <p:strVal val="#ppt_y"/>
                                          </p:val>
                                        </p:tav>
                                      </p:tavLst>
                                    </p:anim>
                                    <p:animEffect transition="in" filter="fade">
                                      <p:cBhvr>
                                        <p:cTn id="212" dur="500"/>
                                        <p:tgtEl>
                                          <p:spTgt spid="51"/>
                                        </p:tgtEl>
                                      </p:cBhvr>
                                    </p:animEffect>
                                  </p:childTnLst>
                                </p:cTn>
                              </p:par>
                              <p:par>
                                <p:cTn id="218" presetID="2" presetClass="entr" presetSubtype="4" fill="hold" grpId="0" nodeType="withEffect">
                                  <p:stCondLst>
                                    <p:cond delay="240"/>
                                  </p:stCondLst>
                                  <p:childTnLst>
                                    <p:set>
                                      <p:cBhvr>
                                        <p:cTn id="214" dur="1" fill="hold">
                                          <p:stCondLst>
                                            <p:cond delay="0"/>
                                          </p:stCondLst>
                                        </p:cTn>
                                        <p:tgtEl>
                                          <p:spTgt spid="52"/>
                                        </p:tgtEl>
                                        <p:attrNameLst>
                                          <p:attrName>style.visibility</p:attrName>
                                        </p:attrNameLst>
                                      </p:cBhvr>
                                      <p:to>
                                        <p:strVal val="visible"/>
                                      </p:to>
                                    </p:set>
                                    <p:anim calcmode="lin" valueType="num">
                                      <p:cBhvr additive="base">
                                        <p:cTn id="215" dur="500" fill="hold"/>
                                        <p:tgtEl>
                                          <p:spTgt spid="52"/>
                                        </p:tgtEl>
                                        <p:attrNameLst>
                                          <p:attrName>ppt_x</p:attrName>
                                        </p:attrNameLst>
                                      </p:cBhvr>
                                      <p:tavLst>
                                        <p:tav tm="0">
                                          <p:val>
                                            <p:strVal val="#ppt_x"/>
                                          </p:val>
                                        </p:tav>
                                        <p:tav tm="100000">
                                          <p:val>
                                            <p:strVal val="#ppt_x"/>
                                          </p:val>
                                        </p:tav>
                                      </p:tavLst>
                                    </p:anim>
                                    <p:anim calcmode="lin" valueType="num">
                                      <p:cBhvr additive="base">
                                        <p:cTn id="216" dur="500" fill="hold"/>
                                        <p:tgtEl>
                                          <p:spTgt spid="52"/>
                                        </p:tgtEl>
                                        <p:attrNameLst>
                                          <p:attrName>ppt_y</p:attrName>
                                        </p:attrNameLst>
                                      </p:cBhvr>
                                      <p:tavLst>
                                        <p:tav tm="0">
                                          <p:val>
                                            <p:strVal val="#ppt_y+0.1"/>
                                          </p:val>
                                        </p:tav>
                                        <p:tav tm="100000">
                                          <p:val>
                                            <p:strVal val="#ppt_y"/>
                                          </p:val>
                                        </p:tav>
                                      </p:tavLst>
                                    </p:anim>
                                    <p:animEffect transition="in" filter="fade">
                                      <p:cBhvr>
                                        <p:cTn id="217" dur="500"/>
                                        <p:tgtEl>
                                          <p:spTgt spid="52"/>
                                        </p:tgtEl>
                                      </p:cBhvr>
                                    </p:animEffect>
                                  </p:childTnLst>
                                </p:cTn>
                              </p:par>
                              <p:par>
                                <p:cTn id="223" presetID="2" presetClass="entr" presetSubtype="4" fill="hold" grpId="0" nodeType="withEffect">
                                  <p:stCondLst>
                                    <p:cond delay="240"/>
                                  </p:stCondLst>
                                  <p:childTnLst>
                                    <p:set>
                                      <p:cBhvr>
                                        <p:cTn id="219" dur="1" fill="hold">
                                          <p:stCondLst>
                                            <p:cond delay="0"/>
                                          </p:stCondLst>
                                        </p:cTn>
                                        <p:tgtEl>
                                          <p:spTgt spid="53"/>
                                        </p:tgtEl>
                                        <p:attrNameLst>
                                          <p:attrName>style.visibility</p:attrName>
                                        </p:attrNameLst>
                                      </p:cBhvr>
                                      <p:to>
                                        <p:strVal val="visible"/>
                                      </p:to>
                                    </p:set>
                                    <p:anim calcmode="lin" valueType="num">
                                      <p:cBhvr additive="base">
                                        <p:cTn id="220" dur="500" fill="hold"/>
                                        <p:tgtEl>
                                          <p:spTgt spid="53"/>
                                        </p:tgtEl>
                                        <p:attrNameLst>
                                          <p:attrName>ppt_x</p:attrName>
                                        </p:attrNameLst>
                                      </p:cBhvr>
                                      <p:tavLst>
                                        <p:tav tm="0">
                                          <p:val>
                                            <p:strVal val="#ppt_x"/>
                                          </p:val>
                                        </p:tav>
                                        <p:tav tm="100000">
                                          <p:val>
                                            <p:strVal val="#ppt_x"/>
                                          </p:val>
                                        </p:tav>
                                      </p:tavLst>
                                    </p:anim>
                                    <p:anim calcmode="lin" valueType="num">
                                      <p:cBhvr additive="base">
                                        <p:cTn id="221" dur="500" fill="hold"/>
                                        <p:tgtEl>
                                          <p:spTgt spid="53"/>
                                        </p:tgtEl>
                                        <p:attrNameLst>
                                          <p:attrName>ppt_y</p:attrName>
                                        </p:attrNameLst>
                                      </p:cBhvr>
                                      <p:tavLst>
                                        <p:tav tm="0">
                                          <p:val>
                                            <p:strVal val="#ppt_y+0.1"/>
                                          </p:val>
                                        </p:tav>
                                        <p:tav tm="100000">
                                          <p:val>
                                            <p:strVal val="#ppt_y"/>
                                          </p:val>
                                        </p:tav>
                                      </p:tavLst>
                                    </p:anim>
                                    <p:animEffect transition="in" filter="fade">
                                      <p:cBhvr>
                                        <p:cTn id="222" dur="500"/>
                                        <p:tgtEl>
                                          <p:spTgt spid="53"/>
                                        </p:tgtEl>
                                      </p:cBhvr>
                                    </p:animEffect>
                                  </p:childTnLst>
                                </p:cTn>
                              </p:par>
                            </p:childTnLst>
                          </p:cTn>
                        </p:par>
                      </p:childTnLst>
                    </p:cTn>
                  </p:par>
                  <p:par>
                    <p:cTn id="224" fill="hold">
                      <p:stCondLst>
                        <p:cond delay="indefinite"/>
                      </p:stCondLst>
                      <p:childTnLst>
                        <p:par>
                          <p:cTn id="225" fill="hold">
                            <p:stCondLst>
                              <p:cond delay="0"/>
                            </p:stCondLst>
                            <p:childTnLst>
                              <p:par>
                                <p:cTn id="230" presetID="2" presetClass="entr" presetSubtype="4" fill="hold" grpId="0" nodeType="clickEffect">
                                  <p:stCondLst>
                                    <p:cond delay="0"/>
                                  </p:stCondLst>
                                  <p:childTnLst>
                                    <p:set>
                                      <p:cBhvr>
                                        <p:cTn id="226" dur="1" fill="hold">
                                          <p:stCondLst>
                                            <p:cond delay="0"/>
                                          </p:stCondLst>
                                        </p:cTn>
                                        <p:tgtEl>
                                          <p:spTgt spid="54"/>
                                        </p:tgtEl>
                                        <p:attrNameLst>
                                          <p:attrName>style.visibility</p:attrName>
                                        </p:attrNameLst>
                                      </p:cBhvr>
                                      <p:to>
                                        <p:strVal val="visible"/>
                                      </p:to>
                                    </p:set>
                                    <p:anim calcmode="lin" valueType="num">
                                      <p:cBhvr additive="base">
                                        <p:cTn id="227" dur="500" fill="hold"/>
                                        <p:tgtEl>
                                          <p:spTgt spid="54"/>
                                        </p:tgtEl>
                                        <p:attrNameLst>
                                          <p:attrName>ppt_x</p:attrName>
                                        </p:attrNameLst>
                                      </p:cBhvr>
                                      <p:tavLst>
                                        <p:tav tm="0">
                                          <p:val>
                                            <p:strVal val="#ppt_x"/>
                                          </p:val>
                                        </p:tav>
                                        <p:tav tm="100000">
                                          <p:val>
                                            <p:strVal val="#ppt_x"/>
                                          </p:val>
                                        </p:tav>
                                      </p:tavLst>
                                    </p:anim>
                                    <p:anim calcmode="lin" valueType="num">
                                      <p:cBhvr additive="base">
                                        <p:cTn id="228" dur="500" fill="hold"/>
                                        <p:tgtEl>
                                          <p:spTgt spid="54"/>
                                        </p:tgtEl>
                                        <p:attrNameLst>
                                          <p:attrName>ppt_y</p:attrName>
                                        </p:attrNameLst>
                                      </p:cBhvr>
                                      <p:tavLst>
                                        <p:tav tm="0">
                                          <p:val>
                                            <p:strVal val="#ppt_y+0.1"/>
                                          </p:val>
                                        </p:tav>
                                        <p:tav tm="100000">
                                          <p:val>
                                            <p:strVal val="#ppt_y"/>
                                          </p:val>
                                        </p:tav>
                                      </p:tavLst>
                                    </p:anim>
                                    <p:animEffect transition="in" filter="fade">
                                      <p:cBhvr>
                                        <p:cTn id="229" dur="500"/>
                                        <p:tgtEl>
                                          <p:spTgt spid="54"/>
                                        </p:tgtEl>
                                      </p:cBhvr>
                                    </p:animEffect>
                                  </p:childTnLst>
                                </p:cTn>
                              </p:par>
                              <p:par>
                                <p:cTn id="235" presetID="2" presetClass="entr" presetSubtype="4" fill="hold" grpId="0" nodeType="withEffect">
                                  <p:stCondLst>
                                    <p:cond delay="0"/>
                                  </p:stCondLst>
                                  <p:childTnLst>
                                    <p:set>
                                      <p:cBhvr>
                                        <p:cTn id="231" dur="1" fill="hold">
                                          <p:stCondLst>
                                            <p:cond delay="0"/>
                                          </p:stCondLst>
                                        </p:cTn>
                                        <p:tgtEl>
                                          <p:spTgt spid="55"/>
                                        </p:tgtEl>
                                        <p:attrNameLst>
                                          <p:attrName>style.visibility</p:attrName>
                                        </p:attrNameLst>
                                      </p:cBhvr>
                                      <p:to>
                                        <p:strVal val="visible"/>
                                      </p:to>
                                    </p:set>
                                    <p:anim calcmode="lin" valueType="num">
                                      <p:cBhvr additive="base">
                                        <p:cTn id="232" dur="500" fill="hold"/>
                                        <p:tgtEl>
                                          <p:spTgt spid="55"/>
                                        </p:tgtEl>
                                        <p:attrNameLst>
                                          <p:attrName>ppt_x</p:attrName>
                                        </p:attrNameLst>
                                      </p:cBhvr>
                                      <p:tavLst>
                                        <p:tav tm="0">
                                          <p:val>
                                            <p:strVal val="#ppt_x"/>
                                          </p:val>
                                        </p:tav>
                                        <p:tav tm="100000">
                                          <p:val>
                                            <p:strVal val="#ppt_x"/>
                                          </p:val>
                                        </p:tav>
                                      </p:tavLst>
                                    </p:anim>
                                    <p:anim calcmode="lin" valueType="num">
                                      <p:cBhvr additive="base">
                                        <p:cTn id="233" dur="500" fill="hold"/>
                                        <p:tgtEl>
                                          <p:spTgt spid="55"/>
                                        </p:tgtEl>
                                        <p:attrNameLst>
                                          <p:attrName>ppt_y</p:attrName>
                                        </p:attrNameLst>
                                      </p:cBhvr>
                                      <p:tavLst>
                                        <p:tav tm="0">
                                          <p:val>
                                            <p:strVal val="#ppt_y+0.1"/>
                                          </p:val>
                                        </p:tav>
                                        <p:tav tm="100000">
                                          <p:val>
                                            <p:strVal val="#ppt_y"/>
                                          </p:val>
                                        </p:tav>
                                      </p:tavLst>
                                    </p:anim>
                                    <p:animEffect transition="in" filter="fade">
                                      <p:cBhvr>
                                        <p:cTn id="234" dur="500"/>
                                        <p:tgtEl>
                                          <p:spTgt spid="55"/>
                                        </p:tgtEl>
                                      </p:cBhvr>
                                    </p:animEffect>
                                  </p:childTnLst>
                                </p:cTn>
                              </p:par>
                              <p:par>
                                <p:cTn id="240" presetID="2" presetClass="entr" presetSubtype="4" fill="hold" grpId="0" nodeType="withEffect">
                                  <p:stCondLst>
                                    <p:cond delay="0"/>
                                  </p:stCondLst>
                                  <p:childTnLst>
                                    <p:set>
                                      <p:cBhvr>
                                        <p:cTn id="236" dur="1" fill="hold">
                                          <p:stCondLst>
                                            <p:cond delay="0"/>
                                          </p:stCondLst>
                                        </p:cTn>
                                        <p:tgtEl>
                                          <p:spTgt spid="56"/>
                                        </p:tgtEl>
                                        <p:attrNameLst>
                                          <p:attrName>style.visibility</p:attrName>
                                        </p:attrNameLst>
                                      </p:cBhvr>
                                      <p:to>
                                        <p:strVal val="visible"/>
                                      </p:to>
                                    </p:set>
                                    <p:anim calcmode="lin" valueType="num">
                                      <p:cBhvr additive="base">
                                        <p:cTn id="237" dur="500" fill="hold"/>
                                        <p:tgtEl>
                                          <p:spTgt spid="56"/>
                                        </p:tgtEl>
                                        <p:attrNameLst>
                                          <p:attrName>ppt_x</p:attrName>
                                        </p:attrNameLst>
                                      </p:cBhvr>
                                      <p:tavLst>
                                        <p:tav tm="0">
                                          <p:val>
                                            <p:strVal val="#ppt_x"/>
                                          </p:val>
                                        </p:tav>
                                        <p:tav tm="100000">
                                          <p:val>
                                            <p:strVal val="#ppt_x"/>
                                          </p:val>
                                        </p:tav>
                                      </p:tavLst>
                                    </p:anim>
                                    <p:anim calcmode="lin" valueType="num">
                                      <p:cBhvr additive="base">
                                        <p:cTn id="238" dur="500" fill="hold"/>
                                        <p:tgtEl>
                                          <p:spTgt spid="56"/>
                                        </p:tgtEl>
                                        <p:attrNameLst>
                                          <p:attrName>ppt_y</p:attrName>
                                        </p:attrNameLst>
                                      </p:cBhvr>
                                      <p:tavLst>
                                        <p:tav tm="0">
                                          <p:val>
                                            <p:strVal val="#ppt_y+0.1"/>
                                          </p:val>
                                        </p:tav>
                                        <p:tav tm="100000">
                                          <p:val>
                                            <p:strVal val="#ppt_y"/>
                                          </p:val>
                                        </p:tav>
                                      </p:tavLst>
                                    </p:anim>
                                    <p:animEffect transition="in" filter="fade">
                                      <p:cBhvr>
                                        <p:cTn id="23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Many Topics, Different Partition Counts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second topic with only two partitions lives on only two brokers</a:t>
            </a:r>
          </a:p>
        </p:txBody>
      </p:sp>
      <p:sp>
        <p:nvSpPr>
          <p:cNvPr id="11" name="a0f_cl10"/>
          <p:cNvSpPr/>
          <p:nvPr/>
        </p:nvSpPr>
        <p:spPr>
          <a:xfrm>
            <a:off x="457200" y="1280160"/>
            <a:ext cx="5486400" cy="2487168"/>
          </a:xfrm>
          <a:prstGeom prst="roundRect">
            <a:avLst>
              <a:gd name="adj" fmla="val 3676"/>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_clh11"/>
          <p:cNvSpPr txBox="1"/>
          <p:nvPr/>
        </p:nvSpPr>
        <p:spPr>
          <a:xfrm>
            <a:off x="640080" y="1371600"/>
            <a:ext cx="1645920" cy="237744"/>
          </a:xfrm>
          <a:prstGeom prst="rect">
            <a:avLst/>
          </a:prstGeom>
          <a:noFill/>
        </p:spPr>
        <p:txBody>
          <a:bodyPr wrap="square" lIns="0" tIns="0" rIns="0" bIns="0" anchor="ctr">
            <a:spAutoFit/>
          </a:bodyPr>
          <a:lstStyle/>
          <a:p>
            <a:pPr algn="l"/>
            <a:r>
              <a:rPr sz="850" b="1" spc="160">
                <a:solidFill>
                  <a:srgbClr val="0E7490"/>
                </a:solidFill>
                <a:latin typeface="Segoe UI"/>
              </a:rPr>
              <a:t>KAFKA CLUSTER</a:t>
            </a:r>
          </a:p>
        </p:txBody>
      </p:sp>
      <p:sp>
        <p:nvSpPr>
          <p:cNvPr id="13" name="a0f_lg12"/>
          <p:cNvSpPr/>
          <p:nvPr/>
        </p:nvSpPr>
        <p:spPr>
          <a:xfrm>
            <a:off x="2148840" y="1399032"/>
            <a:ext cx="146304" cy="146304"/>
          </a:xfrm>
          <a:prstGeom prst="roundRect">
            <a:avLst>
              <a:gd name="adj" fmla="val 18750"/>
            </a:avLst>
          </a:prstGeom>
          <a:solidFill>
            <a:srgbClr val="FFEDD5"/>
          </a:solidFill>
          <a:ln w="1270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f_lgt13"/>
          <p:cNvSpPr txBox="1"/>
          <p:nvPr/>
        </p:nvSpPr>
        <p:spPr>
          <a:xfrm>
            <a:off x="2368296" y="1353312"/>
            <a:ext cx="2194560" cy="237744"/>
          </a:xfrm>
          <a:prstGeom prst="rect">
            <a:avLst/>
          </a:prstGeom>
          <a:noFill/>
        </p:spPr>
        <p:txBody>
          <a:bodyPr wrap="square" lIns="0" tIns="0" rIns="0" bIns="0" anchor="ctr">
            <a:spAutoFit/>
          </a:bodyPr>
          <a:lstStyle/>
          <a:p>
            <a:pPr algn="l"/>
            <a:r>
              <a:rPr sz="900" b="1">
                <a:solidFill>
                  <a:srgbClr val="C2410C"/>
                </a:solidFill>
                <a:latin typeface="Consolas"/>
              </a:rPr>
              <a:t>thermostat_readings</a:t>
            </a:r>
          </a:p>
        </p:txBody>
      </p:sp>
      <p:sp>
        <p:nvSpPr>
          <p:cNvPr id="15" name="a0f_bk14"/>
          <p:cNvSpPr/>
          <p:nvPr/>
        </p:nvSpPr>
        <p:spPr>
          <a:xfrm>
            <a:off x="640080" y="1719072"/>
            <a:ext cx="1600200" cy="1847088"/>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f_bkn15"/>
          <p:cNvSpPr txBox="1"/>
          <p:nvPr/>
        </p:nvSpPr>
        <p:spPr>
          <a:xfrm>
            <a:off x="768096"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1</a:t>
            </a:r>
          </a:p>
        </p:txBody>
      </p:sp>
      <p:sp>
        <p:nvSpPr>
          <p:cNvPr id="17" name="a0f_bks16"/>
          <p:cNvSpPr txBox="1"/>
          <p:nvPr/>
        </p:nvSpPr>
        <p:spPr>
          <a:xfrm>
            <a:off x="768096" y="2020824"/>
            <a:ext cx="1344168" cy="201168"/>
          </a:xfrm>
          <a:prstGeom prst="rect">
            <a:avLst/>
          </a:prstGeom>
          <a:noFill/>
        </p:spPr>
        <p:txBody>
          <a:bodyPr wrap="square" lIns="0" tIns="0" rIns="0" bIns="0" anchor="ctr">
            <a:spAutoFit/>
          </a:bodyPr>
          <a:lstStyle/>
          <a:p>
            <a:pPr algn="l"/>
            <a:r>
              <a:rPr sz="800" b="0">
                <a:solidFill>
                  <a:srgbClr val="0E7490"/>
                </a:solidFill>
                <a:latin typeface="Segoe UI"/>
              </a:rPr>
              <a:t>Kafka server</a:t>
            </a:r>
          </a:p>
        </p:txBody>
      </p:sp>
      <p:sp>
        <p:nvSpPr>
          <p:cNvPr id="18" name="a0f_dk17"/>
          <p:cNvSpPr/>
          <p:nvPr/>
        </p:nvSpPr>
        <p:spPr>
          <a:xfrm>
            <a:off x="768096" y="3291840"/>
            <a:ext cx="1344168" cy="164592"/>
          </a:xfrm>
          <a:prstGeom prst="roundRect">
            <a:avLst>
              <a:gd name="adj" fmla="val 22222"/>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0f_dkt18"/>
          <p:cNvSpPr txBox="1"/>
          <p:nvPr/>
        </p:nvSpPr>
        <p:spPr>
          <a:xfrm>
            <a:off x="768096" y="3291840"/>
            <a:ext cx="1344168" cy="164592"/>
          </a:xfrm>
          <a:prstGeom prst="rect">
            <a:avLst/>
          </a:prstGeom>
          <a:noFill/>
        </p:spPr>
        <p:txBody>
          <a:bodyPr wrap="square" lIns="0" tIns="0" rIns="0" bIns="0" anchor="ctr">
            <a:spAutoFit/>
          </a:bodyPr>
          <a:lstStyle/>
          <a:p>
            <a:pPr algn="ctr"/>
            <a:r>
              <a:rPr sz="750" b="0">
                <a:solidFill>
                  <a:srgbClr val="78716C"/>
                </a:solidFill>
                <a:latin typeface="Consolas"/>
              </a:rPr>
              <a:t>local SSD</a:t>
            </a:r>
          </a:p>
        </p:txBody>
      </p:sp>
      <p:sp>
        <p:nvSpPr>
          <p:cNvPr id="20" name="a0f_pt19"/>
          <p:cNvSpPr/>
          <p:nvPr/>
        </p:nvSpPr>
        <p:spPr>
          <a:xfrm>
            <a:off x="768096" y="2322576"/>
            <a:ext cx="1344168" cy="365760"/>
          </a:xfrm>
          <a:prstGeom prst="roundRect">
            <a:avLst>
              <a:gd name="adj" fmla="val 12500"/>
            </a:avLst>
          </a:prstGeom>
          <a:solidFill>
            <a:srgbClr val="FFEDD5"/>
          </a:solidFill>
          <a:ln w="1270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0f_ptn20"/>
          <p:cNvSpPr txBox="1"/>
          <p:nvPr/>
        </p:nvSpPr>
        <p:spPr>
          <a:xfrm>
            <a:off x="859536" y="2322576"/>
            <a:ext cx="365760" cy="365760"/>
          </a:xfrm>
          <a:prstGeom prst="rect">
            <a:avLst/>
          </a:prstGeom>
          <a:noFill/>
        </p:spPr>
        <p:txBody>
          <a:bodyPr wrap="square" lIns="0" tIns="0" rIns="0" bIns="0" anchor="ctr">
            <a:spAutoFit/>
          </a:bodyPr>
          <a:lstStyle/>
          <a:p>
            <a:pPr algn="l"/>
            <a:r>
              <a:rPr sz="1000" b="1">
                <a:solidFill>
                  <a:srgbClr val="C2410C"/>
                </a:solidFill>
                <a:latin typeface="Consolas"/>
              </a:rPr>
              <a:t>P0</a:t>
            </a:r>
          </a:p>
        </p:txBody>
      </p:sp>
      <p:sp>
        <p:nvSpPr>
          <p:cNvPr id="22" name="a0f_pc21"/>
          <p:cNvSpPr/>
          <p:nvPr/>
        </p:nvSpPr>
        <p:spPr>
          <a:xfrm>
            <a:off x="1289303"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0f_pc22"/>
          <p:cNvSpPr/>
          <p:nvPr/>
        </p:nvSpPr>
        <p:spPr>
          <a:xfrm>
            <a:off x="1481327"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f_pc23"/>
          <p:cNvSpPr/>
          <p:nvPr/>
        </p:nvSpPr>
        <p:spPr>
          <a:xfrm>
            <a:off x="1673351"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0f_pc24"/>
          <p:cNvSpPr/>
          <p:nvPr/>
        </p:nvSpPr>
        <p:spPr>
          <a:xfrm>
            <a:off x="1865376" y="2423160"/>
            <a:ext cx="155448" cy="164592"/>
          </a:xfrm>
          <a:prstGeom prst="rect">
            <a:avLst/>
          </a:prstGeom>
          <a:solidFill>
            <a:srgbClr val="C2410C"/>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0fd120_bk25"/>
          <p:cNvSpPr/>
          <p:nvPr/>
        </p:nvSpPr>
        <p:spPr>
          <a:xfrm>
            <a:off x="2423160" y="1719072"/>
            <a:ext cx="1600200" cy="1847088"/>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0fd120_bkn26"/>
          <p:cNvSpPr txBox="1"/>
          <p:nvPr/>
        </p:nvSpPr>
        <p:spPr>
          <a:xfrm>
            <a:off x="2551176"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2</a:t>
            </a:r>
          </a:p>
        </p:txBody>
      </p:sp>
      <p:sp>
        <p:nvSpPr>
          <p:cNvPr id="28" name="a0fd120_bks27"/>
          <p:cNvSpPr txBox="1"/>
          <p:nvPr/>
        </p:nvSpPr>
        <p:spPr>
          <a:xfrm>
            <a:off x="2551176" y="2020824"/>
            <a:ext cx="1344168" cy="201168"/>
          </a:xfrm>
          <a:prstGeom prst="rect">
            <a:avLst/>
          </a:prstGeom>
          <a:noFill/>
        </p:spPr>
        <p:txBody>
          <a:bodyPr wrap="square" lIns="0" tIns="0" rIns="0" bIns="0" anchor="ctr">
            <a:spAutoFit/>
          </a:bodyPr>
          <a:lstStyle/>
          <a:p>
            <a:pPr algn="l"/>
            <a:r>
              <a:rPr sz="800" b="0">
                <a:solidFill>
                  <a:srgbClr val="0E7490"/>
                </a:solidFill>
                <a:latin typeface="Segoe UI"/>
              </a:rPr>
              <a:t>Kafka server</a:t>
            </a:r>
          </a:p>
        </p:txBody>
      </p:sp>
      <p:sp>
        <p:nvSpPr>
          <p:cNvPr id="29" name="a0fd120_dk28"/>
          <p:cNvSpPr/>
          <p:nvPr/>
        </p:nvSpPr>
        <p:spPr>
          <a:xfrm>
            <a:off x="2551176" y="3291840"/>
            <a:ext cx="1344168" cy="164592"/>
          </a:xfrm>
          <a:prstGeom prst="roundRect">
            <a:avLst>
              <a:gd name="adj" fmla="val 22222"/>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0fd120_dkt29"/>
          <p:cNvSpPr txBox="1"/>
          <p:nvPr/>
        </p:nvSpPr>
        <p:spPr>
          <a:xfrm>
            <a:off x="2551176" y="3291840"/>
            <a:ext cx="1344168" cy="164592"/>
          </a:xfrm>
          <a:prstGeom prst="rect">
            <a:avLst/>
          </a:prstGeom>
          <a:noFill/>
        </p:spPr>
        <p:txBody>
          <a:bodyPr wrap="square" lIns="0" tIns="0" rIns="0" bIns="0" anchor="ctr">
            <a:spAutoFit/>
          </a:bodyPr>
          <a:lstStyle/>
          <a:p>
            <a:pPr algn="ctr"/>
            <a:r>
              <a:rPr sz="750" b="0">
                <a:solidFill>
                  <a:srgbClr val="78716C"/>
                </a:solidFill>
                <a:latin typeface="Consolas"/>
              </a:rPr>
              <a:t>local SSD</a:t>
            </a:r>
          </a:p>
        </p:txBody>
      </p:sp>
      <p:sp>
        <p:nvSpPr>
          <p:cNvPr id="31" name="a0fd150_pt30"/>
          <p:cNvSpPr/>
          <p:nvPr/>
        </p:nvSpPr>
        <p:spPr>
          <a:xfrm>
            <a:off x="2551176" y="2322576"/>
            <a:ext cx="1344168" cy="365760"/>
          </a:xfrm>
          <a:prstGeom prst="roundRect">
            <a:avLst>
              <a:gd name="adj" fmla="val 12500"/>
            </a:avLst>
          </a:prstGeom>
          <a:solidFill>
            <a:srgbClr val="FFEDD5"/>
          </a:solidFill>
          <a:ln w="1270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0fd150_ptn31"/>
          <p:cNvSpPr txBox="1"/>
          <p:nvPr/>
        </p:nvSpPr>
        <p:spPr>
          <a:xfrm>
            <a:off x="2642616" y="2322576"/>
            <a:ext cx="365760" cy="365760"/>
          </a:xfrm>
          <a:prstGeom prst="rect">
            <a:avLst/>
          </a:prstGeom>
          <a:noFill/>
        </p:spPr>
        <p:txBody>
          <a:bodyPr wrap="square" lIns="0" tIns="0" rIns="0" bIns="0" anchor="ctr">
            <a:spAutoFit/>
          </a:bodyPr>
          <a:lstStyle/>
          <a:p>
            <a:pPr algn="l"/>
            <a:r>
              <a:rPr sz="1000" b="1">
                <a:solidFill>
                  <a:srgbClr val="C2410C"/>
                </a:solidFill>
                <a:latin typeface="Consolas"/>
              </a:rPr>
              <a:t>P1</a:t>
            </a:r>
          </a:p>
        </p:txBody>
      </p:sp>
      <p:sp>
        <p:nvSpPr>
          <p:cNvPr id="33" name="a0fd150_pc32"/>
          <p:cNvSpPr/>
          <p:nvPr/>
        </p:nvSpPr>
        <p:spPr>
          <a:xfrm>
            <a:off x="3072384"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0fd150_pc33"/>
          <p:cNvSpPr/>
          <p:nvPr/>
        </p:nvSpPr>
        <p:spPr>
          <a:xfrm>
            <a:off x="3264408"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0fd150_pc34"/>
          <p:cNvSpPr/>
          <p:nvPr/>
        </p:nvSpPr>
        <p:spPr>
          <a:xfrm>
            <a:off x="3456432"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0fd150_pc35"/>
          <p:cNvSpPr/>
          <p:nvPr/>
        </p:nvSpPr>
        <p:spPr>
          <a:xfrm>
            <a:off x="3648456" y="2423160"/>
            <a:ext cx="155448" cy="164592"/>
          </a:xfrm>
          <a:prstGeom prst="rect">
            <a:avLst/>
          </a:prstGeom>
          <a:solidFill>
            <a:srgbClr val="C2410C"/>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0fd240_bk36"/>
          <p:cNvSpPr/>
          <p:nvPr/>
        </p:nvSpPr>
        <p:spPr>
          <a:xfrm>
            <a:off x="4206240" y="1719072"/>
            <a:ext cx="1600200" cy="1847088"/>
          </a:xfrm>
          <a:prstGeom prst="roundRect">
            <a:avLst>
              <a:gd name="adj" fmla="val 457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0fd240_bkn37"/>
          <p:cNvSpPr txBox="1"/>
          <p:nvPr/>
        </p:nvSpPr>
        <p:spPr>
          <a:xfrm>
            <a:off x="4334255" y="1792224"/>
            <a:ext cx="1344168" cy="237744"/>
          </a:xfrm>
          <a:prstGeom prst="rect">
            <a:avLst/>
          </a:prstGeom>
          <a:noFill/>
        </p:spPr>
        <p:txBody>
          <a:bodyPr wrap="square" lIns="0" tIns="0" rIns="0" bIns="0" anchor="ctr">
            <a:spAutoFit/>
          </a:bodyPr>
          <a:lstStyle/>
          <a:p>
            <a:pPr algn="l"/>
            <a:r>
              <a:rPr sz="1050" b="1">
                <a:solidFill>
                  <a:srgbClr val="1C1917"/>
                </a:solidFill>
                <a:latin typeface="Segoe UI"/>
              </a:rPr>
              <a:t>broker 3</a:t>
            </a:r>
          </a:p>
        </p:txBody>
      </p:sp>
      <p:sp>
        <p:nvSpPr>
          <p:cNvPr id="39" name="a0fd240_bks38"/>
          <p:cNvSpPr txBox="1"/>
          <p:nvPr/>
        </p:nvSpPr>
        <p:spPr>
          <a:xfrm>
            <a:off x="4334255" y="2020824"/>
            <a:ext cx="1344168" cy="201168"/>
          </a:xfrm>
          <a:prstGeom prst="rect">
            <a:avLst/>
          </a:prstGeom>
          <a:noFill/>
        </p:spPr>
        <p:txBody>
          <a:bodyPr wrap="square" lIns="0" tIns="0" rIns="0" bIns="0" anchor="ctr">
            <a:spAutoFit/>
          </a:bodyPr>
          <a:lstStyle/>
          <a:p>
            <a:pPr algn="l"/>
            <a:r>
              <a:rPr sz="800" b="0">
                <a:solidFill>
                  <a:srgbClr val="0E7490"/>
                </a:solidFill>
                <a:latin typeface="Segoe UI"/>
              </a:rPr>
              <a:t>Kafka server</a:t>
            </a:r>
          </a:p>
        </p:txBody>
      </p:sp>
      <p:sp>
        <p:nvSpPr>
          <p:cNvPr id="40" name="a0fd240_dk39"/>
          <p:cNvSpPr/>
          <p:nvPr/>
        </p:nvSpPr>
        <p:spPr>
          <a:xfrm>
            <a:off x="4334255" y="3291840"/>
            <a:ext cx="1344168" cy="164592"/>
          </a:xfrm>
          <a:prstGeom prst="roundRect">
            <a:avLst>
              <a:gd name="adj" fmla="val 22222"/>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0fd240_dkt40"/>
          <p:cNvSpPr txBox="1"/>
          <p:nvPr/>
        </p:nvSpPr>
        <p:spPr>
          <a:xfrm>
            <a:off x="4334255" y="3291840"/>
            <a:ext cx="1344168" cy="164592"/>
          </a:xfrm>
          <a:prstGeom prst="rect">
            <a:avLst/>
          </a:prstGeom>
          <a:noFill/>
        </p:spPr>
        <p:txBody>
          <a:bodyPr wrap="square" lIns="0" tIns="0" rIns="0" bIns="0" anchor="ctr">
            <a:spAutoFit/>
          </a:bodyPr>
          <a:lstStyle/>
          <a:p>
            <a:pPr algn="ctr"/>
            <a:r>
              <a:rPr sz="750" b="0">
                <a:solidFill>
                  <a:srgbClr val="78716C"/>
                </a:solidFill>
                <a:latin typeface="Consolas"/>
              </a:rPr>
              <a:t>local SSD</a:t>
            </a:r>
          </a:p>
        </p:txBody>
      </p:sp>
      <p:sp>
        <p:nvSpPr>
          <p:cNvPr id="42" name="a0fd300_pt41"/>
          <p:cNvSpPr/>
          <p:nvPr/>
        </p:nvSpPr>
        <p:spPr>
          <a:xfrm>
            <a:off x="4334255" y="2322576"/>
            <a:ext cx="1344168" cy="365760"/>
          </a:xfrm>
          <a:prstGeom prst="roundRect">
            <a:avLst>
              <a:gd name="adj" fmla="val 12500"/>
            </a:avLst>
          </a:prstGeom>
          <a:solidFill>
            <a:srgbClr val="FFEDD5"/>
          </a:solidFill>
          <a:ln w="1270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0fd300_ptn42"/>
          <p:cNvSpPr txBox="1"/>
          <p:nvPr/>
        </p:nvSpPr>
        <p:spPr>
          <a:xfrm>
            <a:off x="4425695" y="2322576"/>
            <a:ext cx="365760" cy="365760"/>
          </a:xfrm>
          <a:prstGeom prst="rect">
            <a:avLst/>
          </a:prstGeom>
          <a:noFill/>
        </p:spPr>
        <p:txBody>
          <a:bodyPr wrap="square" lIns="0" tIns="0" rIns="0" bIns="0" anchor="ctr">
            <a:spAutoFit/>
          </a:bodyPr>
          <a:lstStyle/>
          <a:p>
            <a:pPr algn="l"/>
            <a:r>
              <a:rPr sz="1000" b="1">
                <a:solidFill>
                  <a:srgbClr val="C2410C"/>
                </a:solidFill>
                <a:latin typeface="Consolas"/>
              </a:rPr>
              <a:t>P2</a:t>
            </a:r>
          </a:p>
        </p:txBody>
      </p:sp>
      <p:sp>
        <p:nvSpPr>
          <p:cNvPr id="44" name="a0fd300_pc43"/>
          <p:cNvSpPr/>
          <p:nvPr/>
        </p:nvSpPr>
        <p:spPr>
          <a:xfrm>
            <a:off x="4855464"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0fd300_pc44"/>
          <p:cNvSpPr/>
          <p:nvPr/>
        </p:nvSpPr>
        <p:spPr>
          <a:xfrm>
            <a:off x="5047488"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0fd300_pc45"/>
          <p:cNvSpPr/>
          <p:nvPr/>
        </p:nvSpPr>
        <p:spPr>
          <a:xfrm>
            <a:off x="5239512" y="2423160"/>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0fd300_pc46"/>
          <p:cNvSpPr/>
          <p:nvPr/>
        </p:nvSpPr>
        <p:spPr>
          <a:xfrm>
            <a:off x="5431536" y="2423160"/>
            <a:ext cx="155448" cy="164592"/>
          </a:xfrm>
          <a:prstGeom prst="rect">
            <a:avLst/>
          </a:prstGeom>
          <a:solidFill>
            <a:srgbClr val="C2410C"/>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1u_lg47"/>
          <p:cNvSpPr/>
          <p:nvPr/>
        </p:nvSpPr>
        <p:spPr>
          <a:xfrm>
            <a:off x="3886200" y="1399032"/>
            <a:ext cx="146304" cy="146304"/>
          </a:xfrm>
          <a:prstGeom prst="roundRect">
            <a:avLst>
              <a:gd name="adj" fmla="val 18750"/>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1u_lgt48"/>
          <p:cNvSpPr txBox="1"/>
          <p:nvPr/>
        </p:nvSpPr>
        <p:spPr>
          <a:xfrm>
            <a:off x="4105656" y="1353312"/>
            <a:ext cx="2194560" cy="237744"/>
          </a:xfrm>
          <a:prstGeom prst="rect">
            <a:avLst/>
          </a:prstGeom>
          <a:noFill/>
        </p:spPr>
        <p:txBody>
          <a:bodyPr wrap="square" lIns="0" tIns="0" rIns="0" bIns="0" anchor="ctr">
            <a:spAutoFit/>
          </a:bodyPr>
          <a:lstStyle/>
          <a:p>
            <a:pPr algn="l"/>
            <a:r>
              <a:rPr sz="900" b="1">
                <a:solidFill>
                  <a:srgbClr val="4F46E5"/>
                </a:solidFill>
                <a:latin typeface="Consolas"/>
              </a:rPr>
              <a:t>hot_locations</a:t>
            </a:r>
          </a:p>
        </p:txBody>
      </p:sp>
      <p:sp>
        <p:nvSpPr>
          <p:cNvPr id="50" name="a1ud200_pt49"/>
          <p:cNvSpPr/>
          <p:nvPr/>
        </p:nvSpPr>
        <p:spPr>
          <a:xfrm>
            <a:off x="768096" y="2761487"/>
            <a:ext cx="1344168" cy="365760"/>
          </a:xfrm>
          <a:prstGeom prst="roundRect">
            <a:avLst>
              <a:gd name="adj" fmla="val 12500"/>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1ud200_ptn50"/>
          <p:cNvSpPr txBox="1"/>
          <p:nvPr/>
        </p:nvSpPr>
        <p:spPr>
          <a:xfrm>
            <a:off x="859536" y="2761487"/>
            <a:ext cx="365760" cy="365760"/>
          </a:xfrm>
          <a:prstGeom prst="rect">
            <a:avLst/>
          </a:prstGeom>
          <a:noFill/>
        </p:spPr>
        <p:txBody>
          <a:bodyPr wrap="square" lIns="0" tIns="0" rIns="0" bIns="0" anchor="ctr">
            <a:spAutoFit/>
          </a:bodyPr>
          <a:lstStyle/>
          <a:p>
            <a:pPr algn="l"/>
            <a:r>
              <a:rPr sz="1000" b="1">
                <a:solidFill>
                  <a:srgbClr val="4F46E5"/>
                </a:solidFill>
                <a:latin typeface="Consolas"/>
              </a:rPr>
              <a:t>P0</a:t>
            </a:r>
          </a:p>
        </p:txBody>
      </p:sp>
      <p:sp>
        <p:nvSpPr>
          <p:cNvPr id="52" name="a1ud200_pc51"/>
          <p:cNvSpPr/>
          <p:nvPr/>
        </p:nvSpPr>
        <p:spPr>
          <a:xfrm>
            <a:off x="1289303" y="2862071"/>
            <a:ext cx="155448" cy="164592"/>
          </a:xfrm>
          <a:prstGeom prst="rect">
            <a:avLst/>
          </a:prstGeom>
          <a:solidFill>
            <a:srgbClr val="FFFFFF"/>
          </a:solidFill>
          <a:ln w="635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1ud200_pc52"/>
          <p:cNvSpPr/>
          <p:nvPr/>
        </p:nvSpPr>
        <p:spPr>
          <a:xfrm>
            <a:off x="1481327" y="2862071"/>
            <a:ext cx="155448" cy="164592"/>
          </a:xfrm>
          <a:prstGeom prst="rect">
            <a:avLst/>
          </a:prstGeom>
          <a:solidFill>
            <a:srgbClr val="FFFFFF"/>
          </a:solidFill>
          <a:ln w="635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1ud200_pc53"/>
          <p:cNvSpPr/>
          <p:nvPr/>
        </p:nvSpPr>
        <p:spPr>
          <a:xfrm>
            <a:off x="1673351" y="2862071"/>
            <a:ext cx="155448" cy="164592"/>
          </a:xfrm>
          <a:prstGeom prst="rect">
            <a:avLst/>
          </a:prstGeom>
          <a:solidFill>
            <a:srgbClr val="FFFFFF"/>
          </a:solidFill>
          <a:ln w="635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1ud200_pc54"/>
          <p:cNvSpPr/>
          <p:nvPr/>
        </p:nvSpPr>
        <p:spPr>
          <a:xfrm>
            <a:off x="1865376" y="2862071"/>
            <a:ext cx="155448" cy="164592"/>
          </a:xfrm>
          <a:prstGeom prst="rect">
            <a:avLst/>
          </a:prstGeom>
          <a:solidFill>
            <a:srgbClr val="4F46E5"/>
          </a:solidFill>
          <a:ln w="635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1ud350_pt55"/>
          <p:cNvSpPr/>
          <p:nvPr/>
        </p:nvSpPr>
        <p:spPr>
          <a:xfrm>
            <a:off x="2551176" y="2761487"/>
            <a:ext cx="1344168" cy="365760"/>
          </a:xfrm>
          <a:prstGeom prst="roundRect">
            <a:avLst>
              <a:gd name="adj" fmla="val 12500"/>
            </a:avLst>
          </a:prstGeom>
          <a:solidFill>
            <a:srgbClr val="E0E7FF"/>
          </a:solidFill>
          <a:ln w="1270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a1ud350_ptn56"/>
          <p:cNvSpPr txBox="1"/>
          <p:nvPr/>
        </p:nvSpPr>
        <p:spPr>
          <a:xfrm>
            <a:off x="2642616" y="2761487"/>
            <a:ext cx="365760" cy="365760"/>
          </a:xfrm>
          <a:prstGeom prst="rect">
            <a:avLst/>
          </a:prstGeom>
          <a:noFill/>
        </p:spPr>
        <p:txBody>
          <a:bodyPr wrap="square" lIns="0" tIns="0" rIns="0" bIns="0" anchor="ctr">
            <a:spAutoFit/>
          </a:bodyPr>
          <a:lstStyle/>
          <a:p>
            <a:pPr algn="l"/>
            <a:r>
              <a:rPr sz="1000" b="1">
                <a:solidFill>
                  <a:srgbClr val="4F46E5"/>
                </a:solidFill>
                <a:latin typeface="Consolas"/>
              </a:rPr>
              <a:t>P1</a:t>
            </a:r>
          </a:p>
        </p:txBody>
      </p:sp>
      <p:sp>
        <p:nvSpPr>
          <p:cNvPr id="58" name="a1ud350_pc57"/>
          <p:cNvSpPr/>
          <p:nvPr/>
        </p:nvSpPr>
        <p:spPr>
          <a:xfrm>
            <a:off x="3072384" y="2862071"/>
            <a:ext cx="155448" cy="164592"/>
          </a:xfrm>
          <a:prstGeom prst="rect">
            <a:avLst/>
          </a:prstGeom>
          <a:solidFill>
            <a:srgbClr val="FFFFFF"/>
          </a:solidFill>
          <a:ln w="635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1ud350_pc58"/>
          <p:cNvSpPr/>
          <p:nvPr/>
        </p:nvSpPr>
        <p:spPr>
          <a:xfrm>
            <a:off x="3264408" y="2862071"/>
            <a:ext cx="155448" cy="164592"/>
          </a:xfrm>
          <a:prstGeom prst="rect">
            <a:avLst/>
          </a:prstGeom>
          <a:solidFill>
            <a:srgbClr val="FFFFFF"/>
          </a:solidFill>
          <a:ln w="635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1ud350_pc59"/>
          <p:cNvSpPr/>
          <p:nvPr/>
        </p:nvSpPr>
        <p:spPr>
          <a:xfrm>
            <a:off x="3456432" y="2862071"/>
            <a:ext cx="155448" cy="164592"/>
          </a:xfrm>
          <a:prstGeom prst="rect">
            <a:avLst/>
          </a:prstGeom>
          <a:solidFill>
            <a:srgbClr val="FFFFFF"/>
          </a:solidFill>
          <a:ln w="635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a1ud350_pc60"/>
          <p:cNvSpPr/>
          <p:nvPr/>
        </p:nvSpPr>
        <p:spPr>
          <a:xfrm>
            <a:off x="3648456" y="2862071"/>
            <a:ext cx="155448" cy="164592"/>
          </a:xfrm>
          <a:prstGeom prst="rect">
            <a:avLst/>
          </a:prstGeom>
          <a:solidFill>
            <a:srgbClr val="4F46E5"/>
          </a:solidFill>
          <a:ln w="635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a1ud500_emp61"/>
          <p:cNvSpPr/>
          <p:nvPr/>
        </p:nvSpPr>
        <p:spPr>
          <a:xfrm>
            <a:off x="4334255" y="2761487"/>
            <a:ext cx="1344168" cy="365760"/>
          </a:xfrm>
          <a:prstGeom prst="roundRect">
            <a:avLst>
              <a:gd name="adj" fmla="val 12500"/>
            </a:avLst>
          </a:prstGeom>
          <a:noFill/>
          <a:ln w="12700">
            <a:solidFill>
              <a:srgbClr val="E7E5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a1ud500_empt62"/>
          <p:cNvSpPr txBox="1"/>
          <p:nvPr/>
        </p:nvSpPr>
        <p:spPr>
          <a:xfrm>
            <a:off x="4334255" y="2761487"/>
            <a:ext cx="1344168" cy="365760"/>
          </a:xfrm>
          <a:prstGeom prst="rect">
            <a:avLst/>
          </a:prstGeom>
          <a:noFill/>
        </p:spPr>
        <p:txBody>
          <a:bodyPr wrap="square" lIns="0" tIns="0" rIns="0" bIns="0" anchor="ctr">
            <a:spAutoFit/>
          </a:bodyPr>
          <a:lstStyle/>
          <a:p>
            <a:pPr algn="ctr"/>
            <a:r>
              <a:rPr sz="800" b="0">
                <a:solidFill>
                  <a:srgbClr val="A8A29E"/>
                </a:solidFill>
                <a:latin typeface="Consolas"/>
              </a:rPr>
              <a:t>no hot_locations</a:t>
            </a:r>
          </a:p>
        </p:txBody>
      </p:sp>
      <p:sp>
        <p:nvSpPr>
          <p:cNvPr id="64" name="a2u_dot63"/>
          <p:cNvSpPr/>
          <p:nvPr/>
        </p:nvSpPr>
        <p:spPr>
          <a:xfrm>
            <a:off x="6217920" y="1449324"/>
            <a:ext cx="91440" cy="91440"/>
          </a:xfrm>
          <a:prstGeom prst="roundRect">
            <a:avLst>
              <a:gd name="adj" fmla="val 2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a2u_b64"/>
          <p:cNvSpPr txBox="1"/>
          <p:nvPr/>
        </p:nvSpPr>
        <p:spPr>
          <a:xfrm>
            <a:off x="6437376" y="1353312"/>
            <a:ext cx="2249424" cy="566928"/>
          </a:xfrm>
          <a:prstGeom prst="rect">
            <a:avLst/>
          </a:prstGeom>
          <a:noFill/>
        </p:spPr>
        <p:txBody>
          <a:bodyPr wrap="square" lIns="0" tIns="0" rIns="0" bIns="0" anchor="t">
            <a:spAutoFit/>
          </a:bodyPr>
          <a:lstStyle/>
          <a:p>
            <a:pPr algn="l"/>
            <a:r>
              <a:rPr sz="950" b="1">
                <a:solidFill>
                  <a:srgbClr val="1C1917"/>
                </a:solidFill>
                <a:latin typeface="Segoe UI"/>
              </a:rPr>
              <a:t>hot_locations  </a:t>
            </a:r>
            <a:r>
              <a:rPr sz="950" b="0">
                <a:solidFill>
                  <a:srgbClr val="44403C"/>
                </a:solidFill>
                <a:latin typeface="Segoe UI"/>
              </a:rPr>
              <a:t>the filtered topic from Module 2 - 2 partitions</a:t>
            </a:r>
          </a:p>
        </p:txBody>
      </p:sp>
      <p:sp>
        <p:nvSpPr>
          <p:cNvPr id="66" name="a2ud120_dot65"/>
          <p:cNvSpPr/>
          <p:nvPr/>
        </p:nvSpPr>
        <p:spPr>
          <a:xfrm>
            <a:off x="6217920" y="2052828"/>
            <a:ext cx="91440" cy="91440"/>
          </a:xfrm>
          <a:prstGeom prst="roundRect">
            <a:avLst>
              <a:gd name="adj" fmla="val 2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a2ud120_b66"/>
          <p:cNvSpPr txBox="1"/>
          <p:nvPr/>
        </p:nvSpPr>
        <p:spPr>
          <a:xfrm>
            <a:off x="6437376" y="1956816"/>
            <a:ext cx="2249424" cy="566928"/>
          </a:xfrm>
          <a:prstGeom prst="rect">
            <a:avLst/>
          </a:prstGeom>
          <a:noFill/>
        </p:spPr>
        <p:txBody>
          <a:bodyPr wrap="square" lIns="0" tIns="0" rIns="0" bIns="0" anchor="t">
            <a:spAutoFit/>
          </a:bodyPr>
          <a:lstStyle/>
          <a:p>
            <a:pPr algn="l"/>
            <a:r>
              <a:rPr sz="950" b="1">
                <a:solidFill>
                  <a:srgbClr val="1C1917"/>
                </a:solidFill>
                <a:latin typeface="Segoe UI"/>
              </a:rPr>
              <a:t>So 2 brokers  </a:t>
            </a:r>
            <a:r>
              <a:rPr sz="950" b="0">
                <a:solidFill>
                  <a:srgbClr val="44403C"/>
                </a:solidFill>
                <a:latin typeface="Segoe UI"/>
              </a:rPr>
              <a:t>host it; broker 3 holds none of it</a:t>
            </a:r>
          </a:p>
        </p:txBody>
      </p:sp>
      <p:sp>
        <p:nvSpPr>
          <p:cNvPr id="68" name="a2ud240_dot67"/>
          <p:cNvSpPr/>
          <p:nvPr/>
        </p:nvSpPr>
        <p:spPr>
          <a:xfrm>
            <a:off x="6217920" y="2656332"/>
            <a:ext cx="91440" cy="91440"/>
          </a:xfrm>
          <a:prstGeom prst="roundRect">
            <a:avLst>
              <a:gd name="adj" fmla="val 25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a2ud240_b68"/>
          <p:cNvSpPr txBox="1"/>
          <p:nvPr/>
        </p:nvSpPr>
        <p:spPr>
          <a:xfrm>
            <a:off x="6437376" y="2560320"/>
            <a:ext cx="2249424" cy="566928"/>
          </a:xfrm>
          <a:prstGeom prst="rect">
            <a:avLst/>
          </a:prstGeom>
          <a:noFill/>
        </p:spPr>
        <p:txBody>
          <a:bodyPr wrap="square" lIns="0" tIns="0" rIns="0" bIns="0" anchor="t">
            <a:spAutoFit/>
          </a:bodyPr>
          <a:lstStyle/>
          <a:p>
            <a:pPr algn="l"/>
            <a:r>
              <a:rPr sz="950" b="1">
                <a:solidFill>
                  <a:srgbClr val="1C1917"/>
                </a:solidFill>
                <a:latin typeface="Segoe UI"/>
              </a:rPr>
              <a:t>Per topic  </a:t>
            </a:r>
            <a:r>
              <a:rPr sz="950" b="0">
                <a:solidFill>
                  <a:srgbClr val="44403C"/>
                </a:solidFill>
                <a:latin typeface="Segoe UI"/>
              </a:rPr>
              <a:t>choose the partition count for the scale you expect</a:t>
            </a:r>
          </a:p>
        </p:txBody>
      </p:sp>
      <p:sp>
        <p:nvSpPr>
          <p:cNvPr id="70" name="a3u_nb69"/>
          <p:cNvSpPr/>
          <p:nvPr/>
        </p:nvSpPr>
        <p:spPr>
          <a:xfrm>
            <a:off x="457200" y="3931920"/>
            <a:ext cx="8229600" cy="548640"/>
          </a:xfrm>
          <a:prstGeom prst="roundRect">
            <a:avLst>
              <a:gd name="adj" fmla="val 13333"/>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a3u_nacc70"/>
          <p:cNvSpPr/>
          <p:nvPr/>
        </p:nvSpPr>
        <p:spPr>
          <a:xfrm>
            <a:off x="457200" y="3931920"/>
            <a:ext cx="54864" cy="5486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a3u_nt71"/>
          <p:cNvSpPr txBox="1"/>
          <p:nvPr/>
        </p:nvSpPr>
        <p:spPr>
          <a:xfrm>
            <a:off x="658368" y="3931920"/>
            <a:ext cx="7827264" cy="548640"/>
          </a:xfrm>
          <a:prstGeom prst="rect">
            <a:avLst/>
          </a:prstGeom>
          <a:noFill/>
        </p:spPr>
        <p:txBody>
          <a:bodyPr wrap="square" lIns="0" tIns="0" rIns="0" bIns="0" anchor="ctr">
            <a:spAutoFit/>
          </a:bodyPr>
          <a:lstStyle/>
          <a:p>
            <a:pPr algn="l"/>
            <a:r>
              <a:rPr sz="950" b="1">
                <a:solidFill>
                  <a:srgbClr val="4F46E5"/>
                </a:solidFill>
                <a:latin typeface="Segoe UI"/>
              </a:rPr>
              <a:t>KEY  </a:t>
            </a:r>
            <a:r>
              <a:rPr sz="950" b="0">
                <a:solidFill>
                  <a:srgbClr val="44403C"/>
                </a:solidFill>
                <a:latin typeface="Segoe UI"/>
              </a:rPr>
              <a:t>A real cluster hosts many topics - so every broker holds a mix of partitions from different topics.</a:t>
            </a:r>
          </a:p>
        </p:txBody>
      </p:sp>
      <p:sp>
        <p:nvSpPr>
          <p:cNvPr id="73" name="ft72"/>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07</a:t>
            </a:r>
          </a:p>
        </p:txBody>
      </p:sp>
      <p:sp>
        <p:nvSpPr>
          <p:cNvPr id="74" name="ft73"/>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ft74"/>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Brokers</a:t>
            </a:r>
          </a:p>
        </p:txBody>
      </p:sp>
      <p:sp>
        <p:nvSpPr>
          <p:cNvPr id="76" name="ft75"/>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52" presetID="10" presetClass="entr" presetSubtype="0" fill="hold" grpId="0" nodeType="withEffect">
                                  <p:stCondLst>
                                    <p:cond delay="12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5" presetID="10" presetClass="entr" presetSubtype="0" fill="hold" grpId="0" nodeType="withEffect">
                                  <p:stCondLst>
                                    <p:cond delay="12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8" presetID="10" presetClass="entr" presetSubtype="0" fill="hold" grpId="0" nodeType="withEffect">
                                  <p:stCondLst>
                                    <p:cond delay="12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par>
                                <p:cTn id="61" presetID="10" presetClass="entr" presetSubtype="0" fill="hold" grpId="0" nodeType="withEffect">
                                  <p:stCondLst>
                                    <p:cond delay="12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par>
                                <p:cTn id="64" presetID="10" presetClass="entr" presetSubtype="0" fill="hold" grpId="0" nodeType="withEffect">
                                  <p:stCondLst>
                                    <p:cond delay="12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500"/>
                                        <p:tgtEl>
                                          <p:spTgt spid="30"/>
                                        </p:tgtEl>
                                      </p:cBhvr>
                                    </p:animEffect>
                                  </p:childTnLst>
                                </p:cTn>
                              </p:par>
                              <p:par>
                                <p:cTn id="67" presetID="10" presetClass="entr" presetSubtype="0" fill="hold" grpId="0" nodeType="withEffect">
                                  <p:stCondLst>
                                    <p:cond delay="15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500"/>
                                        <p:tgtEl>
                                          <p:spTgt spid="31"/>
                                        </p:tgtEl>
                                      </p:cBhvr>
                                    </p:animEffect>
                                  </p:childTnLst>
                                </p:cTn>
                              </p:par>
                              <p:par>
                                <p:cTn id="70" presetID="10" presetClass="entr" presetSubtype="0" fill="hold" grpId="0" nodeType="withEffect">
                                  <p:stCondLst>
                                    <p:cond delay="15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500"/>
                                        <p:tgtEl>
                                          <p:spTgt spid="32"/>
                                        </p:tgtEl>
                                      </p:cBhvr>
                                    </p:animEffect>
                                  </p:childTnLst>
                                </p:cTn>
                              </p:par>
                              <p:par>
                                <p:cTn id="73" presetID="10" presetClass="entr" presetSubtype="0" fill="hold" grpId="0" nodeType="withEffect">
                                  <p:stCondLst>
                                    <p:cond delay="15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500"/>
                                        <p:tgtEl>
                                          <p:spTgt spid="33"/>
                                        </p:tgtEl>
                                      </p:cBhvr>
                                    </p:animEffect>
                                  </p:childTnLst>
                                </p:cTn>
                              </p:par>
                              <p:par>
                                <p:cTn id="76" presetID="10" presetClass="entr" presetSubtype="0" fill="hold" grpId="0" nodeType="withEffect">
                                  <p:stCondLst>
                                    <p:cond delay="15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500"/>
                                        <p:tgtEl>
                                          <p:spTgt spid="34"/>
                                        </p:tgtEl>
                                      </p:cBhvr>
                                    </p:animEffect>
                                  </p:childTnLst>
                                </p:cTn>
                              </p:par>
                              <p:par>
                                <p:cTn id="79" presetID="10" presetClass="entr" presetSubtype="0" fill="hold" grpId="0" nodeType="withEffect">
                                  <p:stCondLst>
                                    <p:cond delay="15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500"/>
                                        <p:tgtEl>
                                          <p:spTgt spid="35"/>
                                        </p:tgtEl>
                                      </p:cBhvr>
                                    </p:animEffect>
                                  </p:childTnLst>
                                </p:cTn>
                              </p:par>
                              <p:par>
                                <p:cTn id="82" presetID="10" presetClass="entr" presetSubtype="0" fill="hold" grpId="0" nodeType="withEffect">
                                  <p:stCondLst>
                                    <p:cond delay="15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500"/>
                                        <p:tgtEl>
                                          <p:spTgt spid="36"/>
                                        </p:tgtEl>
                                      </p:cBhvr>
                                    </p:animEffect>
                                  </p:childTnLst>
                                </p:cTn>
                              </p:par>
                              <p:par>
                                <p:cTn id="85" presetID="10" presetClass="entr" presetSubtype="0" fill="hold" grpId="0" nodeType="withEffect">
                                  <p:stCondLst>
                                    <p:cond delay="240"/>
                                  </p:stCondLst>
                                  <p:childTnLst>
                                    <p:set>
                                      <p:cBhvr>
                                        <p:cTn id="83" dur="1" fill="hold">
                                          <p:stCondLst>
                                            <p:cond delay="0"/>
                                          </p:stCondLst>
                                        </p:cTn>
                                        <p:tgtEl>
                                          <p:spTgt spid="37"/>
                                        </p:tgtEl>
                                        <p:attrNameLst>
                                          <p:attrName>style.visibility</p:attrName>
                                        </p:attrNameLst>
                                      </p:cBhvr>
                                      <p:to>
                                        <p:strVal val="visible"/>
                                      </p:to>
                                    </p:set>
                                    <p:animEffect transition="in" filter="fade">
                                      <p:cBhvr>
                                        <p:cTn id="84" dur="500"/>
                                        <p:tgtEl>
                                          <p:spTgt spid="37"/>
                                        </p:tgtEl>
                                      </p:cBhvr>
                                    </p:animEffect>
                                  </p:childTnLst>
                                </p:cTn>
                              </p:par>
                              <p:par>
                                <p:cTn id="88" presetID="10" presetClass="entr" presetSubtype="0" fill="hold" grpId="0" nodeType="withEffect">
                                  <p:stCondLst>
                                    <p:cond delay="24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500"/>
                                        <p:tgtEl>
                                          <p:spTgt spid="38"/>
                                        </p:tgtEl>
                                      </p:cBhvr>
                                    </p:animEffect>
                                  </p:childTnLst>
                                </p:cTn>
                              </p:par>
                              <p:par>
                                <p:cTn id="91" presetID="10" presetClass="entr" presetSubtype="0" fill="hold" grpId="0" nodeType="withEffect">
                                  <p:stCondLst>
                                    <p:cond delay="24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500"/>
                                        <p:tgtEl>
                                          <p:spTgt spid="39"/>
                                        </p:tgtEl>
                                      </p:cBhvr>
                                    </p:animEffect>
                                  </p:childTnLst>
                                </p:cTn>
                              </p:par>
                              <p:par>
                                <p:cTn id="94" presetID="10" presetClass="entr" presetSubtype="0" fill="hold" grpId="0" nodeType="withEffect">
                                  <p:stCondLst>
                                    <p:cond delay="24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500"/>
                                        <p:tgtEl>
                                          <p:spTgt spid="40"/>
                                        </p:tgtEl>
                                      </p:cBhvr>
                                    </p:animEffect>
                                  </p:childTnLst>
                                </p:cTn>
                              </p:par>
                              <p:par>
                                <p:cTn id="97" presetID="10" presetClass="entr" presetSubtype="0" fill="hold" grpId="0" nodeType="withEffect">
                                  <p:stCondLst>
                                    <p:cond delay="240"/>
                                  </p:stCondLst>
                                  <p:childTnLst>
                                    <p:set>
                                      <p:cBhvr>
                                        <p:cTn id="95" dur="1" fill="hold">
                                          <p:stCondLst>
                                            <p:cond delay="0"/>
                                          </p:stCondLst>
                                        </p:cTn>
                                        <p:tgtEl>
                                          <p:spTgt spid="41"/>
                                        </p:tgtEl>
                                        <p:attrNameLst>
                                          <p:attrName>style.visibility</p:attrName>
                                        </p:attrNameLst>
                                      </p:cBhvr>
                                      <p:to>
                                        <p:strVal val="visible"/>
                                      </p:to>
                                    </p:set>
                                    <p:animEffect transition="in" filter="fade">
                                      <p:cBhvr>
                                        <p:cTn id="96" dur="500"/>
                                        <p:tgtEl>
                                          <p:spTgt spid="41"/>
                                        </p:tgtEl>
                                      </p:cBhvr>
                                    </p:animEffect>
                                  </p:childTnLst>
                                </p:cTn>
                              </p:par>
                              <p:par>
                                <p:cTn id="100" presetID="10" presetClass="entr" presetSubtype="0" fill="hold" grpId="0" nodeType="withEffect">
                                  <p:stCondLst>
                                    <p:cond delay="300"/>
                                  </p:stCondLst>
                                  <p:childTnLst>
                                    <p:set>
                                      <p:cBhvr>
                                        <p:cTn id="98" dur="1" fill="hold">
                                          <p:stCondLst>
                                            <p:cond delay="0"/>
                                          </p:stCondLst>
                                        </p:cTn>
                                        <p:tgtEl>
                                          <p:spTgt spid="42"/>
                                        </p:tgtEl>
                                        <p:attrNameLst>
                                          <p:attrName>style.visibility</p:attrName>
                                        </p:attrNameLst>
                                      </p:cBhvr>
                                      <p:to>
                                        <p:strVal val="visible"/>
                                      </p:to>
                                    </p:set>
                                    <p:animEffect transition="in" filter="fade">
                                      <p:cBhvr>
                                        <p:cTn id="99" dur="500"/>
                                        <p:tgtEl>
                                          <p:spTgt spid="42"/>
                                        </p:tgtEl>
                                      </p:cBhvr>
                                    </p:animEffect>
                                  </p:childTnLst>
                                </p:cTn>
                              </p:par>
                              <p:par>
                                <p:cTn id="103" presetID="10" presetClass="entr" presetSubtype="0" fill="hold" grpId="0" nodeType="withEffect">
                                  <p:stCondLst>
                                    <p:cond delay="300"/>
                                  </p:stCondLst>
                                  <p:childTnLst>
                                    <p:set>
                                      <p:cBhvr>
                                        <p:cTn id="101" dur="1" fill="hold">
                                          <p:stCondLst>
                                            <p:cond delay="0"/>
                                          </p:stCondLst>
                                        </p:cTn>
                                        <p:tgtEl>
                                          <p:spTgt spid="43"/>
                                        </p:tgtEl>
                                        <p:attrNameLst>
                                          <p:attrName>style.visibility</p:attrName>
                                        </p:attrNameLst>
                                      </p:cBhvr>
                                      <p:to>
                                        <p:strVal val="visible"/>
                                      </p:to>
                                    </p:set>
                                    <p:animEffect transition="in" filter="fade">
                                      <p:cBhvr>
                                        <p:cTn id="102" dur="500"/>
                                        <p:tgtEl>
                                          <p:spTgt spid="43"/>
                                        </p:tgtEl>
                                      </p:cBhvr>
                                    </p:animEffect>
                                  </p:childTnLst>
                                </p:cTn>
                              </p:par>
                              <p:par>
                                <p:cTn id="106" presetID="10" presetClass="entr" presetSubtype="0" fill="hold" grpId="0" nodeType="withEffect">
                                  <p:stCondLst>
                                    <p:cond delay="300"/>
                                  </p:stCondLst>
                                  <p:childTnLst>
                                    <p:set>
                                      <p:cBhvr>
                                        <p:cTn id="104" dur="1" fill="hold">
                                          <p:stCondLst>
                                            <p:cond delay="0"/>
                                          </p:stCondLst>
                                        </p:cTn>
                                        <p:tgtEl>
                                          <p:spTgt spid="44"/>
                                        </p:tgtEl>
                                        <p:attrNameLst>
                                          <p:attrName>style.visibility</p:attrName>
                                        </p:attrNameLst>
                                      </p:cBhvr>
                                      <p:to>
                                        <p:strVal val="visible"/>
                                      </p:to>
                                    </p:set>
                                    <p:animEffect transition="in" filter="fade">
                                      <p:cBhvr>
                                        <p:cTn id="105" dur="500"/>
                                        <p:tgtEl>
                                          <p:spTgt spid="44"/>
                                        </p:tgtEl>
                                      </p:cBhvr>
                                    </p:animEffect>
                                  </p:childTnLst>
                                </p:cTn>
                              </p:par>
                              <p:par>
                                <p:cTn id="109" presetID="10" presetClass="entr" presetSubtype="0" fill="hold" grpId="0" nodeType="withEffect">
                                  <p:stCondLst>
                                    <p:cond delay="300"/>
                                  </p:stCondLst>
                                  <p:childTnLst>
                                    <p:set>
                                      <p:cBhvr>
                                        <p:cTn id="107" dur="1" fill="hold">
                                          <p:stCondLst>
                                            <p:cond delay="0"/>
                                          </p:stCondLst>
                                        </p:cTn>
                                        <p:tgtEl>
                                          <p:spTgt spid="45"/>
                                        </p:tgtEl>
                                        <p:attrNameLst>
                                          <p:attrName>style.visibility</p:attrName>
                                        </p:attrNameLst>
                                      </p:cBhvr>
                                      <p:to>
                                        <p:strVal val="visible"/>
                                      </p:to>
                                    </p:set>
                                    <p:animEffect transition="in" filter="fade">
                                      <p:cBhvr>
                                        <p:cTn id="108" dur="500"/>
                                        <p:tgtEl>
                                          <p:spTgt spid="45"/>
                                        </p:tgtEl>
                                      </p:cBhvr>
                                    </p:animEffect>
                                  </p:childTnLst>
                                </p:cTn>
                              </p:par>
                              <p:par>
                                <p:cTn id="112" presetID="10" presetClass="entr" presetSubtype="0" fill="hold" grpId="0" nodeType="withEffect">
                                  <p:stCondLst>
                                    <p:cond delay="300"/>
                                  </p:stCondLst>
                                  <p:childTnLst>
                                    <p:set>
                                      <p:cBhvr>
                                        <p:cTn id="110" dur="1" fill="hold">
                                          <p:stCondLst>
                                            <p:cond delay="0"/>
                                          </p:stCondLst>
                                        </p:cTn>
                                        <p:tgtEl>
                                          <p:spTgt spid="46"/>
                                        </p:tgtEl>
                                        <p:attrNameLst>
                                          <p:attrName>style.visibility</p:attrName>
                                        </p:attrNameLst>
                                      </p:cBhvr>
                                      <p:to>
                                        <p:strVal val="visible"/>
                                      </p:to>
                                    </p:set>
                                    <p:animEffect transition="in" filter="fade">
                                      <p:cBhvr>
                                        <p:cTn id="111" dur="500"/>
                                        <p:tgtEl>
                                          <p:spTgt spid="46"/>
                                        </p:tgtEl>
                                      </p:cBhvr>
                                    </p:animEffect>
                                  </p:childTnLst>
                                </p:cTn>
                              </p:par>
                              <p:par>
                                <p:cTn id="115" presetID="10" presetClass="entr" presetSubtype="0" fill="hold" grpId="0" nodeType="withEffect">
                                  <p:stCondLst>
                                    <p:cond delay="300"/>
                                  </p:stCondLst>
                                  <p:childTnLst>
                                    <p:set>
                                      <p:cBhvr>
                                        <p:cTn id="113" dur="1" fill="hold">
                                          <p:stCondLst>
                                            <p:cond delay="0"/>
                                          </p:stCondLst>
                                        </p:cTn>
                                        <p:tgtEl>
                                          <p:spTgt spid="47"/>
                                        </p:tgtEl>
                                        <p:attrNameLst>
                                          <p:attrName>style.visibility</p:attrName>
                                        </p:attrNameLst>
                                      </p:cBhvr>
                                      <p:to>
                                        <p:strVal val="visible"/>
                                      </p:to>
                                    </p:set>
                                    <p:animEffect transition="in" filter="fade">
                                      <p:cBhvr>
                                        <p:cTn id="114" dur="500"/>
                                        <p:tgtEl>
                                          <p:spTgt spid="47"/>
                                        </p:tgtEl>
                                      </p:cBhvr>
                                    </p:animEffect>
                                  </p:childTnLst>
                                </p:cTn>
                              </p:par>
                            </p:childTnLst>
                          </p:cTn>
                        </p:par>
                      </p:childTnLst>
                    </p:cTn>
                  </p:par>
                  <p:par>
                    <p:cTn id="116" fill="hold">
                      <p:stCondLst>
                        <p:cond delay="indefinite"/>
                      </p:stCondLst>
                      <p:childTnLst>
                        <p:par>
                          <p:cTn id="117" fill="hold">
                            <p:stCondLst>
                              <p:cond delay="0"/>
                            </p:stCondLst>
                            <p:childTnLst>
                              <p:par>
                                <p:cTn id="122" presetID="2" presetClass="entr" presetSubtype="4" fill="hold" grpId="0" nodeType="clickEffect">
                                  <p:stCondLst>
                                    <p:cond delay="0"/>
                                  </p:stCondLst>
                                  <p:childTnLst>
                                    <p:set>
                                      <p:cBhvr>
                                        <p:cTn id="118" dur="1" fill="hold">
                                          <p:stCondLst>
                                            <p:cond delay="0"/>
                                          </p:stCondLst>
                                        </p:cTn>
                                        <p:tgtEl>
                                          <p:spTgt spid="48"/>
                                        </p:tgtEl>
                                        <p:attrNameLst>
                                          <p:attrName>style.visibility</p:attrName>
                                        </p:attrNameLst>
                                      </p:cBhvr>
                                      <p:to>
                                        <p:strVal val="visible"/>
                                      </p:to>
                                    </p:set>
                                    <p:anim calcmode="lin" valueType="num">
                                      <p:cBhvr additive="base">
                                        <p:cTn id="119" dur="500" fill="hold"/>
                                        <p:tgtEl>
                                          <p:spTgt spid="48"/>
                                        </p:tgtEl>
                                        <p:attrNameLst>
                                          <p:attrName>ppt_x</p:attrName>
                                        </p:attrNameLst>
                                      </p:cBhvr>
                                      <p:tavLst>
                                        <p:tav tm="0">
                                          <p:val>
                                            <p:strVal val="#ppt_x"/>
                                          </p:val>
                                        </p:tav>
                                        <p:tav tm="100000">
                                          <p:val>
                                            <p:strVal val="#ppt_x"/>
                                          </p:val>
                                        </p:tav>
                                      </p:tavLst>
                                    </p:anim>
                                    <p:anim calcmode="lin" valueType="num">
                                      <p:cBhvr additive="base">
                                        <p:cTn id="120" dur="500" fill="hold"/>
                                        <p:tgtEl>
                                          <p:spTgt spid="48"/>
                                        </p:tgtEl>
                                        <p:attrNameLst>
                                          <p:attrName>ppt_y</p:attrName>
                                        </p:attrNameLst>
                                      </p:cBhvr>
                                      <p:tavLst>
                                        <p:tav tm="0">
                                          <p:val>
                                            <p:strVal val="#ppt_y+0.1"/>
                                          </p:val>
                                        </p:tav>
                                        <p:tav tm="100000">
                                          <p:val>
                                            <p:strVal val="#ppt_y"/>
                                          </p:val>
                                        </p:tav>
                                      </p:tavLst>
                                    </p:anim>
                                    <p:animEffect transition="in" filter="fade">
                                      <p:cBhvr>
                                        <p:cTn id="121" dur="500"/>
                                        <p:tgtEl>
                                          <p:spTgt spid="48"/>
                                        </p:tgtEl>
                                      </p:cBhvr>
                                    </p:animEffect>
                                  </p:childTnLst>
                                </p:cTn>
                              </p:par>
                              <p:par>
                                <p:cTn id="127" presetID="2" presetClass="entr" presetSubtype="4" fill="hold" grpId="0" nodeType="withEffect">
                                  <p:stCondLst>
                                    <p:cond delay="0"/>
                                  </p:stCondLst>
                                  <p:childTnLst>
                                    <p:set>
                                      <p:cBhvr>
                                        <p:cTn id="123" dur="1" fill="hold">
                                          <p:stCondLst>
                                            <p:cond delay="0"/>
                                          </p:stCondLst>
                                        </p:cTn>
                                        <p:tgtEl>
                                          <p:spTgt spid="49"/>
                                        </p:tgtEl>
                                        <p:attrNameLst>
                                          <p:attrName>style.visibility</p:attrName>
                                        </p:attrNameLst>
                                      </p:cBhvr>
                                      <p:to>
                                        <p:strVal val="visible"/>
                                      </p:to>
                                    </p:set>
                                    <p:anim calcmode="lin" valueType="num">
                                      <p:cBhvr additive="base">
                                        <p:cTn id="124" dur="500" fill="hold"/>
                                        <p:tgtEl>
                                          <p:spTgt spid="49"/>
                                        </p:tgtEl>
                                        <p:attrNameLst>
                                          <p:attrName>ppt_x</p:attrName>
                                        </p:attrNameLst>
                                      </p:cBhvr>
                                      <p:tavLst>
                                        <p:tav tm="0">
                                          <p:val>
                                            <p:strVal val="#ppt_x"/>
                                          </p:val>
                                        </p:tav>
                                        <p:tav tm="100000">
                                          <p:val>
                                            <p:strVal val="#ppt_x"/>
                                          </p:val>
                                        </p:tav>
                                      </p:tavLst>
                                    </p:anim>
                                    <p:anim calcmode="lin" valueType="num">
                                      <p:cBhvr additive="base">
                                        <p:cTn id="125" dur="500" fill="hold"/>
                                        <p:tgtEl>
                                          <p:spTgt spid="49"/>
                                        </p:tgtEl>
                                        <p:attrNameLst>
                                          <p:attrName>ppt_y</p:attrName>
                                        </p:attrNameLst>
                                      </p:cBhvr>
                                      <p:tavLst>
                                        <p:tav tm="0">
                                          <p:val>
                                            <p:strVal val="#ppt_y+0.1"/>
                                          </p:val>
                                        </p:tav>
                                        <p:tav tm="100000">
                                          <p:val>
                                            <p:strVal val="#ppt_y"/>
                                          </p:val>
                                        </p:tav>
                                      </p:tavLst>
                                    </p:anim>
                                    <p:animEffect transition="in" filter="fade">
                                      <p:cBhvr>
                                        <p:cTn id="126" dur="500"/>
                                        <p:tgtEl>
                                          <p:spTgt spid="49"/>
                                        </p:tgtEl>
                                      </p:cBhvr>
                                    </p:animEffect>
                                  </p:childTnLst>
                                </p:cTn>
                              </p:par>
                              <p:par>
                                <p:cTn id="132" presetID="2" presetClass="entr" presetSubtype="4" fill="hold" grpId="0" nodeType="withEffect">
                                  <p:stCondLst>
                                    <p:cond delay="200"/>
                                  </p:stCondLst>
                                  <p:childTnLst>
                                    <p:set>
                                      <p:cBhvr>
                                        <p:cTn id="128" dur="1" fill="hold">
                                          <p:stCondLst>
                                            <p:cond delay="0"/>
                                          </p:stCondLst>
                                        </p:cTn>
                                        <p:tgtEl>
                                          <p:spTgt spid="50"/>
                                        </p:tgtEl>
                                        <p:attrNameLst>
                                          <p:attrName>style.visibility</p:attrName>
                                        </p:attrNameLst>
                                      </p:cBhvr>
                                      <p:to>
                                        <p:strVal val="visible"/>
                                      </p:to>
                                    </p:set>
                                    <p:anim calcmode="lin" valueType="num">
                                      <p:cBhvr additive="base">
                                        <p:cTn id="129" dur="500" fill="hold"/>
                                        <p:tgtEl>
                                          <p:spTgt spid="50"/>
                                        </p:tgtEl>
                                        <p:attrNameLst>
                                          <p:attrName>ppt_x</p:attrName>
                                        </p:attrNameLst>
                                      </p:cBhvr>
                                      <p:tavLst>
                                        <p:tav tm="0">
                                          <p:val>
                                            <p:strVal val="#ppt_x"/>
                                          </p:val>
                                        </p:tav>
                                        <p:tav tm="100000">
                                          <p:val>
                                            <p:strVal val="#ppt_x"/>
                                          </p:val>
                                        </p:tav>
                                      </p:tavLst>
                                    </p:anim>
                                    <p:anim calcmode="lin" valueType="num">
                                      <p:cBhvr additive="base">
                                        <p:cTn id="130" dur="500" fill="hold"/>
                                        <p:tgtEl>
                                          <p:spTgt spid="50"/>
                                        </p:tgtEl>
                                        <p:attrNameLst>
                                          <p:attrName>ppt_y</p:attrName>
                                        </p:attrNameLst>
                                      </p:cBhvr>
                                      <p:tavLst>
                                        <p:tav tm="0">
                                          <p:val>
                                            <p:strVal val="#ppt_y+0.1"/>
                                          </p:val>
                                        </p:tav>
                                        <p:tav tm="100000">
                                          <p:val>
                                            <p:strVal val="#ppt_y"/>
                                          </p:val>
                                        </p:tav>
                                      </p:tavLst>
                                    </p:anim>
                                    <p:animEffect transition="in" filter="fade">
                                      <p:cBhvr>
                                        <p:cTn id="131" dur="500"/>
                                        <p:tgtEl>
                                          <p:spTgt spid="50"/>
                                        </p:tgtEl>
                                      </p:cBhvr>
                                    </p:animEffect>
                                  </p:childTnLst>
                                </p:cTn>
                              </p:par>
                              <p:par>
                                <p:cTn id="137" presetID="2" presetClass="entr" presetSubtype="4" fill="hold" grpId="0" nodeType="withEffect">
                                  <p:stCondLst>
                                    <p:cond delay="200"/>
                                  </p:stCondLst>
                                  <p:childTnLst>
                                    <p:set>
                                      <p:cBhvr>
                                        <p:cTn id="133" dur="1" fill="hold">
                                          <p:stCondLst>
                                            <p:cond delay="0"/>
                                          </p:stCondLst>
                                        </p:cTn>
                                        <p:tgtEl>
                                          <p:spTgt spid="51"/>
                                        </p:tgtEl>
                                        <p:attrNameLst>
                                          <p:attrName>style.visibility</p:attrName>
                                        </p:attrNameLst>
                                      </p:cBhvr>
                                      <p:to>
                                        <p:strVal val="visible"/>
                                      </p:to>
                                    </p:set>
                                    <p:anim calcmode="lin" valueType="num">
                                      <p:cBhvr additive="base">
                                        <p:cTn id="134" dur="500" fill="hold"/>
                                        <p:tgtEl>
                                          <p:spTgt spid="51"/>
                                        </p:tgtEl>
                                        <p:attrNameLst>
                                          <p:attrName>ppt_x</p:attrName>
                                        </p:attrNameLst>
                                      </p:cBhvr>
                                      <p:tavLst>
                                        <p:tav tm="0">
                                          <p:val>
                                            <p:strVal val="#ppt_x"/>
                                          </p:val>
                                        </p:tav>
                                        <p:tav tm="100000">
                                          <p:val>
                                            <p:strVal val="#ppt_x"/>
                                          </p:val>
                                        </p:tav>
                                      </p:tavLst>
                                    </p:anim>
                                    <p:anim calcmode="lin" valueType="num">
                                      <p:cBhvr additive="base">
                                        <p:cTn id="135" dur="500" fill="hold"/>
                                        <p:tgtEl>
                                          <p:spTgt spid="51"/>
                                        </p:tgtEl>
                                        <p:attrNameLst>
                                          <p:attrName>ppt_y</p:attrName>
                                        </p:attrNameLst>
                                      </p:cBhvr>
                                      <p:tavLst>
                                        <p:tav tm="0">
                                          <p:val>
                                            <p:strVal val="#ppt_y+0.1"/>
                                          </p:val>
                                        </p:tav>
                                        <p:tav tm="100000">
                                          <p:val>
                                            <p:strVal val="#ppt_y"/>
                                          </p:val>
                                        </p:tav>
                                      </p:tavLst>
                                    </p:anim>
                                    <p:animEffect transition="in" filter="fade">
                                      <p:cBhvr>
                                        <p:cTn id="136" dur="500"/>
                                        <p:tgtEl>
                                          <p:spTgt spid="51"/>
                                        </p:tgtEl>
                                      </p:cBhvr>
                                    </p:animEffect>
                                  </p:childTnLst>
                                </p:cTn>
                              </p:par>
                              <p:par>
                                <p:cTn id="142" presetID="2" presetClass="entr" presetSubtype="4" fill="hold" grpId="0" nodeType="withEffect">
                                  <p:stCondLst>
                                    <p:cond delay="200"/>
                                  </p:stCondLst>
                                  <p:childTnLst>
                                    <p:set>
                                      <p:cBhvr>
                                        <p:cTn id="138" dur="1" fill="hold">
                                          <p:stCondLst>
                                            <p:cond delay="0"/>
                                          </p:stCondLst>
                                        </p:cTn>
                                        <p:tgtEl>
                                          <p:spTgt spid="52"/>
                                        </p:tgtEl>
                                        <p:attrNameLst>
                                          <p:attrName>style.visibility</p:attrName>
                                        </p:attrNameLst>
                                      </p:cBhvr>
                                      <p:to>
                                        <p:strVal val="visible"/>
                                      </p:to>
                                    </p:set>
                                    <p:anim calcmode="lin" valueType="num">
                                      <p:cBhvr additive="base">
                                        <p:cTn id="139" dur="500" fill="hold"/>
                                        <p:tgtEl>
                                          <p:spTgt spid="52"/>
                                        </p:tgtEl>
                                        <p:attrNameLst>
                                          <p:attrName>ppt_x</p:attrName>
                                        </p:attrNameLst>
                                      </p:cBhvr>
                                      <p:tavLst>
                                        <p:tav tm="0">
                                          <p:val>
                                            <p:strVal val="#ppt_x"/>
                                          </p:val>
                                        </p:tav>
                                        <p:tav tm="100000">
                                          <p:val>
                                            <p:strVal val="#ppt_x"/>
                                          </p:val>
                                        </p:tav>
                                      </p:tavLst>
                                    </p:anim>
                                    <p:anim calcmode="lin" valueType="num">
                                      <p:cBhvr additive="base">
                                        <p:cTn id="140" dur="500" fill="hold"/>
                                        <p:tgtEl>
                                          <p:spTgt spid="52"/>
                                        </p:tgtEl>
                                        <p:attrNameLst>
                                          <p:attrName>ppt_y</p:attrName>
                                        </p:attrNameLst>
                                      </p:cBhvr>
                                      <p:tavLst>
                                        <p:tav tm="0">
                                          <p:val>
                                            <p:strVal val="#ppt_y+0.1"/>
                                          </p:val>
                                        </p:tav>
                                        <p:tav tm="100000">
                                          <p:val>
                                            <p:strVal val="#ppt_y"/>
                                          </p:val>
                                        </p:tav>
                                      </p:tavLst>
                                    </p:anim>
                                    <p:animEffect transition="in" filter="fade">
                                      <p:cBhvr>
                                        <p:cTn id="141" dur="500"/>
                                        <p:tgtEl>
                                          <p:spTgt spid="52"/>
                                        </p:tgtEl>
                                      </p:cBhvr>
                                    </p:animEffect>
                                  </p:childTnLst>
                                </p:cTn>
                              </p:par>
                              <p:par>
                                <p:cTn id="147" presetID="2" presetClass="entr" presetSubtype="4" fill="hold" grpId="0" nodeType="withEffect">
                                  <p:stCondLst>
                                    <p:cond delay="200"/>
                                  </p:stCondLst>
                                  <p:childTnLst>
                                    <p:set>
                                      <p:cBhvr>
                                        <p:cTn id="143" dur="1" fill="hold">
                                          <p:stCondLst>
                                            <p:cond delay="0"/>
                                          </p:stCondLst>
                                        </p:cTn>
                                        <p:tgtEl>
                                          <p:spTgt spid="53"/>
                                        </p:tgtEl>
                                        <p:attrNameLst>
                                          <p:attrName>style.visibility</p:attrName>
                                        </p:attrNameLst>
                                      </p:cBhvr>
                                      <p:to>
                                        <p:strVal val="visible"/>
                                      </p:to>
                                    </p:set>
                                    <p:anim calcmode="lin" valueType="num">
                                      <p:cBhvr additive="base">
                                        <p:cTn id="144" dur="500" fill="hold"/>
                                        <p:tgtEl>
                                          <p:spTgt spid="53"/>
                                        </p:tgtEl>
                                        <p:attrNameLst>
                                          <p:attrName>ppt_x</p:attrName>
                                        </p:attrNameLst>
                                      </p:cBhvr>
                                      <p:tavLst>
                                        <p:tav tm="0">
                                          <p:val>
                                            <p:strVal val="#ppt_x"/>
                                          </p:val>
                                        </p:tav>
                                        <p:tav tm="100000">
                                          <p:val>
                                            <p:strVal val="#ppt_x"/>
                                          </p:val>
                                        </p:tav>
                                      </p:tavLst>
                                    </p:anim>
                                    <p:anim calcmode="lin" valueType="num">
                                      <p:cBhvr additive="base">
                                        <p:cTn id="145" dur="500" fill="hold"/>
                                        <p:tgtEl>
                                          <p:spTgt spid="53"/>
                                        </p:tgtEl>
                                        <p:attrNameLst>
                                          <p:attrName>ppt_y</p:attrName>
                                        </p:attrNameLst>
                                      </p:cBhvr>
                                      <p:tavLst>
                                        <p:tav tm="0">
                                          <p:val>
                                            <p:strVal val="#ppt_y+0.1"/>
                                          </p:val>
                                        </p:tav>
                                        <p:tav tm="100000">
                                          <p:val>
                                            <p:strVal val="#ppt_y"/>
                                          </p:val>
                                        </p:tav>
                                      </p:tavLst>
                                    </p:anim>
                                    <p:animEffect transition="in" filter="fade">
                                      <p:cBhvr>
                                        <p:cTn id="146" dur="500"/>
                                        <p:tgtEl>
                                          <p:spTgt spid="53"/>
                                        </p:tgtEl>
                                      </p:cBhvr>
                                    </p:animEffect>
                                  </p:childTnLst>
                                </p:cTn>
                              </p:par>
                              <p:par>
                                <p:cTn id="152" presetID="2" presetClass="entr" presetSubtype="4" fill="hold" grpId="0" nodeType="withEffect">
                                  <p:stCondLst>
                                    <p:cond delay="200"/>
                                  </p:stCondLst>
                                  <p:childTnLst>
                                    <p:set>
                                      <p:cBhvr>
                                        <p:cTn id="148" dur="1" fill="hold">
                                          <p:stCondLst>
                                            <p:cond delay="0"/>
                                          </p:stCondLst>
                                        </p:cTn>
                                        <p:tgtEl>
                                          <p:spTgt spid="54"/>
                                        </p:tgtEl>
                                        <p:attrNameLst>
                                          <p:attrName>style.visibility</p:attrName>
                                        </p:attrNameLst>
                                      </p:cBhvr>
                                      <p:to>
                                        <p:strVal val="visible"/>
                                      </p:to>
                                    </p:set>
                                    <p:anim calcmode="lin" valueType="num">
                                      <p:cBhvr additive="base">
                                        <p:cTn id="149" dur="500" fill="hold"/>
                                        <p:tgtEl>
                                          <p:spTgt spid="54"/>
                                        </p:tgtEl>
                                        <p:attrNameLst>
                                          <p:attrName>ppt_x</p:attrName>
                                        </p:attrNameLst>
                                      </p:cBhvr>
                                      <p:tavLst>
                                        <p:tav tm="0">
                                          <p:val>
                                            <p:strVal val="#ppt_x"/>
                                          </p:val>
                                        </p:tav>
                                        <p:tav tm="100000">
                                          <p:val>
                                            <p:strVal val="#ppt_x"/>
                                          </p:val>
                                        </p:tav>
                                      </p:tavLst>
                                    </p:anim>
                                    <p:anim calcmode="lin" valueType="num">
                                      <p:cBhvr additive="base">
                                        <p:cTn id="150" dur="500" fill="hold"/>
                                        <p:tgtEl>
                                          <p:spTgt spid="54"/>
                                        </p:tgtEl>
                                        <p:attrNameLst>
                                          <p:attrName>ppt_y</p:attrName>
                                        </p:attrNameLst>
                                      </p:cBhvr>
                                      <p:tavLst>
                                        <p:tav tm="0">
                                          <p:val>
                                            <p:strVal val="#ppt_y+0.1"/>
                                          </p:val>
                                        </p:tav>
                                        <p:tav tm="100000">
                                          <p:val>
                                            <p:strVal val="#ppt_y"/>
                                          </p:val>
                                        </p:tav>
                                      </p:tavLst>
                                    </p:anim>
                                    <p:animEffect transition="in" filter="fade">
                                      <p:cBhvr>
                                        <p:cTn id="151" dur="500"/>
                                        <p:tgtEl>
                                          <p:spTgt spid="54"/>
                                        </p:tgtEl>
                                      </p:cBhvr>
                                    </p:animEffect>
                                  </p:childTnLst>
                                </p:cTn>
                              </p:par>
                              <p:par>
                                <p:cTn id="157" presetID="2" presetClass="entr" presetSubtype="4" fill="hold" grpId="0" nodeType="withEffect">
                                  <p:stCondLst>
                                    <p:cond delay="200"/>
                                  </p:stCondLst>
                                  <p:childTnLst>
                                    <p:set>
                                      <p:cBhvr>
                                        <p:cTn id="153" dur="1" fill="hold">
                                          <p:stCondLst>
                                            <p:cond delay="0"/>
                                          </p:stCondLst>
                                        </p:cTn>
                                        <p:tgtEl>
                                          <p:spTgt spid="55"/>
                                        </p:tgtEl>
                                        <p:attrNameLst>
                                          <p:attrName>style.visibility</p:attrName>
                                        </p:attrNameLst>
                                      </p:cBhvr>
                                      <p:to>
                                        <p:strVal val="visible"/>
                                      </p:to>
                                    </p:set>
                                    <p:anim calcmode="lin" valueType="num">
                                      <p:cBhvr additive="base">
                                        <p:cTn id="154" dur="500" fill="hold"/>
                                        <p:tgtEl>
                                          <p:spTgt spid="55"/>
                                        </p:tgtEl>
                                        <p:attrNameLst>
                                          <p:attrName>ppt_x</p:attrName>
                                        </p:attrNameLst>
                                      </p:cBhvr>
                                      <p:tavLst>
                                        <p:tav tm="0">
                                          <p:val>
                                            <p:strVal val="#ppt_x"/>
                                          </p:val>
                                        </p:tav>
                                        <p:tav tm="100000">
                                          <p:val>
                                            <p:strVal val="#ppt_x"/>
                                          </p:val>
                                        </p:tav>
                                      </p:tavLst>
                                    </p:anim>
                                    <p:anim calcmode="lin" valueType="num">
                                      <p:cBhvr additive="base">
                                        <p:cTn id="155" dur="500" fill="hold"/>
                                        <p:tgtEl>
                                          <p:spTgt spid="55"/>
                                        </p:tgtEl>
                                        <p:attrNameLst>
                                          <p:attrName>ppt_y</p:attrName>
                                        </p:attrNameLst>
                                      </p:cBhvr>
                                      <p:tavLst>
                                        <p:tav tm="0">
                                          <p:val>
                                            <p:strVal val="#ppt_y+0.1"/>
                                          </p:val>
                                        </p:tav>
                                        <p:tav tm="100000">
                                          <p:val>
                                            <p:strVal val="#ppt_y"/>
                                          </p:val>
                                        </p:tav>
                                      </p:tavLst>
                                    </p:anim>
                                    <p:animEffect transition="in" filter="fade">
                                      <p:cBhvr>
                                        <p:cTn id="156" dur="500"/>
                                        <p:tgtEl>
                                          <p:spTgt spid="55"/>
                                        </p:tgtEl>
                                      </p:cBhvr>
                                    </p:animEffect>
                                  </p:childTnLst>
                                </p:cTn>
                              </p:par>
                              <p:par>
                                <p:cTn id="162" presetID="2" presetClass="entr" presetSubtype="4" fill="hold" grpId="0" nodeType="withEffect">
                                  <p:stCondLst>
                                    <p:cond delay="350"/>
                                  </p:stCondLst>
                                  <p:childTnLst>
                                    <p:set>
                                      <p:cBhvr>
                                        <p:cTn id="158" dur="1" fill="hold">
                                          <p:stCondLst>
                                            <p:cond delay="0"/>
                                          </p:stCondLst>
                                        </p:cTn>
                                        <p:tgtEl>
                                          <p:spTgt spid="56"/>
                                        </p:tgtEl>
                                        <p:attrNameLst>
                                          <p:attrName>style.visibility</p:attrName>
                                        </p:attrNameLst>
                                      </p:cBhvr>
                                      <p:to>
                                        <p:strVal val="visible"/>
                                      </p:to>
                                    </p:set>
                                    <p:anim calcmode="lin" valueType="num">
                                      <p:cBhvr additive="base">
                                        <p:cTn id="159" dur="500" fill="hold"/>
                                        <p:tgtEl>
                                          <p:spTgt spid="56"/>
                                        </p:tgtEl>
                                        <p:attrNameLst>
                                          <p:attrName>ppt_x</p:attrName>
                                        </p:attrNameLst>
                                      </p:cBhvr>
                                      <p:tavLst>
                                        <p:tav tm="0">
                                          <p:val>
                                            <p:strVal val="#ppt_x"/>
                                          </p:val>
                                        </p:tav>
                                        <p:tav tm="100000">
                                          <p:val>
                                            <p:strVal val="#ppt_x"/>
                                          </p:val>
                                        </p:tav>
                                      </p:tavLst>
                                    </p:anim>
                                    <p:anim calcmode="lin" valueType="num">
                                      <p:cBhvr additive="base">
                                        <p:cTn id="160" dur="500" fill="hold"/>
                                        <p:tgtEl>
                                          <p:spTgt spid="56"/>
                                        </p:tgtEl>
                                        <p:attrNameLst>
                                          <p:attrName>ppt_y</p:attrName>
                                        </p:attrNameLst>
                                      </p:cBhvr>
                                      <p:tavLst>
                                        <p:tav tm="0">
                                          <p:val>
                                            <p:strVal val="#ppt_y+0.1"/>
                                          </p:val>
                                        </p:tav>
                                        <p:tav tm="100000">
                                          <p:val>
                                            <p:strVal val="#ppt_y"/>
                                          </p:val>
                                        </p:tav>
                                      </p:tavLst>
                                    </p:anim>
                                    <p:animEffect transition="in" filter="fade">
                                      <p:cBhvr>
                                        <p:cTn id="161" dur="500"/>
                                        <p:tgtEl>
                                          <p:spTgt spid="56"/>
                                        </p:tgtEl>
                                      </p:cBhvr>
                                    </p:animEffect>
                                  </p:childTnLst>
                                </p:cTn>
                              </p:par>
                              <p:par>
                                <p:cTn id="167" presetID="2" presetClass="entr" presetSubtype="4" fill="hold" grpId="0" nodeType="withEffect">
                                  <p:stCondLst>
                                    <p:cond delay="350"/>
                                  </p:stCondLst>
                                  <p:childTnLst>
                                    <p:set>
                                      <p:cBhvr>
                                        <p:cTn id="163" dur="1" fill="hold">
                                          <p:stCondLst>
                                            <p:cond delay="0"/>
                                          </p:stCondLst>
                                        </p:cTn>
                                        <p:tgtEl>
                                          <p:spTgt spid="57"/>
                                        </p:tgtEl>
                                        <p:attrNameLst>
                                          <p:attrName>style.visibility</p:attrName>
                                        </p:attrNameLst>
                                      </p:cBhvr>
                                      <p:to>
                                        <p:strVal val="visible"/>
                                      </p:to>
                                    </p:set>
                                    <p:anim calcmode="lin" valueType="num">
                                      <p:cBhvr additive="base">
                                        <p:cTn id="164" dur="500" fill="hold"/>
                                        <p:tgtEl>
                                          <p:spTgt spid="57"/>
                                        </p:tgtEl>
                                        <p:attrNameLst>
                                          <p:attrName>ppt_x</p:attrName>
                                        </p:attrNameLst>
                                      </p:cBhvr>
                                      <p:tavLst>
                                        <p:tav tm="0">
                                          <p:val>
                                            <p:strVal val="#ppt_x"/>
                                          </p:val>
                                        </p:tav>
                                        <p:tav tm="100000">
                                          <p:val>
                                            <p:strVal val="#ppt_x"/>
                                          </p:val>
                                        </p:tav>
                                      </p:tavLst>
                                    </p:anim>
                                    <p:anim calcmode="lin" valueType="num">
                                      <p:cBhvr additive="base">
                                        <p:cTn id="165" dur="500" fill="hold"/>
                                        <p:tgtEl>
                                          <p:spTgt spid="57"/>
                                        </p:tgtEl>
                                        <p:attrNameLst>
                                          <p:attrName>ppt_y</p:attrName>
                                        </p:attrNameLst>
                                      </p:cBhvr>
                                      <p:tavLst>
                                        <p:tav tm="0">
                                          <p:val>
                                            <p:strVal val="#ppt_y+0.1"/>
                                          </p:val>
                                        </p:tav>
                                        <p:tav tm="100000">
                                          <p:val>
                                            <p:strVal val="#ppt_y"/>
                                          </p:val>
                                        </p:tav>
                                      </p:tavLst>
                                    </p:anim>
                                    <p:animEffect transition="in" filter="fade">
                                      <p:cBhvr>
                                        <p:cTn id="166" dur="500"/>
                                        <p:tgtEl>
                                          <p:spTgt spid="57"/>
                                        </p:tgtEl>
                                      </p:cBhvr>
                                    </p:animEffect>
                                  </p:childTnLst>
                                </p:cTn>
                              </p:par>
                              <p:par>
                                <p:cTn id="172" presetID="2" presetClass="entr" presetSubtype="4" fill="hold" grpId="0" nodeType="withEffect">
                                  <p:stCondLst>
                                    <p:cond delay="350"/>
                                  </p:stCondLst>
                                  <p:childTnLst>
                                    <p:set>
                                      <p:cBhvr>
                                        <p:cTn id="168" dur="1" fill="hold">
                                          <p:stCondLst>
                                            <p:cond delay="0"/>
                                          </p:stCondLst>
                                        </p:cTn>
                                        <p:tgtEl>
                                          <p:spTgt spid="58"/>
                                        </p:tgtEl>
                                        <p:attrNameLst>
                                          <p:attrName>style.visibility</p:attrName>
                                        </p:attrNameLst>
                                      </p:cBhvr>
                                      <p:to>
                                        <p:strVal val="visible"/>
                                      </p:to>
                                    </p:set>
                                    <p:anim calcmode="lin" valueType="num">
                                      <p:cBhvr additive="base">
                                        <p:cTn id="169" dur="500" fill="hold"/>
                                        <p:tgtEl>
                                          <p:spTgt spid="58"/>
                                        </p:tgtEl>
                                        <p:attrNameLst>
                                          <p:attrName>ppt_x</p:attrName>
                                        </p:attrNameLst>
                                      </p:cBhvr>
                                      <p:tavLst>
                                        <p:tav tm="0">
                                          <p:val>
                                            <p:strVal val="#ppt_x"/>
                                          </p:val>
                                        </p:tav>
                                        <p:tav tm="100000">
                                          <p:val>
                                            <p:strVal val="#ppt_x"/>
                                          </p:val>
                                        </p:tav>
                                      </p:tavLst>
                                    </p:anim>
                                    <p:anim calcmode="lin" valueType="num">
                                      <p:cBhvr additive="base">
                                        <p:cTn id="170" dur="500" fill="hold"/>
                                        <p:tgtEl>
                                          <p:spTgt spid="58"/>
                                        </p:tgtEl>
                                        <p:attrNameLst>
                                          <p:attrName>ppt_y</p:attrName>
                                        </p:attrNameLst>
                                      </p:cBhvr>
                                      <p:tavLst>
                                        <p:tav tm="0">
                                          <p:val>
                                            <p:strVal val="#ppt_y+0.1"/>
                                          </p:val>
                                        </p:tav>
                                        <p:tav tm="100000">
                                          <p:val>
                                            <p:strVal val="#ppt_y"/>
                                          </p:val>
                                        </p:tav>
                                      </p:tavLst>
                                    </p:anim>
                                    <p:animEffect transition="in" filter="fade">
                                      <p:cBhvr>
                                        <p:cTn id="171" dur="500"/>
                                        <p:tgtEl>
                                          <p:spTgt spid="58"/>
                                        </p:tgtEl>
                                      </p:cBhvr>
                                    </p:animEffect>
                                  </p:childTnLst>
                                </p:cTn>
                              </p:par>
                              <p:par>
                                <p:cTn id="177" presetID="2" presetClass="entr" presetSubtype="4" fill="hold" grpId="0" nodeType="withEffect">
                                  <p:stCondLst>
                                    <p:cond delay="350"/>
                                  </p:stCondLst>
                                  <p:childTnLst>
                                    <p:set>
                                      <p:cBhvr>
                                        <p:cTn id="173" dur="1" fill="hold">
                                          <p:stCondLst>
                                            <p:cond delay="0"/>
                                          </p:stCondLst>
                                        </p:cTn>
                                        <p:tgtEl>
                                          <p:spTgt spid="59"/>
                                        </p:tgtEl>
                                        <p:attrNameLst>
                                          <p:attrName>style.visibility</p:attrName>
                                        </p:attrNameLst>
                                      </p:cBhvr>
                                      <p:to>
                                        <p:strVal val="visible"/>
                                      </p:to>
                                    </p:set>
                                    <p:anim calcmode="lin" valueType="num">
                                      <p:cBhvr additive="base">
                                        <p:cTn id="174" dur="500" fill="hold"/>
                                        <p:tgtEl>
                                          <p:spTgt spid="59"/>
                                        </p:tgtEl>
                                        <p:attrNameLst>
                                          <p:attrName>ppt_x</p:attrName>
                                        </p:attrNameLst>
                                      </p:cBhvr>
                                      <p:tavLst>
                                        <p:tav tm="0">
                                          <p:val>
                                            <p:strVal val="#ppt_x"/>
                                          </p:val>
                                        </p:tav>
                                        <p:tav tm="100000">
                                          <p:val>
                                            <p:strVal val="#ppt_x"/>
                                          </p:val>
                                        </p:tav>
                                      </p:tavLst>
                                    </p:anim>
                                    <p:anim calcmode="lin" valueType="num">
                                      <p:cBhvr additive="base">
                                        <p:cTn id="175" dur="500" fill="hold"/>
                                        <p:tgtEl>
                                          <p:spTgt spid="59"/>
                                        </p:tgtEl>
                                        <p:attrNameLst>
                                          <p:attrName>ppt_y</p:attrName>
                                        </p:attrNameLst>
                                      </p:cBhvr>
                                      <p:tavLst>
                                        <p:tav tm="0">
                                          <p:val>
                                            <p:strVal val="#ppt_y+0.1"/>
                                          </p:val>
                                        </p:tav>
                                        <p:tav tm="100000">
                                          <p:val>
                                            <p:strVal val="#ppt_y"/>
                                          </p:val>
                                        </p:tav>
                                      </p:tavLst>
                                    </p:anim>
                                    <p:animEffect transition="in" filter="fade">
                                      <p:cBhvr>
                                        <p:cTn id="176" dur="500"/>
                                        <p:tgtEl>
                                          <p:spTgt spid="59"/>
                                        </p:tgtEl>
                                      </p:cBhvr>
                                    </p:animEffect>
                                  </p:childTnLst>
                                </p:cTn>
                              </p:par>
                              <p:par>
                                <p:cTn id="182" presetID="2" presetClass="entr" presetSubtype="4" fill="hold" grpId="0" nodeType="withEffect">
                                  <p:stCondLst>
                                    <p:cond delay="350"/>
                                  </p:stCondLst>
                                  <p:childTnLst>
                                    <p:set>
                                      <p:cBhvr>
                                        <p:cTn id="178" dur="1" fill="hold">
                                          <p:stCondLst>
                                            <p:cond delay="0"/>
                                          </p:stCondLst>
                                        </p:cTn>
                                        <p:tgtEl>
                                          <p:spTgt spid="60"/>
                                        </p:tgtEl>
                                        <p:attrNameLst>
                                          <p:attrName>style.visibility</p:attrName>
                                        </p:attrNameLst>
                                      </p:cBhvr>
                                      <p:to>
                                        <p:strVal val="visible"/>
                                      </p:to>
                                    </p:set>
                                    <p:anim calcmode="lin" valueType="num">
                                      <p:cBhvr additive="base">
                                        <p:cTn id="179" dur="500" fill="hold"/>
                                        <p:tgtEl>
                                          <p:spTgt spid="60"/>
                                        </p:tgtEl>
                                        <p:attrNameLst>
                                          <p:attrName>ppt_x</p:attrName>
                                        </p:attrNameLst>
                                      </p:cBhvr>
                                      <p:tavLst>
                                        <p:tav tm="0">
                                          <p:val>
                                            <p:strVal val="#ppt_x"/>
                                          </p:val>
                                        </p:tav>
                                        <p:tav tm="100000">
                                          <p:val>
                                            <p:strVal val="#ppt_x"/>
                                          </p:val>
                                        </p:tav>
                                      </p:tavLst>
                                    </p:anim>
                                    <p:anim calcmode="lin" valueType="num">
                                      <p:cBhvr additive="base">
                                        <p:cTn id="180" dur="500" fill="hold"/>
                                        <p:tgtEl>
                                          <p:spTgt spid="60"/>
                                        </p:tgtEl>
                                        <p:attrNameLst>
                                          <p:attrName>ppt_y</p:attrName>
                                        </p:attrNameLst>
                                      </p:cBhvr>
                                      <p:tavLst>
                                        <p:tav tm="0">
                                          <p:val>
                                            <p:strVal val="#ppt_y+0.1"/>
                                          </p:val>
                                        </p:tav>
                                        <p:tav tm="100000">
                                          <p:val>
                                            <p:strVal val="#ppt_y"/>
                                          </p:val>
                                        </p:tav>
                                      </p:tavLst>
                                    </p:anim>
                                    <p:animEffect transition="in" filter="fade">
                                      <p:cBhvr>
                                        <p:cTn id="181" dur="500"/>
                                        <p:tgtEl>
                                          <p:spTgt spid="60"/>
                                        </p:tgtEl>
                                      </p:cBhvr>
                                    </p:animEffect>
                                  </p:childTnLst>
                                </p:cTn>
                              </p:par>
                              <p:par>
                                <p:cTn id="187" presetID="2" presetClass="entr" presetSubtype="4" fill="hold" grpId="0" nodeType="withEffect">
                                  <p:stCondLst>
                                    <p:cond delay="350"/>
                                  </p:stCondLst>
                                  <p:childTnLst>
                                    <p:set>
                                      <p:cBhvr>
                                        <p:cTn id="183" dur="1" fill="hold">
                                          <p:stCondLst>
                                            <p:cond delay="0"/>
                                          </p:stCondLst>
                                        </p:cTn>
                                        <p:tgtEl>
                                          <p:spTgt spid="61"/>
                                        </p:tgtEl>
                                        <p:attrNameLst>
                                          <p:attrName>style.visibility</p:attrName>
                                        </p:attrNameLst>
                                      </p:cBhvr>
                                      <p:to>
                                        <p:strVal val="visible"/>
                                      </p:to>
                                    </p:set>
                                    <p:anim calcmode="lin" valueType="num">
                                      <p:cBhvr additive="base">
                                        <p:cTn id="184" dur="500" fill="hold"/>
                                        <p:tgtEl>
                                          <p:spTgt spid="61"/>
                                        </p:tgtEl>
                                        <p:attrNameLst>
                                          <p:attrName>ppt_x</p:attrName>
                                        </p:attrNameLst>
                                      </p:cBhvr>
                                      <p:tavLst>
                                        <p:tav tm="0">
                                          <p:val>
                                            <p:strVal val="#ppt_x"/>
                                          </p:val>
                                        </p:tav>
                                        <p:tav tm="100000">
                                          <p:val>
                                            <p:strVal val="#ppt_x"/>
                                          </p:val>
                                        </p:tav>
                                      </p:tavLst>
                                    </p:anim>
                                    <p:anim calcmode="lin" valueType="num">
                                      <p:cBhvr additive="base">
                                        <p:cTn id="185" dur="500" fill="hold"/>
                                        <p:tgtEl>
                                          <p:spTgt spid="61"/>
                                        </p:tgtEl>
                                        <p:attrNameLst>
                                          <p:attrName>ppt_y</p:attrName>
                                        </p:attrNameLst>
                                      </p:cBhvr>
                                      <p:tavLst>
                                        <p:tav tm="0">
                                          <p:val>
                                            <p:strVal val="#ppt_y+0.1"/>
                                          </p:val>
                                        </p:tav>
                                        <p:tav tm="100000">
                                          <p:val>
                                            <p:strVal val="#ppt_y"/>
                                          </p:val>
                                        </p:tav>
                                      </p:tavLst>
                                    </p:anim>
                                    <p:animEffect transition="in" filter="fade">
                                      <p:cBhvr>
                                        <p:cTn id="186" dur="500"/>
                                        <p:tgtEl>
                                          <p:spTgt spid="61"/>
                                        </p:tgtEl>
                                      </p:cBhvr>
                                    </p:animEffect>
                                  </p:childTnLst>
                                </p:cTn>
                              </p:par>
                              <p:par>
                                <p:cTn id="192" presetID="2" presetClass="entr" presetSubtype="4" fill="hold" grpId="0" nodeType="withEffect">
                                  <p:stCondLst>
                                    <p:cond delay="500"/>
                                  </p:stCondLst>
                                  <p:childTnLst>
                                    <p:set>
                                      <p:cBhvr>
                                        <p:cTn id="188" dur="1" fill="hold">
                                          <p:stCondLst>
                                            <p:cond delay="0"/>
                                          </p:stCondLst>
                                        </p:cTn>
                                        <p:tgtEl>
                                          <p:spTgt spid="62"/>
                                        </p:tgtEl>
                                        <p:attrNameLst>
                                          <p:attrName>style.visibility</p:attrName>
                                        </p:attrNameLst>
                                      </p:cBhvr>
                                      <p:to>
                                        <p:strVal val="visible"/>
                                      </p:to>
                                    </p:set>
                                    <p:anim calcmode="lin" valueType="num">
                                      <p:cBhvr additive="base">
                                        <p:cTn id="189" dur="500" fill="hold"/>
                                        <p:tgtEl>
                                          <p:spTgt spid="62"/>
                                        </p:tgtEl>
                                        <p:attrNameLst>
                                          <p:attrName>ppt_x</p:attrName>
                                        </p:attrNameLst>
                                      </p:cBhvr>
                                      <p:tavLst>
                                        <p:tav tm="0">
                                          <p:val>
                                            <p:strVal val="#ppt_x"/>
                                          </p:val>
                                        </p:tav>
                                        <p:tav tm="100000">
                                          <p:val>
                                            <p:strVal val="#ppt_x"/>
                                          </p:val>
                                        </p:tav>
                                      </p:tavLst>
                                    </p:anim>
                                    <p:anim calcmode="lin" valueType="num">
                                      <p:cBhvr additive="base">
                                        <p:cTn id="190" dur="500" fill="hold"/>
                                        <p:tgtEl>
                                          <p:spTgt spid="62"/>
                                        </p:tgtEl>
                                        <p:attrNameLst>
                                          <p:attrName>ppt_y</p:attrName>
                                        </p:attrNameLst>
                                      </p:cBhvr>
                                      <p:tavLst>
                                        <p:tav tm="0">
                                          <p:val>
                                            <p:strVal val="#ppt_y+0.1"/>
                                          </p:val>
                                        </p:tav>
                                        <p:tav tm="100000">
                                          <p:val>
                                            <p:strVal val="#ppt_y"/>
                                          </p:val>
                                        </p:tav>
                                      </p:tavLst>
                                    </p:anim>
                                    <p:animEffect transition="in" filter="fade">
                                      <p:cBhvr>
                                        <p:cTn id="191" dur="500"/>
                                        <p:tgtEl>
                                          <p:spTgt spid="62"/>
                                        </p:tgtEl>
                                      </p:cBhvr>
                                    </p:animEffect>
                                  </p:childTnLst>
                                </p:cTn>
                              </p:par>
                              <p:par>
                                <p:cTn id="197" presetID="2" presetClass="entr" presetSubtype="4" fill="hold" grpId="0" nodeType="withEffect">
                                  <p:stCondLst>
                                    <p:cond delay="500"/>
                                  </p:stCondLst>
                                  <p:childTnLst>
                                    <p:set>
                                      <p:cBhvr>
                                        <p:cTn id="193" dur="1" fill="hold">
                                          <p:stCondLst>
                                            <p:cond delay="0"/>
                                          </p:stCondLst>
                                        </p:cTn>
                                        <p:tgtEl>
                                          <p:spTgt spid="63"/>
                                        </p:tgtEl>
                                        <p:attrNameLst>
                                          <p:attrName>style.visibility</p:attrName>
                                        </p:attrNameLst>
                                      </p:cBhvr>
                                      <p:to>
                                        <p:strVal val="visible"/>
                                      </p:to>
                                    </p:set>
                                    <p:anim calcmode="lin" valueType="num">
                                      <p:cBhvr additive="base">
                                        <p:cTn id="194" dur="500" fill="hold"/>
                                        <p:tgtEl>
                                          <p:spTgt spid="63"/>
                                        </p:tgtEl>
                                        <p:attrNameLst>
                                          <p:attrName>ppt_x</p:attrName>
                                        </p:attrNameLst>
                                      </p:cBhvr>
                                      <p:tavLst>
                                        <p:tav tm="0">
                                          <p:val>
                                            <p:strVal val="#ppt_x"/>
                                          </p:val>
                                        </p:tav>
                                        <p:tav tm="100000">
                                          <p:val>
                                            <p:strVal val="#ppt_x"/>
                                          </p:val>
                                        </p:tav>
                                      </p:tavLst>
                                    </p:anim>
                                    <p:anim calcmode="lin" valueType="num">
                                      <p:cBhvr additive="base">
                                        <p:cTn id="195" dur="500" fill="hold"/>
                                        <p:tgtEl>
                                          <p:spTgt spid="63"/>
                                        </p:tgtEl>
                                        <p:attrNameLst>
                                          <p:attrName>ppt_y</p:attrName>
                                        </p:attrNameLst>
                                      </p:cBhvr>
                                      <p:tavLst>
                                        <p:tav tm="0">
                                          <p:val>
                                            <p:strVal val="#ppt_y+0.1"/>
                                          </p:val>
                                        </p:tav>
                                        <p:tav tm="100000">
                                          <p:val>
                                            <p:strVal val="#ppt_y"/>
                                          </p:val>
                                        </p:tav>
                                      </p:tavLst>
                                    </p:anim>
                                    <p:animEffect transition="in" filter="fade">
                                      <p:cBhvr>
                                        <p:cTn id="196" dur="500"/>
                                        <p:tgtEl>
                                          <p:spTgt spid="63"/>
                                        </p:tgtEl>
                                      </p:cBhvr>
                                    </p:animEffect>
                                  </p:childTnLst>
                                </p:cTn>
                              </p:par>
                            </p:childTnLst>
                          </p:cTn>
                        </p:par>
                      </p:childTnLst>
                    </p:cTn>
                  </p:par>
                  <p:par>
                    <p:cTn id="198" fill="hold">
                      <p:stCondLst>
                        <p:cond delay="indefinite"/>
                      </p:stCondLst>
                      <p:childTnLst>
                        <p:par>
                          <p:cTn id="199" fill="hold">
                            <p:stCondLst>
                              <p:cond delay="0"/>
                            </p:stCondLst>
                            <p:childTnLst>
                              <p:par>
                                <p:cTn id="204" presetID="2" presetClass="entr" presetSubtype="4" fill="hold" grpId="0" nodeType="clickEffect">
                                  <p:stCondLst>
                                    <p:cond delay="0"/>
                                  </p:stCondLst>
                                  <p:childTnLst>
                                    <p:set>
                                      <p:cBhvr>
                                        <p:cTn id="200" dur="1" fill="hold">
                                          <p:stCondLst>
                                            <p:cond delay="0"/>
                                          </p:stCondLst>
                                        </p:cTn>
                                        <p:tgtEl>
                                          <p:spTgt spid="64"/>
                                        </p:tgtEl>
                                        <p:attrNameLst>
                                          <p:attrName>style.visibility</p:attrName>
                                        </p:attrNameLst>
                                      </p:cBhvr>
                                      <p:to>
                                        <p:strVal val="visible"/>
                                      </p:to>
                                    </p:set>
                                    <p:anim calcmode="lin" valueType="num">
                                      <p:cBhvr additive="base">
                                        <p:cTn id="201" dur="500" fill="hold"/>
                                        <p:tgtEl>
                                          <p:spTgt spid="64"/>
                                        </p:tgtEl>
                                        <p:attrNameLst>
                                          <p:attrName>ppt_x</p:attrName>
                                        </p:attrNameLst>
                                      </p:cBhvr>
                                      <p:tavLst>
                                        <p:tav tm="0">
                                          <p:val>
                                            <p:strVal val="#ppt_x"/>
                                          </p:val>
                                        </p:tav>
                                        <p:tav tm="100000">
                                          <p:val>
                                            <p:strVal val="#ppt_x"/>
                                          </p:val>
                                        </p:tav>
                                      </p:tavLst>
                                    </p:anim>
                                    <p:anim calcmode="lin" valueType="num">
                                      <p:cBhvr additive="base">
                                        <p:cTn id="202" dur="500" fill="hold"/>
                                        <p:tgtEl>
                                          <p:spTgt spid="64"/>
                                        </p:tgtEl>
                                        <p:attrNameLst>
                                          <p:attrName>ppt_y</p:attrName>
                                        </p:attrNameLst>
                                      </p:cBhvr>
                                      <p:tavLst>
                                        <p:tav tm="0">
                                          <p:val>
                                            <p:strVal val="#ppt_y+0.1"/>
                                          </p:val>
                                        </p:tav>
                                        <p:tav tm="100000">
                                          <p:val>
                                            <p:strVal val="#ppt_y"/>
                                          </p:val>
                                        </p:tav>
                                      </p:tavLst>
                                    </p:anim>
                                    <p:animEffect transition="in" filter="fade">
                                      <p:cBhvr>
                                        <p:cTn id="203" dur="500"/>
                                        <p:tgtEl>
                                          <p:spTgt spid="64"/>
                                        </p:tgtEl>
                                      </p:cBhvr>
                                    </p:animEffect>
                                  </p:childTnLst>
                                </p:cTn>
                              </p:par>
                              <p:par>
                                <p:cTn id="209" presetID="2" presetClass="entr" presetSubtype="4" fill="hold" grpId="0" nodeType="withEffect">
                                  <p:stCondLst>
                                    <p:cond delay="0"/>
                                  </p:stCondLst>
                                  <p:childTnLst>
                                    <p:set>
                                      <p:cBhvr>
                                        <p:cTn id="205" dur="1" fill="hold">
                                          <p:stCondLst>
                                            <p:cond delay="0"/>
                                          </p:stCondLst>
                                        </p:cTn>
                                        <p:tgtEl>
                                          <p:spTgt spid="65"/>
                                        </p:tgtEl>
                                        <p:attrNameLst>
                                          <p:attrName>style.visibility</p:attrName>
                                        </p:attrNameLst>
                                      </p:cBhvr>
                                      <p:to>
                                        <p:strVal val="visible"/>
                                      </p:to>
                                    </p:set>
                                    <p:anim calcmode="lin" valueType="num">
                                      <p:cBhvr additive="base">
                                        <p:cTn id="206" dur="500" fill="hold"/>
                                        <p:tgtEl>
                                          <p:spTgt spid="65"/>
                                        </p:tgtEl>
                                        <p:attrNameLst>
                                          <p:attrName>ppt_x</p:attrName>
                                        </p:attrNameLst>
                                      </p:cBhvr>
                                      <p:tavLst>
                                        <p:tav tm="0">
                                          <p:val>
                                            <p:strVal val="#ppt_x"/>
                                          </p:val>
                                        </p:tav>
                                        <p:tav tm="100000">
                                          <p:val>
                                            <p:strVal val="#ppt_x"/>
                                          </p:val>
                                        </p:tav>
                                      </p:tavLst>
                                    </p:anim>
                                    <p:anim calcmode="lin" valueType="num">
                                      <p:cBhvr additive="base">
                                        <p:cTn id="207" dur="500" fill="hold"/>
                                        <p:tgtEl>
                                          <p:spTgt spid="65"/>
                                        </p:tgtEl>
                                        <p:attrNameLst>
                                          <p:attrName>ppt_y</p:attrName>
                                        </p:attrNameLst>
                                      </p:cBhvr>
                                      <p:tavLst>
                                        <p:tav tm="0">
                                          <p:val>
                                            <p:strVal val="#ppt_y+0.1"/>
                                          </p:val>
                                        </p:tav>
                                        <p:tav tm="100000">
                                          <p:val>
                                            <p:strVal val="#ppt_y"/>
                                          </p:val>
                                        </p:tav>
                                      </p:tavLst>
                                    </p:anim>
                                    <p:animEffect transition="in" filter="fade">
                                      <p:cBhvr>
                                        <p:cTn id="208" dur="500"/>
                                        <p:tgtEl>
                                          <p:spTgt spid="65"/>
                                        </p:tgtEl>
                                      </p:cBhvr>
                                    </p:animEffect>
                                  </p:childTnLst>
                                </p:cTn>
                              </p:par>
                              <p:par>
                                <p:cTn id="214" presetID="2" presetClass="entr" presetSubtype="4" fill="hold" grpId="0" nodeType="withEffect">
                                  <p:stCondLst>
                                    <p:cond delay="120"/>
                                  </p:stCondLst>
                                  <p:childTnLst>
                                    <p:set>
                                      <p:cBhvr>
                                        <p:cTn id="210" dur="1" fill="hold">
                                          <p:stCondLst>
                                            <p:cond delay="0"/>
                                          </p:stCondLst>
                                        </p:cTn>
                                        <p:tgtEl>
                                          <p:spTgt spid="66"/>
                                        </p:tgtEl>
                                        <p:attrNameLst>
                                          <p:attrName>style.visibility</p:attrName>
                                        </p:attrNameLst>
                                      </p:cBhvr>
                                      <p:to>
                                        <p:strVal val="visible"/>
                                      </p:to>
                                    </p:set>
                                    <p:anim calcmode="lin" valueType="num">
                                      <p:cBhvr additive="base">
                                        <p:cTn id="211" dur="500" fill="hold"/>
                                        <p:tgtEl>
                                          <p:spTgt spid="66"/>
                                        </p:tgtEl>
                                        <p:attrNameLst>
                                          <p:attrName>ppt_x</p:attrName>
                                        </p:attrNameLst>
                                      </p:cBhvr>
                                      <p:tavLst>
                                        <p:tav tm="0">
                                          <p:val>
                                            <p:strVal val="#ppt_x"/>
                                          </p:val>
                                        </p:tav>
                                        <p:tav tm="100000">
                                          <p:val>
                                            <p:strVal val="#ppt_x"/>
                                          </p:val>
                                        </p:tav>
                                      </p:tavLst>
                                    </p:anim>
                                    <p:anim calcmode="lin" valueType="num">
                                      <p:cBhvr additive="base">
                                        <p:cTn id="212" dur="500" fill="hold"/>
                                        <p:tgtEl>
                                          <p:spTgt spid="66"/>
                                        </p:tgtEl>
                                        <p:attrNameLst>
                                          <p:attrName>ppt_y</p:attrName>
                                        </p:attrNameLst>
                                      </p:cBhvr>
                                      <p:tavLst>
                                        <p:tav tm="0">
                                          <p:val>
                                            <p:strVal val="#ppt_y+0.1"/>
                                          </p:val>
                                        </p:tav>
                                        <p:tav tm="100000">
                                          <p:val>
                                            <p:strVal val="#ppt_y"/>
                                          </p:val>
                                        </p:tav>
                                      </p:tavLst>
                                    </p:anim>
                                    <p:animEffect transition="in" filter="fade">
                                      <p:cBhvr>
                                        <p:cTn id="213" dur="500"/>
                                        <p:tgtEl>
                                          <p:spTgt spid="66"/>
                                        </p:tgtEl>
                                      </p:cBhvr>
                                    </p:animEffect>
                                  </p:childTnLst>
                                </p:cTn>
                              </p:par>
                              <p:par>
                                <p:cTn id="219" presetID="2" presetClass="entr" presetSubtype="4" fill="hold" grpId="0" nodeType="withEffect">
                                  <p:stCondLst>
                                    <p:cond delay="120"/>
                                  </p:stCondLst>
                                  <p:childTnLst>
                                    <p:set>
                                      <p:cBhvr>
                                        <p:cTn id="215" dur="1" fill="hold">
                                          <p:stCondLst>
                                            <p:cond delay="0"/>
                                          </p:stCondLst>
                                        </p:cTn>
                                        <p:tgtEl>
                                          <p:spTgt spid="67"/>
                                        </p:tgtEl>
                                        <p:attrNameLst>
                                          <p:attrName>style.visibility</p:attrName>
                                        </p:attrNameLst>
                                      </p:cBhvr>
                                      <p:to>
                                        <p:strVal val="visible"/>
                                      </p:to>
                                    </p:set>
                                    <p:anim calcmode="lin" valueType="num">
                                      <p:cBhvr additive="base">
                                        <p:cTn id="216" dur="500" fill="hold"/>
                                        <p:tgtEl>
                                          <p:spTgt spid="67"/>
                                        </p:tgtEl>
                                        <p:attrNameLst>
                                          <p:attrName>ppt_x</p:attrName>
                                        </p:attrNameLst>
                                      </p:cBhvr>
                                      <p:tavLst>
                                        <p:tav tm="0">
                                          <p:val>
                                            <p:strVal val="#ppt_x"/>
                                          </p:val>
                                        </p:tav>
                                        <p:tav tm="100000">
                                          <p:val>
                                            <p:strVal val="#ppt_x"/>
                                          </p:val>
                                        </p:tav>
                                      </p:tavLst>
                                    </p:anim>
                                    <p:anim calcmode="lin" valueType="num">
                                      <p:cBhvr additive="base">
                                        <p:cTn id="217" dur="500" fill="hold"/>
                                        <p:tgtEl>
                                          <p:spTgt spid="67"/>
                                        </p:tgtEl>
                                        <p:attrNameLst>
                                          <p:attrName>ppt_y</p:attrName>
                                        </p:attrNameLst>
                                      </p:cBhvr>
                                      <p:tavLst>
                                        <p:tav tm="0">
                                          <p:val>
                                            <p:strVal val="#ppt_y+0.1"/>
                                          </p:val>
                                        </p:tav>
                                        <p:tav tm="100000">
                                          <p:val>
                                            <p:strVal val="#ppt_y"/>
                                          </p:val>
                                        </p:tav>
                                      </p:tavLst>
                                    </p:anim>
                                    <p:animEffect transition="in" filter="fade">
                                      <p:cBhvr>
                                        <p:cTn id="218" dur="500"/>
                                        <p:tgtEl>
                                          <p:spTgt spid="67"/>
                                        </p:tgtEl>
                                      </p:cBhvr>
                                    </p:animEffect>
                                  </p:childTnLst>
                                </p:cTn>
                              </p:par>
                              <p:par>
                                <p:cTn id="224" presetID="2" presetClass="entr" presetSubtype="4" fill="hold" grpId="0" nodeType="withEffect">
                                  <p:stCondLst>
                                    <p:cond delay="240"/>
                                  </p:stCondLst>
                                  <p:childTnLst>
                                    <p:set>
                                      <p:cBhvr>
                                        <p:cTn id="220" dur="1" fill="hold">
                                          <p:stCondLst>
                                            <p:cond delay="0"/>
                                          </p:stCondLst>
                                        </p:cTn>
                                        <p:tgtEl>
                                          <p:spTgt spid="68"/>
                                        </p:tgtEl>
                                        <p:attrNameLst>
                                          <p:attrName>style.visibility</p:attrName>
                                        </p:attrNameLst>
                                      </p:cBhvr>
                                      <p:to>
                                        <p:strVal val="visible"/>
                                      </p:to>
                                    </p:set>
                                    <p:anim calcmode="lin" valueType="num">
                                      <p:cBhvr additive="base">
                                        <p:cTn id="221" dur="500" fill="hold"/>
                                        <p:tgtEl>
                                          <p:spTgt spid="68"/>
                                        </p:tgtEl>
                                        <p:attrNameLst>
                                          <p:attrName>ppt_x</p:attrName>
                                        </p:attrNameLst>
                                      </p:cBhvr>
                                      <p:tavLst>
                                        <p:tav tm="0">
                                          <p:val>
                                            <p:strVal val="#ppt_x"/>
                                          </p:val>
                                        </p:tav>
                                        <p:tav tm="100000">
                                          <p:val>
                                            <p:strVal val="#ppt_x"/>
                                          </p:val>
                                        </p:tav>
                                      </p:tavLst>
                                    </p:anim>
                                    <p:anim calcmode="lin" valueType="num">
                                      <p:cBhvr additive="base">
                                        <p:cTn id="222" dur="500" fill="hold"/>
                                        <p:tgtEl>
                                          <p:spTgt spid="68"/>
                                        </p:tgtEl>
                                        <p:attrNameLst>
                                          <p:attrName>ppt_y</p:attrName>
                                        </p:attrNameLst>
                                      </p:cBhvr>
                                      <p:tavLst>
                                        <p:tav tm="0">
                                          <p:val>
                                            <p:strVal val="#ppt_y+0.1"/>
                                          </p:val>
                                        </p:tav>
                                        <p:tav tm="100000">
                                          <p:val>
                                            <p:strVal val="#ppt_y"/>
                                          </p:val>
                                        </p:tav>
                                      </p:tavLst>
                                    </p:anim>
                                    <p:animEffect transition="in" filter="fade">
                                      <p:cBhvr>
                                        <p:cTn id="223" dur="500"/>
                                        <p:tgtEl>
                                          <p:spTgt spid="68"/>
                                        </p:tgtEl>
                                      </p:cBhvr>
                                    </p:animEffect>
                                  </p:childTnLst>
                                </p:cTn>
                              </p:par>
                              <p:par>
                                <p:cTn id="229" presetID="2" presetClass="entr" presetSubtype="4" fill="hold" grpId="0" nodeType="withEffect">
                                  <p:stCondLst>
                                    <p:cond delay="240"/>
                                  </p:stCondLst>
                                  <p:childTnLst>
                                    <p:set>
                                      <p:cBhvr>
                                        <p:cTn id="225" dur="1" fill="hold">
                                          <p:stCondLst>
                                            <p:cond delay="0"/>
                                          </p:stCondLst>
                                        </p:cTn>
                                        <p:tgtEl>
                                          <p:spTgt spid="69"/>
                                        </p:tgtEl>
                                        <p:attrNameLst>
                                          <p:attrName>style.visibility</p:attrName>
                                        </p:attrNameLst>
                                      </p:cBhvr>
                                      <p:to>
                                        <p:strVal val="visible"/>
                                      </p:to>
                                    </p:set>
                                    <p:anim calcmode="lin" valueType="num">
                                      <p:cBhvr additive="base">
                                        <p:cTn id="226" dur="500" fill="hold"/>
                                        <p:tgtEl>
                                          <p:spTgt spid="69"/>
                                        </p:tgtEl>
                                        <p:attrNameLst>
                                          <p:attrName>ppt_x</p:attrName>
                                        </p:attrNameLst>
                                      </p:cBhvr>
                                      <p:tavLst>
                                        <p:tav tm="0">
                                          <p:val>
                                            <p:strVal val="#ppt_x"/>
                                          </p:val>
                                        </p:tav>
                                        <p:tav tm="100000">
                                          <p:val>
                                            <p:strVal val="#ppt_x"/>
                                          </p:val>
                                        </p:tav>
                                      </p:tavLst>
                                    </p:anim>
                                    <p:anim calcmode="lin" valueType="num">
                                      <p:cBhvr additive="base">
                                        <p:cTn id="227" dur="500" fill="hold"/>
                                        <p:tgtEl>
                                          <p:spTgt spid="69"/>
                                        </p:tgtEl>
                                        <p:attrNameLst>
                                          <p:attrName>ppt_y</p:attrName>
                                        </p:attrNameLst>
                                      </p:cBhvr>
                                      <p:tavLst>
                                        <p:tav tm="0">
                                          <p:val>
                                            <p:strVal val="#ppt_y+0.1"/>
                                          </p:val>
                                        </p:tav>
                                        <p:tav tm="100000">
                                          <p:val>
                                            <p:strVal val="#ppt_y"/>
                                          </p:val>
                                        </p:tav>
                                      </p:tavLst>
                                    </p:anim>
                                    <p:animEffect transition="in" filter="fade">
                                      <p:cBhvr>
                                        <p:cTn id="228" dur="500"/>
                                        <p:tgtEl>
                                          <p:spTgt spid="69"/>
                                        </p:tgtEl>
                                      </p:cBhvr>
                                    </p:animEffect>
                                  </p:childTnLst>
                                </p:cTn>
                              </p:par>
                            </p:childTnLst>
                          </p:cTn>
                        </p:par>
                      </p:childTnLst>
                    </p:cTn>
                  </p:par>
                  <p:par>
                    <p:cTn id="230" fill="hold">
                      <p:stCondLst>
                        <p:cond delay="indefinite"/>
                      </p:stCondLst>
                      <p:childTnLst>
                        <p:par>
                          <p:cTn id="231" fill="hold">
                            <p:stCondLst>
                              <p:cond delay="0"/>
                            </p:stCondLst>
                            <p:childTnLst>
                              <p:par>
                                <p:cTn id="236" presetID="2" presetClass="entr" presetSubtype="4" fill="hold" grpId="0" nodeType="clickEffect">
                                  <p:stCondLst>
                                    <p:cond delay="0"/>
                                  </p:stCondLst>
                                  <p:childTnLst>
                                    <p:set>
                                      <p:cBhvr>
                                        <p:cTn id="232" dur="1" fill="hold">
                                          <p:stCondLst>
                                            <p:cond delay="0"/>
                                          </p:stCondLst>
                                        </p:cTn>
                                        <p:tgtEl>
                                          <p:spTgt spid="70"/>
                                        </p:tgtEl>
                                        <p:attrNameLst>
                                          <p:attrName>style.visibility</p:attrName>
                                        </p:attrNameLst>
                                      </p:cBhvr>
                                      <p:to>
                                        <p:strVal val="visible"/>
                                      </p:to>
                                    </p:set>
                                    <p:anim calcmode="lin" valueType="num">
                                      <p:cBhvr additive="base">
                                        <p:cTn id="233" dur="500" fill="hold"/>
                                        <p:tgtEl>
                                          <p:spTgt spid="70"/>
                                        </p:tgtEl>
                                        <p:attrNameLst>
                                          <p:attrName>ppt_x</p:attrName>
                                        </p:attrNameLst>
                                      </p:cBhvr>
                                      <p:tavLst>
                                        <p:tav tm="0">
                                          <p:val>
                                            <p:strVal val="#ppt_x"/>
                                          </p:val>
                                        </p:tav>
                                        <p:tav tm="100000">
                                          <p:val>
                                            <p:strVal val="#ppt_x"/>
                                          </p:val>
                                        </p:tav>
                                      </p:tavLst>
                                    </p:anim>
                                    <p:anim calcmode="lin" valueType="num">
                                      <p:cBhvr additive="base">
                                        <p:cTn id="234" dur="500" fill="hold"/>
                                        <p:tgtEl>
                                          <p:spTgt spid="70"/>
                                        </p:tgtEl>
                                        <p:attrNameLst>
                                          <p:attrName>ppt_y</p:attrName>
                                        </p:attrNameLst>
                                      </p:cBhvr>
                                      <p:tavLst>
                                        <p:tav tm="0">
                                          <p:val>
                                            <p:strVal val="#ppt_y+0.1"/>
                                          </p:val>
                                        </p:tav>
                                        <p:tav tm="100000">
                                          <p:val>
                                            <p:strVal val="#ppt_y"/>
                                          </p:val>
                                        </p:tav>
                                      </p:tavLst>
                                    </p:anim>
                                    <p:animEffect transition="in" filter="fade">
                                      <p:cBhvr>
                                        <p:cTn id="235" dur="500"/>
                                        <p:tgtEl>
                                          <p:spTgt spid="70"/>
                                        </p:tgtEl>
                                      </p:cBhvr>
                                    </p:animEffect>
                                  </p:childTnLst>
                                </p:cTn>
                              </p:par>
                              <p:par>
                                <p:cTn id="241" presetID="2" presetClass="entr" presetSubtype="4" fill="hold" grpId="0" nodeType="withEffect">
                                  <p:stCondLst>
                                    <p:cond delay="0"/>
                                  </p:stCondLst>
                                  <p:childTnLst>
                                    <p:set>
                                      <p:cBhvr>
                                        <p:cTn id="237" dur="1" fill="hold">
                                          <p:stCondLst>
                                            <p:cond delay="0"/>
                                          </p:stCondLst>
                                        </p:cTn>
                                        <p:tgtEl>
                                          <p:spTgt spid="71"/>
                                        </p:tgtEl>
                                        <p:attrNameLst>
                                          <p:attrName>style.visibility</p:attrName>
                                        </p:attrNameLst>
                                      </p:cBhvr>
                                      <p:to>
                                        <p:strVal val="visible"/>
                                      </p:to>
                                    </p:set>
                                    <p:anim calcmode="lin" valueType="num">
                                      <p:cBhvr additive="base">
                                        <p:cTn id="238" dur="500" fill="hold"/>
                                        <p:tgtEl>
                                          <p:spTgt spid="71"/>
                                        </p:tgtEl>
                                        <p:attrNameLst>
                                          <p:attrName>ppt_x</p:attrName>
                                        </p:attrNameLst>
                                      </p:cBhvr>
                                      <p:tavLst>
                                        <p:tav tm="0">
                                          <p:val>
                                            <p:strVal val="#ppt_x"/>
                                          </p:val>
                                        </p:tav>
                                        <p:tav tm="100000">
                                          <p:val>
                                            <p:strVal val="#ppt_x"/>
                                          </p:val>
                                        </p:tav>
                                      </p:tavLst>
                                    </p:anim>
                                    <p:anim calcmode="lin" valueType="num">
                                      <p:cBhvr additive="base">
                                        <p:cTn id="239" dur="500" fill="hold"/>
                                        <p:tgtEl>
                                          <p:spTgt spid="71"/>
                                        </p:tgtEl>
                                        <p:attrNameLst>
                                          <p:attrName>ppt_y</p:attrName>
                                        </p:attrNameLst>
                                      </p:cBhvr>
                                      <p:tavLst>
                                        <p:tav tm="0">
                                          <p:val>
                                            <p:strVal val="#ppt_y+0.1"/>
                                          </p:val>
                                        </p:tav>
                                        <p:tav tm="100000">
                                          <p:val>
                                            <p:strVal val="#ppt_y"/>
                                          </p:val>
                                        </p:tav>
                                      </p:tavLst>
                                    </p:anim>
                                    <p:animEffect transition="in" filter="fade">
                                      <p:cBhvr>
                                        <p:cTn id="240" dur="500"/>
                                        <p:tgtEl>
                                          <p:spTgt spid="71"/>
                                        </p:tgtEl>
                                      </p:cBhvr>
                                    </p:animEffect>
                                  </p:childTnLst>
                                </p:cTn>
                              </p:par>
                              <p:par>
                                <p:cTn id="246" presetID="2" presetClass="entr" presetSubtype="4" fill="hold" grpId="0" nodeType="withEffect">
                                  <p:stCondLst>
                                    <p:cond delay="0"/>
                                  </p:stCondLst>
                                  <p:childTnLst>
                                    <p:set>
                                      <p:cBhvr>
                                        <p:cTn id="242" dur="1" fill="hold">
                                          <p:stCondLst>
                                            <p:cond delay="0"/>
                                          </p:stCondLst>
                                        </p:cTn>
                                        <p:tgtEl>
                                          <p:spTgt spid="72"/>
                                        </p:tgtEl>
                                        <p:attrNameLst>
                                          <p:attrName>style.visibility</p:attrName>
                                        </p:attrNameLst>
                                      </p:cBhvr>
                                      <p:to>
                                        <p:strVal val="visible"/>
                                      </p:to>
                                    </p:set>
                                    <p:anim calcmode="lin" valueType="num">
                                      <p:cBhvr additive="base">
                                        <p:cTn id="243" dur="500" fill="hold"/>
                                        <p:tgtEl>
                                          <p:spTgt spid="72"/>
                                        </p:tgtEl>
                                        <p:attrNameLst>
                                          <p:attrName>ppt_x</p:attrName>
                                        </p:attrNameLst>
                                      </p:cBhvr>
                                      <p:tavLst>
                                        <p:tav tm="0">
                                          <p:val>
                                            <p:strVal val="#ppt_x"/>
                                          </p:val>
                                        </p:tav>
                                        <p:tav tm="100000">
                                          <p:val>
                                            <p:strVal val="#ppt_x"/>
                                          </p:val>
                                        </p:tav>
                                      </p:tavLst>
                                    </p:anim>
                                    <p:anim calcmode="lin" valueType="num">
                                      <p:cBhvr additive="base">
                                        <p:cTn id="244" dur="500" fill="hold"/>
                                        <p:tgtEl>
                                          <p:spTgt spid="72"/>
                                        </p:tgtEl>
                                        <p:attrNameLst>
                                          <p:attrName>ppt_y</p:attrName>
                                        </p:attrNameLst>
                                      </p:cBhvr>
                                      <p:tavLst>
                                        <p:tav tm="0">
                                          <p:val>
                                            <p:strVal val="#ppt_y+0.1"/>
                                          </p:val>
                                        </p:tav>
                                        <p:tav tm="100000">
                                          <p:val>
                                            <p:strVal val="#ppt_y"/>
                                          </p:val>
                                        </p:tav>
                                      </p:tavLst>
                                    </p:anim>
                                    <p:animEffect transition="in" filter="fade">
                                      <p:cBhvr>
                                        <p:cTn id="245"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Brokers Handle Reads and Writes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Client applications send requests - brokers do the actual I/O on the partition logs</a:t>
            </a:r>
          </a:p>
        </p:txBody>
      </p:sp>
      <p:sp>
        <p:nvSpPr>
          <p:cNvPr id="11" name="a0f_cl10"/>
          <p:cNvSpPr/>
          <p:nvPr/>
        </p:nvSpPr>
        <p:spPr>
          <a:xfrm>
            <a:off x="2240280" y="1280160"/>
            <a:ext cx="4663440" cy="1874519"/>
          </a:xfrm>
          <a:prstGeom prst="roundRect">
            <a:avLst>
              <a:gd name="adj" fmla="val 4878"/>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_clh11"/>
          <p:cNvSpPr txBox="1"/>
          <p:nvPr/>
        </p:nvSpPr>
        <p:spPr>
          <a:xfrm>
            <a:off x="2423160" y="1371600"/>
            <a:ext cx="1645920" cy="237744"/>
          </a:xfrm>
          <a:prstGeom prst="rect">
            <a:avLst/>
          </a:prstGeom>
          <a:noFill/>
        </p:spPr>
        <p:txBody>
          <a:bodyPr wrap="square" lIns="0" tIns="0" rIns="0" bIns="0" anchor="ctr">
            <a:spAutoFit/>
          </a:bodyPr>
          <a:lstStyle/>
          <a:p>
            <a:pPr algn="l"/>
            <a:r>
              <a:rPr sz="850" b="1" spc="160">
                <a:solidFill>
                  <a:srgbClr val="0E7490"/>
                </a:solidFill>
                <a:latin typeface="Segoe UI"/>
              </a:rPr>
              <a:t>KAFKA CLUSTER</a:t>
            </a:r>
          </a:p>
        </p:txBody>
      </p:sp>
      <p:sp>
        <p:nvSpPr>
          <p:cNvPr id="13" name="a0f_bk12"/>
          <p:cNvSpPr/>
          <p:nvPr/>
        </p:nvSpPr>
        <p:spPr>
          <a:xfrm>
            <a:off x="2395728" y="1627632"/>
            <a:ext cx="1335024" cy="1371600"/>
          </a:xfrm>
          <a:prstGeom prst="roundRect">
            <a:avLst>
              <a:gd name="adj" fmla="val 5479"/>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f_bkn13"/>
          <p:cNvSpPr txBox="1"/>
          <p:nvPr/>
        </p:nvSpPr>
        <p:spPr>
          <a:xfrm>
            <a:off x="2523744" y="1700784"/>
            <a:ext cx="1078992" cy="237744"/>
          </a:xfrm>
          <a:prstGeom prst="rect">
            <a:avLst/>
          </a:prstGeom>
          <a:noFill/>
        </p:spPr>
        <p:txBody>
          <a:bodyPr wrap="square" lIns="0" tIns="0" rIns="0" bIns="0" anchor="ctr">
            <a:spAutoFit/>
          </a:bodyPr>
          <a:lstStyle/>
          <a:p>
            <a:pPr algn="l"/>
            <a:r>
              <a:rPr sz="1050" b="1">
                <a:solidFill>
                  <a:srgbClr val="1C1917"/>
                </a:solidFill>
                <a:latin typeface="Segoe UI"/>
              </a:rPr>
              <a:t>broker 1</a:t>
            </a:r>
          </a:p>
        </p:txBody>
      </p:sp>
      <p:sp>
        <p:nvSpPr>
          <p:cNvPr id="15" name="a0f_bks14"/>
          <p:cNvSpPr txBox="1"/>
          <p:nvPr/>
        </p:nvSpPr>
        <p:spPr>
          <a:xfrm>
            <a:off x="2523744" y="1929384"/>
            <a:ext cx="1078992" cy="201168"/>
          </a:xfrm>
          <a:prstGeom prst="rect">
            <a:avLst/>
          </a:prstGeom>
          <a:noFill/>
        </p:spPr>
        <p:txBody>
          <a:bodyPr wrap="square" lIns="0" tIns="0" rIns="0" bIns="0" anchor="ctr">
            <a:spAutoFit/>
          </a:bodyPr>
          <a:lstStyle/>
          <a:p>
            <a:pPr algn="l"/>
            <a:r>
              <a:rPr sz="800" b="0">
                <a:solidFill>
                  <a:srgbClr val="0E7490"/>
                </a:solidFill>
                <a:latin typeface="Segoe UI"/>
              </a:rPr>
              <a:t>Kafka server</a:t>
            </a:r>
          </a:p>
        </p:txBody>
      </p:sp>
      <p:sp>
        <p:nvSpPr>
          <p:cNvPr id="16" name="a0f_dk15"/>
          <p:cNvSpPr/>
          <p:nvPr/>
        </p:nvSpPr>
        <p:spPr>
          <a:xfrm>
            <a:off x="2523744" y="2724912"/>
            <a:ext cx="1078992" cy="164592"/>
          </a:xfrm>
          <a:prstGeom prst="roundRect">
            <a:avLst>
              <a:gd name="adj" fmla="val 22222"/>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0f_dkt16"/>
          <p:cNvSpPr txBox="1"/>
          <p:nvPr/>
        </p:nvSpPr>
        <p:spPr>
          <a:xfrm>
            <a:off x="2523744" y="2724912"/>
            <a:ext cx="1078992" cy="164592"/>
          </a:xfrm>
          <a:prstGeom prst="rect">
            <a:avLst/>
          </a:prstGeom>
          <a:noFill/>
        </p:spPr>
        <p:txBody>
          <a:bodyPr wrap="square" lIns="0" tIns="0" rIns="0" bIns="0" anchor="ctr">
            <a:spAutoFit/>
          </a:bodyPr>
          <a:lstStyle/>
          <a:p>
            <a:pPr algn="ctr"/>
            <a:r>
              <a:rPr sz="750" b="0">
                <a:solidFill>
                  <a:srgbClr val="78716C"/>
                </a:solidFill>
                <a:latin typeface="Consolas"/>
              </a:rPr>
              <a:t>local SSD</a:t>
            </a:r>
          </a:p>
        </p:txBody>
      </p:sp>
      <p:sp>
        <p:nvSpPr>
          <p:cNvPr id="18" name="a0f_pt17"/>
          <p:cNvSpPr/>
          <p:nvPr/>
        </p:nvSpPr>
        <p:spPr>
          <a:xfrm>
            <a:off x="2523744" y="2176272"/>
            <a:ext cx="1078992" cy="365760"/>
          </a:xfrm>
          <a:prstGeom prst="roundRect">
            <a:avLst>
              <a:gd name="adj" fmla="val 12500"/>
            </a:avLst>
          </a:prstGeom>
          <a:solidFill>
            <a:srgbClr val="FFEDD5"/>
          </a:solidFill>
          <a:ln w="1270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0f_ptn18"/>
          <p:cNvSpPr txBox="1"/>
          <p:nvPr/>
        </p:nvSpPr>
        <p:spPr>
          <a:xfrm>
            <a:off x="2615184" y="2176272"/>
            <a:ext cx="365760" cy="365760"/>
          </a:xfrm>
          <a:prstGeom prst="rect">
            <a:avLst/>
          </a:prstGeom>
          <a:noFill/>
        </p:spPr>
        <p:txBody>
          <a:bodyPr wrap="square" lIns="0" tIns="0" rIns="0" bIns="0" anchor="ctr">
            <a:spAutoFit/>
          </a:bodyPr>
          <a:lstStyle/>
          <a:p>
            <a:pPr algn="l"/>
            <a:r>
              <a:rPr sz="1000" b="1">
                <a:solidFill>
                  <a:srgbClr val="C2410C"/>
                </a:solidFill>
                <a:latin typeface="Consolas"/>
              </a:rPr>
              <a:t>P0</a:t>
            </a:r>
          </a:p>
        </p:txBody>
      </p:sp>
      <p:sp>
        <p:nvSpPr>
          <p:cNvPr id="20" name="a0f_pc19"/>
          <p:cNvSpPr/>
          <p:nvPr/>
        </p:nvSpPr>
        <p:spPr>
          <a:xfrm>
            <a:off x="2971800" y="2276856"/>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0f_pc20"/>
          <p:cNvSpPr/>
          <p:nvPr/>
        </p:nvSpPr>
        <p:spPr>
          <a:xfrm>
            <a:off x="3163824" y="2276856"/>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0f_pc21"/>
          <p:cNvSpPr/>
          <p:nvPr/>
        </p:nvSpPr>
        <p:spPr>
          <a:xfrm>
            <a:off x="3355848" y="2276856"/>
            <a:ext cx="155448" cy="164592"/>
          </a:xfrm>
          <a:prstGeom prst="rect">
            <a:avLst/>
          </a:prstGeom>
          <a:solidFill>
            <a:srgbClr val="C2410C"/>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0f_bk22"/>
          <p:cNvSpPr/>
          <p:nvPr/>
        </p:nvSpPr>
        <p:spPr>
          <a:xfrm>
            <a:off x="3895344" y="1627632"/>
            <a:ext cx="1335024" cy="1371600"/>
          </a:xfrm>
          <a:prstGeom prst="roundRect">
            <a:avLst>
              <a:gd name="adj" fmla="val 5479"/>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f_bkn23"/>
          <p:cNvSpPr txBox="1"/>
          <p:nvPr/>
        </p:nvSpPr>
        <p:spPr>
          <a:xfrm>
            <a:off x="4023359" y="1700784"/>
            <a:ext cx="1078992" cy="237744"/>
          </a:xfrm>
          <a:prstGeom prst="rect">
            <a:avLst/>
          </a:prstGeom>
          <a:noFill/>
        </p:spPr>
        <p:txBody>
          <a:bodyPr wrap="square" lIns="0" tIns="0" rIns="0" bIns="0" anchor="ctr">
            <a:spAutoFit/>
          </a:bodyPr>
          <a:lstStyle/>
          <a:p>
            <a:pPr algn="l"/>
            <a:r>
              <a:rPr sz="1050" b="1">
                <a:solidFill>
                  <a:srgbClr val="1C1917"/>
                </a:solidFill>
                <a:latin typeface="Segoe UI"/>
              </a:rPr>
              <a:t>broker 2</a:t>
            </a:r>
          </a:p>
        </p:txBody>
      </p:sp>
      <p:sp>
        <p:nvSpPr>
          <p:cNvPr id="25" name="a0f_bks24"/>
          <p:cNvSpPr txBox="1"/>
          <p:nvPr/>
        </p:nvSpPr>
        <p:spPr>
          <a:xfrm>
            <a:off x="4023359" y="1929384"/>
            <a:ext cx="1078992" cy="201168"/>
          </a:xfrm>
          <a:prstGeom prst="rect">
            <a:avLst/>
          </a:prstGeom>
          <a:noFill/>
        </p:spPr>
        <p:txBody>
          <a:bodyPr wrap="square" lIns="0" tIns="0" rIns="0" bIns="0" anchor="ctr">
            <a:spAutoFit/>
          </a:bodyPr>
          <a:lstStyle/>
          <a:p>
            <a:pPr algn="l"/>
            <a:r>
              <a:rPr sz="800" b="0">
                <a:solidFill>
                  <a:srgbClr val="0E7490"/>
                </a:solidFill>
                <a:latin typeface="Segoe UI"/>
              </a:rPr>
              <a:t>Kafka server</a:t>
            </a:r>
          </a:p>
        </p:txBody>
      </p:sp>
      <p:sp>
        <p:nvSpPr>
          <p:cNvPr id="26" name="a0f_dk25"/>
          <p:cNvSpPr/>
          <p:nvPr/>
        </p:nvSpPr>
        <p:spPr>
          <a:xfrm>
            <a:off x="4023359" y="2724912"/>
            <a:ext cx="1078992" cy="164592"/>
          </a:xfrm>
          <a:prstGeom prst="roundRect">
            <a:avLst>
              <a:gd name="adj" fmla="val 22222"/>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0f_dkt26"/>
          <p:cNvSpPr txBox="1"/>
          <p:nvPr/>
        </p:nvSpPr>
        <p:spPr>
          <a:xfrm>
            <a:off x="4023359" y="2724912"/>
            <a:ext cx="1078992" cy="164592"/>
          </a:xfrm>
          <a:prstGeom prst="rect">
            <a:avLst/>
          </a:prstGeom>
          <a:noFill/>
        </p:spPr>
        <p:txBody>
          <a:bodyPr wrap="square" lIns="0" tIns="0" rIns="0" bIns="0" anchor="ctr">
            <a:spAutoFit/>
          </a:bodyPr>
          <a:lstStyle/>
          <a:p>
            <a:pPr algn="ctr"/>
            <a:r>
              <a:rPr sz="750" b="0">
                <a:solidFill>
                  <a:srgbClr val="78716C"/>
                </a:solidFill>
                <a:latin typeface="Consolas"/>
              </a:rPr>
              <a:t>local SSD</a:t>
            </a:r>
          </a:p>
        </p:txBody>
      </p:sp>
      <p:sp>
        <p:nvSpPr>
          <p:cNvPr id="28" name="a0f_pt27"/>
          <p:cNvSpPr/>
          <p:nvPr/>
        </p:nvSpPr>
        <p:spPr>
          <a:xfrm>
            <a:off x="4023359" y="2176272"/>
            <a:ext cx="1078992" cy="365760"/>
          </a:xfrm>
          <a:prstGeom prst="roundRect">
            <a:avLst>
              <a:gd name="adj" fmla="val 12500"/>
            </a:avLst>
          </a:prstGeom>
          <a:solidFill>
            <a:srgbClr val="FFEDD5"/>
          </a:solidFill>
          <a:ln w="1270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0f_ptn28"/>
          <p:cNvSpPr txBox="1"/>
          <p:nvPr/>
        </p:nvSpPr>
        <p:spPr>
          <a:xfrm>
            <a:off x="4114799" y="2176272"/>
            <a:ext cx="365760" cy="365760"/>
          </a:xfrm>
          <a:prstGeom prst="rect">
            <a:avLst/>
          </a:prstGeom>
          <a:noFill/>
        </p:spPr>
        <p:txBody>
          <a:bodyPr wrap="square" lIns="0" tIns="0" rIns="0" bIns="0" anchor="ctr">
            <a:spAutoFit/>
          </a:bodyPr>
          <a:lstStyle/>
          <a:p>
            <a:pPr algn="l"/>
            <a:r>
              <a:rPr sz="1000" b="1">
                <a:solidFill>
                  <a:srgbClr val="C2410C"/>
                </a:solidFill>
                <a:latin typeface="Consolas"/>
              </a:rPr>
              <a:t>P1</a:t>
            </a:r>
          </a:p>
        </p:txBody>
      </p:sp>
      <p:sp>
        <p:nvSpPr>
          <p:cNvPr id="30" name="a0f_pc29"/>
          <p:cNvSpPr/>
          <p:nvPr/>
        </p:nvSpPr>
        <p:spPr>
          <a:xfrm>
            <a:off x="4471416" y="2276856"/>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0f_pc30"/>
          <p:cNvSpPr/>
          <p:nvPr/>
        </p:nvSpPr>
        <p:spPr>
          <a:xfrm>
            <a:off x="4663440" y="2276856"/>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0f_pc31"/>
          <p:cNvSpPr/>
          <p:nvPr/>
        </p:nvSpPr>
        <p:spPr>
          <a:xfrm>
            <a:off x="4855464" y="2276856"/>
            <a:ext cx="155448" cy="164592"/>
          </a:xfrm>
          <a:prstGeom prst="rect">
            <a:avLst/>
          </a:prstGeom>
          <a:solidFill>
            <a:srgbClr val="C2410C"/>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0f_bk32"/>
          <p:cNvSpPr/>
          <p:nvPr/>
        </p:nvSpPr>
        <p:spPr>
          <a:xfrm>
            <a:off x="5394960" y="1627632"/>
            <a:ext cx="1335024" cy="1371600"/>
          </a:xfrm>
          <a:prstGeom prst="roundRect">
            <a:avLst>
              <a:gd name="adj" fmla="val 5479"/>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0f_bkn33"/>
          <p:cNvSpPr txBox="1"/>
          <p:nvPr/>
        </p:nvSpPr>
        <p:spPr>
          <a:xfrm>
            <a:off x="5522976" y="1700784"/>
            <a:ext cx="1078992" cy="237744"/>
          </a:xfrm>
          <a:prstGeom prst="rect">
            <a:avLst/>
          </a:prstGeom>
          <a:noFill/>
        </p:spPr>
        <p:txBody>
          <a:bodyPr wrap="square" lIns="0" tIns="0" rIns="0" bIns="0" anchor="ctr">
            <a:spAutoFit/>
          </a:bodyPr>
          <a:lstStyle/>
          <a:p>
            <a:pPr algn="l"/>
            <a:r>
              <a:rPr sz="1050" b="1">
                <a:solidFill>
                  <a:srgbClr val="1C1917"/>
                </a:solidFill>
                <a:latin typeface="Segoe UI"/>
              </a:rPr>
              <a:t>broker 3</a:t>
            </a:r>
          </a:p>
        </p:txBody>
      </p:sp>
      <p:sp>
        <p:nvSpPr>
          <p:cNvPr id="35" name="a0f_bks34"/>
          <p:cNvSpPr txBox="1"/>
          <p:nvPr/>
        </p:nvSpPr>
        <p:spPr>
          <a:xfrm>
            <a:off x="5522976" y="1929384"/>
            <a:ext cx="1078992" cy="201168"/>
          </a:xfrm>
          <a:prstGeom prst="rect">
            <a:avLst/>
          </a:prstGeom>
          <a:noFill/>
        </p:spPr>
        <p:txBody>
          <a:bodyPr wrap="square" lIns="0" tIns="0" rIns="0" bIns="0" anchor="ctr">
            <a:spAutoFit/>
          </a:bodyPr>
          <a:lstStyle/>
          <a:p>
            <a:pPr algn="l"/>
            <a:r>
              <a:rPr sz="800" b="0">
                <a:solidFill>
                  <a:srgbClr val="0E7490"/>
                </a:solidFill>
                <a:latin typeface="Segoe UI"/>
              </a:rPr>
              <a:t>Kafka server</a:t>
            </a:r>
          </a:p>
        </p:txBody>
      </p:sp>
      <p:sp>
        <p:nvSpPr>
          <p:cNvPr id="36" name="a0f_dk35"/>
          <p:cNvSpPr/>
          <p:nvPr/>
        </p:nvSpPr>
        <p:spPr>
          <a:xfrm>
            <a:off x="5522976" y="2724912"/>
            <a:ext cx="1078992" cy="164592"/>
          </a:xfrm>
          <a:prstGeom prst="roundRect">
            <a:avLst>
              <a:gd name="adj" fmla="val 22222"/>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0f_dkt36"/>
          <p:cNvSpPr txBox="1"/>
          <p:nvPr/>
        </p:nvSpPr>
        <p:spPr>
          <a:xfrm>
            <a:off x="5522976" y="2724912"/>
            <a:ext cx="1078992" cy="164592"/>
          </a:xfrm>
          <a:prstGeom prst="rect">
            <a:avLst/>
          </a:prstGeom>
          <a:noFill/>
        </p:spPr>
        <p:txBody>
          <a:bodyPr wrap="square" lIns="0" tIns="0" rIns="0" bIns="0" anchor="ctr">
            <a:spAutoFit/>
          </a:bodyPr>
          <a:lstStyle/>
          <a:p>
            <a:pPr algn="ctr"/>
            <a:r>
              <a:rPr sz="750" b="0">
                <a:solidFill>
                  <a:srgbClr val="78716C"/>
                </a:solidFill>
                <a:latin typeface="Consolas"/>
              </a:rPr>
              <a:t>local SSD</a:t>
            </a:r>
          </a:p>
        </p:txBody>
      </p:sp>
      <p:sp>
        <p:nvSpPr>
          <p:cNvPr id="38" name="a0f_pt37"/>
          <p:cNvSpPr/>
          <p:nvPr/>
        </p:nvSpPr>
        <p:spPr>
          <a:xfrm>
            <a:off x="5522976" y="2176272"/>
            <a:ext cx="1078992" cy="365760"/>
          </a:xfrm>
          <a:prstGeom prst="roundRect">
            <a:avLst>
              <a:gd name="adj" fmla="val 12500"/>
            </a:avLst>
          </a:prstGeom>
          <a:solidFill>
            <a:srgbClr val="FFEDD5"/>
          </a:solidFill>
          <a:ln w="1270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0f_ptn38"/>
          <p:cNvSpPr txBox="1"/>
          <p:nvPr/>
        </p:nvSpPr>
        <p:spPr>
          <a:xfrm>
            <a:off x="5614416" y="2176272"/>
            <a:ext cx="365760" cy="365760"/>
          </a:xfrm>
          <a:prstGeom prst="rect">
            <a:avLst/>
          </a:prstGeom>
          <a:noFill/>
        </p:spPr>
        <p:txBody>
          <a:bodyPr wrap="square" lIns="0" tIns="0" rIns="0" bIns="0" anchor="ctr">
            <a:spAutoFit/>
          </a:bodyPr>
          <a:lstStyle/>
          <a:p>
            <a:pPr algn="l"/>
            <a:r>
              <a:rPr sz="1000" b="1">
                <a:solidFill>
                  <a:srgbClr val="C2410C"/>
                </a:solidFill>
                <a:latin typeface="Consolas"/>
              </a:rPr>
              <a:t>P2</a:t>
            </a:r>
          </a:p>
        </p:txBody>
      </p:sp>
      <p:sp>
        <p:nvSpPr>
          <p:cNvPr id="40" name="a0f_pc39"/>
          <p:cNvSpPr/>
          <p:nvPr/>
        </p:nvSpPr>
        <p:spPr>
          <a:xfrm>
            <a:off x="5971032" y="2276856"/>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0f_pc40"/>
          <p:cNvSpPr/>
          <p:nvPr/>
        </p:nvSpPr>
        <p:spPr>
          <a:xfrm>
            <a:off x="6163056" y="2276856"/>
            <a:ext cx="155448" cy="164592"/>
          </a:xfrm>
          <a:prstGeom prst="rect">
            <a:avLst/>
          </a:prstGeom>
          <a:solidFill>
            <a:srgbClr val="FFFFFF"/>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0f_pc41"/>
          <p:cNvSpPr/>
          <p:nvPr/>
        </p:nvSpPr>
        <p:spPr>
          <a:xfrm>
            <a:off x="6355080" y="2276856"/>
            <a:ext cx="155448" cy="164592"/>
          </a:xfrm>
          <a:prstGeom prst="rect">
            <a:avLst/>
          </a:prstGeom>
          <a:solidFill>
            <a:srgbClr val="C2410C"/>
          </a:solidFill>
          <a:ln w="635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1u_nd42"/>
          <p:cNvSpPr/>
          <p:nvPr/>
        </p:nvSpPr>
        <p:spPr>
          <a:xfrm>
            <a:off x="457200" y="1481328"/>
            <a:ext cx="1325880" cy="566928"/>
          </a:xfrm>
          <a:prstGeom prst="roundRect">
            <a:avLst>
              <a:gd name="adj" fmla="val 1290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1u_ndt43"/>
          <p:cNvSpPr txBox="1"/>
          <p:nvPr/>
        </p:nvSpPr>
        <p:spPr>
          <a:xfrm>
            <a:off x="502920" y="1517904"/>
            <a:ext cx="1234439" cy="265176"/>
          </a:xfrm>
          <a:prstGeom prst="rect">
            <a:avLst/>
          </a:prstGeom>
          <a:noFill/>
        </p:spPr>
        <p:txBody>
          <a:bodyPr wrap="square" lIns="0" tIns="0" rIns="0" bIns="0" anchor="b">
            <a:spAutoFit/>
          </a:bodyPr>
          <a:lstStyle/>
          <a:p>
            <a:pPr algn="ctr"/>
            <a:r>
              <a:rPr sz="950" b="1">
                <a:solidFill>
                  <a:srgbClr val="1C1917"/>
                </a:solidFill>
                <a:latin typeface="Segoe UI"/>
              </a:rPr>
              <a:t>Thermostat hub</a:t>
            </a:r>
          </a:p>
        </p:txBody>
      </p:sp>
      <p:sp>
        <p:nvSpPr>
          <p:cNvPr id="45" name="a1u_nds44"/>
          <p:cNvSpPr txBox="1"/>
          <p:nvPr/>
        </p:nvSpPr>
        <p:spPr>
          <a:xfrm>
            <a:off x="502920" y="1792224"/>
            <a:ext cx="1234439" cy="219456"/>
          </a:xfrm>
          <a:prstGeom prst="rect">
            <a:avLst/>
          </a:prstGeom>
          <a:noFill/>
        </p:spPr>
        <p:txBody>
          <a:bodyPr wrap="square" lIns="0" tIns="0" rIns="0" bIns="0" anchor="t">
            <a:spAutoFit/>
          </a:bodyPr>
          <a:lstStyle/>
          <a:p>
            <a:pPr algn="ctr"/>
            <a:r>
              <a:rPr sz="800" b="0">
                <a:solidFill>
                  <a:srgbClr val="EA580C"/>
                </a:solidFill>
                <a:latin typeface="Segoe UI"/>
              </a:rPr>
              <a:t>producer</a:t>
            </a:r>
          </a:p>
        </p:txBody>
      </p:sp>
      <p:cxnSp>
        <p:nvCxnSpPr>
          <p:cNvPr id="46" name="a1u_ar45"/>
          <p:cNvCxnSpPr/>
          <p:nvPr/>
        </p:nvCxnSpPr>
        <p:spPr>
          <a:xfrm>
            <a:off x="1801368" y="1764792"/>
            <a:ext cx="420624" cy="0"/>
          </a:xfrm>
          <a:prstGeom prst="line">
            <a:avLst/>
          </a:prstGeom>
          <a:ln w="2222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a1u_lb46"/>
          <p:cNvSpPr txBox="1"/>
          <p:nvPr/>
        </p:nvSpPr>
        <p:spPr>
          <a:xfrm>
            <a:off x="1783080" y="1527048"/>
            <a:ext cx="457200" cy="201168"/>
          </a:xfrm>
          <a:prstGeom prst="rect">
            <a:avLst/>
          </a:prstGeom>
          <a:noFill/>
        </p:spPr>
        <p:txBody>
          <a:bodyPr wrap="square" lIns="0" tIns="0" rIns="0" bIns="0" anchor="ctr">
            <a:spAutoFit/>
          </a:bodyPr>
          <a:lstStyle/>
          <a:p>
            <a:pPr algn="ctr"/>
            <a:r>
              <a:rPr sz="800" b="1">
                <a:solidFill>
                  <a:srgbClr val="C2410C"/>
                </a:solidFill>
                <a:latin typeface="Segoe UI"/>
              </a:rPr>
              <a:t>write</a:t>
            </a:r>
          </a:p>
        </p:txBody>
      </p:sp>
      <p:sp>
        <p:nvSpPr>
          <p:cNvPr id="48" name="a1ud100_nd47"/>
          <p:cNvSpPr/>
          <p:nvPr/>
        </p:nvSpPr>
        <p:spPr>
          <a:xfrm>
            <a:off x="457200" y="2331720"/>
            <a:ext cx="1325880" cy="566928"/>
          </a:xfrm>
          <a:prstGeom prst="roundRect">
            <a:avLst>
              <a:gd name="adj" fmla="val 1290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1ud100_ndt48"/>
          <p:cNvSpPr txBox="1"/>
          <p:nvPr/>
        </p:nvSpPr>
        <p:spPr>
          <a:xfrm>
            <a:off x="502920" y="2368296"/>
            <a:ext cx="1234439" cy="265176"/>
          </a:xfrm>
          <a:prstGeom prst="rect">
            <a:avLst/>
          </a:prstGeom>
          <a:noFill/>
        </p:spPr>
        <p:txBody>
          <a:bodyPr wrap="square" lIns="0" tIns="0" rIns="0" bIns="0" anchor="b">
            <a:spAutoFit/>
          </a:bodyPr>
          <a:lstStyle/>
          <a:p>
            <a:pPr algn="ctr"/>
            <a:r>
              <a:rPr sz="950" b="1">
                <a:solidFill>
                  <a:srgbClr val="1C1917"/>
                </a:solidFill>
                <a:latin typeface="Segoe UI"/>
              </a:rPr>
              <a:t>Sensor gateway</a:t>
            </a:r>
          </a:p>
        </p:txBody>
      </p:sp>
      <p:sp>
        <p:nvSpPr>
          <p:cNvPr id="50" name="a1ud100_nds49"/>
          <p:cNvSpPr txBox="1"/>
          <p:nvPr/>
        </p:nvSpPr>
        <p:spPr>
          <a:xfrm>
            <a:off x="502920" y="2642615"/>
            <a:ext cx="1234439" cy="219456"/>
          </a:xfrm>
          <a:prstGeom prst="rect">
            <a:avLst/>
          </a:prstGeom>
          <a:noFill/>
        </p:spPr>
        <p:txBody>
          <a:bodyPr wrap="square" lIns="0" tIns="0" rIns="0" bIns="0" anchor="t">
            <a:spAutoFit/>
          </a:bodyPr>
          <a:lstStyle/>
          <a:p>
            <a:pPr algn="ctr"/>
            <a:r>
              <a:rPr sz="800" b="0">
                <a:solidFill>
                  <a:srgbClr val="EA580C"/>
                </a:solidFill>
                <a:latin typeface="Segoe UI"/>
              </a:rPr>
              <a:t>producer</a:t>
            </a:r>
          </a:p>
        </p:txBody>
      </p:sp>
      <p:cxnSp>
        <p:nvCxnSpPr>
          <p:cNvPr id="51" name="a1ud100_ar50"/>
          <p:cNvCxnSpPr/>
          <p:nvPr/>
        </p:nvCxnSpPr>
        <p:spPr>
          <a:xfrm>
            <a:off x="1801368" y="2615184"/>
            <a:ext cx="420624" cy="0"/>
          </a:xfrm>
          <a:prstGeom prst="line">
            <a:avLst/>
          </a:prstGeom>
          <a:ln w="22225">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a1ud100_lb51"/>
          <p:cNvSpPr txBox="1"/>
          <p:nvPr/>
        </p:nvSpPr>
        <p:spPr>
          <a:xfrm>
            <a:off x="1783080" y="2377439"/>
            <a:ext cx="457200" cy="201168"/>
          </a:xfrm>
          <a:prstGeom prst="rect">
            <a:avLst/>
          </a:prstGeom>
          <a:noFill/>
        </p:spPr>
        <p:txBody>
          <a:bodyPr wrap="square" lIns="0" tIns="0" rIns="0" bIns="0" anchor="ctr">
            <a:spAutoFit/>
          </a:bodyPr>
          <a:lstStyle/>
          <a:p>
            <a:pPr algn="ctr"/>
            <a:r>
              <a:rPr sz="800" b="1">
                <a:solidFill>
                  <a:srgbClr val="C2410C"/>
                </a:solidFill>
                <a:latin typeface="Segoe UI"/>
              </a:rPr>
              <a:t>write</a:t>
            </a:r>
          </a:p>
        </p:txBody>
      </p:sp>
      <p:sp>
        <p:nvSpPr>
          <p:cNvPr id="53" name="a2u_nd52"/>
          <p:cNvSpPr/>
          <p:nvPr/>
        </p:nvSpPr>
        <p:spPr>
          <a:xfrm>
            <a:off x="7360920" y="1481328"/>
            <a:ext cx="1325880" cy="566928"/>
          </a:xfrm>
          <a:prstGeom prst="roundRect">
            <a:avLst>
              <a:gd name="adj" fmla="val 12903"/>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2u_ndt53"/>
          <p:cNvSpPr txBox="1"/>
          <p:nvPr/>
        </p:nvSpPr>
        <p:spPr>
          <a:xfrm>
            <a:off x="7406640" y="1517904"/>
            <a:ext cx="1234439" cy="265176"/>
          </a:xfrm>
          <a:prstGeom prst="rect">
            <a:avLst/>
          </a:prstGeom>
          <a:noFill/>
        </p:spPr>
        <p:txBody>
          <a:bodyPr wrap="square" lIns="0" tIns="0" rIns="0" bIns="0" anchor="b">
            <a:spAutoFit/>
          </a:bodyPr>
          <a:lstStyle/>
          <a:p>
            <a:pPr algn="ctr"/>
            <a:r>
              <a:rPr sz="950" b="1">
                <a:solidFill>
                  <a:srgbClr val="1C1917"/>
                </a:solidFill>
                <a:latin typeface="Segoe UI"/>
              </a:rPr>
              <a:t>Dashboard</a:t>
            </a:r>
          </a:p>
        </p:txBody>
      </p:sp>
      <p:sp>
        <p:nvSpPr>
          <p:cNvPr id="55" name="a2u_nds54"/>
          <p:cNvSpPr txBox="1"/>
          <p:nvPr/>
        </p:nvSpPr>
        <p:spPr>
          <a:xfrm>
            <a:off x="7406640" y="1792224"/>
            <a:ext cx="1234439" cy="219456"/>
          </a:xfrm>
          <a:prstGeom prst="rect">
            <a:avLst/>
          </a:prstGeom>
          <a:noFill/>
        </p:spPr>
        <p:txBody>
          <a:bodyPr wrap="square" lIns="0" tIns="0" rIns="0" bIns="0" anchor="t">
            <a:spAutoFit/>
          </a:bodyPr>
          <a:lstStyle/>
          <a:p>
            <a:pPr algn="ctr"/>
            <a:r>
              <a:rPr sz="800" b="0">
                <a:solidFill>
                  <a:srgbClr val="4F46E5"/>
                </a:solidFill>
                <a:latin typeface="Segoe UI"/>
              </a:rPr>
              <a:t>consumer</a:t>
            </a:r>
          </a:p>
        </p:txBody>
      </p:sp>
      <p:cxnSp>
        <p:nvCxnSpPr>
          <p:cNvPr id="56" name="a2u_ar55"/>
          <p:cNvCxnSpPr/>
          <p:nvPr/>
        </p:nvCxnSpPr>
        <p:spPr>
          <a:xfrm>
            <a:off x="6922008" y="1764792"/>
            <a:ext cx="420623" cy="0"/>
          </a:xfrm>
          <a:prstGeom prst="line">
            <a:avLst/>
          </a:prstGeom>
          <a:ln w="2222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a2u_lb56"/>
          <p:cNvSpPr txBox="1"/>
          <p:nvPr/>
        </p:nvSpPr>
        <p:spPr>
          <a:xfrm>
            <a:off x="6903720" y="1527048"/>
            <a:ext cx="457200" cy="201168"/>
          </a:xfrm>
          <a:prstGeom prst="rect">
            <a:avLst/>
          </a:prstGeom>
          <a:noFill/>
        </p:spPr>
        <p:txBody>
          <a:bodyPr wrap="square" lIns="0" tIns="0" rIns="0" bIns="0" anchor="ctr">
            <a:spAutoFit/>
          </a:bodyPr>
          <a:lstStyle/>
          <a:p>
            <a:pPr algn="ctr"/>
            <a:r>
              <a:rPr sz="800" b="1">
                <a:solidFill>
                  <a:srgbClr val="4F46E5"/>
                </a:solidFill>
                <a:latin typeface="Segoe UI"/>
              </a:rPr>
              <a:t>read</a:t>
            </a:r>
          </a:p>
        </p:txBody>
      </p:sp>
      <p:sp>
        <p:nvSpPr>
          <p:cNvPr id="58" name="a2ud100_nd57"/>
          <p:cNvSpPr/>
          <p:nvPr/>
        </p:nvSpPr>
        <p:spPr>
          <a:xfrm>
            <a:off x="7360920" y="2331720"/>
            <a:ext cx="1325880" cy="566928"/>
          </a:xfrm>
          <a:prstGeom prst="roundRect">
            <a:avLst>
              <a:gd name="adj" fmla="val 12903"/>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a2ud100_ndt58"/>
          <p:cNvSpPr txBox="1"/>
          <p:nvPr/>
        </p:nvSpPr>
        <p:spPr>
          <a:xfrm>
            <a:off x="7406640" y="2368296"/>
            <a:ext cx="1234439" cy="265176"/>
          </a:xfrm>
          <a:prstGeom prst="rect">
            <a:avLst/>
          </a:prstGeom>
          <a:noFill/>
        </p:spPr>
        <p:txBody>
          <a:bodyPr wrap="square" lIns="0" tIns="0" rIns="0" bIns="0" anchor="b">
            <a:spAutoFit/>
          </a:bodyPr>
          <a:lstStyle/>
          <a:p>
            <a:pPr algn="ctr"/>
            <a:r>
              <a:rPr sz="950" b="1">
                <a:solidFill>
                  <a:srgbClr val="1C1917"/>
                </a:solidFill>
                <a:latin typeface="Segoe UI"/>
              </a:rPr>
              <a:t>Alerting service</a:t>
            </a:r>
          </a:p>
        </p:txBody>
      </p:sp>
      <p:sp>
        <p:nvSpPr>
          <p:cNvPr id="60" name="a2ud100_nds59"/>
          <p:cNvSpPr txBox="1"/>
          <p:nvPr/>
        </p:nvSpPr>
        <p:spPr>
          <a:xfrm>
            <a:off x="7406640" y="2642615"/>
            <a:ext cx="1234439" cy="219456"/>
          </a:xfrm>
          <a:prstGeom prst="rect">
            <a:avLst/>
          </a:prstGeom>
          <a:noFill/>
        </p:spPr>
        <p:txBody>
          <a:bodyPr wrap="square" lIns="0" tIns="0" rIns="0" bIns="0" anchor="t">
            <a:spAutoFit/>
          </a:bodyPr>
          <a:lstStyle/>
          <a:p>
            <a:pPr algn="ctr"/>
            <a:r>
              <a:rPr sz="800" b="0">
                <a:solidFill>
                  <a:srgbClr val="4F46E5"/>
                </a:solidFill>
                <a:latin typeface="Segoe UI"/>
              </a:rPr>
              <a:t>consumer</a:t>
            </a:r>
          </a:p>
        </p:txBody>
      </p:sp>
      <p:cxnSp>
        <p:nvCxnSpPr>
          <p:cNvPr id="61" name="a2ud100_ar60"/>
          <p:cNvCxnSpPr/>
          <p:nvPr/>
        </p:nvCxnSpPr>
        <p:spPr>
          <a:xfrm>
            <a:off x="6922008" y="2615184"/>
            <a:ext cx="420623" cy="0"/>
          </a:xfrm>
          <a:prstGeom prst="line">
            <a:avLst/>
          </a:prstGeom>
          <a:ln w="2222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a2ud100_lb61"/>
          <p:cNvSpPr txBox="1"/>
          <p:nvPr/>
        </p:nvSpPr>
        <p:spPr>
          <a:xfrm>
            <a:off x="6903720" y="2377439"/>
            <a:ext cx="457200" cy="201168"/>
          </a:xfrm>
          <a:prstGeom prst="rect">
            <a:avLst/>
          </a:prstGeom>
          <a:noFill/>
        </p:spPr>
        <p:txBody>
          <a:bodyPr wrap="square" lIns="0" tIns="0" rIns="0" bIns="0" anchor="ctr">
            <a:spAutoFit/>
          </a:bodyPr>
          <a:lstStyle/>
          <a:p>
            <a:pPr algn="ctr"/>
            <a:r>
              <a:rPr sz="800" b="1">
                <a:solidFill>
                  <a:srgbClr val="4F46E5"/>
                </a:solidFill>
                <a:latin typeface="Segoe UI"/>
              </a:rPr>
              <a:t>read</a:t>
            </a:r>
          </a:p>
        </p:txBody>
      </p:sp>
      <p:sp>
        <p:nvSpPr>
          <p:cNvPr id="63" name="a1u_card62"/>
          <p:cNvSpPr/>
          <p:nvPr/>
        </p:nvSpPr>
        <p:spPr>
          <a:xfrm>
            <a:off x="457200" y="3364992"/>
            <a:ext cx="2606040" cy="914400"/>
          </a:xfrm>
          <a:prstGeom prst="roundRect">
            <a:avLst>
              <a:gd name="adj" fmla="val 12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a1u_acc63"/>
          <p:cNvSpPr/>
          <p:nvPr/>
        </p:nvSpPr>
        <p:spPr>
          <a:xfrm>
            <a:off x="457200" y="3364992"/>
            <a:ext cx="2606040"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a1u_tt64"/>
          <p:cNvSpPr txBox="1"/>
          <p:nvPr/>
        </p:nvSpPr>
        <p:spPr>
          <a:xfrm>
            <a:off x="603504" y="3474720"/>
            <a:ext cx="2331720" cy="256032"/>
          </a:xfrm>
          <a:prstGeom prst="rect">
            <a:avLst/>
          </a:prstGeom>
          <a:noFill/>
        </p:spPr>
        <p:txBody>
          <a:bodyPr wrap="square" lIns="0" tIns="0" rIns="0" bIns="0" anchor="ctr">
            <a:spAutoFit/>
          </a:bodyPr>
          <a:lstStyle/>
          <a:p>
            <a:pPr algn="l"/>
            <a:r>
              <a:rPr sz="1100" b="1">
                <a:solidFill>
                  <a:srgbClr val="1C1917"/>
                </a:solidFill>
                <a:latin typeface="Segoe UI"/>
              </a:rPr>
              <a:t>Write requests</a:t>
            </a:r>
          </a:p>
        </p:txBody>
      </p:sp>
      <p:sp>
        <p:nvSpPr>
          <p:cNvPr id="66" name="a1ud60_tb65"/>
          <p:cNvSpPr txBox="1"/>
          <p:nvPr/>
        </p:nvSpPr>
        <p:spPr>
          <a:xfrm>
            <a:off x="603504" y="3767328"/>
            <a:ext cx="2331720" cy="457200"/>
          </a:xfrm>
          <a:prstGeom prst="rect">
            <a:avLst/>
          </a:prstGeom>
          <a:noFill/>
        </p:spPr>
        <p:txBody>
          <a:bodyPr wrap="square" lIns="0" tIns="0" rIns="0" bIns="0" anchor="t">
            <a:spAutoFit/>
          </a:bodyPr>
          <a:lstStyle/>
          <a:p>
            <a:pPr algn="l"/>
            <a:r>
              <a:rPr sz="900" b="0">
                <a:solidFill>
                  <a:srgbClr val="44403C"/>
                </a:solidFill>
                <a:latin typeface="Segoe UI"/>
              </a:rPr>
              <a:t>append new messages to the end of a partition log</a:t>
            </a:r>
          </a:p>
        </p:txBody>
      </p:sp>
      <p:sp>
        <p:nvSpPr>
          <p:cNvPr id="67" name="a2u_card66"/>
          <p:cNvSpPr/>
          <p:nvPr/>
        </p:nvSpPr>
        <p:spPr>
          <a:xfrm>
            <a:off x="3268980" y="3364992"/>
            <a:ext cx="2606040" cy="914400"/>
          </a:xfrm>
          <a:prstGeom prst="roundRect">
            <a:avLst>
              <a:gd name="adj" fmla="val 12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a2u_acc67"/>
          <p:cNvSpPr/>
          <p:nvPr/>
        </p:nvSpPr>
        <p:spPr>
          <a:xfrm>
            <a:off x="3268980" y="3364992"/>
            <a:ext cx="2606040"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a2u_tt68"/>
          <p:cNvSpPr txBox="1"/>
          <p:nvPr/>
        </p:nvSpPr>
        <p:spPr>
          <a:xfrm>
            <a:off x="3415284" y="3474720"/>
            <a:ext cx="2331720" cy="256032"/>
          </a:xfrm>
          <a:prstGeom prst="rect">
            <a:avLst/>
          </a:prstGeom>
          <a:noFill/>
        </p:spPr>
        <p:txBody>
          <a:bodyPr wrap="square" lIns="0" tIns="0" rIns="0" bIns="0" anchor="ctr">
            <a:spAutoFit/>
          </a:bodyPr>
          <a:lstStyle/>
          <a:p>
            <a:pPr algn="l"/>
            <a:r>
              <a:rPr sz="1100" b="1">
                <a:solidFill>
                  <a:srgbClr val="1C1917"/>
                </a:solidFill>
                <a:latin typeface="Segoe UI"/>
              </a:rPr>
              <a:t>Read requests</a:t>
            </a:r>
          </a:p>
        </p:txBody>
      </p:sp>
      <p:sp>
        <p:nvSpPr>
          <p:cNvPr id="70" name="a2ud60_tb69"/>
          <p:cNvSpPr txBox="1"/>
          <p:nvPr/>
        </p:nvSpPr>
        <p:spPr>
          <a:xfrm>
            <a:off x="3415284" y="3767328"/>
            <a:ext cx="2331720" cy="457200"/>
          </a:xfrm>
          <a:prstGeom prst="rect">
            <a:avLst/>
          </a:prstGeom>
          <a:noFill/>
        </p:spPr>
        <p:txBody>
          <a:bodyPr wrap="square" lIns="0" tIns="0" rIns="0" bIns="0" anchor="t">
            <a:spAutoFit/>
          </a:bodyPr>
          <a:lstStyle/>
          <a:p>
            <a:pPr algn="l"/>
            <a:r>
              <a:rPr sz="900" b="0">
                <a:solidFill>
                  <a:srgbClr val="44403C"/>
                </a:solidFill>
                <a:latin typeface="Segoe UI"/>
              </a:rPr>
              <a:t>return messages from a partition log, from a given offset</a:t>
            </a:r>
          </a:p>
        </p:txBody>
      </p:sp>
      <p:sp>
        <p:nvSpPr>
          <p:cNvPr id="71" name="a3u_card70"/>
          <p:cNvSpPr/>
          <p:nvPr/>
        </p:nvSpPr>
        <p:spPr>
          <a:xfrm>
            <a:off x="6080760" y="3364992"/>
            <a:ext cx="2606040" cy="914400"/>
          </a:xfrm>
          <a:prstGeom prst="roundRect">
            <a:avLst>
              <a:gd name="adj" fmla="val 12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a3u_acc71"/>
          <p:cNvSpPr/>
          <p:nvPr/>
        </p:nvSpPr>
        <p:spPr>
          <a:xfrm>
            <a:off x="6080760" y="3364992"/>
            <a:ext cx="2606040"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a3u_tt72"/>
          <p:cNvSpPr txBox="1"/>
          <p:nvPr/>
        </p:nvSpPr>
        <p:spPr>
          <a:xfrm>
            <a:off x="6227064" y="3474720"/>
            <a:ext cx="2331720" cy="256032"/>
          </a:xfrm>
          <a:prstGeom prst="rect">
            <a:avLst/>
          </a:prstGeom>
          <a:noFill/>
        </p:spPr>
        <p:txBody>
          <a:bodyPr wrap="square" lIns="0" tIns="0" rIns="0" bIns="0" anchor="ctr">
            <a:spAutoFit/>
          </a:bodyPr>
          <a:lstStyle/>
          <a:p>
            <a:pPr algn="l"/>
            <a:r>
              <a:rPr sz="1100" b="1">
                <a:solidFill>
                  <a:srgbClr val="1C1917"/>
                </a:solidFill>
                <a:latin typeface="Segoe UI"/>
              </a:rPr>
              <a:t>Replication</a:t>
            </a:r>
          </a:p>
        </p:txBody>
      </p:sp>
      <p:sp>
        <p:nvSpPr>
          <p:cNvPr id="74" name="a3ud60_tb73"/>
          <p:cNvSpPr txBox="1"/>
          <p:nvPr/>
        </p:nvSpPr>
        <p:spPr>
          <a:xfrm>
            <a:off x="6227064" y="3767328"/>
            <a:ext cx="2331720" cy="457200"/>
          </a:xfrm>
          <a:prstGeom prst="rect">
            <a:avLst/>
          </a:prstGeom>
          <a:noFill/>
        </p:spPr>
        <p:txBody>
          <a:bodyPr wrap="square" lIns="0" tIns="0" rIns="0" bIns="0" anchor="t">
            <a:spAutoFit/>
          </a:bodyPr>
          <a:lstStyle/>
          <a:p>
            <a:pPr algn="l"/>
            <a:r>
              <a:rPr sz="900" b="0">
                <a:solidFill>
                  <a:srgbClr val="44403C"/>
                </a:solidFill>
                <a:latin typeface="Segoe UI"/>
              </a:rPr>
              <a:t>keep copies of partitions on other brokers - the next module</a:t>
            </a:r>
          </a:p>
        </p:txBody>
      </p:sp>
      <p:sp>
        <p:nvSpPr>
          <p:cNvPr id="75" name="ft7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08</a:t>
            </a:r>
          </a:p>
        </p:txBody>
      </p:sp>
      <p:sp>
        <p:nvSpPr>
          <p:cNvPr id="76" name="ft7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ft7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Brokers</a:t>
            </a:r>
          </a:p>
        </p:txBody>
      </p:sp>
      <p:sp>
        <p:nvSpPr>
          <p:cNvPr id="78" name="ft7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5"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8"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par>
                                <p:cTn id="61"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par>
                                <p:cTn id="64" presetID="10"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500"/>
                                        <p:tgtEl>
                                          <p:spTgt spid="30"/>
                                        </p:tgtEl>
                                      </p:cBhvr>
                                    </p:animEffect>
                                  </p:childTnLst>
                                </p:cTn>
                              </p:par>
                              <p:par>
                                <p:cTn id="67" presetID="10"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500"/>
                                        <p:tgtEl>
                                          <p:spTgt spid="31"/>
                                        </p:tgtEl>
                                      </p:cBhvr>
                                    </p:animEffect>
                                  </p:childTnLst>
                                </p:cTn>
                              </p:par>
                              <p:par>
                                <p:cTn id="70" presetID="10" presetClass="entr" presetSubtype="0"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500"/>
                                        <p:tgtEl>
                                          <p:spTgt spid="32"/>
                                        </p:tgtEl>
                                      </p:cBhvr>
                                    </p:animEffect>
                                  </p:childTnLst>
                                </p:cTn>
                              </p:par>
                              <p:par>
                                <p:cTn id="73" presetID="10" presetClass="entr" presetSubtype="0" fill="hold" grpId="0" nodeType="with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500"/>
                                        <p:tgtEl>
                                          <p:spTgt spid="33"/>
                                        </p:tgtEl>
                                      </p:cBhvr>
                                    </p:animEffect>
                                  </p:childTnLst>
                                </p:cTn>
                              </p:par>
                              <p:par>
                                <p:cTn id="76" presetID="10" presetClass="entr" presetSubtype="0"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500"/>
                                        <p:tgtEl>
                                          <p:spTgt spid="34"/>
                                        </p:tgtEl>
                                      </p:cBhvr>
                                    </p:animEffect>
                                  </p:childTnLst>
                                </p:cTn>
                              </p:par>
                              <p:par>
                                <p:cTn id="79" presetID="10" presetClass="entr" presetSubtype="0" fill="hold" grpId="0" nodeType="with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500"/>
                                        <p:tgtEl>
                                          <p:spTgt spid="35"/>
                                        </p:tgtEl>
                                      </p:cBhvr>
                                    </p:animEffect>
                                  </p:childTnLst>
                                </p:cTn>
                              </p:par>
                              <p:par>
                                <p:cTn id="82" presetID="10"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500"/>
                                        <p:tgtEl>
                                          <p:spTgt spid="36"/>
                                        </p:tgtEl>
                                      </p:cBhvr>
                                    </p:animEffect>
                                  </p:childTnLst>
                                </p:cTn>
                              </p:par>
                              <p:par>
                                <p:cTn id="85" presetID="10" presetClass="entr" presetSubtype="0" fill="hold" grpId="0" nodeType="with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fade">
                                      <p:cBhvr>
                                        <p:cTn id="84" dur="500"/>
                                        <p:tgtEl>
                                          <p:spTgt spid="37"/>
                                        </p:tgtEl>
                                      </p:cBhvr>
                                    </p:animEffect>
                                  </p:childTnLst>
                                </p:cTn>
                              </p:par>
                              <p:par>
                                <p:cTn id="88" presetID="10" presetClass="entr" presetSubtype="0" fill="hold" grpId="0" nodeType="with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500"/>
                                        <p:tgtEl>
                                          <p:spTgt spid="38"/>
                                        </p:tgtEl>
                                      </p:cBhvr>
                                    </p:animEffect>
                                  </p:childTnLst>
                                </p:cTn>
                              </p:par>
                              <p:par>
                                <p:cTn id="91" presetID="10" presetClass="entr" presetSubtype="0" fill="hold" grpId="0" nodeType="withEffect">
                                  <p:stCondLst>
                                    <p:cond delay="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500"/>
                                        <p:tgtEl>
                                          <p:spTgt spid="39"/>
                                        </p:tgtEl>
                                      </p:cBhvr>
                                    </p:animEffect>
                                  </p:childTnLst>
                                </p:cTn>
                              </p:par>
                              <p:par>
                                <p:cTn id="94" presetID="10" presetClass="entr" presetSubtype="0" fill="hold" grpId="0" nodeType="withEffect">
                                  <p:stCondLst>
                                    <p:cond delay="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500"/>
                                        <p:tgtEl>
                                          <p:spTgt spid="40"/>
                                        </p:tgtEl>
                                      </p:cBhvr>
                                    </p:animEffect>
                                  </p:childTnLst>
                                </p:cTn>
                              </p:par>
                              <p:par>
                                <p:cTn id="97" presetID="10" presetClass="entr" presetSubtype="0" fill="hold" grpId="0" nodeType="withEffect">
                                  <p:stCondLst>
                                    <p:cond delay="0"/>
                                  </p:stCondLst>
                                  <p:childTnLst>
                                    <p:set>
                                      <p:cBhvr>
                                        <p:cTn id="95" dur="1" fill="hold">
                                          <p:stCondLst>
                                            <p:cond delay="0"/>
                                          </p:stCondLst>
                                        </p:cTn>
                                        <p:tgtEl>
                                          <p:spTgt spid="41"/>
                                        </p:tgtEl>
                                        <p:attrNameLst>
                                          <p:attrName>style.visibility</p:attrName>
                                        </p:attrNameLst>
                                      </p:cBhvr>
                                      <p:to>
                                        <p:strVal val="visible"/>
                                      </p:to>
                                    </p:set>
                                    <p:animEffect transition="in" filter="fade">
                                      <p:cBhvr>
                                        <p:cTn id="96" dur="500"/>
                                        <p:tgtEl>
                                          <p:spTgt spid="41"/>
                                        </p:tgtEl>
                                      </p:cBhvr>
                                    </p:animEffect>
                                  </p:childTnLst>
                                </p:cTn>
                              </p:par>
                              <p:par>
                                <p:cTn id="100" presetID="10" presetClass="entr" presetSubtype="0" fill="hold" grpId="0" nodeType="with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fade">
                                      <p:cBhvr>
                                        <p:cTn id="99" dur="500"/>
                                        <p:tgtEl>
                                          <p:spTgt spid="42"/>
                                        </p:tgtEl>
                                      </p:cBhvr>
                                    </p:animEffect>
                                  </p:childTnLst>
                                </p:cTn>
                              </p:par>
                            </p:childTnLst>
                          </p:cTn>
                        </p:par>
                      </p:childTnLst>
                    </p:cTn>
                  </p:par>
                  <p:par>
                    <p:cTn id="101" fill="hold">
                      <p:stCondLst>
                        <p:cond delay="indefinite"/>
                      </p:stCondLst>
                      <p:childTnLst>
                        <p:par>
                          <p:cTn id="102" fill="hold">
                            <p:stCondLst>
                              <p:cond delay="0"/>
                            </p:stCondLst>
                            <p:childTnLst>
                              <p:par>
                                <p:cTn id="107" presetID="2" presetClass="entr" presetSubtype="4" fill="hold" grpId="0" nodeType="clickEffect">
                                  <p:stCondLst>
                                    <p:cond delay="0"/>
                                  </p:stCondLst>
                                  <p:childTnLst>
                                    <p:set>
                                      <p:cBhvr>
                                        <p:cTn id="103" dur="1" fill="hold">
                                          <p:stCondLst>
                                            <p:cond delay="0"/>
                                          </p:stCondLst>
                                        </p:cTn>
                                        <p:tgtEl>
                                          <p:spTgt spid="43"/>
                                        </p:tgtEl>
                                        <p:attrNameLst>
                                          <p:attrName>style.visibility</p:attrName>
                                        </p:attrNameLst>
                                      </p:cBhvr>
                                      <p:to>
                                        <p:strVal val="visible"/>
                                      </p:to>
                                    </p:set>
                                    <p:anim calcmode="lin" valueType="num">
                                      <p:cBhvr additive="base">
                                        <p:cTn id="104" dur="500" fill="hold"/>
                                        <p:tgtEl>
                                          <p:spTgt spid="43"/>
                                        </p:tgtEl>
                                        <p:attrNameLst>
                                          <p:attrName>ppt_x</p:attrName>
                                        </p:attrNameLst>
                                      </p:cBhvr>
                                      <p:tavLst>
                                        <p:tav tm="0">
                                          <p:val>
                                            <p:strVal val="#ppt_x"/>
                                          </p:val>
                                        </p:tav>
                                        <p:tav tm="100000">
                                          <p:val>
                                            <p:strVal val="#ppt_x"/>
                                          </p:val>
                                        </p:tav>
                                      </p:tavLst>
                                    </p:anim>
                                    <p:anim calcmode="lin" valueType="num">
                                      <p:cBhvr additive="base">
                                        <p:cTn id="105" dur="500" fill="hold"/>
                                        <p:tgtEl>
                                          <p:spTgt spid="43"/>
                                        </p:tgtEl>
                                        <p:attrNameLst>
                                          <p:attrName>ppt_y</p:attrName>
                                        </p:attrNameLst>
                                      </p:cBhvr>
                                      <p:tavLst>
                                        <p:tav tm="0">
                                          <p:val>
                                            <p:strVal val="#ppt_y+0.1"/>
                                          </p:val>
                                        </p:tav>
                                        <p:tav tm="100000">
                                          <p:val>
                                            <p:strVal val="#ppt_y"/>
                                          </p:val>
                                        </p:tav>
                                      </p:tavLst>
                                    </p:anim>
                                    <p:animEffect transition="in" filter="fade">
                                      <p:cBhvr>
                                        <p:cTn id="106" dur="500"/>
                                        <p:tgtEl>
                                          <p:spTgt spid="43"/>
                                        </p:tgtEl>
                                      </p:cBhvr>
                                    </p:animEffect>
                                  </p:childTnLst>
                                </p:cTn>
                              </p:par>
                              <p:par>
                                <p:cTn id="112" presetID="2" presetClass="entr" presetSubtype="4" fill="hold" grpId="0" nodeType="withEffect">
                                  <p:stCondLst>
                                    <p:cond delay="0"/>
                                  </p:stCondLst>
                                  <p:childTnLst>
                                    <p:set>
                                      <p:cBhvr>
                                        <p:cTn id="108" dur="1" fill="hold">
                                          <p:stCondLst>
                                            <p:cond delay="0"/>
                                          </p:stCondLst>
                                        </p:cTn>
                                        <p:tgtEl>
                                          <p:spTgt spid="44"/>
                                        </p:tgtEl>
                                        <p:attrNameLst>
                                          <p:attrName>style.visibility</p:attrName>
                                        </p:attrNameLst>
                                      </p:cBhvr>
                                      <p:to>
                                        <p:strVal val="visible"/>
                                      </p:to>
                                    </p:set>
                                    <p:anim calcmode="lin" valueType="num">
                                      <p:cBhvr additive="base">
                                        <p:cTn id="109" dur="500" fill="hold"/>
                                        <p:tgtEl>
                                          <p:spTgt spid="44"/>
                                        </p:tgtEl>
                                        <p:attrNameLst>
                                          <p:attrName>ppt_x</p:attrName>
                                        </p:attrNameLst>
                                      </p:cBhvr>
                                      <p:tavLst>
                                        <p:tav tm="0">
                                          <p:val>
                                            <p:strVal val="#ppt_x"/>
                                          </p:val>
                                        </p:tav>
                                        <p:tav tm="100000">
                                          <p:val>
                                            <p:strVal val="#ppt_x"/>
                                          </p:val>
                                        </p:tav>
                                      </p:tavLst>
                                    </p:anim>
                                    <p:anim calcmode="lin" valueType="num">
                                      <p:cBhvr additive="base">
                                        <p:cTn id="110" dur="500" fill="hold"/>
                                        <p:tgtEl>
                                          <p:spTgt spid="44"/>
                                        </p:tgtEl>
                                        <p:attrNameLst>
                                          <p:attrName>ppt_y</p:attrName>
                                        </p:attrNameLst>
                                      </p:cBhvr>
                                      <p:tavLst>
                                        <p:tav tm="0">
                                          <p:val>
                                            <p:strVal val="#ppt_y+0.1"/>
                                          </p:val>
                                        </p:tav>
                                        <p:tav tm="100000">
                                          <p:val>
                                            <p:strVal val="#ppt_y"/>
                                          </p:val>
                                        </p:tav>
                                      </p:tavLst>
                                    </p:anim>
                                    <p:animEffect transition="in" filter="fade">
                                      <p:cBhvr>
                                        <p:cTn id="111" dur="500"/>
                                        <p:tgtEl>
                                          <p:spTgt spid="44"/>
                                        </p:tgtEl>
                                      </p:cBhvr>
                                    </p:animEffect>
                                  </p:childTnLst>
                                </p:cTn>
                              </p:par>
                              <p:par>
                                <p:cTn id="117" presetID="2" presetClass="entr" presetSubtype="4" fill="hold" grpId="0" nodeType="withEffect">
                                  <p:stCondLst>
                                    <p:cond delay="0"/>
                                  </p:stCondLst>
                                  <p:childTnLst>
                                    <p:set>
                                      <p:cBhvr>
                                        <p:cTn id="113" dur="1" fill="hold">
                                          <p:stCondLst>
                                            <p:cond delay="0"/>
                                          </p:stCondLst>
                                        </p:cTn>
                                        <p:tgtEl>
                                          <p:spTgt spid="45"/>
                                        </p:tgtEl>
                                        <p:attrNameLst>
                                          <p:attrName>style.visibility</p:attrName>
                                        </p:attrNameLst>
                                      </p:cBhvr>
                                      <p:to>
                                        <p:strVal val="visible"/>
                                      </p:to>
                                    </p:set>
                                    <p:anim calcmode="lin" valueType="num">
                                      <p:cBhvr additive="base">
                                        <p:cTn id="114" dur="500" fill="hold"/>
                                        <p:tgtEl>
                                          <p:spTgt spid="45"/>
                                        </p:tgtEl>
                                        <p:attrNameLst>
                                          <p:attrName>ppt_x</p:attrName>
                                        </p:attrNameLst>
                                      </p:cBhvr>
                                      <p:tavLst>
                                        <p:tav tm="0">
                                          <p:val>
                                            <p:strVal val="#ppt_x"/>
                                          </p:val>
                                        </p:tav>
                                        <p:tav tm="100000">
                                          <p:val>
                                            <p:strVal val="#ppt_x"/>
                                          </p:val>
                                        </p:tav>
                                      </p:tavLst>
                                    </p:anim>
                                    <p:anim calcmode="lin" valueType="num">
                                      <p:cBhvr additive="base">
                                        <p:cTn id="115" dur="500" fill="hold"/>
                                        <p:tgtEl>
                                          <p:spTgt spid="45"/>
                                        </p:tgtEl>
                                        <p:attrNameLst>
                                          <p:attrName>ppt_y</p:attrName>
                                        </p:attrNameLst>
                                      </p:cBhvr>
                                      <p:tavLst>
                                        <p:tav tm="0">
                                          <p:val>
                                            <p:strVal val="#ppt_y+0.1"/>
                                          </p:val>
                                        </p:tav>
                                        <p:tav tm="100000">
                                          <p:val>
                                            <p:strVal val="#ppt_y"/>
                                          </p:val>
                                        </p:tav>
                                      </p:tavLst>
                                    </p:anim>
                                    <p:animEffect transition="in" filter="fade">
                                      <p:cBhvr>
                                        <p:cTn id="116" dur="500"/>
                                        <p:tgtEl>
                                          <p:spTgt spid="45"/>
                                        </p:tgtEl>
                                      </p:cBhvr>
                                    </p:animEffect>
                                  </p:childTnLst>
                                </p:cTn>
                              </p:par>
                              <p:par>
                                <p:cTn id="122" presetID="2" presetClass="entr" presetSubtype="4" fill="hold" grpId="0" nodeType="withEffect">
                                  <p:stCondLst>
                                    <p:cond delay="0"/>
                                  </p:stCondLst>
                                  <p:childTnLst>
                                    <p:set>
                                      <p:cBhvr>
                                        <p:cTn id="118" dur="1" fill="hold">
                                          <p:stCondLst>
                                            <p:cond delay="0"/>
                                          </p:stCondLst>
                                        </p:cTn>
                                        <p:tgtEl>
                                          <p:spTgt spid="46"/>
                                        </p:tgtEl>
                                        <p:attrNameLst>
                                          <p:attrName>style.visibility</p:attrName>
                                        </p:attrNameLst>
                                      </p:cBhvr>
                                      <p:to>
                                        <p:strVal val="visible"/>
                                      </p:to>
                                    </p:set>
                                    <p:anim calcmode="lin" valueType="num">
                                      <p:cBhvr additive="base">
                                        <p:cTn id="119" dur="500" fill="hold"/>
                                        <p:tgtEl>
                                          <p:spTgt spid="46"/>
                                        </p:tgtEl>
                                        <p:attrNameLst>
                                          <p:attrName>ppt_x</p:attrName>
                                        </p:attrNameLst>
                                      </p:cBhvr>
                                      <p:tavLst>
                                        <p:tav tm="0">
                                          <p:val>
                                            <p:strVal val="#ppt_x"/>
                                          </p:val>
                                        </p:tav>
                                        <p:tav tm="100000">
                                          <p:val>
                                            <p:strVal val="#ppt_x"/>
                                          </p:val>
                                        </p:tav>
                                      </p:tavLst>
                                    </p:anim>
                                    <p:anim calcmode="lin" valueType="num">
                                      <p:cBhvr additive="base">
                                        <p:cTn id="120" dur="500" fill="hold"/>
                                        <p:tgtEl>
                                          <p:spTgt spid="46"/>
                                        </p:tgtEl>
                                        <p:attrNameLst>
                                          <p:attrName>ppt_y</p:attrName>
                                        </p:attrNameLst>
                                      </p:cBhvr>
                                      <p:tavLst>
                                        <p:tav tm="0">
                                          <p:val>
                                            <p:strVal val="#ppt_y+0.1"/>
                                          </p:val>
                                        </p:tav>
                                        <p:tav tm="100000">
                                          <p:val>
                                            <p:strVal val="#ppt_y"/>
                                          </p:val>
                                        </p:tav>
                                      </p:tavLst>
                                    </p:anim>
                                    <p:animEffect transition="in" filter="fade">
                                      <p:cBhvr>
                                        <p:cTn id="121" dur="500"/>
                                        <p:tgtEl>
                                          <p:spTgt spid="46"/>
                                        </p:tgtEl>
                                      </p:cBhvr>
                                    </p:animEffect>
                                  </p:childTnLst>
                                </p:cTn>
                              </p:par>
                              <p:par>
                                <p:cTn id="127" presetID="2" presetClass="entr" presetSubtype="4" fill="hold" grpId="0" nodeType="withEffect">
                                  <p:stCondLst>
                                    <p:cond delay="0"/>
                                  </p:stCondLst>
                                  <p:childTnLst>
                                    <p:set>
                                      <p:cBhvr>
                                        <p:cTn id="123" dur="1" fill="hold">
                                          <p:stCondLst>
                                            <p:cond delay="0"/>
                                          </p:stCondLst>
                                        </p:cTn>
                                        <p:tgtEl>
                                          <p:spTgt spid="47"/>
                                        </p:tgtEl>
                                        <p:attrNameLst>
                                          <p:attrName>style.visibility</p:attrName>
                                        </p:attrNameLst>
                                      </p:cBhvr>
                                      <p:to>
                                        <p:strVal val="visible"/>
                                      </p:to>
                                    </p:set>
                                    <p:anim calcmode="lin" valueType="num">
                                      <p:cBhvr additive="base">
                                        <p:cTn id="124" dur="500" fill="hold"/>
                                        <p:tgtEl>
                                          <p:spTgt spid="47"/>
                                        </p:tgtEl>
                                        <p:attrNameLst>
                                          <p:attrName>ppt_x</p:attrName>
                                        </p:attrNameLst>
                                      </p:cBhvr>
                                      <p:tavLst>
                                        <p:tav tm="0">
                                          <p:val>
                                            <p:strVal val="#ppt_x"/>
                                          </p:val>
                                        </p:tav>
                                        <p:tav tm="100000">
                                          <p:val>
                                            <p:strVal val="#ppt_x"/>
                                          </p:val>
                                        </p:tav>
                                      </p:tavLst>
                                    </p:anim>
                                    <p:anim calcmode="lin" valueType="num">
                                      <p:cBhvr additive="base">
                                        <p:cTn id="125" dur="500" fill="hold"/>
                                        <p:tgtEl>
                                          <p:spTgt spid="47"/>
                                        </p:tgtEl>
                                        <p:attrNameLst>
                                          <p:attrName>ppt_y</p:attrName>
                                        </p:attrNameLst>
                                      </p:cBhvr>
                                      <p:tavLst>
                                        <p:tav tm="0">
                                          <p:val>
                                            <p:strVal val="#ppt_y+0.1"/>
                                          </p:val>
                                        </p:tav>
                                        <p:tav tm="100000">
                                          <p:val>
                                            <p:strVal val="#ppt_y"/>
                                          </p:val>
                                        </p:tav>
                                      </p:tavLst>
                                    </p:anim>
                                    <p:animEffect transition="in" filter="fade">
                                      <p:cBhvr>
                                        <p:cTn id="126" dur="500"/>
                                        <p:tgtEl>
                                          <p:spTgt spid="47"/>
                                        </p:tgtEl>
                                      </p:cBhvr>
                                    </p:animEffect>
                                  </p:childTnLst>
                                </p:cTn>
                              </p:par>
                              <p:par>
                                <p:cTn id="132" presetID="2" presetClass="entr" presetSubtype="4" fill="hold" grpId="0" nodeType="withEffect">
                                  <p:stCondLst>
                                    <p:cond delay="0"/>
                                  </p:stCondLst>
                                  <p:childTnLst>
                                    <p:set>
                                      <p:cBhvr>
                                        <p:cTn id="128" dur="1" fill="hold">
                                          <p:stCondLst>
                                            <p:cond delay="0"/>
                                          </p:stCondLst>
                                        </p:cTn>
                                        <p:tgtEl>
                                          <p:spTgt spid="63"/>
                                        </p:tgtEl>
                                        <p:attrNameLst>
                                          <p:attrName>style.visibility</p:attrName>
                                        </p:attrNameLst>
                                      </p:cBhvr>
                                      <p:to>
                                        <p:strVal val="visible"/>
                                      </p:to>
                                    </p:set>
                                    <p:anim calcmode="lin" valueType="num">
                                      <p:cBhvr additive="base">
                                        <p:cTn id="129" dur="500" fill="hold"/>
                                        <p:tgtEl>
                                          <p:spTgt spid="63"/>
                                        </p:tgtEl>
                                        <p:attrNameLst>
                                          <p:attrName>ppt_x</p:attrName>
                                        </p:attrNameLst>
                                      </p:cBhvr>
                                      <p:tavLst>
                                        <p:tav tm="0">
                                          <p:val>
                                            <p:strVal val="#ppt_x"/>
                                          </p:val>
                                        </p:tav>
                                        <p:tav tm="100000">
                                          <p:val>
                                            <p:strVal val="#ppt_x"/>
                                          </p:val>
                                        </p:tav>
                                      </p:tavLst>
                                    </p:anim>
                                    <p:anim calcmode="lin" valueType="num">
                                      <p:cBhvr additive="base">
                                        <p:cTn id="130" dur="500" fill="hold"/>
                                        <p:tgtEl>
                                          <p:spTgt spid="63"/>
                                        </p:tgtEl>
                                        <p:attrNameLst>
                                          <p:attrName>ppt_y</p:attrName>
                                        </p:attrNameLst>
                                      </p:cBhvr>
                                      <p:tavLst>
                                        <p:tav tm="0">
                                          <p:val>
                                            <p:strVal val="#ppt_y+0.1"/>
                                          </p:val>
                                        </p:tav>
                                        <p:tav tm="100000">
                                          <p:val>
                                            <p:strVal val="#ppt_y"/>
                                          </p:val>
                                        </p:tav>
                                      </p:tavLst>
                                    </p:anim>
                                    <p:animEffect transition="in" filter="fade">
                                      <p:cBhvr>
                                        <p:cTn id="131" dur="500"/>
                                        <p:tgtEl>
                                          <p:spTgt spid="63"/>
                                        </p:tgtEl>
                                      </p:cBhvr>
                                    </p:animEffect>
                                  </p:childTnLst>
                                </p:cTn>
                              </p:par>
                              <p:par>
                                <p:cTn id="137" presetID="2" presetClass="entr" presetSubtype="4" fill="hold" grpId="0" nodeType="withEffect">
                                  <p:stCondLst>
                                    <p:cond delay="0"/>
                                  </p:stCondLst>
                                  <p:childTnLst>
                                    <p:set>
                                      <p:cBhvr>
                                        <p:cTn id="133" dur="1" fill="hold">
                                          <p:stCondLst>
                                            <p:cond delay="0"/>
                                          </p:stCondLst>
                                        </p:cTn>
                                        <p:tgtEl>
                                          <p:spTgt spid="64"/>
                                        </p:tgtEl>
                                        <p:attrNameLst>
                                          <p:attrName>style.visibility</p:attrName>
                                        </p:attrNameLst>
                                      </p:cBhvr>
                                      <p:to>
                                        <p:strVal val="visible"/>
                                      </p:to>
                                    </p:set>
                                    <p:anim calcmode="lin" valueType="num">
                                      <p:cBhvr additive="base">
                                        <p:cTn id="134" dur="500" fill="hold"/>
                                        <p:tgtEl>
                                          <p:spTgt spid="64"/>
                                        </p:tgtEl>
                                        <p:attrNameLst>
                                          <p:attrName>ppt_x</p:attrName>
                                        </p:attrNameLst>
                                      </p:cBhvr>
                                      <p:tavLst>
                                        <p:tav tm="0">
                                          <p:val>
                                            <p:strVal val="#ppt_x"/>
                                          </p:val>
                                        </p:tav>
                                        <p:tav tm="100000">
                                          <p:val>
                                            <p:strVal val="#ppt_x"/>
                                          </p:val>
                                        </p:tav>
                                      </p:tavLst>
                                    </p:anim>
                                    <p:anim calcmode="lin" valueType="num">
                                      <p:cBhvr additive="base">
                                        <p:cTn id="135" dur="500" fill="hold"/>
                                        <p:tgtEl>
                                          <p:spTgt spid="64"/>
                                        </p:tgtEl>
                                        <p:attrNameLst>
                                          <p:attrName>ppt_y</p:attrName>
                                        </p:attrNameLst>
                                      </p:cBhvr>
                                      <p:tavLst>
                                        <p:tav tm="0">
                                          <p:val>
                                            <p:strVal val="#ppt_y+0.1"/>
                                          </p:val>
                                        </p:tav>
                                        <p:tav tm="100000">
                                          <p:val>
                                            <p:strVal val="#ppt_y"/>
                                          </p:val>
                                        </p:tav>
                                      </p:tavLst>
                                    </p:anim>
                                    <p:animEffect transition="in" filter="fade">
                                      <p:cBhvr>
                                        <p:cTn id="136" dur="500"/>
                                        <p:tgtEl>
                                          <p:spTgt spid="64"/>
                                        </p:tgtEl>
                                      </p:cBhvr>
                                    </p:animEffect>
                                  </p:childTnLst>
                                </p:cTn>
                              </p:par>
                              <p:par>
                                <p:cTn id="142" presetID="2" presetClass="entr" presetSubtype="4" fill="hold" grpId="0" nodeType="withEffect">
                                  <p:stCondLst>
                                    <p:cond delay="0"/>
                                  </p:stCondLst>
                                  <p:childTnLst>
                                    <p:set>
                                      <p:cBhvr>
                                        <p:cTn id="138" dur="1" fill="hold">
                                          <p:stCondLst>
                                            <p:cond delay="0"/>
                                          </p:stCondLst>
                                        </p:cTn>
                                        <p:tgtEl>
                                          <p:spTgt spid="65"/>
                                        </p:tgtEl>
                                        <p:attrNameLst>
                                          <p:attrName>style.visibility</p:attrName>
                                        </p:attrNameLst>
                                      </p:cBhvr>
                                      <p:to>
                                        <p:strVal val="visible"/>
                                      </p:to>
                                    </p:set>
                                    <p:anim calcmode="lin" valueType="num">
                                      <p:cBhvr additive="base">
                                        <p:cTn id="139" dur="500" fill="hold"/>
                                        <p:tgtEl>
                                          <p:spTgt spid="65"/>
                                        </p:tgtEl>
                                        <p:attrNameLst>
                                          <p:attrName>ppt_x</p:attrName>
                                        </p:attrNameLst>
                                      </p:cBhvr>
                                      <p:tavLst>
                                        <p:tav tm="0">
                                          <p:val>
                                            <p:strVal val="#ppt_x"/>
                                          </p:val>
                                        </p:tav>
                                        <p:tav tm="100000">
                                          <p:val>
                                            <p:strVal val="#ppt_x"/>
                                          </p:val>
                                        </p:tav>
                                      </p:tavLst>
                                    </p:anim>
                                    <p:anim calcmode="lin" valueType="num">
                                      <p:cBhvr additive="base">
                                        <p:cTn id="140" dur="500" fill="hold"/>
                                        <p:tgtEl>
                                          <p:spTgt spid="65"/>
                                        </p:tgtEl>
                                        <p:attrNameLst>
                                          <p:attrName>ppt_y</p:attrName>
                                        </p:attrNameLst>
                                      </p:cBhvr>
                                      <p:tavLst>
                                        <p:tav tm="0">
                                          <p:val>
                                            <p:strVal val="#ppt_y+0.1"/>
                                          </p:val>
                                        </p:tav>
                                        <p:tav tm="100000">
                                          <p:val>
                                            <p:strVal val="#ppt_y"/>
                                          </p:val>
                                        </p:tav>
                                      </p:tavLst>
                                    </p:anim>
                                    <p:animEffect transition="in" filter="fade">
                                      <p:cBhvr>
                                        <p:cTn id="141" dur="500"/>
                                        <p:tgtEl>
                                          <p:spTgt spid="65"/>
                                        </p:tgtEl>
                                      </p:cBhvr>
                                    </p:animEffect>
                                  </p:childTnLst>
                                </p:cTn>
                              </p:par>
                              <p:par>
                                <p:cTn id="147" presetID="2" presetClass="entr" presetSubtype="4" fill="hold" grpId="0" nodeType="withEffect">
                                  <p:stCondLst>
                                    <p:cond delay="60"/>
                                  </p:stCondLst>
                                  <p:childTnLst>
                                    <p:set>
                                      <p:cBhvr>
                                        <p:cTn id="143" dur="1" fill="hold">
                                          <p:stCondLst>
                                            <p:cond delay="0"/>
                                          </p:stCondLst>
                                        </p:cTn>
                                        <p:tgtEl>
                                          <p:spTgt spid="66"/>
                                        </p:tgtEl>
                                        <p:attrNameLst>
                                          <p:attrName>style.visibility</p:attrName>
                                        </p:attrNameLst>
                                      </p:cBhvr>
                                      <p:to>
                                        <p:strVal val="visible"/>
                                      </p:to>
                                    </p:set>
                                    <p:anim calcmode="lin" valueType="num">
                                      <p:cBhvr additive="base">
                                        <p:cTn id="144" dur="500" fill="hold"/>
                                        <p:tgtEl>
                                          <p:spTgt spid="66"/>
                                        </p:tgtEl>
                                        <p:attrNameLst>
                                          <p:attrName>ppt_x</p:attrName>
                                        </p:attrNameLst>
                                      </p:cBhvr>
                                      <p:tavLst>
                                        <p:tav tm="0">
                                          <p:val>
                                            <p:strVal val="#ppt_x"/>
                                          </p:val>
                                        </p:tav>
                                        <p:tav tm="100000">
                                          <p:val>
                                            <p:strVal val="#ppt_x"/>
                                          </p:val>
                                        </p:tav>
                                      </p:tavLst>
                                    </p:anim>
                                    <p:anim calcmode="lin" valueType="num">
                                      <p:cBhvr additive="base">
                                        <p:cTn id="145" dur="500" fill="hold"/>
                                        <p:tgtEl>
                                          <p:spTgt spid="66"/>
                                        </p:tgtEl>
                                        <p:attrNameLst>
                                          <p:attrName>ppt_y</p:attrName>
                                        </p:attrNameLst>
                                      </p:cBhvr>
                                      <p:tavLst>
                                        <p:tav tm="0">
                                          <p:val>
                                            <p:strVal val="#ppt_y+0.1"/>
                                          </p:val>
                                        </p:tav>
                                        <p:tav tm="100000">
                                          <p:val>
                                            <p:strVal val="#ppt_y"/>
                                          </p:val>
                                        </p:tav>
                                      </p:tavLst>
                                    </p:anim>
                                    <p:animEffect transition="in" filter="fade">
                                      <p:cBhvr>
                                        <p:cTn id="146" dur="500"/>
                                        <p:tgtEl>
                                          <p:spTgt spid="66"/>
                                        </p:tgtEl>
                                      </p:cBhvr>
                                    </p:animEffect>
                                  </p:childTnLst>
                                </p:cTn>
                              </p:par>
                              <p:par>
                                <p:cTn id="152" presetID="2" presetClass="entr" presetSubtype="4" fill="hold" grpId="0" nodeType="withEffect">
                                  <p:stCondLst>
                                    <p:cond delay="100"/>
                                  </p:stCondLst>
                                  <p:childTnLst>
                                    <p:set>
                                      <p:cBhvr>
                                        <p:cTn id="148" dur="1" fill="hold">
                                          <p:stCondLst>
                                            <p:cond delay="0"/>
                                          </p:stCondLst>
                                        </p:cTn>
                                        <p:tgtEl>
                                          <p:spTgt spid="48"/>
                                        </p:tgtEl>
                                        <p:attrNameLst>
                                          <p:attrName>style.visibility</p:attrName>
                                        </p:attrNameLst>
                                      </p:cBhvr>
                                      <p:to>
                                        <p:strVal val="visible"/>
                                      </p:to>
                                    </p:set>
                                    <p:anim calcmode="lin" valueType="num">
                                      <p:cBhvr additive="base">
                                        <p:cTn id="149" dur="500" fill="hold"/>
                                        <p:tgtEl>
                                          <p:spTgt spid="48"/>
                                        </p:tgtEl>
                                        <p:attrNameLst>
                                          <p:attrName>ppt_x</p:attrName>
                                        </p:attrNameLst>
                                      </p:cBhvr>
                                      <p:tavLst>
                                        <p:tav tm="0">
                                          <p:val>
                                            <p:strVal val="#ppt_x"/>
                                          </p:val>
                                        </p:tav>
                                        <p:tav tm="100000">
                                          <p:val>
                                            <p:strVal val="#ppt_x"/>
                                          </p:val>
                                        </p:tav>
                                      </p:tavLst>
                                    </p:anim>
                                    <p:anim calcmode="lin" valueType="num">
                                      <p:cBhvr additive="base">
                                        <p:cTn id="150" dur="500" fill="hold"/>
                                        <p:tgtEl>
                                          <p:spTgt spid="48"/>
                                        </p:tgtEl>
                                        <p:attrNameLst>
                                          <p:attrName>ppt_y</p:attrName>
                                        </p:attrNameLst>
                                      </p:cBhvr>
                                      <p:tavLst>
                                        <p:tav tm="0">
                                          <p:val>
                                            <p:strVal val="#ppt_y+0.1"/>
                                          </p:val>
                                        </p:tav>
                                        <p:tav tm="100000">
                                          <p:val>
                                            <p:strVal val="#ppt_y"/>
                                          </p:val>
                                        </p:tav>
                                      </p:tavLst>
                                    </p:anim>
                                    <p:animEffect transition="in" filter="fade">
                                      <p:cBhvr>
                                        <p:cTn id="151" dur="500"/>
                                        <p:tgtEl>
                                          <p:spTgt spid="48"/>
                                        </p:tgtEl>
                                      </p:cBhvr>
                                    </p:animEffect>
                                  </p:childTnLst>
                                </p:cTn>
                              </p:par>
                              <p:par>
                                <p:cTn id="157" presetID="2" presetClass="entr" presetSubtype="4" fill="hold" grpId="0" nodeType="withEffect">
                                  <p:stCondLst>
                                    <p:cond delay="100"/>
                                  </p:stCondLst>
                                  <p:childTnLst>
                                    <p:set>
                                      <p:cBhvr>
                                        <p:cTn id="153" dur="1" fill="hold">
                                          <p:stCondLst>
                                            <p:cond delay="0"/>
                                          </p:stCondLst>
                                        </p:cTn>
                                        <p:tgtEl>
                                          <p:spTgt spid="49"/>
                                        </p:tgtEl>
                                        <p:attrNameLst>
                                          <p:attrName>style.visibility</p:attrName>
                                        </p:attrNameLst>
                                      </p:cBhvr>
                                      <p:to>
                                        <p:strVal val="visible"/>
                                      </p:to>
                                    </p:set>
                                    <p:anim calcmode="lin" valueType="num">
                                      <p:cBhvr additive="base">
                                        <p:cTn id="154" dur="500" fill="hold"/>
                                        <p:tgtEl>
                                          <p:spTgt spid="49"/>
                                        </p:tgtEl>
                                        <p:attrNameLst>
                                          <p:attrName>ppt_x</p:attrName>
                                        </p:attrNameLst>
                                      </p:cBhvr>
                                      <p:tavLst>
                                        <p:tav tm="0">
                                          <p:val>
                                            <p:strVal val="#ppt_x"/>
                                          </p:val>
                                        </p:tav>
                                        <p:tav tm="100000">
                                          <p:val>
                                            <p:strVal val="#ppt_x"/>
                                          </p:val>
                                        </p:tav>
                                      </p:tavLst>
                                    </p:anim>
                                    <p:anim calcmode="lin" valueType="num">
                                      <p:cBhvr additive="base">
                                        <p:cTn id="155" dur="500" fill="hold"/>
                                        <p:tgtEl>
                                          <p:spTgt spid="49"/>
                                        </p:tgtEl>
                                        <p:attrNameLst>
                                          <p:attrName>ppt_y</p:attrName>
                                        </p:attrNameLst>
                                      </p:cBhvr>
                                      <p:tavLst>
                                        <p:tav tm="0">
                                          <p:val>
                                            <p:strVal val="#ppt_y+0.1"/>
                                          </p:val>
                                        </p:tav>
                                        <p:tav tm="100000">
                                          <p:val>
                                            <p:strVal val="#ppt_y"/>
                                          </p:val>
                                        </p:tav>
                                      </p:tavLst>
                                    </p:anim>
                                    <p:animEffect transition="in" filter="fade">
                                      <p:cBhvr>
                                        <p:cTn id="156" dur="500"/>
                                        <p:tgtEl>
                                          <p:spTgt spid="49"/>
                                        </p:tgtEl>
                                      </p:cBhvr>
                                    </p:animEffect>
                                  </p:childTnLst>
                                </p:cTn>
                              </p:par>
                              <p:par>
                                <p:cTn id="162" presetID="2" presetClass="entr" presetSubtype="4" fill="hold" grpId="0" nodeType="withEffect">
                                  <p:stCondLst>
                                    <p:cond delay="100"/>
                                  </p:stCondLst>
                                  <p:childTnLst>
                                    <p:set>
                                      <p:cBhvr>
                                        <p:cTn id="158" dur="1" fill="hold">
                                          <p:stCondLst>
                                            <p:cond delay="0"/>
                                          </p:stCondLst>
                                        </p:cTn>
                                        <p:tgtEl>
                                          <p:spTgt spid="50"/>
                                        </p:tgtEl>
                                        <p:attrNameLst>
                                          <p:attrName>style.visibility</p:attrName>
                                        </p:attrNameLst>
                                      </p:cBhvr>
                                      <p:to>
                                        <p:strVal val="visible"/>
                                      </p:to>
                                    </p:set>
                                    <p:anim calcmode="lin" valueType="num">
                                      <p:cBhvr additive="base">
                                        <p:cTn id="159" dur="500" fill="hold"/>
                                        <p:tgtEl>
                                          <p:spTgt spid="50"/>
                                        </p:tgtEl>
                                        <p:attrNameLst>
                                          <p:attrName>ppt_x</p:attrName>
                                        </p:attrNameLst>
                                      </p:cBhvr>
                                      <p:tavLst>
                                        <p:tav tm="0">
                                          <p:val>
                                            <p:strVal val="#ppt_x"/>
                                          </p:val>
                                        </p:tav>
                                        <p:tav tm="100000">
                                          <p:val>
                                            <p:strVal val="#ppt_x"/>
                                          </p:val>
                                        </p:tav>
                                      </p:tavLst>
                                    </p:anim>
                                    <p:anim calcmode="lin" valueType="num">
                                      <p:cBhvr additive="base">
                                        <p:cTn id="160" dur="500" fill="hold"/>
                                        <p:tgtEl>
                                          <p:spTgt spid="50"/>
                                        </p:tgtEl>
                                        <p:attrNameLst>
                                          <p:attrName>ppt_y</p:attrName>
                                        </p:attrNameLst>
                                      </p:cBhvr>
                                      <p:tavLst>
                                        <p:tav tm="0">
                                          <p:val>
                                            <p:strVal val="#ppt_y+0.1"/>
                                          </p:val>
                                        </p:tav>
                                        <p:tav tm="100000">
                                          <p:val>
                                            <p:strVal val="#ppt_y"/>
                                          </p:val>
                                        </p:tav>
                                      </p:tavLst>
                                    </p:anim>
                                    <p:animEffect transition="in" filter="fade">
                                      <p:cBhvr>
                                        <p:cTn id="161" dur="500"/>
                                        <p:tgtEl>
                                          <p:spTgt spid="50"/>
                                        </p:tgtEl>
                                      </p:cBhvr>
                                    </p:animEffect>
                                  </p:childTnLst>
                                </p:cTn>
                              </p:par>
                              <p:par>
                                <p:cTn id="167" presetID="2" presetClass="entr" presetSubtype="4" fill="hold" grpId="0" nodeType="withEffect">
                                  <p:stCondLst>
                                    <p:cond delay="100"/>
                                  </p:stCondLst>
                                  <p:childTnLst>
                                    <p:set>
                                      <p:cBhvr>
                                        <p:cTn id="163" dur="1" fill="hold">
                                          <p:stCondLst>
                                            <p:cond delay="0"/>
                                          </p:stCondLst>
                                        </p:cTn>
                                        <p:tgtEl>
                                          <p:spTgt spid="51"/>
                                        </p:tgtEl>
                                        <p:attrNameLst>
                                          <p:attrName>style.visibility</p:attrName>
                                        </p:attrNameLst>
                                      </p:cBhvr>
                                      <p:to>
                                        <p:strVal val="visible"/>
                                      </p:to>
                                    </p:set>
                                    <p:anim calcmode="lin" valueType="num">
                                      <p:cBhvr additive="base">
                                        <p:cTn id="164" dur="500" fill="hold"/>
                                        <p:tgtEl>
                                          <p:spTgt spid="51"/>
                                        </p:tgtEl>
                                        <p:attrNameLst>
                                          <p:attrName>ppt_x</p:attrName>
                                        </p:attrNameLst>
                                      </p:cBhvr>
                                      <p:tavLst>
                                        <p:tav tm="0">
                                          <p:val>
                                            <p:strVal val="#ppt_x"/>
                                          </p:val>
                                        </p:tav>
                                        <p:tav tm="100000">
                                          <p:val>
                                            <p:strVal val="#ppt_x"/>
                                          </p:val>
                                        </p:tav>
                                      </p:tavLst>
                                    </p:anim>
                                    <p:anim calcmode="lin" valueType="num">
                                      <p:cBhvr additive="base">
                                        <p:cTn id="165" dur="500" fill="hold"/>
                                        <p:tgtEl>
                                          <p:spTgt spid="51"/>
                                        </p:tgtEl>
                                        <p:attrNameLst>
                                          <p:attrName>ppt_y</p:attrName>
                                        </p:attrNameLst>
                                      </p:cBhvr>
                                      <p:tavLst>
                                        <p:tav tm="0">
                                          <p:val>
                                            <p:strVal val="#ppt_y+0.1"/>
                                          </p:val>
                                        </p:tav>
                                        <p:tav tm="100000">
                                          <p:val>
                                            <p:strVal val="#ppt_y"/>
                                          </p:val>
                                        </p:tav>
                                      </p:tavLst>
                                    </p:anim>
                                    <p:animEffect transition="in" filter="fade">
                                      <p:cBhvr>
                                        <p:cTn id="166" dur="500"/>
                                        <p:tgtEl>
                                          <p:spTgt spid="51"/>
                                        </p:tgtEl>
                                      </p:cBhvr>
                                    </p:animEffect>
                                  </p:childTnLst>
                                </p:cTn>
                              </p:par>
                              <p:par>
                                <p:cTn id="172" presetID="2" presetClass="entr" presetSubtype="4" fill="hold" grpId="0" nodeType="withEffect">
                                  <p:stCondLst>
                                    <p:cond delay="100"/>
                                  </p:stCondLst>
                                  <p:childTnLst>
                                    <p:set>
                                      <p:cBhvr>
                                        <p:cTn id="168" dur="1" fill="hold">
                                          <p:stCondLst>
                                            <p:cond delay="0"/>
                                          </p:stCondLst>
                                        </p:cTn>
                                        <p:tgtEl>
                                          <p:spTgt spid="52"/>
                                        </p:tgtEl>
                                        <p:attrNameLst>
                                          <p:attrName>style.visibility</p:attrName>
                                        </p:attrNameLst>
                                      </p:cBhvr>
                                      <p:to>
                                        <p:strVal val="visible"/>
                                      </p:to>
                                    </p:set>
                                    <p:anim calcmode="lin" valueType="num">
                                      <p:cBhvr additive="base">
                                        <p:cTn id="169" dur="500" fill="hold"/>
                                        <p:tgtEl>
                                          <p:spTgt spid="52"/>
                                        </p:tgtEl>
                                        <p:attrNameLst>
                                          <p:attrName>ppt_x</p:attrName>
                                        </p:attrNameLst>
                                      </p:cBhvr>
                                      <p:tavLst>
                                        <p:tav tm="0">
                                          <p:val>
                                            <p:strVal val="#ppt_x"/>
                                          </p:val>
                                        </p:tav>
                                        <p:tav tm="100000">
                                          <p:val>
                                            <p:strVal val="#ppt_x"/>
                                          </p:val>
                                        </p:tav>
                                      </p:tavLst>
                                    </p:anim>
                                    <p:anim calcmode="lin" valueType="num">
                                      <p:cBhvr additive="base">
                                        <p:cTn id="170" dur="500" fill="hold"/>
                                        <p:tgtEl>
                                          <p:spTgt spid="52"/>
                                        </p:tgtEl>
                                        <p:attrNameLst>
                                          <p:attrName>ppt_y</p:attrName>
                                        </p:attrNameLst>
                                      </p:cBhvr>
                                      <p:tavLst>
                                        <p:tav tm="0">
                                          <p:val>
                                            <p:strVal val="#ppt_y+0.1"/>
                                          </p:val>
                                        </p:tav>
                                        <p:tav tm="100000">
                                          <p:val>
                                            <p:strVal val="#ppt_y"/>
                                          </p:val>
                                        </p:tav>
                                      </p:tavLst>
                                    </p:anim>
                                    <p:animEffect transition="in" filter="fade">
                                      <p:cBhvr>
                                        <p:cTn id="171" dur="500"/>
                                        <p:tgtEl>
                                          <p:spTgt spid="52"/>
                                        </p:tgtEl>
                                      </p:cBhvr>
                                    </p:animEffect>
                                  </p:childTnLst>
                                </p:cTn>
                              </p:par>
                            </p:childTnLst>
                          </p:cTn>
                        </p:par>
                      </p:childTnLst>
                    </p:cTn>
                  </p:par>
                  <p:par>
                    <p:cTn id="173" fill="hold">
                      <p:stCondLst>
                        <p:cond delay="indefinite"/>
                      </p:stCondLst>
                      <p:childTnLst>
                        <p:par>
                          <p:cTn id="174" fill="hold">
                            <p:stCondLst>
                              <p:cond delay="0"/>
                            </p:stCondLst>
                            <p:childTnLst>
                              <p:par>
                                <p:cTn id="179" presetID="2" presetClass="entr" presetSubtype="4" fill="hold" grpId="0" nodeType="clickEffect">
                                  <p:stCondLst>
                                    <p:cond delay="0"/>
                                  </p:stCondLst>
                                  <p:childTnLst>
                                    <p:set>
                                      <p:cBhvr>
                                        <p:cTn id="175" dur="1" fill="hold">
                                          <p:stCondLst>
                                            <p:cond delay="0"/>
                                          </p:stCondLst>
                                        </p:cTn>
                                        <p:tgtEl>
                                          <p:spTgt spid="53"/>
                                        </p:tgtEl>
                                        <p:attrNameLst>
                                          <p:attrName>style.visibility</p:attrName>
                                        </p:attrNameLst>
                                      </p:cBhvr>
                                      <p:to>
                                        <p:strVal val="visible"/>
                                      </p:to>
                                    </p:set>
                                    <p:anim calcmode="lin" valueType="num">
                                      <p:cBhvr additive="base">
                                        <p:cTn id="176" dur="500" fill="hold"/>
                                        <p:tgtEl>
                                          <p:spTgt spid="53"/>
                                        </p:tgtEl>
                                        <p:attrNameLst>
                                          <p:attrName>ppt_x</p:attrName>
                                        </p:attrNameLst>
                                      </p:cBhvr>
                                      <p:tavLst>
                                        <p:tav tm="0">
                                          <p:val>
                                            <p:strVal val="#ppt_x"/>
                                          </p:val>
                                        </p:tav>
                                        <p:tav tm="100000">
                                          <p:val>
                                            <p:strVal val="#ppt_x"/>
                                          </p:val>
                                        </p:tav>
                                      </p:tavLst>
                                    </p:anim>
                                    <p:anim calcmode="lin" valueType="num">
                                      <p:cBhvr additive="base">
                                        <p:cTn id="177" dur="500" fill="hold"/>
                                        <p:tgtEl>
                                          <p:spTgt spid="53"/>
                                        </p:tgtEl>
                                        <p:attrNameLst>
                                          <p:attrName>ppt_y</p:attrName>
                                        </p:attrNameLst>
                                      </p:cBhvr>
                                      <p:tavLst>
                                        <p:tav tm="0">
                                          <p:val>
                                            <p:strVal val="#ppt_y+0.1"/>
                                          </p:val>
                                        </p:tav>
                                        <p:tav tm="100000">
                                          <p:val>
                                            <p:strVal val="#ppt_y"/>
                                          </p:val>
                                        </p:tav>
                                      </p:tavLst>
                                    </p:anim>
                                    <p:animEffect transition="in" filter="fade">
                                      <p:cBhvr>
                                        <p:cTn id="178" dur="500"/>
                                        <p:tgtEl>
                                          <p:spTgt spid="53"/>
                                        </p:tgtEl>
                                      </p:cBhvr>
                                    </p:animEffect>
                                  </p:childTnLst>
                                </p:cTn>
                              </p:par>
                              <p:par>
                                <p:cTn id="184" presetID="2" presetClass="entr" presetSubtype="4" fill="hold" grpId="0" nodeType="withEffect">
                                  <p:stCondLst>
                                    <p:cond delay="0"/>
                                  </p:stCondLst>
                                  <p:childTnLst>
                                    <p:set>
                                      <p:cBhvr>
                                        <p:cTn id="180" dur="1" fill="hold">
                                          <p:stCondLst>
                                            <p:cond delay="0"/>
                                          </p:stCondLst>
                                        </p:cTn>
                                        <p:tgtEl>
                                          <p:spTgt spid="54"/>
                                        </p:tgtEl>
                                        <p:attrNameLst>
                                          <p:attrName>style.visibility</p:attrName>
                                        </p:attrNameLst>
                                      </p:cBhvr>
                                      <p:to>
                                        <p:strVal val="visible"/>
                                      </p:to>
                                    </p:set>
                                    <p:anim calcmode="lin" valueType="num">
                                      <p:cBhvr additive="base">
                                        <p:cTn id="181" dur="500" fill="hold"/>
                                        <p:tgtEl>
                                          <p:spTgt spid="54"/>
                                        </p:tgtEl>
                                        <p:attrNameLst>
                                          <p:attrName>ppt_x</p:attrName>
                                        </p:attrNameLst>
                                      </p:cBhvr>
                                      <p:tavLst>
                                        <p:tav tm="0">
                                          <p:val>
                                            <p:strVal val="#ppt_x"/>
                                          </p:val>
                                        </p:tav>
                                        <p:tav tm="100000">
                                          <p:val>
                                            <p:strVal val="#ppt_x"/>
                                          </p:val>
                                        </p:tav>
                                      </p:tavLst>
                                    </p:anim>
                                    <p:anim calcmode="lin" valueType="num">
                                      <p:cBhvr additive="base">
                                        <p:cTn id="182" dur="500" fill="hold"/>
                                        <p:tgtEl>
                                          <p:spTgt spid="54"/>
                                        </p:tgtEl>
                                        <p:attrNameLst>
                                          <p:attrName>ppt_y</p:attrName>
                                        </p:attrNameLst>
                                      </p:cBhvr>
                                      <p:tavLst>
                                        <p:tav tm="0">
                                          <p:val>
                                            <p:strVal val="#ppt_y+0.1"/>
                                          </p:val>
                                        </p:tav>
                                        <p:tav tm="100000">
                                          <p:val>
                                            <p:strVal val="#ppt_y"/>
                                          </p:val>
                                        </p:tav>
                                      </p:tavLst>
                                    </p:anim>
                                    <p:animEffect transition="in" filter="fade">
                                      <p:cBhvr>
                                        <p:cTn id="183" dur="500"/>
                                        <p:tgtEl>
                                          <p:spTgt spid="54"/>
                                        </p:tgtEl>
                                      </p:cBhvr>
                                    </p:animEffect>
                                  </p:childTnLst>
                                </p:cTn>
                              </p:par>
                              <p:par>
                                <p:cTn id="189" presetID="2" presetClass="entr" presetSubtype="4" fill="hold" grpId="0" nodeType="withEffect">
                                  <p:stCondLst>
                                    <p:cond delay="0"/>
                                  </p:stCondLst>
                                  <p:childTnLst>
                                    <p:set>
                                      <p:cBhvr>
                                        <p:cTn id="185" dur="1" fill="hold">
                                          <p:stCondLst>
                                            <p:cond delay="0"/>
                                          </p:stCondLst>
                                        </p:cTn>
                                        <p:tgtEl>
                                          <p:spTgt spid="55"/>
                                        </p:tgtEl>
                                        <p:attrNameLst>
                                          <p:attrName>style.visibility</p:attrName>
                                        </p:attrNameLst>
                                      </p:cBhvr>
                                      <p:to>
                                        <p:strVal val="visible"/>
                                      </p:to>
                                    </p:set>
                                    <p:anim calcmode="lin" valueType="num">
                                      <p:cBhvr additive="base">
                                        <p:cTn id="186" dur="500" fill="hold"/>
                                        <p:tgtEl>
                                          <p:spTgt spid="55"/>
                                        </p:tgtEl>
                                        <p:attrNameLst>
                                          <p:attrName>ppt_x</p:attrName>
                                        </p:attrNameLst>
                                      </p:cBhvr>
                                      <p:tavLst>
                                        <p:tav tm="0">
                                          <p:val>
                                            <p:strVal val="#ppt_x"/>
                                          </p:val>
                                        </p:tav>
                                        <p:tav tm="100000">
                                          <p:val>
                                            <p:strVal val="#ppt_x"/>
                                          </p:val>
                                        </p:tav>
                                      </p:tavLst>
                                    </p:anim>
                                    <p:anim calcmode="lin" valueType="num">
                                      <p:cBhvr additive="base">
                                        <p:cTn id="187" dur="500" fill="hold"/>
                                        <p:tgtEl>
                                          <p:spTgt spid="55"/>
                                        </p:tgtEl>
                                        <p:attrNameLst>
                                          <p:attrName>ppt_y</p:attrName>
                                        </p:attrNameLst>
                                      </p:cBhvr>
                                      <p:tavLst>
                                        <p:tav tm="0">
                                          <p:val>
                                            <p:strVal val="#ppt_y+0.1"/>
                                          </p:val>
                                        </p:tav>
                                        <p:tav tm="100000">
                                          <p:val>
                                            <p:strVal val="#ppt_y"/>
                                          </p:val>
                                        </p:tav>
                                      </p:tavLst>
                                    </p:anim>
                                    <p:animEffect transition="in" filter="fade">
                                      <p:cBhvr>
                                        <p:cTn id="188" dur="500"/>
                                        <p:tgtEl>
                                          <p:spTgt spid="55"/>
                                        </p:tgtEl>
                                      </p:cBhvr>
                                    </p:animEffect>
                                  </p:childTnLst>
                                </p:cTn>
                              </p:par>
                              <p:par>
                                <p:cTn id="194" presetID="2" presetClass="entr" presetSubtype="4" fill="hold" grpId="0" nodeType="withEffect">
                                  <p:stCondLst>
                                    <p:cond delay="0"/>
                                  </p:stCondLst>
                                  <p:childTnLst>
                                    <p:set>
                                      <p:cBhvr>
                                        <p:cTn id="190" dur="1" fill="hold">
                                          <p:stCondLst>
                                            <p:cond delay="0"/>
                                          </p:stCondLst>
                                        </p:cTn>
                                        <p:tgtEl>
                                          <p:spTgt spid="56"/>
                                        </p:tgtEl>
                                        <p:attrNameLst>
                                          <p:attrName>style.visibility</p:attrName>
                                        </p:attrNameLst>
                                      </p:cBhvr>
                                      <p:to>
                                        <p:strVal val="visible"/>
                                      </p:to>
                                    </p:set>
                                    <p:anim calcmode="lin" valueType="num">
                                      <p:cBhvr additive="base">
                                        <p:cTn id="191" dur="500" fill="hold"/>
                                        <p:tgtEl>
                                          <p:spTgt spid="56"/>
                                        </p:tgtEl>
                                        <p:attrNameLst>
                                          <p:attrName>ppt_x</p:attrName>
                                        </p:attrNameLst>
                                      </p:cBhvr>
                                      <p:tavLst>
                                        <p:tav tm="0">
                                          <p:val>
                                            <p:strVal val="#ppt_x"/>
                                          </p:val>
                                        </p:tav>
                                        <p:tav tm="100000">
                                          <p:val>
                                            <p:strVal val="#ppt_x"/>
                                          </p:val>
                                        </p:tav>
                                      </p:tavLst>
                                    </p:anim>
                                    <p:anim calcmode="lin" valueType="num">
                                      <p:cBhvr additive="base">
                                        <p:cTn id="192" dur="500" fill="hold"/>
                                        <p:tgtEl>
                                          <p:spTgt spid="56"/>
                                        </p:tgtEl>
                                        <p:attrNameLst>
                                          <p:attrName>ppt_y</p:attrName>
                                        </p:attrNameLst>
                                      </p:cBhvr>
                                      <p:tavLst>
                                        <p:tav tm="0">
                                          <p:val>
                                            <p:strVal val="#ppt_y+0.1"/>
                                          </p:val>
                                        </p:tav>
                                        <p:tav tm="100000">
                                          <p:val>
                                            <p:strVal val="#ppt_y"/>
                                          </p:val>
                                        </p:tav>
                                      </p:tavLst>
                                    </p:anim>
                                    <p:animEffect transition="in" filter="fade">
                                      <p:cBhvr>
                                        <p:cTn id="193" dur="500"/>
                                        <p:tgtEl>
                                          <p:spTgt spid="56"/>
                                        </p:tgtEl>
                                      </p:cBhvr>
                                    </p:animEffect>
                                  </p:childTnLst>
                                </p:cTn>
                              </p:par>
                              <p:par>
                                <p:cTn id="199" presetID="2" presetClass="entr" presetSubtype="4" fill="hold" grpId="0" nodeType="withEffect">
                                  <p:stCondLst>
                                    <p:cond delay="0"/>
                                  </p:stCondLst>
                                  <p:childTnLst>
                                    <p:set>
                                      <p:cBhvr>
                                        <p:cTn id="195" dur="1" fill="hold">
                                          <p:stCondLst>
                                            <p:cond delay="0"/>
                                          </p:stCondLst>
                                        </p:cTn>
                                        <p:tgtEl>
                                          <p:spTgt spid="57"/>
                                        </p:tgtEl>
                                        <p:attrNameLst>
                                          <p:attrName>style.visibility</p:attrName>
                                        </p:attrNameLst>
                                      </p:cBhvr>
                                      <p:to>
                                        <p:strVal val="visible"/>
                                      </p:to>
                                    </p:set>
                                    <p:anim calcmode="lin" valueType="num">
                                      <p:cBhvr additive="base">
                                        <p:cTn id="196" dur="500" fill="hold"/>
                                        <p:tgtEl>
                                          <p:spTgt spid="57"/>
                                        </p:tgtEl>
                                        <p:attrNameLst>
                                          <p:attrName>ppt_x</p:attrName>
                                        </p:attrNameLst>
                                      </p:cBhvr>
                                      <p:tavLst>
                                        <p:tav tm="0">
                                          <p:val>
                                            <p:strVal val="#ppt_x"/>
                                          </p:val>
                                        </p:tav>
                                        <p:tav tm="100000">
                                          <p:val>
                                            <p:strVal val="#ppt_x"/>
                                          </p:val>
                                        </p:tav>
                                      </p:tavLst>
                                    </p:anim>
                                    <p:anim calcmode="lin" valueType="num">
                                      <p:cBhvr additive="base">
                                        <p:cTn id="197" dur="500" fill="hold"/>
                                        <p:tgtEl>
                                          <p:spTgt spid="57"/>
                                        </p:tgtEl>
                                        <p:attrNameLst>
                                          <p:attrName>ppt_y</p:attrName>
                                        </p:attrNameLst>
                                      </p:cBhvr>
                                      <p:tavLst>
                                        <p:tav tm="0">
                                          <p:val>
                                            <p:strVal val="#ppt_y+0.1"/>
                                          </p:val>
                                        </p:tav>
                                        <p:tav tm="100000">
                                          <p:val>
                                            <p:strVal val="#ppt_y"/>
                                          </p:val>
                                        </p:tav>
                                      </p:tavLst>
                                    </p:anim>
                                    <p:animEffect transition="in" filter="fade">
                                      <p:cBhvr>
                                        <p:cTn id="198" dur="500"/>
                                        <p:tgtEl>
                                          <p:spTgt spid="57"/>
                                        </p:tgtEl>
                                      </p:cBhvr>
                                    </p:animEffect>
                                  </p:childTnLst>
                                </p:cTn>
                              </p:par>
                              <p:par>
                                <p:cTn id="204" presetID="2" presetClass="entr" presetSubtype="4" fill="hold" grpId="0" nodeType="withEffect">
                                  <p:stCondLst>
                                    <p:cond delay="0"/>
                                  </p:stCondLst>
                                  <p:childTnLst>
                                    <p:set>
                                      <p:cBhvr>
                                        <p:cTn id="200" dur="1" fill="hold">
                                          <p:stCondLst>
                                            <p:cond delay="0"/>
                                          </p:stCondLst>
                                        </p:cTn>
                                        <p:tgtEl>
                                          <p:spTgt spid="67"/>
                                        </p:tgtEl>
                                        <p:attrNameLst>
                                          <p:attrName>style.visibility</p:attrName>
                                        </p:attrNameLst>
                                      </p:cBhvr>
                                      <p:to>
                                        <p:strVal val="visible"/>
                                      </p:to>
                                    </p:set>
                                    <p:anim calcmode="lin" valueType="num">
                                      <p:cBhvr additive="base">
                                        <p:cTn id="201" dur="500" fill="hold"/>
                                        <p:tgtEl>
                                          <p:spTgt spid="67"/>
                                        </p:tgtEl>
                                        <p:attrNameLst>
                                          <p:attrName>ppt_x</p:attrName>
                                        </p:attrNameLst>
                                      </p:cBhvr>
                                      <p:tavLst>
                                        <p:tav tm="0">
                                          <p:val>
                                            <p:strVal val="#ppt_x"/>
                                          </p:val>
                                        </p:tav>
                                        <p:tav tm="100000">
                                          <p:val>
                                            <p:strVal val="#ppt_x"/>
                                          </p:val>
                                        </p:tav>
                                      </p:tavLst>
                                    </p:anim>
                                    <p:anim calcmode="lin" valueType="num">
                                      <p:cBhvr additive="base">
                                        <p:cTn id="202" dur="500" fill="hold"/>
                                        <p:tgtEl>
                                          <p:spTgt spid="67"/>
                                        </p:tgtEl>
                                        <p:attrNameLst>
                                          <p:attrName>ppt_y</p:attrName>
                                        </p:attrNameLst>
                                      </p:cBhvr>
                                      <p:tavLst>
                                        <p:tav tm="0">
                                          <p:val>
                                            <p:strVal val="#ppt_y+0.1"/>
                                          </p:val>
                                        </p:tav>
                                        <p:tav tm="100000">
                                          <p:val>
                                            <p:strVal val="#ppt_y"/>
                                          </p:val>
                                        </p:tav>
                                      </p:tavLst>
                                    </p:anim>
                                    <p:animEffect transition="in" filter="fade">
                                      <p:cBhvr>
                                        <p:cTn id="203" dur="500"/>
                                        <p:tgtEl>
                                          <p:spTgt spid="67"/>
                                        </p:tgtEl>
                                      </p:cBhvr>
                                    </p:animEffect>
                                  </p:childTnLst>
                                </p:cTn>
                              </p:par>
                              <p:par>
                                <p:cTn id="209" presetID="2" presetClass="entr" presetSubtype="4" fill="hold" grpId="0" nodeType="withEffect">
                                  <p:stCondLst>
                                    <p:cond delay="0"/>
                                  </p:stCondLst>
                                  <p:childTnLst>
                                    <p:set>
                                      <p:cBhvr>
                                        <p:cTn id="205" dur="1" fill="hold">
                                          <p:stCondLst>
                                            <p:cond delay="0"/>
                                          </p:stCondLst>
                                        </p:cTn>
                                        <p:tgtEl>
                                          <p:spTgt spid="68"/>
                                        </p:tgtEl>
                                        <p:attrNameLst>
                                          <p:attrName>style.visibility</p:attrName>
                                        </p:attrNameLst>
                                      </p:cBhvr>
                                      <p:to>
                                        <p:strVal val="visible"/>
                                      </p:to>
                                    </p:set>
                                    <p:anim calcmode="lin" valueType="num">
                                      <p:cBhvr additive="base">
                                        <p:cTn id="206" dur="500" fill="hold"/>
                                        <p:tgtEl>
                                          <p:spTgt spid="68"/>
                                        </p:tgtEl>
                                        <p:attrNameLst>
                                          <p:attrName>ppt_x</p:attrName>
                                        </p:attrNameLst>
                                      </p:cBhvr>
                                      <p:tavLst>
                                        <p:tav tm="0">
                                          <p:val>
                                            <p:strVal val="#ppt_x"/>
                                          </p:val>
                                        </p:tav>
                                        <p:tav tm="100000">
                                          <p:val>
                                            <p:strVal val="#ppt_x"/>
                                          </p:val>
                                        </p:tav>
                                      </p:tavLst>
                                    </p:anim>
                                    <p:anim calcmode="lin" valueType="num">
                                      <p:cBhvr additive="base">
                                        <p:cTn id="207" dur="500" fill="hold"/>
                                        <p:tgtEl>
                                          <p:spTgt spid="68"/>
                                        </p:tgtEl>
                                        <p:attrNameLst>
                                          <p:attrName>ppt_y</p:attrName>
                                        </p:attrNameLst>
                                      </p:cBhvr>
                                      <p:tavLst>
                                        <p:tav tm="0">
                                          <p:val>
                                            <p:strVal val="#ppt_y+0.1"/>
                                          </p:val>
                                        </p:tav>
                                        <p:tav tm="100000">
                                          <p:val>
                                            <p:strVal val="#ppt_y"/>
                                          </p:val>
                                        </p:tav>
                                      </p:tavLst>
                                    </p:anim>
                                    <p:animEffect transition="in" filter="fade">
                                      <p:cBhvr>
                                        <p:cTn id="208" dur="500"/>
                                        <p:tgtEl>
                                          <p:spTgt spid="68"/>
                                        </p:tgtEl>
                                      </p:cBhvr>
                                    </p:animEffect>
                                  </p:childTnLst>
                                </p:cTn>
                              </p:par>
                              <p:par>
                                <p:cTn id="214" presetID="2" presetClass="entr" presetSubtype="4" fill="hold" grpId="0" nodeType="withEffect">
                                  <p:stCondLst>
                                    <p:cond delay="0"/>
                                  </p:stCondLst>
                                  <p:childTnLst>
                                    <p:set>
                                      <p:cBhvr>
                                        <p:cTn id="210" dur="1" fill="hold">
                                          <p:stCondLst>
                                            <p:cond delay="0"/>
                                          </p:stCondLst>
                                        </p:cTn>
                                        <p:tgtEl>
                                          <p:spTgt spid="69"/>
                                        </p:tgtEl>
                                        <p:attrNameLst>
                                          <p:attrName>style.visibility</p:attrName>
                                        </p:attrNameLst>
                                      </p:cBhvr>
                                      <p:to>
                                        <p:strVal val="visible"/>
                                      </p:to>
                                    </p:set>
                                    <p:anim calcmode="lin" valueType="num">
                                      <p:cBhvr additive="base">
                                        <p:cTn id="211" dur="500" fill="hold"/>
                                        <p:tgtEl>
                                          <p:spTgt spid="69"/>
                                        </p:tgtEl>
                                        <p:attrNameLst>
                                          <p:attrName>ppt_x</p:attrName>
                                        </p:attrNameLst>
                                      </p:cBhvr>
                                      <p:tavLst>
                                        <p:tav tm="0">
                                          <p:val>
                                            <p:strVal val="#ppt_x"/>
                                          </p:val>
                                        </p:tav>
                                        <p:tav tm="100000">
                                          <p:val>
                                            <p:strVal val="#ppt_x"/>
                                          </p:val>
                                        </p:tav>
                                      </p:tavLst>
                                    </p:anim>
                                    <p:anim calcmode="lin" valueType="num">
                                      <p:cBhvr additive="base">
                                        <p:cTn id="212" dur="500" fill="hold"/>
                                        <p:tgtEl>
                                          <p:spTgt spid="69"/>
                                        </p:tgtEl>
                                        <p:attrNameLst>
                                          <p:attrName>ppt_y</p:attrName>
                                        </p:attrNameLst>
                                      </p:cBhvr>
                                      <p:tavLst>
                                        <p:tav tm="0">
                                          <p:val>
                                            <p:strVal val="#ppt_y+0.1"/>
                                          </p:val>
                                        </p:tav>
                                        <p:tav tm="100000">
                                          <p:val>
                                            <p:strVal val="#ppt_y"/>
                                          </p:val>
                                        </p:tav>
                                      </p:tavLst>
                                    </p:anim>
                                    <p:animEffect transition="in" filter="fade">
                                      <p:cBhvr>
                                        <p:cTn id="213" dur="500"/>
                                        <p:tgtEl>
                                          <p:spTgt spid="69"/>
                                        </p:tgtEl>
                                      </p:cBhvr>
                                    </p:animEffect>
                                  </p:childTnLst>
                                </p:cTn>
                              </p:par>
                              <p:par>
                                <p:cTn id="219" presetID="2" presetClass="entr" presetSubtype="4" fill="hold" grpId="0" nodeType="withEffect">
                                  <p:stCondLst>
                                    <p:cond delay="60"/>
                                  </p:stCondLst>
                                  <p:childTnLst>
                                    <p:set>
                                      <p:cBhvr>
                                        <p:cTn id="215" dur="1" fill="hold">
                                          <p:stCondLst>
                                            <p:cond delay="0"/>
                                          </p:stCondLst>
                                        </p:cTn>
                                        <p:tgtEl>
                                          <p:spTgt spid="70"/>
                                        </p:tgtEl>
                                        <p:attrNameLst>
                                          <p:attrName>style.visibility</p:attrName>
                                        </p:attrNameLst>
                                      </p:cBhvr>
                                      <p:to>
                                        <p:strVal val="visible"/>
                                      </p:to>
                                    </p:set>
                                    <p:anim calcmode="lin" valueType="num">
                                      <p:cBhvr additive="base">
                                        <p:cTn id="216" dur="500" fill="hold"/>
                                        <p:tgtEl>
                                          <p:spTgt spid="70"/>
                                        </p:tgtEl>
                                        <p:attrNameLst>
                                          <p:attrName>ppt_x</p:attrName>
                                        </p:attrNameLst>
                                      </p:cBhvr>
                                      <p:tavLst>
                                        <p:tav tm="0">
                                          <p:val>
                                            <p:strVal val="#ppt_x"/>
                                          </p:val>
                                        </p:tav>
                                        <p:tav tm="100000">
                                          <p:val>
                                            <p:strVal val="#ppt_x"/>
                                          </p:val>
                                        </p:tav>
                                      </p:tavLst>
                                    </p:anim>
                                    <p:anim calcmode="lin" valueType="num">
                                      <p:cBhvr additive="base">
                                        <p:cTn id="217" dur="500" fill="hold"/>
                                        <p:tgtEl>
                                          <p:spTgt spid="70"/>
                                        </p:tgtEl>
                                        <p:attrNameLst>
                                          <p:attrName>ppt_y</p:attrName>
                                        </p:attrNameLst>
                                      </p:cBhvr>
                                      <p:tavLst>
                                        <p:tav tm="0">
                                          <p:val>
                                            <p:strVal val="#ppt_y+0.1"/>
                                          </p:val>
                                        </p:tav>
                                        <p:tav tm="100000">
                                          <p:val>
                                            <p:strVal val="#ppt_y"/>
                                          </p:val>
                                        </p:tav>
                                      </p:tavLst>
                                    </p:anim>
                                    <p:animEffect transition="in" filter="fade">
                                      <p:cBhvr>
                                        <p:cTn id="218" dur="500"/>
                                        <p:tgtEl>
                                          <p:spTgt spid="70"/>
                                        </p:tgtEl>
                                      </p:cBhvr>
                                    </p:animEffect>
                                  </p:childTnLst>
                                </p:cTn>
                              </p:par>
                              <p:par>
                                <p:cTn id="224" presetID="2" presetClass="entr" presetSubtype="4" fill="hold" grpId="0" nodeType="withEffect">
                                  <p:stCondLst>
                                    <p:cond delay="100"/>
                                  </p:stCondLst>
                                  <p:childTnLst>
                                    <p:set>
                                      <p:cBhvr>
                                        <p:cTn id="220" dur="1" fill="hold">
                                          <p:stCondLst>
                                            <p:cond delay="0"/>
                                          </p:stCondLst>
                                        </p:cTn>
                                        <p:tgtEl>
                                          <p:spTgt spid="58"/>
                                        </p:tgtEl>
                                        <p:attrNameLst>
                                          <p:attrName>style.visibility</p:attrName>
                                        </p:attrNameLst>
                                      </p:cBhvr>
                                      <p:to>
                                        <p:strVal val="visible"/>
                                      </p:to>
                                    </p:set>
                                    <p:anim calcmode="lin" valueType="num">
                                      <p:cBhvr additive="base">
                                        <p:cTn id="221" dur="500" fill="hold"/>
                                        <p:tgtEl>
                                          <p:spTgt spid="58"/>
                                        </p:tgtEl>
                                        <p:attrNameLst>
                                          <p:attrName>ppt_x</p:attrName>
                                        </p:attrNameLst>
                                      </p:cBhvr>
                                      <p:tavLst>
                                        <p:tav tm="0">
                                          <p:val>
                                            <p:strVal val="#ppt_x"/>
                                          </p:val>
                                        </p:tav>
                                        <p:tav tm="100000">
                                          <p:val>
                                            <p:strVal val="#ppt_x"/>
                                          </p:val>
                                        </p:tav>
                                      </p:tavLst>
                                    </p:anim>
                                    <p:anim calcmode="lin" valueType="num">
                                      <p:cBhvr additive="base">
                                        <p:cTn id="222" dur="500" fill="hold"/>
                                        <p:tgtEl>
                                          <p:spTgt spid="58"/>
                                        </p:tgtEl>
                                        <p:attrNameLst>
                                          <p:attrName>ppt_y</p:attrName>
                                        </p:attrNameLst>
                                      </p:cBhvr>
                                      <p:tavLst>
                                        <p:tav tm="0">
                                          <p:val>
                                            <p:strVal val="#ppt_y+0.1"/>
                                          </p:val>
                                        </p:tav>
                                        <p:tav tm="100000">
                                          <p:val>
                                            <p:strVal val="#ppt_y"/>
                                          </p:val>
                                        </p:tav>
                                      </p:tavLst>
                                    </p:anim>
                                    <p:animEffect transition="in" filter="fade">
                                      <p:cBhvr>
                                        <p:cTn id="223" dur="500"/>
                                        <p:tgtEl>
                                          <p:spTgt spid="58"/>
                                        </p:tgtEl>
                                      </p:cBhvr>
                                    </p:animEffect>
                                  </p:childTnLst>
                                </p:cTn>
                              </p:par>
                              <p:par>
                                <p:cTn id="229" presetID="2" presetClass="entr" presetSubtype="4" fill="hold" grpId="0" nodeType="withEffect">
                                  <p:stCondLst>
                                    <p:cond delay="100"/>
                                  </p:stCondLst>
                                  <p:childTnLst>
                                    <p:set>
                                      <p:cBhvr>
                                        <p:cTn id="225" dur="1" fill="hold">
                                          <p:stCondLst>
                                            <p:cond delay="0"/>
                                          </p:stCondLst>
                                        </p:cTn>
                                        <p:tgtEl>
                                          <p:spTgt spid="59"/>
                                        </p:tgtEl>
                                        <p:attrNameLst>
                                          <p:attrName>style.visibility</p:attrName>
                                        </p:attrNameLst>
                                      </p:cBhvr>
                                      <p:to>
                                        <p:strVal val="visible"/>
                                      </p:to>
                                    </p:set>
                                    <p:anim calcmode="lin" valueType="num">
                                      <p:cBhvr additive="base">
                                        <p:cTn id="226" dur="500" fill="hold"/>
                                        <p:tgtEl>
                                          <p:spTgt spid="59"/>
                                        </p:tgtEl>
                                        <p:attrNameLst>
                                          <p:attrName>ppt_x</p:attrName>
                                        </p:attrNameLst>
                                      </p:cBhvr>
                                      <p:tavLst>
                                        <p:tav tm="0">
                                          <p:val>
                                            <p:strVal val="#ppt_x"/>
                                          </p:val>
                                        </p:tav>
                                        <p:tav tm="100000">
                                          <p:val>
                                            <p:strVal val="#ppt_x"/>
                                          </p:val>
                                        </p:tav>
                                      </p:tavLst>
                                    </p:anim>
                                    <p:anim calcmode="lin" valueType="num">
                                      <p:cBhvr additive="base">
                                        <p:cTn id="227" dur="500" fill="hold"/>
                                        <p:tgtEl>
                                          <p:spTgt spid="59"/>
                                        </p:tgtEl>
                                        <p:attrNameLst>
                                          <p:attrName>ppt_y</p:attrName>
                                        </p:attrNameLst>
                                      </p:cBhvr>
                                      <p:tavLst>
                                        <p:tav tm="0">
                                          <p:val>
                                            <p:strVal val="#ppt_y+0.1"/>
                                          </p:val>
                                        </p:tav>
                                        <p:tav tm="100000">
                                          <p:val>
                                            <p:strVal val="#ppt_y"/>
                                          </p:val>
                                        </p:tav>
                                      </p:tavLst>
                                    </p:anim>
                                    <p:animEffect transition="in" filter="fade">
                                      <p:cBhvr>
                                        <p:cTn id="228" dur="500"/>
                                        <p:tgtEl>
                                          <p:spTgt spid="59"/>
                                        </p:tgtEl>
                                      </p:cBhvr>
                                    </p:animEffect>
                                  </p:childTnLst>
                                </p:cTn>
                              </p:par>
                              <p:par>
                                <p:cTn id="234" presetID="2" presetClass="entr" presetSubtype="4" fill="hold" grpId="0" nodeType="withEffect">
                                  <p:stCondLst>
                                    <p:cond delay="100"/>
                                  </p:stCondLst>
                                  <p:childTnLst>
                                    <p:set>
                                      <p:cBhvr>
                                        <p:cTn id="230" dur="1" fill="hold">
                                          <p:stCondLst>
                                            <p:cond delay="0"/>
                                          </p:stCondLst>
                                        </p:cTn>
                                        <p:tgtEl>
                                          <p:spTgt spid="60"/>
                                        </p:tgtEl>
                                        <p:attrNameLst>
                                          <p:attrName>style.visibility</p:attrName>
                                        </p:attrNameLst>
                                      </p:cBhvr>
                                      <p:to>
                                        <p:strVal val="visible"/>
                                      </p:to>
                                    </p:set>
                                    <p:anim calcmode="lin" valueType="num">
                                      <p:cBhvr additive="base">
                                        <p:cTn id="231" dur="500" fill="hold"/>
                                        <p:tgtEl>
                                          <p:spTgt spid="60"/>
                                        </p:tgtEl>
                                        <p:attrNameLst>
                                          <p:attrName>ppt_x</p:attrName>
                                        </p:attrNameLst>
                                      </p:cBhvr>
                                      <p:tavLst>
                                        <p:tav tm="0">
                                          <p:val>
                                            <p:strVal val="#ppt_x"/>
                                          </p:val>
                                        </p:tav>
                                        <p:tav tm="100000">
                                          <p:val>
                                            <p:strVal val="#ppt_x"/>
                                          </p:val>
                                        </p:tav>
                                      </p:tavLst>
                                    </p:anim>
                                    <p:anim calcmode="lin" valueType="num">
                                      <p:cBhvr additive="base">
                                        <p:cTn id="232" dur="500" fill="hold"/>
                                        <p:tgtEl>
                                          <p:spTgt spid="60"/>
                                        </p:tgtEl>
                                        <p:attrNameLst>
                                          <p:attrName>ppt_y</p:attrName>
                                        </p:attrNameLst>
                                      </p:cBhvr>
                                      <p:tavLst>
                                        <p:tav tm="0">
                                          <p:val>
                                            <p:strVal val="#ppt_y+0.1"/>
                                          </p:val>
                                        </p:tav>
                                        <p:tav tm="100000">
                                          <p:val>
                                            <p:strVal val="#ppt_y"/>
                                          </p:val>
                                        </p:tav>
                                      </p:tavLst>
                                    </p:anim>
                                    <p:animEffect transition="in" filter="fade">
                                      <p:cBhvr>
                                        <p:cTn id="233" dur="500"/>
                                        <p:tgtEl>
                                          <p:spTgt spid="60"/>
                                        </p:tgtEl>
                                      </p:cBhvr>
                                    </p:animEffect>
                                  </p:childTnLst>
                                </p:cTn>
                              </p:par>
                              <p:par>
                                <p:cTn id="239" presetID="2" presetClass="entr" presetSubtype="4" fill="hold" grpId="0" nodeType="withEffect">
                                  <p:stCondLst>
                                    <p:cond delay="100"/>
                                  </p:stCondLst>
                                  <p:childTnLst>
                                    <p:set>
                                      <p:cBhvr>
                                        <p:cTn id="235" dur="1" fill="hold">
                                          <p:stCondLst>
                                            <p:cond delay="0"/>
                                          </p:stCondLst>
                                        </p:cTn>
                                        <p:tgtEl>
                                          <p:spTgt spid="61"/>
                                        </p:tgtEl>
                                        <p:attrNameLst>
                                          <p:attrName>style.visibility</p:attrName>
                                        </p:attrNameLst>
                                      </p:cBhvr>
                                      <p:to>
                                        <p:strVal val="visible"/>
                                      </p:to>
                                    </p:set>
                                    <p:anim calcmode="lin" valueType="num">
                                      <p:cBhvr additive="base">
                                        <p:cTn id="236" dur="500" fill="hold"/>
                                        <p:tgtEl>
                                          <p:spTgt spid="61"/>
                                        </p:tgtEl>
                                        <p:attrNameLst>
                                          <p:attrName>ppt_x</p:attrName>
                                        </p:attrNameLst>
                                      </p:cBhvr>
                                      <p:tavLst>
                                        <p:tav tm="0">
                                          <p:val>
                                            <p:strVal val="#ppt_x"/>
                                          </p:val>
                                        </p:tav>
                                        <p:tav tm="100000">
                                          <p:val>
                                            <p:strVal val="#ppt_x"/>
                                          </p:val>
                                        </p:tav>
                                      </p:tavLst>
                                    </p:anim>
                                    <p:anim calcmode="lin" valueType="num">
                                      <p:cBhvr additive="base">
                                        <p:cTn id="237" dur="500" fill="hold"/>
                                        <p:tgtEl>
                                          <p:spTgt spid="61"/>
                                        </p:tgtEl>
                                        <p:attrNameLst>
                                          <p:attrName>ppt_y</p:attrName>
                                        </p:attrNameLst>
                                      </p:cBhvr>
                                      <p:tavLst>
                                        <p:tav tm="0">
                                          <p:val>
                                            <p:strVal val="#ppt_y+0.1"/>
                                          </p:val>
                                        </p:tav>
                                        <p:tav tm="100000">
                                          <p:val>
                                            <p:strVal val="#ppt_y"/>
                                          </p:val>
                                        </p:tav>
                                      </p:tavLst>
                                    </p:anim>
                                    <p:animEffect transition="in" filter="fade">
                                      <p:cBhvr>
                                        <p:cTn id="238" dur="500"/>
                                        <p:tgtEl>
                                          <p:spTgt spid="61"/>
                                        </p:tgtEl>
                                      </p:cBhvr>
                                    </p:animEffect>
                                  </p:childTnLst>
                                </p:cTn>
                              </p:par>
                              <p:par>
                                <p:cTn id="244" presetID="2" presetClass="entr" presetSubtype="4" fill="hold" grpId="0" nodeType="withEffect">
                                  <p:stCondLst>
                                    <p:cond delay="100"/>
                                  </p:stCondLst>
                                  <p:childTnLst>
                                    <p:set>
                                      <p:cBhvr>
                                        <p:cTn id="240" dur="1" fill="hold">
                                          <p:stCondLst>
                                            <p:cond delay="0"/>
                                          </p:stCondLst>
                                        </p:cTn>
                                        <p:tgtEl>
                                          <p:spTgt spid="62"/>
                                        </p:tgtEl>
                                        <p:attrNameLst>
                                          <p:attrName>style.visibility</p:attrName>
                                        </p:attrNameLst>
                                      </p:cBhvr>
                                      <p:to>
                                        <p:strVal val="visible"/>
                                      </p:to>
                                    </p:set>
                                    <p:anim calcmode="lin" valueType="num">
                                      <p:cBhvr additive="base">
                                        <p:cTn id="241" dur="500" fill="hold"/>
                                        <p:tgtEl>
                                          <p:spTgt spid="62"/>
                                        </p:tgtEl>
                                        <p:attrNameLst>
                                          <p:attrName>ppt_x</p:attrName>
                                        </p:attrNameLst>
                                      </p:cBhvr>
                                      <p:tavLst>
                                        <p:tav tm="0">
                                          <p:val>
                                            <p:strVal val="#ppt_x"/>
                                          </p:val>
                                        </p:tav>
                                        <p:tav tm="100000">
                                          <p:val>
                                            <p:strVal val="#ppt_x"/>
                                          </p:val>
                                        </p:tav>
                                      </p:tavLst>
                                    </p:anim>
                                    <p:anim calcmode="lin" valueType="num">
                                      <p:cBhvr additive="base">
                                        <p:cTn id="242" dur="500" fill="hold"/>
                                        <p:tgtEl>
                                          <p:spTgt spid="62"/>
                                        </p:tgtEl>
                                        <p:attrNameLst>
                                          <p:attrName>ppt_y</p:attrName>
                                        </p:attrNameLst>
                                      </p:cBhvr>
                                      <p:tavLst>
                                        <p:tav tm="0">
                                          <p:val>
                                            <p:strVal val="#ppt_y+0.1"/>
                                          </p:val>
                                        </p:tav>
                                        <p:tav tm="100000">
                                          <p:val>
                                            <p:strVal val="#ppt_y"/>
                                          </p:val>
                                        </p:tav>
                                      </p:tavLst>
                                    </p:anim>
                                    <p:animEffect transition="in" filter="fade">
                                      <p:cBhvr>
                                        <p:cTn id="243" dur="500"/>
                                        <p:tgtEl>
                                          <p:spTgt spid="62"/>
                                        </p:tgtEl>
                                      </p:cBhvr>
                                    </p:animEffect>
                                  </p:childTnLst>
                                </p:cTn>
                              </p:par>
                            </p:childTnLst>
                          </p:cTn>
                        </p:par>
                      </p:childTnLst>
                    </p:cTn>
                  </p:par>
                  <p:par>
                    <p:cTn id="245" fill="hold">
                      <p:stCondLst>
                        <p:cond delay="indefinite"/>
                      </p:stCondLst>
                      <p:childTnLst>
                        <p:par>
                          <p:cTn id="246" fill="hold">
                            <p:stCondLst>
                              <p:cond delay="0"/>
                            </p:stCondLst>
                            <p:childTnLst>
                              <p:par>
                                <p:cTn id="251" presetID="2" presetClass="entr" presetSubtype="4" fill="hold" grpId="0" nodeType="clickEffect">
                                  <p:stCondLst>
                                    <p:cond delay="0"/>
                                  </p:stCondLst>
                                  <p:childTnLst>
                                    <p:set>
                                      <p:cBhvr>
                                        <p:cTn id="247" dur="1" fill="hold">
                                          <p:stCondLst>
                                            <p:cond delay="0"/>
                                          </p:stCondLst>
                                        </p:cTn>
                                        <p:tgtEl>
                                          <p:spTgt spid="71"/>
                                        </p:tgtEl>
                                        <p:attrNameLst>
                                          <p:attrName>style.visibility</p:attrName>
                                        </p:attrNameLst>
                                      </p:cBhvr>
                                      <p:to>
                                        <p:strVal val="visible"/>
                                      </p:to>
                                    </p:set>
                                    <p:anim calcmode="lin" valueType="num">
                                      <p:cBhvr additive="base">
                                        <p:cTn id="248" dur="500" fill="hold"/>
                                        <p:tgtEl>
                                          <p:spTgt spid="71"/>
                                        </p:tgtEl>
                                        <p:attrNameLst>
                                          <p:attrName>ppt_x</p:attrName>
                                        </p:attrNameLst>
                                      </p:cBhvr>
                                      <p:tavLst>
                                        <p:tav tm="0">
                                          <p:val>
                                            <p:strVal val="#ppt_x"/>
                                          </p:val>
                                        </p:tav>
                                        <p:tav tm="100000">
                                          <p:val>
                                            <p:strVal val="#ppt_x"/>
                                          </p:val>
                                        </p:tav>
                                      </p:tavLst>
                                    </p:anim>
                                    <p:anim calcmode="lin" valueType="num">
                                      <p:cBhvr additive="base">
                                        <p:cTn id="249" dur="500" fill="hold"/>
                                        <p:tgtEl>
                                          <p:spTgt spid="71"/>
                                        </p:tgtEl>
                                        <p:attrNameLst>
                                          <p:attrName>ppt_y</p:attrName>
                                        </p:attrNameLst>
                                      </p:cBhvr>
                                      <p:tavLst>
                                        <p:tav tm="0">
                                          <p:val>
                                            <p:strVal val="#ppt_y+0.1"/>
                                          </p:val>
                                        </p:tav>
                                        <p:tav tm="100000">
                                          <p:val>
                                            <p:strVal val="#ppt_y"/>
                                          </p:val>
                                        </p:tav>
                                      </p:tavLst>
                                    </p:anim>
                                    <p:animEffect transition="in" filter="fade">
                                      <p:cBhvr>
                                        <p:cTn id="250" dur="500"/>
                                        <p:tgtEl>
                                          <p:spTgt spid="71"/>
                                        </p:tgtEl>
                                      </p:cBhvr>
                                    </p:animEffect>
                                  </p:childTnLst>
                                </p:cTn>
                              </p:par>
                              <p:par>
                                <p:cTn id="256" presetID="2" presetClass="entr" presetSubtype="4" fill="hold" grpId="0" nodeType="withEffect">
                                  <p:stCondLst>
                                    <p:cond delay="0"/>
                                  </p:stCondLst>
                                  <p:childTnLst>
                                    <p:set>
                                      <p:cBhvr>
                                        <p:cTn id="252" dur="1" fill="hold">
                                          <p:stCondLst>
                                            <p:cond delay="0"/>
                                          </p:stCondLst>
                                        </p:cTn>
                                        <p:tgtEl>
                                          <p:spTgt spid="72"/>
                                        </p:tgtEl>
                                        <p:attrNameLst>
                                          <p:attrName>style.visibility</p:attrName>
                                        </p:attrNameLst>
                                      </p:cBhvr>
                                      <p:to>
                                        <p:strVal val="visible"/>
                                      </p:to>
                                    </p:set>
                                    <p:anim calcmode="lin" valueType="num">
                                      <p:cBhvr additive="base">
                                        <p:cTn id="253" dur="500" fill="hold"/>
                                        <p:tgtEl>
                                          <p:spTgt spid="72"/>
                                        </p:tgtEl>
                                        <p:attrNameLst>
                                          <p:attrName>ppt_x</p:attrName>
                                        </p:attrNameLst>
                                      </p:cBhvr>
                                      <p:tavLst>
                                        <p:tav tm="0">
                                          <p:val>
                                            <p:strVal val="#ppt_x"/>
                                          </p:val>
                                        </p:tav>
                                        <p:tav tm="100000">
                                          <p:val>
                                            <p:strVal val="#ppt_x"/>
                                          </p:val>
                                        </p:tav>
                                      </p:tavLst>
                                    </p:anim>
                                    <p:anim calcmode="lin" valueType="num">
                                      <p:cBhvr additive="base">
                                        <p:cTn id="254" dur="500" fill="hold"/>
                                        <p:tgtEl>
                                          <p:spTgt spid="72"/>
                                        </p:tgtEl>
                                        <p:attrNameLst>
                                          <p:attrName>ppt_y</p:attrName>
                                        </p:attrNameLst>
                                      </p:cBhvr>
                                      <p:tavLst>
                                        <p:tav tm="0">
                                          <p:val>
                                            <p:strVal val="#ppt_y+0.1"/>
                                          </p:val>
                                        </p:tav>
                                        <p:tav tm="100000">
                                          <p:val>
                                            <p:strVal val="#ppt_y"/>
                                          </p:val>
                                        </p:tav>
                                      </p:tavLst>
                                    </p:anim>
                                    <p:animEffect transition="in" filter="fade">
                                      <p:cBhvr>
                                        <p:cTn id="255" dur="500"/>
                                        <p:tgtEl>
                                          <p:spTgt spid="72"/>
                                        </p:tgtEl>
                                      </p:cBhvr>
                                    </p:animEffect>
                                  </p:childTnLst>
                                </p:cTn>
                              </p:par>
                              <p:par>
                                <p:cTn id="261" presetID="2" presetClass="entr" presetSubtype="4" fill="hold" grpId="0" nodeType="withEffect">
                                  <p:stCondLst>
                                    <p:cond delay="0"/>
                                  </p:stCondLst>
                                  <p:childTnLst>
                                    <p:set>
                                      <p:cBhvr>
                                        <p:cTn id="257" dur="1" fill="hold">
                                          <p:stCondLst>
                                            <p:cond delay="0"/>
                                          </p:stCondLst>
                                        </p:cTn>
                                        <p:tgtEl>
                                          <p:spTgt spid="73"/>
                                        </p:tgtEl>
                                        <p:attrNameLst>
                                          <p:attrName>style.visibility</p:attrName>
                                        </p:attrNameLst>
                                      </p:cBhvr>
                                      <p:to>
                                        <p:strVal val="visible"/>
                                      </p:to>
                                    </p:set>
                                    <p:anim calcmode="lin" valueType="num">
                                      <p:cBhvr additive="base">
                                        <p:cTn id="258" dur="500" fill="hold"/>
                                        <p:tgtEl>
                                          <p:spTgt spid="73"/>
                                        </p:tgtEl>
                                        <p:attrNameLst>
                                          <p:attrName>ppt_x</p:attrName>
                                        </p:attrNameLst>
                                      </p:cBhvr>
                                      <p:tavLst>
                                        <p:tav tm="0">
                                          <p:val>
                                            <p:strVal val="#ppt_x"/>
                                          </p:val>
                                        </p:tav>
                                        <p:tav tm="100000">
                                          <p:val>
                                            <p:strVal val="#ppt_x"/>
                                          </p:val>
                                        </p:tav>
                                      </p:tavLst>
                                    </p:anim>
                                    <p:anim calcmode="lin" valueType="num">
                                      <p:cBhvr additive="base">
                                        <p:cTn id="259" dur="500" fill="hold"/>
                                        <p:tgtEl>
                                          <p:spTgt spid="73"/>
                                        </p:tgtEl>
                                        <p:attrNameLst>
                                          <p:attrName>ppt_y</p:attrName>
                                        </p:attrNameLst>
                                      </p:cBhvr>
                                      <p:tavLst>
                                        <p:tav tm="0">
                                          <p:val>
                                            <p:strVal val="#ppt_y+0.1"/>
                                          </p:val>
                                        </p:tav>
                                        <p:tav tm="100000">
                                          <p:val>
                                            <p:strVal val="#ppt_y"/>
                                          </p:val>
                                        </p:tav>
                                      </p:tavLst>
                                    </p:anim>
                                    <p:animEffect transition="in" filter="fade">
                                      <p:cBhvr>
                                        <p:cTn id="260" dur="500"/>
                                        <p:tgtEl>
                                          <p:spTgt spid="73"/>
                                        </p:tgtEl>
                                      </p:cBhvr>
                                    </p:animEffect>
                                  </p:childTnLst>
                                </p:cTn>
                              </p:par>
                              <p:par>
                                <p:cTn id="266" presetID="2" presetClass="entr" presetSubtype="4" fill="hold" grpId="0" nodeType="withEffect">
                                  <p:stCondLst>
                                    <p:cond delay="60"/>
                                  </p:stCondLst>
                                  <p:childTnLst>
                                    <p:set>
                                      <p:cBhvr>
                                        <p:cTn id="262" dur="1" fill="hold">
                                          <p:stCondLst>
                                            <p:cond delay="0"/>
                                          </p:stCondLst>
                                        </p:cTn>
                                        <p:tgtEl>
                                          <p:spTgt spid="74"/>
                                        </p:tgtEl>
                                        <p:attrNameLst>
                                          <p:attrName>style.visibility</p:attrName>
                                        </p:attrNameLst>
                                      </p:cBhvr>
                                      <p:to>
                                        <p:strVal val="visible"/>
                                      </p:to>
                                    </p:set>
                                    <p:anim calcmode="lin" valueType="num">
                                      <p:cBhvr additive="base">
                                        <p:cTn id="263" dur="500" fill="hold"/>
                                        <p:tgtEl>
                                          <p:spTgt spid="74"/>
                                        </p:tgtEl>
                                        <p:attrNameLst>
                                          <p:attrName>ppt_x</p:attrName>
                                        </p:attrNameLst>
                                      </p:cBhvr>
                                      <p:tavLst>
                                        <p:tav tm="0">
                                          <p:val>
                                            <p:strVal val="#ppt_x"/>
                                          </p:val>
                                        </p:tav>
                                        <p:tav tm="100000">
                                          <p:val>
                                            <p:strVal val="#ppt_x"/>
                                          </p:val>
                                        </p:tav>
                                      </p:tavLst>
                                    </p:anim>
                                    <p:anim calcmode="lin" valueType="num">
                                      <p:cBhvr additive="base">
                                        <p:cTn id="264" dur="500" fill="hold"/>
                                        <p:tgtEl>
                                          <p:spTgt spid="74"/>
                                        </p:tgtEl>
                                        <p:attrNameLst>
                                          <p:attrName>ppt_y</p:attrName>
                                        </p:attrNameLst>
                                      </p:cBhvr>
                                      <p:tavLst>
                                        <p:tav tm="0">
                                          <p:val>
                                            <p:strVal val="#ppt_y+0.1"/>
                                          </p:val>
                                        </p:tav>
                                        <p:tav tm="100000">
                                          <p:val>
                                            <p:strVal val="#ppt_y"/>
                                          </p:val>
                                        </p:tav>
                                      </p:tavLst>
                                    </p:anim>
                                    <p:animEffect transition="in" filter="fade">
                                      <p:cBhvr>
                                        <p:cTn id="265"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Before Kafka 4.0: ZooKeeper Kept the Metadata</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Older courses and docs show a second system beside the brokers - you no longer need it</a:t>
            </a:r>
          </a:p>
        </p:txBody>
      </p:sp>
      <p:sp>
        <p:nvSpPr>
          <p:cNvPr id="11" name="a0f_card10"/>
          <p:cNvSpPr/>
          <p:nvPr/>
        </p:nvSpPr>
        <p:spPr>
          <a:xfrm>
            <a:off x="457200" y="1280160"/>
            <a:ext cx="4206240" cy="2395728"/>
          </a:xfrm>
          <a:prstGeom prst="roundRect">
            <a:avLst>
              <a:gd name="adj" fmla="val 458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_ph11"/>
          <p:cNvSpPr txBox="1"/>
          <p:nvPr/>
        </p:nvSpPr>
        <p:spPr>
          <a:xfrm>
            <a:off x="640080" y="1371600"/>
            <a:ext cx="3840480" cy="237744"/>
          </a:xfrm>
          <a:prstGeom prst="rect">
            <a:avLst/>
          </a:prstGeom>
          <a:noFill/>
        </p:spPr>
        <p:txBody>
          <a:bodyPr wrap="square" lIns="0" tIns="0" rIns="0" bIns="0" anchor="ctr">
            <a:spAutoFit/>
          </a:bodyPr>
          <a:lstStyle/>
          <a:p>
            <a:pPr algn="l"/>
            <a:r>
              <a:rPr sz="850" b="1" spc="120">
                <a:solidFill>
                  <a:srgbClr val="78716C"/>
                </a:solidFill>
                <a:latin typeface="Segoe UI"/>
              </a:rPr>
              <a:t>BEFORE KAFKA 4.0  ·  ZOOKEEPER MODE</a:t>
            </a:r>
          </a:p>
        </p:txBody>
      </p:sp>
      <p:sp>
        <p:nvSpPr>
          <p:cNvPr id="13" name="a0f_nd12"/>
          <p:cNvSpPr/>
          <p:nvPr/>
        </p:nvSpPr>
        <p:spPr>
          <a:xfrm>
            <a:off x="685800" y="1719072"/>
            <a:ext cx="1143000" cy="502920"/>
          </a:xfrm>
          <a:prstGeom prst="roundRect">
            <a:avLst>
              <a:gd name="adj" fmla="val 14545"/>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f_ndt13"/>
          <p:cNvSpPr txBox="1"/>
          <p:nvPr/>
        </p:nvSpPr>
        <p:spPr>
          <a:xfrm>
            <a:off x="731520" y="1719072"/>
            <a:ext cx="1051560" cy="502920"/>
          </a:xfrm>
          <a:prstGeom prst="rect">
            <a:avLst/>
          </a:prstGeom>
          <a:noFill/>
        </p:spPr>
        <p:txBody>
          <a:bodyPr wrap="square" lIns="0" tIns="0" rIns="0" bIns="0" anchor="ctr">
            <a:spAutoFit/>
          </a:bodyPr>
          <a:lstStyle/>
          <a:p>
            <a:pPr algn="ctr"/>
            <a:r>
              <a:rPr sz="950" b="1">
                <a:solidFill>
                  <a:srgbClr val="1C1917"/>
                </a:solidFill>
                <a:latin typeface="Segoe UI"/>
              </a:rPr>
              <a:t>broker 1</a:t>
            </a:r>
          </a:p>
        </p:txBody>
      </p:sp>
      <p:cxnSp>
        <p:nvCxnSpPr>
          <p:cNvPr id="15" name="a0f_wr14"/>
          <p:cNvCxnSpPr/>
          <p:nvPr/>
        </p:nvCxnSpPr>
        <p:spPr>
          <a:xfrm>
            <a:off x="1257300" y="2240280"/>
            <a:ext cx="0" cy="502920"/>
          </a:xfrm>
          <a:prstGeom prst="line">
            <a:avLst/>
          </a:prstGeom>
          <a:ln w="15875">
            <a:solidFill>
              <a:srgbClr val="A16207"/>
            </a:solidFill>
            <a:prstDash val="dash"/>
          </a:ln>
        </p:spPr>
        <p:style>
          <a:lnRef idx="2">
            <a:schemeClr val="accent1"/>
          </a:lnRef>
          <a:fillRef idx="0">
            <a:schemeClr val="accent1"/>
          </a:fillRef>
          <a:effectRef idx="1">
            <a:schemeClr val="accent1"/>
          </a:effectRef>
          <a:fontRef idx="minor">
            <a:schemeClr val="tx1"/>
          </a:fontRef>
        </p:style>
      </p:cxnSp>
      <p:sp>
        <p:nvSpPr>
          <p:cNvPr id="16" name="a0f_nd15"/>
          <p:cNvSpPr/>
          <p:nvPr/>
        </p:nvSpPr>
        <p:spPr>
          <a:xfrm>
            <a:off x="1984248" y="1719072"/>
            <a:ext cx="1143000" cy="502920"/>
          </a:xfrm>
          <a:prstGeom prst="roundRect">
            <a:avLst>
              <a:gd name="adj" fmla="val 14545"/>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0f_ndt16"/>
          <p:cNvSpPr txBox="1"/>
          <p:nvPr/>
        </p:nvSpPr>
        <p:spPr>
          <a:xfrm>
            <a:off x="2029967" y="1719072"/>
            <a:ext cx="1051560" cy="502920"/>
          </a:xfrm>
          <a:prstGeom prst="rect">
            <a:avLst/>
          </a:prstGeom>
          <a:noFill/>
        </p:spPr>
        <p:txBody>
          <a:bodyPr wrap="square" lIns="0" tIns="0" rIns="0" bIns="0" anchor="ctr">
            <a:spAutoFit/>
          </a:bodyPr>
          <a:lstStyle/>
          <a:p>
            <a:pPr algn="ctr"/>
            <a:r>
              <a:rPr sz="950" b="1">
                <a:solidFill>
                  <a:srgbClr val="1C1917"/>
                </a:solidFill>
                <a:latin typeface="Segoe UI"/>
              </a:rPr>
              <a:t>broker 2</a:t>
            </a:r>
          </a:p>
        </p:txBody>
      </p:sp>
      <p:cxnSp>
        <p:nvCxnSpPr>
          <p:cNvPr id="18" name="a0f_wr17"/>
          <p:cNvCxnSpPr/>
          <p:nvPr/>
        </p:nvCxnSpPr>
        <p:spPr>
          <a:xfrm>
            <a:off x="2555748" y="2240280"/>
            <a:ext cx="0" cy="502920"/>
          </a:xfrm>
          <a:prstGeom prst="line">
            <a:avLst/>
          </a:prstGeom>
          <a:ln w="15875">
            <a:solidFill>
              <a:srgbClr val="A16207"/>
            </a:solidFill>
            <a:prstDash val="dash"/>
          </a:ln>
        </p:spPr>
        <p:style>
          <a:lnRef idx="2">
            <a:schemeClr val="accent1"/>
          </a:lnRef>
          <a:fillRef idx="0">
            <a:schemeClr val="accent1"/>
          </a:fillRef>
          <a:effectRef idx="1">
            <a:schemeClr val="accent1"/>
          </a:effectRef>
          <a:fontRef idx="minor">
            <a:schemeClr val="tx1"/>
          </a:fontRef>
        </p:style>
      </p:cxnSp>
      <p:sp>
        <p:nvSpPr>
          <p:cNvPr id="19" name="a0f_nd18"/>
          <p:cNvSpPr/>
          <p:nvPr/>
        </p:nvSpPr>
        <p:spPr>
          <a:xfrm>
            <a:off x="3282696" y="1719072"/>
            <a:ext cx="1143000" cy="502920"/>
          </a:xfrm>
          <a:prstGeom prst="roundRect">
            <a:avLst>
              <a:gd name="adj" fmla="val 14545"/>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f_ndt19"/>
          <p:cNvSpPr txBox="1"/>
          <p:nvPr/>
        </p:nvSpPr>
        <p:spPr>
          <a:xfrm>
            <a:off x="3328415" y="1719072"/>
            <a:ext cx="1051560" cy="502920"/>
          </a:xfrm>
          <a:prstGeom prst="rect">
            <a:avLst/>
          </a:prstGeom>
          <a:noFill/>
        </p:spPr>
        <p:txBody>
          <a:bodyPr wrap="square" lIns="0" tIns="0" rIns="0" bIns="0" anchor="ctr">
            <a:spAutoFit/>
          </a:bodyPr>
          <a:lstStyle/>
          <a:p>
            <a:pPr algn="ctr"/>
            <a:r>
              <a:rPr sz="950" b="1">
                <a:solidFill>
                  <a:srgbClr val="1C1917"/>
                </a:solidFill>
                <a:latin typeface="Segoe UI"/>
              </a:rPr>
              <a:t>broker 3</a:t>
            </a:r>
          </a:p>
        </p:txBody>
      </p:sp>
      <p:cxnSp>
        <p:nvCxnSpPr>
          <p:cNvPr id="21" name="a0f_wr20"/>
          <p:cNvCxnSpPr/>
          <p:nvPr/>
        </p:nvCxnSpPr>
        <p:spPr>
          <a:xfrm>
            <a:off x="3854196" y="2240280"/>
            <a:ext cx="0" cy="502920"/>
          </a:xfrm>
          <a:prstGeom prst="line">
            <a:avLst/>
          </a:prstGeom>
          <a:ln w="15875">
            <a:solidFill>
              <a:srgbClr val="A16207"/>
            </a:solidFill>
            <a:prstDash val="dash"/>
          </a:ln>
        </p:spPr>
        <p:style>
          <a:lnRef idx="2">
            <a:schemeClr val="accent1"/>
          </a:lnRef>
          <a:fillRef idx="0">
            <a:schemeClr val="accent1"/>
          </a:fillRef>
          <a:effectRef idx="1">
            <a:schemeClr val="accent1"/>
          </a:effectRef>
          <a:fontRef idx="minor">
            <a:schemeClr val="tx1"/>
          </a:fontRef>
        </p:style>
      </p:cxnSp>
      <p:sp>
        <p:nvSpPr>
          <p:cNvPr id="22" name="a0f_lb21"/>
          <p:cNvSpPr txBox="1"/>
          <p:nvPr/>
        </p:nvSpPr>
        <p:spPr>
          <a:xfrm>
            <a:off x="2624328" y="2377440"/>
            <a:ext cx="731520" cy="201168"/>
          </a:xfrm>
          <a:prstGeom prst="rect">
            <a:avLst/>
          </a:prstGeom>
          <a:noFill/>
        </p:spPr>
        <p:txBody>
          <a:bodyPr wrap="square" lIns="0" tIns="0" rIns="0" bIns="0" anchor="ctr">
            <a:spAutoFit/>
          </a:bodyPr>
          <a:lstStyle/>
          <a:p>
            <a:pPr algn="l"/>
            <a:r>
              <a:rPr sz="800" b="0">
                <a:solidFill>
                  <a:srgbClr val="A16207"/>
                </a:solidFill>
                <a:latin typeface="Segoe UI"/>
              </a:rPr>
              <a:t>metadata</a:t>
            </a:r>
          </a:p>
        </p:txBody>
      </p:sp>
      <p:sp>
        <p:nvSpPr>
          <p:cNvPr id="23" name="a0f_zk22"/>
          <p:cNvSpPr/>
          <p:nvPr/>
        </p:nvSpPr>
        <p:spPr>
          <a:xfrm>
            <a:off x="914400" y="2743200"/>
            <a:ext cx="3429000" cy="777240"/>
          </a:xfrm>
          <a:prstGeom prst="roundRect">
            <a:avLst>
              <a:gd name="adj" fmla="val 9411"/>
            </a:avLst>
          </a:prstGeom>
          <a:solidFill>
            <a:srgbClr val="FEF9C3"/>
          </a:solidFill>
          <a:ln w="1587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f_zkt23"/>
          <p:cNvSpPr txBox="1"/>
          <p:nvPr/>
        </p:nvSpPr>
        <p:spPr>
          <a:xfrm>
            <a:off x="1005840" y="2798064"/>
            <a:ext cx="3246120" cy="329184"/>
          </a:xfrm>
          <a:prstGeom prst="rect">
            <a:avLst/>
          </a:prstGeom>
          <a:noFill/>
        </p:spPr>
        <p:txBody>
          <a:bodyPr wrap="square" lIns="0" tIns="0" rIns="0" bIns="0" anchor="ctr">
            <a:spAutoFit/>
          </a:bodyPr>
          <a:lstStyle/>
          <a:p>
            <a:pPr algn="ctr"/>
            <a:r>
              <a:rPr sz="1100" b="1">
                <a:solidFill>
                  <a:srgbClr val="1C1917"/>
                </a:solidFill>
                <a:latin typeface="Segoe UI"/>
              </a:rPr>
              <a:t>Apache ZooKeeper</a:t>
            </a:r>
          </a:p>
        </p:txBody>
      </p:sp>
      <p:sp>
        <p:nvSpPr>
          <p:cNvPr id="25" name="a0f_zks24"/>
          <p:cNvSpPr txBox="1"/>
          <p:nvPr/>
        </p:nvSpPr>
        <p:spPr>
          <a:xfrm>
            <a:off x="1005840" y="3145536"/>
            <a:ext cx="3246120" cy="274320"/>
          </a:xfrm>
          <a:prstGeom prst="rect">
            <a:avLst/>
          </a:prstGeom>
          <a:noFill/>
        </p:spPr>
        <p:txBody>
          <a:bodyPr wrap="square" lIns="0" tIns="0" rIns="0" bIns="0" anchor="ctr">
            <a:spAutoFit/>
          </a:bodyPr>
          <a:lstStyle/>
          <a:p>
            <a:pPr algn="ctr"/>
            <a:r>
              <a:rPr sz="800" b="0">
                <a:solidFill>
                  <a:srgbClr val="A16207"/>
                </a:solidFill>
                <a:latin typeface="Segoe UI"/>
              </a:rPr>
              <a:t>a separate system with a consistent view of the metadata</a:t>
            </a:r>
          </a:p>
        </p:txBody>
      </p:sp>
      <p:sp>
        <p:nvSpPr>
          <p:cNvPr id="26" name="a2u_gone25"/>
          <p:cNvSpPr/>
          <p:nvPr/>
        </p:nvSpPr>
        <p:spPr>
          <a:xfrm>
            <a:off x="914400" y="2743200"/>
            <a:ext cx="3429000" cy="777240"/>
          </a:xfrm>
          <a:prstGeom prst="roundRect">
            <a:avLst>
              <a:gd name="adj" fmla="val 9411"/>
            </a:avLst>
          </a:prstGeom>
          <a:solidFill>
            <a:srgbClr val="FFE4E6"/>
          </a:solidFill>
          <a:ln w="19050">
            <a:solidFill>
              <a:srgbClr val="E11D4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2u_gonet26"/>
          <p:cNvSpPr txBox="1"/>
          <p:nvPr/>
        </p:nvSpPr>
        <p:spPr>
          <a:xfrm>
            <a:off x="1005840" y="2743200"/>
            <a:ext cx="3246120" cy="777240"/>
          </a:xfrm>
          <a:prstGeom prst="rect">
            <a:avLst/>
          </a:prstGeom>
          <a:noFill/>
        </p:spPr>
        <p:txBody>
          <a:bodyPr wrap="square" lIns="0" tIns="0" rIns="0" bIns="0" anchor="ctr">
            <a:spAutoFit/>
          </a:bodyPr>
          <a:lstStyle/>
          <a:p>
            <a:pPr algn="ctr"/>
            <a:r>
              <a:rPr sz="1100" b="1">
                <a:solidFill>
                  <a:srgbClr val="78716C"/>
                </a:solidFill>
                <a:latin typeface="Segoe UI"/>
              </a:rPr>
              <a:t>ZooKeeper</a:t>
            </a:r>
          </a:p>
          <a:p>
            <a:pPr algn="ctr"/>
            <a:r>
              <a:rPr sz="1000" b="1" spc="120">
                <a:solidFill>
                  <a:srgbClr val="9F1239"/>
                </a:solidFill>
                <a:latin typeface="Segoe UI"/>
              </a:rPr>
              <a:t>REMOVED IN KAFKA 4.0</a:t>
            </a:r>
          </a:p>
        </p:txBody>
      </p:sp>
      <p:sp>
        <p:nvSpPr>
          <p:cNvPr id="28" name="a1f_rh27"/>
          <p:cNvSpPr txBox="1"/>
          <p:nvPr/>
        </p:nvSpPr>
        <p:spPr>
          <a:xfrm>
            <a:off x="4937760" y="1280160"/>
            <a:ext cx="3749039" cy="237744"/>
          </a:xfrm>
          <a:prstGeom prst="rect">
            <a:avLst/>
          </a:prstGeom>
          <a:noFill/>
        </p:spPr>
        <p:txBody>
          <a:bodyPr wrap="square" lIns="0" tIns="0" rIns="0" bIns="0" anchor="ctr">
            <a:spAutoFit/>
          </a:bodyPr>
          <a:lstStyle/>
          <a:p>
            <a:pPr algn="l"/>
            <a:r>
              <a:rPr sz="850" b="1" spc="140">
                <a:solidFill>
                  <a:srgbClr val="C2410C"/>
                </a:solidFill>
                <a:latin typeface="Segoe UI"/>
              </a:rPr>
              <a:t>THE ROAD TO KRAFT</a:t>
            </a:r>
          </a:p>
        </p:txBody>
      </p:sp>
      <p:cxnSp>
        <p:nvCxnSpPr>
          <p:cNvPr id="29" name="a1f_rl28"/>
          <p:cNvCxnSpPr/>
          <p:nvPr/>
        </p:nvCxnSpPr>
        <p:spPr>
          <a:xfrm>
            <a:off x="5440680" y="1783080"/>
            <a:ext cx="0" cy="1508760"/>
          </a:xfrm>
          <a:prstGeom prst="line">
            <a:avLst/>
          </a:prstGeom>
          <a:ln w="25400">
            <a:solidFill>
              <a:srgbClr val="E7E5E0"/>
            </a:solidFill>
          </a:ln>
        </p:spPr>
        <p:style>
          <a:lnRef idx="2">
            <a:schemeClr val="accent1"/>
          </a:lnRef>
          <a:fillRef idx="0">
            <a:schemeClr val="accent1"/>
          </a:fillRef>
          <a:effectRef idx="1">
            <a:schemeClr val="accent1"/>
          </a:effectRef>
          <a:fontRef idx="minor">
            <a:schemeClr val="tx1"/>
          </a:fontRef>
        </p:style>
      </p:cxnSp>
      <p:sp>
        <p:nvSpPr>
          <p:cNvPr id="30" name="a1ud120_pill29"/>
          <p:cNvSpPr/>
          <p:nvPr/>
        </p:nvSpPr>
        <p:spPr>
          <a:xfrm>
            <a:off x="4937760" y="1645920"/>
            <a:ext cx="1005840" cy="274320"/>
          </a:xfrm>
          <a:prstGeom prst="roundRect">
            <a:avLst>
              <a:gd name="adj" fmla="val 5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4403C"/>
                </a:solidFill>
                <a:latin typeface="Consolas"/>
              </a:rPr>
              <a:t>2.8 · 2021</a:t>
            </a:r>
          </a:p>
        </p:txBody>
      </p:sp>
      <p:sp>
        <p:nvSpPr>
          <p:cNvPr id="31" name="a1ud120_rt30"/>
          <p:cNvSpPr txBox="1"/>
          <p:nvPr/>
        </p:nvSpPr>
        <p:spPr>
          <a:xfrm>
            <a:off x="6108192" y="1645920"/>
            <a:ext cx="2578608" cy="274320"/>
          </a:xfrm>
          <a:prstGeom prst="rect">
            <a:avLst/>
          </a:prstGeom>
          <a:noFill/>
        </p:spPr>
        <p:txBody>
          <a:bodyPr wrap="square" lIns="0" tIns="0" rIns="0" bIns="0" anchor="ctr">
            <a:spAutoFit/>
          </a:bodyPr>
          <a:lstStyle/>
          <a:p>
            <a:pPr algn="l"/>
            <a:r>
              <a:rPr sz="950" b="0">
                <a:solidFill>
                  <a:srgbClr val="44403C"/>
                </a:solidFill>
                <a:latin typeface="Segoe UI"/>
              </a:rPr>
              <a:t>KRaft mode in early access</a:t>
            </a:r>
          </a:p>
        </p:txBody>
      </p:sp>
      <p:sp>
        <p:nvSpPr>
          <p:cNvPr id="32" name="a1ud270_pill31"/>
          <p:cNvSpPr/>
          <p:nvPr/>
        </p:nvSpPr>
        <p:spPr>
          <a:xfrm>
            <a:off x="4937760" y="2157984"/>
            <a:ext cx="1005840" cy="274320"/>
          </a:xfrm>
          <a:prstGeom prst="roundRect">
            <a:avLst>
              <a:gd name="adj" fmla="val 5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4403C"/>
                </a:solidFill>
                <a:latin typeface="Consolas"/>
              </a:rPr>
              <a:t>3.3 · 2022</a:t>
            </a:r>
          </a:p>
        </p:txBody>
      </p:sp>
      <p:sp>
        <p:nvSpPr>
          <p:cNvPr id="33" name="a1ud270_rt32"/>
          <p:cNvSpPr txBox="1"/>
          <p:nvPr/>
        </p:nvSpPr>
        <p:spPr>
          <a:xfrm>
            <a:off x="6108192" y="2157984"/>
            <a:ext cx="2578608" cy="274320"/>
          </a:xfrm>
          <a:prstGeom prst="rect">
            <a:avLst/>
          </a:prstGeom>
          <a:noFill/>
        </p:spPr>
        <p:txBody>
          <a:bodyPr wrap="square" lIns="0" tIns="0" rIns="0" bIns="0" anchor="ctr">
            <a:spAutoFit/>
          </a:bodyPr>
          <a:lstStyle/>
          <a:p>
            <a:pPr algn="l"/>
            <a:r>
              <a:rPr sz="950" b="0">
                <a:solidFill>
                  <a:srgbClr val="44403C"/>
                </a:solidFill>
                <a:latin typeface="Segoe UI"/>
              </a:rPr>
              <a:t>KRaft ready for production</a:t>
            </a:r>
          </a:p>
        </p:txBody>
      </p:sp>
      <p:sp>
        <p:nvSpPr>
          <p:cNvPr id="34" name="a1ud420_pill33"/>
          <p:cNvSpPr/>
          <p:nvPr/>
        </p:nvSpPr>
        <p:spPr>
          <a:xfrm>
            <a:off x="4937760" y="2670048"/>
            <a:ext cx="1005840" cy="274320"/>
          </a:xfrm>
          <a:prstGeom prst="roundRect">
            <a:avLst>
              <a:gd name="adj" fmla="val 5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4403C"/>
                </a:solidFill>
                <a:latin typeface="Consolas"/>
              </a:rPr>
              <a:t>3.5 · 2023</a:t>
            </a:r>
          </a:p>
        </p:txBody>
      </p:sp>
      <p:sp>
        <p:nvSpPr>
          <p:cNvPr id="35" name="a1ud420_rt34"/>
          <p:cNvSpPr txBox="1"/>
          <p:nvPr/>
        </p:nvSpPr>
        <p:spPr>
          <a:xfrm>
            <a:off x="6108192" y="2670048"/>
            <a:ext cx="2578608" cy="274320"/>
          </a:xfrm>
          <a:prstGeom prst="rect">
            <a:avLst/>
          </a:prstGeom>
          <a:noFill/>
        </p:spPr>
        <p:txBody>
          <a:bodyPr wrap="square" lIns="0" tIns="0" rIns="0" bIns="0" anchor="ctr">
            <a:spAutoFit/>
          </a:bodyPr>
          <a:lstStyle/>
          <a:p>
            <a:pPr algn="l"/>
            <a:r>
              <a:rPr sz="950" b="0">
                <a:solidFill>
                  <a:srgbClr val="44403C"/>
                </a:solidFill>
                <a:latin typeface="Segoe UI"/>
              </a:rPr>
              <a:t>ZooKeeper mode deprecated</a:t>
            </a:r>
          </a:p>
        </p:txBody>
      </p:sp>
      <p:sp>
        <p:nvSpPr>
          <p:cNvPr id="36" name="a1ud570_pill35"/>
          <p:cNvSpPr/>
          <p:nvPr/>
        </p:nvSpPr>
        <p:spPr>
          <a:xfrm>
            <a:off x="4937760" y="3182112"/>
            <a:ext cx="1005840" cy="274320"/>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FFFFFF"/>
                </a:solidFill>
                <a:latin typeface="Consolas"/>
              </a:rPr>
              <a:t>4.0 · 2025</a:t>
            </a:r>
          </a:p>
        </p:txBody>
      </p:sp>
      <p:sp>
        <p:nvSpPr>
          <p:cNvPr id="37" name="a1ud570_rt36"/>
          <p:cNvSpPr txBox="1"/>
          <p:nvPr/>
        </p:nvSpPr>
        <p:spPr>
          <a:xfrm>
            <a:off x="6108192" y="3182112"/>
            <a:ext cx="2578608" cy="274320"/>
          </a:xfrm>
          <a:prstGeom prst="rect">
            <a:avLst/>
          </a:prstGeom>
          <a:noFill/>
        </p:spPr>
        <p:txBody>
          <a:bodyPr wrap="square" lIns="0" tIns="0" rIns="0" bIns="0" anchor="ctr">
            <a:spAutoFit/>
          </a:bodyPr>
          <a:lstStyle/>
          <a:p>
            <a:pPr algn="l"/>
            <a:r>
              <a:rPr sz="950" b="1">
                <a:solidFill>
                  <a:srgbClr val="C2410C"/>
                </a:solidFill>
                <a:latin typeface="Segoe UI"/>
              </a:rPr>
              <a:t>ZooKeeper removed - KRaft only</a:t>
            </a:r>
          </a:p>
        </p:txBody>
      </p:sp>
      <p:sp>
        <p:nvSpPr>
          <p:cNvPr id="38" name="a3u_nb37"/>
          <p:cNvSpPr/>
          <p:nvPr/>
        </p:nvSpPr>
        <p:spPr>
          <a:xfrm>
            <a:off x="457200" y="3886200"/>
            <a:ext cx="8229600" cy="566928"/>
          </a:xfrm>
          <a:prstGeom prst="roundRect">
            <a:avLst>
              <a:gd name="adj" fmla="val 12903"/>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3u_nacc38"/>
          <p:cNvSpPr/>
          <p:nvPr/>
        </p:nvSpPr>
        <p:spPr>
          <a:xfrm>
            <a:off x="457200" y="3886200"/>
            <a:ext cx="54864" cy="566928"/>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3u_nt39"/>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A16207"/>
                </a:solidFill>
                <a:latin typeface="Segoe UI"/>
              </a:rPr>
              <a:t>!  </a:t>
            </a:r>
            <a:r>
              <a:rPr sz="950" b="0">
                <a:solidFill>
                  <a:srgbClr val="44403C"/>
                </a:solidFill>
                <a:latin typeface="Segoe UI"/>
              </a:rPr>
              <a:t>Seeing ZooKeeper in older material? As of Kafka 4.0 it is not included, and there is no option to use it.</a:t>
            </a:r>
          </a:p>
        </p:txBody>
      </p:sp>
      <p:sp>
        <p:nvSpPr>
          <p:cNvPr id="41" name="ft4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09</a:t>
            </a:r>
          </a:p>
        </p:txBody>
      </p:sp>
      <p:sp>
        <p:nvSpPr>
          <p:cNvPr id="42" name="ft4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ft4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Brokers</a:t>
            </a:r>
          </a:p>
        </p:txBody>
      </p:sp>
      <p:sp>
        <p:nvSpPr>
          <p:cNvPr id="44" name="ft4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childTnLst>
                          </p:cTn>
                        </p:par>
                      </p:childTnLst>
                    </p:cTn>
                  </p:par>
                  <p:par>
                    <p:cTn id="50" fill="hold">
                      <p:stCondLst>
                        <p:cond delay="indefinite"/>
                      </p:stCondLst>
                      <p:childTnLst>
                        <p:par>
                          <p:cTn id="51" fill="hold">
                            <p:stCondLst>
                              <p:cond delay="0"/>
                            </p:stCondLst>
                            <p:childTnLst>
                              <p:par>
                                <p:cTn id="54" presetID="10"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500"/>
                                        <p:tgtEl>
                                          <p:spTgt spid="28"/>
                                        </p:tgtEl>
                                      </p:cBhvr>
                                    </p:animEffect>
                                  </p:childTnLst>
                                </p:cTn>
                              </p:par>
                              <p:par>
                                <p:cTn id="57" presetID="10" presetClass="entr" presetSubtype="0" fill="hold" grpId="0" nodeType="with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fade">
                                      <p:cBhvr>
                                        <p:cTn id="56" dur="500"/>
                                        <p:tgtEl>
                                          <p:spTgt spid="29"/>
                                        </p:tgtEl>
                                      </p:cBhvr>
                                    </p:animEffect>
                                  </p:childTnLst>
                                </p:cTn>
                              </p:par>
                              <p:par>
                                <p:cTn id="62" presetID="2" presetClass="entr" presetSubtype="4" fill="hold" grpId="0" nodeType="withEffect">
                                  <p:stCondLst>
                                    <p:cond delay="120"/>
                                  </p:stCondLst>
                                  <p:childTnLst>
                                    <p:set>
                                      <p:cBhvr>
                                        <p:cTn id="58" dur="1" fill="hold">
                                          <p:stCondLst>
                                            <p:cond delay="0"/>
                                          </p:stCondLst>
                                        </p:cTn>
                                        <p:tgtEl>
                                          <p:spTgt spid="30"/>
                                        </p:tgtEl>
                                        <p:attrNameLst>
                                          <p:attrName>style.visibility</p:attrName>
                                        </p:attrNameLst>
                                      </p:cBhvr>
                                      <p:to>
                                        <p:strVal val="visible"/>
                                      </p:to>
                                    </p:set>
                                    <p:anim calcmode="lin" valueType="num">
                                      <p:cBhvr additive="base">
                                        <p:cTn id="59" dur="500" fill="hold"/>
                                        <p:tgtEl>
                                          <p:spTgt spid="30"/>
                                        </p:tgtEl>
                                        <p:attrNameLst>
                                          <p:attrName>ppt_x</p:attrName>
                                        </p:attrNameLst>
                                      </p:cBhvr>
                                      <p:tavLst>
                                        <p:tav tm="0">
                                          <p:val>
                                            <p:strVal val="#ppt_x"/>
                                          </p:val>
                                        </p:tav>
                                        <p:tav tm="100000">
                                          <p:val>
                                            <p:strVal val="#ppt_x"/>
                                          </p:val>
                                        </p:tav>
                                      </p:tavLst>
                                    </p:anim>
                                    <p:anim calcmode="lin" valueType="num">
                                      <p:cBhvr additive="base">
                                        <p:cTn id="60" dur="500" fill="hold"/>
                                        <p:tgtEl>
                                          <p:spTgt spid="30"/>
                                        </p:tgtEl>
                                        <p:attrNameLst>
                                          <p:attrName>ppt_y</p:attrName>
                                        </p:attrNameLst>
                                      </p:cBhvr>
                                      <p:tavLst>
                                        <p:tav tm="0">
                                          <p:val>
                                            <p:strVal val="#ppt_y+0.1"/>
                                          </p:val>
                                        </p:tav>
                                        <p:tav tm="100000">
                                          <p:val>
                                            <p:strVal val="#ppt_y"/>
                                          </p:val>
                                        </p:tav>
                                      </p:tavLst>
                                    </p:anim>
                                    <p:animEffect transition="in" filter="fade">
                                      <p:cBhvr>
                                        <p:cTn id="61" dur="500"/>
                                        <p:tgtEl>
                                          <p:spTgt spid="30"/>
                                        </p:tgtEl>
                                      </p:cBhvr>
                                    </p:animEffect>
                                  </p:childTnLst>
                                </p:cTn>
                              </p:par>
                              <p:par>
                                <p:cTn id="67" presetID="2" presetClass="entr" presetSubtype="4" fill="hold" grpId="0" nodeType="withEffect">
                                  <p:stCondLst>
                                    <p:cond delay="120"/>
                                  </p:stCondLst>
                                  <p:childTnLst>
                                    <p:set>
                                      <p:cBhvr>
                                        <p:cTn id="63" dur="1" fill="hold">
                                          <p:stCondLst>
                                            <p:cond delay="0"/>
                                          </p:stCondLst>
                                        </p:cTn>
                                        <p:tgtEl>
                                          <p:spTgt spid="31"/>
                                        </p:tgtEl>
                                        <p:attrNameLst>
                                          <p:attrName>style.visibility</p:attrName>
                                        </p:attrNameLst>
                                      </p:cBhvr>
                                      <p:to>
                                        <p:strVal val="visible"/>
                                      </p:to>
                                    </p:set>
                                    <p:anim calcmode="lin" valueType="num">
                                      <p:cBhvr additive="base">
                                        <p:cTn id="64" dur="500" fill="hold"/>
                                        <p:tgtEl>
                                          <p:spTgt spid="31"/>
                                        </p:tgtEl>
                                        <p:attrNameLst>
                                          <p:attrName>ppt_x</p:attrName>
                                        </p:attrNameLst>
                                      </p:cBhvr>
                                      <p:tavLst>
                                        <p:tav tm="0">
                                          <p:val>
                                            <p:strVal val="#ppt_x"/>
                                          </p:val>
                                        </p:tav>
                                        <p:tav tm="100000">
                                          <p:val>
                                            <p:strVal val="#ppt_x"/>
                                          </p:val>
                                        </p:tav>
                                      </p:tavLst>
                                    </p:anim>
                                    <p:anim calcmode="lin" valueType="num">
                                      <p:cBhvr additive="base">
                                        <p:cTn id="65" dur="500" fill="hold"/>
                                        <p:tgtEl>
                                          <p:spTgt spid="31"/>
                                        </p:tgtEl>
                                        <p:attrNameLst>
                                          <p:attrName>ppt_y</p:attrName>
                                        </p:attrNameLst>
                                      </p:cBhvr>
                                      <p:tavLst>
                                        <p:tav tm="0">
                                          <p:val>
                                            <p:strVal val="#ppt_y+0.1"/>
                                          </p:val>
                                        </p:tav>
                                        <p:tav tm="100000">
                                          <p:val>
                                            <p:strVal val="#ppt_y"/>
                                          </p:val>
                                        </p:tav>
                                      </p:tavLst>
                                    </p:anim>
                                    <p:animEffect transition="in" filter="fade">
                                      <p:cBhvr>
                                        <p:cTn id="66" dur="500"/>
                                        <p:tgtEl>
                                          <p:spTgt spid="31"/>
                                        </p:tgtEl>
                                      </p:cBhvr>
                                    </p:animEffect>
                                  </p:childTnLst>
                                </p:cTn>
                              </p:par>
                              <p:par>
                                <p:cTn id="72" presetID="2" presetClass="entr" presetSubtype="4" fill="hold" grpId="0" nodeType="withEffect">
                                  <p:stCondLst>
                                    <p:cond delay="270"/>
                                  </p:stCondLst>
                                  <p:childTnLst>
                                    <p:set>
                                      <p:cBhvr>
                                        <p:cTn id="68" dur="1" fill="hold">
                                          <p:stCondLst>
                                            <p:cond delay="0"/>
                                          </p:stCondLst>
                                        </p:cTn>
                                        <p:tgtEl>
                                          <p:spTgt spid="32"/>
                                        </p:tgtEl>
                                        <p:attrNameLst>
                                          <p:attrName>style.visibility</p:attrName>
                                        </p:attrNameLst>
                                      </p:cBhvr>
                                      <p:to>
                                        <p:strVal val="visible"/>
                                      </p:to>
                                    </p:set>
                                    <p:anim calcmode="lin" valueType="num">
                                      <p:cBhvr additive="base">
                                        <p:cTn id="69" dur="500" fill="hold"/>
                                        <p:tgtEl>
                                          <p:spTgt spid="32"/>
                                        </p:tgtEl>
                                        <p:attrNameLst>
                                          <p:attrName>ppt_x</p:attrName>
                                        </p:attrNameLst>
                                      </p:cBhvr>
                                      <p:tavLst>
                                        <p:tav tm="0">
                                          <p:val>
                                            <p:strVal val="#ppt_x"/>
                                          </p:val>
                                        </p:tav>
                                        <p:tav tm="100000">
                                          <p:val>
                                            <p:strVal val="#ppt_x"/>
                                          </p:val>
                                        </p:tav>
                                      </p:tavLst>
                                    </p:anim>
                                    <p:anim calcmode="lin" valueType="num">
                                      <p:cBhvr additive="base">
                                        <p:cTn id="70" dur="500" fill="hold"/>
                                        <p:tgtEl>
                                          <p:spTgt spid="32"/>
                                        </p:tgtEl>
                                        <p:attrNameLst>
                                          <p:attrName>ppt_y</p:attrName>
                                        </p:attrNameLst>
                                      </p:cBhvr>
                                      <p:tavLst>
                                        <p:tav tm="0">
                                          <p:val>
                                            <p:strVal val="#ppt_y+0.1"/>
                                          </p:val>
                                        </p:tav>
                                        <p:tav tm="100000">
                                          <p:val>
                                            <p:strVal val="#ppt_y"/>
                                          </p:val>
                                        </p:tav>
                                      </p:tavLst>
                                    </p:anim>
                                    <p:animEffect transition="in" filter="fade">
                                      <p:cBhvr>
                                        <p:cTn id="71" dur="500"/>
                                        <p:tgtEl>
                                          <p:spTgt spid="32"/>
                                        </p:tgtEl>
                                      </p:cBhvr>
                                    </p:animEffect>
                                  </p:childTnLst>
                                </p:cTn>
                              </p:par>
                              <p:par>
                                <p:cTn id="77" presetID="2" presetClass="entr" presetSubtype="4" fill="hold" grpId="0" nodeType="withEffect">
                                  <p:stCondLst>
                                    <p:cond delay="270"/>
                                  </p:stCondLst>
                                  <p:childTnLst>
                                    <p:set>
                                      <p:cBhvr>
                                        <p:cTn id="73" dur="1" fill="hold">
                                          <p:stCondLst>
                                            <p:cond delay="0"/>
                                          </p:stCondLst>
                                        </p:cTn>
                                        <p:tgtEl>
                                          <p:spTgt spid="33"/>
                                        </p:tgtEl>
                                        <p:attrNameLst>
                                          <p:attrName>style.visibility</p:attrName>
                                        </p:attrNameLst>
                                      </p:cBhvr>
                                      <p:to>
                                        <p:strVal val="visible"/>
                                      </p:to>
                                    </p:set>
                                    <p:anim calcmode="lin" valueType="num">
                                      <p:cBhvr additive="base">
                                        <p:cTn id="74" dur="500" fill="hold"/>
                                        <p:tgtEl>
                                          <p:spTgt spid="33"/>
                                        </p:tgtEl>
                                        <p:attrNameLst>
                                          <p:attrName>ppt_x</p:attrName>
                                        </p:attrNameLst>
                                      </p:cBhvr>
                                      <p:tavLst>
                                        <p:tav tm="0">
                                          <p:val>
                                            <p:strVal val="#ppt_x"/>
                                          </p:val>
                                        </p:tav>
                                        <p:tav tm="100000">
                                          <p:val>
                                            <p:strVal val="#ppt_x"/>
                                          </p:val>
                                        </p:tav>
                                      </p:tavLst>
                                    </p:anim>
                                    <p:anim calcmode="lin" valueType="num">
                                      <p:cBhvr additive="base">
                                        <p:cTn id="75" dur="500" fill="hold"/>
                                        <p:tgtEl>
                                          <p:spTgt spid="33"/>
                                        </p:tgtEl>
                                        <p:attrNameLst>
                                          <p:attrName>ppt_y</p:attrName>
                                        </p:attrNameLst>
                                      </p:cBhvr>
                                      <p:tavLst>
                                        <p:tav tm="0">
                                          <p:val>
                                            <p:strVal val="#ppt_y+0.1"/>
                                          </p:val>
                                        </p:tav>
                                        <p:tav tm="100000">
                                          <p:val>
                                            <p:strVal val="#ppt_y"/>
                                          </p:val>
                                        </p:tav>
                                      </p:tavLst>
                                    </p:anim>
                                    <p:animEffect transition="in" filter="fade">
                                      <p:cBhvr>
                                        <p:cTn id="76" dur="500"/>
                                        <p:tgtEl>
                                          <p:spTgt spid="33"/>
                                        </p:tgtEl>
                                      </p:cBhvr>
                                    </p:animEffect>
                                  </p:childTnLst>
                                </p:cTn>
                              </p:par>
                              <p:par>
                                <p:cTn id="82" presetID="2" presetClass="entr" presetSubtype="4" fill="hold" grpId="0" nodeType="withEffect">
                                  <p:stCondLst>
                                    <p:cond delay="420"/>
                                  </p:stCondLst>
                                  <p:childTnLst>
                                    <p:set>
                                      <p:cBhvr>
                                        <p:cTn id="78" dur="1" fill="hold">
                                          <p:stCondLst>
                                            <p:cond delay="0"/>
                                          </p:stCondLst>
                                        </p:cTn>
                                        <p:tgtEl>
                                          <p:spTgt spid="34"/>
                                        </p:tgtEl>
                                        <p:attrNameLst>
                                          <p:attrName>style.visibility</p:attrName>
                                        </p:attrNameLst>
                                      </p:cBhvr>
                                      <p:to>
                                        <p:strVal val="visible"/>
                                      </p:to>
                                    </p:set>
                                    <p:anim calcmode="lin" valueType="num">
                                      <p:cBhvr additive="base">
                                        <p:cTn id="79" dur="500" fill="hold"/>
                                        <p:tgtEl>
                                          <p:spTgt spid="34"/>
                                        </p:tgtEl>
                                        <p:attrNameLst>
                                          <p:attrName>ppt_x</p:attrName>
                                        </p:attrNameLst>
                                      </p:cBhvr>
                                      <p:tavLst>
                                        <p:tav tm="0">
                                          <p:val>
                                            <p:strVal val="#ppt_x"/>
                                          </p:val>
                                        </p:tav>
                                        <p:tav tm="100000">
                                          <p:val>
                                            <p:strVal val="#ppt_x"/>
                                          </p:val>
                                        </p:tav>
                                      </p:tavLst>
                                    </p:anim>
                                    <p:anim calcmode="lin" valueType="num">
                                      <p:cBhvr additive="base">
                                        <p:cTn id="80" dur="500" fill="hold"/>
                                        <p:tgtEl>
                                          <p:spTgt spid="34"/>
                                        </p:tgtEl>
                                        <p:attrNameLst>
                                          <p:attrName>ppt_y</p:attrName>
                                        </p:attrNameLst>
                                      </p:cBhvr>
                                      <p:tavLst>
                                        <p:tav tm="0">
                                          <p:val>
                                            <p:strVal val="#ppt_y+0.1"/>
                                          </p:val>
                                        </p:tav>
                                        <p:tav tm="100000">
                                          <p:val>
                                            <p:strVal val="#ppt_y"/>
                                          </p:val>
                                        </p:tav>
                                      </p:tavLst>
                                    </p:anim>
                                    <p:animEffect transition="in" filter="fade">
                                      <p:cBhvr>
                                        <p:cTn id="81" dur="500"/>
                                        <p:tgtEl>
                                          <p:spTgt spid="34"/>
                                        </p:tgtEl>
                                      </p:cBhvr>
                                    </p:animEffect>
                                  </p:childTnLst>
                                </p:cTn>
                              </p:par>
                              <p:par>
                                <p:cTn id="87" presetID="2" presetClass="entr" presetSubtype="4" fill="hold" grpId="0" nodeType="withEffect">
                                  <p:stCondLst>
                                    <p:cond delay="420"/>
                                  </p:stCondLst>
                                  <p:childTnLst>
                                    <p:set>
                                      <p:cBhvr>
                                        <p:cTn id="83" dur="1" fill="hold">
                                          <p:stCondLst>
                                            <p:cond delay="0"/>
                                          </p:stCondLst>
                                        </p:cTn>
                                        <p:tgtEl>
                                          <p:spTgt spid="35"/>
                                        </p:tgtEl>
                                        <p:attrNameLst>
                                          <p:attrName>style.visibility</p:attrName>
                                        </p:attrNameLst>
                                      </p:cBhvr>
                                      <p:to>
                                        <p:strVal val="visible"/>
                                      </p:to>
                                    </p:set>
                                    <p:anim calcmode="lin" valueType="num">
                                      <p:cBhvr additive="base">
                                        <p:cTn id="84" dur="500" fill="hold"/>
                                        <p:tgtEl>
                                          <p:spTgt spid="35"/>
                                        </p:tgtEl>
                                        <p:attrNameLst>
                                          <p:attrName>ppt_x</p:attrName>
                                        </p:attrNameLst>
                                      </p:cBhvr>
                                      <p:tavLst>
                                        <p:tav tm="0">
                                          <p:val>
                                            <p:strVal val="#ppt_x"/>
                                          </p:val>
                                        </p:tav>
                                        <p:tav tm="100000">
                                          <p:val>
                                            <p:strVal val="#ppt_x"/>
                                          </p:val>
                                        </p:tav>
                                      </p:tavLst>
                                    </p:anim>
                                    <p:anim calcmode="lin" valueType="num">
                                      <p:cBhvr additive="base">
                                        <p:cTn id="85" dur="500" fill="hold"/>
                                        <p:tgtEl>
                                          <p:spTgt spid="35"/>
                                        </p:tgtEl>
                                        <p:attrNameLst>
                                          <p:attrName>ppt_y</p:attrName>
                                        </p:attrNameLst>
                                      </p:cBhvr>
                                      <p:tavLst>
                                        <p:tav tm="0">
                                          <p:val>
                                            <p:strVal val="#ppt_y+0.1"/>
                                          </p:val>
                                        </p:tav>
                                        <p:tav tm="100000">
                                          <p:val>
                                            <p:strVal val="#ppt_y"/>
                                          </p:val>
                                        </p:tav>
                                      </p:tavLst>
                                    </p:anim>
                                    <p:animEffect transition="in" filter="fade">
                                      <p:cBhvr>
                                        <p:cTn id="86" dur="500"/>
                                        <p:tgtEl>
                                          <p:spTgt spid="35"/>
                                        </p:tgtEl>
                                      </p:cBhvr>
                                    </p:animEffect>
                                  </p:childTnLst>
                                </p:cTn>
                              </p:par>
                              <p:par>
                                <p:cTn id="92" presetID="2" presetClass="entr" presetSubtype="4" fill="hold" grpId="0" nodeType="withEffect">
                                  <p:stCondLst>
                                    <p:cond delay="570"/>
                                  </p:stCondLst>
                                  <p:childTnLst>
                                    <p:set>
                                      <p:cBhvr>
                                        <p:cTn id="88" dur="1" fill="hold">
                                          <p:stCondLst>
                                            <p:cond delay="0"/>
                                          </p:stCondLst>
                                        </p:cTn>
                                        <p:tgtEl>
                                          <p:spTgt spid="36"/>
                                        </p:tgtEl>
                                        <p:attrNameLst>
                                          <p:attrName>style.visibility</p:attrName>
                                        </p:attrNameLst>
                                      </p:cBhvr>
                                      <p:to>
                                        <p:strVal val="visible"/>
                                      </p:to>
                                    </p:set>
                                    <p:anim calcmode="lin" valueType="num">
                                      <p:cBhvr additive="base">
                                        <p:cTn id="89" dur="500" fill="hold"/>
                                        <p:tgtEl>
                                          <p:spTgt spid="36"/>
                                        </p:tgtEl>
                                        <p:attrNameLst>
                                          <p:attrName>ppt_x</p:attrName>
                                        </p:attrNameLst>
                                      </p:cBhvr>
                                      <p:tavLst>
                                        <p:tav tm="0">
                                          <p:val>
                                            <p:strVal val="#ppt_x"/>
                                          </p:val>
                                        </p:tav>
                                        <p:tav tm="100000">
                                          <p:val>
                                            <p:strVal val="#ppt_x"/>
                                          </p:val>
                                        </p:tav>
                                      </p:tavLst>
                                    </p:anim>
                                    <p:anim calcmode="lin" valueType="num">
                                      <p:cBhvr additive="base">
                                        <p:cTn id="90" dur="500" fill="hold"/>
                                        <p:tgtEl>
                                          <p:spTgt spid="36"/>
                                        </p:tgtEl>
                                        <p:attrNameLst>
                                          <p:attrName>ppt_y</p:attrName>
                                        </p:attrNameLst>
                                      </p:cBhvr>
                                      <p:tavLst>
                                        <p:tav tm="0">
                                          <p:val>
                                            <p:strVal val="#ppt_y+0.1"/>
                                          </p:val>
                                        </p:tav>
                                        <p:tav tm="100000">
                                          <p:val>
                                            <p:strVal val="#ppt_y"/>
                                          </p:val>
                                        </p:tav>
                                      </p:tavLst>
                                    </p:anim>
                                    <p:animEffect transition="in" filter="fade">
                                      <p:cBhvr>
                                        <p:cTn id="91" dur="500"/>
                                        <p:tgtEl>
                                          <p:spTgt spid="36"/>
                                        </p:tgtEl>
                                      </p:cBhvr>
                                    </p:animEffect>
                                  </p:childTnLst>
                                </p:cTn>
                              </p:par>
                              <p:par>
                                <p:cTn id="97" presetID="2" presetClass="entr" presetSubtype="4" fill="hold" grpId="0" nodeType="withEffect">
                                  <p:stCondLst>
                                    <p:cond delay="570"/>
                                  </p:stCondLst>
                                  <p:childTnLst>
                                    <p:set>
                                      <p:cBhvr>
                                        <p:cTn id="93" dur="1" fill="hold">
                                          <p:stCondLst>
                                            <p:cond delay="0"/>
                                          </p:stCondLst>
                                        </p:cTn>
                                        <p:tgtEl>
                                          <p:spTgt spid="37"/>
                                        </p:tgtEl>
                                        <p:attrNameLst>
                                          <p:attrName>style.visibility</p:attrName>
                                        </p:attrNameLst>
                                      </p:cBhvr>
                                      <p:to>
                                        <p:strVal val="visible"/>
                                      </p:to>
                                    </p:set>
                                    <p:anim calcmode="lin" valueType="num">
                                      <p:cBhvr additive="base">
                                        <p:cTn id="94" dur="500" fill="hold"/>
                                        <p:tgtEl>
                                          <p:spTgt spid="37"/>
                                        </p:tgtEl>
                                        <p:attrNameLst>
                                          <p:attrName>ppt_x</p:attrName>
                                        </p:attrNameLst>
                                      </p:cBhvr>
                                      <p:tavLst>
                                        <p:tav tm="0">
                                          <p:val>
                                            <p:strVal val="#ppt_x"/>
                                          </p:val>
                                        </p:tav>
                                        <p:tav tm="100000">
                                          <p:val>
                                            <p:strVal val="#ppt_x"/>
                                          </p:val>
                                        </p:tav>
                                      </p:tavLst>
                                    </p:anim>
                                    <p:anim calcmode="lin" valueType="num">
                                      <p:cBhvr additive="base">
                                        <p:cTn id="95" dur="500" fill="hold"/>
                                        <p:tgtEl>
                                          <p:spTgt spid="37"/>
                                        </p:tgtEl>
                                        <p:attrNameLst>
                                          <p:attrName>ppt_y</p:attrName>
                                        </p:attrNameLst>
                                      </p:cBhvr>
                                      <p:tavLst>
                                        <p:tav tm="0">
                                          <p:val>
                                            <p:strVal val="#ppt_y+0.1"/>
                                          </p:val>
                                        </p:tav>
                                        <p:tav tm="100000">
                                          <p:val>
                                            <p:strVal val="#ppt_y"/>
                                          </p:val>
                                        </p:tav>
                                      </p:tavLst>
                                    </p:anim>
                                    <p:animEffect transition="in" filter="fade">
                                      <p:cBhvr>
                                        <p:cTn id="96" dur="500"/>
                                        <p:tgtEl>
                                          <p:spTgt spid="37"/>
                                        </p:tgtEl>
                                      </p:cBhvr>
                                    </p:animEffect>
                                  </p:childTnLst>
                                </p:cTn>
                              </p:par>
                            </p:childTnLst>
                          </p:cTn>
                        </p:par>
                      </p:childTnLst>
                    </p:cTn>
                  </p:par>
                  <p:par>
                    <p:cTn id="98" fill="hold">
                      <p:stCondLst>
                        <p:cond delay="indefinite"/>
                      </p:stCondLst>
                      <p:childTnLst>
                        <p:par>
                          <p:cTn id="99" fill="hold">
                            <p:stCondLst>
                              <p:cond delay="0"/>
                            </p:stCondLst>
                            <p:childTnLst>
                              <p:par>
                                <p:cTn id="104" presetID="2" presetClass="entr" presetSubtype="4" fill="hold" grpId="0" nodeType="clickEffect">
                                  <p:stCondLst>
                                    <p:cond delay="0"/>
                                  </p:stCondLst>
                                  <p:childTnLst>
                                    <p:set>
                                      <p:cBhvr>
                                        <p:cTn id="100" dur="1" fill="hold">
                                          <p:stCondLst>
                                            <p:cond delay="0"/>
                                          </p:stCondLst>
                                        </p:cTn>
                                        <p:tgtEl>
                                          <p:spTgt spid="26"/>
                                        </p:tgtEl>
                                        <p:attrNameLst>
                                          <p:attrName>style.visibility</p:attrName>
                                        </p:attrNameLst>
                                      </p:cBhvr>
                                      <p:to>
                                        <p:strVal val="visible"/>
                                      </p:to>
                                    </p:set>
                                    <p:anim calcmode="lin" valueType="num">
                                      <p:cBhvr additive="base">
                                        <p:cTn id="101" dur="500" fill="hold"/>
                                        <p:tgtEl>
                                          <p:spTgt spid="26"/>
                                        </p:tgtEl>
                                        <p:attrNameLst>
                                          <p:attrName>ppt_x</p:attrName>
                                        </p:attrNameLst>
                                      </p:cBhvr>
                                      <p:tavLst>
                                        <p:tav tm="0">
                                          <p:val>
                                            <p:strVal val="#ppt_x"/>
                                          </p:val>
                                        </p:tav>
                                        <p:tav tm="100000">
                                          <p:val>
                                            <p:strVal val="#ppt_x"/>
                                          </p:val>
                                        </p:tav>
                                      </p:tavLst>
                                    </p:anim>
                                    <p:anim calcmode="lin" valueType="num">
                                      <p:cBhvr additive="base">
                                        <p:cTn id="102" dur="500" fill="hold"/>
                                        <p:tgtEl>
                                          <p:spTgt spid="26"/>
                                        </p:tgtEl>
                                        <p:attrNameLst>
                                          <p:attrName>ppt_y</p:attrName>
                                        </p:attrNameLst>
                                      </p:cBhvr>
                                      <p:tavLst>
                                        <p:tav tm="0">
                                          <p:val>
                                            <p:strVal val="#ppt_y+0.1"/>
                                          </p:val>
                                        </p:tav>
                                        <p:tav tm="100000">
                                          <p:val>
                                            <p:strVal val="#ppt_y"/>
                                          </p:val>
                                        </p:tav>
                                      </p:tavLst>
                                    </p:anim>
                                    <p:animEffect transition="in" filter="fade">
                                      <p:cBhvr>
                                        <p:cTn id="103" dur="500"/>
                                        <p:tgtEl>
                                          <p:spTgt spid="26"/>
                                        </p:tgtEl>
                                      </p:cBhvr>
                                    </p:animEffect>
                                  </p:childTnLst>
                                </p:cTn>
                              </p:par>
                              <p:par>
                                <p:cTn id="109" presetID="2" presetClass="entr" presetSubtype="4" fill="hold" grpId="0" nodeType="withEffect">
                                  <p:stCondLst>
                                    <p:cond delay="0"/>
                                  </p:stCondLst>
                                  <p:childTnLst>
                                    <p:set>
                                      <p:cBhvr>
                                        <p:cTn id="105" dur="1" fill="hold">
                                          <p:stCondLst>
                                            <p:cond delay="0"/>
                                          </p:stCondLst>
                                        </p:cTn>
                                        <p:tgtEl>
                                          <p:spTgt spid="27"/>
                                        </p:tgtEl>
                                        <p:attrNameLst>
                                          <p:attrName>style.visibility</p:attrName>
                                        </p:attrNameLst>
                                      </p:cBhvr>
                                      <p:to>
                                        <p:strVal val="visible"/>
                                      </p:to>
                                    </p:set>
                                    <p:anim calcmode="lin" valueType="num">
                                      <p:cBhvr additive="base">
                                        <p:cTn id="106" dur="500" fill="hold"/>
                                        <p:tgtEl>
                                          <p:spTgt spid="27"/>
                                        </p:tgtEl>
                                        <p:attrNameLst>
                                          <p:attrName>ppt_x</p:attrName>
                                        </p:attrNameLst>
                                      </p:cBhvr>
                                      <p:tavLst>
                                        <p:tav tm="0">
                                          <p:val>
                                            <p:strVal val="#ppt_x"/>
                                          </p:val>
                                        </p:tav>
                                        <p:tav tm="100000">
                                          <p:val>
                                            <p:strVal val="#ppt_x"/>
                                          </p:val>
                                        </p:tav>
                                      </p:tavLst>
                                    </p:anim>
                                    <p:anim calcmode="lin" valueType="num">
                                      <p:cBhvr additive="base">
                                        <p:cTn id="107" dur="500" fill="hold"/>
                                        <p:tgtEl>
                                          <p:spTgt spid="27"/>
                                        </p:tgtEl>
                                        <p:attrNameLst>
                                          <p:attrName>ppt_y</p:attrName>
                                        </p:attrNameLst>
                                      </p:cBhvr>
                                      <p:tavLst>
                                        <p:tav tm="0">
                                          <p:val>
                                            <p:strVal val="#ppt_y+0.1"/>
                                          </p:val>
                                        </p:tav>
                                        <p:tav tm="100000">
                                          <p:val>
                                            <p:strVal val="#ppt_y"/>
                                          </p:val>
                                        </p:tav>
                                      </p:tavLst>
                                    </p:anim>
                                    <p:animEffect transition="in" filter="fade">
                                      <p:cBhvr>
                                        <p:cTn id="108" dur="500"/>
                                        <p:tgtEl>
                                          <p:spTgt spid="27"/>
                                        </p:tgtEl>
                                      </p:cBhvr>
                                    </p:animEffect>
                                  </p:childTnLst>
                                </p:cTn>
                              </p:par>
                            </p:childTnLst>
                          </p:cTn>
                        </p:par>
                      </p:childTnLst>
                    </p:cTn>
                  </p:par>
                  <p:par>
                    <p:cTn id="110" fill="hold">
                      <p:stCondLst>
                        <p:cond delay="indefinite"/>
                      </p:stCondLst>
                      <p:childTnLst>
                        <p:par>
                          <p:cTn id="111" fill="hold">
                            <p:stCondLst>
                              <p:cond delay="0"/>
                            </p:stCondLst>
                            <p:childTnLst>
                              <p:par>
                                <p:cTn id="116" presetID="2" presetClass="entr" presetSubtype="4" fill="hold" grpId="0" nodeType="clickEffect">
                                  <p:stCondLst>
                                    <p:cond delay="0"/>
                                  </p:stCondLst>
                                  <p:childTnLst>
                                    <p:set>
                                      <p:cBhvr>
                                        <p:cTn id="112" dur="1" fill="hold">
                                          <p:stCondLst>
                                            <p:cond delay="0"/>
                                          </p:stCondLst>
                                        </p:cTn>
                                        <p:tgtEl>
                                          <p:spTgt spid="38"/>
                                        </p:tgtEl>
                                        <p:attrNameLst>
                                          <p:attrName>style.visibility</p:attrName>
                                        </p:attrNameLst>
                                      </p:cBhvr>
                                      <p:to>
                                        <p:strVal val="visible"/>
                                      </p:to>
                                    </p:set>
                                    <p:anim calcmode="lin" valueType="num">
                                      <p:cBhvr additive="base">
                                        <p:cTn id="113" dur="500" fill="hold"/>
                                        <p:tgtEl>
                                          <p:spTgt spid="38"/>
                                        </p:tgtEl>
                                        <p:attrNameLst>
                                          <p:attrName>ppt_x</p:attrName>
                                        </p:attrNameLst>
                                      </p:cBhvr>
                                      <p:tavLst>
                                        <p:tav tm="0">
                                          <p:val>
                                            <p:strVal val="#ppt_x"/>
                                          </p:val>
                                        </p:tav>
                                        <p:tav tm="100000">
                                          <p:val>
                                            <p:strVal val="#ppt_x"/>
                                          </p:val>
                                        </p:tav>
                                      </p:tavLst>
                                    </p:anim>
                                    <p:anim calcmode="lin" valueType="num">
                                      <p:cBhvr additive="base">
                                        <p:cTn id="114" dur="500" fill="hold"/>
                                        <p:tgtEl>
                                          <p:spTgt spid="38"/>
                                        </p:tgtEl>
                                        <p:attrNameLst>
                                          <p:attrName>ppt_y</p:attrName>
                                        </p:attrNameLst>
                                      </p:cBhvr>
                                      <p:tavLst>
                                        <p:tav tm="0">
                                          <p:val>
                                            <p:strVal val="#ppt_y+0.1"/>
                                          </p:val>
                                        </p:tav>
                                        <p:tav tm="100000">
                                          <p:val>
                                            <p:strVal val="#ppt_y"/>
                                          </p:val>
                                        </p:tav>
                                      </p:tavLst>
                                    </p:anim>
                                    <p:animEffect transition="in" filter="fade">
                                      <p:cBhvr>
                                        <p:cTn id="115" dur="500"/>
                                        <p:tgtEl>
                                          <p:spTgt spid="38"/>
                                        </p:tgtEl>
                                      </p:cBhvr>
                                    </p:animEffect>
                                  </p:childTnLst>
                                </p:cTn>
                              </p:par>
                              <p:par>
                                <p:cTn id="121" presetID="2" presetClass="entr" presetSubtype="4" fill="hold" grpId="0" nodeType="withEffect">
                                  <p:stCondLst>
                                    <p:cond delay="0"/>
                                  </p:stCondLst>
                                  <p:childTnLst>
                                    <p:set>
                                      <p:cBhvr>
                                        <p:cTn id="117" dur="1" fill="hold">
                                          <p:stCondLst>
                                            <p:cond delay="0"/>
                                          </p:stCondLst>
                                        </p:cTn>
                                        <p:tgtEl>
                                          <p:spTgt spid="39"/>
                                        </p:tgtEl>
                                        <p:attrNameLst>
                                          <p:attrName>style.visibility</p:attrName>
                                        </p:attrNameLst>
                                      </p:cBhvr>
                                      <p:to>
                                        <p:strVal val="visible"/>
                                      </p:to>
                                    </p:set>
                                    <p:anim calcmode="lin" valueType="num">
                                      <p:cBhvr additive="base">
                                        <p:cTn id="118" dur="500" fill="hold"/>
                                        <p:tgtEl>
                                          <p:spTgt spid="39"/>
                                        </p:tgtEl>
                                        <p:attrNameLst>
                                          <p:attrName>ppt_x</p:attrName>
                                        </p:attrNameLst>
                                      </p:cBhvr>
                                      <p:tavLst>
                                        <p:tav tm="0">
                                          <p:val>
                                            <p:strVal val="#ppt_x"/>
                                          </p:val>
                                        </p:tav>
                                        <p:tav tm="100000">
                                          <p:val>
                                            <p:strVal val="#ppt_x"/>
                                          </p:val>
                                        </p:tav>
                                      </p:tavLst>
                                    </p:anim>
                                    <p:anim calcmode="lin" valueType="num">
                                      <p:cBhvr additive="base">
                                        <p:cTn id="119" dur="500" fill="hold"/>
                                        <p:tgtEl>
                                          <p:spTgt spid="39"/>
                                        </p:tgtEl>
                                        <p:attrNameLst>
                                          <p:attrName>ppt_y</p:attrName>
                                        </p:attrNameLst>
                                      </p:cBhvr>
                                      <p:tavLst>
                                        <p:tav tm="0">
                                          <p:val>
                                            <p:strVal val="#ppt_y+0.1"/>
                                          </p:val>
                                        </p:tav>
                                        <p:tav tm="100000">
                                          <p:val>
                                            <p:strVal val="#ppt_y"/>
                                          </p:val>
                                        </p:tav>
                                      </p:tavLst>
                                    </p:anim>
                                    <p:animEffect transition="in" filter="fade">
                                      <p:cBhvr>
                                        <p:cTn id="120" dur="500"/>
                                        <p:tgtEl>
                                          <p:spTgt spid="39"/>
                                        </p:tgtEl>
                                      </p:cBhvr>
                                    </p:animEffect>
                                  </p:childTnLst>
                                </p:cTn>
                              </p:par>
                              <p:par>
                                <p:cTn id="126" presetID="2" presetClass="entr" presetSubtype="4" fill="hold" grpId="0" nodeType="withEffect">
                                  <p:stCondLst>
                                    <p:cond delay="0"/>
                                  </p:stCondLst>
                                  <p:childTnLst>
                                    <p:set>
                                      <p:cBhvr>
                                        <p:cTn id="122" dur="1" fill="hold">
                                          <p:stCondLst>
                                            <p:cond delay="0"/>
                                          </p:stCondLst>
                                        </p:cTn>
                                        <p:tgtEl>
                                          <p:spTgt spid="40"/>
                                        </p:tgtEl>
                                        <p:attrNameLst>
                                          <p:attrName>style.visibility</p:attrName>
                                        </p:attrNameLst>
                                      </p:cBhvr>
                                      <p:to>
                                        <p:strVal val="visible"/>
                                      </p:to>
                                    </p:set>
                                    <p:anim calcmode="lin" valueType="num">
                                      <p:cBhvr additive="base">
                                        <p:cTn id="123" dur="500" fill="hold"/>
                                        <p:tgtEl>
                                          <p:spTgt spid="40"/>
                                        </p:tgtEl>
                                        <p:attrNameLst>
                                          <p:attrName>ppt_x</p:attrName>
                                        </p:attrNameLst>
                                      </p:cBhvr>
                                      <p:tavLst>
                                        <p:tav tm="0">
                                          <p:val>
                                            <p:strVal val="#ppt_x"/>
                                          </p:val>
                                        </p:tav>
                                        <p:tav tm="100000">
                                          <p:val>
                                            <p:strVal val="#ppt_x"/>
                                          </p:val>
                                        </p:tav>
                                      </p:tavLst>
                                    </p:anim>
                                    <p:anim calcmode="lin" valueType="num">
                                      <p:cBhvr additive="base">
                                        <p:cTn id="124" dur="500" fill="hold"/>
                                        <p:tgtEl>
                                          <p:spTgt spid="40"/>
                                        </p:tgtEl>
                                        <p:attrNameLst>
                                          <p:attrName>ppt_y</p:attrName>
                                        </p:attrNameLst>
                                      </p:cBhvr>
                                      <p:tavLst>
                                        <p:tav tm="0">
                                          <p:val>
                                            <p:strVal val="#ppt_y+0.1"/>
                                          </p:val>
                                        </p:tav>
                                        <p:tav tm="100000">
                                          <p:val>
                                            <p:strVal val="#ppt_y"/>
                                          </p:val>
                                        </p:tav>
                                      </p:tavLst>
                                    </p:anim>
                                    <p:animEffect transition="in" filter="fade">
                                      <p:cBhvr>
                                        <p:cTn id="12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KRaft: Kafka Keeps Its Own Metadata</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Kafka's own implementation of the Raft consensus protocol - named KRaft</a:t>
            </a:r>
          </a:p>
        </p:txBody>
      </p:sp>
      <p:sp>
        <p:nvSpPr>
          <p:cNvPr id="11" name="a0f_cl10"/>
          <p:cNvSpPr/>
          <p:nvPr/>
        </p:nvSpPr>
        <p:spPr>
          <a:xfrm>
            <a:off x="457200" y="1280160"/>
            <a:ext cx="4892040" cy="2395728"/>
          </a:xfrm>
          <a:prstGeom prst="roundRect">
            <a:avLst>
              <a:gd name="adj" fmla="val 3816"/>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_clh11"/>
          <p:cNvSpPr txBox="1"/>
          <p:nvPr/>
        </p:nvSpPr>
        <p:spPr>
          <a:xfrm>
            <a:off x="640080" y="1371600"/>
            <a:ext cx="1645920" cy="237744"/>
          </a:xfrm>
          <a:prstGeom prst="rect">
            <a:avLst/>
          </a:prstGeom>
          <a:noFill/>
        </p:spPr>
        <p:txBody>
          <a:bodyPr wrap="square" lIns="0" tIns="0" rIns="0" bIns="0" anchor="ctr">
            <a:spAutoFit/>
          </a:bodyPr>
          <a:lstStyle/>
          <a:p>
            <a:pPr algn="l"/>
            <a:r>
              <a:rPr sz="850" b="1" spc="160">
                <a:solidFill>
                  <a:srgbClr val="0E7490"/>
                </a:solidFill>
                <a:latin typeface="Segoe UI"/>
              </a:rPr>
              <a:t>KAFKA CLUSTER</a:t>
            </a:r>
          </a:p>
        </p:txBody>
      </p:sp>
      <p:sp>
        <p:nvSpPr>
          <p:cNvPr id="13" name="a0f_bk12"/>
          <p:cNvSpPr/>
          <p:nvPr/>
        </p:nvSpPr>
        <p:spPr>
          <a:xfrm>
            <a:off x="621792" y="1691640"/>
            <a:ext cx="1417320" cy="1417320"/>
          </a:xfrm>
          <a:prstGeom prst="roundRect">
            <a:avLst>
              <a:gd name="adj" fmla="val 516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f_bkn13"/>
          <p:cNvSpPr txBox="1"/>
          <p:nvPr/>
        </p:nvSpPr>
        <p:spPr>
          <a:xfrm>
            <a:off x="749808" y="1764792"/>
            <a:ext cx="1161288" cy="237744"/>
          </a:xfrm>
          <a:prstGeom prst="rect">
            <a:avLst/>
          </a:prstGeom>
          <a:noFill/>
        </p:spPr>
        <p:txBody>
          <a:bodyPr wrap="square" lIns="0" tIns="0" rIns="0" bIns="0" anchor="ctr">
            <a:spAutoFit/>
          </a:bodyPr>
          <a:lstStyle/>
          <a:p>
            <a:pPr algn="l"/>
            <a:r>
              <a:rPr sz="1050" b="1">
                <a:solidFill>
                  <a:srgbClr val="1C1917"/>
                </a:solidFill>
                <a:latin typeface="Segoe UI"/>
              </a:rPr>
              <a:t>broker 1</a:t>
            </a:r>
          </a:p>
        </p:txBody>
      </p:sp>
      <p:sp>
        <p:nvSpPr>
          <p:cNvPr id="15" name="a0f_bks14"/>
          <p:cNvSpPr txBox="1"/>
          <p:nvPr/>
        </p:nvSpPr>
        <p:spPr>
          <a:xfrm>
            <a:off x="749808" y="1993392"/>
            <a:ext cx="1161288" cy="201168"/>
          </a:xfrm>
          <a:prstGeom prst="rect">
            <a:avLst/>
          </a:prstGeom>
          <a:noFill/>
        </p:spPr>
        <p:txBody>
          <a:bodyPr wrap="square" lIns="0" tIns="0" rIns="0" bIns="0" anchor="ctr">
            <a:spAutoFit/>
          </a:bodyPr>
          <a:lstStyle/>
          <a:p>
            <a:pPr algn="l"/>
            <a:r>
              <a:rPr sz="800" b="0">
                <a:solidFill>
                  <a:srgbClr val="0E7490"/>
                </a:solidFill>
                <a:latin typeface="Segoe UI"/>
              </a:rPr>
              <a:t>Kafka server</a:t>
            </a:r>
          </a:p>
        </p:txBody>
      </p:sp>
      <p:sp>
        <p:nvSpPr>
          <p:cNvPr id="16" name="a0f_pill15"/>
          <p:cNvSpPr/>
          <p:nvPr/>
        </p:nvSpPr>
        <p:spPr>
          <a:xfrm>
            <a:off x="749808" y="2212848"/>
            <a:ext cx="868680" cy="219456"/>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FFFFFF"/>
                </a:solidFill>
                <a:latin typeface="Consolas"/>
              </a:rPr>
              <a:t>leader</a:t>
            </a:r>
          </a:p>
        </p:txBody>
      </p:sp>
      <p:sp>
        <p:nvSpPr>
          <p:cNvPr id="17" name="a0f_lb16"/>
          <p:cNvSpPr txBox="1"/>
          <p:nvPr/>
        </p:nvSpPr>
        <p:spPr>
          <a:xfrm>
            <a:off x="749808" y="2505456"/>
            <a:ext cx="1188720" cy="201168"/>
          </a:xfrm>
          <a:prstGeom prst="rect">
            <a:avLst/>
          </a:prstGeom>
          <a:noFill/>
        </p:spPr>
        <p:txBody>
          <a:bodyPr wrap="square" lIns="0" tIns="0" rIns="0" bIns="0" anchor="ctr">
            <a:spAutoFit/>
          </a:bodyPr>
          <a:lstStyle/>
          <a:p>
            <a:pPr algn="l"/>
            <a:r>
              <a:rPr sz="800" b="0">
                <a:solidFill>
                  <a:srgbClr val="78716C"/>
                </a:solidFill>
                <a:latin typeface="Consolas"/>
              </a:rPr>
              <a:t>metadata log</a:t>
            </a:r>
          </a:p>
        </p:txBody>
      </p:sp>
      <p:sp>
        <p:nvSpPr>
          <p:cNvPr id="18" name="a0f_mc17"/>
          <p:cNvSpPr/>
          <p:nvPr/>
        </p:nvSpPr>
        <p:spPr>
          <a:xfrm>
            <a:off x="758952" y="2724912"/>
            <a:ext cx="210312" cy="27432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0f_mct18"/>
          <p:cNvSpPr txBox="1"/>
          <p:nvPr/>
        </p:nvSpPr>
        <p:spPr>
          <a:xfrm>
            <a:off x="758952" y="2724912"/>
            <a:ext cx="210312" cy="274320"/>
          </a:xfrm>
          <a:prstGeom prst="rect">
            <a:avLst/>
          </a:prstGeom>
          <a:noFill/>
        </p:spPr>
        <p:txBody>
          <a:bodyPr wrap="square" lIns="0" tIns="0" rIns="0" bIns="0" anchor="ctr">
            <a:spAutoFit/>
          </a:bodyPr>
          <a:lstStyle/>
          <a:p>
            <a:pPr algn="ctr"/>
            <a:r>
              <a:rPr sz="800" b="1">
                <a:solidFill>
                  <a:srgbClr val="0E7490"/>
                </a:solidFill>
                <a:latin typeface="Consolas"/>
              </a:rPr>
              <a:t>0</a:t>
            </a:r>
          </a:p>
        </p:txBody>
      </p:sp>
      <p:sp>
        <p:nvSpPr>
          <p:cNvPr id="20" name="a0f_mc19"/>
          <p:cNvSpPr/>
          <p:nvPr/>
        </p:nvSpPr>
        <p:spPr>
          <a:xfrm>
            <a:off x="987552" y="2724912"/>
            <a:ext cx="210312" cy="27432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0f_mct20"/>
          <p:cNvSpPr txBox="1"/>
          <p:nvPr/>
        </p:nvSpPr>
        <p:spPr>
          <a:xfrm>
            <a:off x="987552" y="2724912"/>
            <a:ext cx="210312" cy="274320"/>
          </a:xfrm>
          <a:prstGeom prst="rect">
            <a:avLst/>
          </a:prstGeom>
          <a:noFill/>
        </p:spPr>
        <p:txBody>
          <a:bodyPr wrap="square" lIns="0" tIns="0" rIns="0" bIns="0" anchor="ctr">
            <a:spAutoFit/>
          </a:bodyPr>
          <a:lstStyle/>
          <a:p>
            <a:pPr algn="ctr"/>
            <a:r>
              <a:rPr sz="800" b="1">
                <a:solidFill>
                  <a:srgbClr val="0E7490"/>
                </a:solidFill>
                <a:latin typeface="Consolas"/>
              </a:rPr>
              <a:t>1</a:t>
            </a:r>
          </a:p>
        </p:txBody>
      </p:sp>
      <p:sp>
        <p:nvSpPr>
          <p:cNvPr id="22" name="a0f_mc21"/>
          <p:cNvSpPr/>
          <p:nvPr/>
        </p:nvSpPr>
        <p:spPr>
          <a:xfrm>
            <a:off x="1216152" y="2724912"/>
            <a:ext cx="210312" cy="27432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0f_mct22"/>
          <p:cNvSpPr txBox="1"/>
          <p:nvPr/>
        </p:nvSpPr>
        <p:spPr>
          <a:xfrm>
            <a:off x="1216152" y="2724912"/>
            <a:ext cx="210312" cy="274320"/>
          </a:xfrm>
          <a:prstGeom prst="rect">
            <a:avLst/>
          </a:prstGeom>
          <a:noFill/>
        </p:spPr>
        <p:txBody>
          <a:bodyPr wrap="square" lIns="0" tIns="0" rIns="0" bIns="0" anchor="ctr">
            <a:spAutoFit/>
          </a:bodyPr>
          <a:lstStyle/>
          <a:p>
            <a:pPr algn="ctr"/>
            <a:r>
              <a:rPr sz="800" b="1">
                <a:solidFill>
                  <a:srgbClr val="0E7490"/>
                </a:solidFill>
                <a:latin typeface="Consolas"/>
              </a:rPr>
              <a:t>2</a:t>
            </a:r>
          </a:p>
        </p:txBody>
      </p:sp>
      <p:sp>
        <p:nvSpPr>
          <p:cNvPr id="24" name="a0f_mc23"/>
          <p:cNvSpPr/>
          <p:nvPr/>
        </p:nvSpPr>
        <p:spPr>
          <a:xfrm>
            <a:off x="1444752" y="2724912"/>
            <a:ext cx="210312" cy="27432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0f_mct24"/>
          <p:cNvSpPr txBox="1"/>
          <p:nvPr/>
        </p:nvSpPr>
        <p:spPr>
          <a:xfrm>
            <a:off x="1444752" y="2724912"/>
            <a:ext cx="210312" cy="274320"/>
          </a:xfrm>
          <a:prstGeom prst="rect">
            <a:avLst/>
          </a:prstGeom>
          <a:noFill/>
        </p:spPr>
        <p:txBody>
          <a:bodyPr wrap="square" lIns="0" tIns="0" rIns="0" bIns="0" anchor="ctr">
            <a:spAutoFit/>
          </a:bodyPr>
          <a:lstStyle/>
          <a:p>
            <a:pPr algn="ctr"/>
            <a:r>
              <a:rPr sz="800" b="1">
                <a:solidFill>
                  <a:srgbClr val="0E7490"/>
                </a:solidFill>
                <a:latin typeface="Consolas"/>
              </a:rPr>
              <a:t>3</a:t>
            </a:r>
          </a:p>
        </p:txBody>
      </p:sp>
      <p:sp>
        <p:nvSpPr>
          <p:cNvPr id="26" name="a1u_mc25"/>
          <p:cNvSpPr/>
          <p:nvPr/>
        </p:nvSpPr>
        <p:spPr>
          <a:xfrm>
            <a:off x="1673352" y="2724912"/>
            <a:ext cx="210312" cy="274320"/>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u_mct26"/>
          <p:cNvSpPr txBox="1"/>
          <p:nvPr/>
        </p:nvSpPr>
        <p:spPr>
          <a:xfrm>
            <a:off x="1673352" y="2724912"/>
            <a:ext cx="210312" cy="274320"/>
          </a:xfrm>
          <a:prstGeom prst="rect">
            <a:avLst/>
          </a:prstGeom>
          <a:noFill/>
        </p:spPr>
        <p:txBody>
          <a:bodyPr wrap="square" lIns="0" tIns="0" rIns="0" bIns="0" anchor="ctr">
            <a:spAutoFit/>
          </a:bodyPr>
          <a:lstStyle/>
          <a:p>
            <a:pPr algn="ctr"/>
            <a:r>
              <a:rPr sz="800" b="1">
                <a:solidFill>
                  <a:srgbClr val="A16207"/>
                </a:solidFill>
                <a:latin typeface="Consolas"/>
              </a:rPr>
              <a:t>4</a:t>
            </a:r>
          </a:p>
        </p:txBody>
      </p:sp>
      <p:sp>
        <p:nvSpPr>
          <p:cNvPr id="28" name="a0f_bk27"/>
          <p:cNvSpPr/>
          <p:nvPr/>
        </p:nvSpPr>
        <p:spPr>
          <a:xfrm>
            <a:off x="2194560" y="1691640"/>
            <a:ext cx="1417320" cy="1417320"/>
          </a:xfrm>
          <a:prstGeom prst="roundRect">
            <a:avLst>
              <a:gd name="adj" fmla="val 516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0f_bkn28"/>
          <p:cNvSpPr txBox="1"/>
          <p:nvPr/>
        </p:nvSpPr>
        <p:spPr>
          <a:xfrm>
            <a:off x="2322576" y="1764792"/>
            <a:ext cx="1161288" cy="237744"/>
          </a:xfrm>
          <a:prstGeom prst="rect">
            <a:avLst/>
          </a:prstGeom>
          <a:noFill/>
        </p:spPr>
        <p:txBody>
          <a:bodyPr wrap="square" lIns="0" tIns="0" rIns="0" bIns="0" anchor="ctr">
            <a:spAutoFit/>
          </a:bodyPr>
          <a:lstStyle/>
          <a:p>
            <a:pPr algn="l"/>
            <a:r>
              <a:rPr sz="1050" b="1">
                <a:solidFill>
                  <a:srgbClr val="1C1917"/>
                </a:solidFill>
                <a:latin typeface="Segoe UI"/>
              </a:rPr>
              <a:t>broker 2</a:t>
            </a:r>
          </a:p>
        </p:txBody>
      </p:sp>
      <p:sp>
        <p:nvSpPr>
          <p:cNvPr id="30" name="a0f_bks29"/>
          <p:cNvSpPr txBox="1"/>
          <p:nvPr/>
        </p:nvSpPr>
        <p:spPr>
          <a:xfrm>
            <a:off x="2322576" y="1993392"/>
            <a:ext cx="1161288" cy="201168"/>
          </a:xfrm>
          <a:prstGeom prst="rect">
            <a:avLst/>
          </a:prstGeom>
          <a:noFill/>
        </p:spPr>
        <p:txBody>
          <a:bodyPr wrap="square" lIns="0" tIns="0" rIns="0" bIns="0" anchor="ctr">
            <a:spAutoFit/>
          </a:bodyPr>
          <a:lstStyle/>
          <a:p>
            <a:pPr algn="l"/>
            <a:r>
              <a:rPr sz="800" b="0">
                <a:solidFill>
                  <a:srgbClr val="0E7490"/>
                </a:solidFill>
                <a:latin typeface="Segoe UI"/>
              </a:rPr>
              <a:t>Kafka server</a:t>
            </a:r>
          </a:p>
        </p:txBody>
      </p:sp>
      <p:sp>
        <p:nvSpPr>
          <p:cNvPr id="31" name="a0f_pill30"/>
          <p:cNvSpPr/>
          <p:nvPr/>
        </p:nvSpPr>
        <p:spPr>
          <a:xfrm>
            <a:off x="2322576" y="2212848"/>
            <a:ext cx="868680" cy="219456"/>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0E7490"/>
                </a:solidFill>
                <a:latin typeface="Consolas"/>
              </a:rPr>
              <a:t>follower</a:t>
            </a:r>
          </a:p>
        </p:txBody>
      </p:sp>
      <p:sp>
        <p:nvSpPr>
          <p:cNvPr id="32" name="a0f_lb31"/>
          <p:cNvSpPr txBox="1"/>
          <p:nvPr/>
        </p:nvSpPr>
        <p:spPr>
          <a:xfrm>
            <a:off x="2322576" y="2505456"/>
            <a:ext cx="1188720" cy="201168"/>
          </a:xfrm>
          <a:prstGeom prst="rect">
            <a:avLst/>
          </a:prstGeom>
          <a:noFill/>
        </p:spPr>
        <p:txBody>
          <a:bodyPr wrap="square" lIns="0" tIns="0" rIns="0" bIns="0" anchor="ctr">
            <a:spAutoFit/>
          </a:bodyPr>
          <a:lstStyle/>
          <a:p>
            <a:pPr algn="l"/>
            <a:r>
              <a:rPr sz="800" b="0">
                <a:solidFill>
                  <a:srgbClr val="78716C"/>
                </a:solidFill>
                <a:latin typeface="Consolas"/>
              </a:rPr>
              <a:t>metadata log</a:t>
            </a:r>
          </a:p>
        </p:txBody>
      </p:sp>
      <p:sp>
        <p:nvSpPr>
          <p:cNvPr id="33" name="a0f_mc32"/>
          <p:cNvSpPr/>
          <p:nvPr/>
        </p:nvSpPr>
        <p:spPr>
          <a:xfrm>
            <a:off x="2331720" y="2724912"/>
            <a:ext cx="210312" cy="27432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0f_mct33"/>
          <p:cNvSpPr txBox="1"/>
          <p:nvPr/>
        </p:nvSpPr>
        <p:spPr>
          <a:xfrm>
            <a:off x="2331720" y="2724912"/>
            <a:ext cx="210312" cy="274320"/>
          </a:xfrm>
          <a:prstGeom prst="rect">
            <a:avLst/>
          </a:prstGeom>
          <a:noFill/>
        </p:spPr>
        <p:txBody>
          <a:bodyPr wrap="square" lIns="0" tIns="0" rIns="0" bIns="0" anchor="ctr">
            <a:spAutoFit/>
          </a:bodyPr>
          <a:lstStyle/>
          <a:p>
            <a:pPr algn="ctr"/>
            <a:r>
              <a:rPr sz="800" b="1">
                <a:solidFill>
                  <a:srgbClr val="0E7490"/>
                </a:solidFill>
                <a:latin typeface="Consolas"/>
              </a:rPr>
              <a:t>0</a:t>
            </a:r>
          </a:p>
        </p:txBody>
      </p:sp>
      <p:sp>
        <p:nvSpPr>
          <p:cNvPr id="35" name="a0f_mc34"/>
          <p:cNvSpPr/>
          <p:nvPr/>
        </p:nvSpPr>
        <p:spPr>
          <a:xfrm>
            <a:off x="2560320" y="2724912"/>
            <a:ext cx="210312" cy="27432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0f_mct35"/>
          <p:cNvSpPr txBox="1"/>
          <p:nvPr/>
        </p:nvSpPr>
        <p:spPr>
          <a:xfrm>
            <a:off x="2560320" y="2724912"/>
            <a:ext cx="210312" cy="274320"/>
          </a:xfrm>
          <a:prstGeom prst="rect">
            <a:avLst/>
          </a:prstGeom>
          <a:noFill/>
        </p:spPr>
        <p:txBody>
          <a:bodyPr wrap="square" lIns="0" tIns="0" rIns="0" bIns="0" anchor="ctr">
            <a:spAutoFit/>
          </a:bodyPr>
          <a:lstStyle/>
          <a:p>
            <a:pPr algn="ctr"/>
            <a:r>
              <a:rPr sz="800" b="1">
                <a:solidFill>
                  <a:srgbClr val="0E7490"/>
                </a:solidFill>
                <a:latin typeface="Consolas"/>
              </a:rPr>
              <a:t>1</a:t>
            </a:r>
          </a:p>
        </p:txBody>
      </p:sp>
      <p:sp>
        <p:nvSpPr>
          <p:cNvPr id="37" name="a0f_mc36"/>
          <p:cNvSpPr/>
          <p:nvPr/>
        </p:nvSpPr>
        <p:spPr>
          <a:xfrm>
            <a:off x="2788920" y="2724912"/>
            <a:ext cx="210312" cy="27432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0f_mct37"/>
          <p:cNvSpPr txBox="1"/>
          <p:nvPr/>
        </p:nvSpPr>
        <p:spPr>
          <a:xfrm>
            <a:off x="2788920" y="2724912"/>
            <a:ext cx="210312" cy="274320"/>
          </a:xfrm>
          <a:prstGeom prst="rect">
            <a:avLst/>
          </a:prstGeom>
          <a:noFill/>
        </p:spPr>
        <p:txBody>
          <a:bodyPr wrap="square" lIns="0" tIns="0" rIns="0" bIns="0" anchor="ctr">
            <a:spAutoFit/>
          </a:bodyPr>
          <a:lstStyle/>
          <a:p>
            <a:pPr algn="ctr"/>
            <a:r>
              <a:rPr sz="800" b="1">
                <a:solidFill>
                  <a:srgbClr val="0E7490"/>
                </a:solidFill>
                <a:latin typeface="Consolas"/>
              </a:rPr>
              <a:t>2</a:t>
            </a:r>
          </a:p>
        </p:txBody>
      </p:sp>
      <p:sp>
        <p:nvSpPr>
          <p:cNvPr id="39" name="a0f_mc38"/>
          <p:cNvSpPr/>
          <p:nvPr/>
        </p:nvSpPr>
        <p:spPr>
          <a:xfrm>
            <a:off x="3017520" y="2724912"/>
            <a:ext cx="210312" cy="27432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0f_mct39"/>
          <p:cNvSpPr txBox="1"/>
          <p:nvPr/>
        </p:nvSpPr>
        <p:spPr>
          <a:xfrm>
            <a:off x="3017520" y="2724912"/>
            <a:ext cx="210312" cy="274320"/>
          </a:xfrm>
          <a:prstGeom prst="rect">
            <a:avLst/>
          </a:prstGeom>
          <a:noFill/>
        </p:spPr>
        <p:txBody>
          <a:bodyPr wrap="square" lIns="0" tIns="0" rIns="0" bIns="0" anchor="ctr">
            <a:spAutoFit/>
          </a:bodyPr>
          <a:lstStyle/>
          <a:p>
            <a:pPr algn="ctr"/>
            <a:r>
              <a:rPr sz="800" b="1">
                <a:solidFill>
                  <a:srgbClr val="0E7490"/>
                </a:solidFill>
                <a:latin typeface="Consolas"/>
              </a:rPr>
              <a:t>3</a:t>
            </a:r>
          </a:p>
        </p:txBody>
      </p:sp>
      <p:sp>
        <p:nvSpPr>
          <p:cNvPr id="41" name="a2ud150_mc40"/>
          <p:cNvSpPr/>
          <p:nvPr/>
        </p:nvSpPr>
        <p:spPr>
          <a:xfrm>
            <a:off x="3246120" y="2724912"/>
            <a:ext cx="210312" cy="274320"/>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2ud150_mct41"/>
          <p:cNvSpPr txBox="1"/>
          <p:nvPr/>
        </p:nvSpPr>
        <p:spPr>
          <a:xfrm>
            <a:off x="3246120" y="2724912"/>
            <a:ext cx="210312" cy="274320"/>
          </a:xfrm>
          <a:prstGeom prst="rect">
            <a:avLst/>
          </a:prstGeom>
          <a:noFill/>
        </p:spPr>
        <p:txBody>
          <a:bodyPr wrap="square" lIns="0" tIns="0" rIns="0" bIns="0" anchor="ctr">
            <a:spAutoFit/>
          </a:bodyPr>
          <a:lstStyle/>
          <a:p>
            <a:pPr algn="ctr"/>
            <a:r>
              <a:rPr sz="800" b="1">
                <a:solidFill>
                  <a:srgbClr val="A16207"/>
                </a:solidFill>
                <a:latin typeface="Consolas"/>
              </a:rPr>
              <a:t>4</a:t>
            </a:r>
          </a:p>
        </p:txBody>
      </p:sp>
      <p:sp>
        <p:nvSpPr>
          <p:cNvPr id="43" name="a0f_bk42"/>
          <p:cNvSpPr/>
          <p:nvPr/>
        </p:nvSpPr>
        <p:spPr>
          <a:xfrm>
            <a:off x="3767328" y="1691640"/>
            <a:ext cx="1417320" cy="1417320"/>
          </a:xfrm>
          <a:prstGeom prst="roundRect">
            <a:avLst>
              <a:gd name="adj" fmla="val 5161"/>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0f_bkn43"/>
          <p:cNvSpPr txBox="1"/>
          <p:nvPr/>
        </p:nvSpPr>
        <p:spPr>
          <a:xfrm>
            <a:off x="3895344" y="1764792"/>
            <a:ext cx="1161288" cy="237744"/>
          </a:xfrm>
          <a:prstGeom prst="rect">
            <a:avLst/>
          </a:prstGeom>
          <a:noFill/>
        </p:spPr>
        <p:txBody>
          <a:bodyPr wrap="square" lIns="0" tIns="0" rIns="0" bIns="0" anchor="ctr">
            <a:spAutoFit/>
          </a:bodyPr>
          <a:lstStyle/>
          <a:p>
            <a:pPr algn="l"/>
            <a:r>
              <a:rPr sz="1050" b="1">
                <a:solidFill>
                  <a:srgbClr val="1C1917"/>
                </a:solidFill>
                <a:latin typeface="Segoe UI"/>
              </a:rPr>
              <a:t>broker 3</a:t>
            </a:r>
          </a:p>
        </p:txBody>
      </p:sp>
      <p:sp>
        <p:nvSpPr>
          <p:cNvPr id="45" name="a0f_bks44"/>
          <p:cNvSpPr txBox="1"/>
          <p:nvPr/>
        </p:nvSpPr>
        <p:spPr>
          <a:xfrm>
            <a:off x="3895344" y="1993392"/>
            <a:ext cx="1161288" cy="201168"/>
          </a:xfrm>
          <a:prstGeom prst="rect">
            <a:avLst/>
          </a:prstGeom>
          <a:noFill/>
        </p:spPr>
        <p:txBody>
          <a:bodyPr wrap="square" lIns="0" tIns="0" rIns="0" bIns="0" anchor="ctr">
            <a:spAutoFit/>
          </a:bodyPr>
          <a:lstStyle/>
          <a:p>
            <a:pPr algn="l"/>
            <a:r>
              <a:rPr sz="800" b="0">
                <a:solidFill>
                  <a:srgbClr val="0E7490"/>
                </a:solidFill>
                <a:latin typeface="Segoe UI"/>
              </a:rPr>
              <a:t>Kafka server</a:t>
            </a:r>
          </a:p>
        </p:txBody>
      </p:sp>
      <p:sp>
        <p:nvSpPr>
          <p:cNvPr id="46" name="a0f_pill45"/>
          <p:cNvSpPr/>
          <p:nvPr/>
        </p:nvSpPr>
        <p:spPr>
          <a:xfrm>
            <a:off x="3895344" y="2212848"/>
            <a:ext cx="868680" cy="219456"/>
          </a:xfrm>
          <a:prstGeom prst="roundRect">
            <a:avLst>
              <a:gd name="adj" fmla="val 50000"/>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50" b="1">
                <a:solidFill>
                  <a:srgbClr val="0E7490"/>
                </a:solidFill>
                <a:latin typeface="Consolas"/>
              </a:rPr>
              <a:t>follower</a:t>
            </a:r>
          </a:p>
        </p:txBody>
      </p:sp>
      <p:sp>
        <p:nvSpPr>
          <p:cNvPr id="47" name="a0f_lb46"/>
          <p:cNvSpPr txBox="1"/>
          <p:nvPr/>
        </p:nvSpPr>
        <p:spPr>
          <a:xfrm>
            <a:off x="3895344" y="2505456"/>
            <a:ext cx="1188720" cy="201168"/>
          </a:xfrm>
          <a:prstGeom prst="rect">
            <a:avLst/>
          </a:prstGeom>
          <a:noFill/>
        </p:spPr>
        <p:txBody>
          <a:bodyPr wrap="square" lIns="0" tIns="0" rIns="0" bIns="0" anchor="ctr">
            <a:spAutoFit/>
          </a:bodyPr>
          <a:lstStyle/>
          <a:p>
            <a:pPr algn="l"/>
            <a:r>
              <a:rPr sz="800" b="0">
                <a:solidFill>
                  <a:srgbClr val="78716C"/>
                </a:solidFill>
                <a:latin typeface="Consolas"/>
              </a:rPr>
              <a:t>metadata log</a:t>
            </a:r>
          </a:p>
        </p:txBody>
      </p:sp>
      <p:sp>
        <p:nvSpPr>
          <p:cNvPr id="48" name="a0f_mc47"/>
          <p:cNvSpPr/>
          <p:nvPr/>
        </p:nvSpPr>
        <p:spPr>
          <a:xfrm>
            <a:off x="3904488" y="2724912"/>
            <a:ext cx="210312" cy="27432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0f_mct48"/>
          <p:cNvSpPr txBox="1"/>
          <p:nvPr/>
        </p:nvSpPr>
        <p:spPr>
          <a:xfrm>
            <a:off x="3904488" y="2724912"/>
            <a:ext cx="210312" cy="274320"/>
          </a:xfrm>
          <a:prstGeom prst="rect">
            <a:avLst/>
          </a:prstGeom>
          <a:noFill/>
        </p:spPr>
        <p:txBody>
          <a:bodyPr wrap="square" lIns="0" tIns="0" rIns="0" bIns="0" anchor="ctr">
            <a:spAutoFit/>
          </a:bodyPr>
          <a:lstStyle/>
          <a:p>
            <a:pPr algn="ctr"/>
            <a:r>
              <a:rPr sz="800" b="1">
                <a:solidFill>
                  <a:srgbClr val="0E7490"/>
                </a:solidFill>
                <a:latin typeface="Consolas"/>
              </a:rPr>
              <a:t>0</a:t>
            </a:r>
          </a:p>
        </p:txBody>
      </p:sp>
      <p:sp>
        <p:nvSpPr>
          <p:cNvPr id="50" name="a0f_mc49"/>
          <p:cNvSpPr/>
          <p:nvPr/>
        </p:nvSpPr>
        <p:spPr>
          <a:xfrm>
            <a:off x="4133088" y="2724912"/>
            <a:ext cx="210312" cy="27432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0f_mct50"/>
          <p:cNvSpPr txBox="1"/>
          <p:nvPr/>
        </p:nvSpPr>
        <p:spPr>
          <a:xfrm>
            <a:off x="4133088" y="2724912"/>
            <a:ext cx="210312" cy="274320"/>
          </a:xfrm>
          <a:prstGeom prst="rect">
            <a:avLst/>
          </a:prstGeom>
          <a:noFill/>
        </p:spPr>
        <p:txBody>
          <a:bodyPr wrap="square" lIns="0" tIns="0" rIns="0" bIns="0" anchor="ctr">
            <a:spAutoFit/>
          </a:bodyPr>
          <a:lstStyle/>
          <a:p>
            <a:pPr algn="ctr"/>
            <a:r>
              <a:rPr sz="800" b="1">
                <a:solidFill>
                  <a:srgbClr val="0E7490"/>
                </a:solidFill>
                <a:latin typeface="Consolas"/>
              </a:rPr>
              <a:t>1</a:t>
            </a:r>
          </a:p>
        </p:txBody>
      </p:sp>
      <p:sp>
        <p:nvSpPr>
          <p:cNvPr id="52" name="a0f_mc51"/>
          <p:cNvSpPr/>
          <p:nvPr/>
        </p:nvSpPr>
        <p:spPr>
          <a:xfrm>
            <a:off x="4361688" y="2724912"/>
            <a:ext cx="210312" cy="27432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0f_mct52"/>
          <p:cNvSpPr txBox="1"/>
          <p:nvPr/>
        </p:nvSpPr>
        <p:spPr>
          <a:xfrm>
            <a:off x="4361688" y="2724912"/>
            <a:ext cx="210312" cy="274320"/>
          </a:xfrm>
          <a:prstGeom prst="rect">
            <a:avLst/>
          </a:prstGeom>
          <a:noFill/>
        </p:spPr>
        <p:txBody>
          <a:bodyPr wrap="square" lIns="0" tIns="0" rIns="0" bIns="0" anchor="ctr">
            <a:spAutoFit/>
          </a:bodyPr>
          <a:lstStyle/>
          <a:p>
            <a:pPr algn="ctr"/>
            <a:r>
              <a:rPr sz="800" b="1">
                <a:solidFill>
                  <a:srgbClr val="0E7490"/>
                </a:solidFill>
                <a:latin typeface="Consolas"/>
              </a:rPr>
              <a:t>2</a:t>
            </a:r>
          </a:p>
        </p:txBody>
      </p:sp>
      <p:sp>
        <p:nvSpPr>
          <p:cNvPr id="54" name="a0f_mc53"/>
          <p:cNvSpPr/>
          <p:nvPr/>
        </p:nvSpPr>
        <p:spPr>
          <a:xfrm>
            <a:off x="4590288" y="2724912"/>
            <a:ext cx="210312" cy="274320"/>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0f_mct54"/>
          <p:cNvSpPr txBox="1"/>
          <p:nvPr/>
        </p:nvSpPr>
        <p:spPr>
          <a:xfrm>
            <a:off x="4590288" y="2724912"/>
            <a:ext cx="210312" cy="274320"/>
          </a:xfrm>
          <a:prstGeom prst="rect">
            <a:avLst/>
          </a:prstGeom>
          <a:noFill/>
        </p:spPr>
        <p:txBody>
          <a:bodyPr wrap="square" lIns="0" tIns="0" rIns="0" bIns="0" anchor="ctr">
            <a:spAutoFit/>
          </a:bodyPr>
          <a:lstStyle/>
          <a:p>
            <a:pPr algn="ctr"/>
            <a:r>
              <a:rPr sz="800" b="1">
                <a:solidFill>
                  <a:srgbClr val="0E7490"/>
                </a:solidFill>
                <a:latin typeface="Consolas"/>
              </a:rPr>
              <a:t>3</a:t>
            </a:r>
          </a:p>
        </p:txBody>
      </p:sp>
      <p:sp>
        <p:nvSpPr>
          <p:cNvPr id="56" name="a2ud300_mc55"/>
          <p:cNvSpPr/>
          <p:nvPr/>
        </p:nvSpPr>
        <p:spPr>
          <a:xfrm>
            <a:off x="4818888" y="2724912"/>
            <a:ext cx="210312" cy="274320"/>
          </a:xfrm>
          <a:prstGeom prst="rect">
            <a:avLst/>
          </a:prstGeom>
          <a:solidFill>
            <a:srgbClr val="FEF9C3"/>
          </a:solidFill>
          <a:ln w="9525">
            <a:solidFill>
              <a:srgbClr val="A1620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a2ud300_mct56"/>
          <p:cNvSpPr txBox="1"/>
          <p:nvPr/>
        </p:nvSpPr>
        <p:spPr>
          <a:xfrm>
            <a:off x="4818888" y="2724912"/>
            <a:ext cx="210312" cy="274320"/>
          </a:xfrm>
          <a:prstGeom prst="rect">
            <a:avLst/>
          </a:prstGeom>
          <a:noFill/>
        </p:spPr>
        <p:txBody>
          <a:bodyPr wrap="square" lIns="0" tIns="0" rIns="0" bIns="0" anchor="ctr">
            <a:spAutoFit/>
          </a:bodyPr>
          <a:lstStyle/>
          <a:p>
            <a:pPr algn="ctr"/>
            <a:r>
              <a:rPr sz="800" b="1">
                <a:solidFill>
                  <a:srgbClr val="A16207"/>
                </a:solidFill>
                <a:latin typeface="Consolas"/>
              </a:rPr>
              <a:t>4</a:t>
            </a:r>
          </a:p>
        </p:txBody>
      </p:sp>
      <p:sp>
        <p:nvSpPr>
          <p:cNvPr id="58" name="a0f_lb57"/>
          <p:cNvSpPr txBox="1"/>
          <p:nvPr/>
        </p:nvSpPr>
        <p:spPr>
          <a:xfrm>
            <a:off x="640080" y="3246120"/>
            <a:ext cx="4526280" cy="201168"/>
          </a:xfrm>
          <a:prstGeom prst="rect">
            <a:avLst/>
          </a:prstGeom>
          <a:noFill/>
        </p:spPr>
        <p:txBody>
          <a:bodyPr wrap="square" lIns="0" tIns="0" rIns="0" bIns="0" anchor="ctr">
            <a:spAutoFit/>
          </a:bodyPr>
          <a:lstStyle/>
          <a:p>
            <a:pPr algn="ctr"/>
            <a:r>
              <a:rPr sz="850" b="0">
                <a:solidFill>
                  <a:srgbClr val="0E7490"/>
                </a:solidFill>
                <a:latin typeface="Consolas"/>
              </a:rPr>
              <a:t>__cluster_metadata  ·  one ordered log of every metadata change</a:t>
            </a:r>
          </a:p>
        </p:txBody>
      </p:sp>
      <p:sp>
        <p:nvSpPr>
          <p:cNvPr id="59" name="a3u_dot58"/>
          <p:cNvSpPr/>
          <p:nvPr/>
        </p:nvSpPr>
        <p:spPr>
          <a:xfrm>
            <a:off x="5577840" y="1403604"/>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3u_b59"/>
          <p:cNvSpPr txBox="1"/>
          <p:nvPr/>
        </p:nvSpPr>
        <p:spPr>
          <a:xfrm>
            <a:off x="5797296" y="1307592"/>
            <a:ext cx="2889504" cy="566928"/>
          </a:xfrm>
          <a:prstGeom prst="rect">
            <a:avLst/>
          </a:prstGeom>
          <a:noFill/>
        </p:spPr>
        <p:txBody>
          <a:bodyPr wrap="square" lIns="0" tIns="0" rIns="0" bIns="0" anchor="t">
            <a:spAutoFit/>
          </a:bodyPr>
          <a:lstStyle/>
          <a:p>
            <a:pPr algn="l"/>
            <a:r>
              <a:rPr sz="950" b="1">
                <a:solidFill>
                  <a:srgbClr val="1C1917"/>
                </a:solidFill>
                <a:latin typeface="Segoe UI"/>
              </a:rPr>
              <a:t>Metadata  </a:t>
            </a:r>
            <a:r>
              <a:rPr sz="950" b="0">
                <a:solidFill>
                  <a:srgbClr val="44403C"/>
                </a:solidFill>
                <a:latin typeface="Segoe UI"/>
              </a:rPr>
              <a:t>topics, their partitions and where each lives, configs, live brokers</a:t>
            </a:r>
          </a:p>
        </p:txBody>
      </p:sp>
      <p:sp>
        <p:nvSpPr>
          <p:cNvPr id="61" name="a3ud120_dot60"/>
          <p:cNvSpPr/>
          <p:nvPr/>
        </p:nvSpPr>
        <p:spPr>
          <a:xfrm>
            <a:off x="5577840" y="2007107"/>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a3ud120_b61"/>
          <p:cNvSpPr txBox="1"/>
          <p:nvPr/>
        </p:nvSpPr>
        <p:spPr>
          <a:xfrm>
            <a:off x="5797296" y="1911095"/>
            <a:ext cx="2889504" cy="566928"/>
          </a:xfrm>
          <a:prstGeom prst="rect">
            <a:avLst/>
          </a:prstGeom>
          <a:noFill/>
        </p:spPr>
        <p:txBody>
          <a:bodyPr wrap="square" lIns="0" tIns="0" rIns="0" bIns="0" anchor="t">
            <a:spAutoFit/>
          </a:bodyPr>
          <a:lstStyle/>
          <a:p>
            <a:pPr algn="l"/>
            <a:r>
              <a:rPr sz="950" b="1">
                <a:solidFill>
                  <a:srgbClr val="1C1917"/>
                </a:solidFill>
                <a:latin typeface="Segoe UI"/>
              </a:rPr>
              <a:t>Raft  </a:t>
            </a:r>
            <a:r>
              <a:rPr sz="950" b="0">
                <a:solidFill>
                  <a:srgbClr val="44403C"/>
                </a:solidFill>
                <a:latin typeface="Segoe UI"/>
              </a:rPr>
              <a:t>a consensus protocol - the nodes agree on one ordered log of changes</a:t>
            </a:r>
          </a:p>
        </p:txBody>
      </p:sp>
      <p:sp>
        <p:nvSpPr>
          <p:cNvPr id="63" name="a3ud240_dot62"/>
          <p:cNvSpPr/>
          <p:nvPr/>
        </p:nvSpPr>
        <p:spPr>
          <a:xfrm>
            <a:off x="5577840" y="2610612"/>
            <a:ext cx="91440" cy="91440"/>
          </a:xfrm>
          <a:prstGeom prst="roundRect">
            <a:avLst>
              <a:gd name="adj" fmla="val 25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a3ud240_b63"/>
          <p:cNvSpPr txBox="1"/>
          <p:nvPr/>
        </p:nvSpPr>
        <p:spPr>
          <a:xfrm>
            <a:off x="5797296" y="2514600"/>
            <a:ext cx="2889504" cy="566928"/>
          </a:xfrm>
          <a:prstGeom prst="rect">
            <a:avLst/>
          </a:prstGeom>
          <a:noFill/>
        </p:spPr>
        <p:txBody>
          <a:bodyPr wrap="square" lIns="0" tIns="0" rIns="0" bIns="0" anchor="t">
            <a:spAutoFit/>
          </a:bodyPr>
          <a:lstStyle/>
          <a:p>
            <a:pPr algn="l"/>
            <a:r>
              <a:rPr sz="950" b="1">
                <a:solidFill>
                  <a:srgbClr val="1C1917"/>
                </a:solidFill>
                <a:latin typeface="Segoe UI"/>
              </a:rPr>
              <a:t>KRaft  </a:t>
            </a:r>
            <a:r>
              <a:rPr sz="950" b="0">
                <a:solidFill>
                  <a:srgbClr val="44403C"/>
                </a:solidFill>
                <a:latin typeface="Segoe UI"/>
              </a:rPr>
              <a:t>Kafka + Raft; the metadata is itself kept in a Kafka log</a:t>
            </a:r>
          </a:p>
        </p:txBody>
      </p:sp>
      <p:sp>
        <p:nvSpPr>
          <p:cNvPr id="65" name="a4u_nb64"/>
          <p:cNvSpPr/>
          <p:nvPr/>
        </p:nvSpPr>
        <p:spPr>
          <a:xfrm>
            <a:off x="457200" y="3858768"/>
            <a:ext cx="8229600" cy="640080"/>
          </a:xfrm>
          <a:prstGeom prst="roundRect">
            <a:avLst>
              <a:gd name="adj" fmla="val 11428"/>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a4u_nacc65"/>
          <p:cNvSpPr/>
          <p:nvPr/>
        </p:nvSpPr>
        <p:spPr>
          <a:xfrm>
            <a:off x="457200" y="3858768"/>
            <a:ext cx="54864" cy="64008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a4u_nt66"/>
          <p:cNvSpPr txBox="1"/>
          <p:nvPr/>
        </p:nvSpPr>
        <p:spPr>
          <a:xfrm>
            <a:off x="658368" y="3858768"/>
            <a:ext cx="7827264" cy="640080"/>
          </a:xfrm>
          <a:prstGeom prst="rect">
            <a:avLst/>
          </a:prstGeom>
          <a:noFill/>
        </p:spPr>
        <p:txBody>
          <a:bodyPr wrap="square" lIns="0" tIns="0" rIns="0" bIns="0" anchor="ctr">
            <a:spAutoFit/>
          </a:bodyPr>
          <a:lstStyle/>
          <a:p>
            <a:pPr algn="l"/>
            <a:r>
              <a:rPr sz="900" b="1">
                <a:solidFill>
                  <a:srgbClr val="4F46E5"/>
                </a:solidFill>
                <a:latin typeface="Segoe UI"/>
              </a:rPr>
              <a:t>NOTE  </a:t>
            </a:r>
            <a:r>
              <a:rPr sz="900" b="0">
                <a:solidFill>
                  <a:srgbClr val="44403C"/>
                </a:solidFill>
                <a:latin typeface="Segoe UI"/>
              </a:rPr>
              <a:t>The Raft voters are called controllers. A lab node runs broker and controller in one process; production clusters usually run three dedicated controllers.</a:t>
            </a:r>
          </a:p>
        </p:txBody>
      </p:sp>
      <p:sp>
        <p:nvSpPr>
          <p:cNvPr id="68" name="ft67"/>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10</a:t>
            </a:r>
          </a:p>
        </p:txBody>
      </p:sp>
      <p:sp>
        <p:nvSpPr>
          <p:cNvPr id="69" name="ft68"/>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ft69"/>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Brokers</a:t>
            </a:r>
          </a:p>
        </p:txBody>
      </p:sp>
      <p:sp>
        <p:nvSpPr>
          <p:cNvPr id="71" name="ft70"/>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8"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00"/>
                                        <p:tgtEl>
                                          <p:spTgt spid="28"/>
                                        </p:tgtEl>
                                      </p:cBhvr>
                                    </p:animEffect>
                                  </p:childTnLst>
                                </p:cTn>
                              </p:par>
                              <p:par>
                                <p:cTn id="55" presetID="10" presetClass="entr" presetSubtype="0" fill="hold" grpId="0"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500"/>
                                        <p:tgtEl>
                                          <p:spTgt spid="29"/>
                                        </p:tgtEl>
                                      </p:cBhvr>
                                    </p:animEffect>
                                  </p:childTnLst>
                                </p:cTn>
                              </p:par>
                              <p:par>
                                <p:cTn id="58" presetID="10" presetClass="entr" presetSubtype="0"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00"/>
                                        <p:tgtEl>
                                          <p:spTgt spid="30"/>
                                        </p:tgtEl>
                                      </p:cBhvr>
                                    </p:animEffect>
                                  </p:childTnLst>
                                </p:cTn>
                              </p:par>
                              <p:par>
                                <p:cTn id="61"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00"/>
                                        <p:tgtEl>
                                          <p:spTgt spid="31"/>
                                        </p:tgtEl>
                                      </p:cBhvr>
                                    </p:animEffect>
                                  </p:childTnLst>
                                </p:cTn>
                              </p:par>
                              <p:par>
                                <p:cTn id="64" presetID="10"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500"/>
                                        <p:tgtEl>
                                          <p:spTgt spid="32"/>
                                        </p:tgtEl>
                                      </p:cBhvr>
                                    </p:animEffect>
                                  </p:childTnLst>
                                </p:cTn>
                              </p:par>
                              <p:par>
                                <p:cTn id="67"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500"/>
                                        <p:tgtEl>
                                          <p:spTgt spid="33"/>
                                        </p:tgtEl>
                                      </p:cBhvr>
                                    </p:animEffect>
                                  </p:childTnLst>
                                </p:cTn>
                              </p:par>
                              <p:par>
                                <p:cTn id="70" presetID="10"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500"/>
                                        <p:tgtEl>
                                          <p:spTgt spid="34"/>
                                        </p:tgtEl>
                                      </p:cBhvr>
                                    </p:animEffect>
                                  </p:childTnLst>
                                </p:cTn>
                              </p:par>
                              <p:par>
                                <p:cTn id="73" presetID="10"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500"/>
                                        <p:tgtEl>
                                          <p:spTgt spid="35"/>
                                        </p:tgtEl>
                                      </p:cBhvr>
                                    </p:animEffect>
                                  </p:childTnLst>
                                </p:cTn>
                              </p:par>
                              <p:par>
                                <p:cTn id="76" presetID="10"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500"/>
                                        <p:tgtEl>
                                          <p:spTgt spid="36"/>
                                        </p:tgtEl>
                                      </p:cBhvr>
                                    </p:animEffect>
                                  </p:childTnLst>
                                </p:cTn>
                              </p:par>
                              <p:par>
                                <p:cTn id="79" presetID="10"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500"/>
                                        <p:tgtEl>
                                          <p:spTgt spid="37"/>
                                        </p:tgtEl>
                                      </p:cBhvr>
                                    </p:animEffect>
                                  </p:childTnLst>
                                </p:cTn>
                              </p:par>
                              <p:par>
                                <p:cTn id="82" presetID="10" presetClass="entr" presetSubtype="0"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animEffect transition="in" filter="fade">
                                      <p:cBhvr>
                                        <p:cTn id="81" dur="500"/>
                                        <p:tgtEl>
                                          <p:spTgt spid="38"/>
                                        </p:tgtEl>
                                      </p:cBhvr>
                                    </p:animEffect>
                                  </p:childTnLst>
                                </p:cTn>
                              </p:par>
                              <p:par>
                                <p:cTn id="85" presetID="10" presetClass="entr" presetSubtype="0" fill="hold" grpId="0" nodeType="withEffect">
                                  <p:stCondLst>
                                    <p:cond delay="0"/>
                                  </p:stCondLst>
                                  <p:childTnLst>
                                    <p:set>
                                      <p:cBhvr>
                                        <p:cTn id="83" dur="1" fill="hold">
                                          <p:stCondLst>
                                            <p:cond delay="0"/>
                                          </p:stCondLst>
                                        </p:cTn>
                                        <p:tgtEl>
                                          <p:spTgt spid="39"/>
                                        </p:tgtEl>
                                        <p:attrNameLst>
                                          <p:attrName>style.visibility</p:attrName>
                                        </p:attrNameLst>
                                      </p:cBhvr>
                                      <p:to>
                                        <p:strVal val="visible"/>
                                      </p:to>
                                    </p:set>
                                    <p:animEffect transition="in" filter="fade">
                                      <p:cBhvr>
                                        <p:cTn id="84" dur="500"/>
                                        <p:tgtEl>
                                          <p:spTgt spid="39"/>
                                        </p:tgtEl>
                                      </p:cBhvr>
                                    </p:animEffect>
                                  </p:childTnLst>
                                </p:cTn>
                              </p:par>
                              <p:par>
                                <p:cTn id="88" presetID="10" presetClass="entr" presetSubtype="0" fill="hold" grpId="0" nodeType="with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fade">
                                      <p:cBhvr>
                                        <p:cTn id="87" dur="500"/>
                                        <p:tgtEl>
                                          <p:spTgt spid="40"/>
                                        </p:tgtEl>
                                      </p:cBhvr>
                                    </p:animEffect>
                                  </p:childTnLst>
                                </p:cTn>
                              </p:par>
                              <p:par>
                                <p:cTn id="91"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500"/>
                                        <p:tgtEl>
                                          <p:spTgt spid="43"/>
                                        </p:tgtEl>
                                      </p:cBhvr>
                                    </p:animEffect>
                                  </p:childTnLst>
                                </p:cTn>
                              </p:par>
                              <p:par>
                                <p:cTn id="94" presetID="10" presetClass="entr" presetSubtype="0" fill="hold" grpId="0"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500"/>
                                        <p:tgtEl>
                                          <p:spTgt spid="44"/>
                                        </p:tgtEl>
                                      </p:cBhvr>
                                    </p:animEffect>
                                  </p:childTnLst>
                                </p:cTn>
                              </p:par>
                              <p:par>
                                <p:cTn id="97"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500"/>
                                        <p:tgtEl>
                                          <p:spTgt spid="45"/>
                                        </p:tgtEl>
                                      </p:cBhvr>
                                    </p:animEffect>
                                  </p:childTnLst>
                                </p:cTn>
                              </p:par>
                              <p:par>
                                <p:cTn id="100" presetID="10" presetClass="entr" presetSubtype="0" fill="hold" grpId="0" nodeType="withEffect">
                                  <p:stCondLst>
                                    <p:cond delay="0"/>
                                  </p:stCondLst>
                                  <p:childTnLst>
                                    <p:set>
                                      <p:cBhvr>
                                        <p:cTn id="98" dur="1" fill="hold">
                                          <p:stCondLst>
                                            <p:cond delay="0"/>
                                          </p:stCondLst>
                                        </p:cTn>
                                        <p:tgtEl>
                                          <p:spTgt spid="46"/>
                                        </p:tgtEl>
                                        <p:attrNameLst>
                                          <p:attrName>style.visibility</p:attrName>
                                        </p:attrNameLst>
                                      </p:cBhvr>
                                      <p:to>
                                        <p:strVal val="visible"/>
                                      </p:to>
                                    </p:set>
                                    <p:animEffect transition="in" filter="fade">
                                      <p:cBhvr>
                                        <p:cTn id="99" dur="500"/>
                                        <p:tgtEl>
                                          <p:spTgt spid="46"/>
                                        </p:tgtEl>
                                      </p:cBhvr>
                                    </p:animEffect>
                                  </p:childTnLst>
                                </p:cTn>
                              </p:par>
                              <p:par>
                                <p:cTn id="103" presetID="10" presetClass="entr" presetSubtype="0" fill="hold" grpId="0" nodeType="withEffect">
                                  <p:stCondLst>
                                    <p:cond delay="0"/>
                                  </p:stCondLst>
                                  <p:childTnLst>
                                    <p:set>
                                      <p:cBhvr>
                                        <p:cTn id="101" dur="1" fill="hold">
                                          <p:stCondLst>
                                            <p:cond delay="0"/>
                                          </p:stCondLst>
                                        </p:cTn>
                                        <p:tgtEl>
                                          <p:spTgt spid="47"/>
                                        </p:tgtEl>
                                        <p:attrNameLst>
                                          <p:attrName>style.visibility</p:attrName>
                                        </p:attrNameLst>
                                      </p:cBhvr>
                                      <p:to>
                                        <p:strVal val="visible"/>
                                      </p:to>
                                    </p:set>
                                    <p:animEffect transition="in" filter="fade">
                                      <p:cBhvr>
                                        <p:cTn id="102" dur="500"/>
                                        <p:tgtEl>
                                          <p:spTgt spid="47"/>
                                        </p:tgtEl>
                                      </p:cBhvr>
                                    </p:animEffect>
                                  </p:childTnLst>
                                </p:cTn>
                              </p:par>
                              <p:par>
                                <p:cTn id="106" presetID="10" presetClass="entr" presetSubtype="0" fill="hold" grpId="0" nodeType="withEffect">
                                  <p:stCondLst>
                                    <p:cond delay="0"/>
                                  </p:stCondLst>
                                  <p:childTnLst>
                                    <p:set>
                                      <p:cBhvr>
                                        <p:cTn id="104" dur="1" fill="hold">
                                          <p:stCondLst>
                                            <p:cond delay="0"/>
                                          </p:stCondLst>
                                        </p:cTn>
                                        <p:tgtEl>
                                          <p:spTgt spid="48"/>
                                        </p:tgtEl>
                                        <p:attrNameLst>
                                          <p:attrName>style.visibility</p:attrName>
                                        </p:attrNameLst>
                                      </p:cBhvr>
                                      <p:to>
                                        <p:strVal val="visible"/>
                                      </p:to>
                                    </p:set>
                                    <p:animEffect transition="in" filter="fade">
                                      <p:cBhvr>
                                        <p:cTn id="105" dur="500"/>
                                        <p:tgtEl>
                                          <p:spTgt spid="48"/>
                                        </p:tgtEl>
                                      </p:cBhvr>
                                    </p:animEffect>
                                  </p:childTnLst>
                                </p:cTn>
                              </p:par>
                              <p:par>
                                <p:cTn id="109" presetID="10" presetClass="entr" presetSubtype="0" fill="hold" grpId="0" nodeType="withEffect">
                                  <p:stCondLst>
                                    <p:cond delay="0"/>
                                  </p:stCondLst>
                                  <p:childTnLst>
                                    <p:set>
                                      <p:cBhvr>
                                        <p:cTn id="107" dur="1" fill="hold">
                                          <p:stCondLst>
                                            <p:cond delay="0"/>
                                          </p:stCondLst>
                                        </p:cTn>
                                        <p:tgtEl>
                                          <p:spTgt spid="49"/>
                                        </p:tgtEl>
                                        <p:attrNameLst>
                                          <p:attrName>style.visibility</p:attrName>
                                        </p:attrNameLst>
                                      </p:cBhvr>
                                      <p:to>
                                        <p:strVal val="visible"/>
                                      </p:to>
                                    </p:set>
                                    <p:animEffect transition="in" filter="fade">
                                      <p:cBhvr>
                                        <p:cTn id="108" dur="500"/>
                                        <p:tgtEl>
                                          <p:spTgt spid="49"/>
                                        </p:tgtEl>
                                      </p:cBhvr>
                                    </p:animEffect>
                                  </p:childTnLst>
                                </p:cTn>
                              </p:par>
                              <p:par>
                                <p:cTn id="112" presetID="10" presetClass="entr" presetSubtype="0" fill="hold" grpId="0" nodeType="withEffect">
                                  <p:stCondLst>
                                    <p:cond delay="0"/>
                                  </p:stCondLst>
                                  <p:childTnLst>
                                    <p:set>
                                      <p:cBhvr>
                                        <p:cTn id="110" dur="1" fill="hold">
                                          <p:stCondLst>
                                            <p:cond delay="0"/>
                                          </p:stCondLst>
                                        </p:cTn>
                                        <p:tgtEl>
                                          <p:spTgt spid="50"/>
                                        </p:tgtEl>
                                        <p:attrNameLst>
                                          <p:attrName>style.visibility</p:attrName>
                                        </p:attrNameLst>
                                      </p:cBhvr>
                                      <p:to>
                                        <p:strVal val="visible"/>
                                      </p:to>
                                    </p:set>
                                    <p:animEffect transition="in" filter="fade">
                                      <p:cBhvr>
                                        <p:cTn id="111" dur="500"/>
                                        <p:tgtEl>
                                          <p:spTgt spid="50"/>
                                        </p:tgtEl>
                                      </p:cBhvr>
                                    </p:animEffect>
                                  </p:childTnLst>
                                </p:cTn>
                              </p:par>
                              <p:par>
                                <p:cTn id="115" presetID="10" presetClass="entr" presetSubtype="0" fill="hold" grpId="0" nodeType="withEffect">
                                  <p:stCondLst>
                                    <p:cond delay="0"/>
                                  </p:stCondLst>
                                  <p:childTnLst>
                                    <p:set>
                                      <p:cBhvr>
                                        <p:cTn id="113" dur="1" fill="hold">
                                          <p:stCondLst>
                                            <p:cond delay="0"/>
                                          </p:stCondLst>
                                        </p:cTn>
                                        <p:tgtEl>
                                          <p:spTgt spid="51"/>
                                        </p:tgtEl>
                                        <p:attrNameLst>
                                          <p:attrName>style.visibility</p:attrName>
                                        </p:attrNameLst>
                                      </p:cBhvr>
                                      <p:to>
                                        <p:strVal val="visible"/>
                                      </p:to>
                                    </p:set>
                                    <p:animEffect transition="in" filter="fade">
                                      <p:cBhvr>
                                        <p:cTn id="114" dur="500"/>
                                        <p:tgtEl>
                                          <p:spTgt spid="51"/>
                                        </p:tgtEl>
                                      </p:cBhvr>
                                    </p:animEffect>
                                  </p:childTnLst>
                                </p:cTn>
                              </p:par>
                              <p:par>
                                <p:cTn id="118" presetID="10" presetClass="entr" presetSubtype="0" fill="hold" grpId="0" nodeType="withEffect">
                                  <p:stCondLst>
                                    <p:cond delay="0"/>
                                  </p:stCondLst>
                                  <p:childTnLst>
                                    <p:set>
                                      <p:cBhvr>
                                        <p:cTn id="116" dur="1" fill="hold">
                                          <p:stCondLst>
                                            <p:cond delay="0"/>
                                          </p:stCondLst>
                                        </p:cTn>
                                        <p:tgtEl>
                                          <p:spTgt spid="52"/>
                                        </p:tgtEl>
                                        <p:attrNameLst>
                                          <p:attrName>style.visibility</p:attrName>
                                        </p:attrNameLst>
                                      </p:cBhvr>
                                      <p:to>
                                        <p:strVal val="visible"/>
                                      </p:to>
                                    </p:set>
                                    <p:animEffect transition="in" filter="fade">
                                      <p:cBhvr>
                                        <p:cTn id="117" dur="500"/>
                                        <p:tgtEl>
                                          <p:spTgt spid="52"/>
                                        </p:tgtEl>
                                      </p:cBhvr>
                                    </p:animEffect>
                                  </p:childTnLst>
                                </p:cTn>
                              </p:par>
                              <p:par>
                                <p:cTn id="121" presetID="10" presetClass="entr" presetSubtype="0" fill="hold" grpId="0" nodeType="withEffect">
                                  <p:stCondLst>
                                    <p:cond delay="0"/>
                                  </p:stCondLst>
                                  <p:childTnLst>
                                    <p:set>
                                      <p:cBhvr>
                                        <p:cTn id="119" dur="1" fill="hold">
                                          <p:stCondLst>
                                            <p:cond delay="0"/>
                                          </p:stCondLst>
                                        </p:cTn>
                                        <p:tgtEl>
                                          <p:spTgt spid="53"/>
                                        </p:tgtEl>
                                        <p:attrNameLst>
                                          <p:attrName>style.visibility</p:attrName>
                                        </p:attrNameLst>
                                      </p:cBhvr>
                                      <p:to>
                                        <p:strVal val="visible"/>
                                      </p:to>
                                    </p:set>
                                    <p:animEffect transition="in" filter="fade">
                                      <p:cBhvr>
                                        <p:cTn id="120" dur="500"/>
                                        <p:tgtEl>
                                          <p:spTgt spid="53"/>
                                        </p:tgtEl>
                                      </p:cBhvr>
                                    </p:animEffect>
                                  </p:childTnLst>
                                </p:cTn>
                              </p:par>
                              <p:par>
                                <p:cTn id="124" presetID="10" presetClass="entr" presetSubtype="0" fill="hold" grpId="0" nodeType="withEffect">
                                  <p:stCondLst>
                                    <p:cond delay="0"/>
                                  </p:stCondLst>
                                  <p:childTnLst>
                                    <p:set>
                                      <p:cBhvr>
                                        <p:cTn id="122" dur="1" fill="hold">
                                          <p:stCondLst>
                                            <p:cond delay="0"/>
                                          </p:stCondLst>
                                        </p:cTn>
                                        <p:tgtEl>
                                          <p:spTgt spid="54"/>
                                        </p:tgtEl>
                                        <p:attrNameLst>
                                          <p:attrName>style.visibility</p:attrName>
                                        </p:attrNameLst>
                                      </p:cBhvr>
                                      <p:to>
                                        <p:strVal val="visible"/>
                                      </p:to>
                                    </p:set>
                                    <p:animEffect transition="in" filter="fade">
                                      <p:cBhvr>
                                        <p:cTn id="123" dur="500"/>
                                        <p:tgtEl>
                                          <p:spTgt spid="54"/>
                                        </p:tgtEl>
                                      </p:cBhvr>
                                    </p:animEffect>
                                  </p:childTnLst>
                                </p:cTn>
                              </p:par>
                              <p:par>
                                <p:cTn id="127" presetID="10" presetClass="entr" presetSubtype="0" fill="hold" grpId="0" nodeType="withEffect">
                                  <p:stCondLst>
                                    <p:cond delay="0"/>
                                  </p:stCondLst>
                                  <p:childTnLst>
                                    <p:set>
                                      <p:cBhvr>
                                        <p:cTn id="125" dur="1" fill="hold">
                                          <p:stCondLst>
                                            <p:cond delay="0"/>
                                          </p:stCondLst>
                                        </p:cTn>
                                        <p:tgtEl>
                                          <p:spTgt spid="55"/>
                                        </p:tgtEl>
                                        <p:attrNameLst>
                                          <p:attrName>style.visibility</p:attrName>
                                        </p:attrNameLst>
                                      </p:cBhvr>
                                      <p:to>
                                        <p:strVal val="visible"/>
                                      </p:to>
                                    </p:set>
                                    <p:animEffect transition="in" filter="fade">
                                      <p:cBhvr>
                                        <p:cTn id="126" dur="500"/>
                                        <p:tgtEl>
                                          <p:spTgt spid="55"/>
                                        </p:tgtEl>
                                      </p:cBhvr>
                                    </p:animEffect>
                                  </p:childTnLst>
                                </p:cTn>
                              </p:par>
                              <p:par>
                                <p:cTn id="130" presetID="10" presetClass="entr" presetSubtype="0" fill="hold" grpId="0" nodeType="withEffect">
                                  <p:stCondLst>
                                    <p:cond delay="0"/>
                                  </p:stCondLst>
                                  <p:childTnLst>
                                    <p:set>
                                      <p:cBhvr>
                                        <p:cTn id="128" dur="1" fill="hold">
                                          <p:stCondLst>
                                            <p:cond delay="0"/>
                                          </p:stCondLst>
                                        </p:cTn>
                                        <p:tgtEl>
                                          <p:spTgt spid="58"/>
                                        </p:tgtEl>
                                        <p:attrNameLst>
                                          <p:attrName>style.visibility</p:attrName>
                                        </p:attrNameLst>
                                      </p:cBhvr>
                                      <p:to>
                                        <p:strVal val="visible"/>
                                      </p:to>
                                    </p:set>
                                    <p:animEffect transition="in" filter="fade">
                                      <p:cBhvr>
                                        <p:cTn id="129" dur="500"/>
                                        <p:tgtEl>
                                          <p:spTgt spid="58"/>
                                        </p:tgtEl>
                                      </p:cBhvr>
                                    </p:animEffect>
                                  </p:childTnLst>
                                </p:cTn>
                              </p:par>
                            </p:childTnLst>
                          </p:cTn>
                        </p:par>
                      </p:childTnLst>
                    </p:cTn>
                  </p:par>
                  <p:par>
                    <p:cTn id="131" fill="hold">
                      <p:stCondLst>
                        <p:cond delay="indefinite"/>
                      </p:stCondLst>
                      <p:childTnLst>
                        <p:par>
                          <p:cTn id="132" fill="hold">
                            <p:stCondLst>
                              <p:cond delay="0"/>
                            </p:stCondLst>
                            <p:childTnLst>
                              <p:par>
                                <p:cTn id="137" presetID="2" presetClass="entr" presetSubtype="4" fill="hold" grpId="0" nodeType="clickEffect">
                                  <p:stCondLst>
                                    <p:cond delay="0"/>
                                  </p:stCondLst>
                                  <p:childTnLst>
                                    <p:set>
                                      <p:cBhvr>
                                        <p:cTn id="133" dur="1" fill="hold">
                                          <p:stCondLst>
                                            <p:cond delay="0"/>
                                          </p:stCondLst>
                                        </p:cTn>
                                        <p:tgtEl>
                                          <p:spTgt spid="26"/>
                                        </p:tgtEl>
                                        <p:attrNameLst>
                                          <p:attrName>style.visibility</p:attrName>
                                        </p:attrNameLst>
                                      </p:cBhvr>
                                      <p:to>
                                        <p:strVal val="visible"/>
                                      </p:to>
                                    </p:set>
                                    <p:anim calcmode="lin" valueType="num">
                                      <p:cBhvr additive="base">
                                        <p:cTn id="134" dur="500" fill="hold"/>
                                        <p:tgtEl>
                                          <p:spTgt spid="26"/>
                                        </p:tgtEl>
                                        <p:attrNameLst>
                                          <p:attrName>ppt_x</p:attrName>
                                        </p:attrNameLst>
                                      </p:cBhvr>
                                      <p:tavLst>
                                        <p:tav tm="0">
                                          <p:val>
                                            <p:strVal val="#ppt_x"/>
                                          </p:val>
                                        </p:tav>
                                        <p:tav tm="100000">
                                          <p:val>
                                            <p:strVal val="#ppt_x"/>
                                          </p:val>
                                        </p:tav>
                                      </p:tavLst>
                                    </p:anim>
                                    <p:anim calcmode="lin" valueType="num">
                                      <p:cBhvr additive="base">
                                        <p:cTn id="135" dur="500" fill="hold"/>
                                        <p:tgtEl>
                                          <p:spTgt spid="26"/>
                                        </p:tgtEl>
                                        <p:attrNameLst>
                                          <p:attrName>ppt_y</p:attrName>
                                        </p:attrNameLst>
                                      </p:cBhvr>
                                      <p:tavLst>
                                        <p:tav tm="0">
                                          <p:val>
                                            <p:strVal val="#ppt_y+0.1"/>
                                          </p:val>
                                        </p:tav>
                                        <p:tav tm="100000">
                                          <p:val>
                                            <p:strVal val="#ppt_y"/>
                                          </p:val>
                                        </p:tav>
                                      </p:tavLst>
                                    </p:anim>
                                    <p:animEffect transition="in" filter="fade">
                                      <p:cBhvr>
                                        <p:cTn id="136" dur="500"/>
                                        <p:tgtEl>
                                          <p:spTgt spid="26"/>
                                        </p:tgtEl>
                                      </p:cBhvr>
                                    </p:animEffect>
                                  </p:childTnLst>
                                </p:cTn>
                              </p:par>
                              <p:par>
                                <p:cTn id="142" presetID="2" presetClass="entr" presetSubtype="4" fill="hold" grpId="0" nodeType="withEffect">
                                  <p:stCondLst>
                                    <p:cond delay="0"/>
                                  </p:stCondLst>
                                  <p:childTnLst>
                                    <p:set>
                                      <p:cBhvr>
                                        <p:cTn id="138" dur="1" fill="hold">
                                          <p:stCondLst>
                                            <p:cond delay="0"/>
                                          </p:stCondLst>
                                        </p:cTn>
                                        <p:tgtEl>
                                          <p:spTgt spid="27"/>
                                        </p:tgtEl>
                                        <p:attrNameLst>
                                          <p:attrName>style.visibility</p:attrName>
                                        </p:attrNameLst>
                                      </p:cBhvr>
                                      <p:to>
                                        <p:strVal val="visible"/>
                                      </p:to>
                                    </p:set>
                                    <p:anim calcmode="lin" valueType="num">
                                      <p:cBhvr additive="base">
                                        <p:cTn id="139" dur="500" fill="hold"/>
                                        <p:tgtEl>
                                          <p:spTgt spid="27"/>
                                        </p:tgtEl>
                                        <p:attrNameLst>
                                          <p:attrName>ppt_x</p:attrName>
                                        </p:attrNameLst>
                                      </p:cBhvr>
                                      <p:tavLst>
                                        <p:tav tm="0">
                                          <p:val>
                                            <p:strVal val="#ppt_x"/>
                                          </p:val>
                                        </p:tav>
                                        <p:tav tm="100000">
                                          <p:val>
                                            <p:strVal val="#ppt_x"/>
                                          </p:val>
                                        </p:tav>
                                      </p:tavLst>
                                    </p:anim>
                                    <p:anim calcmode="lin" valueType="num">
                                      <p:cBhvr additive="base">
                                        <p:cTn id="140" dur="500" fill="hold"/>
                                        <p:tgtEl>
                                          <p:spTgt spid="27"/>
                                        </p:tgtEl>
                                        <p:attrNameLst>
                                          <p:attrName>ppt_y</p:attrName>
                                        </p:attrNameLst>
                                      </p:cBhvr>
                                      <p:tavLst>
                                        <p:tav tm="0">
                                          <p:val>
                                            <p:strVal val="#ppt_y+0.1"/>
                                          </p:val>
                                        </p:tav>
                                        <p:tav tm="100000">
                                          <p:val>
                                            <p:strVal val="#ppt_y"/>
                                          </p:val>
                                        </p:tav>
                                      </p:tavLst>
                                    </p:anim>
                                    <p:animEffect transition="in" filter="fade">
                                      <p:cBhvr>
                                        <p:cTn id="141" dur="500"/>
                                        <p:tgtEl>
                                          <p:spTgt spid="27"/>
                                        </p:tgtEl>
                                      </p:cBhvr>
                                    </p:animEffect>
                                  </p:childTnLst>
                                </p:cTn>
                              </p:par>
                            </p:childTnLst>
                          </p:cTn>
                        </p:par>
                      </p:childTnLst>
                    </p:cTn>
                  </p:par>
                  <p:par>
                    <p:cTn id="143" fill="hold">
                      <p:stCondLst>
                        <p:cond delay="indefinite"/>
                      </p:stCondLst>
                      <p:childTnLst>
                        <p:par>
                          <p:cTn id="144" fill="hold">
                            <p:stCondLst>
                              <p:cond delay="0"/>
                            </p:stCondLst>
                            <p:childTnLst>
                              <p:par>
                                <p:cTn id="149" presetID="2" presetClass="entr" presetSubtype="4" fill="hold" grpId="0" nodeType="clickEffect">
                                  <p:stCondLst>
                                    <p:cond delay="150"/>
                                  </p:stCondLst>
                                  <p:childTnLst>
                                    <p:set>
                                      <p:cBhvr>
                                        <p:cTn id="145" dur="1" fill="hold">
                                          <p:stCondLst>
                                            <p:cond delay="0"/>
                                          </p:stCondLst>
                                        </p:cTn>
                                        <p:tgtEl>
                                          <p:spTgt spid="41"/>
                                        </p:tgtEl>
                                        <p:attrNameLst>
                                          <p:attrName>style.visibility</p:attrName>
                                        </p:attrNameLst>
                                      </p:cBhvr>
                                      <p:to>
                                        <p:strVal val="visible"/>
                                      </p:to>
                                    </p:set>
                                    <p:anim calcmode="lin" valueType="num">
                                      <p:cBhvr additive="base">
                                        <p:cTn id="146" dur="500" fill="hold"/>
                                        <p:tgtEl>
                                          <p:spTgt spid="41"/>
                                        </p:tgtEl>
                                        <p:attrNameLst>
                                          <p:attrName>ppt_x</p:attrName>
                                        </p:attrNameLst>
                                      </p:cBhvr>
                                      <p:tavLst>
                                        <p:tav tm="0">
                                          <p:val>
                                            <p:strVal val="#ppt_x"/>
                                          </p:val>
                                        </p:tav>
                                        <p:tav tm="100000">
                                          <p:val>
                                            <p:strVal val="#ppt_x"/>
                                          </p:val>
                                        </p:tav>
                                      </p:tavLst>
                                    </p:anim>
                                    <p:anim calcmode="lin" valueType="num">
                                      <p:cBhvr additive="base">
                                        <p:cTn id="147" dur="500" fill="hold"/>
                                        <p:tgtEl>
                                          <p:spTgt spid="41"/>
                                        </p:tgtEl>
                                        <p:attrNameLst>
                                          <p:attrName>ppt_y</p:attrName>
                                        </p:attrNameLst>
                                      </p:cBhvr>
                                      <p:tavLst>
                                        <p:tav tm="0">
                                          <p:val>
                                            <p:strVal val="#ppt_y+0.1"/>
                                          </p:val>
                                        </p:tav>
                                        <p:tav tm="100000">
                                          <p:val>
                                            <p:strVal val="#ppt_y"/>
                                          </p:val>
                                        </p:tav>
                                      </p:tavLst>
                                    </p:anim>
                                    <p:animEffect transition="in" filter="fade">
                                      <p:cBhvr>
                                        <p:cTn id="148" dur="500"/>
                                        <p:tgtEl>
                                          <p:spTgt spid="41"/>
                                        </p:tgtEl>
                                      </p:cBhvr>
                                    </p:animEffect>
                                  </p:childTnLst>
                                </p:cTn>
                              </p:par>
                              <p:par>
                                <p:cTn id="154" presetID="2" presetClass="entr" presetSubtype="4" fill="hold" grpId="0" nodeType="withEffect">
                                  <p:stCondLst>
                                    <p:cond delay="150"/>
                                  </p:stCondLst>
                                  <p:childTnLst>
                                    <p:set>
                                      <p:cBhvr>
                                        <p:cTn id="150" dur="1" fill="hold">
                                          <p:stCondLst>
                                            <p:cond delay="0"/>
                                          </p:stCondLst>
                                        </p:cTn>
                                        <p:tgtEl>
                                          <p:spTgt spid="42"/>
                                        </p:tgtEl>
                                        <p:attrNameLst>
                                          <p:attrName>style.visibility</p:attrName>
                                        </p:attrNameLst>
                                      </p:cBhvr>
                                      <p:to>
                                        <p:strVal val="visible"/>
                                      </p:to>
                                    </p:set>
                                    <p:anim calcmode="lin" valueType="num">
                                      <p:cBhvr additive="base">
                                        <p:cTn id="151" dur="500" fill="hold"/>
                                        <p:tgtEl>
                                          <p:spTgt spid="42"/>
                                        </p:tgtEl>
                                        <p:attrNameLst>
                                          <p:attrName>ppt_x</p:attrName>
                                        </p:attrNameLst>
                                      </p:cBhvr>
                                      <p:tavLst>
                                        <p:tav tm="0">
                                          <p:val>
                                            <p:strVal val="#ppt_x"/>
                                          </p:val>
                                        </p:tav>
                                        <p:tav tm="100000">
                                          <p:val>
                                            <p:strVal val="#ppt_x"/>
                                          </p:val>
                                        </p:tav>
                                      </p:tavLst>
                                    </p:anim>
                                    <p:anim calcmode="lin" valueType="num">
                                      <p:cBhvr additive="base">
                                        <p:cTn id="152" dur="500" fill="hold"/>
                                        <p:tgtEl>
                                          <p:spTgt spid="42"/>
                                        </p:tgtEl>
                                        <p:attrNameLst>
                                          <p:attrName>ppt_y</p:attrName>
                                        </p:attrNameLst>
                                      </p:cBhvr>
                                      <p:tavLst>
                                        <p:tav tm="0">
                                          <p:val>
                                            <p:strVal val="#ppt_y+0.1"/>
                                          </p:val>
                                        </p:tav>
                                        <p:tav tm="100000">
                                          <p:val>
                                            <p:strVal val="#ppt_y"/>
                                          </p:val>
                                        </p:tav>
                                      </p:tavLst>
                                    </p:anim>
                                    <p:animEffect transition="in" filter="fade">
                                      <p:cBhvr>
                                        <p:cTn id="153" dur="500"/>
                                        <p:tgtEl>
                                          <p:spTgt spid="42"/>
                                        </p:tgtEl>
                                      </p:cBhvr>
                                    </p:animEffect>
                                  </p:childTnLst>
                                </p:cTn>
                              </p:par>
                              <p:par>
                                <p:cTn id="159" presetID="2" presetClass="entr" presetSubtype="4" fill="hold" grpId="0" nodeType="withEffect">
                                  <p:stCondLst>
                                    <p:cond delay="300"/>
                                  </p:stCondLst>
                                  <p:childTnLst>
                                    <p:set>
                                      <p:cBhvr>
                                        <p:cTn id="155" dur="1" fill="hold">
                                          <p:stCondLst>
                                            <p:cond delay="0"/>
                                          </p:stCondLst>
                                        </p:cTn>
                                        <p:tgtEl>
                                          <p:spTgt spid="56"/>
                                        </p:tgtEl>
                                        <p:attrNameLst>
                                          <p:attrName>style.visibility</p:attrName>
                                        </p:attrNameLst>
                                      </p:cBhvr>
                                      <p:to>
                                        <p:strVal val="visible"/>
                                      </p:to>
                                    </p:set>
                                    <p:anim calcmode="lin" valueType="num">
                                      <p:cBhvr additive="base">
                                        <p:cTn id="156" dur="500" fill="hold"/>
                                        <p:tgtEl>
                                          <p:spTgt spid="56"/>
                                        </p:tgtEl>
                                        <p:attrNameLst>
                                          <p:attrName>ppt_x</p:attrName>
                                        </p:attrNameLst>
                                      </p:cBhvr>
                                      <p:tavLst>
                                        <p:tav tm="0">
                                          <p:val>
                                            <p:strVal val="#ppt_x"/>
                                          </p:val>
                                        </p:tav>
                                        <p:tav tm="100000">
                                          <p:val>
                                            <p:strVal val="#ppt_x"/>
                                          </p:val>
                                        </p:tav>
                                      </p:tavLst>
                                    </p:anim>
                                    <p:anim calcmode="lin" valueType="num">
                                      <p:cBhvr additive="base">
                                        <p:cTn id="157" dur="500" fill="hold"/>
                                        <p:tgtEl>
                                          <p:spTgt spid="56"/>
                                        </p:tgtEl>
                                        <p:attrNameLst>
                                          <p:attrName>ppt_y</p:attrName>
                                        </p:attrNameLst>
                                      </p:cBhvr>
                                      <p:tavLst>
                                        <p:tav tm="0">
                                          <p:val>
                                            <p:strVal val="#ppt_y+0.1"/>
                                          </p:val>
                                        </p:tav>
                                        <p:tav tm="100000">
                                          <p:val>
                                            <p:strVal val="#ppt_y"/>
                                          </p:val>
                                        </p:tav>
                                      </p:tavLst>
                                    </p:anim>
                                    <p:animEffect transition="in" filter="fade">
                                      <p:cBhvr>
                                        <p:cTn id="158" dur="500"/>
                                        <p:tgtEl>
                                          <p:spTgt spid="56"/>
                                        </p:tgtEl>
                                      </p:cBhvr>
                                    </p:animEffect>
                                  </p:childTnLst>
                                </p:cTn>
                              </p:par>
                              <p:par>
                                <p:cTn id="164" presetID="2" presetClass="entr" presetSubtype="4" fill="hold" grpId="0" nodeType="withEffect">
                                  <p:stCondLst>
                                    <p:cond delay="300"/>
                                  </p:stCondLst>
                                  <p:childTnLst>
                                    <p:set>
                                      <p:cBhvr>
                                        <p:cTn id="160" dur="1" fill="hold">
                                          <p:stCondLst>
                                            <p:cond delay="0"/>
                                          </p:stCondLst>
                                        </p:cTn>
                                        <p:tgtEl>
                                          <p:spTgt spid="57"/>
                                        </p:tgtEl>
                                        <p:attrNameLst>
                                          <p:attrName>style.visibility</p:attrName>
                                        </p:attrNameLst>
                                      </p:cBhvr>
                                      <p:to>
                                        <p:strVal val="visible"/>
                                      </p:to>
                                    </p:set>
                                    <p:anim calcmode="lin" valueType="num">
                                      <p:cBhvr additive="base">
                                        <p:cTn id="161" dur="500" fill="hold"/>
                                        <p:tgtEl>
                                          <p:spTgt spid="57"/>
                                        </p:tgtEl>
                                        <p:attrNameLst>
                                          <p:attrName>ppt_x</p:attrName>
                                        </p:attrNameLst>
                                      </p:cBhvr>
                                      <p:tavLst>
                                        <p:tav tm="0">
                                          <p:val>
                                            <p:strVal val="#ppt_x"/>
                                          </p:val>
                                        </p:tav>
                                        <p:tav tm="100000">
                                          <p:val>
                                            <p:strVal val="#ppt_x"/>
                                          </p:val>
                                        </p:tav>
                                      </p:tavLst>
                                    </p:anim>
                                    <p:anim calcmode="lin" valueType="num">
                                      <p:cBhvr additive="base">
                                        <p:cTn id="162" dur="500" fill="hold"/>
                                        <p:tgtEl>
                                          <p:spTgt spid="57"/>
                                        </p:tgtEl>
                                        <p:attrNameLst>
                                          <p:attrName>ppt_y</p:attrName>
                                        </p:attrNameLst>
                                      </p:cBhvr>
                                      <p:tavLst>
                                        <p:tav tm="0">
                                          <p:val>
                                            <p:strVal val="#ppt_y+0.1"/>
                                          </p:val>
                                        </p:tav>
                                        <p:tav tm="100000">
                                          <p:val>
                                            <p:strVal val="#ppt_y"/>
                                          </p:val>
                                        </p:tav>
                                      </p:tavLst>
                                    </p:anim>
                                    <p:animEffect transition="in" filter="fade">
                                      <p:cBhvr>
                                        <p:cTn id="163" dur="500"/>
                                        <p:tgtEl>
                                          <p:spTgt spid="57"/>
                                        </p:tgtEl>
                                      </p:cBhvr>
                                    </p:animEffect>
                                  </p:childTnLst>
                                </p:cTn>
                              </p:par>
                            </p:childTnLst>
                          </p:cTn>
                        </p:par>
                      </p:childTnLst>
                    </p:cTn>
                  </p:par>
                  <p:par>
                    <p:cTn id="165" fill="hold">
                      <p:stCondLst>
                        <p:cond delay="indefinite"/>
                      </p:stCondLst>
                      <p:childTnLst>
                        <p:par>
                          <p:cTn id="166" fill="hold">
                            <p:stCondLst>
                              <p:cond delay="0"/>
                            </p:stCondLst>
                            <p:childTnLst>
                              <p:par>
                                <p:cTn id="171" presetID="2" presetClass="entr" presetSubtype="4" fill="hold" grpId="0" nodeType="clickEffect">
                                  <p:stCondLst>
                                    <p:cond delay="0"/>
                                  </p:stCondLst>
                                  <p:childTnLst>
                                    <p:set>
                                      <p:cBhvr>
                                        <p:cTn id="167" dur="1" fill="hold">
                                          <p:stCondLst>
                                            <p:cond delay="0"/>
                                          </p:stCondLst>
                                        </p:cTn>
                                        <p:tgtEl>
                                          <p:spTgt spid="59"/>
                                        </p:tgtEl>
                                        <p:attrNameLst>
                                          <p:attrName>style.visibility</p:attrName>
                                        </p:attrNameLst>
                                      </p:cBhvr>
                                      <p:to>
                                        <p:strVal val="visible"/>
                                      </p:to>
                                    </p:set>
                                    <p:anim calcmode="lin" valueType="num">
                                      <p:cBhvr additive="base">
                                        <p:cTn id="168" dur="500" fill="hold"/>
                                        <p:tgtEl>
                                          <p:spTgt spid="59"/>
                                        </p:tgtEl>
                                        <p:attrNameLst>
                                          <p:attrName>ppt_x</p:attrName>
                                        </p:attrNameLst>
                                      </p:cBhvr>
                                      <p:tavLst>
                                        <p:tav tm="0">
                                          <p:val>
                                            <p:strVal val="#ppt_x"/>
                                          </p:val>
                                        </p:tav>
                                        <p:tav tm="100000">
                                          <p:val>
                                            <p:strVal val="#ppt_x"/>
                                          </p:val>
                                        </p:tav>
                                      </p:tavLst>
                                    </p:anim>
                                    <p:anim calcmode="lin" valueType="num">
                                      <p:cBhvr additive="base">
                                        <p:cTn id="169" dur="500" fill="hold"/>
                                        <p:tgtEl>
                                          <p:spTgt spid="59"/>
                                        </p:tgtEl>
                                        <p:attrNameLst>
                                          <p:attrName>ppt_y</p:attrName>
                                        </p:attrNameLst>
                                      </p:cBhvr>
                                      <p:tavLst>
                                        <p:tav tm="0">
                                          <p:val>
                                            <p:strVal val="#ppt_y+0.1"/>
                                          </p:val>
                                        </p:tav>
                                        <p:tav tm="100000">
                                          <p:val>
                                            <p:strVal val="#ppt_y"/>
                                          </p:val>
                                        </p:tav>
                                      </p:tavLst>
                                    </p:anim>
                                    <p:animEffect transition="in" filter="fade">
                                      <p:cBhvr>
                                        <p:cTn id="170" dur="500"/>
                                        <p:tgtEl>
                                          <p:spTgt spid="59"/>
                                        </p:tgtEl>
                                      </p:cBhvr>
                                    </p:animEffect>
                                  </p:childTnLst>
                                </p:cTn>
                              </p:par>
                              <p:par>
                                <p:cTn id="176" presetID="2" presetClass="entr" presetSubtype="4" fill="hold" grpId="0" nodeType="withEffect">
                                  <p:stCondLst>
                                    <p:cond delay="0"/>
                                  </p:stCondLst>
                                  <p:childTnLst>
                                    <p:set>
                                      <p:cBhvr>
                                        <p:cTn id="172" dur="1" fill="hold">
                                          <p:stCondLst>
                                            <p:cond delay="0"/>
                                          </p:stCondLst>
                                        </p:cTn>
                                        <p:tgtEl>
                                          <p:spTgt spid="60"/>
                                        </p:tgtEl>
                                        <p:attrNameLst>
                                          <p:attrName>style.visibility</p:attrName>
                                        </p:attrNameLst>
                                      </p:cBhvr>
                                      <p:to>
                                        <p:strVal val="visible"/>
                                      </p:to>
                                    </p:set>
                                    <p:anim calcmode="lin" valueType="num">
                                      <p:cBhvr additive="base">
                                        <p:cTn id="173" dur="500" fill="hold"/>
                                        <p:tgtEl>
                                          <p:spTgt spid="60"/>
                                        </p:tgtEl>
                                        <p:attrNameLst>
                                          <p:attrName>ppt_x</p:attrName>
                                        </p:attrNameLst>
                                      </p:cBhvr>
                                      <p:tavLst>
                                        <p:tav tm="0">
                                          <p:val>
                                            <p:strVal val="#ppt_x"/>
                                          </p:val>
                                        </p:tav>
                                        <p:tav tm="100000">
                                          <p:val>
                                            <p:strVal val="#ppt_x"/>
                                          </p:val>
                                        </p:tav>
                                      </p:tavLst>
                                    </p:anim>
                                    <p:anim calcmode="lin" valueType="num">
                                      <p:cBhvr additive="base">
                                        <p:cTn id="174" dur="500" fill="hold"/>
                                        <p:tgtEl>
                                          <p:spTgt spid="60"/>
                                        </p:tgtEl>
                                        <p:attrNameLst>
                                          <p:attrName>ppt_y</p:attrName>
                                        </p:attrNameLst>
                                      </p:cBhvr>
                                      <p:tavLst>
                                        <p:tav tm="0">
                                          <p:val>
                                            <p:strVal val="#ppt_y+0.1"/>
                                          </p:val>
                                        </p:tav>
                                        <p:tav tm="100000">
                                          <p:val>
                                            <p:strVal val="#ppt_y"/>
                                          </p:val>
                                        </p:tav>
                                      </p:tavLst>
                                    </p:anim>
                                    <p:animEffect transition="in" filter="fade">
                                      <p:cBhvr>
                                        <p:cTn id="175" dur="500"/>
                                        <p:tgtEl>
                                          <p:spTgt spid="60"/>
                                        </p:tgtEl>
                                      </p:cBhvr>
                                    </p:animEffect>
                                  </p:childTnLst>
                                </p:cTn>
                              </p:par>
                              <p:par>
                                <p:cTn id="181" presetID="2" presetClass="entr" presetSubtype="4" fill="hold" grpId="0" nodeType="withEffect">
                                  <p:stCondLst>
                                    <p:cond delay="120"/>
                                  </p:stCondLst>
                                  <p:childTnLst>
                                    <p:set>
                                      <p:cBhvr>
                                        <p:cTn id="177" dur="1" fill="hold">
                                          <p:stCondLst>
                                            <p:cond delay="0"/>
                                          </p:stCondLst>
                                        </p:cTn>
                                        <p:tgtEl>
                                          <p:spTgt spid="61"/>
                                        </p:tgtEl>
                                        <p:attrNameLst>
                                          <p:attrName>style.visibility</p:attrName>
                                        </p:attrNameLst>
                                      </p:cBhvr>
                                      <p:to>
                                        <p:strVal val="visible"/>
                                      </p:to>
                                    </p:set>
                                    <p:anim calcmode="lin" valueType="num">
                                      <p:cBhvr additive="base">
                                        <p:cTn id="178" dur="500" fill="hold"/>
                                        <p:tgtEl>
                                          <p:spTgt spid="61"/>
                                        </p:tgtEl>
                                        <p:attrNameLst>
                                          <p:attrName>ppt_x</p:attrName>
                                        </p:attrNameLst>
                                      </p:cBhvr>
                                      <p:tavLst>
                                        <p:tav tm="0">
                                          <p:val>
                                            <p:strVal val="#ppt_x"/>
                                          </p:val>
                                        </p:tav>
                                        <p:tav tm="100000">
                                          <p:val>
                                            <p:strVal val="#ppt_x"/>
                                          </p:val>
                                        </p:tav>
                                      </p:tavLst>
                                    </p:anim>
                                    <p:anim calcmode="lin" valueType="num">
                                      <p:cBhvr additive="base">
                                        <p:cTn id="179" dur="500" fill="hold"/>
                                        <p:tgtEl>
                                          <p:spTgt spid="61"/>
                                        </p:tgtEl>
                                        <p:attrNameLst>
                                          <p:attrName>ppt_y</p:attrName>
                                        </p:attrNameLst>
                                      </p:cBhvr>
                                      <p:tavLst>
                                        <p:tav tm="0">
                                          <p:val>
                                            <p:strVal val="#ppt_y+0.1"/>
                                          </p:val>
                                        </p:tav>
                                        <p:tav tm="100000">
                                          <p:val>
                                            <p:strVal val="#ppt_y"/>
                                          </p:val>
                                        </p:tav>
                                      </p:tavLst>
                                    </p:anim>
                                    <p:animEffect transition="in" filter="fade">
                                      <p:cBhvr>
                                        <p:cTn id="180" dur="500"/>
                                        <p:tgtEl>
                                          <p:spTgt spid="61"/>
                                        </p:tgtEl>
                                      </p:cBhvr>
                                    </p:animEffect>
                                  </p:childTnLst>
                                </p:cTn>
                              </p:par>
                              <p:par>
                                <p:cTn id="186" presetID="2" presetClass="entr" presetSubtype="4" fill="hold" grpId="0" nodeType="withEffect">
                                  <p:stCondLst>
                                    <p:cond delay="120"/>
                                  </p:stCondLst>
                                  <p:childTnLst>
                                    <p:set>
                                      <p:cBhvr>
                                        <p:cTn id="182" dur="1" fill="hold">
                                          <p:stCondLst>
                                            <p:cond delay="0"/>
                                          </p:stCondLst>
                                        </p:cTn>
                                        <p:tgtEl>
                                          <p:spTgt spid="62"/>
                                        </p:tgtEl>
                                        <p:attrNameLst>
                                          <p:attrName>style.visibility</p:attrName>
                                        </p:attrNameLst>
                                      </p:cBhvr>
                                      <p:to>
                                        <p:strVal val="visible"/>
                                      </p:to>
                                    </p:set>
                                    <p:anim calcmode="lin" valueType="num">
                                      <p:cBhvr additive="base">
                                        <p:cTn id="183" dur="500" fill="hold"/>
                                        <p:tgtEl>
                                          <p:spTgt spid="62"/>
                                        </p:tgtEl>
                                        <p:attrNameLst>
                                          <p:attrName>ppt_x</p:attrName>
                                        </p:attrNameLst>
                                      </p:cBhvr>
                                      <p:tavLst>
                                        <p:tav tm="0">
                                          <p:val>
                                            <p:strVal val="#ppt_x"/>
                                          </p:val>
                                        </p:tav>
                                        <p:tav tm="100000">
                                          <p:val>
                                            <p:strVal val="#ppt_x"/>
                                          </p:val>
                                        </p:tav>
                                      </p:tavLst>
                                    </p:anim>
                                    <p:anim calcmode="lin" valueType="num">
                                      <p:cBhvr additive="base">
                                        <p:cTn id="184" dur="500" fill="hold"/>
                                        <p:tgtEl>
                                          <p:spTgt spid="62"/>
                                        </p:tgtEl>
                                        <p:attrNameLst>
                                          <p:attrName>ppt_y</p:attrName>
                                        </p:attrNameLst>
                                      </p:cBhvr>
                                      <p:tavLst>
                                        <p:tav tm="0">
                                          <p:val>
                                            <p:strVal val="#ppt_y+0.1"/>
                                          </p:val>
                                        </p:tav>
                                        <p:tav tm="100000">
                                          <p:val>
                                            <p:strVal val="#ppt_y"/>
                                          </p:val>
                                        </p:tav>
                                      </p:tavLst>
                                    </p:anim>
                                    <p:animEffect transition="in" filter="fade">
                                      <p:cBhvr>
                                        <p:cTn id="185" dur="500"/>
                                        <p:tgtEl>
                                          <p:spTgt spid="62"/>
                                        </p:tgtEl>
                                      </p:cBhvr>
                                    </p:animEffect>
                                  </p:childTnLst>
                                </p:cTn>
                              </p:par>
                              <p:par>
                                <p:cTn id="191" presetID="2" presetClass="entr" presetSubtype="4" fill="hold" grpId="0" nodeType="withEffect">
                                  <p:stCondLst>
                                    <p:cond delay="240"/>
                                  </p:stCondLst>
                                  <p:childTnLst>
                                    <p:set>
                                      <p:cBhvr>
                                        <p:cTn id="187" dur="1" fill="hold">
                                          <p:stCondLst>
                                            <p:cond delay="0"/>
                                          </p:stCondLst>
                                        </p:cTn>
                                        <p:tgtEl>
                                          <p:spTgt spid="63"/>
                                        </p:tgtEl>
                                        <p:attrNameLst>
                                          <p:attrName>style.visibility</p:attrName>
                                        </p:attrNameLst>
                                      </p:cBhvr>
                                      <p:to>
                                        <p:strVal val="visible"/>
                                      </p:to>
                                    </p:set>
                                    <p:anim calcmode="lin" valueType="num">
                                      <p:cBhvr additive="base">
                                        <p:cTn id="188" dur="500" fill="hold"/>
                                        <p:tgtEl>
                                          <p:spTgt spid="63"/>
                                        </p:tgtEl>
                                        <p:attrNameLst>
                                          <p:attrName>ppt_x</p:attrName>
                                        </p:attrNameLst>
                                      </p:cBhvr>
                                      <p:tavLst>
                                        <p:tav tm="0">
                                          <p:val>
                                            <p:strVal val="#ppt_x"/>
                                          </p:val>
                                        </p:tav>
                                        <p:tav tm="100000">
                                          <p:val>
                                            <p:strVal val="#ppt_x"/>
                                          </p:val>
                                        </p:tav>
                                      </p:tavLst>
                                    </p:anim>
                                    <p:anim calcmode="lin" valueType="num">
                                      <p:cBhvr additive="base">
                                        <p:cTn id="189" dur="500" fill="hold"/>
                                        <p:tgtEl>
                                          <p:spTgt spid="63"/>
                                        </p:tgtEl>
                                        <p:attrNameLst>
                                          <p:attrName>ppt_y</p:attrName>
                                        </p:attrNameLst>
                                      </p:cBhvr>
                                      <p:tavLst>
                                        <p:tav tm="0">
                                          <p:val>
                                            <p:strVal val="#ppt_y+0.1"/>
                                          </p:val>
                                        </p:tav>
                                        <p:tav tm="100000">
                                          <p:val>
                                            <p:strVal val="#ppt_y"/>
                                          </p:val>
                                        </p:tav>
                                      </p:tavLst>
                                    </p:anim>
                                    <p:animEffect transition="in" filter="fade">
                                      <p:cBhvr>
                                        <p:cTn id="190" dur="500"/>
                                        <p:tgtEl>
                                          <p:spTgt spid="63"/>
                                        </p:tgtEl>
                                      </p:cBhvr>
                                    </p:animEffect>
                                  </p:childTnLst>
                                </p:cTn>
                              </p:par>
                              <p:par>
                                <p:cTn id="196" presetID="2" presetClass="entr" presetSubtype="4" fill="hold" grpId="0" nodeType="withEffect">
                                  <p:stCondLst>
                                    <p:cond delay="240"/>
                                  </p:stCondLst>
                                  <p:childTnLst>
                                    <p:set>
                                      <p:cBhvr>
                                        <p:cTn id="192" dur="1" fill="hold">
                                          <p:stCondLst>
                                            <p:cond delay="0"/>
                                          </p:stCondLst>
                                        </p:cTn>
                                        <p:tgtEl>
                                          <p:spTgt spid="64"/>
                                        </p:tgtEl>
                                        <p:attrNameLst>
                                          <p:attrName>style.visibility</p:attrName>
                                        </p:attrNameLst>
                                      </p:cBhvr>
                                      <p:to>
                                        <p:strVal val="visible"/>
                                      </p:to>
                                    </p:set>
                                    <p:anim calcmode="lin" valueType="num">
                                      <p:cBhvr additive="base">
                                        <p:cTn id="193" dur="500" fill="hold"/>
                                        <p:tgtEl>
                                          <p:spTgt spid="64"/>
                                        </p:tgtEl>
                                        <p:attrNameLst>
                                          <p:attrName>ppt_x</p:attrName>
                                        </p:attrNameLst>
                                      </p:cBhvr>
                                      <p:tavLst>
                                        <p:tav tm="0">
                                          <p:val>
                                            <p:strVal val="#ppt_x"/>
                                          </p:val>
                                        </p:tav>
                                        <p:tav tm="100000">
                                          <p:val>
                                            <p:strVal val="#ppt_x"/>
                                          </p:val>
                                        </p:tav>
                                      </p:tavLst>
                                    </p:anim>
                                    <p:anim calcmode="lin" valueType="num">
                                      <p:cBhvr additive="base">
                                        <p:cTn id="194" dur="500" fill="hold"/>
                                        <p:tgtEl>
                                          <p:spTgt spid="64"/>
                                        </p:tgtEl>
                                        <p:attrNameLst>
                                          <p:attrName>ppt_y</p:attrName>
                                        </p:attrNameLst>
                                      </p:cBhvr>
                                      <p:tavLst>
                                        <p:tav tm="0">
                                          <p:val>
                                            <p:strVal val="#ppt_y+0.1"/>
                                          </p:val>
                                        </p:tav>
                                        <p:tav tm="100000">
                                          <p:val>
                                            <p:strVal val="#ppt_y"/>
                                          </p:val>
                                        </p:tav>
                                      </p:tavLst>
                                    </p:anim>
                                    <p:animEffect transition="in" filter="fade">
                                      <p:cBhvr>
                                        <p:cTn id="195" dur="500"/>
                                        <p:tgtEl>
                                          <p:spTgt spid="64"/>
                                        </p:tgtEl>
                                      </p:cBhvr>
                                    </p:animEffect>
                                  </p:childTnLst>
                                </p:cTn>
                              </p:par>
                            </p:childTnLst>
                          </p:cTn>
                        </p:par>
                      </p:childTnLst>
                    </p:cTn>
                  </p:par>
                  <p:par>
                    <p:cTn id="197" fill="hold">
                      <p:stCondLst>
                        <p:cond delay="indefinite"/>
                      </p:stCondLst>
                      <p:childTnLst>
                        <p:par>
                          <p:cTn id="198" fill="hold">
                            <p:stCondLst>
                              <p:cond delay="0"/>
                            </p:stCondLst>
                            <p:childTnLst>
                              <p:par>
                                <p:cTn id="203" presetID="2" presetClass="entr" presetSubtype="4" fill="hold" grpId="0" nodeType="clickEffect">
                                  <p:stCondLst>
                                    <p:cond delay="0"/>
                                  </p:stCondLst>
                                  <p:childTnLst>
                                    <p:set>
                                      <p:cBhvr>
                                        <p:cTn id="199" dur="1" fill="hold">
                                          <p:stCondLst>
                                            <p:cond delay="0"/>
                                          </p:stCondLst>
                                        </p:cTn>
                                        <p:tgtEl>
                                          <p:spTgt spid="65"/>
                                        </p:tgtEl>
                                        <p:attrNameLst>
                                          <p:attrName>style.visibility</p:attrName>
                                        </p:attrNameLst>
                                      </p:cBhvr>
                                      <p:to>
                                        <p:strVal val="visible"/>
                                      </p:to>
                                    </p:set>
                                    <p:anim calcmode="lin" valueType="num">
                                      <p:cBhvr additive="base">
                                        <p:cTn id="200" dur="500" fill="hold"/>
                                        <p:tgtEl>
                                          <p:spTgt spid="65"/>
                                        </p:tgtEl>
                                        <p:attrNameLst>
                                          <p:attrName>ppt_x</p:attrName>
                                        </p:attrNameLst>
                                      </p:cBhvr>
                                      <p:tavLst>
                                        <p:tav tm="0">
                                          <p:val>
                                            <p:strVal val="#ppt_x"/>
                                          </p:val>
                                        </p:tav>
                                        <p:tav tm="100000">
                                          <p:val>
                                            <p:strVal val="#ppt_x"/>
                                          </p:val>
                                        </p:tav>
                                      </p:tavLst>
                                    </p:anim>
                                    <p:anim calcmode="lin" valueType="num">
                                      <p:cBhvr additive="base">
                                        <p:cTn id="201" dur="500" fill="hold"/>
                                        <p:tgtEl>
                                          <p:spTgt spid="65"/>
                                        </p:tgtEl>
                                        <p:attrNameLst>
                                          <p:attrName>ppt_y</p:attrName>
                                        </p:attrNameLst>
                                      </p:cBhvr>
                                      <p:tavLst>
                                        <p:tav tm="0">
                                          <p:val>
                                            <p:strVal val="#ppt_y+0.1"/>
                                          </p:val>
                                        </p:tav>
                                        <p:tav tm="100000">
                                          <p:val>
                                            <p:strVal val="#ppt_y"/>
                                          </p:val>
                                        </p:tav>
                                      </p:tavLst>
                                    </p:anim>
                                    <p:animEffect transition="in" filter="fade">
                                      <p:cBhvr>
                                        <p:cTn id="202" dur="500"/>
                                        <p:tgtEl>
                                          <p:spTgt spid="65"/>
                                        </p:tgtEl>
                                      </p:cBhvr>
                                    </p:animEffect>
                                  </p:childTnLst>
                                </p:cTn>
                              </p:par>
                              <p:par>
                                <p:cTn id="208" presetID="2" presetClass="entr" presetSubtype="4" fill="hold" grpId="0" nodeType="withEffect">
                                  <p:stCondLst>
                                    <p:cond delay="0"/>
                                  </p:stCondLst>
                                  <p:childTnLst>
                                    <p:set>
                                      <p:cBhvr>
                                        <p:cTn id="204" dur="1" fill="hold">
                                          <p:stCondLst>
                                            <p:cond delay="0"/>
                                          </p:stCondLst>
                                        </p:cTn>
                                        <p:tgtEl>
                                          <p:spTgt spid="66"/>
                                        </p:tgtEl>
                                        <p:attrNameLst>
                                          <p:attrName>style.visibility</p:attrName>
                                        </p:attrNameLst>
                                      </p:cBhvr>
                                      <p:to>
                                        <p:strVal val="visible"/>
                                      </p:to>
                                    </p:set>
                                    <p:anim calcmode="lin" valueType="num">
                                      <p:cBhvr additive="base">
                                        <p:cTn id="205" dur="500" fill="hold"/>
                                        <p:tgtEl>
                                          <p:spTgt spid="66"/>
                                        </p:tgtEl>
                                        <p:attrNameLst>
                                          <p:attrName>ppt_x</p:attrName>
                                        </p:attrNameLst>
                                      </p:cBhvr>
                                      <p:tavLst>
                                        <p:tav tm="0">
                                          <p:val>
                                            <p:strVal val="#ppt_x"/>
                                          </p:val>
                                        </p:tav>
                                        <p:tav tm="100000">
                                          <p:val>
                                            <p:strVal val="#ppt_x"/>
                                          </p:val>
                                        </p:tav>
                                      </p:tavLst>
                                    </p:anim>
                                    <p:anim calcmode="lin" valueType="num">
                                      <p:cBhvr additive="base">
                                        <p:cTn id="206" dur="500" fill="hold"/>
                                        <p:tgtEl>
                                          <p:spTgt spid="66"/>
                                        </p:tgtEl>
                                        <p:attrNameLst>
                                          <p:attrName>ppt_y</p:attrName>
                                        </p:attrNameLst>
                                      </p:cBhvr>
                                      <p:tavLst>
                                        <p:tav tm="0">
                                          <p:val>
                                            <p:strVal val="#ppt_y+0.1"/>
                                          </p:val>
                                        </p:tav>
                                        <p:tav tm="100000">
                                          <p:val>
                                            <p:strVal val="#ppt_y"/>
                                          </p:val>
                                        </p:tav>
                                      </p:tavLst>
                                    </p:anim>
                                    <p:animEffect transition="in" filter="fade">
                                      <p:cBhvr>
                                        <p:cTn id="207" dur="500"/>
                                        <p:tgtEl>
                                          <p:spTgt spid="66"/>
                                        </p:tgtEl>
                                      </p:cBhvr>
                                    </p:animEffect>
                                  </p:childTnLst>
                                </p:cTn>
                              </p:par>
                              <p:par>
                                <p:cTn id="213" presetID="2" presetClass="entr" presetSubtype="4" fill="hold" grpId="0" nodeType="withEffect">
                                  <p:stCondLst>
                                    <p:cond delay="0"/>
                                  </p:stCondLst>
                                  <p:childTnLst>
                                    <p:set>
                                      <p:cBhvr>
                                        <p:cTn id="209" dur="1" fill="hold">
                                          <p:stCondLst>
                                            <p:cond delay="0"/>
                                          </p:stCondLst>
                                        </p:cTn>
                                        <p:tgtEl>
                                          <p:spTgt spid="67"/>
                                        </p:tgtEl>
                                        <p:attrNameLst>
                                          <p:attrName>style.visibility</p:attrName>
                                        </p:attrNameLst>
                                      </p:cBhvr>
                                      <p:to>
                                        <p:strVal val="visible"/>
                                      </p:to>
                                    </p:set>
                                    <p:anim calcmode="lin" valueType="num">
                                      <p:cBhvr additive="base">
                                        <p:cTn id="210" dur="500" fill="hold"/>
                                        <p:tgtEl>
                                          <p:spTgt spid="67"/>
                                        </p:tgtEl>
                                        <p:attrNameLst>
                                          <p:attrName>ppt_x</p:attrName>
                                        </p:attrNameLst>
                                      </p:cBhvr>
                                      <p:tavLst>
                                        <p:tav tm="0">
                                          <p:val>
                                            <p:strVal val="#ppt_x"/>
                                          </p:val>
                                        </p:tav>
                                        <p:tav tm="100000">
                                          <p:val>
                                            <p:strVal val="#ppt_x"/>
                                          </p:val>
                                        </p:tav>
                                      </p:tavLst>
                                    </p:anim>
                                    <p:anim calcmode="lin" valueType="num">
                                      <p:cBhvr additive="base">
                                        <p:cTn id="211" dur="500" fill="hold"/>
                                        <p:tgtEl>
                                          <p:spTgt spid="67"/>
                                        </p:tgtEl>
                                        <p:attrNameLst>
                                          <p:attrName>ppt_y</p:attrName>
                                        </p:attrNameLst>
                                      </p:cBhvr>
                                      <p:tavLst>
                                        <p:tav tm="0">
                                          <p:val>
                                            <p:strVal val="#ppt_y+0.1"/>
                                          </p:val>
                                        </p:tav>
                                        <p:tav tm="100000">
                                          <p:val>
                                            <p:strVal val="#ppt_y"/>
                                          </p:val>
                                        </p:tav>
                                      </p:tavLst>
                                    </p:anim>
                                    <p:animEffect transition="in" filter="fade">
                                      <p:cBhvr>
                                        <p:cTn id="212"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0f_h8"/>
          <p:cNvSpPr txBox="1"/>
          <p:nvPr/>
        </p:nvSpPr>
        <p:spPr>
          <a:xfrm>
            <a:off x="548640" y="384048"/>
            <a:ext cx="7315200" cy="640080"/>
          </a:xfrm>
          <a:prstGeom prst="rect">
            <a:avLst/>
          </a:prstGeom>
          <a:noFill/>
        </p:spPr>
        <p:txBody>
          <a:bodyPr wrap="square" lIns="0" tIns="0" rIns="0" bIns="0" anchor="ctr">
            <a:spAutoFit/>
          </a:bodyPr>
          <a:lstStyle/>
          <a:p>
            <a:pPr algn="l"/>
            <a:r>
              <a:rPr sz="3050" b="0">
                <a:solidFill>
                  <a:srgbClr val="FFFFFF"/>
                </a:solidFill>
                <a:latin typeface="Bahnschrift SemiBold"/>
              </a:rPr>
              <a:t>Summary</a:t>
            </a:r>
          </a:p>
        </p:txBody>
      </p:sp>
      <p:sp>
        <p:nvSpPr>
          <p:cNvPr id="10" name="a1u_n9"/>
          <p:cNvSpPr/>
          <p:nvPr/>
        </p:nvSpPr>
        <p:spPr>
          <a:xfrm>
            <a:off x="548640" y="1234440"/>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u_nt10"/>
          <p:cNvSpPr txBox="1"/>
          <p:nvPr/>
        </p:nvSpPr>
        <p:spPr>
          <a:xfrm>
            <a:off x="548640" y="1234440"/>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1</a:t>
            </a:r>
          </a:p>
        </p:txBody>
      </p:sp>
      <p:sp>
        <p:nvSpPr>
          <p:cNvPr id="12" name="a1u_nb11"/>
          <p:cNvSpPr txBox="1"/>
          <p:nvPr/>
        </p:nvSpPr>
        <p:spPr>
          <a:xfrm>
            <a:off x="1133856" y="1188720"/>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A broker is a Kafka server process</a:t>
            </a:r>
          </a:p>
          <a:p>
            <a:pPr algn="l">
              <a:spcAft>
                <a:spcPts val="100"/>
              </a:spcAft>
            </a:pPr>
            <a:r>
              <a:rPr sz="1000" b="0">
                <a:solidFill>
                  <a:srgbClr val="D6D3D1"/>
                </a:solidFill>
                <a:latin typeface="Segoe UI"/>
              </a:rPr>
              <a:t>A JVM process - from the download or Docker</a:t>
            </a:r>
          </a:p>
        </p:txBody>
      </p:sp>
      <p:sp>
        <p:nvSpPr>
          <p:cNvPr id="13" name="a1ud200_n12"/>
          <p:cNvSpPr/>
          <p:nvPr/>
        </p:nvSpPr>
        <p:spPr>
          <a:xfrm>
            <a:off x="548640" y="1892808"/>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200_nt13"/>
          <p:cNvSpPr txBox="1"/>
          <p:nvPr/>
        </p:nvSpPr>
        <p:spPr>
          <a:xfrm>
            <a:off x="548640" y="1892808"/>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2</a:t>
            </a:r>
          </a:p>
        </p:txBody>
      </p:sp>
      <p:sp>
        <p:nvSpPr>
          <p:cNvPr id="15" name="a1ud200_nb14"/>
          <p:cNvSpPr txBox="1"/>
          <p:nvPr/>
        </p:nvSpPr>
        <p:spPr>
          <a:xfrm>
            <a:off x="1133856" y="1847088"/>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Brokers run almost anywhere</a:t>
            </a:r>
          </a:p>
          <a:p>
            <a:pPr algn="l">
              <a:spcAft>
                <a:spcPts val="100"/>
              </a:spcAft>
            </a:pPr>
            <a:r>
              <a:rPr sz="1000" b="0">
                <a:solidFill>
                  <a:srgbClr val="D6D3D1"/>
                </a:solidFill>
                <a:latin typeface="Segoe UI"/>
              </a:rPr>
              <a:t>Servers, cloud, containers - with local disks</a:t>
            </a:r>
          </a:p>
        </p:txBody>
      </p:sp>
      <p:sp>
        <p:nvSpPr>
          <p:cNvPr id="16" name="a1ud400_n15"/>
          <p:cNvSpPr/>
          <p:nvPr/>
        </p:nvSpPr>
        <p:spPr>
          <a:xfrm>
            <a:off x="548640" y="2551176"/>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400_nt16"/>
          <p:cNvSpPr txBox="1"/>
          <p:nvPr/>
        </p:nvSpPr>
        <p:spPr>
          <a:xfrm>
            <a:off x="548640" y="2551176"/>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3</a:t>
            </a:r>
          </a:p>
        </p:txBody>
      </p:sp>
      <p:sp>
        <p:nvSpPr>
          <p:cNvPr id="18" name="a1ud400_nb17"/>
          <p:cNvSpPr txBox="1"/>
          <p:nvPr/>
        </p:nvSpPr>
        <p:spPr>
          <a:xfrm>
            <a:off x="1133856" y="2505456"/>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Brokers form a cluster</a:t>
            </a:r>
          </a:p>
          <a:p>
            <a:pPr algn="l">
              <a:spcAft>
                <a:spcPts val="100"/>
              </a:spcAft>
            </a:pPr>
            <a:r>
              <a:rPr sz="1000" b="0">
                <a:solidFill>
                  <a:srgbClr val="D6D3D1"/>
                </a:solidFill>
                <a:latin typeface="Segoe UI"/>
              </a:rPr>
              <a:t>Each hosts partitions from many topics</a:t>
            </a:r>
          </a:p>
        </p:txBody>
      </p:sp>
      <p:sp>
        <p:nvSpPr>
          <p:cNvPr id="19" name="a1ud600_n18"/>
          <p:cNvSpPr/>
          <p:nvPr/>
        </p:nvSpPr>
        <p:spPr>
          <a:xfrm>
            <a:off x="548640" y="3209544"/>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600_nt19"/>
          <p:cNvSpPr txBox="1"/>
          <p:nvPr/>
        </p:nvSpPr>
        <p:spPr>
          <a:xfrm>
            <a:off x="548640" y="3209544"/>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4</a:t>
            </a:r>
          </a:p>
        </p:txBody>
      </p:sp>
      <p:sp>
        <p:nvSpPr>
          <p:cNvPr id="21" name="a1ud600_nb20"/>
          <p:cNvSpPr txBox="1"/>
          <p:nvPr/>
        </p:nvSpPr>
        <p:spPr>
          <a:xfrm>
            <a:off x="1133856" y="3163824"/>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Brokers serve reads and writes</a:t>
            </a:r>
          </a:p>
          <a:p>
            <a:pPr algn="l">
              <a:spcAft>
                <a:spcPts val="100"/>
              </a:spcAft>
            </a:pPr>
            <a:r>
              <a:rPr sz="1000" b="0">
                <a:solidFill>
                  <a:srgbClr val="D6D3D1"/>
                </a:solidFill>
                <a:latin typeface="Segoe UI"/>
              </a:rPr>
              <a:t>They do the I/O on the partition logs</a:t>
            </a:r>
          </a:p>
        </p:txBody>
      </p:sp>
      <p:sp>
        <p:nvSpPr>
          <p:cNvPr id="22" name="a1ud800_n21"/>
          <p:cNvSpPr/>
          <p:nvPr/>
        </p:nvSpPr>
        <p:spPr>
          <a:xfrm>
            <a:off x="548640" y="3867911"/>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800_nt22"/>
          <p:cNvSpPr txBox="1"/>
          <p:nvPr/>
        </p:nvSpPr>
        <p:spPr>
          <a:xfrm>
            <a:off x="548640" y="3867911"/>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5</a:t>
            </a:r>
          </a:p>
        </p:txBody>
      </p:sp>
      <p:sp>
        <p:nvSpPr>
          <p:cNvPr id="24" name="a1ud800_nb23"/>
          <p:cNvSpPr txBox="1"/>
          <p:nvPr/>
        </p:nvSpPr>
        <p:spPr>
          <a:xfrm>
            <a:off x="1133856" y="3822191"/>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No more ZooKeeper</a:t>
            </a:r>
          </a:p>
          <a:p>
            <a:pPr algn="l">
              <a:spcAft>
                <a:spcPts val="100"/>
              </a:spcAft>
            </a:pPr>
            <a:r>
              <a:rPr sz="1000" b="0">
                <a:solidFill>
                  <a:srgbClr val="D6D3D1"/>
                </a:solidFill>
                <a:latin typeface="Segoe UI"/>
              </a:rPr>
              <a:t>Since Kafka 4.0, KRaft keeps the metadata</a:t>
            </a:r>
          </a:p>
        </p:txBody>
      </p:sp>
      <p:sp>
        <p:nvSpPr>
          <p:cNvPr id="25" name="a2u_next24"/>
          <p:cNvSpPr/>
          <p:nvPr/>
        </p:nvSpPr>
        <p:spPr>
          <a:xfrm>
            <a:off x="6263640" y="1234440"/>
            <a:ext cx="2423160" cy="1097280"/>
          </a:xfrm>
          <a:prstGeom prst="roundRect">
            <a:avLst>
              <a:gd name="adj" fmla="val 8333"/>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_nextt25"/>
          <p:cNvSpPr txBox="1"/>
          <p:nvPr/>
        </p:nvSpPr>
        <p:spPr>
          <a:xfrm>
            <a:off x="6446520" y="1353312"/>
            <a:ext cx="2103120" cy="86868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UP NEXT</a:t>
            </a:r>
          </a:p>
          <a:p>
            <a:pPr algn="l">
              <a:spcAft>
                <a:spcPts val="400"/>
              </a:spcAft>
            </a:pPr>
            <a:r>
              <a:rPr sz="1050" b="0">
                <a:solidFill>
                  <a:srgbClr val="E7E5E4"/>
                </a:solidFill>
                <a:latin typeface="Segoe UI"/>
              </a:rPr>
              <a:t>Module 5 - Replication</a:t>
            </a:r>
          </a:p>
          <a:p>
            <a:pPr algn="l">
              <a:spcAft>
                <a:spcPts val="400"/>
              </a:spcAft>
            </a:pPr>
            <a:r>
              <a:rPr sz="850" b="0">
                <a:solidFill>
                  <a:srgbClr val="A8A29E"/>
                </a:solidFill>
                <a:latin typeface="Segoe UI"/>
              </a:rPr>
              <a:t>copies of each partition on other brokers</a:t>
            </a:r>
          </a:p>
        </p:txBody>
      </p:sp>
      <p:sp>
        <p:nvSpPr>
          <p:cNvPr id="27" name="a3u_src26"/>
          <p:cNvSpPr/>
          <p:nvPr/>
        </p:nvSpPr>
        <p:spPr>
          <a:xfrm>
            <a:off x="6263640" y="2514600"/>
            <a:ext cx="2423160" cy="1188720"/>
          </a:xfrm>
          <a:prstGeom prst="roundRect">
            <a:avLst>
              <a:gd name="adj" fmla="val 769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u_srct27"/>
          <p:cNvSpPr txBox="1"/>
          <p:nvPr/>
        </p:nvSpPr>
        <p:spPr>
          <a:xfrm>
            <a:off x="6446520" y="2633472"/>
            <a:ext cx="2103120" cy="96012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SOURCE</a:t>
            </a:r>
          </a:p>
          <a:p>
            <a:pPr algn="l">
              <a:spcAft>
                <a:spcPts val="400"/>
              </a:spcAft>
            </a:pPr>
            <a:r>
              <a:rPr sz="850" b="0">
                <a:solidFill>
                  <a:srgbClr val="D6D3D1"/>
                </a:solidFill>
                <a:latin typeface="Segoe UI"/>
              </a:rPr>
              <a:t>Apache Kafka 101, Brokers - Tim Berglund, Confluent Developer (developer.confluent.io)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4" presetID="2" presetClass="entr" presetSubtype="4"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ppt_y+0.1"/>
                                          </p:val>
                                        </p:tav>
                                        <p:tav tm="100000">
                                          <p:val>
                                            <p:strVal val="#ppt_y"/>
                                          </p:val>
                                        </p:tav>
                                      </p:tavLst>
                                    </p:anim>
                                    <p:animEffect transition="in" filter="fade">
                                      <p:cBhvr>
                                        <p:cTn id="13" dur="500"/>
                                        <p:tgtEl>
                                          <p:spTgt spid="10"/>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ppt_y+0.1"/>
                                          </p:val>
                                        </p:tav>
                                        <p:tav tm="100000">
                                          <p:val>
                                            <p:strVal val="#ppt_y"/>
                                          </p:val>
                                        </p:tav>
                                      </p:tavLst>
                                    </p:anim>
                                    <p:animEffect transition="in" filter="fade">
                                      <p:cBhvr>
                                        <p:cTn id="18" dur="500"/>
                                        <p:tgtEl>
                                          <p:spTgt spid="11"/>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ppt_y+0.1"/>
                                          </p:val>
                                        </p:tav>
                                        <p:tav tm="100000">
                                          <p:val>
                                            <p:strVal val="#ppt_y"/>
                                          </p:val>
                                        </p:tav>
                                      </p:tavLst>
                                    </p:anim>
                                    <p:animEffect transition="in" filter="fade">
                                      <p:cBhvr>
                                        <p:cTn id="23" dur="500"/>
                                        <p:tgtEl>
                                          <p:spTgt spid="12"/>
                                        </p:tgtEl>
                                      </p:cBhvr>
                                    </p:animEffect>
                                  </p:childTnLst>
                                </p:cTn>
                              </p:par>
                              <p:par>
                                <p:cTn id="29" presetID="2" presetClass="entr" presetSubtype="4" fill="hold" grpId="0" nodeType="withEffect">
                                  <p:stCondLst>
                                    <p:cond delay="20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ppt_x"/>
                                          </p:val>
                                        </p:tav>
                                        <p:tav tm="100000">
                                          <p:val>
                                            <p:strVal val="#ppt_x"/>
                                          </p:val>
                                        </p:tav>
                                      </p:tavLst>
                                    </p:anim>
                                    <p:anim calcmode="lin" valueType="num">
                                      <p:cBhvr additive="base">
                                        <p:cTn id="27" dur="500" fill="hold"/>
                                        <p:tgtEl>
                                          <p:spTgt spid="13"/>
                                        </p:tgtEl>
                                        <p:attrNameLst>
                                          <p:attrName>ppt_y</p:attrName>
                                        </p:attrNameLst>
                                      </p:cBhvr>
                                      <p:tavLst>
                                        <p:tav tm="0">
                                          <p:val>
                                            <p:strVal val="#ppt_y+0.1"/>
                                          </p:val>
                                        </p:tav>
                                        <p:tav tm="100000">
                                          <p:val>
                                            <p:strVal val="#ppt_y"/>
                                          </p:val>
                                        </p:tav>
                                      </p:tavLst>
                                    </p:anim>
                                    <p:animEffect transition="in" filter="fade">
                                      <p:cBhvr>
                                        <p:cTn id="28" dur="500"/>
                                        <p:tgtEl>
                                          <p:spTgt spid="13"/>
                                        </p:tgtEl>
                                      </p:cBhvr>
                                    </p:animEffect>
                                  </p:childTnLst>
                                </p:cTn>
                              </p:par>
                              <p:par>
                                <p:cTn id="34" presetID="2" presetClass="entr" presetSubtype="4" fill="hold" grpId="0" nodeType="withEffect">
                                  <p:stCondLst>
                                    <p:cond delay="20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ppt_y+0.1"/>
                                          </p:val>
                                        </p:tav>
                                        <p:tav tm="100000">
                                          <p:val>
                                            <p:strVal val="#ppt_y"/>
                                          </p:val>
                                        </p:tav>
                                      </p:tavLst>
                                    </p:anim>
                                    <p:animEffect transition="in" filter="fade">
                                      <p:cBhvr>
                                        <p:cTn id="33" dur="500"/>
                                        <p:tgtEl>
                                          <p:spTgt spid="14"/>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ppt_y+0.1"/>
                                          </p:val>
                                        </p:tav>
                                        <p:tav tm="100000">
                                          <p:val>
                                            <p:strVal val="#ppt_y"/>
                                          </p:val>
                                        </p:tav>
                                      </p:tavLst>
                                    </p:anim>
                                    <p:animEffect transition="in" filter="fade">
                                      <p:cBhvr>
                                        <p:cTn id="38" dur="500"/>
                                        <p:tgtEl>
                                          <p:spTgt spid="15"/>
                                        </p:tgtEl>
                                      </p:cBhvr>
                                    </p:animEffect>
                                  </p:childTnLst>
                                </p:cTn>
                              </p:par>
                              <p:par>
                                <p:cTn id="44" presetID="2" presetClass="entr" presetSubtype="4" fill="hold" grpId="0" nodeType="withEffect">
                                  <p:stCondLst>
                                    <p:cond delay="40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ppt_y+0.1"/>
                                          </p:val>
                                        </p:tav>
                                        <p:tav tm="100000">
                                          <p:val>
                                            <p:strVal val="#ppt_y"/>
                                          </p:val>
                                        </p:tav>
                                      </p:tavLst>
                                    </p:anim>
                                    <p:animEffect transition="in" filter="fade">
                                      <p:cBhvr>
                                        <p:cTn id="43" dur="500"/>
                                        <p:tgtEl>
                                          <p:spTgt spid="16"/>
                                        </p:tgtEl>
                                      </p:cBhvr>
                                    </p:animEffect>
                                  </p:childTnLst>
                                </p:cTn>
                              </p:par>
                              <p:par>
                                <p:cTn id="49" presetID="2" presetClass="entr" presetSubtype="4" fill="hold" grpId="0" nodeType="withEffect">
                                  <p:stCondLst>
                                    <p:cond delay="40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ppt_x"/>
                                          </p:val>
                                        </p:tav>
                                        <p:tav tm="100000">
                                          <p:val>
                                            <p:strVal val="#ppt_x"/>
                                          </p:val>
                                        </p:tav>
                                      </p:tavLst>
                                    </p:anim>
                                    <p:anim calcmode="lin" valueType="num">
                                      <p:cBhvr additive="base">
                                        <p:cTn id="47" dur="500" fill="hold"/>
                                        <p:tgtEl>
                                          <p:spTgt spid="17"/>
                                        </p:tgtEl>
                                        <p:attrNameLst>
                                          <p:attrName>ppt_y</p:attrName>
                                        </p:attrNameLst>
                                      </p:cBhvr>
                                      <p:tavLst>
                                        <p:tav tm="0">
                                          <p:val>
                                            <p:strVal val="#ppt_y+0.1"/>
                                          </p:val>
                                        </p:tav>
                                        <p:tav tm="100000">
                                          <p:val>
                                            <p:strVal val="#ppt_y"/>
                                          </p:val>
                                        </p:tav>
                                      </p:tavLst>
                                    </p:anim>
                                    <p:animEffect transition="in" filter="fade">
                                      <p:cBhvr>
                                        <p:cTn id="48" dur="500"/>
                                        <p:tgtEl>
                                          <p:spTgt spid="17"/>
                                        </p:tgtEl>
                                      </p:cBhvr>
                                    </p:animEffect>
                                  </p:childTnLst>
                                </p:cTn>
                              </p:par>
                              <p:par>
                                <p:cTn id="54" presetID="2" presetClass="entr" presetSubtype="4" fill="hold" grpId="0" nodeType="withEffect">
                                  <p:stCondLst>
                                    <p:cond delay="40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ppt_y+0.1"/>
                                          </p:val>
                                        </p:tav>
                                        <p:tav tm="100000">
                                          <p:val>
                                            <p:strVal val="#ppt_y"/>
                                          </p:val>
                                        </p:tav>
                                      </p:tavLst>
                                    </p:anim>
                                    <p:animEffect transition="in" filter="fade">
                                      <p:cBhvr>
                                        <p:cTn id="53" dur="500"/>
                                        <p:tgtEl>
                                          <p:spTgt spid="18"/>
                                        </p:tgtEl>
                                      </p:cBhvr>
                                    </p:animEffect>
                                  </p:childTnLst>
                                </p:cTn>
                              </p:par>
                              <p:par>
                                <p:cTn id="59" presetID="2" presetClass="entr" presetSubtype="4" fill="hold" grpId="0" nodeType="withEffect">
                                  <p:stCondLst>
                                    <p:cond delay="600"/>
                                  </p:stCondLst>
                                  <p:childTnLst>
                                    <p:set>
                                      <p:cBhvr>
                                        <p:cTn id="55" dur="1" fill="hold">
                                          <p:stCondLst>
                                            <p:cond delay="0"/>
                                          </p:stCondLst>
                                        </p:cTn>
                                        <p:tgtEl>
                                          <p:spTgt spid="19"/>
                                        </p:tgtEl>
                                        <p:attrNameLst>
                                          <p:attrName>style.visibility</p:attrName>
                                        </p:attrNameLst>
                                      </p:cBhvr>
                                      <p:to>
                                        <p:strVal val="visible"/>
                                      </p:to>
                                    </p:set>
                                    <p:anim calcmode="lin" valueType="num">
                                      <p:cBhvr additive="base">
                                        <p:cTn id="56" dur="500" fill="hold"/>
                                        <p:tgtEl>
                                          <p:spTgt spid="19"/>
                                        </p:tgtEl>
                                        <p:attrNameLst>
                                          <p:attrName>ppt_x</p:attrName>
                                        </p:attrNameLst>
                                      </p:cBhvr>
                                      <p:tavLst>
                                        <p:tav tm="0">
                                          <p:val>
                                            <p:strVal val="#ppt_x"/>
                                          </p:val>
                                        </p:tav>
                                        <p:tav tm="100000">
                                          <p:val>
                                            <p:strVal val="#ppt_x"/>
                                          </p:val>
                                        </p:tav>
                                      </p:tavLst>
                                    </p:anim>
                                    <p:anim calcmode="lin" valueType="num">
                                      <p:cBhvr additive="base">
                                        <p:cTn id="57" dur="500" fill="hold"/>
                                        <p:tgtEl>
                                          <p:spTgt spid="19"/>
                                        </p:tgtEl>
                                        <p:attrNameLst>
                                          <p:attrName>ppt_y</p:attrName>
                                        </p:attrNameLst>
                                      </p:cBhvr>
                                      <p:tavLst>
                                        <p:tav tm="0">
                                          <p:val>
                                            <p:strVal val="#ppt_y+0.1"/>
                                          </p:val>
                                        </p:tav>
                                        <p:tav tm="100000">
                                          <p:val>
                                            <p:strVal val="#ppt_y"/>
                                          </p:val>
                                        </p:tav>
                                      </p:tavLst>
                                    </p:anim>
                                    <p:animEffect transition="in" filter="fade">
                                      <p:cBhvr>
                                        <p:cTn id="58" dur="500"/>
                                        <p:tgtEl>
                                          <p:spTgt spid="19"/>
                                        </p:tgtEl>
                                      </p:cBhvr>
                                    </p:animEffect>
                                  </p:childTnLst>
                                </p:cTn>
                              </p:par>
                              <p:par>
                                <p:cTn id="64" presetID="2" presetClass="entr" presetSubtype="4" fill="hold" grpId="0" nodeType="withEffect">
                                  <p:stCondLst>
                                    <p:cond delay="600"/>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ppt_x"/>
                                          </p:val>
                                        </p:tav>
                                        <p:tav tm="100000">
                                          <p:val>
                                            <p:strVal val="#ppt_x"/>
                                          </p:val>
                                        </p:tav>
                                      </p:tavLst>
                                    </p:anim>
                                    <p:anim calcmode="lin" valueType="num">
                                      <p:cBhvr additive="base">
                                        <p:cTn id="62" dur="500" fill="hold"/>
                                        <p:tgtEl>
                                          <p:spTgt spid="20"/>
                                        </p:tgtEl>
                                        <p:attrNameLst>
                                          <p:attrName>ppt_y</p:attrName>
                                        </p:attrNameLst>
                                      </p:cBhvr>
                                      <p:tavLst>
                                        <p:tav tm="0">
                                          <p:val>
                                            <p:strVal val="#ppt_y+0.1"/>
                                          </p:val>
                                        </p:tav>
                                        <p:tav tm="100000">
                                          <p:val>
                                            <p:strVal val="#ppt_y"/>
                                          </p:val>
                                        </p:tav>
                                      </p:tavLst>
                                    </p:anim>
                                    <p:animEffect transition="in" filter="fade">
                                      <p:cBhvr>
                                        <p:cTn id="63" dur="500"/>
                                        <p:tgtEl>
                                          <p:spTgt spid="20"/>
                                        </p:tgtEl>
                                      </p:cBhvr>
                                    </p:animEffect>
                                  </p:childTnLst>
                                </p:cTn>
                              </p:par>
                              <p:par>
                                <p:cTn id="69" presetID="2" presetClass="entr" presetSubtype="4" fill="hold" grpId="0" nodeType="withEffect">
                                  <p:stCondLst>
                                    <p:cond delay="600"/>
                                  </p:stCondLst>
                                  <p:childTnLst>
                                    <p:set>
                                      <p:cBhvr>
                                        <p:cTn id="65" dur="1" fill="hold">
                                          <p:stCondLst>
                                            <p:cond delay="0"/>
                                          </p:stCondLst>
                                        </p:cTn>
                                        <p:tgtEl>
                                          <p:spTgt spid="21"/>
                                        </p:tgtEl>
                                        <p:attrNameLst>
                                          <p:attrName>style.visibility</p:attrName>
                                        </p:attrNameLst>
                                      </p:cBhvr>
                                      <p:to>
                                        <p:strVal val="visible"/>
                                      </p:to>
                                    </p:set>
                                    <p:anim calcmode="lin" valueType="num">
                                      <p:cBhvr additive="base">
                                        <p:cTn id="66" dur="500" fill="hold"/>
                                        <p:tgtEl>
                                          <p:spTgt spid="21"/>
                                        </p:tgtEl>
                                        <p:attrNameLst>
                                          <p:attrName>ppt_x</p:attrName>
                                        </p:attrNameLst>
                                      </p:cBhvr>
                                      <p:tavLst>
                                        <p:tav tm="0">
                                          <p:val>
                                            <p:strVal val="#ppt_x"/>
                                          </p:val>
                                        </p:tav>
                                        <p:tav tm="100000">
                                          <p:val>
                                            <p:strVal val="#ppt_x"/>
                                          </p:val>
                                        </p:tav>
                                      </p:tavLst>
                                    </p:anim>
                                    <p:anim calcmode="lin" valueType="num">
                                      <p:cBhvr additive="base">
                                        <p:cTn id="67" dur="500" fill="hold"/>
                                        <p:tgtEl>
                                          <p:spTgt spid="21"/>
                                        </p:tgtEl>
                                        <p:attrNameLst>
                                          <p:attrName>ppt_y</p:attrName>
                                        </p:attrNameLst>
                                      </p:cBhvr>
                                      <p:tavLst>
                                        <p:tav tm="0">
                                          <p:val>
                                            <p:strVal val="#ppt_y+0.1"/>
                                          </p:val>
                                        </p:tav>
                                        <p:tav tm="100000">
                                          <p:val>
                                            <p:strVal val="#ppt_y"/>
                                          </p:val>
                                        </p:tav>
                                      </p:tavLst>
                                    </p:anim>
                                    <p:animEffect transition="in" filter="fade">
                                      <p:cBhvr>
                                        <p:cTn id="68" dur="500"/>
                                        <p:tgtEl>
                                          <p:spTgt spid="21"/>
                                        </p:tgtEl>
                                      </p:cBhvr>
                                    </p:animEffect>
                                  </p:childTnLst>
                                </p:cTn>
                              </p:par>
                              <p:par>
                                <p:cTn id="74" presetID="2" presetClass="entr" presetSubtype="4" fill="hold" grpId="0" nodeType="withEffect">
                                  <p:stCondLst>
                                    <p:cond delay="80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ppt_y+0.1"/>
                                          </p:val>
                                        </p:tav>
                                        <p:tav tm="100000">
                                          <p:val>
                                            <p:strVal val="#ppt_y"/>
                                          </p:val>
                                        </p:tav>
                                      </p:tavLst>
                                    </p:anim>
                                    <p:animEffect transition="in" filter="fade">
                                      <p:cBhvr>
                                        <p:cTn id="73" dur="500"/>
                                        <p:tgtEl>
                                          <p:spTgt spid="22"/>
                                        </p:tgtEl>
                                      </p:cBhvr>
                                    </p:animEffect>
                                  </p:childTnLst>
                                </p:cTn>
                              </p:par>
                              <p:par>
                                <p:cTn id="79" presetID="2" presetClass="entr" presetSubtype="4" fill="hold" grpId="0" nodeType="withEffect">
                                  <p:stCondLst>
                                    <p:cond delay="800"/>
                                  </p:stCondLst>
                                  <p:childTnLst>
                                    <p:set>
                                      <p:cBhvr>
                                        <p:cTn id="75" dur="1" fill="hold">
                                          <p:stCondLst>
                                            <p:cond delay="0"/>
                                          </p:stCondLst>
                                        </p:cTn>
                                        <p:tgtEl>
                                          <p:spTgt spid="23"/>
                                        </p:tgtEl>
                                        <p:attrNameLst>
                                          <p:attrName>style.visibility</p:attrName>
                                        </p:attrNameLst>
                                      </p:cBhvr>
                                      <p:to>
                                        <p:strVal val="visible"/>
                                      </p:to>
                                    </p:set>
                                    <p:anim calcmode="lin" valueType="num">
                                      <p:cBhvr additive="base">
                                        <p:cTn id="76" dur="500" fill="hold"/>
                                        <p:tgtEl>
                                          <p:spTgt spid="23"/>
                                        </p:tgtEl>
                                        <p:attrNameLst>
                                          <p:attrName>ppt_x</p:attrName>
                                        </p:attrNameLst>
                                      </p:cBhvr>
                                      <p:tavLst>
                                        <p:tav tm="0">
                                          <p:val>
                                            <p:strVal val="#ppt_x"/>
                                          </p:val>
                                        </p:tav>
                                        <p:tav tm="100000">
                                          <p:val>
                                            <p:strVal val="#ppt_x"/>
                                          </p:val>
                                        </p:tav>
                                      </p:tavLst>
                                    </p:anim>
                                    <p:anim calcmode="lin" valueType="num">
                                      <p:cBhvr additive="base">
                                        <p:cTn id="77" dur="500" fill="hold"/>
                                        <p:tgtEl>
                                          <p:spTgt spid="23"/>
                                        </p:tgtEl>
                                        <p:attrNameLst>
                                          <p:attrName>ppt_y</p:attrName>
                                        </p:attrNameLst>
                                      </p:cBhvr>
                                      <p:tavLst>
                                        <p:tav tm="0">
                                          <p:val>
                                            <p:strVal val="#ppt_y+0.1"/>
                                          </p:val>
                                        </p:tav>
                                        <p:tav tm="100000">
                                          <p:val>
                                            <p:strVal val="#ppt_y"/>
                                          </p:val>
                                        </p:tav>
                                      </p:tavLst>
                                    </p:anim>
                                    <p:animEffect transition="in" filter="fade">
                                      <p:cBhvr>
                                        <p:cTn id="78" dur="500"/>
                                        <p:tgtEl>
                                          <p:spTgt spid="23"/>
                                        </p:tgtEl>
                                      </p:cBhvr>
                                    </p:animEffect>
                                  </p:childTnLst>
                                </p:cTn>
                              </p:par>
                              <p:par>
                                <p:cTn id="84" presetID="2" presetClass="entr" presetSubtype="4" fill="hold" grpId="0" nodeType="withEffect">
                                  <p:stCondLst>
                                    <p:cond delay="800"/>
                                  </p:stCondLst>
                                  <p:childTnLst>
                                    <p:set>
                                      <p:cBhvr>
                                        <p:cTn id="80" dur="1" fill="hold">
                                          <p:stCondLst>
                                            <p:cond delay="0"/>
                                          </p:stCondLst>
                                        </p:cTn>
                                        <p:tgtEl>
                                          <p:spTgt spid="24"/>
                                        </p:tgtEl>
                                        <p:attrNameLst>
                                          <p:attrName>style.visibility</p:attrName>
                                        </p:attrNameLst>
                                      </p:cBhvr>
                                      <p:to>
                                        <p:strVal val="visible"/>
                                      </p:to>
                                    </p:set>
                                    <p:anim calcmode="lin" valueType="num">
                                      <p:cBhvr additive="base">
                                        <p:cTn id="81" dur="500" fill="hold"/>
                                        <p:tgtEl>
                                          <p:spTgt spid="24"/>
                                        </p:tgtEl>
                                        <p:attrNameLst>
                                          <p:attrName>ppt_x</p:attrName>
                                        </p:attrNameLst>
                                      </p:cBhvr>
                                      <p:tavLst>
                                        <p:tav tm="0">
                                          <p:val>
                                            <p:strVal val="#ppt_x"/>
                                          </p:val>
                                        </p:tav>
                                        <p:tav tm="100000">
                                          <p:val>
                                            <p:strVal val="#ppt_x"/>
                                          </p:val>
                                        </p:tav>
                                      </p:tavLst>
                                    </p:anim>
                                    <p:anim calcmode="lin" valueType="num">
                                      <p:cBhvr additive="base">
                                        <p:cTn id="82" dur="500" fill="hold"/>
                                        <p:tgtEl>
                                          <p:spTgt spid="24"/>
                                        </p:tgtEl>
                                        <p:attrNameLst>
                                          <p:attrName>ppt_y</p:attrName>
                                        </p:attrNameLst>
                                      </p:cBhvr>
                                      <p:tavLst>
                                        <p:tav tm="0">
                                          <p:val>
                                            <p:strVal val="#ppt_y+0.1"/>
                                          </p:val>
                                        </p:tav>
                                        <p:tav tm="100000">
                                          <p:val>
                                            <p:strVal val="#ppt_y"/>
                                          </p:val>
                                        </p:tav>
                                      </p:tavLst>
                                    </p:anim>
                                    <p:animEffect transition="in" filter="fade">
                                      <p:cBhvr>
                                        <p:cTn id="83" dur="500"/>
                                        <p:tgtEl>
                                          <p:spTgt spid="24"/>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25"/>
                                        </p:tgtEl>
                                        <p:attrNameLst>
                                          <p:attrName>style.visibility</p:attrName>
                                        </p:attrNameLst>
                                      </p:cBhvr>
                                      <p:to>
                                        <p:strVal val="visible"/>
                                      </p:to>
                                    </p:set>
                                    <p:anim calcmode="lin" valueType="num">
                                      <p:cBhvr additive="base">
                                        <p:cTn id="88" dur="500" fill="hold"/>
                                        <p:tgtEl>
                                          <p:spTgt spid="25"/>
                                        </p:tgtEl>
                                        <p:attrNameLst>
                                          <p:attrName>ppt_x</p:attrName>
                                        </p:attrNameLst>
                                      </p:cBhvr>
                                      <p:tavLst>
                                        <p:tav tm="0">
                                          <p:val>
                                            <p:strVal val="#ppt_x"/>
                                          </p:val>
                                        </p:tav>
                                        <p:tav tm="100000">
                                          <p:val>
                                            <p:strVal val="#ppt_x"/>
                                          </p:val>
                                        </p:tav>
                                      </p:tavLst>
                                    </p:anim>
                                    <p:anim calcmode="lin" valueType="num">
                                      <p:cBhvr additive="base">
                                        <p:cTn id="89" dur="500" fill="hold"/>
                                        <p:tgtEl>
                                          <p:spTgt spid="25"/>
                                        </p:tgtEl>
                                        <p:attrNameLst>
                                          <p:attrName>ppt_y</p:attrName>
                                        </p:attrNameLst>
                                      </p:cBhvr>
                                      <p:tavLst>
                                        <p:tav tm="0">
                                          <p:val>
                                            <p:strVal val="#ppt_y+0.1"/>
                                          </p:val>
                                        </p:tav>
                                        <p:tav tm="100000">
                                          <p:val>
                                            <p:strVal val="#ppt_y"/>
                                          </p:val>
                                        </p:tav>
                                      </p:tavLst>
                                    </p:anim>
                                    <p:animEffect transition="in" filter="fade">
                                      <p:cBhvr>
                                        <p:cTn id="90" dur="500"/>
                                        <p:tgtEl>
                                          <p:spTgt spid="25"/>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00" fill="hold"/>
                                        <p:tgtEl>
                                          <p:spTgt spid="26"/>
                                        </p:tgtEl>
                                        <p:attrNameLst>
                                          <p:attrName>ppt_x</p:attrName>
                                        </p:attrNameLst>
                                      </p:cBhvr>
                                      <p:tavLst>
                                        <p:tav tm="0">
                                          <p:val>
                                            <p:strVal val="#ppt_x"/>
                                          </p:val>
                                        </p:tav>
                                        <p:tav tm="100000">
                                          <p:val>
                                            <p:strVal val="#ppt_x"/>
                                          </p:val>
                                        </p:tav>
                                      </p:tavLst>
                                    </p:anim>
                                    <p:anim calcmode="lin" valueType="num">
                                      <p:cBhvr additive="base">
                                        <p:cTn id="94" dur="500" fill="hold"/>
                                        <p:tgtEl>
                                          <p:spTgt spid="26"/>
                                        </p:tgtEl>
                                        <p:attrNameLst>
                                          <p:attrName>ppt_y</p:attrName>
                                        </p:attrNameLst>
                                      </p:cBhvr>
                                      <p:tavLst>
                                        <p:tav tm="0">
                                          <p:val>
                                            <p:strVal val="#ppt_y+0.1"/>
                                          </p:val>
                                        </p:tav>
                                        <p:tav tm="100000">
                                          <p:val>
                                            <p:strVal val="#ppt_y"/>
                                          </p:val>
                                        </p:tav>
                                      </p:tavLst>
                                    </p:anim>
                                    <p:animEffect transition="in" filter="fade">
                                      <p:cBhvr>
                                        <p:cTn id="95" dur="500"/>
                                        <p:tgtEl>
                                          <p:spTgt spid="26"/>
                                        </p:tgtEl>
                                      </p:cBhvr>
                                    </p:animEffect>
                                  </p:childTnLst>
                                </p:cTn>
                              </p:par>
                            </p:childTnLst>
                          </p:cTn>
                        </p:par>
                      </p:childTnLst>
                    </p:cTn>
                  </p:par>
                  <p:par>
                    <p:cTn id="97" fill="hold">
                      <p:stCondLst>
                        <p:cond delay="indefinite"/>
                      </p:stCondLst>
                      <p:childTnLst>
                        <p:par>
                          <p:cTn id="98" fill="hold">
                            <p:stCondLst>
                              <p:cond delay="0"/>
                            </p:stCondLst>
                            <p:childTnLst>
                              <p:par>
                                <p:cTn id="103" presetID="2" presetClass="entr" presetSubtype="4" fill="hold" grpId="0" nodeType="clickEffect">
                                  <p:stCondLst>
                                    <p:cond delay="0"/>
                                  </p:stCondLst>
                                  <p:childTnLst>
                                    <p:set>
                                      <p:cBhvr>
                                        <p:cTn id="99" dur="1" fill="hold">
                                          <p:stCondLst>
                                            <p:cond delay="0"/>
                                          </p:stCondLst>
                                        </p:cTn>
                                        <p:tgtEl>
                                          <p:spTgt spid="27"/>
                                        </p:tgtEl>
                                        <p:attrNameLst>
                                          <p:attrName>style.visibility</p:attrName>
                                        </p:attrNameLst>
                                      </p:cBhvr>
                                      <p:to>
                                        <p:strVal val="visible"/>
                                      </p:to>
                                    </p:set>
                                    <p:anim calcmode="lin" valueType="num">
                                      <p:cBhvr additive="base">
                                        <p:cTn id="100" dur="500" fill="hold"/>
                                        <p:tgtEl>
                                          <p:spTgt spid="27"/>
                                        </p:tgtEl>
                                        <p:attrNameLst>
                                          <p:attrName>ppt_x</p:attrName>
                                        </p:attrNameLst>
                                      </p:cBhvr>
                                      <p:tavLst>
                                        <p:tav tm="0">
                                          <p:val>
                                            <p:strVal val="#ppt_x"/>
                                          </p:val>
                                        </p:tav>
                                        <p:tav tm="100000">
                                          <p:val>
                                            <p:strVal val="#ppt_x"/>
                                          </p:val>
                                        </p:tav>
                                      </p:tavLst>
                                    </p:anim>
                                    <p:anim calcmode="lin" valueType="num">
                                      <p:cBhvr additive="base">
                                        <p:cTn id="101" dur="500" fill="hold"/>
                                        <p:tgtEl>
                                          <p:spTgt spid="27"/>
                                        </p:tgtEl>
                                        <p:attrNameLst>
                                          <p:attrName>ppt_y</p:attrName>
                                        </p:attrNameLst>
                                      </p:cBhvr>
                                      <p:tavLst>
                                        <p:tav tm="0">
                                          <p:val>
                                            <p:strVal val="#ppt_y+0.1"/>
                                          </p:val>
                                        </p:tav>
                                        <p:tav tm="100000">
                                          <p:val>
                                            <p:strVal val="#ppt_y"/>
                                          </p:val>
                                        </p:tav>
                                      </p:tavLst>
                                    </p:anim>
                                    <p:animEffect transition="in" filter="fade">
                                      <p:cBhvr>
                                        <p:cTn id="102" dur="500"/>
                                        <p:tgtEl>
                                          <p:spTgt spid="27"/>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28"/>
                                        </p:tgtEl>
                                        <p:attrNameLst>
                                          <p:attrName>style.visibility</p:attrName>
                                        </p:attrNameLst>
                                      </p:cBhvr>
                                      <p:to>
                                        <p:strVal val="visible"/>
                                      </p:to>
                                    </p:set>
                                    <p:anim calcmode="lin" valueType="num">
                                      <p:cBhvr additive="base">
                                        <p:cTn id="105" dur="500" fill="hold"/>
                                        <p:tgtEl>
                                          <p:spTgt spid="28"/>
                                        </p:tgtEl>
                                        <p:attrNameLst>
                                          <p:attrName>ppt_x</p:attrName>
                                        </p:attrNameLst>
                                      </p:cBhvr>
                                      <p:tavLst>
                                        <p:tav tm="0">
                                          <p:val>
                                            <p:strVal val="#ppt_x"/>
                                          </p:val>
                                        </p:tav>
                                        <p:tav tm="100000">
                                          <p:val>
                                            <p:strVal val="#ppt_x"/>
                                          </p:val>
                                        </p:tav>
                                      </p:tavLst>
                                    </p:anim>
                                    <p:anim calcmode="lin" valueType="num">
                                      <p:cBhvr additive="base">
                                        <p:cTn id="106" dur="500" fill="hold"/>
                                        <p:tgtEl>
                                          <p:spTgt spid="28"/>
                                        </p:tgtEl>
                                        <p:attrNameLst>
                                          <p:attrName>ppt_y</p:attrName>
                                        </p:attrNameLst>
                                      </p:cBhvr>
                                      <p:tavLst>
                                        <p:tav tm="0">
                                          <p:val>
                                            <p:strVal val="#ppt_y+0.1"/>
                                          </p:val>
                                        </p:tav>
                                        <p:tav tm="100000">
                                          <p:val>
                                            <p:strVal val="#ppt_y"/>
                                          </p:val>
                                        </p:tav>
                                      </p:tavLst>
                                    </p:anim>
                                    <p:animEffect transition="in" filter="fade">
                                      <p:cBhvr>
                                        <p:cTn id="10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